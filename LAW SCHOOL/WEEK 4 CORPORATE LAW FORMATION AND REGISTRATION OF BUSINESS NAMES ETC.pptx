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8" r:id="rId12"/>
    <p:sldId id="267" r:id="rId13"/>
    <p:sldId id="312" r:id="rId14"/>
    <p:sldId id="274" r:id="rId15"/>
    <p:sldId id="318" r:id="rId16"/>
    <p:sldId id="319" r:id="rId17"/>
    <p:sldId id="320" r:id="rId18"/>
    <p:sldId id="326" r:id="rId19"/>
    <p:sldId id="327" r:id="rId20"/>
    <p:sldId id="329" r:id="rId21"/>
    <p:sldId id="330" r:id="rId22"/>
    <p:sldId id="272" r:id="rId23"/>
    <p:sldId id="273" r:id="rId24"/>
    <p:sldId id="331" r:id="rId25"/>
    <p:sldId id="332" r:id="rId26"/>
    <p:sldId id="333" r:id="rId27"/>
    <p:sldId id="322" r:id="rId28"/>
    <p:sldId id="323" r:id="rId29"/>
    <p:sldId id="325" r:id="rId30"/>
    <p:sldId id="276" r:id="rId31"/>
    <p:sldId id="306" r:id="rId32"/>
    <p:sldId id="315" r:id="rId33"/>
    <p:sldId id="316" r:id="rId34"/>
    <p:sldId id="313" r:id="rId35"/>
    <p:sldId id="269" r:id="rId36"/>
    <p:sldId id="270" r:id="rId37"/>
    <p:sldId id="308" r:id="rId38"/>
    <p:sldId id="317" r:id="rId39"/>
    <p:sldId id="309" r:id="rId40"/>
    <p:sldId id="310"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7" d="100"/>
          <a:sy n="67" d="100"/>
        </p:scale>
        <p:origin x="-1476"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F804D83-4862-47F9-B9CD-BEED194464EC}" type="datetimeFigureOut">
              <a:rPr lang="en-US" smtClean="0"/>
              <a:t>4/24/2025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E7C2DEF-E789-4482-B1C0-5865C5C111AE}" type="slidenum">
              <a:rPr lang="en-US" smtClean="0"/>
              <a:t>‹#›</a:t>
            </a:fld>
            <a:endParaRPr lang="en-US"/>
          </a:p>
        </p:txBody>
      </p:sp>
    </p:spTree>
    <p:extLst>
      <p:ext uri="{BB962C8B-B14F-4D97-AF65-F5344CB8AC3E}">
        <p14:creationId xmlns:p14="http://schemas.microsoft.com/office/powerpoint/2010/main" val="3110909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AA257F3-9463-4D41-9CA4-42F6A45CCA64}"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8E8731-1118-409F-8F96-62FE4DDE7080}" type="slidenum">
              <a:rPr lang="en-US" smtClean="0"/>
              <a:t>‹#›</a:t>
            </a:fld>
            <a:endParaRPr lang="en-US"/>
          </a:p>
        </p:txBody>
      </p:sp>
    </p:spTree>
    <p:extLst>
      <p:ext uri="{BB962C8B-B14F-4D97-AF65-F5344CB8AC3E}">
        <p14:creationId xmlns:p14="http://schemas.microsoft.com/office/powerpoint/2010/main" val="2627758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AA257F3-9463-4D41-9CA4-42F6A45CCA64}"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8E8731-1118-409F-8F96-62FE4DDE7080}" type="slidenum">
              <a:rPr lang="en-US" smtClean="0"/>
              <a:t>‹#›</a:t>
            </a:fld>
            <a:endParaRPr lang="en-US"/>
          </a:p>
        </p:txBody>
      </p:sp>
    </p:spTree>
    <p:extLst>
      <p:ext uri="{BB962C8B-B14F-4D97-AF65-F5344CB8AC3E}">
        <p14:creationId xmlns:p14="http://schemas.microsoft.com/office/powerpoint/2010/main" val="3871859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A257F3-9463-4D41-9CA4-42F6A45CCA64}"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8E8731-1118-409F-8F96-62FE4DDE7080}" type="slidenum">
              <a:rPr lang="en-US" smtClean="0"/>
              <a:t>‹#›</a:t>
            </a:fld>
            <a:endParaRPr lang="en-US"/>
          </a:p>
        </p:txBody>
      </p:sp>
    </p:spTree>
    <p:extLst>
      <p:ext uri="{BB962C8B-B14F-4D97-AF65-F5344CB8AC3E}">
        <p14:creationId xmlns:p14="http://schemas.microsoft.com/office/powerpoint/2010/main" val="2203405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AA257F3-9463-4D41-9CA4-42F6A45CCA64}" type="datetimeFigureOut">
              <a:rPr lang="en-US" smtClean="0"/>
              <a:t>4/24/2025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8E8731-1118-409F-8F96-62FE4DDE7080}" type="slidenum">
              <a:rPr lang="en-US" smtClean="0"/>
              <a:t>‹#›</a:t>
            </a:fld>
            <a:endParaRPr lang="en-US"/>
          </a:p>
        </p:txBody>
      </p:sp>
    </p:spTree>
    <p:extLst>
      <p:ext uri="{BB962C8B-B14F-4D97-AF65-F5344CB8AC3E}">
        <p14:creationId xmlns:p14="http://schemas.microsoft.com/office/powerpoint/2010/main" val="3334303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AA257F3-9463-4D41-9CA4-42F6A45CCA64}" type="datetimeFigureOut">
              <a:rPr lang="en-US" smtClean="0"/>
              <a:t>4/24/2025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B8E8731-1118-409F-8F96-62FE4DDE7080}" type="slidenum">
              <a:rPr lang="en-US" smtClean="0"/>
              <a:t>‹#›</a:t>
            </a:fld>
            <a:endParaRPr lang="en-US"/>
          </a:p>
        </p:txBody>
      </p:sp>
    </p:spTree>
    <p:extLst>
      <p:ext uri="{BB962C8B-B14F-4D97-AF65-F5344CB8AC3E}">
        <p14:creationId xmlns:p14="http://schemas.microsoft.com/office/powerpoint/2010/main" val="4071803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AA257F3-9463-4D41-9CA4-42F6A45CCA64}" type="datetimeFigureOut">
              <a:rPr lang="en-US" smtClean="0"/>
              <a:t>4/24/2025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B8E8731-1118-409F-8F96-62FE4DDE7080}" type="slidenum">
              <a:rPr lang="en-US" smtClean="0"/>
              <a:t>‹#›</a:t>
            </a:fld>
            <a:endParaRPr lang="en-US"/>
          </a:p>
        </p:txBody>
      </p:sp>
    </p:spTree>
    <p:extLst>
      <p:ext uri="{BB962C8B-B14F-4D97-AF65-F5344CB8AC3E}">
        <p14:creationId xmlns:p14="http://schemas.microsoft.com/office/powerpoint/2010/main" val="452083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A257F3-9463-4D41-9CA4-42F6A45CCA64}" type="datetimeFigureOut">
              <a:rPr lang="en-US" smtClean="0"/>
              <a:t>4/24/2025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B8E8731-1118-409F-8F96-62FE4DDE7080}" type="slidenum">
              <a:rPr lang="en-US" smtClean="0"/>
              <a:t>‹#›</a:t>
            </a:fld>
            <a:endParaRPr lang="en-US"/>
          </a:p>
        </p:txBody>
      </p:sp>
    </p:spTree>
    <p:extLst>
      <p:ext uri="{BB962C8B-B14F-4D97-AF65-F5344CB8AC3E}">
        <p14:creationId xmlns:p14="http://schemas.microsoft.com/office/powerpoint/2010/main" val="1790089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A257F3-9463-4D41-9CA4-42F6A45CCA64}" type="datetimeFigureOut">
              <a:rPr lang="en-US" smtClean="0"/>
              <a:t>4/24/2025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8E8731-1118-409F-8F96-62FE4DDE7080}" type="slidenum">
              <a:rPr lang="en-US" smtClean="0"/>
              <a:t>‹#›</a:t>
            </a:fld>
            <a:endParaRPr lang="en-US"/>
          </a:p>
        </p:txBody>
      </p:sp>
    </p:spTree>
    <p:extLst>
      <p:ext uri="{BB962C8B-B14F-4D97-AF65-F5344CB8AC3E}">
        <p14:creationId xmlns:p14="http://schemas.microsoft.com/office/powerpoint/2010/main" val="954147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A257F3-9463-4D41-9CA4-42F6A45CCA64}" type="datetimeFigureOut">
              <a:rPr lang="en-US" smtClean="0"/>
              <a:t>4/24/2025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8E8731-1118-409F-8F96-62FE4DDE7080}" type="slidenum">
              <a:rPr lang="en-US" smtClean="0"/>
              <a:t>‹#›</a:t>
            </a:fld>
            <a:endParaRPr lang="en-US"/>
          </a:p>
        </p:txBody>
      </p:sp>
    </p:spTree>
    <p:extLst>
      <p:ext uri="{BB962C8B-B14F-4D97-AF65-F5344CB8AC3E}">
        <p14:creationId xmlns:p14="http://schemas.microsoft.com/office/powerpoint/2010/main" val="1346068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AA257F3-9463-4D41-9CA4-42F6A45CCA64}"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8E8731-1118-409F-8F96-62FE4DDE7080}" type="slidenum">
              <a:rPr lang="en-US" smtClean="0"/>
              <a:t>‹#›</a:t>
            </a:fld>
            <a:endParaRPr lang="en-US"/>
          </a:p>
        </p:txBody>
      </p:sp>
    </p:spTree>
    <p:extLst>
      <p:ext uri="{BB962C8B-B14F-4D97-AF65-F5344CB8AC3E}">
        <p14:creationId xmlns:p14="http://schemas.microsoft.com/office/powerpoint/2010/main" val="27273652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AA257F3-9463-4D41-9CA4-42F6A45CCA64}"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8E8731-1118-409F-8F96-62FE4DDE7080}" type="slidenum">
              <a:rPr lang="en-US" smtClean="0"/>
              <a:t>‹#›</a:t>
            </a:fld>
            <a:endParaRPr lang="en-US"/>
          </a:p>
        </p:txBody>
      </p:sp>
    </p:spTree>
    <p:extLst>
      <p:ext uri="{BB962C8B-B14F-4D97-AF65-F5344CB8AC3E}">
        <p14:creationId xmlns:p14="http://schemas.microsoft.com/office/powerpoint/2010/main" val="15735887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A257F3-9463-4D41-9CA4-42F6A45CCA64}" type="datetimeFigureOut">
              <a:rPr lang="en-US" smtClean="0"/>
              <a:t>4/24/2025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8E8731-1118-409F-8F96-62FE4DDE7080}" type="slidenum">
              <a:rPr lang="en-US" smtClean="0"/>
              <a:t>‹#›</a:t>
            </a:fld>
            <a:endParaRPr lang="en-US"/>
          </a:p>
        </p:txBody>
      </p:sp>
    </p:spTree>
    <p:extLst>
      <p:ext uri="{BB962C8B-B14F-4D97-AF65-F5344CB8AC3E}">
        <p14:creationId xmlns:p14="http://schemas.microsoft.com/office/powerpoint/2010/main" val="35880239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1052736"/>
            <a:ext cx="7772400" cy="2547714"/>
          </a:xfrm>
        </p:spPr>
        <p:txBody>
          <a:bodyPr>
            <a:normAutofit fontScale="90000"/>
          </a:bodyPr>
          <a:lstStyle/>
          <a:p>
            <a:r>
              <a:rPr lang="en-US" b="1" dirty="0" smtClean="0"/>
              <a:t/>
            </a:r>
            <a:br>
              <a:rPr lang="en-US" b="1" dirty="0" smtClean="0"/>
            </a:br>
            <a:r>
              <a:rPr lang="en-US" b="1" dirty="0" smtClean="0"/>
              <a:t>FORMATION </a:t>
            </a:r>
            <a:r>
              <a:rPr lang="en-US" b="1" dirty="0"/>
              <a:t>AND REGISTRATION OF BUSINESS NAMES, PARTNERSHIPS AND INCORPORATED TRUSTEES</a:t>
            </a:r>
            <a:r>
              <a:rPr lang="en-US" dirty="0"/>
              <a:t/>
            </a:r>
            <a:br>
              <a:rPr lang="en-US" dirty="0"/>
            </a:br>
            <a:endParaRPr lang="en-US" dirty="0"/>
          </a:p>
        </p:txBody>
      </p:sp>
    </p:spTree>
    <p:extLst>
      <p:ext uri="{BB962C8B-B14F-4D97-AF65-F5344CB8AC3E}">
        <p14:creationId xmlns:p14="http://schemas.microsoft.com/office/powerpoint/2010/main" val="3280787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BUSINESS NAME REGISTRATION</a:t>
            </a:r>
            <a:br>
              <a:rPr lang="en-US" dirty="0" smtClean="0"/>
            </a:br>
            <a:r>
              <a:rPr lang="en-US" dirty="0" smtClean="0"/>
              <a:t>(Part E CAMA)</a:t>
            </a:r>
            <a:endParaRPr lang="en-US" dirty="0"/>
          </a:p>
        </p:txBody>
      </p:sp>
      <p:sp>
        <p:nvSpPr>
          <p:cNvPr id="3" name="Content Placeholder 2"/>
          <p:cNvSpPr>
            <a:spLocks noGrp="1"/>
          </p:cNvSpPr>
          <p:nvPr>
            <p:ph idx="1"/>
          </p:nvPr>
        </p:nvSpPr>
        <p:spPr/>
        <p:txBody>
          <a:bodyPr/>
          <a:lstStyle/>
          <a:p>
            <a:r>
              <a:rPr lang="en-US" dirty="0" smtClean="0"/>
              <a:t>There shall be established in each State of the Federation, a registry of business names where there shall be kept a register in the prescribed form – S. 811</a:t>
            </a:r>
          </a:p>
          <a:p>
            <a:r>
              <a:rPr lang="en-US" dirty="0" smtClean="0"/>
              <a:t>The Registrar-General appointed under section 9 of this Act shall be the Registrar of Business Names - </a:t>
            </a:r>
            <a:r>
              <a:rPr lang="en-US" b="1" dirty="0" smtClean="0"/>
              <a:t>812.</a:t>
            </a:r>
            <a:r>
              <a:rPr lang="en-US" dirty="0" smtClean="0"/>
              <a:t>—(1) </a:t>
            </a:r>
          </a:p>
          <a:p>
            <a:endParaRPr lang="en-US" dirty="0"/>
          </a:p>
        </p:txBody>
      </p:sp>
    </p:spTree>
    <p:extLst>
      <p:ext uri="{BB962C8B-B14F-4D97-AF65-F5344CB8AC3E}">
        <p14:creationId xmlns:p14="http://schemas.microsoft.com/office/powerpoint/2010/main" val="2128491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REGISTRABLE BUSINESS NAMES – S.814</a:t>
            </a:r>
            <a:endParaRPr lang="en-US" dirty="0"/>
          </a:p>
        </p:txBody>
      </p:sp>
      <p:sp>
        <p:nvSpPr>
          <p:cNvPr id="3" name="Content Placeholder 2"/>
          <p:cNvSpPr>
            <a:spLocks noGrp="1"/>
          </p:cNvSpPr>
          <p:nvPr>
            <p:ph idx="1"/>
          </p:nvPr>
        </p:nvSpPr>
        <p:spPr/>
        <p:txBody>
          <a:bodyPr>
            <a:normAutofit fontScale="92500"/>
          </a:bodyPr>
          <a:lstStyle/>
          <a:p>
            <a:r>
              <a:rPr lang="en-US" dirty="0" smtClean="0"/>
              <a:t>Every individual, firm or Corporation having a place of business in Nigeria and carrying on business under a business name shall be registered in the manner provided in this Part if—</a:t>
            </a:r>
          </a:p>
          <a:p>
            <a:pPr marL="0" indent="0">
              <a:buNone/>
            </a:pPr>
            <a:r>
              <a:rPr lang="en-US" dirty="0" smtClean="0"/>
              <a:t>(</a:t>
            </a:r>
            <a:r>
              <a:rPr lang="en-US" i="1" dirty="0" smtClean="0"/>
              <a:t>a</a:t>
            </a:r>
            <a:r>
              <a:rPr lang="en-US" dirty="0" smtClean="0"/>
              <a:t>) in the case of a firm, the name does not consist of the true surname of all partners without any addition other than the true forenames of the individual partners or the initials of such forenames </a:t>
            </a:r>
          </a:p>
          <a:p>
            <a:endParaRPr lang="en-US" dirty="0"/>
          </a:p>
        </p:txBody>
      </p:sp>
    </p:spTree>
    <p:extLst>
      <p:ext uri="{BB962C8B-B14F-4D97-AF65-F5344CB8AC3E}">
        <p14:creationId xmlns:p14="http://schemas.microsoft.com/office/powerpoint/2010/main" val="1002113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a:t>
            </a:r>
            <a:r>
              <a:rPr lang="en-US" i="1" dirty="0" smtClean="0"/>
              <a:t>b</a:t>
            </a:r>
            <a:r>
              <a:rPr lang="en-US" dirty="0" smtClean="0"/>
              <a:t>) in the case of an individual, the name does not consist of his true surname without any addition other than his true forenames or the initials thereof ; or</a:t>
            </a:r>
          </a:p>
          <a:p>
            <a:r>
              <a:rPr lang="en-US" dirty="0" smtClean="0"/>
              <a:t>(</a:t>
            </a:r>
            <a:r>
              <a:rPr lang="en-US" i="1" dirty="0" smtClean="0"/>
              <a:t>c</a:t>
            </a:r>
            <a:r>
              <a:rPr lang="en-US" dirty="0" smtClean="0"/>
              <a:t>) in the case of a company, whether or not registered under this Act, the name does not consist of its corporate name without any addition.</a:t>
            </a:r>
          </a:p>
          <a:p>
            <a:endParaRPr lang="en-US" dirty="0"/>
          </a:p>
        </p:txBody>
      </p:sp>
    </p:spTree>
    <p:extLst>
      <p:ext uri="{BB962C8B-B14F-4D97-AF65-F5344CB8AC3E}">
        <p14:creationId xmlns:p14="http://schemas.microsoft.com/office/powerpoint/2010/main" val="197799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ILLUSTRATION OF HOW PARTNERS CAN AVOID REGISTRATION OF BN</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PARTNERS: 1. EMEKA AYO, 2. AUDU OKON &amp; 3. PAM ORITSE.</a:t>
            </a:r>
          </a:p>
          <a:p>
            <a:r>
              <a:rPr lang="en-US" dirty="0" smtClean="0"/>
              <a:t>To avoid Registration:</a:t>
            </a:r>
          </a:p>
          <a:p>
            <a:pPr marL="514350" indent="-514350">
              <a:buAutoNum type="arabicPeriod"/>
            </a:pPr>
            <a:r>
              <a:rPr lang="en-US" dirty="0" smtClean="0"/>
              <a:t>Full Names only: </a:t>
            </a:r>
            <a:r>
              <a:rPr lang="en-US" dirty="0" err="1" smtClean="0"/>
              <a:t>Emeka</a:t>
            </a:r>
            <a:r>
              <a:rPr lang="en-US" dirty="0" smtClean="0"/>
              <a:t> Ayo, </a:t>
            </a:r>
            <a:r>
              <a:rPr lang="en-US" dirty="0" err="1" smtClean="0"/>
              <a:t>Audu</a:t>
            </a:r>
            <a:r>
              <a:rPr lang="en-US" dirty="0" smtClean="0"/>
              <a:t> </a:t>
            </a:r>
            <a:r>
              <a:rPr lang="en-US" dirty="0" err="1" smtClean="0"/>
              <a:t>Okon</a:t>
            </a:r>
            <a:r>
              <a:rPr lang="en-US" dirty="0" smtClean="0"/>
              <a:t> &amp; Pam </a:t>
            </a:r>
            <a:r>
              <a:rPr lang="en-US" dirty="0" err="1" smtClean="0"/>
              <a:t>Oritse</a:t>
            </a:r>
            <a:r>
              <a:rPr lang="en-US" dirty="0" smtClean="0"/>
              <a:t>.</a:t>
            </a:r>
          </a:p>
          <a:p>
            <a:pPr marL="514350" indent="-514350">
              <a:buAutoNum type="arabicPeriod"/>
            </a:pPr>
            <a:r>
              <a:rPr lang="en-US" dirty="0" smtClean="0"/>
              <a:t>Initials of Forenames with Surnames only: E. Ayo, A. </a:t>
            </a:r>
            <a:r>
              <a:rPr lang="en-US" dirty="0" err="1" smtClean="0"/>
              <a:t>Okon</a:t>
            </a:r>
            <a:r>
              <a:rPr lang="en-US" dirty="0" smtClean="0"/>
              <a:t> &amp; P. </a:t>
            </a:r>
            <a:r>
              <a:rPr lang="en-US" dirty="0" err="1" smtClean="0"/>
              <a:t>Oritse</a:t>
            </a:r>
            <a:r>
              <a:rPr lang="en-US" dirty="0" smtClean="0"/>
              <a:t>.</a:t>
            </a:r>
          </a:p>
          <a:p>
            <a:pPr marL="514350" indent="-514350">
              <a:buAutoNum type="arabicPeriod"/>
            </a:pPr>
            <a:r>
              <a:rPr lang="en-US" dirty="0" smtClean="0"/>
              <a:t>Surnames only: Ayo, </a:t>
            </a:r>
            <a:r>
              <a:rPr lang="en-US" dirty="0" err="1" smtClean="0"/>
              <a:t>Okon</a:t>
            </a:r>
            <a:r>
              <a:rPr lang="en-US" dirty="0" smtClean="0"/>
              <a:t> &amp; </a:t>
            </a:r>
            <a:r>
              <a:rPr lang="en-US" dirty="0" err="1" smtClean="0"/>
              <a:t>Oritse</a:t>
            </a:r>
            <a:endParaRPr lang="en-US" dirty="0" smtClean="0"/>
          </a:p>
          <a:p>
            <a:pPr marL="0" indent="0">
              <a:buNone/>
            </a:pPr>
            <a:endParaRPr lang="en-US" dirty="0" smtClean="0"/>
          </a:p>
          <a:p>
            <a:pPr marL="0" indent="0">
              <a:buNone/>
            </a:pPr>
            <a:r>
              <a:rPr lang="en-US" dirty="0" smtClean="0"/>
              <a:t>- S. 814 CAMA</a:t>
            </a:r>
          </a:p>
          <a:p>
            <a:pPr marL="0" indent="0">
              <a:buNone/>
            </a:pPr>
            <a:endParaRPr lang="en-US" dirty="0" smtClean="0"/>
          </a:p>
          <a:p>
            <a:pPr marL="514350" indent="-514350">
              <a:buAutoNum type="arabicPeriod"/>
            </a:pPr>
            <a:endParaRPr lang="en-US" dirty="0" smtClean="0"/>
          </a:p>
          <a:p>
            <a:endParaRPr lang="en-US" dirty="0" smtClean="0"/>
          </a:p>
          <a:p>
            <a:endParaRPr lang="en-US" dirty="0"/>
          </a:p>
        </p:txBody>
      </p:sp>
    </p:spTree>
    <p:extLst>
      <p:ext uri="{BB962C8B-B14F-4D97-AF65-F5344CB8AC3E}">
        <p14:creationId xmlns:p14="http://schemas.microsoft.com/office/powerpoint/2010/main" val="38696378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ILLUSTRATION OF HOW INDIVIDUALS CAN AVOID REGISTRATION OF BN</a:t>
            </a:r>
            <a:endParaRPr lang="en-US" dirty="0"/>
          </a:p>
        </p:txBody>
      </p:sp>
      <p:sp>
        <p:nvSpPr>
          <p:cNvPr id="3" name="Content Placeholder 2"/>
          <p:cNvSpPr>
            <a:spLocks noGrp="1"/>
          </p:cNvSpPr>
          <p:nvPr>
            <p:ph idx="1"/>
          </p:nvPr>
        </p:nvSpPr>
        <p:spPr/>
        <p:txBody>
          <a:bodyPr/>
          <a:lstStyle/>
          <a:p>
            <a:r>
              <a:rPr lang="en-US" dirty="0" smtClean="0"/>
              <a:t>NAME OF SOLE PROPRIETOR:  EKAETE AISHA OJO</a:t>
            </a:r>
          </a:p>
          <a:p>
            <a:pPr marL="514350" indent="-514350">
              <a:buAutoNum type="arabicPeriod"/>
            </a:pPr>
            <a:r>
              <a:rPr lang="en-US" dirty="0" smtClean="0"/>
              <a:t>E.A. </a:t>
            </a:r>
            <a:r>
              <a:rPr lang="en-US" dirty="0" err="1" smtClean="0"/>
              <a:t>Ojo</a:t>
            </a:r>
            <a:endParaRPr lang="en-US" dirty="0" smtClean="0"/>
          </a:p>
          <a:p>
            <a:pPr marL="514350" indent="-514350">
              <a:buAutoNum type="arabicPeriod"/>
            </a:pPr>
            <a:r>
              <a:rPr lang="en-US" dirty="0" err="1" smtClean="0"/>
              <a:t>Ekaete</a:t>
            </a:r>
            <a:r>
              <a:rPr lang="en-US" dirty="0" smtClean="0"/>
              <a:t> Aisha </a:t>
            </a:r>
            <a:r>
              <a:rPr lang="en-US" dirty="0" err="1" smtClean="0"/>
              <a:t>Ojo</a:t>
            </a:r>
            <a:endParaRPr lang="en-US" dirty="0" smtClean="0"/>
          </a:p>
          <a:p>
            <a:pPr marL="514350" indent="-514350">
              <a:buAutoNum type="arabicPeriod"/>
            </a:pPr>
            <a:endParaRPr lang="en-US" dirty="0" smtClean="0"/>
          </a:p>
          <a:p>
            <a:pPr marL="0" indent="0">
              <a:buNone/>
            </a:pPr>
            <a:r>
              <a:rPr lang="en-US" dirty="0" smtClean="0"/>
              <a:t>- S. 814 CAMA</a:t>
            </a:r>
          </a:p>
          <a:p>
            <a:pPr marL="0" indent="0">
              <a:buNone/>
            </a:pPr>
            <a:endParaRPr lang="en-US" dirty="0" smtClean="0"/>
          </a:p>
          <a:p>
            <a:pPr marL="0" indent="0">
              <a:buNone/>
            </a:pPr>
            <a:endParaRPr lang="en-US" dirty="0" smtClean="0"/>
          </a:p>
          <a:p>
            <a:endParaRPr lang="en-US" dirty="0"/>
          </a:p>
        </p:txBody>
      </p:sp>
    </p:spTree>
    <p:extLst>
      <p:ext uri="{BB962C8B-B14F-4D97-AF65-F5344CB8AC3E}">
        <p14:creationId xmlns:p14="http://schemas.microsoft.com/office/powerpoint/2010/main" val="1628145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ILLUSTRATION OF HOW A COMPANY CAN AVOID REGISTRATION OF BN</a:t>
            </a:r>
            <a:endParaRPr lang="en-US" dirty="0"/>
          </a:p>
        </p:txBody>
      </p:sp>
      <p:sp>
        <p:nvSpPr>
          <p:cNvPr id="3" name="Content Placeholder 2"/>
          <p:cNvSpPr>
            <a:spLocks noGrp="1"/>
          </p:cNvSpPr>
          <p:nvPr>
            <p:ph idx="1"/>
          </p:nvPr>
        </p:nvSpPr>
        <p:spPr/>
        <p:txBody>
          <a:bodyPr/>
          <a:lstStyle/>
          <a:p>
            <a:r>
              <a:rPr lang="en-US" dirty="0" smtClean="0"/>
              <a:t>NAME OF COMPANY: </a:t>
            </a:r>
          </a:p>
          <a:p>
            <a:r>
              <a:rPr lang="en-US" dirty="0" smtClean="0"/>
              <a:t>GLOBAL ALLIANCE VENTURES LTD</a:t>
            </a:r>
          </a:p>
          <a:p>
            <a:endParaRPr lang="en-US" dirty="0" smtClean="0"/>
          </a:p>
          <a:p>
            <a:pPr marL="514350" indent="-514350">
              <a:buAutoNum type="arabicPeriod"/>
            </a:pPr>
            <a:r>
              <a:rPr lang="en-US" dirty="0" smtClean="0"/>
              <a:t>GLOBAL ALLIANCE VENTURES.</a:t>
            </a:r>
          </a:p>
          <a:p>
            <a:pPr marL="514350" indent="-514350">
              <a:buAutoNum type="arabicPeriod"/>
            </a:pPr>
            <a:endParaRPr lang="en-US" dirty="0" smtClean="0"/>
          </a:p>
          <a:p>
            <a:pPr marL="0" indent="0">
              <a:buNone/>
            </a:pPr>
            <a:r>
              <a:rPr lang="en-US" dirty="0" smtClean="0"/>
              <a:t>- S. 814 CAMA</a:t>
            </a:r>
          </a:p>
          <a:p>
            <a:endParaRPr lang="en-US" dirty="0"/>
          </a:p>
        </p:txBody>
      </p:sp>
    </p:spTree>
    <p:extLst>
      <p:ext uri="{BB962C8B-B14F-4D97-AF65-F5344CB8AC3E}">
        <p14:creationId xmlns:p14="http://schemas.microsoft.com/office/powerpoint/2010/main" val="157832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TIME WITHIN WHICH BN MUST BE REGISTERED – S. 815 (1)</a:t>
            </a:r>
            <a:endParaRPr lang="en-US" dirty="0"/>
          </a:p>
        </p:txBody>
      </p:sp>
      <p:sp>
        <p:nvSpPr>
          <p:cNvPr id="3" name="Content Placeholder 2"/>
          <p:cNvSpPr>
            <a:spLocks noGrp="1"/>
          </p:cNvSpPr>
          <p:nvPr>
            <p:ph idx="1"/>
          </p:nvPr>
        </p:nvSpPr>
        <p:spPr/>
        <p:txBody>
          <a:bodyPr>
            <a:normAutofit fontScale="92500"/>
          </a:bodyPr>
          <a:lstStyle/>
          <a:p>
            <a:r>
              <a:rPr lang="en-US" dirty="0" smtClean="0"/>
              <a:t>Every individual, firm or company required under this Act to be registered shall, </a:t>
            </a:r>
            <a:r>
              <a:rPr lang="en-US" b="1" dirty="0" smtClean="0"/>
              <a:t>within 28 days </a:t>
            </a:r>
            <a:r>
              <a:rPr lang="en-US" dirty="0" smtClean="0"/>
              <a:t>after the individual, firm or corporation commences the business in respect of which registration is required, furnish to the Registrar at the registry in the State in which the principal place of business of the individual, firm or company is situated, a statement in writing</a:t>
            </a:r>
          </a:p>
          <a:p>
            <a:pPr marL="0" indent="0">
              <a:buNone/>
            </a:pPr>
            <a:r>
              <a:rPr lang="en-US" dirty="0" smtClean="0"/>
              <a:t>    in the prescribed form and signed.</a:t>
            </a:r>
          </a:p>
          <a:p>
            <a:endParaRPr lang="en-US" dirty="0" smtClean="0"/>
          </a:p>
          <a:p>
            <a:endParaRPr lang="en-US" dirty="0"/>
          </a:p>
        </p:txBody>
      </p:sp>
    </p:spTree>
    <p:extLst>
      <p:ext uri="{BB962C8B-B14F-4D97-AF65-F5344CB8AC3E}">
        <p14:creationId xmlns:p14="http://schemas.microsoft.com/office/powerpoint/2010/main" val="1768789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REQUISITE INFORMATION FOR THE REGISTRATION OF A BN S. 815(1)(a)</a:t>
            </a:r>
            <a:endParaRPr lang="en-US" dirty="0"/>
          </a:p>
        </p:txBody>
      </p:sp>
      <p:sp>
        <p:nvSpPr>
          <p:cNvPr id="3" name="Content Placeholder 2"/>
          <p:cNvSpPr>
            <a:spLocks noGrp="1"/>
          </p:cNvSpPr>
          <p:nvPr>
            <p:ph idx="1"/>
          </p:nvPr>
        </p:nvSpPr>
        <p:spPr/>
        <p:txBody>
          <a:bodyPr/>
          <a:lstStyle/>
          <a:p>
            <a:pPr marL="0" indent="0">
              <a:buNone/>
            </a:pPr>
            <a:r>
              <a:rPr lang="en-US" dirty="0" smtClean="0"/>
              <a:t>(</a:t>
            </a:r>
            <a:r>
              <a:rPr lang="en-US" i="1" dirty="0" smtClean="0"/>
              <a:t>a</a:t>
            </a:r>
            <a:r>
              <a:rPr lang="en-US" dirty="0" smtClean="0"/>
              <a:t>) the business name or, if the business is carried on under two or more business names, each of those business names ;</a:t>
            </a:r>
          </a:p>
          <a:p>
            <a:pPr marL="0" indent="0">
              <a:buNone/>
            </a:pPr>
            <a:r>
              <a:rPr lang="en-US" dirty="0" smtClean="0"/>
              <a:t>(</a:t>
            </a:r>
            <a:r>
              <a:rPr lang="en-US" i="1" dirty="0" smtClean="0"/>
              <a:t>b</a:t>
            </a:r>
            <a:r>
              <a:rPr lang="en-US" dirty="0" smtClean="0"/>
              <a:t>) the general nature of the business ;</a:t>
            </a:r>
          </a:p>
          <a:p>
            <a:pPr marL="0" indent="0">
              <a:buNone/>
            </a:pPr>
            <a:r>
              <a:rPr lang="en-US" dirty="0" smtClean="0"/>
              <a:t>(</a:t>
            </a:r>
            <a:r>
              <a:rPr lang="en-US" i="1" dirty="0" smtClean="0"/>
              <a:t>c</a:t>
            </a:r>
            <a:r>
              <a:rPr lang="en-US" dirty="0" smtClean="0"/>
              <a:t>) the full postal address of the principal place of business ;</a:t>
            </a:r>
          </a:p>
          <a:p>
            <a:pPr marL="0" indent="0">
              <a:buNone/>
            </a:pPr>
            <a:r>
              <a:rPr lang="en-US" dirty="0" smtClean="0"/>
              <a:t>(</a:t>
            </a:r>
            <a:r>
              <a:rPr lang="en-US" i="1" dirty="0" smtClean="0"/>
              <a:t>d</a:t>
            </a:r>
            <a:r>
              <a:rPr lang="en-US" dirty="0" smtClean="0"/>
              <a:t>) the full postal address of every other place of business ;</a:t>
            </a:r>
          </a:p>
          <a:p>
            <a:endParaRPr lang="en-US" dirty="0" smtClean="0"/>
          </a:p>
          <a:p>
            <a:endParaRPr lang="en-US" dirty="0"/>
          </a:p>
        </p:txBody>
      </p:sp>
    </p:spTree>
    <p:extLst>
      <p:ext uri="{BB962C8B-B14F-4D97-AF65-F5344CB8AC3E}">
        <p14:creationId xmlns:p14="http://schemas.microsoft.com/office/powerpoint/2010/main" val="702156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SUMMARY OF DOCUMENTS REQUIRED TO REGISTER A BN</a:t>
            </a:r>
            <a:endParaRPr lang="en-US" dirty="0"/>
          </a:p>
        </p:txBody>
      </p:sp>
      <p:sp>
        <p:nvSpPr>
          <p:cNvPr id="3" name="Content Placeholder 2"/>
          <p:cNvSpPr>
            <a:spLocks noGrp="1"/>
          </p:cNvSpPr>
          <p:nvPr>
            <p:ph idx="1"/>
          </p:nvPr>
        </p:nvSpPr>
        <p:spPr>
          <a:xfrm>
            <a:off x="457200" y="1600200"/>
            <a:ext cx="8229600" cy="5069160"/>
          </a:xfrm>
        </p:spPr>
        <p:txBody>
          <a:bodyPr>
            <a:normAutofit fontScale="85000" lnSpcReduction="10000"/>
          </a:bodyPr>
          <a:lstStyle/>
          <a:p>
            <a:pPr marL="514350" indent="-514350">
              <a:buFont typeface="+mj-lt"/>
              <a:buAutoNum type="arabicPeriod"/>
            </a:pPr>
            <a:r>
              <a:rPr lang="en-US" dirty="0" smtClean="0"/>
              <a:t>Form for Availability and Reservation of BN.</a:t>
            </a:r>
          </a:p>
          <a:p>
            <a:pPr marL="0" lvl="0" indent="0">
              <a:buNone/>
            </a:pPr>
            <a:r>
              <a:rPr lang="en-US" dirty="0" smtClean="0"/>
              <a:t>2. FORM CAC /BN/ 1 Application for Registration of Business </a:t>
            </a:r>
            <a:endParaRPr lang="en-US" sz="2800" dirty="0" smtClean="0"/>
          </a:p>
          <a:p>
            <a:pPr marL="0" indent="0">
              <a:buNone/>
            </a:pPr>
            <a:r>
              <a:rPr lang="en-US" dirty="0" smtClean="0"/>
              <a:t>3. 2 Passport Photographs (for each Partner) Certified as prescribed by CAC. </a:t>
            </a:r>
          </a:p>
          <a:p>
            <a:pPr marL="0" indent="0">
              <a:buNone/>
            </a:pPr>
            <a:r>
              <a:rPr lang="en-US" dirty="0" smtClean="0"/>
              <a:t>4. For Professional Firms, Certificate of Proficiency e.g. CTB Certificate for a Firm of Legal Practitioners, etc.</a:t>
            </a:r>
          </a:p>
          <a:p>
            <a:pPr marL="0" lvl="0" indent="0">
              <a:buNone/>
            </a:pPr>
            <a:r>
              <a:rPr lang="en-US" dirty="0" smtClean="0"/>
              <a:t>5. Proof of identity (National Identity card, Driver’s License or Information Page of International Passport)</a:t>
            </a:r>
          </a:p>
          <a:p>
            <a:pPr marL="0" indent="0">
              <a:buNone/>
            </a:pPr>
            <a:r>
              <a:rPr lang="en-US" dirty="0" smtClean="0"/>
              <a:t>6. Evidence of payment of the prescribed BN registration fee to CAC.</a:t>
            </a:r>
          </a:p>
          <a:p>
            <a:pPr marL="514350" indent="-514350">
              <a:buFont typeface="+mj-lt"/>
              <a:buAutoNum type="arabicPeriod"/>
            </a:pPr>
            <a:endParaRPr lang="en-US" dirty="0" smtClean="0"/>
          </a:p>
          <a:p>
            <a:endParaRPr lang="en-US" dirty="0"/>
          </a:p>
        </p:txBody>
      </p:sp>
    </p:spTree>
    <p:extLst>
      <p:ext uri="{BB962C8B-B14F-4D97-AF65-F5344CB8AC3E}">
        <p14:creationId xmlns:p14="http://schemas.microsoft.com/office/powerpoint/2010/main" val="3801952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5865515"/>
          </a:xfrm>
        </p:spPr>
        <p:txBody>
          <a:bodyPr/>
          <a:lstStyle/>
          <a:p>
            <a:r>
              <a:rPr lang="en-GB" dirty="0" smtClean="0"/>
              <a:t>The following can sign the BN Application for Registration. S.815(5) CAMA</a:t>
            </a:r>
            <a:endParaRPr lang="en-US" dirty="0" smtClean="0"/>
          </a:p>
          <a:p>
            <a:pPr marL="514350" indent="-514350">
              <a:buFont typeface="+mj-lt"/>
              <a:buAutoNum type="arabicPeriod"/>
            </a:pPr>
            <a:r>
              <a:rPr lang="en-US" dirty="0" smtClean="0"/>
              <a:t>Sole Proprietor – The individual.</a:t>
            </a:r>
          </a:p>
          <a:p>
            <a:pPr marL="514350" indent="-514350">
              <a:buFont typeface="+mj-lt"/>
              <a:buAutoNum type="arabicPeriod"/>
            </a:pPr>
            <a:r>
              <a:rPr lang="en-US" dirty="0" smtClean="0"/>
              <a:t>Company – Director or Secretary.</a:t>
            </a:r>
          </a:p>
          <a:p>
            <a:pPr marL="514350" indent="-514350">
              <a:buFont typeface="+mj-lt"/>
              <a:buAutoNum type="arabicPeriod"/>
            </a:pPr>
            <a:r>
              <a:rPr lang="en-US" dirty="0" smtClean="0"/>
              <a:t>Firm – Each Partner</a:t>
            </a:r>
          </a:p>
          <a:p>
            <a:endParaRPr lang="en-US" dirty="0"/>
          </a:p>
        </p:txBody>
      </p:sp>
    </p:spTree>
    <p:extLst>
      <p:ext uri="{BB962C8B-B14F-4D97-AF65-F5344CB8AC3E}">
        <p14:creationId xmlns:p14="http://schemas.microsoft.com/office/powerpoint/2010/main" val="23491758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8640"/>
            <a:ext cx="8229600" cy="5937523"/>
          </a:xfrm>
        </p:spPr>
        <p:txBody>
          <a:bodyPr/>
          <a:lstStyle/>
          <a:p>
            <a:r>
              <a:rPr lang="en-GB" dirty="0" smtClean="0"/>
              <a:t>Note:</a:t>
            </a:r>
          </a:p>
          <a:p>
            <a:r>
              <a:rPr lang="en-GB" dirty="0" smtClean="0"/>
              <a:t>A Minor can be a Sole Proprietor or Partner in a Firm. However, the </a:t>
            </a:r>
            <a:r>
              <a:rPr lang="en-US" dirty="0" smtClean="0"/>
              <a:t>signature of the Minor must be countersigned by either a Legal Practitioner, Magistrate or a Police Officer of or above ASP. 815(6)</a:t>
            </a:r>
          </a:p>
          <a:p>
            <a:r>
              <a:rPr lang="en-US" dirty="0" smtClean="0"/>
              <a:t>A Single Partner can  </a:t>
            </a:r>
            <a:r>
              <a:rPr lang="en-US" dirty="0"/>
              <a:t>s</a:t>
            </a:r>
            <a:r>
              <a:rPr lang="en-US" dirty="0" smtClean="0"/>
              <a:t>ign </a:t>
            </a:r>
            <a:r>
              <a:rPr lang="en-US" dirty="0"/>
              <a:t>i</a:t>
            </a:r>
            <a:r>
              <a:rPr lang="en-US" dirty="0" smtClean="0"/>
              <a:t>n </a:t>
            </a:r>
            <a:r>
              <a:rPr lang="en-US" dirty="0"/>
              <a:t>t</a:t>
            </a:r>
            <a:r>
              <a:rPr lang="en-US" dirty="0" smtClean="0"/>
              <a:t>he </a:t>
            </a:r>
            <a:r>
              <a:rPr lang="en-US" dirty="0"/>
              <a:t>a</a:t>
            </a:r>
            <a:r>
              <a:rPr lang="en-US" dirty="0" smtClean="0"/>
              <a:t>bsence of </a:t>
            </a:r>
            <a:r>
              <a:rPr lang="en-US" dirty="0"/>
              <a:t>o</a:t>
            </a:r>
            <a:r>
              <a:rPr lang="en-US" dirty="0" smtClean="0"/>
              <a:t>ther Partners. </a:t>
            </a:r>
            <a:br>
              <a:rPr lang="en-US" dirty="0" smtClean="0"/>
            </a:br>
            <a:r>
              <a:rPr lang="en-US" dirty="0" smtClean="0"/>
              <a:t>S. 815 (5) (c)</a:t>
            </a:r>
          </a:p>
          <a:p>
            <a:r>
              <a:rPr lang="en-GB" dirty="0" smtClean="0"/>
              <a:t>Certificate of Registration. Sec 817(1) </a:t>
            </a:r>
            <a:endParaRPr lang="en-US" dirty="0" smtClean="0"/>
          </a:p>
          <a:p>
            <a:endParaRPr lang="en-US" dirty="0"/>
          </a:p>
        </p:txBody>
      </p:sp>
    </p:spTree>
    <p:extLst>
      <p:ext uri="{BB962C8B-B14F-4D97-AF65-F5344CB8AC3E}">
        <p14:creationId xmlns:p14="http://schemas.microsoft.com/office/powerpoint/2010/main" val="37211918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CLIENT INTERVIEW</a:t>
            </a:r>
            <a:endParaRPr lang="en-US" dirty="0"/>
          </a:p>
        </p:txBody>
      </p:sp>
      <p:sp>
        <p:nvSpPr>
          <p:cNvPr id="3" name="Content Placeholder 2"/>
          <p:cNvSpPr>
            <a:spLocks noGrp="1"/>
          </p:cNvSpPr>
          <p:nvPr>
            <p:ph idx="1"/>
          </p:nvPr>
        </p:nvSpPr>
        <p:spPr/>
        <p:txBody>
          <a:bodyPr/>
          <a:lstStyle/>
          <a:p>
            <a:r>
              <a:rPr lang="en-US" dirty="0" smtClean="0"/>
              <a:t>Prepare a checklist of the questions to be asked a client during interview for formation of a Business Name, Partnership and Incorporated Trustees. </a:t>
            </a:r>
            <a:endParaRPr lang="en-US" dirty="0"/>
          </a:p>
        </p:txBody>
      </p:sp>
    </p:spTree>
    <p:extLst>
      <p:ext uri="{BB962C8B-B14F-4D97-AF65-F5344CB8AC3E}">
        <p14:creationId xmlns:p14="http://schemas.microsoft.com/office/powerpoint/2010/main" val="38072340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PARTNERSHIP</a:t>
            </a:r>
            <a:endParaRPr lang="en-US" dirty="0"/>
          </a:p>
        </p:txBody>
      </p:sp>
      <p:sp>
        <p:nvSpPr>
          <p:cNvPr id="3" name="Content Placeholder 2"/>
          <p:cNvSpPr>
            <a:spLocks noGrp="1"/>
          </p:cNvSpPr>
          <p:nvPr>
            <p:ph idx="1"/>
          </p:nvPr>
        </p:nvSpPr>
        <p:spPr/>
        <p:txBody>
          <a:bodyPr>
            <a:normAutofit/>
          </a:bodyPr>
          <a:lstStyle/>
          <a:p>
            <a:r>
              <a:rPr lang="en-GB" dirty="0" smtClean="0"/>
              <a:t>LIMITED LIABILITY PARTNERSHIP- PART C CAMA</a:t>
            </a:r>
          </a:p>
          <a:p>
            <a:r>
              <a:rPr lang="en-GB" dirty="0" smtClean="0"/>
              <a:t>LIMITED PARTNERSHIP -PART D CAMA</a:t>
            </a:r>
          </a:p>
        </p:txBody>
      </p:sp>
    </p:spTree>
    <p:extLst>
      <p:ext uri="{BB962C8B-B14F-4D97-AF65-F5344CB8AC3E}">
        <p14:creationId xmlns:p14="http://schemas.microsoft.com/office/powerpoint/2010/main" val="1532137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LIMITED LIABILITY PARTNERSHIP</a:t>
            </a:r>
            <a:r>
              <a:rPr lang="en-GB" dirty="0" smtClean="0"/>
              <a:t/>
            </a:r>
            <a:br>
              <a:rPr lang="en-GB" dirty="0" smtClean="0"/>
            </a:br>
            <a:r>
              <a:rPr lang="en-GB" dirty="0" smtClean="0"/>
              <a:t>(PART C CAMA)</a:t>
            </a:r>
            <a:endParaRPr lang="en-US" dirty="0"/>
          </a:p>
        </p:txBody>
      </p:sp>
      <p:sp>
        <p:nvSpPr>
          <p:cNvPr id="3" name="Content Placeholder 2"/>
          <p:cNvSpPr>
            <a:spLocks noGrp="1"/>
          </p:cNvSpPr>
          <p:nvPr>
            <p:ph idx="1"/>
          </p:nvPr>
        </p:nvSpPr>
        <p:spPr/>
        <p:txBody>
          <a:bodyPr/>
          <a:lstStyle/>
          <a:p>
            <a:pPr marL="0" indent="0">
              <a:buNone/>
            </a:pPr>
            <a:r>
              <a:rPr lang="en-GB" dirty="0" smtClean="0"/>
              <a:t>A limited liability partnership is a body corporate formed  and incorporated under the CAMA and is a legal entity separate from the partners. Sec 746 (1)</a:t>
            </a:r>
          </a:p>
          <a:p>
            <a:pPr marL="0" indent="0">
              <a:buNone/>
            </a:pPr>
            <a:r>
              <a:rPr lang="en-GB" dirty="0" smtClean="0"/>
              <a:t>A limited liability partnership shall have perpetual succession. Sec 746(2) </a:t>
            </a:r>
            <a:endParaRPr lang="en-US" dirty="0"/>
          </a:p>
        </p:txBody>
      </p:sp>
    </p:spTree>
    <p:extLst>
      <p:ext uri="{BB962C8B-B14F-4D97-AF65-F5344CB8AC3E}">
        <p14:creationId xmlns:p14="http://schemas.microsoft.com/office/powerpoint/2010/main" val="2485213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5721499"/>
          </a:xfrm>
        </p:spPr>
        <p:txBody>
          <a:bodyPr>
            <a:normAutofit lnSpcReduction="10000"/>
          </a:bodyPr>
          <a:lstStyle/>
          <a:p>
            <a:r>
              <a:rPr lang="en-GB" dirty="0" smtClean="0"/>
              <a:t>Any individual or body corporate may be a partner in a limited liability partnership.</a:t>
            </a:r>
          </a:p>
          <a:p>
            <a:r>
              <a:rPr lang="en-GB" dirty="0" smtClean="0"/>
              <a:t>Disqualification from becoming a Partner. See Sec 747</a:t>
            </a:r>
          </a:p>
          <a:p>
            <a:r>
              <a:rPr lang="en-GB" dirty="0" smtClean="0"/>
              <a:t>Every limited liability partnership shall have at least two partners. Sec 748</a:t>
            </a:r>
          </a:p>
          <a:p>
            <a:r>
              <a:rPr lang="en-GB" dirty="0" smtClean="0"/>
              <a:t>Every Limited liability partnership shall have at least two designated partners who are individuals and at least one of them shall be resident in Nigeria. Sec 749</a:t>
            </a:r>
          </a:p>
          <a:p>
            <a:r>
              <a:rPr lang="en-GB" dirty="0" smtClean="0"/>
              <a:t> Liability of Designated Partners Sec 750</a:t>
            </a:r>
            <a:endParaRPr lang="en-US" dirty="0" smtClean="0"/>
          </a:p>
          <a:p>
            <a:endParaRPr lang="en-GB" dirty="0" smtClean="0"/>
          </a:p>
          <a:p>
            <a:endParaRPr lang="en-US" dirty="0" smtClean="0"/>
          </a:p>
          <a:p>
            <a:endParaRPr lang="en-US" dirty="0"/>
          </a:p>
        </p:txBody>
      </p:sp>
    </p:spTree>
    <p:extLst>
      <p:ext uri="{BB962C8B-B14F-4D97-AF65-F5344CB8AC3E}">
        <p14:creationId xmlns:p14="http://schemas.microsoft.com/office/powerpoint/2010/main" val="81491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Class Activity</a:t>
            </a:r>
            <a:endParaRPr lang="en-US" dirty="0"/>
          </a:p>
        </p:txBody>
      </p:sp>
      <p:sp>
        <p:nvSpPr>
          <p:cNvPr id="3" name="Content Placeholder 2"/>
          <p:cNvSpPr>
            <a:spLocks noGrp="1"/>
          </p:cNvSpPr>
          <p:nvPr>
            <p:ph idx="1"/>
          </p:nvPr>
        </p:nvSpPr>
        <p:spPr/>
        <p:txBody>
          <a:bodyPr/>
          <a:lstStyle/>
          <a:p>
            <a:r>
              <a:rPr lang="en-GB" dirty="0" smtClean="0"/>
              <a:t>1. Discuss the Incorporation Documents need to incorporate a Limited Liability Partnership. Sec 753</a:t>
            </a:r>
          </a:p>
          <a:p>
            <a:r>
              <a:rPr lang="en-GB" dirty="0" smtClean="0"/>
              <a:t>2. What is the effect of Registration of a Limited Liability Partnership? Sec 756</a:t>
            </a:r>
            <a:endParaRPr lang="en-US" dirty="0"/>
          </a:p>
        </p:txBody>
      </p:sp>
    </p:spTree>
    <p:extLst>
      <p:ext uri="{BB962C8B-B14F-4D97-AF65-F5344CB8AC3E}">
        <p14:creationId xmlns:p14="http://schemas.microsoft.com/office/powerpoint/2010/main" val="30139888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Imperative of LLP Agreement</a:t>
            </a:r>
          </a:p>
        </p:txBody>
      </p:sp>
      <p:sp>
        <p:nvSpPr>
          <p:cNvPr id="3" name="Content Placeholder 2"/>
          <p:cNvSpPr>
            <a:spLocks noGrp="1"/>
          </p:cNvSpPr>
          <p:nvPr>
            <p:ph idx="1"/>
          </p:nvPr>
        </p:nvSpPr>
        <p:spPr/>
        <p:txBody>
          <a:bodyPr/>
          <a:lstStyle/>
          <a:p>
            <a:r>
              <a:rPr lang="en-US" dirty="0"/>
              <a:t>Any partner may become a designated partner in accordance </a:t>
            </a:r>
            <a:r>
              <a:rPr lang="en-US" dirty="0" smtClean="0"/>
              <a:t>with the </a:t>
            </a:r>
            <a:r>
              <a:rPr lang="en-US" dirty="0"/>
              <a:t>limited liability partnership agreement and a partner may cease to be </a:t>
            </a:r>
            <a:r>
              <a:rPr lang="en-US" dirty="0" smtClean="0"/>
              <a:t>a designated </a:t>
            </a:r>
            <a:r>
              <a:rPr lang="en-US" dirty="0"/>
              <a:t>partner in accordance with the limited </a:t>
            </a:r>
            <a:r>
              <a:rPr lang="en-US" dirty="0" smtClean="0"/>
              <a:t>liability partnership agreement – </a:t>
            </a:r>
            <a:r>
              <a:rPr lang="en-US" dirty="0"/>
              <a:t>S.749(3)</a:t>
            </a:r>
            <a:br>
              <a:rPr lang="en-US" dirty="0"/>
            </a:br>
            <a:endParaRPr lang="en-US" dirty="0"/>
          </a:p>
          <a:p>
            <a:endParaRPr lang="en-US" dirty="0"/>
          </a:p>
        </p:txBody>
      </p:sp>
    </p:spTree>
    <p:extLst>
      <p:ext uri="{BB962C8B-B14F-4D97-AF65-F5344CB8AC3E}">
        <p14:creationId xmlns:p14="http://schemas.microsoft.com/office/powerpoint/2010/main" val="13814163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Consent of </a:t>
            </a:r>
            <a:r>
              <a:rPr lang="en-US" dirty="0" smtClean="0"/>
              <a:t>Designated Partners </a:t>
            </a:r>
            <a:r>
              <a:rPr lang="en-US" dirty="0"/>
              <a:t>Required</a:t>
            </a:r>
          </a:p>
        </p:txBody>
      </p:sp>
      <p:sp>
        <p:nvSpPr>
          <p:cNvPr id="3" name="Content Placeholder 2"/>
          <p:cNvSpPr>
            <a:spLocks noGrp="1"/>
          </p:cNvSpPr>
          <p:nvPr>
            <p:ph idx="1"/>
          </p:nvPr>
        </p:nvSpPr>
        <p:spPr/>
        <p:txBody>
          <a:bodyPr>
            <a:normAutofit fontScale="85000" lnSpcReduction="20000"/>
          </a:bodyPr>
          <a:lstStyle/>
          <a:p>
            <a:r>
              <a:rPr lang="en-US" dirty="0"/>
              <a:t>An individual does not become a designated partner in any </a:t>
            </a:r>
            <a:r>
              <a:rPr lang="en-US" dirty="0" smtClean="0"/>
              <a:t>limited liability </a:t>
            </a:r>
            <a:r>
              <a:rPr lang="en-US" dirty="0"/>
              <a:t>partnership unless he has given his prior written consent to act as </a:t>
            </a:r>
            <a:r>
              <a:rPr lang="en-US" dirty="0" smtClean="0"/>
              <a:t>such to </a:t>
            </a:r>
            <a:r>
              <a:rPr lang="en-US" dirty="0"/>
              <a:t>the limited liability partnership – S. 749(3)</a:t>
            </a:r>
            <a:br>
              <a:rPr lang="en-US" dirty="0"/>
            </a:br>
            <a:endParaRPr lang="en-US" dirty="0" smtClean="0"/>
          </a:p>
          <a:p>
            <a:r>
              <a:rPr lang="en-US" b="1" dirty="0" smtClean="0"/>
              <a:t>Filing </a:t>
            </a:r>
            <a:r>
              <a:rPr lang="en-US" b="1" dirty="0"/>
              <a:t>Particulars of DPs in LLPs at CAC</a:t>
            </a:r>
            <a:endParaRPr lang="en-US" b="1" dirty="0" smtClean="0"/>
          </a:p>
          <a:p>
            <a:r>
              <a:rPr lang="en-US" dirty="0"/>
              <a:t>Every limited liability partnership shall file with the Commission the</a:t>
            </a:r>
            <a:br>
              <a:rPr lang="en-US" dirty="0"/>
            </a:br>
            <a:r>
              <a:rPr lang="en-US" dirty="0"/>
              <a:t>particulars of every individual who has given his consent to act as designated</a:t>
            </a:r>
            <a:br>
              <a:rPr lang="en-US" dirty="0"/>
            </a:br>
            <a:r>
              <a:rPr lang="en-US" dirty="0"/>
              <a:t>partner within 30 days of his appointment – 749 (4).</a:t>
            </a:r>
            <a:br>
              <a:rPr lang="en-US" dirty="0"/>
            </a:br>
            <a:endParaRPr lang="en-US" dirty="0"/>
          </a:p>
          <a:p>
            <a:endParaRPr lang="en-US" dirty="0"/>
          </a:p>
          <a:p>
            <a:endParaRPr lang="en-US" dirty="0"/>
          </a:p>
        </p:txBody>
      </p:sp>
    </p:spTree>
    <p:extLst>
      <p:ext uri="{BB962C8B-B14F-4D97-AF65-F5344CB8AC3E}">
        <p14:creationId xmlns:p14="http://schemas.microsoft.com/office/powerpoint/2010/main" val="31123896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Duties of a Designated Partner – S. 750</a:t>
            </a:r>
          </a:p>
        </p:txBody>
      </p:sp>
      <p:sp>
        <p:nvSpPr>
          <p:cNvPr id="3" name="Content Placeholder 2"/>
          <p:cNvSpPr>
            <a:spLocks noGrp="1"/>
          </p:cNvSpPr>
          <p:nvPr>
            <p:ph idx="1"/>
          </p:nvPr>
        </p:nvSpPr>
        <p:spPr/>
        <p:txBody>
          <a:bodyPr>
            <a:normAutofit fontScale="85000" lnSpcReduction="10000"/>
          </a:bodyPr>
          <a:lstStyle/>
          <a:p>
            <a:pPr marL="0" indent="0">
              <a:buNone/>
            </a:pPr>
            <a:r>
              <a:rPr lang="en-US" dirty="0"/>
              <a:t>(a) Responsible for the doing of all acts, matters and things as are required to be done by the limited liability partnership in respect of compliance with the provisions of this Act including filing of any document, return, statement and other report under this Act and as may be specified in the limited liability partnership agreement ; and</a:t>
            </a:r>
          </a:p>
          <a:p>
            <a:pPr marL="0" indent="0">
              <a:buNone/>
            </a:pPr>
            <a:r>
              <a:rPr lang="en-US" dirty="0"/>
              <a:t/>
            </a:r>
            <a:br>
              <a:rPr lang="en-US" dirty="0"/>
            </a:br>
            <a:r>
              <a:rPr lang="en-US" dirty="0"/>
              <a:t>(b) liable to all penalties imposed on the limited liability partnership for any contravention of those provisions.</a:t>
            </a:r>
            <a:br>
              <a:rPr lang="en-US" dirty="0"/>
            </a:br>
            <a:endParaRPr lang="en-US" dirty="0"/>
          </a:p>
          <a:p>
            <a:endParaRPr lang="en-US" dirty="0"/>
          </a:p>
        </p:txBody>
      </p:sp>
    </p:spTree>
    <p:extLst>
      <p:ext uri="{BB962C8B-B14F-4D97-AF65-F5344CB8AC3E}">
        <p14:creationId xmlns:p14="http://schemas.microsoft.com/office/powerpoint/2010/main" val="19065855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Filling of Vacancy in the Number of </a:t>
            </a:r>
            <a:r>
              <a:rPr lang="en-US" dirty="0" smtClean="0"/>
              <a:t>Designated Partners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 It is the </a:t>
            </a:r>
            <a:r>
              <a:rPr lang="en-US" dirty="0"/>
              <a:t>duty of the LLP to fill it within 30 days.</a:t>
            </a:r>
          </a:p>
          <a:p>
            <a:r>
              <a:rPr lang="en-US" dirty="0"/>
              <a:t>The DP must expressly consent to act.</a:t>
            </a:r>
          </a:p>
          <a:p>
            <a:r>
              <a:rPr lang="en-US" dirty="0"/>
              <a:t>Where only 1 DP remains, all Partners shall be treated as DPs.</a:t>
            </a:r>
          </a:p>
          <a:p>
            <a:r>
              <a:rPr lang="en-US" dirty="0"/>
              <a:t>S. 752</a:t>
            </a:r>
          </a:p>
          <a:p>
            <a:r>
              <a:rPr lang="en-GB" dirty="0"/>
              <a:t>Every limited liability partnership shall have ether the words, “limited liability partnership” or the acronym “LLP” as the last words of its name. Sec 757</a:t>
            </a:r>
            <a:endParaRPr lang="en-US" dirty="0"/>
          </a:p>
          <a:p>
            <a:endParaRPr lang="en-US" dirty="0"/>
          </a:p>
        </p:txBody>
      </p:sp>
    </p:spTree>
    <p:extLst>
      <p:ext uri="{BB962C8B-B14F-4D97-AF65-F5344CB8AC3E}">
        <p14:creationId xmlns:p14="http://schemas.microsoft.com/office/powerpoint/2010/main" val="15791375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CONTENT OF A PARTNERSHIP AGREEMENT</a:t>
            </a:r>
            <a:endParaRPr lang="en-US" dirty="0"/>
          </a:p>
        </p:txBody>
      </p:sp>
      <p:sp>
        <p:nvSpPr>
          <p:cNvPr id="3" name="Content Placeholder 2"/>
          <p:cNvSpPr>
            <a:spLocks noGrp="1"/>
          </p:cNvSpPr>
          <p:nvPr>
            <p:ph idx="1"/>
          </p:nvPr>
        </p:nvSpPr>
        <p:spPr/>
        <p:txBody>
          <a:bodyPr>
            <a:normAutofit fontScale="92500" lnSpcReduction="20000"/>
          </a:bodyPr>
          <a:lstStyle/>
          <a:p>
            <a:r>
              <a:rPr lang="en-GB" dirty="0" smtClean="0"/>
              <a:t>Commencement</a:t>
            </a:r>
          </a:p>
          <a:p>
            <a:r>
              <a:rPr lang="en-GB" dirty="0" smtClean="0"/>
              <a:t>Name of partnership</a:t>
            </a:r>
          </a:p>
          <a:p>
            <a:r>
              <a:rPr lang="en-GB" dirty="0" smtClean="0"/>
              <a:t>Nature of business</a:t>
            </a:r>
          </a:p>
          <a:p>
            <a:r>
              <a:rPr lang="en-GB" dirty="0" smtClean="0"/>
              <a:t>Place of business</a:t>
            </a:r>
          </a:p>
          <a:p>
            <a:r>
              <a:rPr lang="en-GB" dirty="0" smtClean="0"/>
              <a:t>Capital contribution</a:t>
            </a:r>
          </a:p>
          <a:p>
            <a:r>
              <a:rPr lang="en-GB" dirty="0" smtClean="0"/>
              <a:t>Profit and loss sharing: quantum and time</a:t>
            </a:r>
          </a:p>
          <a:p>
            <a:r>
              <a:rPr lang="en-GB" dirty="0" smtClean="0"/>
              <a:t>Payment of salaries to partners</a:t>
            </a:r>
          </a:p>
          <a:p>
            <a:r>
              <a:rPr lang="en-GB" dirty="0" smtClean="0"/>
              <a:t>Accounts of the partnership</a:t>
            </a:r>
          </a:p>
          <a:p>
            <a:r>
              <a:rPr lang="en-GB" dirty="0" smtClean="0"/>
              <a:t>Banker and signatories to partnership account</a:t>
            </a:r>
          </a:p>
          <a:p>
            <a:pPr marL="0" indent="0">
              <a:buNone/>
            </a:pPr>
            <a:endParaRPr lang="en-GB" dirty="0" smtClean="0"/>
          </a:p>
          <a:p>
            <a:endParaRPr lang="en-US" dirty="0"/>
          </a:p>
        </p:txBody>
      </p:sp>
    </p:spTree>
    <p:extLst>
      <p:ext uri="{BB962C8B-B14F-4D97-AF65-F5344CB8AC3E}">
        <p14:creationId xmlns:p14="http://schemas.microsoft.com/office/powerpoint/2010/main" val="26391125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GB" dirty="0" smtClean="0"/>
              <a:t>Partnership property</a:t>
            </a:r>
          </a:p>
          <a:p>
            <a:r>
              <a:rPr lang="en-GB" dirty="0" smtClean="0"/>
              <a:t>Duration of partnership</a:t>
            </a:r>
          </a:p>
          <a:p>
            <a:r>
              <a:rPr lang="en-GB" dirty="0" smtClean="0"/>
              <a:t>Powers, rights and duties of partners</a:t>
            </a:r>
          </a:p>
          <a:p>
            <a:r>
              <a:rPr lang="en-GB" dirty="0" smtClean="0"/>
              <a:t>Retirement </a:t>
            </a:r>
          </a:p>
          <a:p>
            <a:r>
              <a:rPr lang="en-GB" dirty="0" smtClean="0"/>
              <a:t>Expulsion and suspension of partners</a:t>
            </a:r>
          </a:p>
          <a:p>
            <a:r>
              <a:rPr lang="en-GB" dirty="0" smtClean="0"/>
              <a:t>Dispute resolution</a:t>
            </a:r>
          </a:p>
          <a:p>
            <a:endParaRPr lang="en-US" dirty="0"/>
          </a:p>
        </p:txBody>
      </p:sp>
    </p:spTree>
    <p:extLst>
      <p:ext uri="{BB962C8B-B14F-4D97-AF65-F5344CB8AC3E}">
        <p14:creationId xmlns:p14="http://schemas.microsoft.com/office/powerpoint/2010/main" val="6729124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Significance of a Partnership Agreement</a:t>
            </a:r>
          </a:p>
        </p:txBody>
      </p:sp>
      <p:sp>
        <p:nvSpPr>
          <p:cNvPr id="3" name="Content Placeholder 2"/>
          <p:cNvSpPr>
            <a:spLocks noGrp="1"/>
          </p:cNvSpPr>
          <p:nvPr>
            <p:ph idx="1"/>
          </p:nvPr>
        </p:nvSpPr>
        <p:spPr/>
        <p:txBody>
          <a:bodyPr/>
          <a:lstStyle/>
          <a:p>
            <a:pPr marL="514350" indent="-514350">
              <a:buFont typeface="+mj-lt"/>
              <a:buAutoNum type="arabicPeriod"/>
            </a:pPr>
            <a:r>
              <a:rPr lang="en-US" dirty="0"/>
              <a:t>Determines the mutual rights and duties of Partners inter se.</a:t>
            </a:r>
          </a:p>
          <a:p>
            <a:pPr marL="514350" indent="-514350">
              <a:buFont typeface="+mj-lt"/>
              <a:buAutoNum type="arabicPeriod"/>
            </a:pPr>
            <a:r>
              <a:rPr lang="en-US" dirty="0"/>
              <a:t>Determines the duties and mutual benefits of a LLP and its Partners intra se.</a:t>
            </a:r>
          </a:p>
          <a:p>
            <a:pPr marL="514350" indent="-514350">
              <a:buFont typeface="+mj-lt"/>
              <a:buAutoNum type="arabicPeriod"/>
            </a:pPr>
            <a:r>
              <a:rPr lang="en-US" dirty="0"/>
              <a:t>Must be ratified by the Partners after incorporation of the LLP.</a:t>
            </a:r>
          </a:p>
          <a:p>
            <a:pPr marL="514350" indent="-514350">
              <a:buFont typeface="+mj-lt"/>
              <a:buAutoNum type="arabicPeriod"/>
            </a:pPr>
            <a:r>
              <a:rPr lang="en-US" dirty="0"/>
              <a:t>In the absence of a P. A., the content of the 15</a:t>
            </a:r>
            <a:r>
              <a:rPr lang="en-US" baseline="30000" dirty="0"/>
              <a:t>th</a:t>
            </a:r>
            <a:r>
              <a:rPr lang="en-US" dirty="0"/>
              <a:t> Schedule to CAMA 2020 shall apply.</a:t>
            </a:r>
          </a:p>
          <a:p>
            <a:endParaRPr lang="en-US" dirty="0"/>
          </a:p>
        </p:txBody>
      </p:sp>
    </p:spTree>
    <p:extLst>
      <p:ext uri="{BB962C8B-B14F-4D97-AF65-F5344CB8AC3E}">
        <p14:creationId xmlns:p14="http://schemas.microsoft.com/office/powerpoint/2010/main" val="34120432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Cessation of Partnership under LLP - </a:t>
            </a:r>
            <a:r>
              <a:rPr lang="en-US" dirty="0" smtClean="0"/>
              <a:t> Sec 763</a:t>
            </a:r>
            <a:endParaRPr lang="en-US" dirty="0"/>
          </a:p>
        </p:txBody>
      </p:sp>
      <p:sp>
        <p:nvSpPr>
          <p:cNvPr id="3" name="Content Placeholder 2"/>
          <p:cNvSpPr>
            <a:spLocks noGrp="1"/>
          </p:cNvSpPr>
          <p:nvPr>
            <p:ph idx="1"/>
          </p:nvPr>
        </p:nvSpPr>
        <p:spPr/>
        <p:txBody>
          <a:bodyPr>
            <a:normAutofit lnSpcReduction="10000"/>
          </a:bodyPr>
          <a:lstStyle/>
          <a:p>
            <a:pPr marL="514350" indent="-514350">
              <a:buAutoNum type="romanLcPeriod"/>
            </a:pPr>
            <a:r>
              <a:rPr lang="en-US" sz="2800" dirty="0"/>
              <a:t>As agreed in the Partnership agreement</a:t>
            </a:r>
          </a:p>
          <a:p>
            <a:pPr marL="514350" indent="-514350">
              <a:buAutoNum type="romanLcPeriod"/>
            </a:pPr>
            <a:r>
              <a:rPr lang="en-US" sz="2800" dirty="0"/>
              <a:t>Where there is no Partnership Agreement, by a Partner giving 30 days notice to the other Partner.</a:t>
            </a:r>
          </a:p>
          <a:p>
            <a:pPr marL="514350" indent="-514350">
              <a:buAutoNum type="romanLcPeriod"/>
            </a:pPr>
            <a:r>
              <a:rPr lang="en-US" sz="2800" dirty="0"/>
              <a:t>By operation of Law i.e.</a:t>
            </a:r>
          </a:p>
          <a:p>
            <a:pPr marL="514350" indent="-514350">
              <a:buAutoNum type="romanLcPeriod"/>
            </a:pPr>
            <a:r>
              <a:rPr lang="en-US" sz="2800" dirty="0"/>
              <a:t>Death or Dissolution of LLP</a:t>
            </a:r>
          </a:p>
          <a:p>
            <a:pPr marL="514350" indent="-514350">
              <a:buAutoNum type="romanLcPeriod"/>
            </a:pPr>
            <a:r>
              <a:rPr lang="en-US" sz="2800" dirty="0"/>
              <a:t>Declared to be of unsound mind by a competent court </a:t>
            </a:r>
          </a:p>
          <a:p>
            <a:pPr marL="514350" indent="-514350">
              <a:buAutoNum type="romanLcPeriod"/>
            </a:pPr>
            <a:r>
              <a:rPr lang="en-US" sz="2800" dirty="0" smtClean="0"/>
              <a:t>Application </a:t>
            </a:r>
            <a:r>
              <a:rPr lang="en-US" sz="2800" dirty="0"/>
              <a:t>to be adjudged or declared as an insolvent.</a:t>
            </a:r>
            <a:br>
              <a:rPr lang="en-US" sz="2800" dirty="0"/>
            </a:br>
            <a:endParaRPr lang="en-US" sz="2800" dirty="0"/>
          </a:p>
          <a:p>
            <a:endParaRPr lang="en-US" sz="2800" dirty="0"/>
          </a:p>
        </p:txBody>
      </p:sp>
    </p:spTree>
    <p:extLst>
      <p:ext uri="{BB962C8B-B14F-4D97-AF65-F5344CB8AC3E}">
        <p14:creationId xmlns:p14="http://schemas.microsoft.com/office/powerpoint/2010/main" val="22571125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EXTENT AND LIMITATION OF LIABILITY FOR LLP &amp; PARTNERS – Sections 765 - 766</a:t>
            </a:r>
          </a:p>
        </p:txBody>
      </p:sp>
      <p:sp>
        <p:nvSpPr>
          <p:cNvPr id="3" name="Content Placeholder 2"/>
          <p:cNvSpPr>
            <a:spLocks noGrp="1"/>
          </p:cNvSpPr>
          <p:nvPr>
            <p:ph idx="1"/>
          </p:nvPr>
        </p:nvSpPr>
        <p:spPr/>
        <p:txBody>
          <a:bodyPr>
            <a:normAutofit fontScale="92500" lnSpcReduction="10000"/>
          </a:bodyPr>
          <a:lstStyle/>
          <a:p>
            <a:pPr marL="514350" indent="-514350">
              <a:buFont typeface="+mj-lt"/>
              <a:buAutoNum type="arabicPeriod"/>
            </a:pPr>
            <a:r>
              <a:rPr lang="en-US" dirty="0"/>
              <a:t>A partner of a limited liability partnership is, for the purpose of the business of the limited liability partnership, the agent of the limited liability partnership, but not of other partners.</a:t>
            </a:r>
          </a:p>
          <a:p>
            <a:pPr marL="514350" indent="-514350">
              <a:buFont typeface="+mj-lt"/>
              <a:buAutoNum type="arabicPeriod"/>
            </a:pPr>
            <a:r>
              <a:rPr lang="en-US" dirty="0"/>
              <a:t>LLP not bound by a Partner’s act if:</a:t>
            </a:r>
          </a:p>
          <a:p>
            <a:pPr marL="571500" indent="-571500">
              <a:buAutoNum type="romanLcPeriod"/>
            </a:pPr>
            <a:r>
              <a:rPr lang="en-US" dirty="0"/>
              <a:t>The Partner knows he has no power to act,</a:t>
            </a:r>
          </a:p>
          <a:p>
            <a:pPr marL="571500" indent="-571500">
              <a:buAutoNum type="romanLcPeriod"/>
            </a:pPr>
            <a:r>
              <a:rPr lang="en-US" dirty="0"/>
              <a:t>A person knows or has reasonable cause to believe that a Partner has no power to act on behalf of the LLP.</a:t>
            </a:r>
            <a:br>
              <a:rPr lang="en-US" dirty="0"/>
            </a:br>
            <a:endParaRPr lang="en-US" dirty="0"/>
          </a:p>
          <a:p>
            <a:endParaRPr lang="en-US" dirty="0"/>
          </a:p>
        </p:txBody>
      </p:sp>
    </p:spTree>
    <p:extLst>
      <p:ext uri="{BB962C8B-B14F-4D97-AF65-F5344CB8AC3E}">
        <p14:creationId xmlns:p14="http://schemas.microsoft.com/office/powerpoint/2010/main" val="9442656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LIMITED PARTNERSHIP</a:t>
            </a:r>
            <a:r>
              <a:rPr lang="en-GB" dirty="0" smtClean="0"/>
              <a:t/>
            </a:r>
            <a:br>
              <a:rPr lang="en-GB" dirty="0" smtClean="0"/>
            </a:br>
            <a:r>
              <a:rPr lang="en-GB" dirty="0" smtClean="0"/>
              <a:t>(PART F CAMA)</a:t>
            </a:r>
            <a:endParaRPr lang="en-US" dirty="0"/>
          </a:p>
        </p:txBody>
      </p:sp>
      <p:sp>
        <p:nvSpPr>
          <p:cNvPr id="3" name="Content Placeholder 2"/>
          <p:cNvSpPr>
            <a:spLocks noGrp="1"/>
          </p:cNvSpPr>
          <p:nvPr>
            <p:ph idx="1"/>
          </p:nvPr>
        </p:nvSpPr>
        <p:spPr/>
        <p:txBody>
          <a:bodyPr>
            <a:normAutofit/>
          </a:bodyPr>
          <a:lstStyle/>
          <a:p>
            <a:r>
              <a:rPr lang="en-GB" dirty="0" smtClean="0"/>
              <a:t>A limited partnership shall not consist of more than 20 persons. Sec 795(2)</a:t>
            </a:r>
          </a:p>
          <a:p>
            <a:r>
              <a:rPr lang="en-GB" dirty="0" smtClean="0"/>
              <a:t>A limited partnership shall consist of one or more persons called general partners, who shall be liable for all debts and obligations of the firm, and one or more persons called limited partners. Sec 795(3)</a:t>
            </a:r>
          </a:p>
          <a:p>
            <a:endParaRPr lang="en-US" dirty="0"/>
          </a:p>
        </p:txBody>
      </p:sp>
    </p:spTree>
    <p:extLst>
      <p:ext uri="{BB962C8B-B14F-4D97-AF65-F5344CB8AC3E}">
        <p14:creationId xmlns:p14="http://schemas.microsoft.com/office/powerpoint/2010/main" val="31456124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5865515"/>
          </a:xfrm>
        </p:spPr>
        <p:txBody>
          <a:bodyPr>
            <a:normAutofit fontScale="92500" lnSpcReduction="20000"/>
          </a:bodyPr>
          <a:lstStyle/>
          <a:p>
            <a:r>
              <a:rPr lang="en-GB" dirty="0" smtClean="0"/>
              <a:t>Each limited partner shall at the time of entering into the partnership contribute, or agree to contribute a sum or sums as capital or property valued at a stated amount and shall not be liable for the debts of the firm beyond the amount so contributed or agreed to be contributed. Sec 795(4)</a:t>
            </a:r>
          </a:p>
          <a:p>
            <a:r>
              <a:rPr lang="en-GB" dirty="0" smtClean="0"/>
              <a:t>An Individual or body corporate may be a partner in a limited partnership. Sec 796</a:t>
            </a:r>
          </a:p>
          <a:p>
            <a:r>
              <a:rPr lang="en-GB" dirty="0"/>
              <a:t>Class </a:t>
            </a:r>
            <a:r>
              <a:rPr lang="en-GB" dirty="0" smtClean="0"/>
              <a:t>Activity</a:t>
            </a:r>
          </a:p>
          <a:p>
            <a:pPr marL="514350" indent="-514350">
              <a:buAutoNum type="arabicPeriod"/>
            </a:pPr>
            <a:r>
              <a:rPr lang="en-GB" dirty="0"/>
              <a:t>List those who are disqualified from being partners. Sec 796(a) and (b).</a:t>
            </a:r>
          </a:p>
          <a:p>
            <a:pPr marL="514350" indent="-514350">
              <a:buAutoNum type="arabicPeriod"/>
            </a:pPr>
            <a:r>
              <a:rPr lang="en-GB" dirty="0"/>
              <a:t> Discuss the content of the Application Form for Registration of a limited partnership. Sec 798.</a:t>
            </a:r>
            <a:endParaRPr lang="en-US" dirty="0"/>
          </a:p>
          <a:p>
            <a:endParaRPr lang="en-US" dirty="0"/>
          </a:p>
        </p:txBody>
      </p:sp>
    </p:spTree>
    <p:extLst>
      <p:ext uri="{BB962C8B-B14F-4D97-AF65-F5344CB8AC3E}">
        <p14:creationId xmlns:p14="http://schemas.microsoft.com/office/powerpoint/2010/main" val="7063551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8640"/>
            <a:ext cx="8229600" cy="5793507"/>
          </a:xfrm>
        </p:spPr>
        <p:txBody>
          <a:bodyPr/>
          <a:lstStyle/>
          <a:p>
            <a:r>
              <a:rPr lang="en-GB" dirty="0" smtClean="0"/>
              <a:t>The name of a limited partnership must end with the words “limited partnership” or the abbreviation “LP” Sec 802 </a:t>
            </a:r>
          </a:p>
          <a:p>
            <a:r>
              <a:rPr lang="en-GB" dirty="0" smtClean="0"/>
              <a:t>A limited partner shall not take part in the management of the partnership business. Sec 806</a:t>
            </a:r>
          </a:p>
          <a:p>
            <a:r>
              <a:rPr lang="en-GB" dirty="0" smtClean="0"/>
              <a:t>The provisions of the Partnership Act 1890 shall apply to limited partnerships. Sec 808.</a:t>
            </a:r>
            <a:endParaRPr lang="en-US" dirty="0"/>
          </a:p>
        </p:txBody>
      </p:sp>
    </p:spTree>
    <p:extLst>
      <p:ext uri="{BB962C8B-B14F-4D97-AF65-F5344CB8AC3E}">
        <p14:creationId xmlns:p14="http://schemas.microsoft.com/office/powerpoint/2010/main" val="15097941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INCORPORATED TRUSTEES</a:t>
            </a:r>
            <a:br>
              <a:rPr lang="en-GB" dirty="0" smtClean="0"/>
            </a:br>
            <a:r>
              <a:rPr lang="en-GB" dirty="0" smtClean="0"/>
              <a:t>(Part F CAMA)</a:t>
            </a:r>
            <a:endParaRPr lang="en-US" dirty="0"/>
          </a:p>
        </p:txBody>
      </p:sp>
      <p:sp>
        <p:nvSpPr>
          <p:cNvPr id="3" name="Content Placeholder 2"/>
          <p:cNvSpPr>
            <a:spLocks noGrp="1"/>
          </p:cNvSpPr>
          <p:nvPr>
            <p:ph idx="1"/>
          </p:nvPr>
        </p:nvSpPr>
        <p:spPr>
          <a:xfrm>
            <a:off x="251520" y="1844824"/>
            <a:ext cx="8640960" cy="4824536"/>
          </a:xfrm>
        </p:spPr>
        <p:txBody>
          <a:bodyPr>
            <a:normAutofit fontScale="85000" lnSpcReduction="10000"/>
          </a:bodyPr>
          <a:lstStyle/>
          <a:p>
            <a:r>
              <a:rPr lang="en-US" b="1" dirty="0" smtClean="0"/>
              <a:t>Legal Framework for the Incorporation and Management of NPOs in Nigeria.</a:t>
            </a:r>
          </a:p>
          <a:p>
            <a:pPr lvl="0"/>
            <a:r>
              <a:rPr lang="en-US" dirty="0" smtClean="0"/>
              <a:t> Constitution of the Federal Republic of Nigeria 1999 (as amended)</a:t>
            </a:r>
          </a:p>
          <a:p>
            <a:pPr lvl="0"/>
            <a:r>
              <a:rPr lang="en-US" dirty="0" smtClean="0"/>
              <a:t>Companies and Allied Matters Act 2020</a:t>
            </a:r>
          </a:p>
          <a:p>
            <a:pPr lvl="0"/>
            <a:r>
              <a:rPr lang="en-US" dirty="0" smtClean="0"/>
              <a:t>Land Use Act</a:t>
            </a:r>
          </a:p>
          <a:p>
            <a:pPr lvl="0"/>
            <a:r>
              <a:rPr lang="en-US" dirty="0" smtClean="0"/>
              <a:t>Lands (Title Vesting, Etc.)</a:t>
            </a:r>
          </a:p>
          <a:p>
            <a:pPr lvl="0"/>
            <a:r>
              <a:rPr lang="en-US" dirty="0" smtClean="0"/>
              <a:t>Money Laundering (Prohibition) Act</a:t>
            </a:r>
          </a:p>
          <a:p>
            <a:pPr lvl="0"/>
            <a:r>
              <a:rPr lang="en-US" dirty="0" smtClean="0"/>
              <a:t>Financial Reporting Council of Nigeria Act</a:t>
            </a:r>
          </a:p>
          <a:p>
            <a:pPr lvl="0"/>
            <a:r>
              <a:rPr lang="en-US" dirty="0" smtClean="0"/>
              <a:t>Finance Act</a:t>
            </a:r>
          </a:p>
          <a:p>
            <a:pPr lvl="0"/>
            <a:r>
              <a:rPr lang="en-US" dirty="0" smtClean="0"/>
              <a:t>Intellectual Property laws </a:t>
            </a:r>
          </a:p>
          <a:p>
            <a:endParaRPr lang="en-US" dirty="0"/>
          </a:p>
        </p:txBody>
      </p:sp>
    </p:spTree>
    <p:extLst>
      <p:ext uri="{BB962C8B-B14F-4D97-AF65-F5344CB8AC3E}">
        <p14:creationId xmlns:p14="http://schemas.microsoft.com/office/powerpoint/2010/main" val="10747319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WHO CAN BE REGISTERED UNDER PART F CAMA 2020 – S. 823</a:t>
            </a:r>
            <a:endParaRPr lang="en-US" dirty="0"/>
          </a:p>
        </p:txBody>
      </p:sp>
      <p:sp>
        <p:nvSpPr>
          <p:cNvPr id="3" name="Content Placeholder 2"/>
          <p:cNvSpPr>
            <a:spLocks noGrp="1"/>
          </p:cNvSpPr>
          <p:nvPr>
            <p:ph idx="1"/>
          </p:nvPr>
        </p:nvSpPr>
        <p:spPr>
          <a:xfrm>
            <a:off x="107504" y="1412776"/>
            <a:ext cx="8856984" cy="5328592"/>
          </a:xfrm>
        </p:spPr>
        <p:txBody>
          <a:bodyPr>
            <a:normAutofit/>
          </a:bodyPr>
          <a:lstStyle/>
          <a:p>
            <a:r>
              <a:rPr lang="en-US" dirty="0" smtClean="0"/>
              <a:t>This is an association a community of persons bound together by religious, sporting, cultural, social or similar purposes. </a:t>
            </a:r>
          </a:p>
          <a:p>
            <a:r>
              <a:rPr lang="en-US" dirty="0" smtClean="0"/>
              <a:t>Such an organization may appoint two or more trustees and register same under Part F of the Companies and Allied Matters Act (CAMA) 2020.</a:t>
            </a:r>
          </a:p>
          <a:p>
            <a:r>
              <a:rPr lang="en-US" dirty="0" smtClean="0"/>
              <a:t> Upon registration, the trustees become a body corporate with perpetual succession and a common seal as well as the power to sue and be sued on behalf of the association. </a:t>
            </a:r>
          </a:p>
          <a:p>
            <a:endParaRPr lang="en-US" dirty="0"/>
          </a:p>
        </p:txBody>
      </p:sp>
    </p:spTree>
    <p:extLst>
      <p:ext uri="{BB962C8B-B14F-4D97-AF65-F5344CB8AC3E}">
        <p14:creationId xmlns:p14="http://schemas.microsoft.com/office/powerpoint/2010/main" val="11066205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METHOD OF APPLICATION SEC 825 CAMA</a:t>
            </a:r>
            <a:endParaRPr lang="en-US" dirty="0"/>
          </a:p>
        </p:txBody>
      </p:sp>
      <p:sp>
        <p:nvSpPr>
          <p:cNvPr id="3" name="Content Placeholder 2"/>
          <p:cNvSpPr>
            <a:spLocks noGrp="1"/>
          </p:cNvSpPr>
          <p:nvPr>
            <p:ph idx="1"/>
          </p:nvPr>
        </p:nvSpPr>
        <p:spPr/>
        <p:txBody>
          <a:bodyPr>
            <a:normAutofit lnSpcReduction="10000"/>
          </a:bodyPr>
          <a:lstStyle/>
          <a:p>
            <a:r>
              <a:rPr lang="en-GB" dirty="0" smtClean="0"/>
              <a:t>The Application for Registration of Incorporated Trustees shall contain the following:</a:t>
            </a:r>
          </a:p>
          <a:p>
            <a:r>
              <a:rPr lang="en-GB" dirty="0" smtClean="0"/>
              <a:t>1. The name of the proposed corporate body which must contain the words “Incorporated Trustees of…”</a:t>
            </a:r>
          </a:p>
          <a:p>
            <a:r>
              <a:rPr lang="en-GB" dirty="0" smtClean="0"/>
              <a:t>2. The aims and objects of the association</a:t>
            </a:r>
          </a:p>
          <a:p>
            <a:r>
              <a:rPr lang="en-GB" dirty="0" smtClean="0"/>
              <a:t>3. Names, addresses  and occupation of the Secretary of the association, if any</a:t>
            </a:r>
          </a:p>
          <a:p>
            <a:endParaRPr lang="en-US" dirty="0"/>
          </a:p>
        </p:txBody>
      </p:sp>
    </p:spTree>
    <p:extLst>
      <p:ext uri="{BB962C8B-B14F-4D97-AF65-F5344CB8AC3E}">
        <p14:creationId xmlns:p14="http://schemas.microsoft.com/office/powerpoint/2010/main" val="34766162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a:bodyPr>
          <a:lstStyle/>
          <a:p>
            <a:r>
              <a:rPr lang="en-GB" dirty="0" smtClean="0"/>
              <a:t>There shall be attached to the Application-</a:t>
            </a:r>
          </a:p>
          <a:p>
            <a:pPr marL="0" indent="0">
              <a:buNone/>
            </a:pPr>
            <a:r>
              <a:rPr lang="en-GB" dirty="0"/>
              <a:t>a</a:t>
            </a:r>
            <a:r>
              <a:rPr lang="en-GB" dirty="0" smtClean="0"/>
              <a:t>. Two printed copies of the constitution of the association</a:t>
            </a:r>
          </a:p>
          <a:p>
            <a:pPr marL="0" indent="0">
              <a:buNone/>
            </a:pPr>
            <a:r>
              <a:rPr lang="en-GB" dirty="0" smtClean="0"/>
              <a:t>b. Duly signed copies of the minutes of the Meeting appointing the trustees and </a:t>
            </a:r>
            <a:r>
              <a:rPr lang="en-GB" dirty="0"/>
              <a:t>a</a:t>
            </a:r>
            <a:r>
              <a:rPr lang="en-GB" dirty="0" smtClean="0"/>
              <a:t>uthorising the application, showing the people present and the votes scored </a:t>
            </a:r>
          </a:p>
          <a:p>
            <a:pPr marL="0" indent="0">
              <a:buNone/>
            </a:pPr>
            <a:r>
              <a:rPr lang="en-GB" dirty="0" smtClean="0"/>
              <a:t>c. The impression or drawing of the proposed common seal, if there is one. </a:t>
            </a:r>
            <a:endParaRPr lang="en-US" dirty="0"/>
          </a:p>
        </p:txBody>
      </p:sp>
    </p:spTree>
    <p:extLst>
      <p:ext uri="{BB962C8B-B14F-4D97-AF65-F5344CB8AC3E}">
        <p14:creationId xmlns:p14="http://schemas.microsoft.com/office/powerpoint/2010/main" val="8530862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5721499"/>
          </a:xfrm>
        </p:spPr>
        <p:txBody>
          <a:bodyPr/>
          <a:lstStyle/>
          <a:p>
            <a:pPr marL="0" indent="0">
              <a:buNone/>
            </a:pPr>
            <a:r>
              <a:rPr lang="en-US" dirty="0" smtClean="0"/>
              <a:t>- CLASS ACTIVITY:</a:t>
            </a:r>
          </a:p>
          <a:p>
            <a:r>
              <a:rPr lang="en-US" dirty="0" smtClean="0"/>
              <a:t> List  those who may not be appointed as a Trustee under Part F CAMA. S. 826</a:t>
            </a:r>
          </a:p>
          <a:p>
            <a:endParaRPr lang="en-US" dirty="0"/>
          </a:p>
        </p:txBody>
      </p:sp>
    </p:spTree>
    <p:extLst>
      <p:ext uri="{BB962C8B-B14F-4D97-AF65-F5344CB8AC3E}">
        <p14:creationId xmlns:p14="http://schemas.microsoft.com/office/powerpoint/2010/main" val="34287483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normAutofit fontScale="90000"/>
          </a:bodyPr>
          <a:lstStyle/>
          <a:p>
            <a:r>
              <a:rPr lang="en-US" dirty="0" smtClean="0"/>
              <a:t> Documents Required For Registration of Incorporated Trustees</a:t>
            </a:r>
            <a:endParaRPr lang="en-US" dirty="0"/>
          </a:p>
        </p:txBody>
      </p:sp>
      <p:sp>
        <p:nvSpPr>
          <p:cNvPr id="3" name="Content Placeholder 2"/>
          <p:cNvSpPr>
            <a:spLocks noGrp="1"/>
          </p:cNvSpPr>
          <p:nvPr>
            <p:ph idx="1"/>
          </p:nvPr>
        </p:nvSpPr>
        <p:spPr>
          <a:xfrm>
            <a:off x="457200" y="1340768"/>
            <a:ext cx="8229600" cy="5517232"/>
          </a:xfrm>
        </p:spPr>
        <p:txBody>
          <a:bodyPr>
            <a:noAutofit/>
          </a:bodyPr>
          <a:lstStyle/>
          <a:p>
            <a:r>
              <a:rPr lang="en-US" dirty="0" smtClean="0">
                <a:cs typeface="Times New Roman" pitchFamily="18" charset="0"/>
              </a:rPr>
              <a:t>FORM CAC I Availability Check and Reservation of Name </a:t>
            </a:r>
          </a:p>
          <a:p>
            <a:r>
              <a:rPr lang="en-US" dirty="0" smtClean="0">
                <a:cs typeface="Times New Roman" pitchFamily="18" charset="0"/>
              </a:rPr>
              <a:t>Formal application letter </a:t>
            </a:r>
          </a:p>
          <a:p>
            <a:pPr lvl="0"/>
            <a:r>
              <a:rPr lang="en-US" dirty="0" smtClean="0">
                <a:cs typeface="Times New Roman" pitchFamily="18" charset="0"/>
              </a:rPr>
              <a:t>CAC /IT FORM I Application form </a:t>
            </a:r>
          </a:p>
          <a:p>
            <a:pPr lvl="0"/>
            <a:r>
              <a:rPr lang="en-US" dirty="0" smtClean="0">
                <a:cs typeface="Times New Roman" pitchFamily="18" charset="0"/>
              </a:rPr>
              <a:t>Constitution of the organization </a:t>
            </a:r>
          </a:p>
          <a:p>
            <a:pPr lvl="0"/>
            <a:r>
              <a:rPr lang="en-US" dirty="0" smtClean="0">
                <a:cs typeface="Times New Roman" pitchFamily="18" charset="0"/>
              </a:rPr>
              <a:t>Impression of common seal of the body </a:t>
            </a:r>
          </a:p>
          <a:p>
            <a:pPr lvl="0"/>
            <a:r>
              <a:rPr lang="en-US" dirty="0" smtClean="0">
                <a:cs typeface="Times New Roman" pitchFamily="18" charset="0"/>
              </a:rPr>
              <a:t>Copy of the minutes of the meeting where the Trustees were appointed </a:t>
            </a:r>
          </a:p>
          <a:p>
            <a:pPr lvl="0"/>
            <a:r>
              <a:rPr lang="en-US" dirty="0" smtClean="0">
                <a:cs typeface="Times New Roman" pitchFamily="18" charset="0"/>
              </a:rPr>
              <a:t>Copy of the minutes where the special clause  is adopted</a:t>
            </a:r>
          </a:p>
          <a:p>
            <a:endParaRPr lang="en-US" dirty="0" smtClean="0">
              <a:cs typeface="Times New Roman" pitchFamily="18" charset="0"/>
            </a:endParaRPr>
          </a:p>
          <a:p>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1743772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lnSpcReduction="10000"/>
          </a:bodyPr>
          <a:lstStyle/>
          <a:p>
            <a:pPr lvl="0"/>
            <a:r>
              <a:rPr lang="en-US" dirty="0" smtClean="0"/>
              <a:t>Evidence of ownership of land or undertaking in lieu </a:t>
            </a:r>
            <a:endParaRPr lang="en-US" sz="2400" dirty="0" smtClean="0"/>
          </a:p>
          <a:p>
            <a:pPr lvl="0"/>
            <a:r>
              <a:rPr lang="en-US" dirty="0" smtClean="0"/>
              <a:t>Evidence of Advert in 2 National Dailies</a:t>
            </a:r>
          </a:p>
          <a:p>
            <a:pPr lvl="0"/>
            <a:r>
              <a:rPr lang="en-US" dirty="0" smtClean="0"/>
              <a:t>Two passport photograph of each Trustees </a:t>
            </a:r>
            <a:endParaRPr lang="en-US" sz="2400" dirty="0" smtClean="0"/>
          </a:p>
          <a:p>
            <a:pPr lvl="0"/>
            <a:r>
              <a:rPr lang="en-US" dirty="0" smtClean="0"/>
              <a:t>Trustee Declaration form  </a:t>
            </a:r>
            <a:endParaRPr lang="en-US" sz="2400" dirty="0" smtClean="0"/>
          </a:p>
          <a:p>
            <a:pPr lvl="0"/>
            <a:r>
              <a:rPr lang="en-US" dirty="0" smtClean="0"/>
              <a:t>Original receipt of prescribed fees </a:t>
            </a:r>
            <a:endParaRPr lang="en-US" sz="2400" dirty="0" smtClean="0"/>
          </a:p>
          <a:p>
            <a:pPr lvl="0"/>
            <a:r>
              <a:rPr lang="en-US" dirty="0" smtClean="0"/>
              <a:t>Letter authorizing the Solicitor handling the registration </a:t>
            </a:r>
          </a:p>
          <a:p>
            <a:r>
              <a:rPr lang="en-US" dirty="0" smtClean="0"/>
              <a:t>Affidavit of Non-Disqualification as Trustee</a:t>
            </a:r>
          </a:p>
          <a:p>
            <a:pPr lvl="0"/>
            <a:endParaRPr lang="en-US" sz="2400" dirty="0" smtClean="0"/>
          </a:p>
          <a:p>
            <a:pPr lvl="0"/>
            <a:r>
              <a:rPr lang="en-US" dirty="0" smtClean="0"/>
              <a:t>Any other document of proficiency</a:t>
            </a:r>
            <a:endParaRPr lang="en-US" sz="2400" dirty="0" smtClean="0"/>
          </a:p>
          <a:p>
            <a:endParaRPr lang="en-US" dirty="0"/>
          </a:p>
        </p:txBody>
      </p:sp>
    </p:spTree>
    <p:extLst>
      <p:ext uri="{BB962C8B-B14F-4D97-AF65-F5344CB8AC3E}">
        <p14:creationId xmlns:p14="http://schemas.microsoft.com/office/powerpoint/2010/main" val="4605505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CLASS ACTIVITY</a:t>
            </a:r>
            <a:endParaRPr lang="en-US" dirty="0"/>
          </a:p>
        </p:txBody>
      </p:sp>
      <p:sp>
        <p:nvSpPr>
          <p:cNvPr id="3" name="Content Placeholder 2"/>
          <p:cNvSpPr>
            <a:spLocks noGrp="1"/>
          </p:cNvSpPr>
          <p:nvPr>
            <p:ph idx="1"/>
          </p:nvPr>
        </p:nvSpPr>
        <p:spPr/>
        <p:txBody>
          <a:bodyPr/>
          <a:lstStyle/>
          <a:p>
            <a:pPr marL="514350" indent="-514350">
              <a:buAutoNum type="arabicPeriod"/>
            </a:pPr>
            <a:r>
              <a:rPr lang="en-GB" dirty="0" smtClean="0"/>
              <a:t>State the Differences and Similarities between Incorporated Trustee and Company Limited by Guarantee.</a:t>
            </a:r>
          </a:p>
          <a:p>
            <a:pPr marL="514350" indent="-514350">
              <a:buAutoNum type="arabicPeriod"/>
            </a:pPr>
            <a:r>
              <a:rPr lang="en-US" dirty="0" smtClean="0"/>
              <a:t>List the Content of the Constitution of an Incorporated Trustee IT – S. 827</a:t>
            </a:r>
          </a:p>
          <a:p>
            <a:endParaRPr lang="en-US" dirty="0"/>
          </a:p>
        </p:txBody>
      </p:sp>
    </p:spTree>
    <p:extLst>
      <p:ext uri="{BB962C8B-B14F-4D97-AF65-F5344CB8AC3E}">
        <p14:creationId xmlns:p14="http://schemas.microsoft.com/office/powerpoint/2010/main" val="6804429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08720"/>
            <a:ext cx="8229600" cy="5217443"/>
          </a:xfrm>
        </p:spPr>
        <p:txBody>
          <a:bodyPr>
            <a:normAutofit lnSpcReduction="10000"/>
          </a:bodyPr>
          <a:lstStyle/>
          <a:p>
            <a:pPr marL="0" indent="0">
              <a:buNone/>
            </a:pPr>
            <a:r>
              <a:rPr lang="en-GB" dirty="0" smtClean="0"/>
              <a:t>Registration and Certificate See Sec 829()</a:t>
            </a:r>
            <a:endParaRPr lang="en-US" dirty="0" smtClean="0"/>
          </a:p>
          <a:p>
            <a:pPr marL="514350" indent="-514350">
              <a:buFont typeface="+mj-lt"/>
              <a:buAutoNum type="arabicPeriod"/>
            </a:pPr>
            <a:endParaRPr lang="en-US" dirty="0" smtClean="0"/>
          </a:p>
          <a:p>
            <a:pPr marL="0" indent="0">
              <a:buNone/>
            </a:pPr>
            <a:r>
              <a:rPr lang="en-US" dirty="0" smtClean="0"/>
              <a:t>Effect of Registration and Certificate. See</a:t>
            </a:r>
            <a:br>
              <a:rPr lang="en-US" dirty="0" smtClean="0"/>
            </a:br>
            <a:r>
              <a:rPr lang="en-US" dirty="0" smtClean="0"/>
              <a:t>S. 830</a:t>
            </a:r>
            <a:endParaRPr lang="en-US" dirty="0"/>
          </a:p>
          <a:p>
            <a:pPr marL="0" indent="0">
              <a:buNone/>
            </a:pPr>
            <a:r>
              <a:rPr lang="en-US" dirty="0" smtClean="0"/>
              <a:t>a. Confers juristic personality on the Trustees of the Organization – Perpetual succession – Common Seal – Power to sue and be sued in its Corporate Name, etc.</a:t>
            </a:r>
          </a:p>
          <a:p>
            <a:pPr marL="0" indent="0">
              <a:buNone/>
            </a:pPr>
            <a:r>
              <a:rPr lang="en-US" dirty="0" smtClean="0"/>
              <a:t>b. The Organization’s Name must be preceded with “Incorporated Trustees of …”</a:t>
            </a:r>
          </a:p>
          <a:p>
            <a:endParaRPr lang="en-US" dirty="0" smtClean="0"/>
          </a:p>
          <a:p>
            <a:endParaRPr lang="en-US" dirty="0"/>
          </a:p>
        </p:txBody>
      </p:sp>
    </p:spTree>
    <p:extLst>
      <p:ext uri="{BB962C8B-B14F-4D97-AF65-F5344CB8AC3E}">
        <p14:creationId xmlns:p14="http://schemas.microsoft.com/office/powerpoint/2010/main" val="30944300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20688"/>
            <a:ext cx="8229600" cy="5505475"/>
          </a:xfrm>
        </p:spPr>
        <p:txBody>
          <a:bodyPr/>
          <a:lstStyle/>
          <a:p>
            <a:r>
              <a:rPr lang="en-US" dirty="0" smtClean="0"/>
              <a:t>MERGER OF INC TRUSTEES. </a:t>
            </a:r>
            <a:r>
              <a:rPr lang="en-GB" dirty="0" smtClean="0"/>
              <a:t>See </a:t>
            </a:r>
            <a:r>
              <a:rPr lang="en-GB" dirty="0" err="1" smtClean="0"/>
              <a:t>Secs</a:t>
            </a:r>
            <a:r>
              <a:rPr lang="en-GB" dirty="0" smtClean="0"/>
              <a:t> 831 and 849 CAMA</a:t>
            </a:r>
          </a:p>
          <a:p>
            <a:r>
              <a:rPr lang="en-US" dirty="0" smtClean="0"/>
              <a:t>SUSPENSION OF TRUSTEES AND APPOINTMENT OF INTERIM MANAGERS Sec 839</a:t>
            </a:r>
          </a:p>
          <a:p>
            <a:r>
              <a:rPr lang="en-US" dirty="0" smtClean="0"/>
              <a:t>DISSOLUTION OF INC. TRUSTEES – </a:t>
            </a:r>
            <a:br>
              <a:rPr lang="en-US" dirty="0" smtClean="0"/>
            </a:br>
            <a:r>
              <a:rPr lang="en-US" dirty="0" smtClean="0"/>
              <a:t>S. 850</a:t>
            </a:r>
            <a:endParaRPr lang="en-US" dirty="0"/>
          </a:p>
        </p:txBody>
      </p:sp>
    </p:spTree>
    <p:extLst>
      <p:ext uri="{BB962C8B-B14F-4D97-AF65-F5344CB8AC3E}">
        <p14:creationId xmlns:p14="http://schemas.microsoft.com/office/powerpoint/2010/main" val="19433464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of the Special Clause</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No property may be paid to or distributed among the members of the association. If, for some reason, the remaining property cannot be transferred to institutions with similar objects, the remaining property will be transferred to a body with “charitable object</a:t>
            </a:r>
            <a:r>
              <a:rPr lang="en-US" dirty="0" smtClean="0"/>
              <a:t>”.</a:t>
            </a:r>
          </a:p>
          <a:p>
            <a:pPr lvl="0"/>
            <a:r>
              <a:rPr lang="en-US" b="1" dirty="0" smtClean="0">
                <a:effectLst>
                  <a:outerShdw sx="0" sy="0">
                    <a:srgbClr val="000000"/>
                  </a:outerShdw>
                </a:effectLst>
              </a:rPr>
              <a:t>Class Activity:</a:t>
            </a:r>
          </a:p>
          <a:p>
            <a:pPr lvl="0"/>
            <a:r>
              <a:rPr lang="en-US" dirty="0" smtClean="0">
                <a:effectLst>
                  <a:outerShdw sx="0" sy="0">
                    <a:srgbClr val="000000"/>
                  </a:outerShdw>
                </a:effectLst>
              </a:rPr>
              <a:t>Discuss the facts and relevance of this  </a:t>
            </a:r>
            <a:r>
              <a:rPr lang="en-US" dirty="0">
                <a:effectLst>
                  <a:outerShdw sx="0" sy="0">
                    <a:srgbClr val="000000"/>
                  </a:outerShdw>
                </a:effectLst>
              </a:rPr>
              <a:t>Case:</a:t>
            </a:r>
          </a:p>
          <a:p>
            <a:pPr marL="0" lvl="0" indent="0">
              <a:buNone/>
            </a:pPr>
            <a:r>
              <a:rPr lang="en-US" dirty="0">
                <a:effectLst>
                  <a:outerShdw sx="0" sy="0">
                    <a:srgbClr val="000000"/>
                  </a:outerShdw>
                </a:effectLst>
              </a:rPr>
              <a:t> Christian Association of Nigeria &amp; </a:t>
            </a:r>
            <a:r>
              <a:rPr lang="en-US" dirty="0" err="1">
                <a:effectLst>
                  <a:outerShdw sx="0" sy="0">
                    <a:srgbClr val="000000"/>
                  </a:outerShdw>
                </a:effectLst>
              </a:rPr>
              <a:t>Anor</a:t>
            </a:r>
            <a:r>
              <a:rPr lang="en-US" dirty="0">
                <a:effectLst>
                  <a:outerShdw sx="0" sy="0">
                    <a:srgbClr val="000000"/>
                  </a:outerShdw>
                </a:effectLst>
              </a:rPr>
              <a:t> v. Corporate Affairs Commission</a:t>
            </a:r>
          </a:p>
          <a:p>
            <a:endParaRPr lang="en-US" dirty="0"/>
          </a:p>
          <a:p>
            <a:endParaRPr lang="en-US" dirty="0" smtClean="0"/>
          </a:p>
          <a:p>
            <a:pPr marL="0" indent="0">
              <a:buNone/>
            </a:pPr>
            <a:endParaRPr lang="en-US" dirty="0" smtClean="0"/>
          </a:p>
          <a:p>
            <a:endParaRPr lang="en-US" dirty="0"/>
          </a:p>
        </p:txBody>
      </p:sp>
    </p:spTree>
    <p:extLst>
      <p:ext uri="{BB962C8B-B14F-4D97-AF65-F5344CB8AC3E}">
        <p14:creationId xmlns:p14="http://schemas.microsoft.com/office/powerpoint/2010/main" val="34976156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3007</TotalTime>
  <Words>2056</Words>
  <Application>Microsoft Office PowerPoint</Application>
  <PresentationFormat>On-screen Show (4:3)</PresentationFormat>
  <Paragraphs>192</Paragraphs>
  <Slides>40</Slides>
  <Notes>0</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Office Theme</vt:lpstr>
      <vt:lpstr> FORMATION AND REGISTRATION OF BUSINESS NAMES, PARTNERSHIPS AND INCORPORATED TRUSTEES </vt:lpstr>
      <vt:lpstr>BUSINESS NAME REGISTRATION (Part E CAMA)</vt:lpstr>
      <vt:lpstr>REGISTRABLE BUSINESS NAMES – S.814</vt:lpstr>
      <vt:lpstr>PowerPoint Presentation</vt:lpstr>
      <vt:lpstr>ILLUSTRATION OF HOW PARTNERS CAN AVOID REGISTRATION OF BN</vt:lpstr>
      <vt:lpstr>ILLUSTRATION OF HOW INDIVIDUALS CAN AVOID REGISTRATION OF BN</vt:lpstr>
      <vt:lpstr>ILLUSTRATION OF HOW A COMPANY CAN AVOID REGISTRATION OF BN</vt:lpstr>
      <vt:lpstr>TIME WITHIN WHICH BN MUST BE REGISTERED – S. 815 (1)</vt:lpstr>
      <vt:lpstr>REQUISITE INFORMATION FOR THE REGISTRATION OF A BN S. 815(1)(a)</vt:lpstr>
      <vt:lpstr>SUMMARY OF DOCUMENTS REQUIRED TO REGISTER A BN</vt:lpstr>
      <vt:lpstr>PowerPoint Presentation</vt:lpstr>
      <vt:lpstr>PowerPoint Presentation</vt:lpstr>
      <vt:lpstr>CLIENT INTERVIEW</vt:lpstr>
      <vt:lpstr>PARTNERSHIP</vt:lpstr>
      <vt:lpstr>LIMITED LIABILITY PARTNERSHIP (PART C CAMA)</vt:lpstr>
      <vt:lpstr>PowerPoint Presentation</vt:lpstr>
      <vt:lpstr>Class Activity</vt:lpstr>
      <vt:lpstr>Imperative of LLP Agreement</vt:lpstr>
      <vt:lpstr>Consent of Designated Partners Required</vt:lpstr>
      <vt:lpstr>Duties of a Designated Partner – S. 750</vt:lpstr>
      <vt:lpstr>Filling of Vacancy in the Number of Designated Partners</vt:lpstr>
      <vt:lpstr>CONTENT OF A PARTNERSHIP AGREEMENT</vt:lpstr>
      <vt:lpstr>PowerPoint Presentation</vt:lpstr>
      <vt:lpstr>Significance of a Partnership Agreement</vt:lpstr>
      <vt:lpstr>Cessation of Partnership under LLP -  Sec 763</vt:lpstr>
      <vt:lpstr>EXTENT AND LIMITATION OF LIABILITY FOR LLP &amp; PARTNERS – Sections 765 - 766</vt:lpstr>
      <vt:lpstr>LIMITED PARTNERSHIP (PART F CAMA)</vt:lpstr>
      <vt:lpstr>PowerPoint Presentation</vt:lpstr>
      <vt:lpstr>PowerPoint Presentation</vt:lpstr>
      <vt:lpstr>INCORPORATED TRUSTEES (Part F CAMA)</vt:lpstr>
      <vt:lpstr>WHO CAN BE REGISTERED UNDER PART F CAMA 2020 – S. 823</vt:lpstr>
      <vt:lpstr>METHOD OF APPLICATION SEC 825 CAMA</vt:lpstr>
      <vt:lpstr>PowerPoint Presentation</vt:lpstr>
      <vt:lpstr>PowerPoint Presentation</vt:lpstr>
      <vt:lpstr> Documents Required For Registration of Incorporated Trustees</vt:lpstr>
      <vt:lpstr>PowerPoint Presentation</vt:lpstr>
      <vt:lpstr>CLASS ACTIVITY</vt:lpstr>
      <vt:lpstr>PowerPoint Presentation</vt:lpstr>
      <vt:lpstr>PowerPoint Presentation</vt:lpstr>
      <vt:lpstr>Application of the Special Clause</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FORMATION AND REGISTRATION OF BUSINESS NAMES, PARTNERSHIPS AND INCORPORATED TRUSTEES </dc:title>
  <dc:creator>Tomi Obagboye</dc:creator>
  <cp:lastModifiedBy>Tomi Obagboye</cp:lastModifiedBy>
  <cp:revision>77</cp:revision>
  <dcterms:created xsi:type="dcterms:W3CDTF">2025-04-22T19:19:31Z</dcterms:created>
  <dcterms:modified xsi:type="dcterms:W3CDTF">2025-04-24T21:32:08Z</dcterms:modified>
</cp:coreProperties>
</file>