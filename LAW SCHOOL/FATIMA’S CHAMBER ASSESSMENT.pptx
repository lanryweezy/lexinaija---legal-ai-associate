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7" r:id="rId5"/>
    <p:sldId id="269" r:id="rId6"/>
    <p:sldId id="270" r:id="rId7"/>
    <p:sldId id="280" r:id="rId8"/>
    <p:sldId id="284" r:id="rId9"/>
    <p:sldId id="287" r:id="rId10"/>
    <p:sldId id="285" r:id="rId11"/>
    <p:sldId id="286" r:id="rId12"/>
    <p:sldId id="273" r:id="rId13"/>
    <p:sldId id="27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389"/>
    <p:restoredTop sz="95141" autoAdjust="0"/>
  </p:normalViewPr>
  <p:slideViewPr>
    <p:cSldViewPr showGuides="1">
      <p:cViewPr>
        <p:scale>
          <a:sx n="79" d="100"/>
          <a:sy n="79" d="100"/>
        </p:scale>
        <p:origin x="480" y="2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A5A7A-07FF-4428-A0F0-8BA415044B2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31148-15D9-4D6C-9E01-62CC75D8F25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DAB31148-15D9-4D6C-9E01-62CC75D8F25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DAB31148-15D9-4D6C-9E01-62CC75D8F25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/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/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/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/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/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3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2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/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/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/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/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/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/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/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/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  <a:endParaRPr lang="en-US" sz="12200" dirty="0"/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  <a:endParaRPr lang="en-US" sz="122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/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/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/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/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/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Picture Placeholder 2"/>
          <p:cNvSpPr/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/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/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Picture Placeholder 2"/>
          <p:cNvSpPr/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/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/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Picture Placeholder 2"/>
          <p:cNvSpPr/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/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/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/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/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/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9233F82-EA51-4AB4-8199-98789BC49E3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/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/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A22E3-DEE9-4B5F-B60C-182BF419FEF8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ctrTitle"/>
          </p:nvPr>
        </p:nvSpPr>
        <p:spPr>
          <a:xfrm>
            <a:off x="0" y="533400"/>
            <a:ext cx="8382000" cy="838199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PORTFOLIO </a:t>
            </a: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ASSESSMENT </a:t>
            </a:r>
            <a:endParaRPr lang="en-US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304800" y="1600200"/>
            <a:ext cx="8574472" cy="4989285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200000"/>
              </a:lnSpc>
            </a:pPr>
            <a:r>
              <a:rPr lang="en-AU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ADAMU MIRACLE FATIMA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20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REGISTRATION NUMBER:</a:t>
            </a:r>
            <a:r>
              <a:rPr lang="en-AU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CLE/NLS/YEN/25R/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786</a:t>
            </a:r>
            <a:endParaRPr lang="en-AU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CAMPUS</a:t>
            </a:r>
            <a:r>
              <a:rPr lang="en-AU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: YENAGOA CAMPUS</a:t>
            </a:r>
            <a:endParaRPr lang="en-AU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 flipV="1">
            <a:off x="609600" y="228600"/>
            <a:ext cx="8229600" cy="46038"/>
          </a:xfrm>
        </p:spPr>
        <p:txBody>
          <a:bodyPr>
            <a:normAutofit fontScale="90000"/>
          </a:bodyPr>
          <a:lstStyle/>
          <a:p>
            <a:br>
              <a:rPr lang="en-GB" b="1" u="sng" dirty="0">
                <a:latin typeface="Times New Roman" pitchFamily="18" charset="0"/>
                <a:cs typeface="Times New Roman" pitchFamily="18" charset="0"/>
              </a:rPr>
            </a:br>
            <a:br>
              <a:rPr lang="en-GB" b="1" u="sng" dirty="0">
                <a:latin typeface="Times New Roman" pitchFamily="18" charset="0"/>
                <a:cs typeface="Times New Roman" pitchFamily="18" charset="0"/>
              </a:rPr>
            </a:br>
            <a:endParaRPr lang="en-US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1" y="685800"/>
            <a:ext cx="8153400" cy="6172200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GB" sz="4400" b="1" dirty="0">
                <a:latin typeface="Times New Roman" pitchFamily="18" charset="0"/>
                <a:cs typeface="Times New Roman" pitchFamily="18" charset="0"/>
              </a:rPr>
              <a:t>DETAILS OF LAW OFFICE PLACEMENT</a:t>
            </a:r>
            <a:endParaRPr lang="en-GB" sz="4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GB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  NAME OF LAW OFFICE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AU" altLang="en-GB" sz="2800" dirty="0">
                <a:latin typeface="Times New Roman" pitchFamily="18" charset="0"/>
                <a:cs typeface="Times New Roman" pitchFamily="18" charset="0"/>
              </a:rPr>
              <a:t>ABDULAZIZ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&amp; CO. (S.A.N)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ADDRESS:</a:t>
            </a:r>
            <a:endParaRPr lang="en-GB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NO. 37 T. Y. DANJUMA STREET, ASOKORO, ABUJA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  NAME OF PRINCIPAL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AU" altLang="en-GB" sz="2800" dirty="0">
                <a:latin typeface="Times New Roman" pitchFamily="18" charset="0"/>
                <a:cs typeface="Times New Roman" pitchFamily="18" charset="0"/>
              </a:rPr>
              <a:t>ABDULAZIZ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AU" altLang="en-GB" sz="2800" dirty="0">
                <a:latin typeface="Times New Roman" pitchFamily="18" charset="0"/>
                <a:cs typeface="Times New Roman" pitchFamily="18" charset="0"/>
              </a:rPr>
              <a:t>BRAHIM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(S.A.N)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  NAME OF SUPERVISOR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:  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ABDULLATEEF MUHAMMED ESQ.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DURATION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FIVE(5) WEEKS (FROM 24</a:t>
            </a:r>
            <a:r>
              <a:rPr lang="en-GB" sz="28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SEPT TO 22</a:t>
            </a:r>
            <a:r>
              <a:rPr lang="en-GB" sz="2800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OCT, 2025)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                             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/>
          <p:nvPr>
            <p:ph idx="1"/>
          </p:nvPr>
        </p:nvSpPr>
        <p:spPr>
          <a:xfrm>
            <a:off x="609600" y="1219201"/>
            <a:ext cx="8077200" cy="54102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GB" sz="4800" dirty="0">
                <a:latin typeface="Times New Roman" pitchFamily="18" charset="0"/>
                <a:cs typeface="Times New Roman" pitchFamily="18" charset="0"/>
              </a:rPr>
              <a:t>HIGHLIGHTS OF LAW FIRM PLACEMENT</a:t>
            </a:r>
            <a:endParaRPr lang="en-GB" sz="3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I was placed at </a:t>
            </a:r>
            <a:r>
              <a:rPr lang="en-AU" altLang="en-GB" sz="2800" dirty="0">
                <a:latin typeface="Times New Roman" pitchFamily="18" charset="0"/>
                <a:cs typeface="Times New Roman" pitchFamily="18" charset="0"/>
              </a:rPr>
              <a:t>ABDULAZIZ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&amp; CO (S.A.N)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It is a sole proprietorship firm.  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The principal is a Senior Lawyer with more than 30 years post call experience. Few other lawyers with most having above 5 (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five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) years post call experience </a:t>
            </a:r>
            <a:r>
              <a:rPr lang="en-GB" sz="2800">
                <a:latin typeface="Times New Roman" pitchFamily="18" charset="0"/>
                <a:cs typeface="Times New Roman" pitchFamily="18" charset="0"/>
              </a:rPr>
              <a:t>and few, 10 years post call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practicing under him.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The law office has a well equipped, organized and with an up-to-date library and efficient law office management knowledge.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A commendable welcoming attitude to clients.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/>
          <p:nvPr>
            <p:ph idx="1"/>
          </p:nvPr>
        </p:nvSpPr>
        <p:spPr>
          <a:xfrm>
            <a:off x="918029" y="762000"/>
            <a:ext cx="8229600" cy="58674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4800" dirty="0">
                <a:latin typeface="Times New Roman" pitchFamily="18" charset="0"/>
                <a:cs typeface="Times New Roman" pitchFamily="18" charset="0"/>
              </a:rPr>
              <a:t>ACTIVITIES</a:t>
            </a:r>
            <a:endParaRPr lang="en-GB" sz="4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GB" sz="3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3400" dirty="0">
                <a:latin typeface="Times New Roman" pitchFamily="18" charset="0"/>
                <a:cs typeface="Times New Roman" pitchFamily="18" charset="0"/>
              </a:rPr>
              <a:t>Accompany the H.O.C to court in order to observed court proceedings.</a:t>
            </a:r>
            <a:endParaRPr lang="en-GB" sz="3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GB" sz="3400" dirty="0">
                <a:latin typeface="Times New Roman" pitchFamily="18" charset="0"/>
                <a:cs typeface="Times New Roman" pitchFamily="18" charset="0"/>
              </a:rPr>
              <a:t>Client interview.</a:t>
            </a:r>
            <a:endParaRPr lang="en-GB" sz="3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3400" dirty="0">
                <a:latin typeface="Times New Roman" pitchFamily="18" charset="0"/>
                <a:cs typeface="Times New Roman" pitchFamily="18" charset="0"/>
              </a:rPr>
              <a:t>Legal Research.</a:t>
            </a:r>
            <a:endParaRPr lang="en-GB" sz="3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3400" dirty="0">
                <a:latin typeface="Times New Roman" pitchFamily="18" charset="0"/>
                <a:cs typeface="Times New Roman" pitchFamily="18" charset="0"/>
              </a:rPr>
              <a:t>Drafting.</a:t>
            </a:r>
            <a:endParaRPr lang="en-GB" sz="3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3400" dirty="0">
                <a:latin typeface="Times New Roman" pitchFamily="18" charset="0"/>
                <a:cs typeface="Times New Roman" pitchFamily="18" charset="0"/>
              </a:rPr>
              <a:t>Tutorial Sessions</a:t>
            </a:r>
            <a:endParaRPr lang="en-GB" sz="3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Acknowledgment of service of court process.</a:t>
            </a:r>
            <a:endParaRPr lang="en-US" sz="3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3400" dirty="0">
                <a:latin typeface="Times New Roman" pitchFamily="18" charset="0"/>
                <a:cs typeface="Times New Roman" pitchFamily="18" charset="0"/>
              </a:rPr>
              <a:t>Private study.</a:t>
            </a:r>
            <a:endParaRPr lang="en-GB" sz="3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/>
          <p:nvPr>
            <p:ph idx="1"/>
          </p:nvPr>
        </p:nvSpPr>
        <p:spPr>
          <a:xfrm>
            <a:off x="1447800" y="533400"/>
            <a:ext cx="7086600" cy="6324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GB" sz="4400" dirty="0">
                <a:latin typeface="Times New Roman" pitchFamily="18" charset="0"/>
                <a:cs typeface="Times New Roman" pitchFamily="18" charset="0"/>
              </a:rPr>
              <a:t>SKILLS  ACQUIRED</a:t>
            </a:r>
            <a:endParaRPr lang="en-GB" sz="4400" dirty="0"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How to file trial documents at the various court registry.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Drafting of motions.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How to address the judge.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How to announce appearance.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Examination of witnesses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How to move an application.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Professional etiquette.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/>
          <p:nvPr>
            <p:ph idx="1"/>
          </p:nvPr>
        </p:nvSpPr>
        <p:spPr>
          <a:xfrm>
            <a:off x="762000" y="457200"/>
            <a:ext cx="8229600" cy="566674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CHALLENGES</a:t>
            </a:r>
            <a:endParaRPr lang="en-GB" sz="4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No opportunity to witness client’s interview.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High cost of transportation and feeding.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endParaRPr lang="en-GB" sz="36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None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None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None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None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None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n w="3175" cmpd="sng"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latin typeface="Garamond"/>
              </a:rPr>
              <a:t>     </a:t>
            </a:r>
            <a:r>
              <a:rPr lang="en-US" sz="4400" b="1" dirty="0">
                <a:ln w="3175" cmpd="sng">
                  <a:noFill/>
                </a:ln>
                <a:solidFill>
                  <a:schemeClr val="tx1"/>
                </a:solidFill>
                <a:latin typeface="Garamond"/>
              </a:rPr>
              <a:t>Recommendations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762001" y="1600200"/>
            <a:ext cx="7772400" cy="342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LAW FIRM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Update of placement list to include new chambers and exclude defunct chambers.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/>
          <p:nvPr>
            <p:ph idx="1"/>
          </p:nvPr>
        </p:nvSpPr>
        <p:spPr>
          <a:xfrm>
            <a:off x="381000" y="1295400"/>
            <a:ext cx="8229600" cy="46482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Highlight of reflective essay on ethical dilemma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Rule 15(1)(3) and Rule 30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the Rules of Professional Conduct.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Lawyers aiding their client in misconduct act as a means to delay and frustrate justices.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231626" y="990600"/>
            <a:ext cx="8229601" cy="12808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Highlights of the reflective essay on law office Management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990600" y="2438400"/>
            <a:ext cx="6711654" cy="4195481"/>
          </a:xfrm>
        </p:spPr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Details of the law firm (name and address)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Type of law firm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 of paper form filing system 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Presence of equipment, supplies and machines.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Adequate lawyers and non staff members.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2133600" y="595086"/>
            <a:ext cx="6858000" cy="990600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533400" y="1600200"/>
            <a:ext cx="8001000" cy="4724400"/>
          </a:xfrm>
        </p:spPr>
        <p:txBody>
          <a:bodyPr>
            <a:normAutofit/>
          </a:bodyPr>
          <a:lstStyle/>
          <a:p>
            <a:pPr algn="just"/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The externship programme was a great learning experience that availed me an exposure to the reality of the legal profession as well as what we were taught in class.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It has indeed instilled in me a sense of professional responsibility within and outside  the courtroom.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The externship programme is indeed an imperative and commendable aspect of the law school curriculum. 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/>
          <p:nvPr>
            <p:ph idx="1"/>
          </p:nvPr>
        </p:nvSpPr>
        <p:spPr>
          <a:xfrm>
            <a:off x="1143000" y="1905000"/>
            <a:ext cx="6711654" cy="4195481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54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5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crush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0</Words>
  <Application/>
  <PresentationFormat>On-screen Show (4:3)</PresentationFormat>
  <Paragraphs>82</Paragraphs>
  <Slides>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Wingdings 3</vt:lpstr>
      <vt:lpstr>Times New Roman</vt:lpstr>
      <vt:lpstr>Garamond</vt:lpstr>
      <vt:lpstr>Century Gothic</vt:lpstr>
      <vt:lpstr>Calibri</vt:lpstr>
      <vt:lpstr>Ion</vt:lpstr>
      <vt:lpstr>PORTFOLIO ASSESSMENT </vt:lpstr>
      <vt:lpstr>  </vt:lpstr>
      <vt:lpstr>PowerPoint 演示文稿</vt:lpstr>
      <vt:lpstr>PowerPoint 演示文稿</vt:lpstr>
      <vt:lpstr>PowerPoint 演示文稿</vt:lpstr>
      <vt:lpstr>PowerPoint 演示文稿</vt:lpstr>
      <vt:lpstr>     Recommendations</vt:lpstr>
      <vt:lpstr>PowerPoint 演示文稿</vt:lpstr>
      <vt:lpstr>Highlights of the reflective essay on law office Management</vt:lpstr>
      <vt:lpstr>CONCLUSION</vt:lpstr>
      <vt:lpstr>PowerPoint 演示文稿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PRESENTATION ON COURT AND LAW OFFICE PLACEMENT</dc:title>
  <dc:creator>HP</dc:creator>
  <cp:lastModifiedBy>iPad</cp:lastModifiedBy>
  <cp:revision>187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FC73B43D727844DB871EB774B2D76737_12</vt:lpwstr>
  </property>
  <property fmtid="{D5CDD505-2E9C-101B-9397-08002B2CF9AE}" pid="3" name="KSOProductBuildVer">
    <vt:lpwstr>3081-11.37.00</vt:lpwstr>
  </property>
</Properties>
</file>