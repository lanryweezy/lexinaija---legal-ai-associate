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type="screen4x3" cy="6858000" cx="9144000"/>
  <p:notesSz cx="6858000" cy="9144000"/>
  <p:defaultTextStyle>
    <a:defPPr>
      <a:defRPr lang="en-US"/>
    </a:defPPr>
    <a:lvl1pPr algn="l" fontAlgn="base" rtl="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algn="l" fontAlgn="base" marL="457200" rtl="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algn="l" fontAlgn="base" marL="914400" rtl="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algn="l" fontAlgn="base" marL="1371600" rtl="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algn="l" fontAlgn="base" marL="1828800" rtl="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algn="l" defTabSz="914400" eaLnBrk="1" hangingPunct="1" latinLnBrk="0" marL="2286000" rtl="0">
      <a:defRPr kern="1200">
        <a:solidFill>
          <a:schemeClr val="tx1"/>
        </a:solidFill>
        <a:latin typeface="Calibri" panose="020F0502020204030204" pitchFamily="34" charset="0"/>
        <a:ea typeface="+mn-ea"/>
        <a:cs typeface="Arial" panose="020B0604020202020204" pitchFamily="34" charset="0"/>
      </a:defRPr>
    </a:lvl6pPr>
    <a:lvl7pPr algn="l" defTabSz="914400" eaLnBrk="1" hangingPunct="1" latinLnBrk="0" marL="2743200" rtl="0">
      <a:defRPr kern="1200">
        <a:solidFill>
          <a:schemeClr val="tx1"/>
        </a:solidFill>
        <a:latin typeface="Calibri" panose="020F0502020204030204" pitchFamily="34" charset="0"/>
        <a:ea typeface="+mn-ea"/>
        <a:cs typeface="Arial" panose="020B0604020202020204" pitchFamily="34" charset="0"/>
      </a:defRPr>
    </a:lvl7pPr>
    <a:lvl8pPr algn="l" defTabSz="914400" eaLnBrk="1" hangingPunct="1" latinLnBrk="0" marL="3200400" rtl="0">
      <a:defRPr kern="1200">
        <a:solidFill>
          <a:schemeClr val="tx1"/>
        </a:solidFill>
        <a:latin typeface="Calibri" panose="020F0502020204030204" pitchFamily="34" charset="0"/>
        <a:ea typeface="+mn-ea"/>
        <a:cs typeface="Arial" panose="020B0604020202020204" pitchFamily="34" charset="0"/>
      </a:defRPr>
    </a:lvl8pPr>
    <a:lvl9pPr algn="l" defTabSz="914400" eaLnBrk="1" hangingPunct="1" latinLnBrk="0" marL="3657600" rtl="0">
      <a:defRPr kern="1200">
        <a:solidFill>
          <a:schemeClr val="tx1"/>
        </a:solidFill>
        <a:latin typeface="Calibri" panose="020F0502020204030204" pitchFamily="34" charset="0"/>
        <a:ea typeface="+mn-ea"/>
        <a:cs typeface="Arial" panose="020B0604020202020204" pitchFamily="34"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54" d="100"/>
          <a:sy n="54" d="100"/>
        </p:scale>
        <p:origin x="-97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tableStyles" Target="tableStyles.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
        <p:nvSpPr>
          <p:cNvPr id="1048739"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GB"/>
          </a:p>
        </p:txBody>
      </p:sp>
      <p:sp>
        <p:nvSpPr>
          <p:cNvPr id="1048740"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36299119-DE69-42A6-8C85-DB879521CA38}" type="datetimeFigureOut">
              <a:rPr lang="en-GB"/>
            </a:fld>
            <a:endParaRPr lang="en-GB"/>
          </a:p>
        </p:txBody>
      </p:sp>
      <p:sp>
        <p:nvSpPr>
          <p:cNvPr id="1048741"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pPr lvl="0"/>
            <a:endParaRPr lang="en-GB" noProof="0" smtClean="0"/>
          </a:p>
        </p:txBody>
      </p:sp>
      <p:sp>
        <p:nvSpPr>
          <p:cNvPr id="1048742" name="Notes Placeholder 4"/>
          <p:cNvSpPr>
            <a:spLocks noGrp="1"/>
          </p:cNvSpPr>
          <p:nvPr>
            <p:ph type="body" sz="quarter" idx="3"/>
          </p:nvPr>
        </p:nvSpPr>
        <p:spPr>
          <a:xfrm>
            <a:off x="685800" y="4343400"/>
            <a:ext cx="5486400" cy="4114800"/>
          </a:xfrm>
          <a:prstGeom prst="rect"/>
        </p:spPr>
        <p:txBody>
          <a:bodyPr bIns="45720" lIns="91440" rIns="91440" rtlCol="0" tIns="45720" vert="horz"/>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GB" noProof="0" smtClean="0"/>
          </a:p>
        </p:txBody>
      </p:sp>
      <p:sp>
        <p:nvSpPr>
          <p:cNvPr id="1048743"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GB"/>
          </a:p>
        </p:txBody>
      </p:sp>
      <p:sp>
        <p:nvSpPr>
          <p:cNvPr id="1048744"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95A86561-F7BB-45FF-9AD8-FD34DCD9361C}" type="slidenum">
              <a:rPr lang="en-GB"/>
            </a:fld>
            <a:endParaRPr lang="en-GB"/>
          </a:p>
        </p:txBody>
      </p:sp>
    </p:spTree>
  </p:cSld>
  <p:clrMap accent1="accent1" accent2="accent2" accent3="accent3" accent4="accent4" accent5="accent5" accent6="accent6" bg1="lt1" bg2="lt2" tx1="dk1" tx2="dk2" hlink="hlink" folHlink="folHlink"/>
  <p:notesStyle>
    <a:lvl1pPr algn="l" eaLnBrk="0" fontAlgn="base" hangingPunct="0" rtl="0">
      <a:spcBef>
        <a:spcPct val="30000"/>
      </a:spcBef>
      <a:spcAft>
        <a:spcPct val="0"/>
      </a:spcAft>
      <a:defRPr sz="1200" kern="1200">
        <a:solidFill>
          <a:schemeClr val="tx1"/>
        </a:solidFill>
        <a:latin typeface="+mn-lt"/>
        <a:ea typeface="+mn-ea"/>
        <a:cs typeface="+mn-cs"/>
      </a:defRPr>
    </a:lvl1pPr>
    <a:lvl2pPr algn="l" eaLnBrk="0" fontAlgn="base" hangingPunct="0" marL="457200" rtl="0">
      <a:spcBef>
        <a:spcPct val="30000"/>
      </a:spcBef>
      <a:spcAft>
        <a:spcPct val="0"/>
      </a:spcAft>
      <a:defRPr sz="1200" kern="1200">
        <a:solidFill>
          <a:schemeClr val="tx1"/>
        </a:solidFill>
        <a:latin typeface="+mn-lt"/>
        <a:ea typeface="+mn-ea"/>
        <a:cs typeface="+mn-cs"/>
      </a:defRPr>
    </a:lvl2pPr>
    <a:lvl3pPr algn="l" eaLnBrk="0" fontAlgn="base" hangingPunct="0" marL="914400" rtl="0">
      <a:spcBef>
        <a:spcPct val="30000"/>
      </a:spcBef>
      <a:spcAft>
        <a:spcPct val="0"/>
      </a:spcAft>
      <a:defRPr sz="1200" kern="1200">
        <a:solidFill>
          <a:schemeClr val="tx1"/>
        </a:solidFill>
        <a:latin typeface="+mn-lt"/>
        <a:ea typeface="+mn-ea"/>
        <a:cs typeface="+mn-cs"/>
      </a:defRPr>
    </a:lvl3pPr>
    <a:lvl4pPr algn="l" eaLnBrk="0" fontAlgn="base" hangingPunct="0" marL="1371600" rtl="0">
      <a:spcBef>
        <a:spcPct val="30000"/>
      </a:spcBef>
      <a:spcAft>
        <a:spcPct val="0"/>
      </a:spcAft>
      <a:defRPr sz="1200" kern="1200">
        <a:solidFill>
          <a:schemeClr val="tx1"/>
        </a:solidFill>
        <a:latin typeface="+mn-lt"/>
        <a:ea typeface="+mn-ea"/>
        <a:cs typeface="+mn-cs"/>
      </a:defRPr>
    </a:lvl4pPr>
    <a:lvl5pPr algn="l" eaLnBrk="0" fontAlgn="base" hangingPunct="0" marL="1828800" rtl="0">
      <a:spcBef>
        <a:spcPct val="30000"/>
      </a:spcBef>
      <a:spcAft>
        <a:spcPct val="0"/>
      </a:spcAft>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smtClean="0"/>
              <a:t>Click to edit Master title style</a:t>
            </a:r>
            <a:endParaRPr lang="en-GB"/>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GB"/>
          </a:p>
        </p:txBody>
      </p:sp>
      <p:sp>
        <p:nvSpPr>
          <p:cNvPr id="1048583" name="Date Placeholder 3"/>
          <p:cNvSpPr>
            <a:spLocks noGrp="1"/>
          </p:cNvSpPr>
          <p:nvPr>
            <p:ph type="dt" sz="half" idx="10"/>
          </p:nvPr>
        </p:nvSpPr>
        <p:spPr/>
        <p:txBody>
          <a:bodyPr/>
          <a:p>
            <a:fld id="{CCA6BEE1-2B34-4818-8220-5E9F50983E49}" type="datetimeFigureOut">
              <a:rPr lang="en-GB"/>
            </a:fld>
            <a:endParaRPr lang="en-GB"/>
          </a:p>
        </p:txBody>
      </p:sp>
      <p:sp>
        <p:nvSpPr>
          <p:cNvPr id="1048584" name="Footer Placeholder 4"/>
          <p:cNvSpPr>
            <a:spLocks noGrp="1"/>
          </p:cNvSpPr>
          <p:nvPr>
            <p:ph type="ftr" sz="quarter" idx="11"/>
          </p:nvPr>
        </p:nvSpPr>
        <p:spPr/>
        <p:txBody>
          <a:bodyPr/>
          <a:p>
            <a:endParaRPr lang="en-GB"/>
          </a:p>
        </p:txBody>
      </p:sp>
      <p:sp>
        <p:nvSpPr>
          <p:cNvPr id="1048585" name="Slide Number Placeholder 5"/>
          <p:cNvSpPr>
            <a:spLocks noGrp="1"/>
          </p:cNvSpPr>
          <p:nvPr>
            <p:ph type="sldNum" sz="quarter" idx="12"/>
          </p:nvPr>
        </p:nvSpPr>
        <p:spPr/>
        <p:txBody>
          <a:bodyPr/>
          <a:p>
            <a:fld id="{88630802-AA3C-40A7-B3C8-3D8CA5F48571}"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6"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GB"/>
          </a:p>
        </p:txBody>
      </p:sp>
      <p:sp>
        <p:nvSpPr>
          <p:cNvPr id="1048589" name="Content Placeholder 2"/>
          <p:cNvSpPr>
            <a:spLocks noGrp="1"/>
          </p:cNvSpPr>
          <p:nvPr>
            <p:ph idx="1"/>
          </p:nvPr>
        </p:nvSpPr>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590" name="Date Placeholder 3"/>
          <p:cNvSpPr>
            <a:spLocks noGrp="1"/>
          </p:cNvSpPr>
          <p:nvPr>
            <p:ph type="dt" sz="half" idx="10"/>
          </p:nvPr>
        </p:nvSpPr>
        <p:spPr/>
        <p:txBody>
          <a:bodyPr/>
          <a:p>
            <a:fld id="{4AC92D96-690B-41DA-8564-B204C069457F}" type="datetimeFigureOut">
              <a:rPr lang="en-GB"/>
            </a:fld>
            <a:endParaRPr lang="en-GB"/>
          </a:p>
        </p:txBody>
      </p:sp>
      <p:sp>
        <p:nvSpPr>
          <p:cNvPr id="1048591" name="Footer Placeholder 4"/>
          <p:cNvSpPr>
            <a:spLocks noGrp="1"/>
          </p:cNvSpPr>
          <p:nvPr>
            <p:ph type="ftr" sz="quarter" idx="11"/>
          </p:nvPr>
        </p:nvSpPr>
        <p:spPr/>
        <p:txBody>
          <a:bodyPr/>
          <a:p>
            <a:endParaRPr lang="en-GB"/>
          </a:p>
        </p:txBody>
      </p:sp>
      <p:sp>
        <p:nvSpPr>
          <p:cNvPr id="1048592" name="Slide Number Placeholder 5"/>
          <p:cNvSpPr>
            <a:spLocks noGrp="1"/>
          </p:cNvSpPr>
          <p:nvPr>
            <p:ph type="sldNum" sz="quarter" idx="12"/>
          </p:nvPr>
        </p:nvSpPr>
        <p:spPr/>
        <p:txBody>
          <a:bodyPr/>
          <a:p>
            <a:fld id="{3F544A86-6D66-4883-8DB6-7E7D83F80F5D}"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20" name=""/>
        <p:cNvGrpSpPr/>
        <p:nvPr/>
      </p:nvGrpSpPr>
      <p:grpSpPr>
        <a:xfrm>
          <a:off x="0" y="0"/>
          <a:ext cx="0" cy="0"/>
          <a:chOff x="0" y="0"/>
          <a:chExt cx="0" cy="0"/>
        </a:xfrm>
      </p:grpSpPr>
      <p:sp>
        <p:nvSpPr>
          <p:cNvPr id="1048711"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GB"/>
          </a:p>
        </p:txBody>
      </p:sp>
      <p:sp>
        <p:nvSpPr>
          <p:cNvPr id="1048712"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endParaRPr lang="en-US" smtClean="0"/>
          </a:p>
        </p:txBody>
      </p:sp>
      <p:sp>
        <p:nvSpPr>
          <p:cNvPr id="1048713" name="Date Placeholder 3"/>
          <p:cNvSpPr>
            <a:spLocks noGrp="1"/>
          </p:cNvSpPr>
          <p:nvPr>
            <p:ph type="dt" sz="half" idx="10"/>
          </p:nvPr>
        </p:nvSpPr>
        <p:spPr/>
        <p:txBody>
          <a:bodyPr/>
          <a:p>
            <a:fld id="{43FCB8CE-E7CF-413F-8C46-43132467E854}" type="datetimeFigureOut">
              <a:rPr lang="en-GB"/>
            </a:fld>
            <a:endParaRPr lang="en-GB"/>
          </a:p>
        </p:txBody>
      </p:sp>
      <p:sp>
        <p:nvSpPr>
          <p:cNvPr id="1048714" name="Footer Placeholder 4"/>
          <p:cNvSpPr>
            <a:spLocks noGrp="1"/>
          </p:cNvSpPr>
          <p:nvPr>
            <p:ph type="ftr" sz="quarter" idx="11"/>
          </p:nvPr>
        </p:nvSpPr>
        <p:spPr/>
        <p:txBody>
          <a:bodyPr/>
          <a:p>
            <a:endParaRPr lang="en-GB"/>
          </a:p>
        </p:txBody>
      </p:sp>
      <p:sp>
        <p:nvSpPr>
          <p:cNvPr id="1048715" name="Slide Number Placeholder 5"/>
          <p:cNvSpPr>
            <a:spLocks noGrp="1"/>
          </p:cNvSpPr>
          <p:nvPr>
            <p:ph type="sldNum" sz="quarter" idx="12"/>
          </p:nvPr>
        </p:nvSpPr>
        <p:spPr/>
        <p:txBody>
          <a:bodyPr/>
          <a:p>
            <a:fld id="{1B5CE09E-CC87-47B6-9A56-1270497728B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21" name=""/>
        <p:cNvGrpSpPr/>
        <p:nvPr/>
      </p:nvGrpSpPr>
      <p:grpSpPr>
        <a:xfrm>
          <a:off x="0" y="0"/>
          <a:ext cx="0" cy="0"/>
          <a:chOff x="0" y="0"/>
          <a:chExt cx="0" cy="0"/>
        </a:xfrm>
      </p:grpSpPr>
      <p:sp>
        <p:nvSpPr>
          <p:cNvPr id="1048716" name="Title 1"/>
          <p:cNvSpPr>
            <a:spLocks noGrp="1"/>
          </p:cNvSpPr>
          <p:nvPr>
            <p:ph type="title"/>
          </p:nvPr>
        </p:nvSpPr>
        <p:spPr/>
        <p:txBody>
          <a:bodyPr/>
          <a:p>
            <a:r>
              <a:rPr lang="en-US" smtClean="0"/>
              <a:t>Click to edit Master title style</a:t>
            </a:r>
            <a:endParaRPr lang="en-GB"/>
          </a:p>
        </p:txBody>
      </p:sp>
      <p:sp>
        <p:nvSpPr>
          <p:cNvPr id="104871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1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19" name="Date Placeholder 3"/>
          <p:cNvSpPr>
            <a:spLocks noGrp="1"/>
          </p:cNvSpPr>
          <p:nvPr>
            <p:ph type="dt" sz="half" idx="10"/>
          </p:nvPr>
        </p:nvSpPr>
        <p:spPr/>
        <p:txBody>
          <a:bodyPr/>
          <a:p>
            <a:fld id="{A89A2005-5961-4DED-AD64-AE46395CAE25}" type="datetimeFigureOut">
              <a:rPr lang="en-GB"/>
            </a:fld>
            <a:endParaRPr lang="en-GB"/>
          </a:p>
        </p:txBody>
      </p:sp>
      <p:sp>
        <p:nvSpPr>
          <p:cNvPr id="1048720" name="Footer Placeholder 4"/>
          <p:cNvSpPr>
            <a:spLocks noGrp="1"/>
          </p:cNvSpPr>
          <p:nvPr>
            <p:ph type="ftr" sz="quarter" idx="11"/>
          </p:nvPr>
        </p:nvSpPr>
        <p:spPr/>
        <p:txBody>
          <a:bodyPr/>
          <a:p>
            <a:endParaRPr lang="en-GB"/>
          </a:p>
        </p:txBody>
      </p:sp>
      <p:sp>
        <p:nvSpPr>
          <p:cNvPr id="1048721" name="Slide Number Placeholder 5"/>
          <p:cNvSpPr>
            <a:spLocks noGrp="1"/>
          </p:cNvSpPr>
          <p:nvPr>
            <p:ph type="sldNum" sz="quarter" idx="12"/>
          </p:nvPr>
        </p:nvSpPr>
        <p:spPr/>
        <p:txBody>
          <a:bodyPr/>
          <a:p>
            <a:fld id="{FAD9F0FC-7B43-4630-9CD5-71E81345A790}"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22" name=""/>
        <p:cNvGrpSpPr/>
        <p:nvPr/>
      </p:nvGrpSpPr>
      <p:grpSpPr>
        <a:xfrm>
          <a:off x="0" y="0"/>
          <a:ext cx="0" cy="0"/>
          <a:chOff x="0" y="0"/>
          <a:chExt cx="0" cy="0"/>
        </a:xfrm>
      </p:grpSpPr>
      <p:sp>
        <p:nvSpPr>
          <p:cNvPr id="1048722" name="Title 1"/>
          <p:cNvSpPr>
            <a:spLocks noGrp="1"/>
          </p:cNvSpPr>
          <p:nvPr>
            <p:ph type="title"/>
          </p:nvPr>
        </p:nvSpPr>
        <p:spPr/>
        <p:txBody>
          <a:bodyPr/>
          <a:p>
            <a:r>
              <a:rPr lang="en-US" smtClean="0"/>
              <a:t>Click to edit Master title style</a:t>
            </a:r>
            <a:endParaRPr lang="en-GB"/>
          </a:p>
        </p:txBody>
      </p:sp>
      <p:sp>
        <p:nvSpPr>
          <p:cNvPr id="1048723"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72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25"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72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27" name="Date Placeholder 3"/>
          <p:cNvSpPr>
            <a:spLocks noGrp="1"/>
          </p:cNvSpPr>
          <p:nvPr>
            <p:ph type="dt" sz="half" idx="10"/>
          </p:nvPr>
        </p:nvSpPr>
        <p:spPr/>
        <p:txBody>
          <a:bodyPr/>
          <a:p>
            <a:fld id="{762E84BD-E452-4114-8B0A-54DB5733162B}" type="datetimeFigureOut">
              <a:rPr lang="en-GB"/>
            </a:fld>
            <a:endParaRPr lang="en-GB"/>
          </a:p>
        </p:txBody>
      </p:sp>
      <p:sp>
        <p:nvSpPr>
          <p:cNvPr id="1048728" name="Footer Placeholder 4"/>
          <p:cNvSpPr>
            <a:spLocks noGrp="1"/>
          </p:cNvSpPr>
          <p:nvPr>
            <p:ph type="ftr" sz="quarter" idx="11"/>
          </p:nvPr>
        </p:nvSpPr>
        <p:spPr/>
        <p:txBody>
          <a:bodyPr/>
          <a:p>
            <a:endParaRPr lang="en-GB"/>
          </a:p>
        </p:txBody>
      </p:sp>
      <p:sp>
        <p:nvSpPr>
          <p:cNvPr id="1048729" name="Slide Number Placeholder 5"/>
          <p:cNvSpPr>
            <a:spLocks noGrp="1"/>
          </p:cNvSpPr>
          <p:nvPr>
            <p:ph type="sldNum" sz="quarter" idx="12"/>
          </p:nvPr>
        </p:nvSpPr>
        <p:spPr/>
        <p:txBody>
          <a:bodyPr/>
          <a:p>
            <a:fld id="{E9AEE87A-5FC1-4876-B4DD-C161051D140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16" name=""/>
        <p:cNvGrpSpPr/>
        <p:nvPr/>
      </p:nvGrpSpPr>
      <p:grpSpPr>
        <a:xfrm>
          <a:off x="0" y="0"/>
          <a:ext cx="0" cy="0"/>
          <a:chOff x="0" y="0"/>
          <a:chExt cx="0" cy="0"/>
        </a:xfrm>
      </p:grpSpPr>
      <p:sp>
        <p:nvSpPr>
          <p:cNvPr id="1048691" name="Title 1"/>
          <p:cNvSpPr>
            <a:spLocks noGrp="1"/>
          </p:cNvSpPr>
          <p:nvPr>
            <p:ph type="title"/>
          </p:nvPr>
        </p:nvSpPr>
        <p:spPr/>
        <p:txBody>
          <a:bodyPr/>
          <a:p>
            <a:r>
              <a:rPr lang="en-US" smtClean="0"/>
              <a:t>Click to edit Master title style</a:t>
            </a:r>
            <a:endParaRPr lang="en-GB"/>
          </a:p>
        </p:txBody>
      </p:sp>
      <p:sp>
        <p:nvSpPr>
          <p:cNvPr id="1048692" name="Date Placeholder 3"/>
          <p:cNvSpPr>
            <a:spLocks noGrp="1"/>
          </p:cNvSpPr>
          <p:nvPr>
            <p:ph type="dt" sz="half" idx="10"/>
          </p:nvPr>
        </p:nvSpPr>
        <p:spPr/>
        <p:txBody>
          <a:bodyPr/>
          <a:p>
            <a:fld id="{887C7D68-4565-4236-B1EB-D54AF21454E8}" type="datetimeFigureOut">
              <a:rPr lang="en-GB"/>
            </a:fld>
            <a:endParaRPr lang="en-GB"/>
          </a:p>
        </p:txBody>
      </p:sp>
      <p:sp>
        <p:nvSpPr>
          <p:cNvPr id="1048693" name="Footer Placeholder 4"/>
          <p:cNvSpPr>
            <a:spLocks noGrp="1"/>
          </p:cNvSpPr>
          <p:nvPr>
            <p:ph type="ftr" sz="quarter" idx="11"/>
          </p:nvPr>
        </p:nvSpPr>
        <p:spPr/>
        <p:txBody>
          <a:bodyPr/>
          <a:p>
            <a:endParaRPr lang="en-GB"/>
          </a:p>
        </p:txBody>
      </p:sp>
      <p:sp>
        <p:nvSpPr>
          <p:cNvPr id="1048694" name="Slide Number Placeholder 5"/>
          <p:cNvSpPr>
            <a:spLocks noGrp="1"/>
          </p:cNvSpPr>
          <p:nvPr>
            <p:ph type="sldNum" sz="quarter" idx="12"/>
          </p:nvPr>
        </p:nvSpPr>
        <p:spPr/>
        <p:txBody>
          <a:bodyPr/>
          <a:p>
            <a:fld id="{A0F69E6E-7D4A-46C2-8855-CADF1CA458AC}"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23" name=""/>
        <p:cNvGrpSpPr/>
        <p:nvPr/>
      </p:nvGrpSpPr>
      <p:grpSpPr>
        <a:xfrm>
          <a:off x="0" y="0"/>
          <a:ext cx="0" cy="0"/>
          <a:chOff x="0" y="0"/>
          <a:chExt cx="0" cy="0"/>
        </a:xfrm>
      </p:grpSpPr>
      <p:sp>
        <p:nvSpPr>
          <p:cNvPr id="1048730" name="Date Placeholder 3"/>
          <p:cNvSpPr>
            <a:spLocks noGrp="1"/>
          </p:cNvSpPr>
          <p:nvPr>
            <p:ph type="dt" sz="half" idx="10"/>
          </p:nvPr>
        </p:nvSpPr>
        <p:spPr/>
        <p:txBody>
          <a:bodyPr/>
          <a:p>
            <a:fld id="{305E426E-56DF-44D7-9E8D-00B4619C4A18}" type="datetimeFigureOut">
              <a:rPr lang="en-GB"/>
            </a:fld>
            <a:endParaRPr lang="en-GB"/>
          </a:p>
        </p:txBody>
      </p:sp>
      <p:sp>
        <p:nvSpPr>
          <p:cNvPr id="1048731" name="Footer Placeholder 4"/>
          <p:cNvSpPr>
            <a:spLocks noGrp="1"/>
          </p:cNvSpPr>
          <p:nvPr>
            <p:ph type="ftr" sz="quarter" idx="11"/>
          </p:nvPr>
        </p:nvSpPr>
        <p:spPr/>
        <p:txBody>
          <a:bodyPr/>
          <a:p>
            <a:endParaRPr lang="en-GB"/>
          </a:p>
        </p:txBody>
      </p:sp>
      <p:sp>
        <p:nvSpPr>
          <p:cNvPr id="1048732" name="Slide Number Placeholder 5"/>
          <p:cNvSpPr>
            <a:spLocks noGrp="1"/>
          </p:cNvSpPr>
          <p:nvPr>
            <p:ph type="sldNum" sz="quarter" idx="12"/>
          </p:nvPr>
        </p:nvSpPr>
        <p:spPr/>
        <p:txBody>
          <a:bodyPr/>
          <a:p>
            <a:fld id="{35D6E5C3-9C40-4599-8B64-0A420AF1097B}"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24" name=""/>
        <p:cNvGrpSpPr/>
        <p:nvPr/>
      </p:nvGrpSpPr>
      <p:grpSpPr>
        <a:xfrm>
          <a:off x="0" y="0"/>
          <a:ext cx="0" cy="0"/>
          <a:chOff x="0" y="0"/>
          <a:chExt cx="0" cy="0"/>
        </a:xfrm>
      </p:grpSpPr>
      <p:sp>
        <p:nvSpPr>
          <p:cNvPr id="1048733"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GB"/>
          </a:p>
        </p:txBody>
      </p:sp>
      <p:sp>
        <p:nvSpPr>
          <p:cNvPr id="104873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35"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endParaRPr lang="en-US" smtClean="0"/>
          </a:p>
        </p:txBody>
      </p:sp>
      <p:sp>
        <p:nvSpPr>
          <p:cNvPr id="1048736" name="Date Placeholder 3"/>
          <p:cNvSpPr>
            <a:spLocks noGrp="1"/>
          </p:cNvSpPr>
          <p:nvPr>
            <p:ph type="dt" sz="half" idx="10"/>
          </p:nvPr>
        </p:nvSpPr>
        <p:spPr/>
        <p:txBody>
          <a:bodyPr/>
          <a:p>
            <a:fld id="{EFB2BE1A-75B9-4794-BDB7-22A9641B47DF}" type="datetimeFigureOut">
              <a:rPr lang="en-GB"/>
            </a:fld>
            <a:endParaRPr lang="en-GB"/>
          </a:p>
        </p:txBody>
      </p:sp>
      <p:sp>
        <p:nvSpPr>
          <p:cNvPr id="1048737" name="Footer Placeholder 4"/>
          <p:cNvSpPr>
            <a:spLocks noGrp="1"/>
          </p:cNvSpPr>
          <p:nvPr>
            <p:ph type="ftr" sz="quarter" idx="11"/>
          </p:nvPr>
        </p:nvSpPr>
        <p:spPr/>
        <p:txBody>
          <a:bodyPr/>
          <a:p>
            <a:endParaRPr lang="en-GB"/>
          </a:p>
        </p:txBody>
      </p:sp>
      <p:sp>
        <p:nvSpPr>
          <p:cNvPr id="1048738" name="Slide Number Placeholder 5"/>
          <p:cNvSpPr>
            <a:spLocks noGrp="1"/>
          </p:cNvSpPr>
          <p:nvPr>
            <p:ph type="sldNum" sz="quarter" idx="12"/>
          </p:nvPr>
        </p:nvSpPr>
        <p:spPr/>
        <p:txBody>
          <a:bodyPr/>
          <a:p>
            <a:fld id="{E3CE1FE4-1319-4381-99CB-DDB002E132B3}"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18" name=""/>
        <p:cNvGrpSpPr/>
        <p:nvPr/>
      </p:nvGrpSpPr>
      <p:grpSpPr>
        <a:xfrm>
          <a:off x="0" y="0"/>
          <a:ext cx="0" cy="0"/>
          <a:chOff x="0" y="0"/>
          <a:chExt cx="0" cy="0"/>
        </a:xfrm>
      </p:grpSpPr>
      <p:sp>
        <p:nvSpPr>
          <p:cNvPr id="1048700"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GB"/>
          </a:p>
        </p:txBody>
      </p:sp>
      <p:sp>
        <p:nvSpPr>
          <p:cNvPr id="1048701" name="Picture Placeholder 2"/>
          <p:cNvSpPr>
            <a:spLocks noGrp="1"/>
          </p:cNvSpPr>
          <p:nvPr>
            <p:ph type="pic" idx="1"/>
          </p:nvPr>
        </p:nvSpPr>
        <p:spPr>
          <a:xfrm>
            <a:off x="1792288" y="612775"/>
            <a:ext cx="5486400" cy="4114800"/>
          </a:xfrm>
        </p:spPr>
        <p:txBody>
          <a:bodyPr rtlCol="0">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endParaRPr lang="en-GB" noProof="0" smtClean="0"/>
          </a:p>
        </p:txBody>
      </p:sp>
      <p:sp>
        <p:nvSpPr>
          <p:cNvPr id="1048702"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endParaRPr lang="en-US" smtClean="0"/>
          </a:p>
        </p:txBody>
      </p:sp>
      <p:sp>
        <p:nvSpPr>
          <p:cNvPr id="1048703" name="Date Placeholder 3"/>
          <p:cNvSpPr>
            <a:spLocks noGrp="1"/>
          </p:cNvSpPr>
          <p:nvPr>
            <p:ph type="dt" sz="half" idx="10"/>
          </p:nvPr>
        </p:nvSpPr>
        <p:spPr/>
        <p:txBody>
          <a:bodyPr/>
          <a:p>
            <a:fld id="{EB106E09-65BA-496D-B17B-33AB7212CDC9}" type="datetimeFigureOut">
              <a:rPr lang="en-GB"/>
            </a:fld>
            <a:endParaRPr lang="en-GB"/>
          </a:p>
        </p:txBody>
      </p:sp>
      <p:sp>
        <p:nvSpPr>
          <p:cNvPr id="1048704" name="Footer Placeholder 4"/>
          <p:cNvSpPr>
            <a:spLocks noGrp="1"/>
          </p:cNvSpPr>
          <p:nvPr>
            <p:ph type="ftr" sz="quarter" idx="11"/>
          </p:nvPr>
        </p:nvSpPr>
        <p:spPr/>
        <p:txBody>
          <a:bodyPr/>
          <a:p>
            <a:endParaRPr lang="en-GB"/>
          </a:p>
        </p:txBody>
      </p:sp>
      <p:sp>
        <p:nvSpPr>
          <p:cNvPr id="1048705" name="Slide Number Placeholder 5"/>
          <p:cNvSpPr>
            <a:spLocks noGrp="1"/>
          </p:cNvSpPr>
          <p:nvPr>
            <p:ph type="sldNum" sz="quarter" idx="12"/>
          </p:nvPr>
        </p:nvSpPr>
        <p:spPr/>
        <p:txBody>
          <a:bodyPr/>
          <a:p>
            <a:fld id="{5EB167B6-D0A1-423C-A540-1EA3FAAA5C9D}"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9" name=""/>
        <p:cNvGrpSpPr/>
        <p:nvPr/>
      </p:nvGrpSpPr>
      <p:grpSpPr>
        <a:xfrm>
          <a:off x="0" y="0"/>
          <a:ext cx="0" cy="0"/>
          <a:chOff x="0" y="0"/>
          <a:chExt cx="0" cy="0"/>
        </a:xfrm>
      </p:grpSpPr>
      <p:sp>
        <p:nvSpPr>
          <p:cNvPr id="1048706" name="Title 1"/>
          <p:cNvSpPr>
            <a:spLocks noGrp="1"/>
          </p:cNvSpPr>
          <p:nvPr>
            <p:ph type="title"/>
          </p:nvPr>
        </p:nvSpPr>
        <p:spPr/>
        <p:txBody>
          <a:bodyPr/>
          <a:p>
            <a:r>
              <a:rPr lang="en-US" smtClean="0"/>
              <a:t>Click to edit Master title style</a:t>
            </a:r>
            <a:endParaRPr lang="en-GB"/>
          </a:p>
        </p:txBody>
      </p:sp>
      <p:sp>
        <p:nvSpPr>
          <p:cNvPr id="1048707" name="Vertical Text Placeholder 2"/>
          <p:cNvSpPr>
            <a:spLocks noGrp="1"/>
          </p:cNvSpPr>
          <p:nvPr>
            <p:ph type="body" orient="vert" idx="1"/>
          </p:nvPr>
        </p:nvSpPr>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708" name="Date Placeholder 3"/>
          <p:cNvSpPr>
            <a:spLocks noGrp="1"/>
          </p:cNvSpPr>
          <p:nvPr>
            <p:ph type="dt" sz="half" idx="10"/>
          </p:nvPr>
        </p:nvSpPr>
        <p:spPr/>
        <p:txBody>
          <a:bodyPr/>
          <a:p>
            <a:fld id="{199EC702-AA61-468C-8F0B-8F436102D0F2}" type="datetimeFigureOut">
              <a:rPr lang="en-GB"/>
            </a:fld>
            <a:endParaRPr lang="en-GB"/>
          </a:p>
        </p:txBody>
      </p:sp>
      <p:sp>
        <p:nvSpPr>
          <p:cNvPr id="1048709" name="Footer Placeholder 4"/>
          <p:cNvSpPr>
            <a:spLocks noGrp="1"/>
          </p:cNvSpPr>
          <p:nvPr>
            <p:ph type="ftr" sz="quarter" idx="11"/>
          </p:nvPr>
        </p:nvSpPr>
        <p:spPr/>
        <p:txBody>
          <a:bodyPr/>
          <a:p>
            <a:endParaRPr lang="en-GB"/>
          </a:p>
        </p:txBody>
      </p:sp>
      <p:sp>
        <p:nvSpPr>
          <p:cNvPr id="1048710" name="Slide Number Placeholder 5"/>
          <p:cNvSpPr>
            <a:spLocks noGrp="1"/>
          </p:cNvSpPr>
          <p:nvPr>
            <p:ph type="sldNum" sz="quarter" idx="12"/>
          </p:nvPr>
        </p:nvSpPr>
        <p:spPr/>
        <p:txBody>
          <a:bodyPr/>
          <a:p>
            <a:fld id="{A973DFB5-56DE-4545-8221-6068CE4EEF22}"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17" name=""/>
        <p:cNvGrpSpPr/>
        <p:nvPr/>
      </p:nvGrpSpPr>
      <p:grpSpPr>
        <a:xfrm>
          <a:off x="0" y="0"/>
          <a:ext cx="0" cy="0"/>
          <a:chOff x="0" y="0"/>
          <a:chExt cx="0" cy="0"/>
        </a:xfrm>
      </p:grpSpPr>
      <p:sp>
        <p:nvSpPr>
          <p:cNvPr id="1048695"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GB"/>
          </a:p>
        </p:txBody>
      </p:sp>
      <p:sp>
        <p:nvSpPr>
          <p:cNvPr id="1048696"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1048697" name="Date Placeholder 3"/>
          <p:cNvSpPr>
            <a:spLocks noGrp="1"/>
          </p:cNvSpPr>
          <p:nvPr>
            <p:ph type="dt" sz="half" idx="10"/>
          </p:nvPr>
        </p:nvSpPr>
        <p:spPr/>
        <p:txBody>
          <a:bodyPr/>
          <a:p>
            <a:fld id="{ACA5A064-694D-4F77-A24E-DD00AA1C5A80}" type="datetimeFigureOut">
              <a:rPr lang="en-GB"/>
            </a:fld>
            <a:endParaRPr lang="en-GB"/>
          </a:p>
        </p:txBody>
      </p:sp>
      <p:sp>
        <p:nvSpPr>
          <p:cNvPr id="1048698" name="Footer Placeholder 4"/>
          <p:cNvSpPr>
            <a:spLocks noGrp="1"/>
          </p:cNvSpPr>
          <p:nvPr>
            <p:ph type="ftr" sz="quarter" idx="11"/>
          </p:nvPr>
        </p:nvSpPr>
        <p:spPr/>
        <p:txBody>
          <a:bodyPr/>
          <a:p>
            <a:endParaRPr lang="en-GB"/>
          </a:p>
        </p:txBody>
      </p:sp>
      <p:sp>
        <p:nvSpPr>
          <p:cNvPr id="1048699" name="Slide Number Placeholder 5"/>
          <p:cNvSpPr>
            <a:spLocks noGrp="1"/>
          </p:cNvSpPr>
          <p:nvPr>
            <p:ph type="sldNum" sz="quarter" idx="12"/>
          </p:nvPr>
        </p:nvSpPr>
        <p:spPr/>
        <p:txBody>
          <a:bodyPr/>
          <a:p>
            <a:fld id="{E93F5BF8-6A5D-4639-B51F-7E30D2172982}"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bwMode="auto">
          <a:xfrm>
            <a:off x="457200" y="274638"/>
            <a:ext cx="8229600" cy="1143000"/>
          </a:xfrm>
          <a:prstGeom prst="rect"/>
          <a:noFill/>
          <a:ln>
            <a:noFill/>
          </a:ln>
        </p:spPr>
        <p:txBody>
          <a:bodyPr anchor="ctr" anchorCtr="0" bIns="45720" compatLnSpc="1" lIns="91440" numCol="1" rIns="91440" tIns="45720" vert="horz" wrap="square"/>
          <a:p>
            <a:pPr lvl="0"/>
            <a:r>
              <a:rPr lang="en-US" smtClean="0"/>
              <a:t>Click to edit Master title style</a:t>
            </a:r>
            <a:endParaRPr lang="en-GB" smtClean="0"/>
          </a:p>
        </p:txBody>
      </p:sp>
      <p:sp>
        <p:nvSpPr>
          <p:cNvPr id="1048577" name="Text Placeholder 2"/>
          <p:cNvSpPr>
            <a:spLocks noGrp="1"/>
          </p:cNvSpPr>
          <p:nvPr>
            <p:ph type="body" idx="1"/>
          </p:nvPr>
        </p:nvSpPr>
        <p:spPr bwMode="auto">
          <a:xfrm>
            <a:off x="457200" y="1600200"/>
            <a:ext cx="8229600" cy="4525963"/>
          </a:xfrm>
          <a:prstGeom prst="rect"/>
          <a:noFill/>
          <a:ln>
            <a:noFill/>
          </a:ln>
        </p:spPr>
        <p:txBody>
          <a:bodyPr anchor="t" anchorCtr="0" bIns="45720" compatLnSpc="1" lIns="91440" numCol="1" rIns="91440" tIns="45720" vert="horz" wrap="squar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smtClean="0"/>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fontAlgn="auto">
              <a:spcBef>
                <a:spcPts val="0"/>
              </a:spcBef>
              <a:spcAft>
                <a:spcPts val="0"/>
              </a:spcAft>
              <a:defRPr sz="1200">
                <a:solidFill>
                  <a:schemeClr val="tx1">
                    <a:tint val="75000"/>
                  </a:schemeClr>
                </a:solidFill>
                <a:latin typeface="+mn-lt"/>
                <a:cs typeface="+mn-cs"/>
              </a:defRPr>
            </a:lvl1pPr>
          </a:lstStyle>
          <a:p>
            <a:fld id="{E156FB7E-5B5D-49FA-9189-11C41F19D95C}" type="datetimeFigureOut">
              <a:rPr lang="en-GB"/>
            </a:fld>
            <a:endParaRPr lang="en-GB"/>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fontAlgn="auto">
              <a:spcBef>
                <a:spcPts val="0"/>
              </a:spcBef>
              <a:spcAft>
                <a:spcPts val="0"/>
              </a:spcAft>
              <a:defRPr sz="1200">
                <a:solidFill>
                  <a:schemeClr val="tx1">
                    <a:tint val="75000"/>
                  </a:schemeClr>
                </a:solidFill>
                <a:latin typeface="+mn-lt"/>
                <a:cs typeface="+mn-cs"/>
              </a:defRPr>
            </a:lvl1pPr>
          </a:lstStyle>
          <a:p>
            <a:endParaRPr lang="en-GB"/>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fontAlgn="auto">
              <a:spcBef>
                <a:spcPts val="0"/>
              </a:spcBef>
              <a:spcAft>
                <a:spcPts val="0"/>
              </a:spcAft>
              <a:defRPr sz="1200">
                <a:solidFill>
                  <a:schemeClr val="tx1">
                    <a:tint val="75000"/>
                  </a:schemeClr>
                </a:solidFill>
                <a:latin typeface="+mn-lt"/>
                <a:cs typeface="+mn-cs"/>
              </a:defRPr>
            </a:lvl1pPr>
          </a:lstStyle>
          <a:p>
            <a:fld id="{F60B6729-5073-4918-9FB5-3FB9CCF04998}" type="slidenum">
              <a:rPr lang="en-GB"/>
            </a:fld>
            <a:endParaRPr lang="en-GB"/>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eaLnBrk="0" fontAlgn="base" hangingPunct="0" rtl="0">
        <a:spcBef>
          <a:spcPct val="0"/>
        </a:spcBef>
        <a:spcAft>
          <a:spcPct val="0"/>
        </a:spcAft>
        <a:defRPr sz="4400" kern="1200">
          <a:solidFill>
            <a:schemeClr val="tx1"/>
          </a:solidFill>
          <a:latin typeface="+mj-lt"/>
          <a:ea typeface="+mj-ea"/>
          <a:cs typeface="+mj-cs"/>
        </a:defRPr>
      </a:lvl1pPr>
      <a:lvl2pPr algn="ctr" eaLnBrk="0" fontAlgn="base" hangingPunct="0" rtl="0">
        <a:spcBef>
          <a:spcPct val="0"/>
        </a:spcBef>
        <a:spcAft>
          <a:spcPct val="0"/>
        </a:spcAft>
        <a:defRPr sz="4400">
          <a:solidFill>
            <a:schemeClr val="tx1"/>
          </a:solidFill>
          <a:latin typeface="Calibri" panose="020F0502020204030204" pitchFamily="34" charset="0"/>
        </a:defRPr>
      </a:lvl2pPr>
      <a:lvl3pPr algn="ctr" eaLnBrk="0" fontAlgn="base" hangingPunct="0" rtl="0">
        <a:spcBef>
          <a:spcPct val="0"/>
        </a:spcBef>
        <a:spcAft>
          <a:spcPct val="0"/>
        </a:spcAft>
        <a:defRPr sz="4400">
          <a:solidFill>
            <a:schemeClr val="tx1"/>
          </a:solidFill>
          <a:latin typeface="Calibri" panose="020F0502020204030204" pitchFamily="34" charset="0"/>
        </a:defRPr>
      </a:lvl3pPr>
      <a:lvl4pPr algn="ctr" eaLnBrk="0" fontAlgn="base" hangingPunct="0" rtl="0">
        <a:spcBef>
          <a:spcPct val="0"/>
        </a:spcBef>
        <a:spcAft>
          <a:spcPct val="0"/>
        </a:spcAft>
        <a:defRPr sz="4400">
          <a:solidFill>
            <a:schemeClr val="tx1"/>
          </a:solidFill>
          <a:latin typeface="Calibri" panose="020F0502020204030204" pitchFamily="34" charset="0"/>
        </a:defRPr>
      </a:lvl4pPr>
      <a:lvl5pPr algn="ctr" eaLnBrk="0" fontAlgn="base" hangingPunct="0" rtl="0">
        <a:spcBef>
          <a:spcPct val="0"/>
        </a:spcBef>
        <a:spcAft>
          <a:spcPct val="0"/>
        </a:spcAft>
        <a:defRPr sz="4400">
          <a:solidFill>
            <a:schemeClr val="tx1"/>
          </a:solidFill>
          <a:latin typeface="Calibri" panose="020F0502020204030204" pitchFamily="34" charset="0"/>
        </a:defRPr>
      </a:lvl5pPr>
      <a:lvl6pPr algn="ctr" fontAlgn="base" marL="457200" rtl="0">
        <a:spcBef>
          <a:spcPct val="0"/>
        </a:spcBef>
        <a:spcAft>
          <a:spcPct val="0"/>
        </a:spcAft>
        <a:defRPr sz="4400">
          <a:solidFill>
            <a:schemeClr val="tx1"/>
          </a:solidFill>
          <a:latin typeface="Calibri" panose="020F0502020204030204" pitchFamily="34" charset="0"/>
        </a:defRPr>
      </a:lvl6pPr>
      <a:lvl7pPr algn="ctr" fontAlgn="base" marL="914400" rtl="0">
        <a:spcBef>
          <a:spcPct val="0"/>
        </a:spcBef>
        <a:spcAft>
          <a:spcPct val="0"/>
        </a:spcAft>
        <a:defRPr sz="4400">
          <a:solidFill>
            <a:schemeClr val="tx1"/>
          </a:solidFill>
          <a:latin typeface="Calibri" panose="020F0502020204030204" pitchFamily="34" charset="0"/>
        </a:defRPr>
      </a:lvl7pPr>
      <a:lvl8pPr algn="ctr" fontAlgn="base" marL="1371600" rtl="0">
        <a:spcBef>
          <a:spcPct val="0"/>
        </a:spcBef>
        <a:spcAft>
          <a:spcPct val="0"/>
        </a:spcAft>
        <a:defRPr sz="4400">
          <a:solidFill>
            <a:schemeClr val="tx1"/>
          </a:solidFill>
          <a:latin typeface="Calibri" panose="020F0502020204030204" pitchFamily="34" charset="0"/>
        </a:defRPr>
      </a:lvl8pPr>
      <a:lvl9pPr algn="ctr" fontAlgn="base" marL="1828800" rtl="0">
        <a:spcBef>
          <a:spcPct val="0"/>
        </a:spcBef>
        <a:spcAft>
          <a:spcPct val="0"/>
        </a:spcAft>
        <a:defRPr sz="4400">
          <a:solidFill>
            <a:schemeClr val="tx1"/>
          </a:solidFill>
          <a:latin typeface="Calibri" panose="020F0502020204030204" pitchFamily="34" charset="0"/>
        </a:defRPr>
      </a:lvl9pPr>
    </p:titleStyle>
    <p:bodyStyle>
      <a:lvl1pPr algn="l" eaLnBrk="0" fontAlgn="base" hangingPunct="0" indent="-342900" marL="342900" rtl="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algn="l" eaLnBrk="0" fontAlgn="base" hangingPunct="0" indent="-285750" marL="742950" rtl="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algn="l" eaLnBrk="0" fontAlgn="base" hangingPunct="0" indent="-228600" marL="1143000" rtl="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algn="l" eaLnBrk="0" fontAlgn="base" hangingPunct="0" indent="-228600" marL="1600200" rtl="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algn="l" eaLnBrk="0" fontAlgn="base" hangingPunct="0" indent="-228600" marL="2057400" rtl="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anose="020B0604020202020204"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anose="020B0604020202020204"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anose="020B0604020202020204"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le 1"/>
          <p:cNvSpPr>
            <a:spLocks noGrp="1"/>
          </p:cNvSpPr>
          <p:nvPr>
            <p:ph type="ctrTitle"/>
          </p:nvPr>
        </p:nvSpPr>
        <p:spPr>
          <a:xfrm>
            <a:off x="0" y="304800"/>
            <a:ext cx="9144000" cy="2260600"/>
          </a:xfrm>
        </p:spPr>
        <p:txBody>
          <a:bodyPr/>
          <a:p>
            <a:pPr eaLnBrk="1" hangingPunct="1"/>
            <a:r>
              <a:rPr dirty="0" sz="3600" lang="en-GB" smtClean="0">
                <a:latin typeface="Arial Black" panose="020B0A04020102020204" pitchFamily="34" charset="0"/>
              </a:rPr>
              <a:t>PROPERTY LAW PRACTICE</a:t>
            </a:r>
            <a:br>
              <a:rPr dirty="0" sz="3600" lang="en-GB" smtClean="0">
                <a:latin typeface="Arial Black" panose="020B0A04020102020204" pitchFamily="34" charset="0"/>
              </a:rPr>
            </a:br>
            <a:br>
              <a:rPr dirty="0" sz="3600" lang="en-GB" smtClean="0">
                <a:latin typeface="Arial Black" panose="020B0A04020102020204" pitchFamily="34" charset="0"/>
              </a:rPr>
            </a:br>
            <a:endParaRPr dirty="0" sz="3600" lang="en-GB" smtClean="0">
              <a:latin typeface="Arial Black" panose="020B0A04020102020204" pitchFamily="34" charset="0"/>
            </a:endParaRPr>
          </a:p>
        </p:txBody>
      </p:sp>
      <p:sp>
        <p:nvSpPr>
          <p:cNvPr id="1048587" name="Subtitle 2"/>
          <p:cNvSpPr>
            <a:spLocks noGrp="1"/>
          </p:cNvSpPr>
          <p:nvPr>
            <p:ph type="subTitle" idx="1"/>
          </p:nvPr>
        </p:nvSpPr>
        <p:spPr>
          <a:xfrm>
            <a:off x="323850" y="3886200"/>
            <a:ext cx="8496300" cy="2492620"/>
          </a:xfrm>
        </p:spPr>
        <p:txBody>
          <a:bodyPr/>
          <a:p>
            <a:pPr eaLnBrk="1" hangingPunct="1"/>
            <a:r>
              <a:rPr dirty="0" sz="6600" lang="en-GB" smtClean="0">
                <a:solidFill>
                  <a:schemeClr val="tx1"/>
                </a:solidFill>
                <a:latin typeface="Arial Black" panose="020B0A04020102020204" pitchFamily="34" charset="0"/>
              </a:rPr>
              <a:t>LEASES </a:t>
            </a:r>
            <a:r>
              <a:rPr dirty="0" sz="6600" lang="en-GB" smtClean="0">
                <a:solidFill>
                  <a:schemeClr val="tx1"/>
                </a:solidFill>
                <a:latin typeface="Arial Black" panose="020B0A04020102020204" pitchFamily="34" charset="0"/>
              </a:rPr>
              <a:t> (PART 2)</a:t>
            </a:r>
            <a:endParaRPr dirty="0" sz="6600" lang="en-GB" smtClean="0">
              <a:solidFill>
                <a:schemeClr val="tx1"/>
              </a:solidFill>
              <a:latin typeface="Arial Black" panose="020B0A04020102020204" pitchFamily="34" charset="0"/>
            </a:endParaRPr>
          </a:p>
          <a:p>
            <a:pPr eaLnBrk="1" hangingPunct="1"/>
            <a:endParaRPr dirty="0" sz="3200" lang="en-GB" smtClean="0">
              <a:solidFill>
                <a:schemeClr val="tx1"/>
              </a:solidFill>
              <a:latin typeface="Arial Black" panose="020B0A04020102020204" pitchFamily="34" charset="0"/>
            </a:endParaRPr>
          </a:p>
          <a:p>
            <a:pPr eaLnBrk="1" hangingPunct="1"/>
            <a:r>
              <a:rPr dirty="0" sz="3200" lang="en-US" smtClean="0">
                <a:solidFill>
                  <a:schemeClr val="tx1"/>
                </a:solidFill>
                <a:latin typeface="Arial Black" panose="020B0A04020102020204" pitchFamily="34" charset="0"/>
              </a:rPr>
              <a:t>B</a:t>
            </a:r>
            <a:r>
              <a:rPr dirty="0" sz="3200" lang="en-US" smtClean="0">
                <a:solidFill>
                  <a:schemeClr val="tx1"/>
                </a:solidFill>
                <a:latin typeface="Arial Black" panose="020B0A04020102020204" pitchFamily="34" charset="0"/>
              </a:rPr>
              <a:t>y</a:t>
            </a:r>
            <a:r>
              <a:rPr dirty="0" sz="3200" lang="en-US" smtClean="0">
                <a:solidFill>
                  <a:schemeClr val="tx1"/>
                </a:solidFill>
                <a:latin typeface="Arial Black" panose="020B0A04020102020204" pitchFamily="34" charset="0"/>
              </a:rPr>
              <a:t> </a:t>
            </a:r>
            <a:r>
              <a:rPr dirty="0" sz="3200" lang="en-US" smtClean="0">
                <a:solidFill>
                  <a:schemeClr val="tx1"/>
                </a:solidFill>
                <a:latin typeface="Arial Black" panose="020B0A04020102020204" pitchFamily="34" charset="0"/>
              </a:rPr>
              <a:t>S</a:t>
            </a:r>
            <a:r>
              <a:rPr dirty="0" sz="3200" lang="en-US" smtClean="0">
                <a:solidFill>
                  <a:schemeClr val="tx1"/>
                </a:solidFill>
                <a:latin typeface="Arial Black" panose="020B0A04020102020204" pitchFamily="34" charset="0"/>
              </a:rPr>
              <a:t>y</a:t>
            </a:r>
            <a:r>
              <a:rPr dirty="0" sz="3200" lang="en-US" smtClean="0">
                <a:solidFill>
                  <a:schemeClr val="tx1"/>
                </a:solidFill>
                <a:latin typeface="Arial Black" panose="020B0A04020102020204" pitchFamily="34" charset="0"/>
              </a:rPr>
              <a:t>l</a:t>
            </a:r>
            <a:r>
              <a:rPr dirty="0" sz="3200" lang="en-US" smtClean="0">
                <a:solidFill>
                  <a:schemeClr val="tx1"/>
                </a:solidFill>
                <a:latin typeface="Arial Black" panose="020B0A04020102020204" pitchFamily="34" charset="0"/>
              </a:rPr>
              <a:t>v</a:t>
            </a:r>
            <a:r>
              <a:rPr dirty="0" sz="3200" lang="en-US" smtClean="0">
                <a:solidFill>
                  <a:schemeClr val="tx1"/>
                </a:solidFill>
                <a:latin typeface="Arial Black" panose="020B0A04020102020204" pitchFamily="34" charset="0"/>
              </a:rPr>
              <a:t>e</a:t>
            </a:r>
            <a:r>
              <a:rPr dirty="0" sz="3200" lang="en-US" smtClean="0">
                <a:solidFill>
                  <a:schemeClr val="tx1"/>
                </a:solidFill>
                <a:latin typeface="Arial Black" panose="020B0A04020102020204" pitchFamily="34" charset="0"/>
              </a:rPr>
              <a:t>s</a:t>
            </a:r>
            <a:r>
              <a:rPr dirty="0" sz="3200" lang="en-US" smtClean="0">
                <a:solidFill>
                  <a:schemeClr val="tx1"/>
                </a:solidFill>
                <a:latin typeface="Arial Black" panose="020B0A04020102020204" pitchFamily="34" charset="0"/>
              </a:rPr>
              <a:t>ter</a:t>
            </a:r>
            <a:r>
              <a:rPr dirty="0" sz="3200" lang="en-US" smtClean="0">
                <a:solidFill>
                  <a:schemeClr val="tx1"/>
                </a:solidFill>
                <a:latin typeface="Arial Black" panose="020B0A04020102020204" pitchFamily="34" charset="0"/>
              </a:rPr>
              <a:t> </a:t>
            </a:r>
            <a:r>
              <a:rPr dirty="0" sz="3200" lang="en-US" smtClean="0">
                <a:solidFill>
                  <a:schemeClr val="tx1"/>
                </a:solidFill>
                <a:latin typeface="Arial Black" panose="020B0A04020102020204" pitchFamily="34" charset="0"/>
              </a:rPr>
              <a:t>U</a:t>
            </a:r>
            <a:r>
              <a:rPr dirty="0" sz="3200" lang="en-US" smtClean="0">
                <a:solidFill>
                  <a:schemeClr val="tx1"/>
                </a:solidFill>
                <a:latin typeface="Arial Black" panose="020B0A04020102020204" pitchFamily="34" charset="0"/>
              </a:rPr>
              <a:t>d</a:t>
            </a:r>
            <a:r>
              <a:rPr dirty="0" sz="3200" lang="en-US" smtClean="0">
                <a:solidFill>
                  <a:schemeClr val="tx1"/>
                </a:solidFill>
                <a:latin typeface="Arial Black" panose="020B0A04020102020204" pitchFamily="34" charset="0"/>
              </a:rPr>
              <a:t>e</a:t>
            </a:r>
            <a:r>
              <a:rPr dirty="0" sz="3200" lang="en-US" smtClean="0">
                <a:solidFill>
                  <a:schemeClr val="tx1"/>
                </a:solidFill>
                <a:latin typeface="Arial Black" panose="020B0A04020102020204" pitchFamily="34" charset="0"/>
              </a:rPr>
              <a:t>mezue</a:t>
            </a:r>
            <a:endParaRPr dirty="0" sz="3200" lang="en-GB" smtClean="0">
              <a:solidFill>
                <a:schemeClr val="tx1"/>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593" name="Title 1"/>
          <p:cNvSpPr>
            <a:spLocks noGrp="1"/>
          </p:cNvSpPr>
          <p:nvPr>
            <p:ph type="title"/>
          </p:nvPr>
        </p:nvSpPr>
        <p:spPr>
          <a:xfrm>
            <a:off x="-180975" y="274638"/>
            <a:ext cx="9612313" cy="1143000"/>
          </a:xfrm>
        </p:spPr>
        <p:txBody>
          <a:bodyPr/>
          <a:p>
            <a:pPr eaLnBrk="1" hangingPunct="1"/>
            <a:r>
              <a:rPr b="1" lang="en-GB" smtClean="0">
                <a:latin typeface="Bookman Old Style" panose="02050604050505020204" pitchFamily="18" charset="0"/>
              </a:rPr>
              <a:t>CONTENTS</a:t>
            </a:r>
            <a:endParaRPr b="1" lang="en-GB" smtClean="0">
              <a:latin typeface="Bookman Old Style" panose="02050604050505020204" pitchFamily="18" charset="0"/>
            </a:endParaRPr>
          </a:p>
        </p:txBody>
      </p:sp>
      <p:sp>
        <p:nvSpPr>
          <p:cNvPr id="1048594" name="Content Placeholder 2"/>
          <p:cNvSpPr>
            <a:spLocks noGrp="1"/>
          </p:cNvSpPr>
          <p:nvPr>
            <p:ph idx="1"/>
          </p:nvPr>
        </p:nvSpPr>
        <p:spPr>
          <a:xfrm>
            <a:off x="349250" y="1412875"/>
            <a:ext cx="8686800" cy="5184775"/>
          </a:xfrm>
        </p:spPr>
        <p:txBody>
          <a:bodyPr/>
          <a:p>
            <a:r>
              <a:rPr sz="3600" lang="en-US" smtClean="0"/>
              <a:t>Covenants in leases --- reflecting the positions in Abuja and Lagos State</a:t>
            </a:r>
            <a:endParaRPr sz="3600" lang="en-GB" smtClean="0"/>
          </a:p>
          <a:p>
            <a:r>
              <a:rPr sz="3600" lang="en-US" smtClean="0"/>
              <a:t>Determination of a lease</a:t>
            </a:r>
            <a:endParaRPr sz="3600" lang="en-GB" smtClean="0"/>
          </a:p>
          <a:p>
            <a:r>
              <a:rPr sz="3600" lang="en-US" smtClean="0"/>
              <a:t>Information required to prepare a lease</a:t>
            </a:r>
            <a:endParaRPr sz="3600" lang="en-GB" smtClean="0"/>
          </a:p>
          <a:p>
            <a:r>
              <a:rPr sz="3600" lang="en-US" smtClean="0"/>
              <a:t>Drafting a lease</a:t>
            </a:r>
            <a:endParaRPr sz="3600" lang="en-GB" smtClean="0"/>
          </a:p>
          <a:p>
            <a:r>
              <a:rPr sz="3600" lang="en-GB" smtClean="0"/>
              <a:t>Ethical issues</a:t>
            </a:r>
            <a:endParaRPr sz="3600" lang="en-US" smtClean="0">
              <a:latin typeface="Arial" panose="020B0604020202020204" pitchFamily="34" charset="0"/>
              <a:ea typeface="Tahoma" panose="020B060403050404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595" name="Title 1"/>
          <p:cNvSpPr>
            <a:spLocks noGrp="1"/>
          </p:cNvSpPr>
          <p:nvPr>
            <p:ph type="title"/>
          </p:nvPr>
        </p:nvSpPr>
        <p:spPr/>
        <p:txBody>
          <a:bodyPr/>
          <a:p>
            <a:r>
              <a:rPr b="1" sz="4000" lang="en-GB" smtClean="0"/>
              <a:t>COVENANTS, CONDITIONS, PROVISOS &amp; OPTIONS</a:t>
            </a:r>
            <a:endParaRPr b="1" sz="4000" lang="en-GB" smtClean="0"/>
          </a:p>
        </p:txBody>
      </p:sp>
      <p:sp>
        <p:nvSpPr>
          <p:cNvPr id="1048596" name="Content Placeholder 2"/>
          <p:cNvSpPr>
            <a:spLocks noGrp="1"/>
          </p:cNvSpPr>
          <p:nvPr>
            <p:ph idx="1"/>
          </p:nvPr>
        </p:nvSpPr>
        <p:spPr/>
        <p:txBody>
          <a:bodyPr/>
          <a:p>
            <a:r>
              <a:rPr b="1" dirty="0" sz="3600" lang="en-GB" smtClean="0"/>
              <a:t>Covenants </a:t>
            </a:r>
            <a:r>
              <a:rPr dirty="0" sz="2800" lang="en-GB" smtClean="0"/>
              <a:t>--- obligation of a party to a lease. Note the remedies for breach of a covenant: damages, injunctions, specific performance, </a:t>
            </a:r>
            <a:r>
              <a:rPr dirty="0" sz="2800" lang="en-GB" err="1" smtClean="0"/>
              <a:t>etc</a:t>
            </a:r>
            <a:endParaRPr dirty="0" sz="2800" lang="en-GB" smtClean="0"/>
          </a:p>
          <a:p>
            <a:r>
              <a:rPr b="1" dirty="0" sz="3600" lang="en-GB" smtClean="0"/>
              <a:t>Proviso</a:t>
            </a:r>
            <a:r>
              <a:rPr dirty="0" sz="2800" lang="en-GB" smtClean="0"/>
              <a:t> ---  a stipulation that the lease may be determined before the actual date of expiration</a:t>
            </a:r>
            <a:endParaRPr dirty="0" sz="2800" lang="en-GB" smtClean="0"/>
          </a:p>
          <a:p>
            <a:r>
              <a:rPr b="1" dirty="0" sz="3600" lang="en-GB" smtClean="0"/>
              <a:t>Option</a:t>
            </a:r>
            <a:r>
              <a:rPr b="1" dirty="0" sz="2800" lang="en-GB" smtClean="0"/>
              <a:t> – </a:t>
            </a:r>
            <a:endParaRPr b="1" dirty="0" sz="2800" lang="en-GB" smtClean="0"/>
          </a:p>
          <a:p>
            <a:r>
              <a:rPr b="1" dirty="0" lang="en-GB" smtClean="0"/>
              <a:t>Condition (precedent) – </a:t>
            </a:r>
            <a:r>
              <a:rPr dirty="0" lang="en-GB" smtClean="0"/>
              <a:t>Note the remedy or breach of a condition: right to terminate</a:t>
            </a:r>
            <a:endParaRPr b="1" dirty="0" lang="en-GB" smtClean="0"/>
          </a:p>
          <a:p>
            <a:endParaRPr dirty="0" sz="2800" lang="en-GB" smtClean="0"/>
          </a:p>
          <a:p>
            <a:pPr indent="0" marL="0">
              <a:buFont typeface="Arial" panose="020B0604020202020204" pitchFamily="34" charset="0"/>
              <a:buNone/>
            </a:pPr>
            <a:endParaRPr dirty="0" sz="2800"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597" name="Title 1"/>
          <p:cNvSpPr>
            <a:spLocks noGrp="1"/>
          </p:cNvSpPr>
          <p:nvPr>
            <p:ph type="title"/>
          </p:nvPr>
        </p:nvSpPr>
        <p:spPr/>
        <p:txBody>
          <a:bodyPr/>
          <a:p>
            <a:r>
              <a:rPr b="1" sz="4800" lang="en-GB" smtClean="0"/>
              <a:t>COVENANTS IN A LEASE</a:t>
            </a:r>
            <a:endParaRPr b="1" sz="4800" lang="en-GB" smtClean="0"/>
          </a:p>
        </p:txBody>
      </p:sp>
      <p:sp>
        <p:nvSpPr>
          <p:cNvPr id="1048598" name="Content Placeholder 2"/>
          <p:cNvSpPr>
            <a:spLocks noGrp="1"/>
          </p:cNvSpPr>
          <p:nvPr>
            <p:ph idx="1"/>
          </p:nvPr>
        </p:nvSpPr>
        <p:spPr>
          <a:xfrm>
            <a:off x="179388" y="1600200"/>
            <a:ext cx="8713787" cy="4525963"/>
          </a:xfrm>
        </p:spPr>
        <p:txBody>
          <a:bodyPr/>
          <a:p>
            <a:pPr>
              <a:buFont typeface="Wingdings" panose="05000000000000000000" pitchFamily="2" charset="2"/>
              <a:buChar char="§"/>
            </a:pPr>
            <a:r>
              <a:rPr sz="4800" lang="en-GB" smtClean="0"/>
              <a:t>EXPRESS COVENANTS</a:t>
            </a:r>
            <a:endParaRPr sz="4800" lang="en-GB" smtClean="0"/>
          </a:p>
          <a:p>
            <a:pPr>
              <a:buFont typeface="Wingdings" panose="05000000000000000000" pitchFamily="2" charset="2"/>
              <a:buChar char="§"/>
            </a:pPr>
            <a:r>
              <a:rPr sz="4800" lang="en-GB" smtClean="0"/>
              <a:t>IMPLIED COVENANTS</a:t>
            </a:r>
            <a:endParaRPr sz="4800" lang="en-GB" smtClean="0"/>
          </a:p>
          <a:p>
            <a:pPr>
              <a:buFont typeface="Wingdings" panose="05000000000000000000" pitchFamily="2" charset="2"/>
              <a:buChar char="§"/>
            </a:pPr>
            <a:r>
              <a:rPr sz="4800" lang="en-GB" smtClean="0"/>
              <a:t>USUAL COVENANTS</a:t>
            </a:r>
            <a:endParaRPr sz="4800" lang="en-GB" smtClean="0"/>
          </a:p>
          <a:p>
            <a:pPr>
              <a:buFont typeface="Wingdings" panose="05000000000000000000" pitchFamily="2" charset="2"/>
              <a:buChar char="§"/>
            </a:pPr>
            <a:endParaRPr sz="4800" lang="en-GB" smtClean="0"/>
          </a:p>
          <a:p>
            <a:pPr>
              <a:buFont typeface="Wingdings" panose="05000000000000000000" pitchFamily="2" charset="2"/>
              <a:buChar char="§"/>
            </a:pPr>
            <a:endParaRPr sz="4800" lang="en-GB"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599" name="Title 1"/>
          <p:cNvSpPr>
            <a:spLocks noGrp="1"/>
          </p:cNvSpPr>
          <p:nvPr>
            <p:ph type="title"/>
          </p:nvPr>
        </p:nvSpPr>
        <p:spPr/>
        <p:txBody>
          <a:bodyPr/>
          <a:p>
            <a:r>
              <a:rPr b="1" sz="4800" lang="en-GB" smtClean="0"/>
              <a:t>EXPRESS COVENANTS</a:t>
            </a:r>
            <a:endParaRPr b="1" sz="4800" lang="en-GB" smtClean="0"/>
          </a:p>
        </p:txBody>
      </p:sp>
      <p:sp>
        <p:nvSpPr>
          <p:cNvPr id="1048600" name="Content Placeholder 2"/>
          <p:cNvSpPr>
            <a:spLocks noGrp="1"/>
          </p:cNvSpPr>
          <p:nvPr>
            <p:ph idx="1"/>
          </p:nvPr>
        </p:nvSpPr>
        <p:spPr>
          <a:xfrm>
            <a:off x="457200" y="1268413"/>
            <a:ext cx="8229600" cy="5256212"/>
          </a:xfrm>
        </p:spPr>
        <p:txBody>
          <a:bodyPr/>
          <a:p>
            <a:r>
              <a:rPr sz="3600" lang="en-GB" smtClean="0"/>
              <a:t>Covenant to pay rates &amp; taxes</a:t>
            </a:r>
            <a:endParaRPr sz="3600" lang="en-GB" smtClean="0"/>
          </a:p>
          <a:p>
            <a:r>
              <a:rPr sz="3600" lang="en-GB" smtClean="0"/>
              <a:t>Covenant to insure</a:t>
            </a:r>
            <a:endParaRPr sz="3600" lang="en-GB" smtClean="0"/>
          </a:p>
          <a:p>
            <a:r>
              <a:rPr sz="3600" lang="en-GB" smtClean="0"/>
              <a:t>Covenant against assignment</a:t>
            </a:r>
            <a:endParaRPr sz="3600" lang="en-GB" smtClean="0"/>
          </a:p>
          <a:p>
            <a:r>
              <a:rPr sz="3600" lang="en-GB" smtClean="0"/>
              <a:t>Covenant to repair</a:t>
            </a:r>
            <a:endParaRPr sz="3600" lang="en-GB" smtClean="0"/>
          </a:p>
          <a:p>
            <a:r>
              <a:rPr sz="3600" lang="en-GB" smtClean="0"/>
              <a:t>Covenant against alteration</a:t>
            </a:r>
            <a:endParaRPr sz="3600" lang="en-GB" smtClean="0"/>
          </a:p>
          <a:p>
            <a:r>
              <a:rPr sz="3600" lang="en-GB" smtClean="0"/>
              <a:t>User covenant</a:t>
            </a:r>
            <a:endParaRPr sz="3600" lang="en-GB" smtClean="0"/>
          </a:p>
          <a:p>
            <a:r>
              <a:rPr sz="3600" lang="en-GB" smtClean="0"/>
              <a:t>Option to renew</a:t>
            </a:r>
            <a:endParaRPr sz="3600" lang="en-GB" smtClean="0"/>
          </a:p>
          <a:p>
            <a:r>
              <a:rPr sz="3600" lang="en-GB" smtClean="0"/>
              <a:t>Rent review covenant</a:t>
            </a:r>
            <a:endParaRPr sz="3600" lang="en-GB" smtClean="0"/>
          </a:p>
          <a:p>
            <a:endParaRPr sz="3600" lang="en-GB"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01" name="Title 1"/>
          <p:cNvSpPr>
            <a:spLocks noGrp="1"/>
          </p:cNvSpPr>
          <p:nvPr>
            <p:ph type="title"/>
          </p:nvPr>
        </p:nvSpPr>
        <p:spPr/>
        <p:txBody>
          <a:bodyPr/>
          <a:p>
            <a:r>
              <a:rPr b="1" lang="en-GB" smtClean="0"/>
              <a:t>TO PAY RATES &amp; TAXES</a:t>
            </a:r>
            <a:endParaRPr b="1" lang="en-GB" smtClean="0"/>
          </a:p>
        </p:txBody>
      </p:sp>
      <p:sp>
        <p:nvSpPr>
          <p:cNvPr id="1048602" name="Content Placeholder 2"/>
          <p:cNvSpPr>
            <a:spLocks noGrp="1"/>
          </p:cNvSpPr>
          <p:nvPr>
            <p:ph idx="1"/>
          </p:nvPr>
        </p:nvSpPr>
        <p:spPr/>
        <p:txBody>
          <a:bodyPr/>
          <a:p>
            <a:r>
              <a:rPr sz="3000" lang="en-GB" smtClean="0"/>
              <a:t>Occupier liable to pay in the absence of agreement or statutory provision to the contrary</a:t>
            </a:r>
            <a:endParaRPr sz="3000" lang="en-GB" smtClean="0"/>
          </a:p>
          <a:p>
            <a:r>
              <a:rPr sz="3000" lang="en-GB" smtClean="0"/>
              <a:t>Party who covenants to pay  existing rates is not bound to pay new ones except of the same nature as the earlier ones; whether the new rate is an occupier’s or owner’s rate</a:t>
            </a:r>
            <a:endParaRPr sz="3000" lang="en-GB" smtClean="0"/>
          </a:p>
          <a:p>
            <a:r>
              <a:rPr sz="3000" lang="en-GB" smtClean="0"/>
              <a:t>Manner of draft determines extent of obligation on party</a:t>
            </a:r>
            <a:endParaRPr sz="3000" lang="en-GB"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03" name="Title 1"/>
          <p:cNvSpPr>
            <a:spLocks noGrp="1"/>
          </p:cNvSpPr>
          <p:nvPr>
            <p:ph type="title"/>
          </p:nvPr>
        </p:nvSpPr>
        <p:spPr>
          <a:xfrm>
            <a:off x="457200" y="-100013"/>
            <a:ext cx="8229600" cy="1143001"/>
          </a:xfrm>
        </p:spPr>
        <p:txBody>
          <a:bodyPr/>
          <a:p>
            <a:r>
              <a:rPr b="1" sz="3600" lang="en-GB" smtClean="0"/>
              <a:t>CONSIDER THE FOLLOWING DRAFTS</a:t>
            </a:r>
            <a:endParaRPr b="1" sz="3600" lang="en-GB" smtClean="0"/>
          </a:p>
        </p:txBody>
      </p:sp>
      <p:sp>
        <p:nvSpPr>
          <p:cNvPr id="1048604" name="Content Placeholder 2"/>
          <p:cNvSpPr>
            <a:spLocks noGrp="1"/>
          </p:cNvSpPr>
          <p:nvPr>
            <p:ph idx="1"/>
          </p:nvPr>
        </p:nvSpPr>
        <p:spPr>
          <a:xfrm>
            <a:off x="179388" y="1196975"/>
            <a:ext cx="8713787" cy="6192838"/>
          </a:xfrm>
        </p:spPr>
        <p:txBody>
          <a:bodyPr/>
          <a:p>
            <a:pPr indent="-514350" marL="514350">
              <a:buFont typeface="Arial" panose="020B0604020202020204" pitchFamily="34" charset="0"/>
              <a:buAutoNum type="arabicParenR"/>
            </a:pPr>
            <a:r>
              <a:rPr dirty="0" sz="3000" lang="en-GB" smtClean="0"/>
              <a:t>“To pay all existing rates, taxes and other 	outgoings in respect of the demised premises.”</a:t>
            </a:r>
            <a:endParaRPr dirty="0" sz="3000" lang="en-GB" smtClean="0"/>
          </a:p>
          <a:p>
            <a:pPr indent="-514350" marL="514350">
              <a:buFont typeface="Arial" panose="020B0604020202020204" pitchFamily="34" charset="0"/>
              <a:buAutoNum type="arabicParenR"/>
            </a:pPr>
            <a:r>
              <a:rPr dirty="0" sz="3000" lang="en-GB" smtClean="0"/>
              <a:t>“To pay all existing rates, taxes and other outgoings in respect of the demised premises, payable now or as may be imposed subsequently.”</a:t>
            </a:r>
            <a:endParaRPr dirty="0" sz="3000" lang="en-GB" smtClean="0"/>
          </a:p>
          <a:p>
            <a:pPr indent="-514350" marL="514350">
              <a:buFont typeface="Arial" panose="020B0604020202020204" pitchFamily="34" charset="0"/>
              <a:buAutoNum type="arabicParenR"/>
            </a:pPr>
            <a:r>
              <a:rPr dirty="0" sz="3000" lang="en-GB" smtClean="0"/>
              <a:t>“To pay all existing rates, taxes and other outgoings in respect of the demised premises , payable now or as may be imposed subsequently, whether payable by the owner or occupier.”</a:t>
            </a:r>
            <a:endParaRPr dirty="0" sz="3000" lang="en-GB" smtClean="0"/>
          </a:p>
          <a:p>
            <a:endParaRPr dirty="0" sz="3000" lang="en-GB" smtClean="0"/>
          </a:p>
          <a:p>
            <a:endParaRPr dirty="0" sz="3000"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05" name="Title 1"/>
          <p:cNvSpPr>
            <a:spLocks noGrp="1"/>
          </p:cNvSpPr>
          <p:nvPr>
            <p:ph type="title"/>
          </p:nvPr>
        </p:nvSpPr>
        <p:spPr>
          <a:xfrm>
            <a:off x="457200" y="44450"/>
            <a:ext cx="8229600" cy="868363"/>
          </a:xfrm>
        </p:spPr>
        <p:txBody>
          <a:bodyPr/>
          <a:p>
            <a:r>
              <a:rPr b="1" lang="en-GB" smtClean="0"/>
              <a:t>COVENANT TO INSURE</a:t>
            </a:r>
            <a:endParaRPr b="1" lang="en-GB" smtClean="0"/>
          </a:p>
        </p:txBody>
      </p:sp>
      <p:sp>
        <p:nvSpPr>
          <p:cNvPr id="1048606" name="Content Placeholder 2"/>
          <p:cNvSpPr>
            <a:spLocks noGrp="1"/>
          </p:cNvSpPr>
          <p:nvPr>
            <p:ph idx="1"/>
          </p:nvPr>
        </p:nvSpPr>
        <p:spPr>
          <a:xfrm>
            <a:off x="349250" y="981075"/>
            <a:ext cx="8686800" cy="5429250"/>
          </a:xfrm>
        </p:spPr>
        <p:txBody>
          <a:bodyPr/>
          <a:p>
            <a:r>
              <a:rPr b="1" sz="2900" lang="en-GB" smtClean="0"/>
              <a:t>CONTENTS OF A STANDARD COVENANT TO INSURE:</a:t>
            </a:r>
            <a:endParaRPr b="1" sz="2900" lang="en-GB" smtClean="0"/>
          </a:p>
          <a:p>
            <a:pPr lvl="1"/>
            <a:r>
              <a:rPr sz="2900" lang="en-GB" smtClean="0"/>
              <a:t>Who to insure –But see s. 65 (c) of Registered Land Law, Cap 114, Lagos</a:t>
            </a:r>
            <a:endParaRPr sz="2900" lang="en-GB" smtClean="0"/>
          </a:p>
          <a:p>
            <a:pPr lvl="1"/>
            <a:r>
              <a:rPr sz="2900" lang="en-GB" smtClean="0"/>
              <a:t>Risk to insure against</a:t>
            </a:r>
            <a:endParaRPr sz="2900" lang="en-GB" smtClean="0"/>
          </a:p>
          <a:p>
            <a:pPr lvl="1"/>
            <a:r>
              <a:rPr sz="2900" lang="en-GB" smtClean="0"/>
              <a:t>Amount of cover</a:t>
            </a:r>
            <a:endParaRPr sz="2900" lang="en-GB" smtClean="0"/>
          </a:p>
          <a:p>
            <a:pPr lvl="1"/>
            <a:r>
              <a:rPr sz="2900" lang="en-GB" smtClean="0"/>
              <a:t>Name of insurance company</a:t>
            </a:r>
            <a:endParaRPr sz="2900" lang="en-GB" smtClean="0"/>
          </a:p>
          <a:p>
            <a:pPr lvl="1"/>
            <a:r>
              <a:rPr sz="2900" lang="en-GB" smtClean="0"/>
              <a:t>Application of insurance money/proceeds – see </a:t>
            </a:r>
            <a:r>
              <a:rPr b="1" sz="2900" lang="en-GB" smtClean="0"/>
              <a:t>Beacon Carpets v Kirby (1984) 2 All ER 726</a:t>
            </a:r>
            <a:endParaRPr sz="2900" lang="en-GB" smtClean="0"/>
          </a:p>
          <a:p>
            <a:pPr lvl="1"/>
            <a:r>
              <a:rPr sz="2900" lang="en-GB" smtClean="0"/>
              <a:t>Proviso for abatement of rent during reinstatement period – does not apply if not expressly provided for: </a:t>
            </a:r>
            <a:r>
              <a:rPr b="1" sz="2900" lang="en-GB" smtClean="0"/>
              <a:t>National Carriers v Panalpina (1981)All ER 161</a:t>
            </a:r>
            <a:endParaRPr sz="2900" lang="en-GB"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07" name="Title 1"/>
          <p:cNvSpPr>
            <a:spLocks noGrp="1"/>
          </p:cNvSpPr>
          <p:nvPr>
            <p:ph type="title"/>
          </p:nvPr>
        </p:nvSpPr>
        <p:spPr/>
        <p:txBody>
          <a:bodyPr/>
          <a:p>
            <a:r>
              <a:rPr b="1" sz="3600" lang="en-GB" smtClean="0"/>
              <a:t>FACTORS TO CONSIDER IN DETERMINING WHO TO INSURE</a:t>
            </a:r>
            <a:endParaRPr b="1" sz="3600" lang="en-GB" smtClean="0"/>
          </a:p>
        </p:txBody>
      </p:sp>
      <p:sp>
        <p:nvSpPr>
          <p:cNvPr id="1048608" name="Content Placeholder 2"/>
          <p:cNvSpPr>
            <a:spLocks noGrp="1"/>
          </p:cNvSpPr>
          <p:nvPr>
            <p:ph idx="1"/>
          </p:nvPr>
        </p:nvSpPr>
        <p:spPr/>
        <p:txBody>
          <a:bodyPr/>
          <a:p>
            <a:r>
              <a:rPr sz="3600" lang="en-GB" smtClean="0"/>
              <a:t>Nature of premises</a:t>
            </a:r>
            <a:endParaRPr sz="3600" lang="en-GB" smtClean="0"/>
          </a:p>
          <a:p>
            <a:r>
              <a:rPr sz="3600" lang="en-GB" smtClean="0"/>
              <a:t>Existing obligations</a:t>
            </a:r>
            <a:endParaRPr sz="3600" lang="en-GB" smtClean="0"/>
          </a:p>
          <a:p>
            <a:r>
              <a:rPr sz="3600" lang="en-GB" smtClean="0"/>
              <a:t>Nature of the User</a:t>
            </a:r>
            <a:endParaRPr sz="3600" lang="en-GB" smtClean="0"/>
          </a:p>
          <a:p>
            <a:r>
              <a:rPr sz="3600" lang="en-GB" smtClean="0"/>
              <a:t>Landlord occupying part of property</a:t>
            </a:r>
            <a:endParaRPr sz="3600" lang="en-GB" smtClean="0"/>
          </a:p>
          <a:p>
            <a:r>
              <a:rPr sz="3600" lang="en-GB" smtClean="0"/>
              <a:t>Other provisions of the lease</a:t>
            </a:r>
            <a:endParaRPr sz="3600" lang="en-GB" smtClean="0"/>
          </a:p>
          <a:p>
            <a:endParaRPr sz="3600" lang="en-GB" smtClean="0"/>
          </a:p>
          <a:p>
            <a:endParaRPr sz="3600" lang="en-GB"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09" name="Title 1"/>
          <p:cNvSpPr>
            <a:spLocks noGrp="1"/>
          </p:cNvSpPr>
          <p:nvPr>
            <p:ph type="title"/>
          </p:nvPr>
        </p:nvSpPr>
        <p:spPr/>
        <p:txBody>
          <a:bodyPr/>
          <a:p>
            <a:r>
              <a:rPr b="1" lang="en-GB" smtClean="0"/>
              <a:t>Covenant Against Assignment</a:t>
            </a:r>
            <a:endParaRPr b="1" lang="en-GB" smtClean="0"/>
          </a:p>
        </p:txBody>
      </p:sp>
      <p:sp>
        <p:nvSpPr>
          <p:cNvPr id="1048610" name="Content Placeholder 2"/>
          <p:cNvSpPr>
            <a:spLocks noGrp="1"/>
          </p:cNvSpPr>
          <p:nvPr>
            <p:ph idx="1"/>
          </p:nvPr>
        </p:nvSpPr>
        <p:spPr/>
        <p:txBody>
          <a:bodyPr/>
          <a:p>
            <a:r>
              <a:rPr dirty="0" lang="en-GB" smtClean="0"/>
              <a:t>Not to sub-demise or sublet without lessor’s permission</a:t>
            </a:r>
            <a:endParaRPr dirty="0" lang="en-GB" smtClean="0"/>
          </a:p>
          <a:p>
            <a:r>
              <a:rPr dirty="0" lang="en-GB" smtClean="0"/>
              <a:t>Merely permitting another to use does not amount to assignment – </a:t>
            </a:r>
            <a:r>
              <a:rPr b="1" dirty="0" lang="en-GB" err="1" smtClean="0"/>
              <a:t>Ishola</a:t>
            </a:r>
            <a:r>
              <a:rPr b="1" dirty="0" lang="en-GB" smtClean="0"/>
              <a:t> Williams v Hammond Properties (1988) 2 SCNJ 318</a:t>
            </a:r>
            <a:endParaRPr b="1" dirty="0" lang="en-GB" smtClean="0"/>
          </a:p>
          <a:p>
            <a:r>
              <a:rPr dirty="0" lang="en-GB" smtClean="0"/>
              <a:t>Attachment by court order not assignment</a:t>
            </a:r>
            <a:endParaRPr dirty="0" lang="en-GB" smtClean="0"/>
          </a:p>
          <a:p>
            <a:r>
              <a:rPr dirty="0" lang="en-GB" smtClean="0"/>
              <a:t>Extent or scope of application of this covenant depends on the position or manner of draft</a:t>
            </a:r>
            <a:endParaRPr dirty="0" lang="en-GB" smtClean="0"/>
          </a:p>
          <a:p>
            <a:pPr indent="0" marL="0">
              <a:buFont typeface="Arial" panose="020B0604020202020204" pitchFamily="34" charset="0"/>
              <a:buNone/>
            </a:pPr>
            <a:endParaRPr dirty="0" lang="en-GB" smtClean="0"/>
          </a:p>
          <a:p>
            <a:endParaRPr dirty="0"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11" name="Title 1"/>
          <p:cNvSpPr>
            <a:spLocks noGrp="1"/>
          </p:cNvSpPr>
          <p:nvPr>
            <p:ph type="title"/>
          </p:nvPr>
        </p:nvSpPr>
        <p:spPr/>
        <p:txBody>
          <a:bodyPr/>
          <a:p>
            <a:r>
              <a:rPr b="1" lang="en-GB" smtClean="0"/>
              <a:t>THERE ARE FOUR SITUATIONS</a:t>
            </a:r>
            <a:endParaRPr b="1" lang="en-GB" smtClean="0"/>
          </a:p>
        </p:txBody>
      </p:sp>
      <p:sp>
        <p:nvSpPr>
          <p:cNvPr id="1048612" name="Content Placeholder 2"/>
          <p:cNvSpPr>
            <a:spLocks noGrp="1"/>
          </p:cNvSpPr>
          <p:nvPr>
            <p:ph idx="1"/>
          </p:nvPr>
        </p:nvSpPr>
        <p:spPr/>
        <p:txBody>
          <a:bodyPr/>
          <a:p>
            <a:pPr indent="-514350" marL="514350">
              <a:buFont typeface="Arial" panose="020B0604020202020204" pitchFamily="34" charset="0"/>
              <a:buAutoNum type="arabicParenBoth"/>
            </a:pPr>
            <a:r>
              <a:rPr sz="3600" lang="en-GB" smtClean="0"/>
              <a:t>When the lease is silent on assignment – </a:t>
            </a:r>
            <a:r>
              <a:rPr b="1" sz="2800" lang="en-GB" smtClean="0"/>
              <a:t>Inuwa Wada v Thomas Byrne (1973) CCHCJ 59</a:t>
            </a:r>
            <a:endParaRPr sz="2800" lang="en-GB" smtClean="0"/>
          </a:p>
          <a:p>
            <a:pPr indent="-514350" marL="514350">
              <a:buFont typeface="Arial" panose="020B0604020202020204" pitchFamily="34" charset="0"/>
              <a:buAutoNum type="arabicParenBoth"/>
            </a:pPr>
            <a:r>
              <a:rPr sz="3600" lang="en-GB" smtClean="0"/>
              <a:t>Absolute bar situation</a:t>
            </a:r>
            <a:endParaRPr sz="3600" lang="en-GB" smtClean="0"/>
          </a:p>
          <a:p>
            <a:pPr indent="-514350" marL="514350">
              <a:buFont typeface="Arial" panose="020B0604020202020204" pitchFamily="34" charset="0"/>
              <a:buAutoNum type="arabicParenBoth"/>
            </a:pPr>
            <a:r>
              <a:rPr sz="3600" lang="en-GB" smtClean="0"/>
              <a:t>Subjective test situation</a:t>
            </a:r>
            <a:endParaRPr sz="3600" lang="en-GB" smtClean="0"/>
          </a:p>
          <a:p>
            <a:pPr indent="-514350" marL="514350">
              <a:buFont typeface="Arial" panose="020B0604020202020204" pitchFamily="34" charset="0"/>
              <a:buAutoNum type="arabicParenBoth"/>
            </a:pPr>
            <a:r>
              <a:rPr sz="3600" lang="en-GB" smtClean="0"/>
              <a:t>Objective test situation – see </a:t>
            </a:r>
            <a:r>
              <a:rPr b="1" sz="3600" lang="en-GB" smtClean="0"/>
              <a:t>Alakija v John Holt (1973) CCHCJ 27; s. 161 PCL</a:t>
            </a:r>
            <a:endParaRPr sz="3600" lang="en-GB"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13" name="Title 1"/>
          <p:cNvSpPr>
            <a:spLocks noGrp="1"/>
          </p:cNvSpPr>
          <p:nvPr>
            <p:ph type="title"/>
          </p:nvPr>
        </p:nvSpPr>
        <p:spPr/>
        <p:txBody>
          <a:bodyPr/>
          <a:p>
            <a:r>
              <a:rPr lang="en-GB" smtClean="0"/>
              <a:t>DRAFTS</a:t>
            </a:r>
            <a:endParaRPr lang="en-GB" smtClean="0"/>
          </a:p>
        </p:txBody>
      </p:sp>
      <p:sp>
        <p:nvSpPr>
          <p:cNvPr id="1048614" name="Content Placeholder 2"/>
          <p:cNvSpPr>
            <a:spLocks noGrp="1"/>
          </p:cNvSpPr>
          <p:nvPr>
            <p:ph idx="1"/>
          </p:nvPr>
        </p:nvSpPr>
        <p:spPr/>
        <p:txBody>
          <a:bodyPr/>
          <a:p>
            <a:endParaRPr lang="en-GB"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15" name="Title 1"/>
          <p:cNvSpPr>
            <a:spLocks noGrp="1"/>
          </p:cNvSpPr>
          <p:nvPr>
            <p:ph type="title"/>
          </p:nvPr>
        </p:nvSpPr>
        <p:spPr/>
        <p:txBody>
          <a:bodyPr/>
          <a:p>
            <a:r>
              <a:rPr b="1" sz="2800" lang="en-GB" smtClean="0"/>
              <a:t>FACTORS THE LESSOR MAY CONSIDER TO DECIDE WHETHER OR NOT TO GRANT CONSENT TO AN ASSIGNMENT</a:t>
            </a:r>
            <a:endParaRPr b="1" sz="2800" lang="en-GB" smtClean="0"/>
          </a:p>
        </p:txBody>
      </p:sp>
      <p:sp>
        <p:nvSpPr>
          <p:cNvPr id="1048616" name="Content Placeholder 2"/>
          <p:cNvSpPr>
            <a:spLocks noGrp="1"/>
          </p:cNvSpPr>
          <p:nvPr>
            <p:ph idx="1"/>
          </p:nvPr>
        </p:nvSpPr>
        <p:spPr/>
        <p:txBody>
          <a:bodyPr/>
          <a:p>
            <a:r>
              <a:rPr lang="en-GB" smtClean="0"/>
              <a:t>Personality of the prospective sub-lessee or under-lessee</a:t>
            </a:r>
            <a:endParaRPr lang="en-GB" smtClean="0"/>
          </a:p>
          <a:p>
            <a:r>
              <a:rPr lang="en-GB" smtClean="0"/>
              <a:t>Use to which the prospective sub-lessee or under lessee intends to put the premises</a:t>
            </a:r>
            <a:endParaRPr lang="en-GB" smtClean="0"/>
          </a:p>
          <a:p>
            <a:r>
              <a:rPr lang="en-GB" smtClean="0"/>
              <a:t>Can </a:t>
            </a:r>
            <a:r>
              <a:rPr b="1" lang="en-GB" smtClean="0"/>
              <a:t>financial standing </a:t>
            </a:r>
            <a:r>
              <a:rPr lang="en-GB" smtClean="0"/>
              <a:t>be a factor? No. See </a:t>
            </a:r>
            <a:r>
              <a:rPr b="1" lang="en-GB" smtClean="0"/>
              <a:t> Cohen v Popular Restaurants Ltd (1917) 1 KB 490</a:t>
            </a:r>
            <a:endParaRPr lang="en-GB"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17" name="Title 1"/>
          <p:cNvSpPr>
            <a:spLocks noGrp="1"/>
          </p:cNvSpPr>
          <p:nvPr>
            <p:ph type="title"/>
          </p:nvPr>
        </p:nvSpPr>
        <p:spPr>
          <a:xfrm>
            <a:off x="25400" y="274638"/>
            <a:ext cx="8867775" cy="1143000"/>
          </a:xfrm>
        </p:spPr>
        <p:txBody>
          <a:bodyPr/>
          <a:p>
            <a:r>
              <a:rPr b="1" sz="3200" lang="en-GB" smtClean="0"/>
              <a:t>TENANT’S REMEDIES WHERE LESSOR WITHOLDS OR DELAYS CONSENT UNREASONABLY</a:t>
            </a:r>
            <a:endParaRPr b="1" sz="3200" lang="en-GB" smtClean="0"/>
          </a:p>
        </p:txBody>
      </p:sp>
      <p:sp>
        <p:nvSpPr>
          <p:cNvPr id="1048618" name="Content Placeholder 2"/>
          <p:cNvSpPr>
            <a:spLocks noGrp="1"/>
          </p:cNvSpPr>
          <p:nvPr>
            <p:ph idx="1"/>
          </p:nvPr>
        </p:nvSpPr>
        <p:spPr/>
        <p:txBody>
          <a:bodyPr/>
          <a:p>
            <a:pPr indent="-514350" marL="514350">
              <a:buFont typeface="Arial" panose="020B0604020202020204" pitchFamily="34" charset="0"/>
              <a:buAutoNum type="arabicParenBoth"/>
            </a:pPr>
            <a:r>
              <a:rPr lang="en-GB" smtClean="0"/>
              <a:t>Action for declaration that refusal or delay is unreasonable – </a:t>
            </a:r>
            <a:r>
              <a:rPr b="1" lang="en-GB" smtClean="0"/>
              <a:t>Young v AGP Ltd </a:t>
            </a:r>
            <a:r>
              <a:rPr b="1" sz="2400" lang="en-GB" smtClean="0"/>
              <a:t>(1903) 2 Ch 112</a:t>
            </a:r>
            <a:endParaRPr lang="en-GB" smtClean="0"/>
          </a:p>
          <a:p>
            <a:pPr indent="-514350" marL="514350">
              <a:buFont typeface="Arial" panose="020B0604020202020204" pitchFamily="34" charset="0"/>
              <a:buAutoNum type="arabicParenBoth"/>
            </a:pPr>
            <a:r>
              <a:rPr lang="en-GB" smtClean="0"/>
              <a:t>Specific performance -</a:t>
            </a:r>
            <a:endParaRPr lang="en-GB" smtClean="0"/>
          </a:p>
          <a:p>
            <a:pPr indent="-514350" marL="514350">
              <a:buFont typeface="Arial" panose="020B0604020202020204" pitchFamily="34" charset="0"/>
              <a:buAutoNum type="arabicParenBoth"/>
            </a:pPr>
            <a:r>
              <a:rPr lang="en-GB" smtClean="0"/>
              <a:t>Sublet without consent and later sue for injunction –</a:t>
            </a:r>
            <a:r>
              <a:rPr b="1" lang="en-GB" smtClean="0"/>
              <a:t>Lambert v Woolworth (1938) Ch 893</a:t>
            </a:r>
            <a:endParaRPr b="1" lang="en-GB" smtClean="0"/>
          </a:p>
          <a:p>
            <a:pPr indent="-514350" marL="514350">
              <a:buFont typeface="Arial" panose="020B0604020202020204" pitchFamily="34" charset="0"/>
              <a:buAutoNum type="arabicParenBoth"/>
            </a:pPr>
            <a:r>
              <a:rPr lang="en-GB" smtClean="0"/>
              <a:t>Damages for breach of covenant</a:t>
            </a:r>
            <a:endParaRPr lang="en-GB"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19" name="Title 1"/>
          <p:cNvSpPr>
            <a:spLocks noGrp="1"/>
          </p:cNvSpPr>
          <p:nvPr>
            <p:ph type="title"/>
          </p:nvPr>
        </p:nvSpPr>
        <p:spPr>
          <a:xfrm>
            <a:off x="457200" y="115888"/>
            <a:ext cx="8229600" cy="869950"/>
          </a:xfrm>
        </p:spPr>
        <p:txBody>
          <a:bodyPr/>
          <a:p>
            <a:r>
              <a:rPr b="1" lang="en-GB" smtClean="0"/>
              <a:t>COVENANT TO REPAIR</a:t>
            </a:r>
            <a:endParaRPr b="1" lang="en-GB" smtClean="0"/>
          </a:p>
        </p:txBody>
      </p:sp>
      <p:sp>
        <p:nvSpPr>
          <p:cNvPr id="1048620" name="Content Placeholder 2"/>
          <p:cNvSpPr>
            <a:spLocks noGrp="1"/>
          </p:cNvSpPr>
          <p:nvPr>
            <p:ph idx="1"/>
          </p:nvPr>
        </p:nvSpPr>
        <p:spPr>
          <a:xfrm>
            <a:off x="192088" y="765175"/>
            <a:ext cx="8843962" cy="6048375"/>
          </a:xfrm>
        </p:spPr>
        <p:txBody>
          <a:bodyPr/>
          <a:p>
            <a:r>
              <a:rPr sz="2600" lang="en-GB" smtClean="0"/>
              <a:t>Designed to protect the value of the premises. See </a:t>
            </a:r>
            <a:r>
              <a:rPr b="1" sz="2600" lang="en-GB" smtClean="0"/>
              <a:t>Lurcott v. Wakely &amp; Wheeler (1911) 1 KB 905 at 924</a:t>
            </a:r>
            <a:endParaRPr sz="2600" lang="en-GB" smtClean="0"/>
          </a:p>
          <a:p>
            <a:r>
              <a:rPr sz="2600" lang="en-GB" smtClean="0"/>
              <a:t>Covenant drafted to reflect agreement between the parties</a:t>
            </a:r>
            <a:endParaRPr sz="2600" lang="en-GB" smtClean="0"/>
          </a:p>
          <a:p>
            <a:r>
              <a:rPr sz="2600" lang="en-GB" smtClean="0"/>
              <a:t>Covenant is usually qualified by lessor right to enter and inspect; other lessee may frustrate this by right of exclusive possession</a:t>
            </a:r>
            <a:endParaRPr sz="2600" lang="en-GB" smtClean="0"/>
          </a:p>
          <a:p>
            <a:r>
              <a:rPr sz="2600" lang="en-GB" smtClean="0"/>
              <a:t>In practice, responsibility for repair is distributed as follows:</a:t>
            </a:r>
            <a:endParaRPr sz="2600" lang="en-GB" smtClean="0"/>
          </a:p>
          <a:p>
            <a:pPr lvl="1"/>
            <a:r>
              <a:rPr sz="2600" lang="en-GB" smtClean="0"/>
              <a:t>Lessor is responsible for repair of structural parts (roof, walls, foundation, etc)</a:t>
            </a:r>
            <a:endParaRPr sz="2600" lang="en-GB" smtClean="0"/>
          </a:p>
          <a:p>
            <a:pPr lvl="1"/>
            <a:r>
              <a:rPr sz="2600" lang="en-GB" smtClean="0"/>
              <a:t>Lessee is resp for repair of internal fittings (keys, doors, windows, paintings, etc)</a:t>
            </a:r>
            <a:endParaRPr sz="2600" lang="en-GB" smtClean="0"/>
          </a:p>
          <a:p>
            <a:pPr lvl="1"/>
            <a:r>
              <a:rPr sz="2600" lang="en-GB" smtClean="0"/>
              <a:t>Lessor has resp for repair of commonly used parts (staircases, elevator, lifts, gates, fences) where there are several lessees</a:t>
            </a:r>
            <a:endParaRPr sz="2600" lang="en-GB"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21" name="Title 1"/>
          <p:cNvSpPr>
            <a:spLocks noGrp="1"/>
          </p:cNvSpPr>
          <p:nvPr>
            <p:ph type="title"/>
          </p:nvPr>
        </p:nvSpPr>
        <p:spPr/>
        <p:txBody>
          <a:bodyPr/>
          <a:p>
            <a:r>
              <a:rPr b="1" sz="3600" lang="en-GB" smtClean="0"/>
              <a:t>STANDARD COVENENANT TO REPAIR</a:t>
            </a:r>
            <a:endParaRPr b="1" sz="3600" lang="en-GB" smtClean="0"/>
          </a:p>
        </p:txBody>
      </p:sp>
      <p:sp>
        <p:nvSpPr>
          <p:cNvPr id="1048622" name="Content Placeholder 2"/>
          <p:cNvSpPr>
            <a:spLocks noGrp="1"/>
          </p:cNvSpPr>
          <p:nvPr>
            <p:ph idx="1"/>
          </p:nvPr>
        </p:nvSpPr>
        <p:spPr/>
        <p:txBody>
          <a:bodyPr/>
          <a:p>
            <a:pPr algn="just"/>
            <a:r>
              <a:rPr i="1" lang="en-GB" smtClean="0"/>
              <a:t>“The lessee covenants to keep and maintain the demised premises in a good state of repair, fair wear and tear excepted; and to permit the lessor to enter at all reasonable time to view the state of repair of the demised premises.”</a:t>
            </a:r>
            <a:endParaRPr i="1" lang="en-GB"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23" name="Title 1"/>
          <p:cNvSpPr>
            <a:spLocks noGrp="1"/>
          </p:cNvSpPr>
          <p:nvPr>
            <p:ph type="title"/>
          </p:nvPr>
        </p:nvSpPr>
        <p:spPr/>
        <p:txBody>
          <a:bodyPr/>
          <a:p>
            <a:r>
              <a:rPr b="1" sz="3600" lang="en-GB" smtClean="0"/>
              <a:t>REMEDIES FOR BREACH OF COVENANT TO REPAIR</a:t>
            </a:r>
            <a:endParaRPr b="1" sz="3600" lang="en-GB" smtClean="0"/>
          </a:p>
        </p:txBody>
      </p:sp>
      <p:sp>
        <p:nvSpPr>
          <p:cNvPr id="1048624" name="Content Placeholder 2"/>
          <p:cNvSpPr>
            <a:spLocks noGrp="1"/>
          </p:cNvSpPr>
          <p:nvPr>
            <p:ph idx="1"/>
          </p:nvPr>
        </p:nvSpPr>
        <p:spPr/>
        <p:txBody>
          <a:bodyPr/>
          <a:p>
            <a:pPr indent="-514350" marL="514350">
              <a:buFont typeface="Arial" panose="020B0604020202020204" pitchFamily="34" charset="0"/>
              <a:buAutoNum type="arabicParenBoth"/>
            </a:pPr>
            <a:r>
              <a:rPr sz="4000" lang="en-GB" smtClean="0"/>
              <a:t>Notice to repair</a:t>
            </a:r>
            <a:endParaRPr sz="4000" lang="en-GB" smtClean="0"/>
          </a:p>
          <a:p>
            <a:pPr indent="-514350" marL="514350">
              <a:buFont typeface="Arial" panose="020B0604020202020204" pitchFamily="34" charset="0"/>
              <a:buAutoNum type="arabicParenBoth"/>
            </a:pPr>
            <a:r>
              <a:rPr sz="4000" lang="en-GB" smtClean="0"/>
              <a:t>Specific performance</a:t>
            </a:r>
            <a:endParaRPr sz="4000" lang="en-GB" smtClean="0"/>
          </a:p>
          <a:p>
            <a:pPr indent="-514350" marL="514350">
              <a:buFont typeface="Arial" panose="020B0604020202020204" pitchFamily="34" charset="0"/>
              <a:buAutoNum type="arabicParenBoth"/>
            </a:pPr>
            <a:r>
              <a:rPr sz="4000" lang="en-GB" smtClean="0"/>
              <a:t>Damages</a:t>
            </a:r>
            <a:endParaRPr sz="4000" lang="en-GB" smtClean="0"/>
          </a:p>
          <a:p>
            <a:pPr indent="-514350" marL="514350">
              <a:buFont typeface="Arial" panose="020B0604020202020204" pitchFamily="34" charset="0"/>
              <a:buAutoNum type="arabicParenBoth"/>
            </a:pPr>
            <a:r>
              <a:rPr sz="4000" lang="en-GB" smtClean="0"/>
              <a:t>Recovery of premises (by lessor)</a:t>
            </a:r>
            <a:endParaRPr sz="4000" lang="en-GB" smtClean="0"/>
          </a:p>
          <a:p>
            <a:pPr indent="-514350" marL="514350">
              <a:buFont typeface="Arial" panose="020B0604020202020204" pitchFamily="34" charset="0"/>
              <a:buAutoNum type="arabicParenBoth"/>
            </a:pPr>
            <a:r>
              <a:rPr sz="4000" lang="en-GB" smtClean="0"/>
              <a:t>Set off</a:t>
            </a:r>
            <a:endParaRPr sz="4000" lang="en-GB" smtClean="0"/>
          </a:p>
          <a:p>
            <a:pPr indent="-514350" marL="514350">
              <a:buFont typeface="Arial" panose="020B0604020202020204" pitchFamily="34" charset="0"/>
              <a:buAutoNum type="arabicParenBoth"/>
            </a:pPr>
            <a:endParaRPr sz="4000" lang="en-GB"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25" name="Title 1"/>
          <p:cNvSpPr>
            <a:spLocks noGrp="1"/>
          </p:cNvSpPr>
          <p:nvPr>
            <p:ph type="title"/>
          </p:nvPr>
        </p:nvSpPr>
        <p:spPr/>
        <p:txBody>
          <a:bodyPr/>
          <a:p>
            <a:r>
              <a:rPr b="1" sz="3600" lang="en-GB" smtClean="0"/>
              <a:t>COVENANT AGAINST ALTERATION</a:t>
            </a:r>
            <a:endParaRPr b="1" sz="3600" lang="en-GB" smtClean="0"/>
          </a:p>
        </p:txBody>
      </p:sp>
      <p:sp>
        <p:nvSpPr>
          <p:cNvPr id="1048626" name="Content Placeholder 2"/>
          <p:cNvSpPr>
            <a:spLocks noGrp="1"/>
          </p:cNvSpPr>
          <p:nvPr>
            <p:ph idx="1"/>
          </p:nvPr>
        </p:nvSpPr>
        <p:spPr/>
        <p:txBody>
          <a:bodyPr/>
          <a:p>
            <a:r>
              <a:rPr dirty="0" lang="en-GB" smtClean="0"/>
              <a:t>Prohibits alteration of the structure of the premises</a:t>
            </a:r>
            <a:endParaRPr dirty="0" lang="en-GB" smtClean="0"/>
          </a:p>
          <a:p>
            <a:r>
              <a:rPr dirty="0" lang="en-GB" smtClean="0"/>
              <a:t>There’s absolute prohibition in short leases</a:t>
            </a:r>
            <a:endParaRPr dirty="0" lang="en-GB" smtClean="0"/>
          </a:p>
          <a:p>
            <a:r>
              <a:rPr lang="en-GB" smtClean="0"/>
              <a:t> Permitted in a long lease, provided with lessor’s consent, consent not to be unreasonably withheld (See </a:t>
            </a:r>
            <a:r>
              <a:rPr b="1" dirty="0" lang="en-GB" err="1" smtClean="0"/>
              <a:t>Alakija</a:t>
            </a:r>
            <a:r>
              <a:rPr b="1" dirty="0" lang="en-GB" smtClean="0"/>
              <a:t> v John Holt (supra)), </a:t>
            </a:r>
            <a:r>
              <a:rPr dirty="0" lang="en-GB" smtClean="0"/>
              <a:t>but lessee may be required to restore premises to previous state</a:t>
            </a:r>
            <a:endParaRPr dirty="0" lang="en-GB"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27" name="Title 1"/>
          <p:cNvSpPr>
            <a:spLocks noGrp="1"/>
          </p:cNvSpPr>
          <p:nvPr>
            <p:ph type="title"/>
          </p:nvPr>
        </p:nvSpPr>
        <p:spPr/>
        <p:txBody>
          <a:bodyPr/>
          <a:p>
            <a:r>
              <a:rPr b="1" sz="5400" lang="en-GB" smtClean="0"/>
              <a:t>USER COENANT</a:t>
            </a:r>
            <a:endParaRPr b="1" sz="5400" lang="en-GB" smtClean="0"/>
          </a:p>
        </p:txBody>
      </p:sp>
      <p:sp>
        <p:nvSpPr>
          <p:cNvPr id="1048628" name="Content Placeholder 2"/>
          <p:cNvSpPr>
            <a:spLocks noGrp="1"/>
          </p:cNvSpPr>
          <p:nvPr>
            <p:ph idx="1"/>
          </p:nvPr>
        </p:nvSpPr>
        <p:spPr>
          <a:xfrm>
            <a:off x="179388" y="1600200"/>
            <a:ext cx="8507412" cy="5068888"/>
          </a:xfrm>
        </p:spPr>
        <p:txBody>
          <a:bodyPr/>
          <a:p>
            <a:r>
              <a:rPr lang="en-GB" smtClean="0"/>
              <a:t>Defines the use to which the Demised Premises is to be put.</a:t>
            </a:r>
            <a:endParaRPr lang="en-GB" smtClean="0"/>
          </a:p>
          <a:p>
            <a:r>
              <a:rPr lang="en-GB" smtClean="0"/>
              <a:t>Should not be too narrowly worded; should be flexible</a:t>
            </a:r>
            <a:endParaRPr lang="en-GB" smtClean="0"/>
          </a:p>
          <a:p>
            <a:r>
              <a:rPr lang="en-GB" smtClean="0"/>
              <a:t>Note the effect of absence of user covenant</a:t>
            </a:r>
            <a:endParaRPr lang="en-GB" smtClean="0"/>
          </a:p>
          <a:p>
            <a:r>
              <a:rPr lang="en-GB" smtClean="0"/>
              <a:t>Nature of user depends on:</a:t>
            </a:r>
            <a:endParaRPr lang="en-GB" smtClean="0"/>
          </a:p>
          <a:p>
            <a:pPr lvl="1"/>
            <a:r>
              <a:rPr lang="en-GB" smtClean="0"/>
              <a:t>(1) planning regulations</a:t>
            </a:r>
            <a:endParaRPr lang="en-GB" smtClean="0"/>
          </a:p>
          <a:p>
            <a:pPr lvl="1"/>
            <a:r>
              <a:rPr lang="en-GB" smtClean="0"/>
              <a:t>(2) agreement of the parties</a:t>
            </a:r>
            <a:endParaRPr lang="en-GB" smtClean="0"/>
          </a:p>
          <a:p>
            <a:pPr lvl="1"/>
            <a:r>
              <a:rPr lang="en-GB" smtClean="0"/>
              <a:t>(3) Absence of the covenant</a:t>
            </a:r>
            <a:endParaRPr lang="en-GB" smtClean="0"/>
          </a:p>
          <a:p>
            <a:pPr lvl="1"/>
            <a:endParaRPr lang="en-GB"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29" name="Title 1"/>
          <p:cNvSpPr>
            <a:spLocks noGrp="1"/>
          </p:cNvSpPr>
          <p:nvPr>
            <p:ph type="title"/>
          </p:nvPr>
        </p:nvSpPr>
        <p:spPr/>
        <p:txBody>
          <a:bodyPr/>
          <a:p>
            <a:r>
              <a:rPr b="1" sz="3600" lang="en-GB" smtClean="0"/>
              <a:t>REMEDIES FOR BREACH OF USER COVENENT</a:t>
            </a:r>
            <a:endParaRPr b="1" sz="3600" lang="en-GB" smtClean="0"/>
          </a:p>
        </p:txBody>
      </p:sp>
      <p:sp>
        <p:nvSpPr>
          <p:cNvPr id="1048630" name="Content Placeholder 2"/>
          <p:cNvSpPr>
            <a:spLocks noGrp="1"/>
          </p:cNvSpPr>
          <p:nvPr>
            <p:ph idx="1"/>
          </p:nvPr>
        </p:nvSpPr>
        <p:spPr/>
        <p:txBody>
          <a:bodyPr/>
          <a:p>
            <a:r>
              <a:rPr lang="en-GB" smtClean="0"/>
              <a:t>DAMAGES</a:t>
            </a:r>
            <a:endParaRPr lang="en-GB" smtClean="0"/>
          </a:p>
          <a:p>
            <a:r>
              <a:rPr lang="en-GB" smtClean="0"/>
              <a:t>SPECIFIC PERF</a:t>
            </a:r>
            <a:endParaRPr lang="en-GB" smtClean="0"/>
          </a:p>
          <a:p>
            <a:r>
              <a:rPr lang="en-GB" smtClean="0"/>
              <a:t>INJUNCTIONS</a:t>
            </a:r>
            <a:endParaRPr lang="en-GB" smtClean="0"/>
          </a:p>
          <a:p>
            <a:r>
              <a:rPr lang="en-GB" smtClean="0"/>
              <a:t>TRECOVERY OF PREMISES</a:t>
            </a:r>
            <a:endParaRPr lang="en-GB" smtClean="0"/>
          </a:p>
          <a:p>
            <a:r>
              <a:rPr lang="en-GB" smtClean="0"/>
              <a:t>ACTION FOR FORFEITURE &amp; RE-ENTRY FOR A PROHIBITED PURPOSE</a:t>
            </a:r>
            <a:endParaRPr lang="en-GB"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31" name="Title 1"/>
          <p:cNvSpPr>
            <a:spLocks noGrp="1"/>
          </p:cNvSpPr>
          <p:nvPr>
            <p:ph type="title"/>
          </p:nvPr>
        </p:nvSpPr>
        <p:spPr/>
        <p:txBody>
          <a:bodyPr/>
          <a:p>
            <a:r>
              <a:rPr b="1" sz="4800" lang="en-GB" smtClean="0"/>
              <a:t>CONSIDER THESE DRAFTS</a:t>
            </a:r>
            <a:endParaRPr b="1" sz="4800" lang="en-GB" smtClean="0"/>
          </a:p>
        </p:txBody>
      </p:sp>
      <p:sp>
        <p:nvSpPr>
          <p:cNvPr id="1048632" name="Content Placeholder 2"/>
          <p:cNvSpPr>
            <a:spLocks noGrp="1"/>
          </p:cNvSpPr>
          <p:nvPr>
            <p:ph idx="1"/>
          </p:nvPr>
        </p:nvSpPr>
        <p:spPr/>
        <p:txBody>
          <a:bodyPr/>
          <a:p>
            <a:pPr indent="-742950" marL="742950">
              <a:buFont typeface="Arial" panose="020B0604020202020204" pitchFamily="34" charset="0"/>
              <a:buAutoNum type="arabicParenBoth"/>
            </a:pPr>
            <a:r>
              <a:rPr dirty="0" sz="3600" lang="en-GB" smtClean="0"/>
              <a:t>To use the demised premises for lawful 	commercial purposes only:</a:t>
            </a:r>
            <a:endParaRPr dirty="0" sz="3600" lang="en-GB" smtClean="0"/>
          </a:p>
          <a:p>
            <a:pPr indent="-742950" marL="742950">
              <a:buFont typeface="Arial" panose="020B0604020202020204" pitchFamily="34" charset="0"/>
              <a:buAutoNum type="arabicParenBoth"/>
            </a:pPr>
            <a:r>
              <a:rPr dirty="0" sz="3600" lang="en-GB" smtClean="0"/>
              <a:t>To use the demised premises for residential purposes only:</a:t>
            </a:r>
            <a:endParaRPr dirty="0" sz="3600" lang="en-GB" smtClean="0"/>
          </a:p>
          <a:p>
            <a:pPr indent="-742950" marL="742950">
              <a:buFont typeface="Arial" panose="020B0604020202020204" pitchFamily="34" charset="0"/>
              <a:buAutoNum type="arabicParenBoth"/>
            </a:pPr>
            <a:r>
              <a:rPr dirty="0" sz="3600" lang="en-GB" smtClean="0"/>
              <a:t>To use the demised premises as a law office only</a:t>
            </a:r>
            <a:endParaRPr dirty="0" sz="3600" lang="en-GB" smtClean="0"/>
          </a:p>
          <a:p>
            <a:endParaRPr dirty="0" sz="3600" lang="en-GB" smtClean="0"/>
          </a:p>
          <a:p>
            <a:endParaRPr dirty="0" sz="3600"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33" name="Title 1"/>
          <p:cNvSpPr>
            <a:spLocks noGrp="1"/>
          </p:cNvSpPr>
          <p:nvPr>
            <p:ph type="title"/>
          </p:nvPr>
        </p:nvSpPr>
        <p:spPr/>
        <p:txBody>
          <a:bodyPr/>
          <a:p>
            <a:r>
              <a:rPr b="1" lang="en-GB" smtClean="0"/>
              <a:t>OPTION TO RENEW</a:t>
            </a:r>
            <a:endParaRPr b="1" lang="en-GB" smtClean="0"/>
          </a:p>
        </p:txBody>
      </p:sp>
      <p:sp>
        <p:nvSpPr>
          <p:cNvPr id="1048634" name="Content Placeholder 2"/>
          <p:cNvSpPr>
            <a:spLocks noGrp="1"/>
          </p:cNvSpPr>
          <p:nvPr>
            <p:ph idx="1"/>
          </p:nvPr>
        </p:nvSpPr>
        <p:spPr/>
        <p:txBody>
          <a:bodyPr/>
          <a:p>
            <a:r>
              <a:rPr lang="en-GB" smtClean="0"/>
              <a:t>Secures lessee’s potential interest in renewing the premises at the end of the current term</a:t>
            </a:r>
            <a:endParaRPr lang="en-GB" smtClean="0"/>
          </a:p>
          <a:p>
            <a:r>
              <a:rPr lang="en-GB" smtClean="0"/>
              <a:t>When acting for the lessor, should draft the option to renew in such a manner as to exclude the “option to renew” itself and the “rent clause.” Why?</a:t>
            </a:r>
            <a:endParaRPr lang="en-GB" smtClean="0"/>
          </a:p>
          <a:p>
            <a:r>
              <a:rPr lang="en-GB" smtClean="0"/>
              <a:t>Option to renew is construed strictly against the lessee – </a:t>
            </a:r>
            <a:r>
              <a:rPr b="1" lang="en-GB" smtClean="0"/>
              <a:t>WCC v Saly (1966) 3 All ER 210</a:t>
            </a:r>
            <a:r>
              <a:rPr b="1" sz="3600" lang="en-GB" smtClean="0"/>
              <a:t> </a:t>
            </a:r>
            <a:endParaRPr sz="3600" lang="en-GB" smtClean="0"/>
          </a:p>
          <a:p>
            <a:endParaRPr sz="3600" lang="en-GB"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35" name="Title 1"/>
          <p:cNvSpPr>
            <a:spLocks noGrp="1"/>
          </p:cNvSpPr>
          <p:nvPr>
            <p:ph type="title"/>
          </p:nvPr>
        </p:nvSpPr>
        <p:spPr/>
        <p:txBody>
          <a:bodyPr/>
          <a:p>
            <a:r>
              <a:rPr b="1" lang="en-GB" smtClean="0"/>
              <a:t>RENT REVIEW CLAUSDE</a:t>
            </a:r>
            <a:endParaRPr b="1" lang="en-GB" smtClean="0"/>
          </a:p>
        </p:txBody>
      </p:sp>
      <p:sp>
        <p:nvSpPr>
          <p:cNvPr id="1048636" name="Content Placeholder 2"/>
          <p:cNvSpPr>
            <a:spLocks noGrp="1"/>
          </p:cNvSpPr>
          <p:nvPr>
            <p:ph idx="1"/>
          </p:nvPr>
        </p:nvSpPr>
        <p:spPr/>
        <p:txBody>
          <a:bodyPr/>
          <a:p>
            <a:r>
              <a:rPr sz="3600" lang="en-GB" smtClean="0"/>
              <a:t>CONTENTS:</a:t>
            </a:r>
            <a:endParaRPr sz="3600" lang="en-GB" smtClean="0"/>
          </a:p>
          <a:p>
            <a:pPr lvl="1"/>
            <a:r>
              <a:rPr sz="3200" lang="en-GB" smtClean="0"/>
              <a:t>Period of review</a:t>
            </a:r>
            <a:endParaRPr sz="3200" lang="en-GB" smtClean="0"/>
          </a:p>
          <a:p>
            <a:pPr lvl="1"/>
            <a:r>
              <a:rPr sz="3200" lang="en-GB" smtClean="0"/>
              <a:t>Method/mode of review</a:t>
            </a:r>
            <a:endParaRPr sz="3200" lang="en-GB" smtClean="0"/>
          </a:p>
          <a:p>
            <a:pPr lvl="1"/>
            <a:r>
              <a:rPr sz="3200" lang="en-GB" smtClean="0"/>
              <a:t>Means of resolving disputes </a:t>
            </a:r>
            <a:endParaRPr sz="3200" lang="en-GB" smtClean="0"/>
          </a:p>
          <a:p>
            <a:pPr lvl="1"/>
            <a:endParaRPr sz="3200" lang="en-GB" smtClean="0"/>
          </a:p>
          <a:p>
            <a:pPr lvl="1"/>
            <a:endParaRPr sz="3200" lang="en-GB"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37" name="Title 1"/>
          <p:cNvSpPr>
            <a:spLocks noGrp="1"/>
          </p:cNvSpPr>
          <p:nvPr>
            <p:ph type="title"/>
          </p:nvPr>
        </p:nvSpPr>
        <p:spPr/>
        <p:txBody>
          <a:bodyPr/>
          <a:p>
            <a:r>
              <a:rPr b="1" sz="3600" lang="en-GB" smtClean="0"/>
              <a:t>CONTENTS OF THE OPTION TO RENEW COVENANT</a:t>
            </a:r>
            <a:endParaRPr b="1" sz="3600" lang="en-GB" smtClean="0"/>
          </a:p>
        </p:txBody>
      </p:sp>
      <p:sp>
        <p:nvSpPr>
          <p:cNvPr id="1048638" name="Content Placeholder 2"/>
          <p:cNvSpPr>
            <a:spLocks noGrp="1"/>
          </p:cNvSpPr>
          <p:nvPr>
            <p:ph idx="1"/>
          </p:nvPr>
        </p:nvSpPr>
        <p:spPr/>
        <p:txBody>
          <a:bodyPr/>
          <a:p>
            <a:r>
              <a:rPr lang="en-GB" smtClean="0"/>
              <a:t>Time or period during which the option may be exercised</a:t>
            </a:r>
            <a:endParaRPr lang="en-GB" smtClean="0"/>
          </a:p>
          <a:p>
            <a:r>
              <a:rPr lang="en-GB" smtClean="0"/>
              <a:t>Manner or means of exercise of the option may be communicated</a:t>
            </a:r>
            <a:endParaRPr lang="en-GB" smtClean="0"/>
          </a:p>
          <a:p>
            <a:r>
              <a:rPr lang="en-GB" smtClean="0"/>
              <a:t>The condition precedent to the exercise of the option</a:t>
            </a:r>
            <a:endParaRPr lang="en-GB" smtClean="0"/>
          </a:p>
          <a:p>
            <a:r>
              <a:rPr lang="en-GB" smtClean="0"/>
              <a:t>The term of the new (renewed) lease, if granted</a:t>
            </a:r>
            <a:endParaRPr lang="en-GB" smtClean="0"/>
          </a:p>
          <a:p>
            <a:r>
              <a:rPr lang="en-GB" smtClean="0"/>
              <a:t>Restrictions on the option, where applicable</a:t>
            </a:r>
            <a:endParaRPr lang="en-GB"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39" name="Title 1"/>
          <p:cNvSpPr>
            <a:spLocks noGrp="1"/>
          </p:cNvSpPr>
          <p:nvPr>
            <p:ph type="title"/>
          </p:nvPr>
        </p:nvSpPr>
        <p:spPr>
          <a:xfrm>
            <a:off x="107950" y="125413"/>
            <a:ext cx="9036050" cy="1143000"/>
          </a:xfrm>
        </p:spPr>
        <p:txBody>
          <a:bodyPr/>
          <a:p>
            <a:r>
              <a:rPr b="1" sz="3600" lang="en-GB" smtClean="0"/>
              <a:t>IMPLIED COVENANTS</a:t>
            </a:r>
            <a:br>
              <a:rPr b="1" sz="3600" lang="en-GB" smtClean="0"/>
            </a:br>
            <a:r>
              <a:rPr b="1" sz="3600" lang="en-GB" smtClean="0"/>
              <a:t>(covenants implied by law)</a:t>
            </a:r>
            <a:endParaRPr b="1" sz="3600" lang="en-GB" smtClean="0"/>
          </a:p>
        </p:txBody>
      </p:sp>
      <p:sp>
        <p:nvSpPr>
          <p:cNvPr id="1048640" name="Content Placeholder 2"/>
          <p:cNvSpPr>
            <a:spLocks noGrp="1"/>
          </p:cNvSpPr>
          <p:nvPr>
            <p:ph idx="1"/>
          </p:nvPr>
        </p:nvSpPr>
        <p:spPr>
          <a:xfrm>
            <a:off x="73025" y="1196975"/>
            <a:ext cx="9036050" cy="6048375"/>
          </a:xfrm>
        </p:spPr>
        <p:txBody>
          <a:bodyPr/>
          <a:p>
            <a:pPr indent="-514350" marL="514350">
              <a:buFont typeface="Calibri" panose="020F0502020204030204" pitchFamily="34" charset="0"/>
              <a:buAutoNum type="arabicParenR"/>
            </a:pPr>
            <a:r>
              <a:rPr lang="en-GB" smtClean="0"/>
              <a:t>Obligation the law imposes on parties to a lease for the sustenance of the transaction, which do not depend on agreement of parties</a:t>
            </a:r>
            <a:endParaRPr lang="en-GB" smtClean="0"/>
          </a:p>
          <a:p>
            <a:pPr indent="-514350" marL="514350">
              <a:buFont typeface="Calibri" panose="020F0502020204030204" pitchFamily="34" charset="0"/>
              <a:buAutoNum type="arabicParenR"/>
            </a:pPr>
            <a:r>
              <a:rPr lang="en-GB" smtClean="0"/>
              <a:t>Usually excluded by express agreements on the same matter, save for </a:t>
            </a:r>
            <a:r>
              <a:rPr b="1" lang="en-GB" smtClean="0"/>
              <a:t>Covenant not to commit waste</a:t>
            </a:r>
            <a:r>
              <a:rPr lang="en-GB" smtClean="0"/>
              <a:t> (See </a:t>
            </a:r>
            <a:r>
              <a:rPr b="1" lang="en-GB" smtClean="0"/>
              <a:t>Malzy v Eichholz </a:t>
            </a:r>
            <a:r>
              <a:rPr b="1" sz="2400" lang="en-GB" smtClean="0"/>
              <a:t>(1916) 2 KB 308</a:t>
            </a:r>
            <a:endParaRPr lang="en-GB" smtClean="0"/>
          </a:p>
          <a:p>
            <a:pPr indent="-514350" marL="514350">
              <a:buFont typeface="Calibri" panose="020F0502020204030204" pitchFamily="34" charset="0"/>
              <a:buAutoNum type="arabicParenR"/>
            </a:pPr>
            <a:r>
              <a:rPr lang="en-GB" smtClean="0"/>
              <a:t>Covenant to be implied depends on the following:</a:t>
            </a:r>
            <a:endParaRPr lang="en-GB" smtClean="0"/>
          </a:p>
          <a:p>
            <a:pPr lvl="1">
              <a:buFont typeface="Wingdings" panose="05000000000000000000" pitchFamily="2" charset="2"/>
              <a:buChar char="v"/>
            </a:pPr>
            <a:r>
              <a:rPr lang="en-GB" smtClean="0"/>
              <a:t>circumstances of the transaction</a:t>
            </a:r>
            <a:endParaRPr lang="en-GB" smtClean="0"/>
          </a:p>
          <a:p>
            <a:pPr lvl="1">
              <a:buFont typeface="Wingdings" panose="05000000000000000000" pitchFamily="2" charset="2"/>
              <a:buChar char="v"/>
            </a:pPr>
            <a:r>
              <a:rPr lang="en-GB" smtClean="0"/>
              <a:t> The terms or words used</a:t>
            </a:r>
            <a:endParaRPr lang="en-GB" smtClean="0"/>
          </a:p>
          <a:p>
            <a:pPr lvl="1">
              <a:buFont typeface="Wingdings" panose="05000000000000000000" pitchFamily="2" charset="2"/>
              <a:buChar char="v"/>
            </a:pPr>
            <a:r>
              <a:rPr lang="en-GB" smtClean="0"/>
              <a:t>The position a party occupies</a:t>
            </a:r>
            <a:endParaRPr lang="en-GB" smtClean="0"/>
          </a:p>
          <a:p>
            <a:pPr indent="-514350" marL="514350">
              <a:buFont typeface="Calibri" panose="020F0502020204030204" pitchFamily="34" charset="0"/>
              <a:buAutoNum type="arabicParenR"/>
            </a:pPr>
            <a:endParaRPr lang="en-GB"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41" name="Title 1"/>
          <p:cNvSpPr>
            <a:spLocks noGrp="1"/>
          </p:cNvSpPr>
          <p:nvPr>
            <p:ph type="title"/>
          </p:nvPr>
        </p:nvSpPr>
        <p:spPr/>
        <p:txBody>
          <a:bodyPr/>
          <a:p>
            <a:r>
              <a:rPr b="1" lang="en-GB" smtClean="0"/>
              <a:t>TYPES OF IMPLIED COVENANTS</a:t>
            </a:r>
            <a:endParaRPr b="1" lang="en-GB" smtClean="0"/>
          </a:p>
        </p:txBody>
      </p:sp>
      <p:sp>
        <p:nvSpPr>
          <p:cNvPr id="1048642" name="Content Placeholder 2"/>
          <p:cNvSpPr>
            <a:spLocks noGrp="1"/>
          </p:cNvSpPr>
          <p:nvPr>
            <p:ph idx="1"/>
          </p:nvPr>
        </p:nvSpPr>
        <p:spPr>
          <a:xfrm>
            <a:off x="395288" y="1600200"/>
            <a:ext cx="8229600" cy="4525963"/>
          </a:xfrm>
        </p:spPr>
        <p:txBody>
          <a:bodyPr/>
          <a:p>
            <a:r>
              <a:rPr sz="4000" lang="en-GB" smtClean="0"/>
              <a:t>Lessor’s implied covenants</a:t>
            </a:r>
            <a:endParaRPr sz="4000" lang="en-GB" smtClean="0"/>
          </a:p>
          <a:p>
            <a:r>
              <a:rPr sz="4000" lang="en-GB" smtClean="0"/>
              <a:t>Lessee’s implied covenants</a:t>
            </a:r>
            <a:endParaRPr sz="4000" lang="en-GB"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43" name="Title 1"/>
          <p:cNvSpPr>
            <a:spLocks noGrp="1"/>
          </p:cNvSpPr>
          <p:nvPr>
            <p:ph type="title"/>
          </p:nvPr>
        </p:nvSpPr>
        <p:spPr>
          <a:xfrm>
            <a:off x="107950" y="341313"/>
            <a:ext cx="9036050" cy="1143000"/>
          </a:xfrm>
        </p:spPr>
        <p:txBody>
          <a:bodyPr/>
          <a:p>
            <a:r>
              <a:rPr b="1" sz="4000" lang="en-GB" smtClean="0"/>
              <a:t>LESSOR’S IMPLIED COVENANTS</a:t>
            </a:r>
            <a:br>
              <a:rPr b="1" sz="4000" lang="en-GB" smtClean="0"/>
            </a:br>
            <a:endParaRPr b="1" sz="4000" lang="en-GB" smtClean="0"/>
          </a:p>
        </p:txBody>
      </p:sp>
      <p:sp>
        <p:nvSpPr>
          <p:cNvPr id="1048644" name="Content Placeholder 2"/>
          <p:cNvSpPr>
            <a:spLocks noGrp="1"/>
          </p:cNvSpPr>
          <p:nvPr>
            <p:ph idx="1"/>
          </p:nvPr>
        </p:nvSpPr>
        <p:spPr>
          <a:xfrm>
            <a:off x="179388" y="1412875"/>
            <a:ext cx="8856662" cy="5040313"/>
          </a:xfrm>
        </p:spPr>
        <p:txBody>
          <a:bodyPr/>
          <a:p>
            <a:pPr indent="-514350" marL="514350">
              <a:buFont typeface="Calibri" panose="020F0502020204030204" pitchFamily="34" charset="0"/>
              <a:buAutoNum type="arabicParenR"/>
            </a:pPr>
            <a:endParaRPr sz="3600" lang="en-GB" smtClean="0"/>
          </a:p>
          <a:p>
            <a:pPr indent="-514350" marL="514350">
              <a:buFont typeface="Calibri" panose="020F0502020204030204" pitchFamily="34" charset="0"/>
              <a:buAutoNum type="arabicParenR"/>
            </a:pPr>
            <a:r>
              <a:rPr b="1" sz="3600" lang="en-GB" smtClean="0"/>
              <a:t>Quiet enjoyment</a:t>
            </a:r>
            <a:endParaRPr sz="3600" lang="en-GB" smtClean="0"/>
          </a:p>
          <a:p>
            <a:pPr indent="-514350" marL="514350">
              <a:buFont typeface="Calibri" panose="020F0502020204030204" pitchFamily="34" charset="0"/>
              <a:buAutoNum type="arabicParenR"/>
            </a:pPr>
            <a:r>
              <a:rPr sz="3600" lang="en-GB" smtClean="0"/>
              <a:t>Not to derogate from grant</a:t>
            </a:r>
            <a:endParaRPr sz="3600" lang="en-GB" smtClean="0"/>
          </a:p>
          <a:p>
            <a:pPr indent="-514350" marL="514350">
              <a:buFont typeface="Calibri" panose="020F0502020204030204" pitchFamily="34" charset="0"/>
              <a:buAutoNum type="arabicParenR"/>
            </a:pPr>
            <a:r>
              <a:rPr sz="3600" lang="en-GB" smtClean="0"/>
              <a:t>Fitness for habitation</a:t>
            </a:r>
            <a:endParaRPr sz="3600" lang="en-GB" smtClean="0"/>
          </a:p>
          <a:p>
            <a:pPr indent="-514350" marL="514350">
              <a:buFont typeface="Calibri" panose="020F0502020204030204" pitchFamily="34" charset="0"/>
              <a:buAutoNum type="arabicParenR"/>
            </a:pPr>
            <a:r>
              <a:rPr sz="3600" lang="en-GB" smtClean="0"/>
              <a:t>Landlord must comply with law in recovering the premises</a:t>
            </a:r>
            <a:endParaRPr sz="3600" lang="en-GB" smtClean="0"/>
          </a:p>
          <a:p>
            <a:pPr indent="-514350" marL="514350">
              <a:buFont typeface="Calibri" panose="020F0502020204030204" pitchFamily="34" charset="0"/>
              <a:buAutoNum type="arabicParenR"/>
            </a:pPr>
            <a:endParaRPr sz="3600" lang="en-GB" smtClean="0"/>
          </a:p>
          <a:p>
            <a:pPr indent="-514350" marL="514350">
              <a:buFont typeface="Calibri" panose="020F0502020204030204" pitchFamily="34" charset="0"/>
              <a:buAutoNum type="arabicParenR"/>
            </a:pPr>
            <a:endParaRPr sz="3600" lang="en-GB" smtClean="0"/>
          </a:p>
          <a:p>
            <a:pPr indent="-514350" marL="514350">
              <a:buFont typeface="Calibri" panose="020F0502020204030204" pitchFamily="34" charset="0"/>
              <a:buAutoNum type="arabicParenR"/>
            </a:pPr>
            <a:endParaRPr sz="3600" lang="en-GB"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45" name="Title 1"/>
          <p:cNvSpPr>
            <a:spLocks noGrp="1"/>
          </p:cNvSpPr>
          <p:nvPr>
            <p:ph type="title"/>
          </p:nvPr>
        </p:nvSpPr>
        <p:spPr/>
        <p:txBody>
          <a:bodyPr/>
          <a:p>
            <a:r>
              <a:rPr b="1" lang="en-GB" smtClean="0"/>
              <a:t>QUIET POSSESSION</a:t>
            </a:r>
            <a:endParaRPr b="1" lang="en-GB" smtClean="0"/>
          </a:p>
        </p:txBody>
      </p:sp>
      <p:sp>
        <p:nvSpPr>
          <p:cNvPr id="1048646" name="Content Placeholder 2"/>
          <p:cNvSpPr>
            <a:spLocks noGrp="1"/>
          </p:cNvSpPr>
          <p:nvPr>
            <p:ph idx="1"/>
          </p:nvPr>
        </p:nvSpPr>
        <p:spPr>
          <a:xfrm>
            <a:off x="179388" y="1600200"/>
            <a:ext cx="8507412" cy="4525963"/>
          </a:xfrm>
        </p:spPr>
        <p:txBody>
          <a:bodyPr/>
          <a:p>
            <a:r>
              <a:rPr lang="en-GB" smtClean="0"/>
              <a:t> Forbids landlord’s interference with tenants peaceful occupation. See </a:t>
            </a:r>
            <a:r>
              <a:rPr b="1" lang="en-GB" smtClean="0"/>
              <a:t>Birmingham Dudley &amp; District Banking Co v Ross </a:t>
            </a:r>
            <a:r>
              <a:rPr sz="2400" lang="en-GB" smtClean="0"/>
              <a:t>(1888) 38 Ch 295)</a:t>
            </a:r>
            <a:r>
              <a:rPr b="1" lang="en-GB" smtClean="0"/>
              <a:t> </a:t>
            </a:r>
            <a:endParaRPr lang="en-GB" smtClean="0"/>
          </a:p>
          <a:p>
            <a:r>
              <a:rPr b="1" lang="en-GB" smtClean="0"/>
              <a:t>Instances of breach: </a:t>
            </a:r>
            <a:endParaRPr b="1" lang="en-GB" smtClean="0"/>
          </a:p>
          <a:p>
            <a:pPr lvl="1"/>
            <a:r>
              <a:rPr lang="en-GB" smtClean="0"/>
              <a:t>removal of doors (</a:t>
            </a:r>
            <a:r>
              <a:rPr b="1" lang="en-GB" smtClean="0"/>
              <a:t>Adollo v Adeyemi </a:t>
            </a:r>
            <a:r>
              <a:rPr sz="2000" lang="en-GB" smtClean="0"/>
              <a:t>(1962) 2 All NLR 96)</a:t>
            </a:r>
            <a:endParaRPr lang="en-GB" smtClean="0"/>
          </a:p>
          <a:p>
            <a:pPr lvl="1"/>
            <a:r>
              <a:rPr lang="en-GB" smtClean="0"/>
              <a:t>Disconnecting electricity, gas, water, etc (</a:t>
            </a:r>
            <a:r>
              <a:rPr b="1" lang="en-GB" smtClean="0"/>
              <a:t>Perena v. Vandiyar </a:t>
            </a:r>
            <a:r>
              <a:rPr sz="2000" lang="en-GB" smtClean="0"/>
              <a:t>(1953) 1 WLR 672)</a:t>
            </a:r>
            <a:endParaRPr lang="en-GB" smtClean="0"/>
          </a:p>
          <a:p>
            <a:pPr lvl="1"/>
            <a:r>
              <a:rPr lang="en-GB" smtClean="0"/>
              <a:t>Persistent threats &amp; violent behaviour --- </a:t>
            </a:r>
            <a:r>
              <a:rPr b="1" lang="en-GB" smtClean="0"/>
              <a:t>Kenny v Preen</a:t>
            </a:r>
            <a:r>
              <a:rPr lang="en-GB" smtClean="0"/>
              <a:t> (1963) 1 QB 499</a:t>
            </a:r>
            <a:endParaRPr lang="en-GB" smtClean="0"/>
          </a:p>
          <a:p>
            <a:pPr lvl="1"/>
            <a:endParaRPr lang="en-GB" smtClean="0"/>
          </a:p>
          <a:p>
            <a:endParaRPr lang="en-GB"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47" name="Title 1"/>
          <p:cNvSpPr>
            <a:spLocks noGrp="1"/>
          </p:cNvSpPr>
          <p:nvPr>
            <p:ph type="title"/>
          </p:nvPr>
        </p:nvSpPr>
        <p:spPr>
          <a:xfrm>
            <a:off x="457200" y="44450"/>
            <a:ext cx="8229600" cy="1012825"/>
          </a:xfrm>
        </p:spPr>
        <p:txBody>
          <a:bodyPr/>
          <a:p>
            <a:r>
              <a:rPr b="1" sz="4000" lang="en-GB" smtClean="0"/>
              <a:t>NOT TO DEROGATE FROM GRANT</a:t>
            </a:r>
            <a:endParaRPr b="1" sz="4000" lang="en-GB" smtClean="0"/>
          </a:p>
        </p:txBody>
      </p:sp>
      <p:sp>
        <p:nvSpPr>
          <p:cNvPr id="1048648" name="Content Placeholder 2"/>
          <p:cNvSpPr>
            <a:spLocks noGrp="1"/>
          </p:cNvSpPr>
          <p:nvPr>
            <p:ph idx="1"/>
          </p:nvPr>
        </p:nvSpPr>
        <p:spPr>
          <a:xfrm>
            <a:off x="457200" y="908050"/>
            <a:ext cx="8229600" cy="5616575"/>
          </a:xfrm>
        </p:spPr>
        <p:txBody>
          <a:bodyPr/>
          <a:p>
            <a:r>
              <a:rPr lang="en-GB" smtClean="0"/>
              <a:t>Not to do anything calculated (directly or indirectly) to frustrate or jeopardise lessee’s use of the agreed purpose or the enjoyment of the premises</a:t>
            </a:r>
            <a:endParaRPr lang="en-GB" smtClean="0"/>
          </a:p>
          <a:p>
            <a:r>
              <a:rPr lang="en-GB" smtClean="0"/>
              <a:t>Act must render the premises substantially less fit for purpose</a:t>
            </a:r>
            <a:endParaRPr lang="en-GB" smtClean="0"/>
          </a:p>
          <a:p>
            <a:r>
              <a:rPr lang="en-GB" smtClean="0"/>
              <a:t>INSTANCES:</a:t>
            </a:r>
            <a:endParaRPr lang="en-GB" smtClean="0"/>
          </a:p>
          <a:p>
            <a:pPr lvl="1"/>
            <a:r>
              <a:rPr lang="en-GB" smtClean="0"/>
              <a:t>Constructing a building to obstruct lessee’s right to light (LVSC Ltd v. New castle under Lyme BC (1985) 2 All ER 405</a:t>
            </a:r>
            <a:endParaRPr lang="en-GB" smtClean="0"/>
          </a:p>
          <a:p>
            <a:pPr lvl="1"/>
            <a:r>
              <a:rPr lang="en-GB" smtClean="0"/>
              <a:t>Failure to stop another lessee’s nuisance</a:t>
            </a:r>
            <a:endParaRPr lang="en-GB" smtClean="0"/>
          </a:p>
          <a:p>
            <a:endParaRPr lang="en-GB" smtClean="0"/>
          </a:p>
          <a:p>
            <a:endParaRPr lang="en-GB"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49" name="Title 1"/>
          <p:cNvSpPr>
            <a:spLocks noGrp="1"/>
          </p:cNvSpPr>
          <p:nvPr>
            <p:ph type="title"/>
          </p:nvPr>
        </p:nvSpPr>
        <p:spPr/>
        <p:txBody>
          <a:bodyPr/>
          <a:p>
            <a:r>
              <a:rPr b="1" sz="3600" lang="en-GB" smtClean="0"/>
              <a:t>THE FOLLOWING ARE NOT DEROGATION FROM GRANT</a:t>
            </a:r>
            <a:endParaRPr b="1" sz="3600" lang="en-GB" smtClean="0"/>
          </a:p>
        </p:txBody>
      </p:sp>
      <p:sp>
        <p:nvSpPr>
          <p:cNvPr id="1048650" name="Content Placeholder 2"/>
          <p:cNvSpPr>
            <a:spLocks noGrp="1"/>
          </p:cNvSpPr>
          <p:nvPr>
            <p:ph idx="1"/>
          </p:nvPr>
        </p:nvSpPr>
        <p:spPr/>
        <p:txBody>
          <a:bodyPr/>
          <a:p>
            <a:r>
              <a:rPr sz="3600" lang="en-GB" smtClean="0"/>
              <a:t>Lessor’s activities contemplated by the parties at inception –</a:t>
            </a:r>
            <a:r>
              <a:rPr b="1" sz="3600" lang="en-GB" smtClean="0"/>
              <a:t>Yankwood v Havering LBC </a:t>
            </a:r>
            <a:r>
              <a:rPr sz="2800" lang="en-GB" smtClean="0"/>
              <a:t>(1998) EEGCS 75</a:t>
            </a:r>
            <a:endParaRPr sz="2800" lang="en-GB" smtClean="0"/>
          </a:p>
          <a:p>
            <a:r>
              <a:rPr lang="en-GB" smtClean="0"/>
              <a:t>Grant of adjoining premises to a different lessee carrying on similar business as the first lessee</a:t>
            </a:r>
            <a:endParaRPr lang="en-GB" smtClean="0"/>
          </a:p>
          <a:p>
            <a:endParaRPr sz="4400" lang="en-GB"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51" name="Title 1"/>
          <p:cNvSpPr>
            <a:spLocks noGrp="1"/>
          </p:cNvSpPr>
          <p:nvPr>
            <p:ph type="title"/>
          </p:nvPr>
        </p:nvSpPr>
        <p:spPr/>
        <p:txBody>
          <a:bodyPr/>
          <a:p>
            <a:r>
              <a:rPr b="1" lang="en-GB" smtClean="0"/>
              <a:t>FITNESS FOR HABITATION</a:t>
            </a:r>
            <a:endParaRPr b="1" lang="en-GB" smtClean="0"/>
          </a:p>
        </p:txBody>
      </p:sp>
      <p:sp>
        <p:nvSpPr>
          <p:cNvPr id="1048652" name="Content Placeholder 2"/>
          <p:cNvSpPr>
            <a:spLocks noGrp="1"/>
          </p:cNvSpPr>
          <p:nvPr>
            <p:ph idx="1"/>
          </p:nvPr>
        </p:nvSpPr>
        <p:spPr>
          <a:xfrm>
            <a:off x="277813" y="1412875"/>
            <a:ext cx="8686800" cy="5257800"/>
          </a:xfrm>
        </p:spPr>
        <p:txBody>
          <a:bodyPr/>
          <a:p>
            <a:r>
              <a:rPr lang="en-GB" smtClean="0"/>
              <a:t>Lessor does not owe the lessee any duty to endure premises in a better condition that the lessee met it --- </a:t>
            </a:r>
            <a:r>
              <a:rPr b="1" lang="en-GB" smtClean="0"/>
              <a:t>Cheater v Cater </a:t>
            </a:r>
            <a:r>
              <a:rPr sz="2800" lang="en-GB" smtClean="0"/>
              <a:t>(1918) 1 KB 247</a:t>
            </a:r>
            <a:endParaRPr sz="2800" lang="en-GB" smtClean="0"/>
          </a:p>
          <a:p>
            <a:r>
              <a:rPr b="1" sz="2800" lang="en-GB" smtClean="0"/>
              <a:t>EXCEPTIONS:</a:t>
            </a:r>
            <a:endParaRPr b="1" sz="2800" lang="en-GB" smtClean="0"/>
          </a:p>
          <a:p>
            <a:pPr lvl="1"/>
            <a:r>
              <a:rPr b="1" lang="en-GB" smtClean="0"/>
              <a:t>P</a:t>
            </a:r>
            <a:r>
              <a:rPr lang="en-GB" smtClean="0"/>
              <a:t>remises let for habitation or a furnished apartment</a:t>
            </a:r>
            <a:endParaRPr lang="en-GB" smtClean="0"/>
          </a:p>
          <a:p>
            <a:pPr lvl="1"/>
            <a:r>
              <a:rPr b="1" lang="en-GB" smtClean="0"/>
              <a:t>Where lessor </a:t>
            </a:r>
            <a:r>
              <a:rPr lang="en-GB" smtClean="0"/>
              <a:t>retains essential means of access to the premises or facilities essential to the use of the premises, eg., lifts, paths, staircases, garbage ducts, etc, except the lessee covenants to maintain them: LCC v Irwin (1977) AC 239</a:t>
            </a:r>
            <a:endParaRPr b="1" lang="en-GB"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53" name="Title 1"/>
          <p:cNvSpPr>
            <a:spLocks noGrp="1"/>
          </p:cNvSpPr>
          <p:nvPr>
            <p:ph type="title"/>
          </p:nvPr>
        </p:nvSpPr>
        <p:spPr>
          <a:xfrm>
            <a:off x="250825" y="274638"/>
            <a:ext cx="8435975" cy="1143000"/>
          </a:xfrm>
        </p:spPr>
        <p:txBody>
          <a:bodyPr/>
          <a:p>
            <a:r>
              <a:rPr b="1" sz="4800" lang="en-GB" smtClean="0"/>
              <a:t>LESSEE’S IMPLIED COVENANTS</a:t>
            </a:r>
            <a:endParaRPr b="1" sz="4800" lang="en-GB" smtClean="0"/>
          </a:p>
        </p:txBody>
      </p:sp>
      <p:sp>
        <p:nvSpPr>
          <p:cNvPr id="1048654" name="Content Placeholder 2"/>
          <p:cNvSpPr>
            <a:spLocks noGrp="1"/>
          </p:cNvSpPr>
          <p:nvPr>
            <p:ph idx="1"/>
          </p:nvPr>
        </p:nvSpPr>
        <p:spPr>
          <a:xfrm>
            <a:off x="250825" y="1196975"/>
            <a:ext cx="8686800" cy="5445125"/>
          </a:xfrm>
        </p:spPr>
        <p:txBody>
          <a:bodyPr/>
          <a:p>
            <a:pPr>
              <a:buFont typeface="Wingdings" panose="05000000000000000000" pitchFamily="2" charset="2"/>
              <a:buChar char="Ø"/>
            </a:pPr>
            <a:r>
              <a:rPr sz="3600" lang="en-GB" smtClean="0"/>
              <a:t>Covenant to pay rent</a:t>
            </a:r>
            <a:endParaRPr sz="3600" lang="en-GB" smtClean="0"/>
          </a:p>
          <a:p>
            <a:pPr>
              <a:buFont typeface="Wingdings" panose="05000000000000000000" pitchFamily="2" charset="2"/>
              <a:buChar char="Ø"/>
            </a:pPr>
            <a:r>
              <a:rPr sz="3600" lang="en-GB" smtClean="0"/>
              <a:t>To pay rates &amp; taxes</a:t>
            </a:r>
            <a:endParaRPr sz="3600" lang="en-GB" smtClean="0"/>
          </a:p>
          <a:p>
            <a:pPr>
              <a:buFont typeface="Wingdings" panose="05000000000000000000" pitchFamily="2" charset="2"/>
              <a:buChar char="Ø"/>
            </a:pPr>
            <a:r>
              <a:rPr sz="3600" lang="en-GB" smtClean="0"/>
              <a:t>Not to commit waste</a:t>
            </a:r>
            <a:endParaRPr sz="3600" lang="en-GB" smtClean="0"/>
          </a:p>
          <a:p>
            <a:pPr>
              <a:buFont typeface="Wingdings" panose="05000000000000000000" pitchFamily="2" charset="2"/>
              <a:buChar char="Ø"/>
            </a:pPr>
            <a:r>
              <a:rPr sz="3600" lang="en-GB" smtClean="0"/>
              <a:t>To deliver the premises in a tenantable condition</a:t>
            </a:r>
            <a:endParaRPr sz="3600" lang="en-GB" smtClean="0"/>
          </a:p>
          <a:p>
            <a:pPr>
              <a:buFont typeface="Wingdings" panose="05000000000000000000" pitchFamily="2" charset="2"/>
              <a:buChar char="Ø"/>
            </a:pPr>
            <a:r>
              <a:rPr sz="3600" lang="en-GB" smtClean="0"/>
              <a:t>Obligation to allow lessor access to view the state of repair where lessee is liable to effect repairs </a:t>
            </a:r>
            <a:r>
              <a:rPr sz="2800" lang="en-GB" smtClean="0"/>
              <a:t>(</a:t>
            </a:r>
            <a:r>
              <a:rPr b="1" sz="2800" lang="en-GB" smtClean="0"/>
              <a:t>Mint v Good (1951) 1 KB 517</a:t>
            </a:r>
            <a:endParaRPr sz="3600" lang="en-GB"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55" name="Title 1"/>
          <p:cNvSpPr>
            <a:spLocks noGrp="1"/>
          </p:cNvSpPr>
          <p:nvPr>
            <p:ph type="title"/>
          </p:nvPr>
        </p:nvSpPr>
        <p:spPr/>
        <p:txBody>
          <a:bodyPr/>
          <a:p>
            <a:r>
              <a:rPr b="1" sz="3600" lang="en-GB" smtClean="0"/>
              <a:t>COVENANT TO PAY THE RENT RESERVED</a:t>
            </a:r>
            <a:endParaRPr b="1" sz="3600" lang="en-GB" smtClean="0"/>
          </a:p>
        </p:txBody>
      </p:sp>
      <p:sp>
        <p:nvSpPr>
          <p:cNvPr id="1048656" name="Content Placeholder 2"/>
          <p:cNvSpPr>
            <a:spLocks noGrp="1"/>
          </p:cNvSpPr>
          <p:nvPr>
            <p:ph idx="1"/>
          </p:nvPr>
        </p:nvSpPr>
        <p:spPr/>
        <p:txBody>
          <a:bodyPr/>
          <a:p>
            <a:pPr indent="-342900" lvl="1" marL="342900">
              <a:buFont typeface="Arial" panose="020B0604020202020204" pitchFamily="34" charset="0"/>
              <a:buChar char="•"/>
            </a:pPr>
            <a:r>
              <a:rPr sz="4400" lang="en-US" smtClean="0"/>
              <a:t>To pay the rent reserved in this Tenancy Agreement at the time and in the manner provided in this Agreement.</a:t>
            </a:r>
            <a:endParaRPr sz="4400" lang="en-GB" smtClean="0"/>
          </a:p>
          <a:p>
            <a:endParaRPr sz="4400" lang="en-GB"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57" name="Title 1"/>
          <p:cNvSpPr>
            <a:spLocks noGrp="1"/>
          </p:cNvSpPr>
          <p:nvPr>
            <p:ph type="title"/>
          </p:nvPr>
        </p:nvSpPr>
        <p:spPr/>
        <p:txBody>
          <a:bodyPr/>
          <a:p>
            <a:r>
              <a:rPr b="1" sz="4000" lang="en-GB" smtClean="0"/>
              <a:t>COVENANT TO PAY RATES &amp; TAXES</a:t>
            </a:r>
            <a:endParaRPr b="1" sz="4000" lang="en-GB" smtClean="0"/>
          </a:p>
        </p:txBody>
      </p:sp>
      <p:sp>
        <p:nvSpPr>
          <p:cNvPr id="1048658" name="Content Placeholder 2"/>
          <p:cNvSpPr>
            <a:spLocks noGrp="1"/>
          </p:cNvSpPr>
          <p:nvPr>
            <p:ph idx="1"/>
          </p:nvPr>
        </p:nvSpPr>
        <p:spPr/>
        <p:txBody>
          <a:bodyPr/>
          <a:p>
            <a:pPr>
              <a:buFont typeface="Wingdings" panose="05000000000000000000" pitchFamily="2" charset="2"/>
              <a:buChar char="Ø"/>
            </a:pPr>
            <a:r>
              <a:rPr sz="4000" lang="en-GB" smtClean="0"/>
              <a:t>Occupier/lessee is impliedly liable to pay all rates &amp; taxes except otherwise expressly provided by the lease or a statute</a:t>
            </a:r>
            <a:endParaRPr sz="4000" lang="en-GB" smtClean="0"/>
          </a:p>
          <a:p>
            <a:pPr>
              <a:buFont typeface="Wingdings" panose="05000000000000000000" pitchFamily="2" charset="2"/>
              <a:buChar char="Ø"/>
            </a:pPr>
            <a:r>
              <a:rPr sz="4000" lang="en-GB" smtClean="0"/>
              <a:t>Statute sometimes stipulate parties’ responsibilities --- </a:t>
            </a:r>
            <a:r>
              <a:rPr lang="en-GB" smtClean="0"/>
              <a:t>See </a:t>
            </a:r>
            <a:r>
              <a:rPr b="1" lang="en-GB" smtClean="0"/>
              <a:t>Taxes &amp; Levies (Approved List of Collection) Act 1998</a:t>
            </a:r>
            <a:endParaRPr sz="4000" lang="en-GB"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659" name="Title 1"/>
          <p:cNvSpPr>
            <a:spLocks noGrp="1"/>
          </p:cNvSpPr>
          <p:nvPr>
            <p:ph type="title"/>
          </p:nvPr>
        </p:nvSpPr>
        <p:spPr/>
        <p:txBody>
          <a:bodyPr/>
          <a:p>
            <a:r>
              <a:rPr b="1" lang="en-GB" smtClean="0"/>
              <a:t>NOT TO COMMIT WASTE</a:t>
            </a:r>
            <a:endParaRPr b="1" lang="en-GB" smtClean="0"/>
          </a:p>
        </p:txBody>
      </p:sp>
      <p:sp>
        <p:nvSpPr>
          <p:cNvPr id="1048660" name="Content Placeholder 2"/>
          <p:cNvSpPr>
            <a:spLocks noGrp="1"/>
          </p:cNvSpPr>
          <p:nvPr>
            <p:ph idx="1"/>
          </p:nvPr>
        </p:nvSpPr>
        <p:spPr>
          <a:xfrm>
            <a:off x="241300" y="1268413"/>
            <a:ext cx="8507413" cy="5256212"/>
          </a:xfrm>
        </p:spPr>
        <p:txBody>
          <a:bodyPr/>
          <a:p>
            <a:r>
              <a:rPr sz="2800" lang="en-GB" smtClean="0"/>
              <a:t>Waste – permanent harm done to the premises by a lessee to the prejudice of a reversioner. See </a:t>
            </a:r>
            <a:r>
              <a:rPr b="1" sz="2800" lang="en-GB" smtClean="0"/>
              <a:t>Black’s Law Dictionary</a:t>
            </a:r>
            <a:endParaRPr b="1" sz="2800" lang="en-GB" smtClean="0"/>
          </a:p>
          <a:p>
            <a:r>
              <a:rPr sz="2800" lang="en-GB" smtClean="0"/>
              <a:t> </a:t>
            </a:r>
            <a:r>
              <a:rPr b="1" sz="2800" lang="en-GB" smtClean="0"/>
              <a:t>TYPES OF WASTE:</a:t>
            </a:r>
            <a:endParaRPr b="1" sz="2800" lang="en-GB" smtClean="0"/>
          </a:p>
          <a:p>
            <a:pPr lvl="1"/>
            <a:r>
              <a:rPr b="1" sz="2400" lang="en-GB" smtClean="0"/>
              <a:t>Voluntary waste</a:t>
            </a:r>
            <a:r>
              <a:rPr sz="2400" lang="en-GB" smtClean="0"/>
              <a:t>  -- deliberate act that cause harm (</a:t>
            </a:r>
            <a:r>
              <a:rPr b="1" sz="2400" lang="en-GB" smtClean="0"/>
              <a:t>Heskel v Marlow (1928) 2 KB 45</a:t>
            </a:r>
            <a:endParaRPr sz="2400" lang="en-GB" smtClean="0"/>
          </a:p>
          <a:p>
            <a:pPr lvl="1"/>
            <a:r>
              <a:rPr b="1" sz="2400" lang="en-GB" smtClean="0"/>
              <a:t>Permissive waste</a:t>
            </a:r>
            <a:r>
              <a:rPr sz="2400" lang="en-GB" smtClean="0"/>
              <a:t> – lessee allowing the premises to fall into disrepair</a:t>
            </a:r>
            <a:endParaRPr sz="2400" lang="en-GB" smtClean="0"/>
          </a:p>
          <a:p>
            <a:pPr lvl="1"/>
            <a:r>
              <a:rPr b="1" sz="2400" lang="en-GB" smtClean="0"/>
              <a:t>Ameliorating waste</a:t>
            </a:r>
            <a:r>
              <a:rPr sz="2400" lang="en-GB" smtClean="0"/>
              <a:t> – altering the premises without lessor’s consent in a way that affect its value or quality</a:t>
            </a:r>
            <a:endParaRPr sz="2400" lang="en-GB" smtClean="0"/>
          </a:p>
          <a:p>
            <a:pPr lvl="1"/>
            <a:r>
              <a:rPr b="1" sz="2400" lang="en-GB" smtClean="0"/>
              <a:t>Fair wear and tear</a:t>
            </a:r>
            <a:r>
              <a:rPr sz="2400" lang="en-GB" smtClean="0"/>
              <a:t> –harm as a result of natural causes</a:t>
            </a:r>
            <a:endParaRPr sz="2400" lang="en-GB"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61" name="Title 1"/>
          <p:cNvSpPr>
            <a:spLocks noGrp="1"/>
          </p:cNvSpPr>
          <p:nvPr>
            <p:ph type="title"/>
          </p:nvPr>
        </p:nvSpPr>
        <p:spPr/>
        <p:txBody>
          <a:bodyPr/>
          <a:p>
            <a:r>
              <a:rPr b="1" sz="5400" lang="en-GB" smtClean="0"/>
              <a:t>USUAL COVENANTS</a:t>
            </a:r>
            <a:endParaRPr b="1" sz="5400" lang="en-GB" smtClean="0"/>
          </a:p>
        </p:txBody>
      </p:sp>
      <p:sp>
        <p:nvSpPr>
          <p:cNvPr id="1048662" name="Content Placeholder 2"/>
          <p:cNvSpPr>
            <a:spLocks noGrp="1"/>
          </p:cNvSpPr>
          <p:nvPr>
            <p:ph idx="1"/>
          </p:nvPr>
        </p:nvSpPr>
        <p:spPr/>
        <p:txBody>
          <a:bodyPr/>
          <a:p>
            <a:pPr indent="-514350" marL="514350">
              <a:buFont typeface="Calibri" panose="020F0502020204030204" pitchFamily="34" charset="0"/>
              <a:buAutoNum type="arabicParenR"/>
            </a:pPr>
            <a:r>
              <a:rPr sz="3600" lang="en-GB" smtClean="0"/>
              <a:t>Quiet enjoyment</a:t>
            </a:r>
            <a:endParaRPr sz="3600" lang="en-GB" smtClean="0"/>
          </a:p>
          <a:p>
            <a:pPr indent="-514350" marL="514350">
              <a:buFont typeface="Calibri" panose="020F0502020204030204" pitchFamily="34" charset="0"/>
              <a:buAutoNum type="arabicParenR"/>
            </a:pPr>
            <a:r>
              <a:rPr sz="3600" lang="en-GB" smtClean="0"/>
              <a:t>To rent</a:t>
            </a:r>
            <a:endParaRPr sz="3600" lang="en-GB" smtClean="0"/>
          </a:p>
          <a:p>
            <a:pPr indent="-514350" marL="514350">
              <a:buFont typeface="Calibri" panose="020F0502020204030204" pitchFamily="34" charset="0"/>
              <a:buAutoNum type="arabicParenR"/>
            </a:pPr>
            <a:r>
              <a:rPr sz="3600" lang="en-GB" smtClean="0"/>
              <a:t>To pay rates and taxes</a:t>
            </a:r>
            <a:endParaRPr sz="3600" lang="en-GB" smtClean="0"/>
          </a:p>
          <a:p>
            <a:pPr indent="-514350" marL="514350">
              <a:buFont typeface="Calibri" panose="020F0502020204030204" pitchFamily="34" charset="0"/>
              <a:buAutoNum type="arabicParenR"/>
            </a:pPr>
            <a:r>
              <a:rPr sz="3600" lang="en-GB" smtClean="0"/>
              <a:t>To repair</a:t>
            </a:r>
            <a:endParaRPr sz="3600" lang="en-GB" smtClean="0"/>
          </a:p>
          <a:p>
            <a:pPr indent="-514350" marL="514350">
              <a:buFont typeface="Calibri" panose="020F0502020204030204" pitchFamily="34" charset="0"/>
              <a:buAutoNum type="arabicParenR"/>
            </a:pPr>
            <a:r>
              <a:rPr sz="3600" lang="en-GB" smtClean="0"/>
              <a:t>To allow lessor access to the premises</a:t>
            </a:r>
            <a:endParaRPr sz="3600" lang="en-GB" smtClean="0"/>
          </a:p>
          <a:p>
            <a:pPr indent="-514350" marL="514350">
              <a:buFont typeface="Calibri" panose="020F0502020204030204" pitchFamily="34" charset="0"/>
              <a:buAutoNum type="arabicParenR"/>
            </a:pPr>
            <a:r>
              <a:rPr sz="3600" lang="en-GB" smtClean="0"/>
              <a:t>Condition for re-entry</a:t>
            </a:r>
            <a:endParaRPr sz="3600" lang="en-GB"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663" name="Title 1"/>
          <p:cNvSpPr>
            <a:spLocks noGrp="1"/>
          </p:cNvSpPr>
          <p:nvPr>
            <p:ph type="title"/>
          </p:nvPr>
        </p:nvSpPr>
        <p:spPr/>
        <p:txBody>
          <a:bodyPr/>
          <a:p>
            <a:r>
              <a:rPr b="1" sz="5400" lang="en-GB" smtClean="0"/>
              <a:t>Determination of a lease</a:t>
            </a:r>
            <a:endParaRPr b="1" sz="5400" lang="en-GB" smtClean="0"/>
          </a:p>
        </p:txBody>
      </p:sp>
      <p:sp>
        <p:nvSpPr>
          <p:cNvPr id="1048664" name="Content Placeholder 2"/>
          <p:cNvSpPr>
            <a:spLocks noGrp="1"/>
          </p:cNvSpPr>
          <p:nvPr>
            <p:ph idx="1"/>
          </p:nvPr>
        </p:nvSpPr>
        <p:spPr/>
        <p:txBody>
          <a:bodyPr/>
          <a:p>
            <a:r>
              <a:rPr dirty="0" lang="en-GB" smtClean="0"/>
              <a:t>Means of determining a lease:</a:t>
            </a:r>
            <a:endParaRPr dirty="0" lang="en-GB" smtClean="0"/>
          </a:p>
          <a:p>
            <a:pPr indent="-514350" marL="514350">
              <a:buFont typeface="Arial" panose="020B0604020202020204" pitchFamily="34" charset="0"/>
              <a:buAutoNum type="arabicParenBoth"/>
            </a:pPr>
            <a:r>
              <a:rPr dirty="0" lang="en-GB" smtClean="0"/>
              <a:t>Surrender</a:t>
            </a:r>
            <a:endParaRPr dirty="0" lang="en-GB" smtClean="0"/>
          </a:p>
          <a:p>
            <a:pPr indent="-514350" marL="514350">
              <a:buFont typeface="Arial" panose="020B0604020202020204" pitchFamily="34" charset="0"/>
              <a:buAutoNum type="arabicParenBoth"/>
            </a:pPr>
            <a:r>
              <a:rPr dirty="0" lang="en-GB" err="1" smtClean="0"/>
              <a:t>Effluxion</a:t>
            </a:r>
            <a:r>
              <a:rPr dirty="0" lang="en-GB" smtClean="0"/>
              <a:t> of time</a:t>
            </a:r>
            <a:endParaRPr dirty="0" lang="en-GB" smtClean="0"/>
          </a:p>
          <a:p>
            <a:pPr indent="-514350" marL="514350">
              <a:buFont typeface="Arial" panose="020B0604020202020204" pitchFamily="34" charset="0"/>
              <a:buAutoNum type="arabicParenBoth"/>
            </a:pPr>
            <a:r>
              <a:rPr dirty="0" lang="en-GB" smtClean="0"/>
              <a:t>Notice to Quit</a:t>
            </a:r>
            <a:endParaRPr dirty="0" lang="en-GB" smtClean="0"/>
          </a:p>
          <a:p>
            <a:pPr indent="-514350" marL="514350">
              <a:buFont typeface="Arial" panose="020B0604020202020204" pitchFamily="34" charset="0"/>
              <a:buAutoNum type="arabicParenBoth"/>
            </a:pPr>
            <a:r>
              <a:rPr dirty="0" lang="en-GB" smtClean="0"/>
              <a:t>Frustration</a:t>
            </a:r>
            <a:endParaRPr dirty="0" lang="en-GB" smtClean="0"/>
          </a:p>
          <a:p>
            <a:pPr indent="-514350" marL="514350">
              <a:buFont typeface="Arial" panose="020B0604020202020204" pitchFamily="34" charset="0"/>
              <a:buAutoNum type="arabicParenBoth"/>
            </a:pPr>
            <a:r>
              <a:rPr dirty="0" lang="en-GB" smtClean="0"/>
              <a:t>Merger</a:t>
            </a:r>
            <a:endParaRPr dirty="0" lang="en-GB" smtClean="0"/>
          </a:p>
          <a:p>
            <a:pPr indent="-514350" marL="514350">
              <a:buFont typeface="Arial" panose="020B0604020202020204" pitchFamily="34" charset="0"/>
              <a:buAutoNum type="arabicParenBoth"/>
            </a:pPr>
            <a:r>
              <a:rPr dirty="0" lang="en-GB" smtClean="0"/>
              <a:t>Disclaimer</a:t>
            </a:r>
            <a:endParaRPr dirty="0" lang="en-GB" smtClean="0"/>
          </a:p>
          <a:p>
            <a:pPr indent="-514350" marL="514350">
              <a:buFont typeface="Arial" panose="020B0604020202020204" pitchFamily="34" charset="0"/>
              <a:buAutoNum type="arabicParenBoth"/>
            </a:pPr>
            <a:r>
              <a:rPr dirty="0" lang="en-GB" smtClean="0"/>
              <a:t>Forfeiture</a:t>
            </a:r>
            <a:endParaRPr dirty="0" lang="en-GB" smtClean="0"/>
          </a:p>
          <a:p>
            <a:pPr indent="-514350" marL="514350">
              <a:buFont typeface="Arial" panose="020B0604020202020204" pitchFamily="34" charset="0"/>
              <a:buAutoNum type="arabicParenBoth"/>
            </a:pPr>
            <a:endParaRPr dirty="0"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65" name="Title 1"/>
          <p:cNvSpPr>
            <a:spLocks noGrp="1"/>
          </p:cNvSpPr>
          <p:nvPr>
            <p:ph type="title"/>
          </p:nvPr>
        </p:nvSpPr>
        <p:spPr/>
        <p:txBody>
          <a:bodyPr/>
          <a:p>
            <a:r>
              <a:rPr b="1" sz="5400" lang="en-GB" smtClean="0"/>
              <a:t>SURRENDER</a:t>
            </a:r>
            <a:br>
              <a:rPr b="1" sz="5400" lang="en-GB" smtClean="0"/>
            </a:br>
            <a:endParaRPr b="1" sz="5400" lang="en-GB" smtClean="0"/>
          </a:p>
        </p:txBody>
      </p:sp>
      <p:sp>
        <p:nvSpPr>
          <p:cNvPr id="1048666" name="Content Placeholder 2"/>
          <p:cNvSpPr>
            <a:spLocks noGrp="1"/>
          </p:cNvSpPr>
          <p:nvPr>
            <p:ph idx="1"/>
          </p:nvPr>
        </p:nvSpPr>
        <p:spPr/>
        <p:txBody>
          <a:bodyPr/>
          <a:p>
            <a:r>
              <a:rPr sz="3600" lang="en-GB" smtClean="0"/>
              <a:t>Voluntary Surrender – must be by Deed if Lease is beyond 3 yrs</a:t>
            </a:r>
            <a:endParaRPr sz="3600" lang="en-GB" smtClean="0"/>
          </a:p>
          <a:p>
            <a:r>
              <a:rPr sz="3600" lang="en-GB" smtClean="0"/>
              <a:t>Surrender by operation of law:</a:t>
            </a:r>
            <a:endParaRPr sz="3600" lang="en-GB" smtClean="0"/>
          </a:p>
          <a:p>
            <a:pPr lvl="1"/>
            <a:r>
              <a:rPr sz="3200" lang="en-GB" smtClean="0"/>
              <a:t>Act that signifies giving up possession</a:t>
            </a:r>
            <a:endParaRPr sz="3200" lang="en-GB" smtClean="0"/>
          </a:p>
          <a:p>
            <a:pPr lvl="1"/>
            <a:r>
              <a:rPr sz="3200" lang="en-GB" smtClean="0"/>
              <a:t>Deed of variation</a:t>
            </a:r>
            <a:endParaRPr sz="3200" lang="en-GB" smtClean="0"/>
          </a:p>
          <a:p>
            <a:pPr lvl="1"/>
            <a:r>
              <a:rPr sz="3200" lang="en-GB" smtClean="0"/>
              <a:t>Accepting a new lease while the former is subsisting</a:t>
            </a:r>
            <a:endParaRPr sz="3200" lang="en-GB" smtClean="0"/>
          </a:p>
          <a:p>
            <a:pPr lvl="1"/>
            <a:endParaRPr sz="3200" lang="en-GB"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667" name="Title 1"/>
          <p:cNvSpPr>
            <a:spLocks noGrp="1"/>
          </p:cNvSpPr>
          <p:nvPr>
            <p:ph type="title"/>
          </p:nvPr>
        </p:nvSpPr>
        <p:spPr/>
        <p:txBody>
          <a:bodyPr/>
          <a:p>
            <a:r>
              <a:rPr b="1" sz="4800" lang="en-GB" smtClean="0"/>
              <a:t>EFFLUXION OF TIME</a:t>
            </a:r>
            <a:endParaRPr b="1" sz="4800" lang="en-GB" smtClean="0"/>
          </a:p>
        </p:txBody>
      </p:sp>
      <p:sp>
        <p:nvSpPr>
          <p:cNvPr id="1048668" name="Content Placeholder 2"/>
          <p:cNvSpPr>
            <a:spLocks noGrp="1"/>
          </p:cNvSpPr>
          <p:nvPr>
            <p:ph idx="1"/>
          </p:nvPr>
        </p:nvSpPr>
        <p:spPr/>
        <p:txBody>
          <a:bodyPr/>
          <a:p>
            <a:r>
              <a:rPr lang="en-GB" smtClean="0"/>
              <a:t>Applies to lease foe a fixed term</a:t>
            </a:r>
            <a:endParaRPr lang="en-GB" smtClean="0"/>
          </a:p>
          <a:p>
            <a:r>
              <a:rPr lang="en-GB" smtClean="0"/>
              <a:t>Note the “break clause”</a:t>
            </a:r>
            <a:endParaRPr lang="en-GB" smtClean="0"/>
          </a:p>
          <a:p>
            <a:endParaRPr lang="en-GB"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69" name="Title 1"/>
          <p:cNvSpPr>
            <a:spLocks noGrp="1"/>
          </p:cNvSpPr>
          <p:nvPr>
            <p:ph type="title"/>
          </p:nvPr>
        </p:nvSpPr>
        <p:spPr>
          <a:xfrm>
            <a:off x="457200" y="485775"/>
            <a:ext cx="8229600" cy="1143000"/>
          </a:xfrm>
        </p:spPr>
        <p:txBody>
          <a:bodyPr/>
          <a:p>
            <a:br>
              <a:rPr b="1" sz="5400" lang="en-GB" smtClean="0"/>
            </a:br>
            <a:r>
              <a:rPr b="1" sz="5400" lang="en-GB" smtClean="0"/>
              <a:t>NOTICE TO QUIT</a:t>
            </a:r>
            <a:br>
              <a:rPr b="1" sz="5400" lang="en-GB" smtClean="0"/>
            </a:br>
            <a:endParaRPr b="1" sz="5400" lang="en-GB" smtClean="0"/>
          </a:p>
        </p:txBody>
      </p:sp>
      <p:sp>
        <p:nvSpPr>
          <p:cNvPr id="1048670" name="Content Placeholder 2"/>
          <p:cNvSpPr>
            <a:spLocks noGrp="1"/>
          </p:cNvSpPr>
          <p:nvPr>
            <p:ph idx="1"/>
          </p:nvPr>
        </p:nvSpPr>
        <p:spPr/>
        <p:txBody>
          <a:bodyPr/>
          <a:p>
            <a:r>
              <a:rPr sz="4000" lang="en-GB" smtClean="0"/>
              <a:t>Applies to periodic tenancy/lease</a:t>
            </a:r>
            <a:endParaRPr sz="4000" lang="en-GB" smtClean="0"/>
          </a:p>
          <a:p>
            <a:r>
              <a:rPr sz="4000" lang="en-GB" smtClean="0"/>
              <a:t>What is the primary determinant of length of notice to quit</a:t>
            </a:r>
            <a:endParaRPr sz="4000" lang="en-GB" smtClean="0"/>
          </a:p>
          <a:p>
            <a:r>
              <a:rPr sz="4000" lang="en-GB" smtClean="0"/>
              <a:t>Shorter notice than statutory provision or as expressly agreed is ineffective – s 7 &amp; 8 of Recovery of premises Act</a:t>
            </a:r>
            <a:endParaRPr sz="4000" lang="en-GB" smtClean="0"/>
          </a:p>
          <a:p>
            <a:endParaRPr sz="4000" lang="en-GB"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71" name="Title 1"/>
          <p:cNvSpPr>
            <a:spLocks noGrp="1"/>
          </p:cNvSpPr>
          <p:nvPr>
            <p:ph type="title"/>
          </p:nvPr>
        </p:nvSpPr>
        <p:spPr/>
        <p:txBody>
          <a:bodyPr/>
          <a:p>
            <a:r>
              <a:rPr b="1" sz="5400" lang="en-GB" smtClean="0"/>
              <a:t>FRUSTRATION</a:t>
            </a:r>
            <a:endParaRPr b="1" sz="5400" lang="en-GB" smtClean="0"/>
          </a:p>
        </p:txBody>
      </p:sp>
      <p:sp>
        <p:nvSpPr>
          <p:cNvPr id="1048672" name="Content Placeholder 2"/>
          <p:cNvSpPr>
            <a:spLocks noGrp="1"/>
          </p:cNvSpPr>
          <p:nvPr>
            <p:ph idx="1"/>
          </p:nvPr>
        </p:nvSpPr>
        <p:spPr/>
        <p:txBody>
          <a:bodyPr/>
          <a:p>
            <a:r>
              <a:rPr lang="en-GB" smtClean="0"/>
              <a:t>Generally, lease cannot be frustrated – </a:t>
            </a:r>
            <a:r>
              <a:rPr b="1" lang="en-GB" smtClean="0"/>
              <a:t>Araka v Monia Construction (1978) 9 &amp; 10 SC 9. </a:t>
            </a:r>
            <a:r>
              <a:rPr lang="en-GB" smtClean="0"/>
              <a:t>But see Odusanya v Oniororo (1986) 1 QLRN 67</a:t>
            </a:r>
            <a:endParaRPr lang="en-GB"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673" name="Title 1"/>
          <p:cNvSpPr>
            <a:spLocks noGrp="1"/>
          </p:cNvSpPr>
          <p:nvPr>
            <p:ph type="title"/>
          </p:nvPr>
        </p:nvSpPr>
        <p:spPr/>
        <p:txBody>
          <a:bodyPr/>
          <a:p>
            <a:r>
              <a:rPr b="1" lang="en-GB" smtClean="0"/>
              <a:t>MERGER</a:t>
            </a:r>
            <a:endParaRPr b="1" lang="en-GB" smtClean="0"/>
          </a:p>
        </p:txBody>
      </p:sp>
      <p:sp>
        <p:nvSpPr>
          <p:cNvPr id="1048674" name="Content Placeholder 2"/>
          <p:cNvSpPr>
            <a:spLocks noGrp="1"/>
          </p:cNvSpPr>
          <p:nvPr>
            <p:ph idx="1"/>
          </p:nvPr>
        </p:nvSpPr>
        <p:spPr/>
        <p:txBody>
          <a:bodyPr/>
          <a:p>
            <a:r>
              <a:rPr sz="4000" lang="en-GB" smtClean="0"/>
              <a:t>Lessee acquiring lessor’s reversion before the expiration of the lease or a third party acquires both the lessor’s reversion and the lease</a:t>
            </a:r>
            <a:endParaRPr sz="4000" lang="en-GB" smtClean="0"/>
          </a:p>
          <a:p>
            <a:endParaRPr sz="4000" lang="en-GB"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75" name="Title 1"/>
          <p:cNvSpPr>
            <a:spLocks noGrp="1"/>
          </p:cNvSpPr>
          <p:nvPr>
            <p:ph type="title"/>
          </p:nvPr>
        </p:nvSpPr>
        <p:spPr/>
        <p:txBody>
          <a:bodyPr/>
          <a:p>
            <a:r>
              <a:rPr b="1" sz="4800" lang="en-GB" smtClean="0"/>
              <a:t>DISCLAIMER</a:t>
            </a:r>
            <a:endParaRPr b="1" sz="4800" lang="en-GB" smtClean="0"/>
          </a:p>
        </p:txBody>
      </p:sp>
      <p:sp>
        <p:nvSpPr>
          <p:cNvPr id="1048676" name="Content Placeholder 2"/>
          <p:cNvSpPr>
            <a:spLocks noGrp="1"/>
          </p:cNvSpPr>
          <p:nvPr>
            <p:ph idx="1"/>
          </p:nvPr>
        </p:nvSpPr>
        <p:spPr/>
        <p:txBody>
          <a:bodyPr/>
          <a:p>
            <a:r>
              <a:rPr lang="en-GB" smtClean="0"/>
              <a:t>Where a lessee sets up a rival claim to ownership of the demised premises or claims direct ownership, lessor is entitled to end the lease (for eg, for breach of implied covenant not to do anything prejudicial to lessor’s interest – See</a:t>
            </a:r>
            <a:r>
              <a:rPr b="1" lang="en-GB" smtClean="0"/>
              <a:t> WG Clark Properties Ltd v. Dupre Properties Ltd (</a:t>
            </a:r>
            <a:r>
              <a:rPr lang="en-GB" smtClean="0"/>
              <a:t>1992) Ch 297</a:t>
            </a:r>
            <a:endParaRPr b="1" lang="en-GB"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77" name="Title 1"/>
          <p:cNvSpPr>
            <a:spLocks noGrp="1"/>
          </p:cNvSpPr>
          <p:nvPr>
            <p:ph type="title"/>
          </p:nvPr>
        </p:nvSpPr>
        <p:spPr/>
        <p:txBody>
          <a:bodyPr/>
          <a:p>
            <a:r>
              <a:rPr b="1" sz="5400" lang="en-GB" smtClean="0"/>
              <a:t>FORFEITURE</a:t>
            </a:r>
            <a:endParaRPr b="1" sz="5400" lang="en-GB" smtClean="0"/>
          </a:p>
        </p:txBody>
      </p:sp>
      <p:sp>
        <p:nvSpPr>
          <p:cNvPr id="1048678" name="Content Placeholder 2"/>
          <p:cNvSpPr>
            <a:spLocks noGrp="1"/>
          </p:cNvSpPr>
          <p:nvPr>
            <p:ph idx="1"/>
          </p:nvPr>
        </p:nvSpPr>
        <p:spPr/>
        <p:txBody>
          <a:bodyPr/>
          <a:p>
            <a:r>
              <a:rPr sz="4400" lang="en-GB" smtClean="0"/>
              <a:t>Termination of a lease before the date on which it was contracted to end, as a result of (for eg) non payment of rent or breach of a covenant</a:t>
            </a:r>
            <a:endParaRPr sz="4400" lang="en-GB"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679" name="Title 1"/>
          <p:cNvSpPr>
            <a:spLocks noGrp="1"/>
          </p:cNvSpPr>
          <p:nvPr>
            <p:ph type="title"/>
          </p:nvPr>
        </p:nvSpPr>
        <p:spPr/>
        <p:txBody>
          <a:bodyPr/>
          <a:p>
            <a:r>
              <a:rPr b="1" sz="4800" lang="en-GB" smtClean="0"/>
              <a:t>REMEDIES IN A LEASE</a:t>
            </a:r>
            <a:endParaRPr b="1" sz="4800" lang="en-GB" smtClean="0"/>
          </a:p>
        </p:txBody>
      </p:sp>
      <p:sp>
        <p:nvSpPr>
          <p:cNvPr id="1048680" name="Content Placeholder 2"/>
          <p:cNvSpPr>
            <a:spLocks noGrp="1"/>
          </p:cNvSpPr>
          <p:nvPr>
            <p:ph idx="1"/>
          </p:nvPr>
        </p:nvSpPr>
        <p:spPr>
          <a:xfrm>
            <a:off x="457200" y="1600200"/>
            <a:ext cx="8229600" cy="5141913"/>
          </a:xfrm>
        </p:spPr>
        <p:txBody>
          <a:bodyPr/>
          <a:p>
            <a:r>
              <a:rPr lang="en-GB" smtClean="0"/>
              <a:t>Damages</a:t>
            </a:r>
            <a:endParaRPr lang="en-GB" smtClean="0"/>
          </a:p>
          <a:p>
            <a:r>
              <a:rPr lang="en-GB" smtClean="0"/>
              <a:t>Specific performance</a:t>
            </a:r>
            <a:endParaRPr lang="en-GB" smtClean="0"/>
          </a:p>
          <a:p>
            <a:r>
              <a:rPr lang="en-GB" smtClean="0"/>
              <a:t>Notice to Quit</a:t>
            </a:r>
            <a:endParaRPr lang="en-GB" smtClean="0"/>
          </a:p>
          <a:p>
            <a:r>
              <a:rPr lang="en-GB" smtClean="0"/>
              <a:t>Forfeiture</a:t>
            </a:r>
            <a:endParaRPr lang="en-GB" smtClean="0"/>
          </a:p>
          <a:p>
            <a:r>
              <a:rPr lang="en-GB" smtClean="0"/>
              <a:t>Injunction</a:t>
            </a:r>
            <a:endParaRPr lang="en-GB" smtClean="0"/>
          </a:p>
          <a:p>
            <a:r>
              <a:rPr lang="en-GB" smtClean="0"/>
              <a:t>Distress</a:t>
            </a:r>
            <a:endParaRPr lang="en-GB" smtClean="0"/>
          </a:p>
          <a:p>
            <a:r>
              <a:rPr lang="en-GB" smtClean="0"/>
              <a:t>Declaration</a:t>
            </a:r>
            <a:endParaRPr lang="en-GB" smtClean="0"/>
          </a:p>
          <a:p>
            <a:r>
              <a:rPr lang="en-GB" smtClean="0"/>
              <a:t>Notice to abate</a:t>
            </a:r>
            <a:endParaRPr lang="en-GB" smtClean="0"/>
          </a:p>
          <a:p>
            <a:r>
              <a:rPr lang="en-GB" smtClean="0"/>
              <a:t>Notice to repair</a:t>
            </a:r>
            <a:endParaRPr lang="en-GB" smtClean="0"/>
          </a:p>
          <a:p>
            <a:endParaRPr lang="en-GB"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81" name="Title 1"/>
          <p:cNvSpPr>
            <a:spLocks noGrp="1"/>
          </p:cNvSpPr>
          <p:nvPr>
            <p:ph type="title"/>
          </p:nvPr>
        </p:nvSpPr>
        <p:spPr/>
        <p:txBody>
          <a:bodyPr/>
          <a:p>
            <a:r>
              <a:rPr b="1" sz="4000" lang="en-GB" smtClean="0"/>
              <a:t>PARTICULARS OF INSTRUCTIONS REQUIRED TO PREPARE A LEASE</a:t>
            </a:r>
            <a:endParaRPr b="1" sz="4000" lang="en-GB" smtClean="0"/>
          </a:p>
        </p:txBody>
      </p:sp>
      <p:sp>
        <p:nvSpPr>
          <p:cNvPr id="1048682" name="Content Placeholder 2"/>
          <p:cNvSpPr>
            <a:spLocks noGrp="1"/>
          </p:cNvSpPr>
          <p:nvPr>
            <p:ph idx="1"/>
          </p:nvPr>
        </p:nvSpPr>
        <p:spPr>
          <a:xfrm>
            <a:off x="457200" y="1600200"/>
            <a:ext cx="8435975" cy="5068888"/>
          </a:xfrm>
        </p:spPr>
        <p:txBody>
          <a:bodyPr/>
          <a:p>
            <a:r>
              <a:rPr sz="2800" lang="en-GB" smtClean="0"/>
              <a:t>Name, addresses and status of parties</a:t>
            </a:r>
            <a:endParaRPr sz="2800" lang="en-GB" smtClean="0"/>
          </a:p>
          <a:p>
            <a:r>
              <a:rPr sz="2800" lang="en-GB" smtClean="0"/>
              <a:t>Particulars of the demised premises</a:t>
            </a:r>
            <a:endParaRPr sz="2800" lang="en-GB" smtClean="0"/>
          </a:p>
          <a:p>
            <a:r>
              <a:rPr sz="2800" lang="en-GB" smtClean="0"/>
              <a:t>Amount of rent</a:t>
            </a:r>
            <a:endParaRPr sz="2800" lang="en-GB" smtClean="0"/>
          </a:p>
          <a:p>
            <a:r>
              <a:rPr sz="2800" lang="en-GB" smtClean="0"/>
              <a:t>Method of payment of rent</a:t>
            </a:r>
            <a:endParaRPr sz="2800" lang="en-GB" smtClean="0"/>
          </a:p>
          <a:p>
            <a:r>
              <a:rPr sz="2800" lang="en-GB" smtClean="0"/>
              <a:t>Covenants &amp; conditions</a:t>
            </a:r>
            <a:endParaRPr sz="2800" lang="en-GB" smtClean="0"/>
          </a:p>
          <a:p>
            <a:r>
              <a:rPr sz="2800" lang="en-GB" smtClean="0"/>
              <a:t>User</a:t>
            </a:r>
            <a:endParaRPr sz="2800" lang="en-GB" smtClean="0"/>
          </a:p>
          <a:p>
            <a:r>
              <a:rPr sz="2800" lang="en-GB" smtClean="0"/>
              <a:t>Capacity in which the lessor conveys</a:t>
            </a:r>
            <a:endParaRPr sz="2800" lang="en-GB" smtClean="0"/>
          </a:p>
          <a:p>
            <a:r>
              <a:rPr sz="2800" lang="en-GB" smtClean="0"/>
              <a:t>Particulars of witnesses</a:t>
            </a:r>
            <a:endParaRPr sz="2800" lang="en-GB" smtClean="0"/>
          </a:p>
          <a:p>
            <a:r>
              <a:rPr sz="2800" lang="en-GB" smtClean="0"/>
              <a:t>Duration/ term created</a:t>
            </a:r>
            <a:endParaRPr sz="2800" lang="en-GB" smtClean="0"/>
          </a:p>
          <a:p>
            <a:r>
              <a:rPr sz="2800" lang="en-GB" smtClean="0"/>
              <a:t>etc</a:t>
            </a:r>
            <a:endParaRPr sz="2800" lang="en-GB"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83" name="Title 1"/>
          <p:cNvSpPr>
            <a:spLocks noGrp="1"/>
          </p:cNvSpPr>
          <p:nvPr>
            <p:ph type="title"/>
          </p:nvPr>
        </p:nvSpPr>
        <p:spPr/>
        <p:txBody>
          <a:bodyPr/>
          <a:p>
            <a:r>
              <a:rPr b="1" sz="4800" lang="en-GB" smtClean="0"/>
              <a:t>FORM &amp; CONTENT OF A LEASE</a:t>
            </a:r>
            <a:endParaRPr b="1" sz="4800" lang="en-GB" smtClean="0"/>
          </a:p>
        </p:txBody>
      </p:sp>
      <p:sp>
        <p:nvSpPr>
          <p:cNvPr id="1048684" name="Content Placeholder 2"/>
          <p:cNvSpPr>
            <a:spLocks noGrp="1"/>
          </p:cNvSpPr>
          <p:nvPr>
            <p:ph idx="1"/>
          </p:nvPr>
        </p:nvSpPr>
        <p:spPr/>
        <p:txBody>
          <a:bodyPr/>
          <a:p>
            <a:r>
              <a:rPr dirty="0" lang="en-GB" smtClean="0"/>
              <a:t>Commencement --- Note the various ways of commencing a lease</a:t>
            </a:r>
            <a:endParaRPr dirty="0" lang="en-GB" smtClean="0"/>
          </a:p>
          <a:p>
            <a:r>
              <a:rPr dirty="0" lang="en-GB" smtClean="0"/>
              <a:t>Date --- UBA v </a:t>
            </a:r>
            <a:r>
              <a:rPr dirty="0" lang="en-GB" err="1" smtClean="0"/>
              <a:t>Tejumola</a:t>
            </a:r>
            <a:endParaRPr dirty="0" lang="en-GB" smtClean="0"/>
          </a:p>
          <a:p>
            <a:r>
              <a:rPr dirty="0" lang="en-GB" smtClean="0"/>
              <a:t>Parties ---- See </a:t>
            </a:r>
            <a:r>
              <a:rPr dirty="0" lang="en-GB" err="1" smtClean="0"/>
              <a:t>ss</a:t>
            </a:r>
            <a:r>
              <a:rPr dirty="0" lang="en-GB" smtClean="0"/>
              <a:t> 156 &amp; 157 PCL &amp; </a:t>
            </a:r>
            <a:r>
              <a:rPr dirty="0" lang="en-GB" err="1" smtClean="0"/>
              <a:t>ss</a:t>
            </a:r>
            <a:r>
              <a:rPr dirty="0" lang="en-GB" smtClean="0"/>
              <a:t> 10 &amp; 11 CA</a:t>
            </a:r>
            <a:endParaRPr dirty="0" lang="en-GB" smtClean="0"/>
          </a:p>
          <a:p>
            <a:r>
              <a:rPr dirty="0" lang="en-GB" smtClean="0"/>
              <a:t>Recitals --- not necessary, except on few instances</a:t>
            </a:r>
            <a:endParaRPr dirty="0" lang="en-GB" smtClean="0"/>
          </a:p>
          <a:p>
            <a:r>
              <a:rPr dirty="0" lang="en-GB" err="1" smtClean="0"/>
              <a:t>Testatum</a:t>
            </a:r>
            <a:r>
              <a:rPr dirty="0" lang="en-GB" smtClean="0"/>
              <a:t> – introduces the operative part</a:t>
            </a:r>
            <a:endParaRPr dirty="0" lang="en-GB" smtClean="0"/>
          </a:p>
          <a:p>
            <a:pPr indent="0" marL="0">
              <a:buFont typeface="Arial" panose="020B0604020202020204" pitchFamily="34" charset="0"/>
              <a:buNone/>
            </a:pPr>
            <a:endParaRPr dirty="0" lang="en-GB" smtClean="0"/>
          </a:p>
          <a:p>
            <a:endParaRPr dirty="0" lang="en-GB"/>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13" name=""/>
        <p:cNvGrpSpPr/>
        <p:nvPr/>
      </p:nvGrpSpPr>
      <p:grpSpPr>
        <a:xfrm>
          <a:off x="0" y="0"/>
          <a:ext cx="0" cy="0"/>
          <a:chOff x="0" y="0"/>
          <a:chExt cx="0" cy="0"/>
        </a:xfrm>
      </p:grpSpPr>
      <p:sp>
        <p:nvSpPr>
          <p:cNvPr id="1048685" name="Title 1"/>
          <p:cNvSpPr>
            <a:spLocks noGrp="1"/>
          </p:cNvSpPr>
          <p:nvPr>
            <p:ph type="title"/>
          </p:nvPr>
        </p:nvSpPr>
        <p:spPr/>
        <p:txBody>
          <a:bodyPr/>
          <a:p>
            <a:r>
              <a:rPr b="1" lang="en-GB" smtClean="0"/>
              <a:t>FORM &amp; CONTENT OF A LEASE (CNTD)</a:t>
            </a:r>
            <a:endParaRPr lang="en-GB" smtClean="0"/>
          </a:p>
        </p:txBody>
      </p:sp>
      <p:sp>
        <p:nvSpPr>
          <p:cNvPr id="1048686" name="Content Placeholder 2"/>
          <p:cNvSpPr>
            <a:spLocks noGrp="1"/>
          </p:cNvSpPr>
          <p:nvPr>
            <p:ph idx="1"/>
          </p:nvPr>
        </p:nvSpPr>
        <p:spPr/>
        <p:txBody>
          <a:bodyPr/>
          <a:p>
            <a:r>
              <a:rPr lang="en-GB" smtClean="0"/>
              <a:t>Consideration – made up of the amount of rent reserved &amp; the covenants &amp; conditions to be observed</a:t>
            </a:r>
            <a:endParaRPr lang="en-GB" smtClean="0"/>
          </a:p>
          <a:p>
            <a:r>
              <a:rPr lang="en-GB" smtClean="0"/>
              <a:t>Receipt clause --- acknowledgement</a:t>
            </a:r>
            <a:endParaRPr lang="en-GB" smtClean="0"/>
          </a:p>
          <a:p>
            <a:r>
              <a:rPr lang="en-GB" smtClean="0"/>
              <a:t>Demise --- word of grant in a lease</a:t>
            </a:r>
            <a:endParaRPr lang="en-GB" smtClean="0"/>
          </a:p>
          <a:p>
            <a:r>
              <a:rPr lang="en-GB" smtClean="0"/>
              <a:t>Parcels clause</a:t>
            </a:r>
            <a:endParaRPr lang="en-GB" smtClean="0"/>
          </a:p>
          <a:p>
            <a:r>
              <a:rPr lang="en-GB" smtClean="0"/>
              <a:t>Habendum --- nature of the estate conveyed.</a:t>
            </a:r>
            <a:endParaRPr lang="en-GB" smtClean="0"/>
          </a:p>
          <a:p>
            <a:r>
              <a:rPr lang="en-GB" smtClean="0"/>
              <a:t>Reddendum – rent clause</a:t>
            </a:r>
            <a:endParaRPr lang="en-GB" smtClean="0"/>
          </a:p>
          <a:p>
            <a:endParaRPr lang="en-GB" smtClean="0"/>
          </a:p>
          <a:p>
            <a:endParaRPr lang="en-GB" smtClean="0"/>
          </a:p>
          <a:p>
            <a:endParaRPr lang="en-GB"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687" name="Title 1"/>
          <p:cNvSpPr>
            <a:spLocks noGrp="1"/>
          </p:cNvSpPr>
          <p:nvPr>
            <p:ph type="title"/>
          </p:nvPr>
        </p:nvSpPr>
        <p:spPr/>
        <p:txBody>
          <a:bodyPr/>
          <a:p>
            <a:r>
              <a:rPr b="1" lang="en-GB" smtClean="0"/>
              <a:t>FORM &amp; CONTENT OF A LEASE (CNTD)</a:t>
            </a:r>
            <a:endParaRPr lang="en-GB" smtClean="0"/>
          </a:p>
        </p:txBody>
      </p:sp>
      <p:sp>
        <p:nvSpPr>
          <p:cNvPr id="1048688" name="Content Placeholder 2"/>
          <p:cNvSpPr>
            <a:spLocks noGrp="1"/>
          </p:cNvSpPr>
          <p:nvPr>
            <p:ph idx="1"/>
          </p:nvPr>
        </p:nvSpPr>
        <p:spPr/>
        <p:txBody>
          <a:bodyPr/>
          <a:p>
            <a:r>
              <a:rPr sz="2800" lang="en-GB" smtClean="0"/>
              <a:t>Covenants ---</a:t>
            </a:r>
            <a:endParaRPr sz="2800" lang="en-GB" smtClean="0"/>
          </a:p>
          <a:p>
            <a:r>
              <a:rPr sz="2800" lang="en-GB" smtClean="0"/>
              <a:t>Provisos – defines limits or qualifications to interest granted or right or obligation conferred</a:t>
            </a:r>
            <a:endParaRPr sz="2800" lang="en-GB" smtClean="0"/>
          </a:p>
          <a:p>
            <a:r>
              <a:rPr sz="2800" lang="en-GB" smtClean="0"/>
              <a:t>Proviso for re-entry &amp; forfeiture</a:t>
            </a:r>
            <a:endParaRPr sz="2800" lang="en-GB" smtClean="0"/>
          </a:p>
          <a:p>
            <a:r>
              <a:rPr sz="2800" lang="en-GB" smtClean="0"/>
              <a:t>Testimonium</a:t>
            </a:r>
            <a:endParaRPr sz="2800" lang="en-GB" smtClean="0"/>
          </a:p>
          <a:p>
            <a:r>
              <a:rPr sz="2800" lang="en-GB" smtClean="0"/>
              <a:t>Execution</a:t>
            </a:r>
            <a:endParaRPr sz="2800" lang="en-GB" smtClean="0"/>
          </a:p>
          <a:p>
            <a:r>
              <a:rPr sz="2800" lang="en-GB" smtClean="0"/>
              <a:t>Attestation</a:t>
            </a:r>
            <a:endParaRPr sz="2800" lang="en-GB" smtClean="0"/>
          </a:p>
          <a:p>
            <a:r>
              <a:rPr sz="2800" lang="en-GB" smtClean="0"/>
              <a:t>Franking</a:t>
            </a:r>
            <a:endParaRPr sz="2800" lang="en-GB" smtClean="0"/>
          </a:p>
          <a:p>
            <a:r>
              <a:rPr sz="2800" lang="en-GB" smtClean="0"/>
              <a:t>Endorsement for Governor’s consent</a:t>
            </a:r>
            <a:endParaRPr sz="2800" lang="en-GB" smtClean="0"/>
          </a:p>
          <a:p>
            <a:endParaRPr sz="2800" lang="en-GB" smtClean="0"/>
          </a:p>
          <a:p>
            <a:endParaRPr sz="2800" lang="en-GB"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689" name="Title 1"/>
          <p:cNvSpPr>
            <a:spLocks noGrp="1"/>
          </p:cNvSpPr>
          <p:nvPr>
            <p:ph type="title"/>
          </p:nvPr>
        </p:nvSpPr>
        <p:spPr/>
        <p:txBody>
          <a:bodyPr/>
          <a:p>
            <a:endParaRPr lang="en-GB" smtClean="0"/>
          </a:p>
        </p:txBody>
      </p:sp>
      <p:sp>
        <p:nvSpPr>
          <p:cNvPr id="1048690" name="Content Placeholder 2"/>
          <p:cNvSpPr>
            <a:spLocks noGrp="1"/>
          </p:cNvSpPr>
          <p:nvPr>
            <p:ph idx="1"/>
          </p:nvPr>
        </p:nvSpPr>
        <p:spPr/>
        <p:txBody>
          <a:bodyPr/>
          <a:p>
            <a:r>
              <a:rPr b="1" sz="8800" lang="en-GB" smtClean="0"/>
              <a:t>THE END</a:t>
            </a:r>
            <a:endParaRPr b="1" sz="8800" lang="en-GB" smtClean="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PROPERTY LAW PRACTICE  </dc:title>
  <dc:creator>SYLVESTER UDEMEZUE</dc:creator>
  <cp:lastModifiedBy>sylvester udemezue</cp:lastModifiedBy>
  <dcterms:created xsi:type="dcterms:W3CDTF">2024-03-28T05:35:05Z</dcterms:created>
  <dcterms:modified xsi:type="dcterms:W3CDTF">2025-05-27T06:42:52Z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3dc040d86f9d42c2a4c9801eed34a8ed</vt:lpwstr>
  </property>
  <property fmtid="{D5CDD505-2E9C-101B-9397-08002B2CF9AE}" pid="3" name="KSOProductBuildVer">
    <vt:lpwstr>1033-12.2.0.13489</vt:lpwstr>
  </property>
</Properties>
</file>