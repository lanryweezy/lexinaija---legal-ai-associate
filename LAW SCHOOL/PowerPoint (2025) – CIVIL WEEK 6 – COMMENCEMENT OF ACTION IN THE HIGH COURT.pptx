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2.xml" ContentType="application/vnd.openxmlformats-officedocument.presentationml.notesSlide+xml"/>
  <Override PartName="/ppt/slides/slide6.xml" ContentType="application/vnd.openxmlformats-officedocument.presentationml.slide+xml"/>
  <Override PartName="/ppt/notesSlides/notesSlide3.xml" ContentType="application/vnd.openxmlformats-officedocument.presentationml.notesSlide+xml"/>
  <Override PartName="/ppt/slides/slide7.xml" ContentType="application/vnd.openxmlformats-officedocument.presentationml.slide+xml"/>
  <Override PartName="/ppt/notesSlides/notesSlide4.xml" ContentType="application/vnd.openxmlformats-officedocument.presentationml.notesSlide+xml"/>
  <Override PartName="/ppt/slides/slide8.xml" ContentType="application/vnd.openxmlformats-officedocument.presentationml.slide+xml"/>
  <Override PartName="/ppt/notesSlides/notesSlide5.xml" ContentType="application/vnd.openxmlformats-officedocument.presentationml.notesSlide+xml"/>
  <Override PartName="/ppt/slides/slide9.xml" ContentType="application/vnd.openxmlformats-officedocument.presentationml.slide+xml"/>
  <Override PartName="/ppt/notesSlides/notesSlide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notesSlides/notesSlide7.xml" ContentType="application/vnd.openxmlformats-officedocument.presentationml.notesSlide+xml"/>
  <Override PartName="/ppt/slides/slide12.xml" ContentType="application/vnd.openxmlformats-officedocument.presentationml.slide+xml"/>
  <Override PartName="/ppt/notesSlides/notesSlide8.xml" ContentType="application/vnd.openxmlformats-officedocument.presentationml.notesSlide+xml"/>
  <Override PartName="/ppt/slides/slide13.xml" ContentType="application/vnd.openxmlformats-officedocument.presentationml.slide+xml"/>
  <Override PartName="/ppt/notesSlides/notesSlide9.xml" ContentType="application/vnd.openxmlformats-officedocument.presentationml.notesSlide+xml"/>
  <Override PartName="/ppt/slides/slide14.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1.xml" ContentType="application/vnd.openxmlformats-officedocument.presentationml.notesSlide+xml"/>
  <Override PartName="/ppt/slides/slide16.xml" ContentType="application/vnd.openxmlformats-officedocument.presentationml.slide+xml"/>
  <Override PartName="/ppt/notesSlides/notesSlide12.xml" ContentType="application/vnd.openxmlformats-officedocument.presentationml.notesSlide+xml"/>
  <Override PartName="/ppt/slides/slide17.xml" ContentType="application/vnd.openxmlformats-officedocument.presentationml.slide+xml"/>
  <Override PartName="/ppt/notesSlides/notesSlide13.xml" ContentType="application/vnd.openxmlformats-officedocument.presentationml.notesSlide+xml"/>
  <Override PartName="/ppt/slides/slide18.xml" ContentType="application/vnd.openxmlformats-officedocument.presentationml.slide+xml"/>
  <Override PartName="/ppt/notesSlides/notesSlide14.xml" ContentType="application/vnd.openxmlformats-officedocument.presentationml.notesSlide+xml"/>
  <Override PartName="/ppt/slides/slide19.xml" ContentType="application/vnd.openxmlformats-officedocument.presentationml.slide+xml"/>
  <Override PartName="/ppt/notesSlides/notesSlide15.xml" ContentType="application/vnd.openxmlformats-officedocument.presentationml.notesSlide+xml"/>
  <Override PartName="/ppt/slides/slide20.xml" ContentType="application/vnd.openxmlformats-officedocument.presentationml.slide+xml"/>
  <Override PartName="/ppt/notesSlides/notesSlide16.xml" ContentType="application/vnd.openxmlformats-officedocument.presentationml.notesSlide+xml"/>
  <Override PartName="/ppt/slides/slide21.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notesSlides/notesSlide18.xml" ContentType="application/vnd.openxmlformats-officedocument.presentationml.notesSlide+xml"/>
  <Override PartName="/ppt/slides/slide23.xml" ContentType="application/vnd.openxmlformats-officedocument.presentationml.slide+xml"/>
  <Override PartName="/ppt/notesSlides/notesSlide19.xml" ContentType="application/vnd.openxmlformats-officedocument.presentationml.notesSlide+xml"/>
  <Override PartName="/ppt/slides/slide24.xml" ContentType="application/vnd.openxmlformats-officedocument.presentationml.slide+xml"/>
  <Override PartName="/ppt/notesSlides/notesSlide20.xml" ContentType="application/vnd.openxmlformats-officedocument.presentationml.notesSlide+xml"/>
  <Override PartName="/ppt/slides/slide25.xml" ContentType="application/vnd.openxmlformats-officedocument.presentationml.slide+xml"/>
  <Override PartName="/ppt/notesSlides/notesSlide21.xml" ContentType="application/vnd.openxmlformats-officedocument.presentationml.notesSlide+xml"/>
  <Override PartName="/ppt/slides/slide26.xml" ContentType="application/vnd.openxmlformats-officedocument.presentationml.slide+xml"/>
  <Override PartName="/ppt/notesSlides/notesSlide22.xml" ContentType="application/vnd.openxmlformats-officedocument.presentationml.notesSlide+xml"/>
  <Override PartName="/ppt/slides/slide27.xml" ContentType="application/vnd.openxmlformats-officedocument.presentationml.slide+xml"/>
  <Override PartName="/ppt/notesSlides/notesSlide23.xml" ContentType="application/vnd.openxmlformats-officedocument.presentationml.notesSlide+xml"/>
  <Override PartName="/ppt/slides/slide28.xml" ContentType="application/vnd.openxmlformats-officedocument.presentationml.slide+xml"/>
  <Override PartName="/ppt/notesSlides/notesSlide24.xml" ContentType="application/vnd.openxmlformats-officedocument.presentationml.notesSlide+xml"/>
  <Override PartName="/ppt/slides/slide29.xml" ContentType="application/vnd.openxmlformats-officedocument.presentationml.slide+xml"/>
  <Override PartName="/ppt/notesSlides/notesSlide25.xml" ContentType="application/vnd.openxmlformats-officedocument.presentationml.notesSlide+xml"/>
  <Override PartName="/ppt/slides/slide30.xml" ContentType="application/vnd.openxmlformats-officedocument.presentationml.slide+xml"/>
  <Override PartName="/ppt/notesSlides/notesSlide26.xml" ContentType="application/vnd.openxmlformats-officedocument.presentationml.notesSlide+xml"/>
  <Override PartName="/ppt/slides/slide31.xml" ContentType="application/vnd.openxmlformats-officedocument.presentationml.slide+xml"/>
  <Override PartName="/ppt/notesSlides/notesSlide27.xml" ContentType="application/vnd.openxmlformats-officedocument.presentationml.notesSlide+xml"/>
  <Override PartName="/ppt/slides/slide32.xml" ContentType="application/vnd.openxmlformats-officedocument.presentationml.slide+xml"/>
  <Override PartName="/ppt/notesSlides/notesSlide28.xml" ContentType="application/vnd.openxmlformats-officedocument.presentationml.notesSlide+xml"/>
  <Override PartName="/ppt/slides/slide33.xml" ContentType="application/vnd.openxmlformats-officedocument.presentationml.slide+xml"/>
  <Override PartName="/ppt/notesSlides/notesSlide29.xml" ContentType="application/vnd.openxmlformats-officedocument.presentationml.notesSlide+xml"/>
  <Override PartName="/ppt/slides/slide34.xml" ContentType="application/vnd.openxmlformats-officedocument.presentationml.slide+xml"/>
  <Override PartName="/ppt/notesSlides/notesSlide30.xml" ContentType="application/vnd.openxmlformats-officedocument.presentationml.notesSlide+xml"/>
  <Override PartName="/ppt/slides/slide35.xml" ContentType="application/vnd.openxmlformats-officedocument.presentationml.slide+xml"/>
  <Override PartName="/ppt/notesSlides/notesSlide31.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notesSlides/notesSlide32.xml" ContentType="application/vnd.openxmlformats-officedocument.presentationml.notesSlide+xml"/>
  <Override PartName="/ppt/slides/slide38.xml" ContentType="application/vnd.openxmlformats-officedocument.presentationml.slide+xml"/>
  <Override PartName="/ppt/notesSlides/notesSlide33.xml" ContentType="application/vnd.openxmlformats-officedocument.presentationml.notesSlide+xml"/>
  <Override PartName="/ppt/slides/slide39.xml" ContentType="application/vnd.openxmlformats-officedocument.presentationml.slide+xml"/>
  <Override PartName="/ppt/notesSlides/notesSlide34.xml" ContentType="application/vnd.openxmlformats-officedocument.presentationml.notesSlide+xml"/>
  <Override PartName="/ppt/slides/slide40.xml" ContentType="application/vnd.openxmlformats-officedocument.presentationml.slide+xml"/>
  <Override PartName="/ppt/notesSlides/notesSlide35.xml" ContentType="application/vnd.openxmlformats-officedocument.presentationml.notesSlide+xml"/>
  <Override PartName="/ppt/slides/slide41.xml" ContentType="application/vnd.openxmlformats-officedocument.presentationml.slide+xml"/>
  <Override PartName="/ppt/notesSlides/notesSlide36.xml" ContentType="application/vnd.openxmlformats-officedocument.presentationml.notesSlide+xml"/>
  <Override PartName="/ppt/slides/slide42.xml" ContentType="application/vnd.openxmlformats-officedocument.presentationml.slide+xml"/>
  <Override PartName="/ppt/notesSlides/notesSlide37.xml" ContentType="application/vnd.openxmlformats-officedocument.presentationml.notesSlide+xml"/>
  <Override PartName="/ppt/slides/slide43.xml" ContentType="application/vnd.openxmlformats-officedocument.presentationml.slide+xml"/>
  <Override PartName="/ppt/notesSlides/notesSlide38.xml" ContentType="application/vnd.openxmlformats-officedocument.presentationml.notesSlide+xml"/>
  <Override PartName="/ppt/slides/slide44.xml" ContentType="application/vnd.openxmlformats-officedocument.presentationml.slide+xml"/>
  <Override PartName="/ppt/notesSlides/notesSlide39.xml" ContentType="application/vnd.openxmlformats-officedocument.presentationml.notesSlide+xml"/>
  <Override PartName="/ppt/slides/slide45.xml" ContentType="application/vnd.openxmlformats-officedocument.presentationml.slide+xml"/>
  <Override PartName="/ppt/notesSlides/notesSlide40.xml" ContentType="application/vnd.openxmlformats-officedocument.presentationml.notesSlide+xml"/>
  <Override PartName="/ppt/slides/slide46.xml" ContentType="application/vnd.openxmlformats-officedocument.presentationml.slide+xml"/>
  <Override PartName="/ppt/notesSlides/notesSlide41.xml" ContentType="application/vnd.openxmlformats-officedocument.presentationml.notesSlide+xml"/>
  <Override PartName="/ppt/slides/slide47.xml" ContentType="application/vnd.openxmlformats-officedocument.presentationml.slide+xml"/>
  <Override PartName="/ppt/notesSlides/notesSlide42.xml" ContentType="application/vnd.openxmlformats-officedocument.presentationml.notesSlide+xml"/>
  <Override PartName="/ppt/slides/slide48.xml" ContentType="application/vnd.openxmlformats-officedocument.presentationml.slide+xml"/>
  <Override PartName="/ppt/notesSlides/notesSlide43.xml" ContentType="application/vnd.openxmlformats-officedocument.presentationml.notesSlide+xml"/>
  <Override PartName="/ppt/slides/slide49.xml" ContentType="application/vnd.openxmlformats-officedocument.presentationml.slide+xml"/>
  <Override PartName="/ppt/notesSlides/notesSlide44.xml" ContentType="application/vnd.openxmlformats-officedocument.presentationml.notesSlide+xml"/>
  <Override PartName="/ppt/slides/slide50.xml" ContentType="application/vnd.openxmlformats-officedocument.presentationml.slide+xml"/>
  <Override PartName="/ppt/notesSlides/notesSlide45.xml" ContentType="application/vnd.openxmlformats-officedocument.presentationml.notesSlide+xml"/>
  <Override PartName="/ppt/slides/slide51.xml" ContentType="application/vnd.openxmlformats-officedocument.presentationml.slide+xml"/>
  <Override PartName="/ppt/notesSlides/notesSlide46.xml" ContentType="application/vnd.openxmlformats-officedocument.presentationml.notesSlide+xml"/>
  <Override PartName="/ppt/slides/slide52.xml" ContentType="application/vnd.openxmlformats-officedocument.presentationml.slide+xml"/>
  <Override PartName="/ppt/notesSlides/notesSlide47.xml" ContentType="application/vnd.openxmlformats-officedocument.presentationml.notesSlide+xml"/>
  <Override PartName="/ppt/slides/slide53.xml" ContentType="application/vnd.openxmlformats-officedocument.presentationml.slide+xml"/>
  <Override PartName="/ppt/notesSlides/notesSlide48.xml" ContentType="application/vnd.openxmlformats-officedocument.presentationml.notesSlide+xml"/>
  <Override PartName="/ppt/slides/slide54.xml" ContentType="application/vnd.openxmlformats-officedocument.presentationml.slide+xml"/>
  <Override PartName="/ppt/notesSlides/notesSlide49.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000" autoAdjust="0"/>
    <p:restoredTop sz="94799" autoAdjust="0"/>
  </p:normalViewPr>
  <p:slideViewPr>
    <p:cSldViewPr snapToGrid="0">
      <p:cViewPr varScale="1">
        <p:scale>
          <a:sx n="77" d="100"/>
          <a:sy n="77" d="100"/>
        </p:scale>
        <p:origin x="504" y="78"/>
      </p:cViewPr>
    </p:cSldViewPr>
  </p:slideViewPr>
  <p:outlineViewPr>
    <p:cViewPr>
      <p:scale>
        <a:sx n="33" d="100"/>
        <a:sy n="33" d="100"/>
      </p:scale>
      <p:origin x="0" y="-5685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tableStyles" Target="tableStyles.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31" name=""/>
        <p:cNvGrpSpPr/>
        <p:nvPr/>
      </p:nvGrpSpPr>
      <p:grpSpPr>
        <a:xfrm>
          <a:off x="0" y="0"/>
          <a:ext cx="0" cy="0"/>
          <a:chOff x="0" y="0"/>
          <a:chExt cx="0" cy="0"/>
        </a:xfrm>
      </p:grpSpPr>
      <p:sp>
        <p:nvSpPr>
          <p:cNvPr id="1048868"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869"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EF0AF01F-9948-4283-94AD-FBE07551FE65}" type="datetimeFigureOut">
              <a:rPr lang="en-US" smtClean="0"/>
              <a:t>5/13/2025</a:t>
            </a:fld>
            <a:endParaRPr lang="en-US"/>
          </a:p>
        </p:txBody>
      </p:sp>
      <p:sp>
        <p:nvSpPr>
          <p:cNvPr id="1048870"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871"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2"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873"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1D105EFB-EC1C-420B-905E-1832D4F6AE9D}"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 name="Shape 114"/>
        <p:cNvGrpSpPr/>
        <p:nvPr/>
      </p:nvGrpSpPr>
      <p:grpSpPr>
        <a:xfrm>
          <a:off x="0" y="0"/>
          <a:ext cx="0" cy="0"/>
          <a:chOff x="0" y="0"/>
          <a:chExt cx="0" cy="0"/>
        </a:xfrm>
      </p:grpSpPr>
      <p:sp>
        <p:nvSpPr>
          <p:cNvPr id="1048599" name="Shape 115"/>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4</a:t>
            </a:fld>
            <a:endParaRPr b="0" cap="none" sz="3600" i="0" lang="en-US" strike="noStrike" u="none">
              <a:solidFill>
                <a:srgbClr val="000000"/>
              </a:solidFill>
              <a:latin typeface="Arial"/>
              <a:ea typeface="Arial"/>
              <a:cs typeface="Arial"/>
              <a:sym typeface="Arial"/>
            </a:endParaRPr>
          </a:p>
        </p:txBody>
      </p:sp>
      <p:sp>
        <p:nvSpPr>
          <p:cNvPr id="1048600" name="Shape 116"/>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01" name="Shape 117"/>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 name="Shape 121"/>
        <p:cNvGrpSpPr/>
        <p:nvPr/>
      </p:nvGrpSpPr>
      <p:grpSpPr>
        <a:xfrm>
          <a:off x="0" y="0"/>
          <a:ext cx="0" cy="0"/>
          <a:chOff x="0" y="0"/>
          <a:chExt cx="0" cy="0"/>
        </a:xfrm>
      </p:grpSpPr>
      <p:sp>
        <p:nvSpPr>
          <p:cNvPr id="1048604" name="Shape 122"/>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05" name="Shape 123"/>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 name="Shape 133"/>
        <p:cNvGrpSpPr/>
        <p:nvPr/>
      </p:nvGrpSpPr>
      <p:grpSpPr>
        <a:xfrm>
          <a:off x="0" y="0"/>
          <a:ext cx="0" cy="0"/>
          <a:chOff x="0" y="0"/>
          <a:chExt cx="0" cy="0"/>
        </a:xfrm>
      </p:grpSpPr>
      <p:sp>
        <p:nvSpPr>
          <p:cNvPr id="1048608" name="Shape 134"/>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6</a:t>
            </a:fld>
            <a:endParaRPr b="0" cap="none" sz="3600" i="0" lang="en-US" strike="noStrike" u="none">
              <a:solidFill>
                <a:srgbClr val="000000"/>
              </a:solidFill>
              <a:latin typeface="Arial"/>
              <a:ea typeface="Arial"/>
              <a:cs typeface="Arial"/>
              <a:sym typeface="Arial"/>
            </a:endParaRPr>
          </a:p>
        </p:txBody>
      </p:sp>
      <p:sp>
        <p:nvSpPr>
          <p:cNvPr id="1048609" name="Shape 135"/>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10" name="Shape 136"/>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140"/>
        <p:cNvGrpSpPr/>
        <p:nvPr/>
      </p:nvGrpSpPr>
      <p:grpSpPr>
        <a:xfrm>
          <a:off x="0" y="0"/>
          <a:ext cx="0" cy="0"/>
          <a:chOff x="0" y="0"/>
          <a:chExt cx="0" cy="0"/>
        </a:xfrm>
      </p:grpSpPr>
      <p:sp>
        <p:nvSpPr>
          <p:cNvPr id="1048613" name="Shape 141"/>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14" name="Shape 142"/>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 name="Shape 146"/>
        <p:cNvGrpSpPr/>
        <p:nvPr/>
      </p:nvGrpSpPr>
      <p:grpSpPr>
        <a:xfrm>
          <a:off x="0" y="0"/>
          <a:ext cx="0" cy="0"/>
          <a:chOff x="0" y="0"/>
          <a:chExt cx="0" cy="0"/>
        </a:xfrm>
      </p:grpSpPr>
      <p:sp>
        <p:nvSpPr>
          <p:cNvPr id="1048617" name="Shape 147"/>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8</a:t>
            </a:fld>
            <a:endParaRPr b="0" cap="none" sz="3600" i="0" lang="en-US" strike="noStrike" u="none">
              <a:solidFill>
                <a:srgbClr val="000000"/>
              </a:solidFill>
              <a:latin typeface="Arial"/>
              <a:ea typeface="Arial"/>
              <a:cs typeface="Arial"/>
              <a:sym typeface="Arial"/>
            </a:endParaRPr>
          </a:p>
        </p:txBody>
      </p:sp>
      <p:sp>
        <p:nvSpPr>
          <p:cNvPr id="1048618" name="Shape 148"/>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19" name="Shape 149"/>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153"/>
        <p:cNvGrpSpPr/>
        <p:nvPr/>
      </p:nvGrpSpPr>
      <p:grpSpPr>
        <a:xfrm>
          <a:off x="0" y="0"/>
          <a:ext cx="0" cy="0"/>
          <a:chOff x="0" y="0"/>
          <a:chExt cx="0" cy="0"/>
        </a:xfrm>
      </p:grpSpPr>
      <p:sp>
        <p:nvSpPr>
          <p:cNvPr id="1048622" name="Shape 154"/>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9</a:t>
            </a:fld>
            <a:endParaRPr b="0" cap="none" sz="3600" i="0" lang="en-US" strike="noStrike" u="none">
              <a:solidFill>
                <a:srgbClr val="000000"/>
              </a:solidFill>
              <a:latin typeface="Arial"/>
              <a:ea typeface="Arial"/>
              <a:cs typeface="Arial"/>
              <a:sym typeface="Arial"/>
            </a:endParaRPr>
          </a:p>
        </p:txBody>
      </p:sp>
      <p:sp>
        <p:nvSpPr>
          <p:cNvPr id="1048623" name="Shape 155"/>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24" name="Shape 156"/>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160"/>
        <p:cNvGrpSpPr/>
        <p:nvPr/>
      </p:nvGrpSpPr>
      <p:grpSpPr>
        <a:xfrm>
          <a:off x="0" y="0"/>
          <a:ext cx="0" cy="0"/>
          <a:chOff x="0" y="0"/>
          <a:chExt cx="0" cy="0"/>
        </a:xfrm>
      </p:grpSpPr>
      <p:sp>
        <p:nvSpPr>
          <p:cNvPr id="1048629" name="Shape 161"/>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30" name="Shape 162"/>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166"/>
        <p:cNvGrpSpPr/>
        <p:nvPr/>
      </p:nvGrpSpPr>
      <p:grpSpPr>
        <a:xfrm>
          <a:off x="0" y="0"/>
          <a:ext cx="0" cy="0"/>
          <a:chOff x="0" y="0"/>
          <a:chExt cx="0" cy="0"/>
        </a:xfrm>
      </p:grpSpPr>
      <p:sp>
        <p:nvSpPr>
          <p:cNvPr id="1048633" name="Shape 167"/>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34" name="Shape 168"/>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72"/>
        <p:cNvGrpSpPr/>
        <p:nvPr/>
      </p:nvGrpSpPr>
      <p:grpSpPr>
        <a:xfrm>
          <a:off x="0" y="0"/>
          <a:ext cx="0" cy="0"/>
          <a:chOff x="0" y="0"/>
          <a:chExt cx="0" cy="0"/>
        </a:xfrm>
      </p:grpSpPr>
      <p:sp>
        <p:nvSpPr>
          <p:cNvPr id="1048637" name="Shape 173"/>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38" name="Shape 174"/>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96"/>
        <p:cNvGrpSpPr/>
        <p:nvPr/>
      </p:nvGrpSpPr>
      <p:grpSpPr>
        <a:xfrm>
          <a:off x="0" y="0"/>
          <a:ext cx="0" cy="0"/>
          <a:chOff x="0" y="0"/>
          <a:chExt cx="0" cy="0"/>
        </a:xfrm>
      </p:grpSpPr>
      <p:sp>
        <p:nvSpPr>
          <p:cNvPr id="1048641" name="Shape 97"/>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42" name="Shape 98"/>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2"/>
        <p:cNvGrpSpPr/>
        <p:nvPr/>
      </p:nvGrpSpPr>
      <p:grpSpPr>
        <a:xfrm>
          <a:off x="0" y="0"/>
          <a:ext cx="0" cy="0"/>
          <a:chOff x="0" y="0"/>
          <a:chExt cx="0" cy="0"/>
        </a:xfrm>
      </p:grpSpPr>
      <p:sp>
        <p:nvSpPr>
          <p:cNvPr id="1048645" name="Shape 103"/>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46" name="Shape 104"/>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 name="Shape 108"/>
        <p:cNvGrpSpPr/>
        <p:nvPr/>
      </p:nvGrpSpPr>
      <p:grpSpPr>
        <a:xfrm>
          <a:off x="0" y="0"/>
          <a:ext cx="0" cy="0"/>
          <a:chOff x="0" y="0"/>
          <a:chExt cx="0" cy="0"/>
        </a:xfrm>
      </p:grpSpPr>
      <p:sp>
        <p:nvSpPr>
          <p:cNvPr id="1048649" name="Shape 109"/>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50" name="Shape 110"/>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78"/>
        <p:cNvGrpSpPr/>
        <p:nvPr/>
      </p:nvGrpSpPr>
      <p:grpSpPr>
        <a:xfrm>
          <a:off x="0" y="0"/>
          <a:ext cx="0" cy="0"/>
          <a:chOff x="0" y="0"/>
          <a:chExt cx="0" cy="0"/>
        </a:xfrm>
      </p:grpSpPr>
      <p:sp>
        <p:nvSpPr>
          <p:cNvPr id="1048653" name="Shape 179"/>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17</a:t>
            </a:fld>
            <a:endParaRPr b="0" cap="none" sz="3600" i="0" lang="en-US" strike="noStrike" u="none">
              <a:solidFill>
                <a:srgbClr val="000000"/>
              </a:solidFill>
              <a:latin typeface="Arial"/>
              <a:ea typeface="Arial"/>
              <a:cs typeface="Arial"/>
              <a:sym typeface="Arial"/>
            </a:endParaRPr>
          </a:p>
        </p:txBody>
      </p:sp>
      <p:sp>
        <p:nvSpPr>
          <p:cNvPr id="1048654" name="Shape 180"/>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55" name="Shape 181"/>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91"/>
        <p:cNvGrpSpPr/>
        <p:nvPr/>
      </p:nvGrpSpPr>
      <p:grpSpPr>
        <a:xfrm>
          <a:off x="0" y="0"/>
          <a:ext cx="0" cy="0"/>
          <a:chOff x="0" y="0"/>
          <a:chExt cx="0" cy="0"/>
        </a:xfrm>
      </p:grpSpPr>
      <p:sp>
        <p:nvSpPr>
          <p:cNvPr id="1048658" name="Shape 192"/>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18</a:t>
            </a:fld>
            <a:endParaRPr b="0" cap="none" sz="3600" i="0" lang="en-US" strike="noStrike" u="none">
              <a:solidFill>
                <a:srgbClr val="000000"/>
              </a:solidFill>
              <a:latin typeface="Arial"/>
              <a:ea typeface="Arial"/>
              <a:cs typeface="Arial"/>
              <a:sym typeface="Arial"/>
            </a:endParaRPr>
          </a:p>
        </p:txBody>
      </p:sp>
      <p:sp>
        <p:nvSpPr>
          <p:cNvPr id="1048659" name="Shape 193"/>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60" name="Shape 194"/>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218"/>
        <p:cNvGrpSpPr/>
        <p:nvPr/>
      </p:nvGrpSpPr>
      <p:grpSpPr>
        <a:xfrm>
          <a:off x="0" y="0"/>
          <a:ext cx="0" cy="0"/>
          <a:chOff x="0" y="0"/>
          <a:chExt cx="0" cy="0"/>
        </a:xfrm>
      </p:grpSpPr>
      <p:sp>
        <p:nvSpPr>
          <p:cNvPr id="1048663" name="Shape 219"/>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19</a:t>
            </a:fld>
            <a:endParaRPr b="0" cap="none" sz="3600" i="0" lang="en-US" strike="noStrike" u="none">
              <a:solidFill>
                <a:srgbClr val="000000"/>
              </a:solidFill>
              <a:latin typeface="Arial"/>
              <a:ea typeface="Arial"/>
              <a:cs typeface="Arial"/>
              <a:sym typeface="Arial"/>
            </a:endParaRPr>
          </a:p>
        </p:txBody>
      </p:sp>
      <p:sp>
        <p:nvSpPr>
          <p:cNvPr id="1048664" name="Shape 220"/>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65" name="Shape 221"/>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225"/>
        <p:cNvGrpSpPr/>
        <p:nvPr/>
      </p:nvGrpSpPr>
      <p:grpSpPr>
        <a:xfrm>
          <a:off x="0" y="0"/>
          <a:ext cx="0" cy="0"/>
          <a:chOff x="0" y="0"/>
          <a:chExt cx="0" cy="0"/>
        </a:xfrm>
      </p:grpSpPr>
      <p:sp>
        <p:nvSpPr>
          <p:cNvPr id="1048668" name="Shape 226"/>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69" name="Shape 227"/>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231"/>
        <p:cNvGrpSpPr/>
        <p:nvPr/>
      </p:nvGrpSpPr>
      <p:grpSpPr>
        <a:xfrm>
          <a:off x="0" y="0"/>
          <a:ext cx="0" cy="0"/>
          <a:chOff x="0" y="0"/>
          <a:chExt cx="0" cy="0"/>
        </a:xfrm>
      </p:grpSpPr>
      <p:sp>
        <p:nvSpPr>
          <p:cNvPr id="1048672" name="Shape 232"/>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21</a:t>
            </a:fld>
            <a:endParaRPr b="0" cap="none" sz="3600" i="0" lang="en-US" strike="noStrike" u="none">
              <a:solidFill>
                <a:srgbClr val="000000"/>
              </a:solidFill>
              <a:latin typeface="Arial"/>
              <a:ea typeface="Arial"/>
              <a:cs typeface="Arial"/>
              <a:sym typeface="Arial"/>
            </a:endParaRPr>
          </a:p>
        </p:txBody>
      </p:sp>
      <p:sp>
        <p:nvSpPr>
          <p:cNvPr id="1048673" name="Shape 233"/>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74" name="Shape 234"/>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238"/>
        <p:cNvGrpSpPr/>
        <p:nvPr/>
      </p:nvGrpSpPr>
      <p:grpSpPr>
        <a:xfrm>
          <a:off x="0" y="0"/>
          <a:ext cx="0" cy="0"/>
          <a:chOff x="0" y="0"/>
          <a:chExt cx="0" cy="0"/>
        </a:xfrm>
      </p:grpSpPr>
      <p:sp>
        <p:nvSpPr>
          <p:cNvPr id="1048677" name="Shape 239"/>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22</a:t>
            </a:fld>
            <a:endParaRPr b="0" cap="none" sz="3600" i="0" lang="en-US" strike="noStrike" u="none">
              <a:solidFill>
                <a:srgbClr val="000000"/>
              </a:solidFill>
              <a:latin typeface="Arial"/>
              <a:ea typeface="Arial"/>
              <a:cs typeface="Arial"/>
              <a:sym typeface="Arial"/>
            </a:endParaRPr>
          </a:p>
        </p:txBody>
      </p:sp>
      <p:sp>
        <p:nvSpPr>
          <p:cNvPr id="1048678" name="Shape 240"/>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79" name="Shape 241"/>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245"/>
        <p:cNvGrpSpPr/>
        <p:nvPr/>
      </p:nvGrpSpPr>
      <p:grpSpPr>
        <a:xfrm>
          <a:off x="0" y="0"/>
          <a:ext cx="0" cy="0"/>
          <a:chOff x="0" y="0"/>
          <a:chExt cx="0" cy="0"/>
        </a:xfrm>
      </p:grpSpPr>
      <p:sp>
        <p:nvSpPr>
          <p:cNvPr id="1048682" name="Shape 246"/>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83" name="Shape 247"/>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205"/>
        <p:cNvGrpSpPr/>
        <p:nvPr/>
      </p:nvGrpSpPr>
      <p:grpSpPr>
        <a:xfrm>
          <a:off x="0" y="0"/>
          <a:ext cx="0" cy="0"/>
          <a:chOff x="0" y="0"/>
          <a:chExt cx="0" cy="0"/>
        </a:xfrm>
      </p:grpSpPr>
      <p:sp>
        <p:nvSpPr>
          <p:cNvPr id="1048686" name="Shape 206"/>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24</a:t>
            </a:fld>
            <a:endParaRPr b="0" cap="none" sz="3600" i="0" lang="en-US" strike="noStrike" u="none">
              <a:solidFill>
                <a:srgbClr val="000000"/>
              </a:solidFill>
              <a:latin typeface="Arial"/>
              <a:ea typeface="Arial"/>
              <a:cs typeface="Arial"/>
              <a:sym typeface="Arial"/>
            </a:endParaRPr>
          </a:p>
        </p:txBody>
      </p:sp>
      <p:sp>
        <p:nvSpPr>
          <p:cNvPr id="1048687" name="Shape 207"/>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88" name="Shape 208"/>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212"/>
        <p:cNvGrpSpPr/>
        <p:nvPr/>
      </p:nvGrpSpPr>
      <p:grpSpPr>
        <a:xfrm>
          <a:off x="0" y="0"/>
          <a:ext cx="0" cy="0"/>
          <a:chOff x="0" y="0"/>
          <a:chExt cx="0" cy="0"/>
        </a:xfrm>
      </p:grpSpPr>
      <p:sp>
        <p:nvSpPr>
          <p:cNvPr id="1048691" name="Shape 213"/>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692" name="Shape 214"/>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 name="Shape 198"/>
        <p:cNvGrpSpPr/>
        <p:nvPr/>
      </p:nvGrpSpPr>
      <p:grpSpPr>
        <a:xfrm>
          <a:off x="0" y="0"/>
          <a:ext cx="0" cy="0"/>
          <a:chOff x="0" y="0"/>
          <a:chExt cx="0" cy="0"/>
        </a:xfrm>
      </p:grpSpPr>
      <p:sp>
        <p:nvSpPr>
          <p:cNvPr id="1048695" name="Shape 199"/>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26</a:t>
            </a:fld>
            <a:endParaRPr b="0" cap="none" sz="3600" i="0" lang="en-US" strike="noStrike" u="none">
              <a:solidFill>
                <a:srgbClr val="000000"/>
              </a:solidFill>
              <a:latin typeface="Arial"/>
              <a:ea typeface="Arial"/>
              <a:cs typeface="Arial"/>
              <a:sym typeface="Arial"/>
            </a:endParaRPr>
          </a:p>
        </p:txBody>
      </p:sp>
      <p:sp>
        <p:nvSpPr>
          <p:cNvPr id="1048696" name="Shape 200"/>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697" name="Shape 201"/>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2" name="Shape 251"/>
        <p:cNvGrpSpPr/>
        <p:nvPr/>
      </p:nvGrpSpPr>
      <p:grpSpPr>
        <a:xfrm>
          <a:off x="0" y="0"/>
          <a:ext cx="0" cy="0"/>
          <a:chOff x="0" y="0"/>
          <a:chExt cx="0" cy="0"/>
        </a:xfrm>
      </p:grpSpPr>
      <p:sp>
        <p:nvSpPr>
          <p:cNvPr id="1048700" name="Shape 252"/>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27</a:t>
            </a:fld>
            <a:endParaRPr b="0" cap="none" sz="3600" i="0" lang="en-US" strike="noStrike" u="none">
              <a:solidFill>
                <a:srgbClr val="000000"/>
              </a:solidFill>
              <a:latin typeface="Arial"/>
              <a:ea typeface="Arial"/>
              <a:cs typeface="Arial"/>
              <a:sym typeface="Arial"/>
            </a:endParaRPr>
          </a:p>
        </p:txBody>
      </p:sp>
      <p:sp>
        <p:nvSpPr>
          <p:cNvPr id="1048701" name="Shape 253"/>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02" name="Shape 254"/>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258"/>
        <p:cNvGrpSpPr/>
        <p:nvPr/>
      </p:nvGrpSpPr>
      <p:grpSpPr>
        <a:xfrm>
          <a:off x="0" y="0"/>
          <a:ext cx="0" cy="0"/>
          <a:chOff x="0" y="0"/>
          <a:chExt cx="0" cy="0"/>
        </a:xfrm>
      </p:grpSpPr>
      <p:sp>
        <p:nvSpPr>
          <p:cNvPr id="1048705" name="Shape 259"/>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06" name="Shape 260"/>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270"/>
        <p:cNvGrpSpPr/>
        <p:nvPr/>
      </p:nvGrpSpPr>
      <p:grpSpPr>
        <a:xfrm>
          <a:off x="0" y="0"/>
          <a:ext cx="0" cy="0"/>
          <a:chOff x="0" y="0"/>
          <a:chExt cx="0" cy="0"/>
        </a:xfrm>
      </p:grpSpPr>
      <p:sp>
        <p:nvSpPr>
          <p:cNvPr id="1048709" name="Shape 271"/>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29</a:t>
            </a:fld>
            <a:endParaRPr b="0" cap="none" sz="3600" i="0" lang="en-US" strike="noStrike" u="none">
              <a:solidFill>
                <a:srgbClr val="000000"/>
              </a:solidFill>
              <a:latin typeface="Arial"/>
              <a:ea typeface="Arial"/>
              <a:cs typeface="Arial"/>
              <a:sym typeface="Arial"/>
            </a:endParaRPr>
          </a:p>
        </p:txBody>
      </p:sp>
      <p:sp>
        <p:nvSpPr>
          <p:cNvPr id="1048710" name="Shape 272"/>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11" name="Shape 273"/>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283"/>
        <p:cNvGrpSpPr/>
        <p:nvPr/>
      </p:nvGrpSpPr>
      <p:grpSpPr>
        <a:xfrm>
          <a:off x="0" y="0"/>
          <a:ext cx="0" cy="0"/>
          <a:chOff x="0" y="0"/>
          <a:chExt cx="0" cy="0"/>
        </a:xfrm>
      </p:grpSpPr>
      <p:sp>
        <p:nvSpPr>
          <p:cNvPr id="1048714" name="Shape 284"/>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15" name="Shape 285"/>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4" name="Shape 295"/>
        <p:cNvGrpSpPr/>
        <p:nvPr/>
      </p:nvGrpSpPr>
      <p:grpSpPr>
        <a:xfrm>
          <a:off x="0" y="0"/>
          <a:ext cx="0" cy="0"/>
          <a:chOff x="0" y="0"/>
          <a:chExt cx="0" cy="0"/>
        </a:xfrm>
      </p:grpSpPr>
      <p:sp>
        <p:nvSpPr>
          <p:cNvPr id="1048718" name="Shape 296"/>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31</a:t>
            </a:fld>
            <a:endParaRPr b="0" cap="none" sz="3600" i="0" lang="en-US" strike="noStrike" u="none">
              <a:solidFill>
                <a:srgbClr val="000000"/>
              </a:solidFill>
              <a:latin typeface="Arial"/>
              <a:ea typeface="Arial"/>
              <a:cs typeface="Arial"/>
              <a:sym typeface="Arial"/>
            </a:endParaRPr>
          </a:p>
        </p:txBody>
      </p:sp>
      <p:sp>
        <p:nvSpPr>
          <p:cNvPr id="1048719" name="Shape 297"/>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20" name="Shape 298"/>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308"/>
        <p:cNvGrpSpPr/>
        <p:nvPr/>
      </p:nvGrpSpPr>
      <p:grpSpPr>
        <a:xfrm>
          <a:off x="0" y="0"/>
          <a:ext cx="0" cy="0"/>
          <a:chOff x="0" y="0"/>
          <a:chExt cx="0" cy="0"/>
        </a:xfrm>
      </p:grpSpPr>
      <p:sp>
        <p:nvSpPr>
          <p:cNvPr id="1048723" name="Shape 309"/>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32</a:t>
            </a:fld>
            <a:endParaRPr b="0" cap="none" sz="3600" i="0" lang="en-US" strike="noStrike" u="none">
              <a:solidFill>
                <a:srgbClr val="000000"/>
              </a:solidFill>
              <a:latin typeface="Arial"/>
              <a:ea typeface="Arial"/>
              <a:cs typeface="Arial"/>
              <a:sym typeface="Arial"/>
            </a:endParaRPr>
          </a:p>
        </p:txBody>
      </p:sp>
      <p:sp>
        <p:nvSpPr>
          <p:cNvPr id="1048724" name="Shape 310"/>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25" name="Shape 311"/>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315"/>
        <p:cNvGrpSpPr/>
        <p:nvPr/>
      </p:nvGrpSpPr>
      <p:grpSpPr>
        <a:xfrm>
          <a:off x="0" y="0"/>
          <a:ext cx="0" cy="0"/>
          <a:chOff x="0" y="0"/>
          <a:chExt cx="0" cy="0"/>
        </a:xfrm>
      </p:grpSpPr>
      <p:sp>
        <p:nvSpPr>
          <p:cNvPr id="1048728" name="Shape 316"/>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29" name="Shape 317"/>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321"/>
        <p:cNvGrpSpPr/>
        <p:nvPr/>
      </p:nvGrpSpPr>
      <p:grpSpPr>
        <a:xfrm>
          <a:off x="0" y="0"/>
          <a:ext cx="0" cy="0"/>
          <a:chOff x="0" y="0"/>
          <a:chExt cx="0" cy="0"/>
        </a:xfrm>
      </p:grpSpPr>
      <p:sp>
        <p:nvSpPr>
          <p:cNvPr id="1048732" name="Shape 322"/>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34</a:t>
            </a:fld>
            <a:endParaRPr b="0" cap="none" sz="3600" i="0" lang="en-US" strike="noStrike" u="none">
              <a:solidFill>
                <a:srgbClr val="000000"/>
              </a:solidFill>
              <a:latin typeface="Arial"/>
              <a:ea typeface="Arial"/>
              <a:cs typeface="Arial"/>
              <a:sym typeface="Arial"/>
            </a:endParaRPr>
          </a:p>
        </p:txBody>
      </p:sp>
      <p:sp>
        <p:nvSpPr>
          <p:cNvPr id="1048733" name="Shape 323"/>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34" name="Shape 324"/>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328"/>
        <p:cNvGrpSpPr/>
        <p:nvPr/>
      </p:nvGrpSpPr>
      <p:grpSpPr>
        <a:xfrm>
          <a:off x="0" y="0"/>
          <a:ext cx="0" cy="0"/>
          <a:chOff x="0" y="0"/>
          <a:chExt cx="0" cy="0"/>
        </a:xfrm>
      </p:grpSpPr>
      <p:sp>
        <p:nvSpPr>
          <p:cNvPr id="1048737" name="Shape 329"/>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35</a:t>
            </a:fld>
            <a:endParaRPr b="0" cap="none" sz="3600" i="0" lang="en-US" strike="noStrike" u="none">
              <a:solidFill>
                <a:srgbClr val="000000"/>
              </a:solidFill>
              <a:latin typeface="Arial"/>
              <a:ea typeface="Arial"/>
              <a:cs typeface="Arial"/>
              <a:sym typeface="Arial"/>
            </a:endParaRPr>
          </a:p>
        </p:txBody>
      </p:sp>
      <p:sp>
        <p:nvSpPr>
          <p:cNvPr id="1048738" name="Shape 330"/>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39" name="Shape 331"/>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335"/>
        <p:cNvGrpSpPr/>
        <p:nvPr/>
      </p:nvGrpSpPr>
      <p:grpSpPr>
        <a:xfrm>
          <a:off x="0" y="0"/>
          <a:ext cx="0" cy="0"/>
          <a:chOff x="0" y="0"/>
          <a:chExt cx="0" cy="0"/>
        </a:xfrm>
      </p:grpSpPr>
      <p:sp>
        <p:nvSpPr>
          <p:cNvPr id="1048744" name="Shape 336"/>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37</a:t>
            </a:fld>
            <a:endParaRPr b="0" cap="none" sz="3600" i="0" lang="en-US" strike="noStrike" u="none">
              <a:solidFill>
                <a:srgbClr val="000000"/>
              </a:solidFill>
              <a:latin typeface="Arial"/>
              <a:ea typeface="Arial"/>
              <a:cs typeface="Arial"/>
              <a:sym typeface="Arial"/>
            </a:endParaRPr>
          </a:p>
        </p:txBody>
      </p:sp>
      <p:sp>
        <p:nvSpPr>
          <p:cNvPr id="1048745" name="Shape 337"/>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46" name="Shape 338"/>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342"/>
        <p:cNvGrpSpPr/>
        <p:nvPr/>
      </p:nvGrpSpPr>
      <p:grpSpPr>
        <a:xfrm>
          <a:off x="0" y="0"/>
          <a:ext cx="0" cy="0"/>
          <a:chOff x="0" y="0"/>
          <a:chExt cx="0" cy="0"/>
        </a:xfrm>
      </p:grpSpPr>
      <p:sp>
        <p:nvSpPr>
          <p:cNvPr id="1048749" name="Shape 343"/>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38</a:t>
            </a:fld>
            <a:endParaRPr b="0" cap="none" sz="3600" i="0" lang="en-US" strike="noStrike" u="none">
              <a:solidFill>
                <a:srgbClr val="000000"/>
              </a:solidFill>
              <a:latin typeface="Arial"/>
              <a:ea typeface="Arial"/>
              <a:cs typeface="Arial"/>
              <a:sym typeface="Arial"/>
            </a:endParaRPr>
          </a:p>
        </p:txBody>
      </p:sp>
      <p:sp>
        <p:nvSpPr>
          <p:cNvPr id="1048750" name="Shape 344"/>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51" name="Shape 345"/>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85"/>
        <p:cNvGrpSpPr/>
        <p:nvPr/>
      </p:nvGrpSpPr>
      <p:grpSpPr>
        <a:xfrm>
          <a:off x="0" y="0"/>
          <a:ext cx="0" cy="0"/>
          <a:chOff x="0" y="0"/>
          <a:chExt cx="0" cy="0"/>
        </a:xfrm>
      </p:grpSpPr>
      <p:sp>
        <p:nvSpPr>
          <p:cNvPr id="1048754" name="Shape 186"/>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55" name="Shape 187"/>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363"/>
        <p:cNvGrpSpPr/>
        <p:nvPr/>
      </p:nvGrpSpPr>
      <p:grpSpPr>
        <a:xfrm>
          <a:off x="0" y="0"/>
          <a:ext cx="0" cy="0"/>
          <a:chOff x="0" y="0"/>
          <a:chExt cx="0" cy="0"/>
        </a:xfrm>
      </p:grpSpPr>
      <p:sp>
        <p:nvSpPr>
          <p:cNvPr id="1048758" name="Shape 364"/>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40</a:t>
            </a:fld>
            <a:endParaRPr b="0" cap="none" sz="3600" i="0" lang="en-US" strike="noStrike" u="none">
              <a:solidFill>
                <a:srgbClr val="000000"/>
              </a:solidFill>
              <a:latin typeface="Arial"/>
              <a:ea typeface="Arial"/>
              <a:cs typeface="Arial"/>
              <a:sym typeface="Arial"/>
            </a:endParaRPr>
          </a:p>
        </p:txBody>
      </p:sp>
      <p:sp>
        <p:nvSpPr>
          <p:cNvPr id="1048759" name="Shape 365"/>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60" name="Shape 366"/>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370"/>
        <p:cNvGrpSpPr/>
        <p:nvPr/>
      </p:nvGrpSpPr>
      <p:grpSpPr>
        <a:xfrm>
          <a:off x="0" y="0"/>
          <a:ext cx="0" cy="0"/>
          <a:chOff x="0" y="0"/>
          <a:chExt cx="0" cy="0"/>
        </a:xfrm>
      </p:grpSpPr>
      <p:sp>
        <p:nvSpPr>
          <p:cNvPr id="1048763" name="Shape 371"/>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41</a:t>
            </a:fld>
            <a:endParaRPr b="0" cap="none" sz="3600" i="0" lang="en-US" strike="noStrike" u="none">
              <a:solidFill>
                <a:srgbClr val="000000"/>
              </a:solidFill>
              <a:latin typeface="Arial"/>
              <a:ea typeface="Arial"/>
              <a:cs typeface="Arial"/>
              <a:sym typeface="Arial"/>
            </a:endParaRPr>
          </a:p>
        </p:txBody>
      </p:sp>
      <p:sp>
        <p:nvSpPr>
          <p:cNvPr id="1048764" name="Shape 372"/>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65" name="Shape 373"/>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349"/>
        <p:cNvGrpSpPr/>
        <p:nvPr/>
      </p:nvGrpSpPr>
      <p:grpSpPr>
        <a:xfrm>
          <a:off x="0" y="0"/>
          <a:ext cx="0" cy="0"/>
          <a:chOff x="0" y="0"/>
          <a:chExt cx="0" cy="0"/>
        </a:xfrm>
      </p:grpSpPr>
      <p:sp>
        <p:nvSpPr>
          <p:cNvPr id="1048768" name="Shape 350"/>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42</a:t>
            </a:fld>
            <a:endParaRPr b="0" cap="none" sz="3600" i="0" lang="en-US" strike="noStrike" u="none">
              <a:solidFill>
                <a:srgbClr val="000000"/>
              </a:solidFill>
              <a:latin typeface="Arial"/>
              <a:ea typeface="Arial"/>
              <a:cs typeface="Arial"/>
              <a:sym typeface="Arial"/>
            </a:endParaRPr>
          </a:p>
        </p:txBody>
      </p:sp>
      <p:sp>
        <p:nvSpPr>
          <p:cNvPr id="1048769" name="Shape 351"/>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70" name="Shape 352"/>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356"/>
        <p:cNvGrpSpPr/>
        <p:nvPr/>
      </p:nvGrpSpPr>
      <p:grpSpPr>
        <a:xfrm>
          <a:off x="0" y="0"/>
          <a:ext cx="0" cy="0"/>
          <a:chOff x="0" y="0"/>
          <a:chExt cx="0" cy="0"/>
        </a:xfrm>
      </p:grpSpPr>
      <p:sp>
        <p:nvSpPr>
          <p:cNvPr id="1048773" name="Shape 357"/>
          <p:cNvSpPr txBox="1"/>
          <p:nvPr/>
        </p:nvSpPr>
        <p:spPr>
          <a:xfrm>
            <a:off x="3884612" y="8685212"/>
            <a:ext cx="2971799" cy="457200"/>
          </a:xfrm>
          <a:prstGeom prst="rect"/>
          <a:noFill/>
          <a:ln>
            <a:noFill/>
          </a:ln>
        </p:spPr>
        <p:txBody>
          <a:bodyPr anchor="b" anchorCtr="0" bIns="45700" lIns="91425" rIns="91425" tIns="45700">
            <a:noAutofit/>
          </a:bodyPr>
          <a:p>
            <a:pPr algn="r" indent="0" lvl="0" marL="0" marR="0" rtl="0">
              <a:lnSpc>
                <a:spcPct val="100000"/>
              </a:lnSpc>
              <a:spcBef>
                <a:spcPts val="0"/>
              </a:spcBef>
              <a:spcAft>
                <a:spcPts val="0"/>
              </a:spcAft>
              <a:buClr>
                <a:srgbClr val="000000"/>
              </a:buClr>
              <a:buSzPct val="25000"/>
              <a:buFont typeface="Arial"/>
              <a:buNone/>
            </a:pPr>
            <a:fld id="{00000000-1234-1234-1234-123412341234}" type="slidenum">
              <a:rPr b="0" cap="none" sz="3600" i="0" lang="en-US" strike="noStrike" u="none">
                <a:solidFill>
                  <a:srgbClr val="000000"/>
                </a:solidFill>
                <a:latin typeface="Arial"/>
                <a:ea typeface="Arial"/>
                <a:cs typeface="Arial"/>
                <a:sym typeface="Arial"/>
              </a:rPr>
              <a:t>43</a:t>
            </a:fld>
            <a:endParaRPr b="0" cap="none" sz="3600" i="0" lang="en-US" strike="noStrike" u="none">
              <a:solidFill>
                <a:srgbClr val="000000"/>
              </a:solidFill>
              <a:latin typeface="Arial"/>
              <a:ea typeface="Arial"/>
              <a:cs typeface="Arial"/>
              <a:sym typeface="Arial"/>
            </a:endParaRPr>
          </a:p>
        </p:txBody>
      </p:sp>
      <p:sp>
        <p:nvSpPr>
          <p:cNvPr id="1048774" name="Shape 358"/>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a:noFill/>
          <a:ln>
            <a:noFill/>
          </a:ln>
        </p:spPr>
      </p:sp>
      <p:sp>
        <p:nvSpPr>
          <p:cNvPr id="1048775" name="Shape 359"/>
          <p:cNvSpPr txBox="1">
            <a:spLocks noGrp="1"/>
          </p:cNvSpPr>
          <p:nvPr>
            <p:ph type="body" idx="1"/>
          </p:nvPr>
        </p:nvSpPr>
        <p:spPr>
          <a:xfrm>
            <a:off x="685800" y="4343400"/>
            <a:ext cx="5486400" cy="4114800"/>
          </a:xfrm>
          <a:prstGeom prst="rect"/>
          <a:noFill/>
          <a:ln>
            <a:noFill/>
          </a:ln>
        </p:spPr>
        <p:txBody>
          <a:bodyPr anchor="t" anchorCtr="0" bIns="45700" lIns="91425" rIns="91425" tIns="45700">
            <a:noAutofit/>
          </a:bodyPr>
          <a:p>
            <a:pPr algn="l" indent="0" lvl="0" marL="0" rtl="0">
              <a:spcBef>
                <a:spcPts val="0"/>
              </a:spcBef>
              <a:buSzPct val="25000"/>
              <a:buNone/>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377"/>
        <p:cNvGrpSpPr/>
        <p:nvPr/>
      </p:nvGrpSpPr>
      <p:grpSpPr>
        <a:xfrm>
          <a:off x="0" y="0"/>
          <a:ext cx="0" cy="0"/>
          <a:chOff x="0" y="0"/>
          <a:chExt cx="0" cy="0"/>
        </a:xfrm>
      </p:grpSpPr>
      <p:sp>
        <p:nvSpPr>
          <p:cNvPr id="1048778" name="Shape 378"/>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79" name="Shape 379"/>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383"/>
        <p:cNvGrpSpPr/>
        <p:nvPr/>
      </p:nvGrpSpPr>
      <p:grpSpPr>
        <a:xfrm>
          <a:off x="0" y="0"/>
          <a:ext cx="0" cy="0"/>
          <a:chOff x="0" y="0"/>
          <a:chExt cx="0" cy="0"/>
        </a:xfrm>
      </p:grpSpPr>
      <p:sp>
        <p:nvSpPr>
          <p:cNvPr id="1048782" name="Shape 384"/>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83" name="Shape 385"/>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389"/>
        <p:cNvGrpSpPr/>
        <p:nvPr/>
      </p:nvGrpSpPr>
      <p:grpSpPr>
        <a:xfrm>
          <a:off x="0" y="0"/>
          <a:ext cx="0" cy="0"/>
          <a:chOff x="0" y="0"/>
          <a:chExt cx="0" cy="0"/>
        </a:xfrm>
      </p:grpSpPr>
      <p:sp>
        <p:nvSpPr>
          <p:cNvPr id="1048786" name="Shape 390"/>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87" name="Shape 391"/>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395"/>
        <p:cNvGrpSpPr/>
        <p:nvPr/>
      </p:nvGrpSpPr>
      <p:grpSpPr>
        <a:xfrm>
          <a:off x="0" y="0"/>
          <a:ext cx="0" cy="0"/>
          <a:chOff x="0" y="0"/>
          <a:chExt cx="0" cy="0"/>
        </a:xfrm>
      </p:grpSpPr>
      <p:sp>
        <p:nvSpPr>
          <p:cNvPr id="1048790" name="Shape 396"/>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91" name="Shape 397"/>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401"/>
        <p:cNvGrpSpPr/>
        <p:nvPr/>
      </p:nvGrpSpPr>
      <p:grpSpPr>
        <a:xfrm>
          <a:off x="0" y="0"/>
          <a:ext cx="0" cy="0"/>
          <a:chOff x="0" y="0"/>
          <a:chExt cx="0" cy="0"/>
        </a:xfrm>
      </p:grpSpPr>
      <p:sp>
        <p:nvSpPr>
          <p:cNvPr id="1048794" name="Shape 402"/>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95" name="Shape 403"/>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407"/>
        <p:cNvGrpSpPr/>
        <p:nvPr/>
      </p:nvGrpSpPr>
      <p:grpSpPr>
        <a:xfrm>
          <a:off x="0" y="0"/>
          <a:ext cx="0" cy="0"/>
          <a:chOff x="0" y="0"/>
          <a:chExt cx="0" cy="0"/>
        </a:xfrm>
      </p:grpSpPr>
      <p:sp>
        <p:nvSpPr>
          <p:cNvPr id="1048798" name="Shape 408"/>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799" name="Shape 409"/>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413"/>
        <p:cNvGrpSpPr/>
        <p:nvPr/>
      </p:nvGrpSpPr>
      <p:grpSpPr>
        <a:xfrm>
          <a:off x="0" y="0"/>
          <a:ext cx="0" cy="0"/>
          <a:chOff x="0" y="0"/>
          <a:chExt cx="0" cy="0"/>
        </a:xfrm>
      </p:grpSpPr>
      <p:sp>
        <p:nvSpPr>
          <p:cNvPr id="1048802" name="Shape 414"/>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803" name="Shape 415"/>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 name="Shape 419"/>
        <p:cNvGrpSpPr/>
        <p:nvPr/>
      </p:nvGrpSpPr>
      <p:grpSpPr>
        <a:xfrm>
          <a:off x="0" y="0"/>
          <a:ext cx="0" cy="0"/>
          <a:chOff x="0" y="0"/>
          <a:chExt cx="0" cy="0"/>
        </a:xfrm>
      </p:grpSpPr>
      <p:sp>
        <p:nvSpPr>
          <p:cNvPr id="1048806" name="Shape 420"/>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807" name="Shape 421"/>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431"/>
        <p:cNvGrpSpPr/>
        <p:nvPr/>
      </p:nvGrpSpPr>
      <p:grpSpPr>
        <a:xfrm>
          <a:off x="0" y="0"/>
          <a:ext cx="0" cy="0"/>
          <a:chOff x="0" y="0"/>
          <a:chExt cx="0" cy="0"/>
        </a:xfrm>
      </p:grpSpPr>
      <p:sp>
        <p:nvSpPr>
          <p:cNvPr id="1048810" name="Shape 432"/>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811" name="Shape 433"/>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437"/>
        <p:cNvGrpSpPr/>
        <p:nvPr/>
      </p:nvGrpSpPr>
      <p:grpSpPr>
        <a:xfrm>
          <a:off x="0" y="0"/>
          <a:ext cx="0" cy="0"/>
          <a:chOff x="0" y="0"/>
          <a:chExt cx="0" cy="0"/>
        </a:xfrm>
      </p:grpSpPr>
      <p:sp>
        <p:nvSpPr>
          <p:cNvPr id="1048814" name="Shape 438"/>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815" name="Shape 439"/>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449"/>
        <p:cNvGrpSpPr/>
        <p:nvPr/>
      </p:nvGrpSpPr>
      <p:grpSpPr>
        <a:xfrm>
          <a:off x="0" y="0"/>
          <a:ext cx="0" cy="0"/>
          <a:chOff x="0" y="0"/>
          <a:chExt cx="0" cy="0"/>
        </a:xfrm>
      </p:grpSpPr>
      <p:sp>
        <p:nvSpPr>
          <p:cNvPr id="1048818" name="Shape 450"/>
          <p:cNvSpPr txBox="1">
            <a:spLocks noGrp="1"/>
          </p:cNvSpPr>
          <p:nvPr>
            <p:ph type="body" idx="1"/>
          </p:nvPr>
        </p:nvSpPr>
        <p:spPr>
          <a:xfrm>
            <a:off x="685800" y="4343400"/>
            <a:ext cx="5486400" cy="4114800"/>
          </a:xfrm>
          <a:prstGeom prst="rect"/>
        </p:spPr>
        <p:txBody>
          <a:bodyPr anchor="t" anchorCtr="0" bIns="91425" lIns="91425" rIns="91425" tIns="91425">
            <a:noAutofit/>
          </a:bodyPr>
          <a:p>
            <a:pPr lvl="0">
              <a:spcBef>
                <a:spcPts val="0"/>
              </a:spcBef>
              <a:buNone/>
            </a:pPr>
          </a:p>
        </p:txBody>
      </p:sp>
      <p:sp>
        <p:nvSpPr>
          <p:cNvPr id="1048819" name="Shape 451"/>
          <p:cNvSpPr>
            <a:spLocks noChangeAspect="1" noRot="1" noGrp="1"/>
          </p:cNvSpPr>
          <p:nvPr>
            <p:ph type="sldImg" idx="2"/>
          </p:nvPr>
        </p:nvSpPr>
        <p:spPr>
          <a:xfrm>
            <a:off x="381000" y="685800"/>
            <a:ext cx="6096000" cy="3429000"/>
          </a:xfrm>
          <a:custGeom>
            <a:avLst/>
            <a:ah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3" name="Date Placeholder 3"/>
          <p:cNvSpPr>
            <a:spLocks noGrp="1"/>
          </p:cNvSpPr>
          <p:nvPr>
            <p:ph type="dt" sz="half" idx="10"/>
          </p:nvPr>
        </p:nvSpPr>
        <p:spPr/>
        <p:txBody>
          <a:bodyPr/>
          <a:p>
            <a:fld id="{058254B8-07AE-4115-A7DC-9D2DEC24CC49}" type="datetimeFigureOut">
              <a:rPr lang="en-US" smtClean="0"/>
              <a:t>5/13/2025</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70" name=""/>
        <p:cNvGrpSpPr/>
        <p:nvPr/>
      </p:nvGrpSpPr>
      <p:grpSpPr>
        <a:xfrm>
          <a:off x="0" y="0"/>
          <a:ext cx="0" cy="0"/>
          <a:chOff x="0" y="0"/>
          <a:chExt cx="0" cy="0"/>
        </a:xfrm>
      </p:grpSpPr>
      <p:sp>
        <p:nvSpPr>
          <p:cNvPr id="1048588" name="Title 1"/>
          <p:cNvSpPr>
            <a:spLocks noGrp="1"/>
          </p:cNvSpPr>
          <p:nvPr>
            <p:ph type="title"/>
          </p:nvPr>
        </p:nvSpPr>
        <p:spPr/>
        <p:txBody>
          <a:bodyPr/>
          <a:p>
            <a:r>
              <a:rPr lang="en-US"/>
              <a:t>Click to edit Master title style</a:t>
            </a:r>
          </a:p>
        </p:txBody>
      </p:sp>
      <p:sp>
        <p:nvSpPr>
          <p:cNvPr id="1048589"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0" name="Date Placeholder 3"/>
          <p:cNvSpPr>
            <a:spLocks noGrp="1"/>
          </p:cNvSpPr>
          <p:nvPr>
            <p:ph type="dt" sz="half" idx="10"/>
          </p:nvPr>
        </p:nvSpPr>
        <p:spPr/>
        <p:txBody>
          <a:bodyPr/>
          <a:p>
            <a:fld id="{058254B8-07AE-4115-A7DC-9D2DEC24CC49}" type="datetimeFigureOut">
              <a:rPr lang="en-US" smtClean="0"/>
              <a:t>5/13/2025</a:t>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26" name=""/>
        <p:cNvGrpSpPr/>
        <p:nvPr/>
      </p:nvGrpSpPr>
      <p:grpSpPr>
        <a:xfrm>
          <a:off x="0" y="0"/>
          <a:ext cx="0" cy="0"/>
          <a:chOff x="0" y="0"/>
          <a:chExt cx="0" cy="0"/>
        </a:xfrm>
      </p:grpSpPr>
      <p:sp>
        <p:nvSpPr>
          <p:cNvPr id="1048840"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841"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842" name="Date Placeholder 3"/>
          <p:cNvSpPr>
            <a:spLocks noGrp="1"/>
          </p:cNvSpPr>
          <p:nvPr>
            <p:ph type="dt" sz="half" idx="10"/>
          </p:nvPr>
        </p:nvSpPr>
        <p:spPr/>
        <p:txBody>
          <a:bodyPr/>
          <a:p>
            <a:fld id="{058254B8-07AE-4115-A7DC-9D2DEC24CC49}" type="datetimeFigureOut">
              <a:rPr lang="en-US" smtClean="0"/>
              <a:t>5/13/2025</a:t>
            </a:fld>
            <a:endParaRPr lang="en-US"/>
          </a:p>
        </p:txBody>
      </p:sp>
      <p:sp>
        <p:nvSpPr>
          <p:cNvPr id="1048843" name="Footer Placeholder 4"/>
          <p:cNvSpPr>
            <a:spLocks noGrp="1"/>
          </p:cNvSpPr>
          <p:nvPr>
            <p:ph type="ftr" sz="quarter" idx="11"/>
          </p:nvPr>
        </p:nvSpPr>
        <p:spPr/>
        <p:txBody>
          <a:bodyPr/>
          <a:p>
            <a:endParaRPr lang="en-US"/>
          </a:p>
        </p:txBody>
      </p:sp>
      <p:sp>
        <p:nvSpPr>
          <p:cNvPr id="1048844" name="Slide Number Placeholder 5"/>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27" name=""/>
        <p:cNvGrpSpPr/>
        <p:nvPr/>
      </p:nvGrpSpPr>
      <p:grpSpPr>
        <a:xfrm>
          <a:off x="0" y="0"/>
          <a:ext cx="0" cy="0"/>
          <a:chOff x="0" y="0"/>
          <a:chExt cx="0" cy="0"/>
        </a:xfrm>
      </p:grpSpPr>
      <p:sp>
        <p:nvSpPr>
          <p:cNvPr id="1048845" name="Title 1"/>
          <p:cNvSpPr>
            <a:spLocks noGrp="1"/>
          </p:cNvSpPr>
          <p:nvPr>
            <p:ph type="title"/>
          </p:nvPr>
        </p:nvSpPr>
        <p:spPr/>
        <p:txBody>
          <a:bodyPr/>
          <a:p>
            <a:r>
              <a:rPr lang="en-US"/>
              <a:t>Click to edit Master title style</a:t>
            </a:r>
          </a:p>
        </p:txBody>
      </p:sp>
      <p:sp>
        <p:nvSpPr>
          <p:cNvPr id="1048846"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7"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8" name="Date Placeholder 4"/>
          <p:cNvSpPr>
            <a:spLocks noGrp="1"/>
          </p:cNvSpPr>
          <p:nvPr>
            <p:ph type="dt" sz="half" idx="10"/>
          </p:nvPr>
        </p:nvSpPr>
        <p:spPr/>
        <p:txBody>
          <a:bodyPr/>
          <a:p>
            <a:fld id="{058254B8-07AE-4115-A7DC-9D2DEC24CC49}" type="datetimeFigureOut">
              <a:rPr lang="en-US" smtClean="0"/>
              <a:t>5/13/2025</a:t>
            </a:fld>
            <a:endParaRPr lang="en-US"/>
          </a:p>
        </p:txBody>
      </p:sp>
      <p:sp>
        <p:nvSpPr>
          <p:cNvPr id="1048849" name="Footer Placeholder 5"/>
          <p:cNvSpPr>
            <a:spLocks noGrp="1"/>
          </p:cNvSpPr>
          <p:nvPr>
            <p:ph type="ftr" sz="quarter" idx="11"/>
          </p:nvPr>
        </p:nvSpPr>
        <p:spPr/>
        <p:txBody>
          <a:bodyPr/>
          <a:p>
            <a:endParaRPr lang="en-US"/>
          </a:p>
        </p:txBody>
      </p:sp>
      <p:sp>
        <p:nvSpPr>
          <p:cNvPr id="1048850" name="Slide Number Placeholder 6"/>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28" name=""/>
        <p:cNvGrpSpPr/>
        <p:nvPr/>
      </p:nvGrpSpPr>
      <p:grpSpPr>
        <a:xfrm>
          <a:off x="0" y="0"/>
          <a:ext cx="0" cy="0"/>
          <a:chOff x="0" y="0"/>
          <a:chExt cx="0" cy="0"/>
        </a:xfrm>
      </p:grpSpPr>
      <p:sp>
        <p:nvSpPr>
          <p:cNvPr id="1048851" name="Title 1"/>
          <p:cNvSpPr>
            <a:spLocks noGrp="1"/>
          </p:cNvSpPr>
          <p:nvPr>
            <p:ph type="title"/>
          </p:nvPr>
        </p:nvSpPr>
        <p:spPr>
          <a:xfrm>
            <a:off x="839788" y="365125"/>
            <a:ext cx="10515600" cy="1325563"/>
          </a:xfrm>
        </p:spPr>
        <p:txBody>
          <a:bodyPr/>
          <a:p>
            <a:r>
              <a:rPr lang="en-US"/>
              <a:t>Click to edit Master title style</a:t>
            </a:r>
          </a:p>
        </p:txBody>
      </p:sp>
      <p:sp>
        <p:nvSpPr>
          <p:cNvPr id="1048852"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853"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4"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855"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6" name="Date Placeholder 6"/>
          <p:cNvSpPr>
            <a:spLocks noGrp="1"/>
          </p:cNvSpPr>
          <p:nvPr>
            <p:ph type="dt" sz="half" idx="10"/>
          </p:nvPr>
        </p:nvSpPr>
        <p:spPr/>
        <p:txBody>
          <a:bodyPr/>
          <a:p>
            <a:fld id="{058254B8-07AE-4115-A7DC-9D2DEC24CC49}" type="datetimeFigureOut">
              <a:rPr lang="en-US" smtClean="0"/>
              <a:t>5/13/2025</a:t>
            </a:fld>
            <a:endParaRPr lang="en-US"/>
          </a:p>
        </p:txBody>
      </p:sp>
      <p:sp>
        <p:nvSpPr>
          <p:cNvPr id="1048857" name="Footer Placeholder 7"/>
          <p:cNvSpPr>
            <a:spLocks noGrp="1"/>
          </p:cNvSpPr>
          <p:nvPr>
            <p:ph type="ftr" sz="quarter" idx="11"/>
          </p:nvPr>
        </p:nvSpPr>
        <p:spPr/>
        <p:txBody>
          <a:bodyPr/>
          <a:p>
            <a:endParaRPr lang="en-US"/>
          </a:p>
        </p:txBody>
      </p:sp>
      <p:sp>
        <p:nvSpPr>
          <p:cNvPr id="1048858" name="Slide Number Placeholder 8"/>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22" name=""/>
        <p:cNvGrpSpPr/>
        <p:nvPr/>
      </p:nvGrpSpPr>
      <p:grpSpPr>
        <a:xfrm>
          <a:off x="0" y="0"/>
          <a:ext cx="0" cy="0"/>
          <a:chOff x="0" y="0"/>
          <a:chExt cx="0" cy="0"/>
        </a:xfrm>
      </p:grpSpPr>
      <p:sp>
        <p:nvSpPr>
          <p:cNvPr id="1048820" name="Title 1"/>
          <p:cNvSpPr>
            <a:spLocks noGrp="1"/>
          </p:cNvSpPr>
          <p:nvPr>
            <p:ph type="title"/>
          </p:nvPr>
        </p:nvSpPr>
        <p:spPr/>
        <p:txBody>
          <a:bodyPr/>
          <a:p>
            <a:r>
              <a:rPr lang="en-US"/>
              <a:t>Click to edit Master title style</a:t>
            </a:r>
          </a:p>
        </p:txBody>
      </p:sp>
      <p:sp>
        <p:nvSpPr>
          <p:cNvPr id="1048821" name="Date Placeholder 2"/>
          <p:cNvSpPr>
            <a:spLocks noGrp="1"/>
          </p:cNvSpPr>
          <p:nvPr>
            <p:ph type="dt" sz="half" idx="10"/>
          </p:nvPr>
        </p:nvSpPr>
        <p:spPr/>
        <p:txBody>
          <a:bodyPr/>
          <a:p>
            <a:fld id="{058254B8-07AE-4115-A7DC-9D2DEC24CC49}" type="datetimeFigureOut">
              <a:rPr lang="en-US" smtClean="0"/>
              <a:t>5/13/2025</a:t>
            </a:fld>
            <a:endParaRPr lang="en-US"/>
          </a:p>
        </p:txBody>
      </p:sp>
      <p:sp>
        <p:nvSpPr>
          <p:cNvPr id="1048822" name="Footer Placeholder 3"/>
          <p:cNvSpPr>
            <a:spLocks noGrp="1"/>
          </p:cNvSpPr>
          <p:nvPr>
            <p:ph type="ftr" sz="quarter" idx="11"/>
          </p:nvPr>
        </p:nvSpPr>
        <p:spPr/>
        <p:txBody>
          <a:bodyPr/>
          <a:p>
            <a:endParaRPr lang="en-US"/>
          </a:p>
        </p:txBody>
      </p:sp>
      <p:sp>
        <p:nvSpPr>
          <p:cNvPr id="1048823" name="Slide Number Placeholder 4"/>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29" name=""/>
        <p:cNvGrpSpPr/>
        <p:nvPr/>
      </p:nvGrpSpPr>
      <p:grpSpPr>
        <a:xfrm>
          <a:off x="0" y="0"/>
          <a:ext cx="0" cy="0"/>
          <a:chOff x="0" y="0"/>
          <a:chExt cx="0" cy="0"/>
        </a:xfrm>
      </p:grpSpPr>
      <p:sp>
        <p:nvSpPr>
          <p:cNvPr id="1048859" name="Date Placeholder 1"/>
          <p:cNvSpPr>
            <a:spLocks noGrp="1"/>
          </p:cNvSpPr>
          <p:nvPr>
            <p:ph type="dt" sz="half" idx="10"/>
          </p:nvPr>
        </p:nvSpPr>
        <p:spPr/>
        <p:txBody>
          <a:bodyPr/>
          <a:p>
            <a:fld id="{058254B8-07AE-4115-A7DC-9D2DEC24CC49}" type="datetimeFigureOut">
              <a:rPr lang="en-US" smtClean="0"/>
              <a:t>5/13/2025</a:t>
            </a:fld>
            <a:endParaRPr lang="en-US"/>
          </a:p>
        </p:txBody>
      </p:sp>
      <p:sp>
        <p:nvSpPr>
          <p:cNvPr id="1048860" name="Footer Placeholder 2"/>
          <p:cNvSpPr>
            <a:spLocks noGrp="1"/>
          </p:cNvSpPr>
          <p:nvPr>
            <p:ph type="ftr" sz="quarter" idx="11"/>
          </p:nvPr>
        </p:nvSpPr>
        <p:spPr/>
        <p:txBody>
          <a:bodyPr/>
          <a:p>
            <a:endParaRPr lang="en-US"/>
          </a:p>
        </p:txBody>
      </p:sp>
      <p:sp>
        <p:nvSpPr>
          <p:cNvPr id="1048861" name="Slide Number Placeholder 3"/>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30" name=""/>
        <p:cNvGrpSpPr/>
        <p:nvPr/>
      </p:nvGrpSpPr>
      <p:grpSpPr>
        <a:xfrm>
          <a:off x="0" y="0"/>
          <a:ext cx="0" cy="0"/>
          <a:chOff x="0" y="0"/>
          <a:chExt cx="0" cy="0"/>
        </a:xfrm>
      </p:grpSpPr>
      <p:sp>
        <p:nvSpPr>
          <p:cNvPr id="104886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86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4"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865" name="Date Placeholder 4"/>
          <p:cNvSpPr>
            <a:spLocks noGrp="1"/>
          </p:cNvSpPr>
          <p:nvPr>
            <p:ph type="dt" sz="half" idx="10"/>
          </p:nvPr>
        </p:nvSpPr>
        <p:spPr/>
        <p:txBody>
          <a:bodyPr/>
          <a:p>
            <a:fld id="{058254B8-07AE-4115-A7DC-9D2DEC24CC49}" type="datetimeFigureOut">
              <a:rPr lang="en-US" smtClean="0"/>
              <a:t>5/13/2025</a:t>
            </a:fld>
            <a:endParaRPr lang="en-US"/>
          </a:p>
        </p:txBody>
      </p:sp>
      <p:sp>
        <p:nvSpPr>
          <p:cNvPr id="1048866" name="Footer Placeholder 5"/>
          <p:cNvSpPr>
            <a:spLocks noGrp="1"/>
          </p:cNvSpPr>
          <p:nvPr>
            <p:ph type="ftr" sz="quarter" idx="11"/>
          </p:nvPr>
        </p:nvSpPr>
        <p:spPr/>
        <p:txBody>
          <a:bodyPr/>
          <a:p>
            <a:endParaRPr lang="en-US"/>
          </a:p>
        </p:txBody>
      </p:sp>
      <p:sp>
        <p:nvSpPr>
          <p:cNvPr id="1048867" name="Slide Number Placeholder 6"/>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24" name=""/>
        <p:cNvGrpSpPr/>
        <p:nvPr/>
      </p:nvGrpSpPr>
      <p:grpSpPr>
        <a:xfrm>
          <a:off x="0" y="0"/>
          <a:ext cx="0" cy="0"/>
          <a:chOff x="0" y="0"/>
          <a:chExt cx="0" cy="0"/>
        </a:xfrm>
      </p:grpSpPr>
      <p:sp>
        <p:nvSpPr>
          <p:cNvPr id="1048829"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830"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831"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832" name="Date Placeholder 4"/>
          <p:cNvSpPr>
            <a:spLocks noGrp="1"/>
          </p:cNvSpPr>
          <p:nvPr>
            <p:ph type="dt" sz="half" idx="10"/>
          </p:nvPr>
        </p:nvSpPr>
        <p:spPr/>
        <p:txBody>
          <a:bodyPr/>
          <a:p>
            <a:fld id="{058254B8-07AE-4115-A7DC-9D2DEC24CC49}" type="datetimeFigureOut">
              <a:rPr lang="en-US" smtClean="0"/>
              <a:t>5/13/2025</a:t>
            </a:fld>
            <a:endParaRPr lang="en-US"/>
          </a:p>
        </p:txBody>
      </p:sp>
      <p:sp>
        <p:nvSpPr>
          <p:cNvPr id="1048833" name="Footer Placeholder 5"/>
          <p:cNvSpPr>
            <a:spLocks noGrp="1"/>
          </p:cNvSpPr>
          <p:nvPr>
            <p:ph type="ftr" sz="quarter" idx="11"/>
          </p:nvPr>
        </p:nvSpPr>
        <p:spPr/>
        <p:txBody>
          <a:bodyPr/>
          <a:p>
            <a:endParaRPr lang="en-US"/>
          </a:p>
        </p:txBody>
      </p:sp>
      <p:sp>
        <p:nvSpPr>
          <p:cNvPr id="1048834" name="Slide Number Placeholder 6"/>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25" name=""/>
        <p:cNvGrpSpPr/>
        <p:nvPr/>
      </p:nvGrpSpPr>
      <p:grpSpPr>
        <a:xfrm>
          <a:off x="0" y="0"/>
          <a:ext cx="0" cy="0"/>
          <a:chOff x="0" y="0"/>
          <a:chExt cx="0" cy="0"/>
        </a:xfrm>
      </p:grpSpPr>
      <p:sp>
        <p:nvSpPr>
          <p:cNvPr id="1048835" name="Title 1"/>
          <p:cNvSpPr>
            <a:spLocks noGrp="1"/>
          </p:cNvSpPr>
          <p:nvPr>
            <p:ph type="title"/>
          </p:nvPr>
        </p:nvSpPr>
        <p:spPr/>
        <p:txBody>
          <a:bodyPr/>
          <a:p>
            <a:r>
              <a:rPr lang="en-US"/>
              <a:t>Click to edit Master title style</a:t>
            </a:r>
          </a:p>
        </p:txBody>
      </p:sp>
      <p:sp>
        <p:nvSpPr>
          <p:cNvPr id="1048836"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37" name="Date Placeholder 3"/>
          <p:cNvSpPr>
            <a:spLocks noGrp="1"/>
          </p:cNvSpPr>
          <p:nvPr>
            <p:ph type="dt" sz="half" idx="10"/>
          </p:nvPr>
        </p:nvSpPr>
        <p:spPr/>
        <p:txBody>
          <a:bodyPr/>
          <a:p>
            <a:fld id="{058254B8-07AE-4115-A7DC-9D2DEC24CC49}" type="datetimeFigureOut">
              <a:rPr lang="en-US" smtClean="0"/>
              <a:t>5/13/2025</a:t>
            </a:fld>
            <a:endParaRPr lang="en-US"/>
          </a:p>
        </p:txBody>
      </p:sp>
      <p:sp>
        <p:nvSpPr>
          <p:cNvPr id="1048838" name="Footer Placeholder 4"/>
          <p:cNvSpPr>
            <a:spLocks noGrp="1"/>
          </p:cNvSpPr>
          <p:nvPr>
            <p:ph type="ftr" sz="quarter" idx="11"/>
          </p:nvPr>
        </p:nvSpPr>
        <p:spPr/>
        <p:txBody>
          <a:bodyPr/>
          <a:p>
            <a:endParaRPr lang="en-US"/>
          </a:p>
        </p:txBody>
      </p:sp>
      <p:sp>
        <p:nvSpPr>
          <p:cNvPr id="1048839" name="Slide Number Placeholder 5"/>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23" name=""/>
        <p:cNvGrpSpPr/>
        <p:nvPr/>
      </p:nvGrpSpPr>
      <p:grpSpPr>
        <a:xfrm>
          <a:off x="0" y="0"/>
          <a:ext cx="0" cy="0"/>
          <a:chOff x="0" y="0"/>
          <a:chExt cx="0" cy="0"/>
        </a:xfrm>
      </p:grpSpPr>
      <p:sp>
        <p:nvSpPr>
          <p:cNvPr id="1048824" name="Vertical Title 1"/>
          <p:cNvSpPr>
            <a:spLocks noGrp="1"/>
          </p:cNvSpPr>
          <p:nvPr>
            <p:ph type="title" orient="vert"/>
          </p:nvPr>
        </p:nvSpPr>
        <p:spPr>
          <a:xfrm>
            <a:off x="8724900" y="365125"/>
            <a:ext cx="2628900" cy="5811838"/>
          </a:xfrm>
        </p:spPr>
        <p:txBody>
          <a:bodyPr vert="eaVert"/>
          <a:p>
            <a:r>
              <a:rPr lang="en-US"/>
              <a:t>Click to edit Master title style</a:t>
            </a:r>
          </a:p>
        </p:txBody>
      </p:sp>
      <p:sp>
        <p:nvSpPr>
          <p:cNvPr id="1048825"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6" name="Date Placeholder 3"/>
          <p:cNvSpPr>
            <a:spLocks noGrp="1"/>
          </p:cNvSpPr>
          <p:nvPr>
            <p:ph type="dt" sz="half" idx="10"/>
          </p:nvPr>
        </p:nvSpPr>
        <p:spPr/>
        <p:txBody>
          <a:bodyPr/>
          <a:p>
            <a:fld id="{058254B8-07AE-4115-A7DC-9D2DEC24CC49}" type="datetimeFigureOut">
              <a:rPr lang="en-US" smtClean="0"/>
              <a:t>5/13/2025</a:t>
            </a:fld>
            <a:endParaRPr lang="en-US"/>
          </a:p>
        </p:txBody>
      </p:sp>
      <p:sp>
        <p:nvSpPr>
          <p:cNvPr id="1048827" name="Footer Placeholder 4"/>
          <p:cNvSpPr>
            <a:spLocks noGrp="1"/>
          </p:cNvSpPr>
          <p:nvPr>
            <p:ph type="ftr" sz="quarter" idx="11"/>
          </p:nvPr>
        </p:nvSpPr>
        <p:spPr/>
        <p:txBody>
          <a:bodyPr/>
          <a:p>
            <a:endParaRPr lang="en-US"/>
          </a:p>
        </p:txBody>
      </p:sp>
      <p:sp>
        <p:nvSpPr>
          <p:cNvPr id="1048828" name="Slide Number Placeholder 5"/>
          <p:cNvSpPr>
            <a:spLocks noGrp="1"/>
          </p:cNvSpPr>
          <p:nvPr>
            <p:ph type="sldNum" sz="quarter" idx="12"/>
          </p:nvPr>
        </p:nvSpPr>
        <p:spPr/>
        <p:txBody>
          <a:bodyPr/>
          <a:p>
            <a:fld id="{706D147F-B3E4-4F2C-B3E8-CE045FC0D4D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058254B8-07AE-4115-A7DC-9D2DEC24CC49}" type="datetimeFigureOut">
              <a:rPr lang="en-US" smtClean="0"/>
              <a:t>5/13/2025</a:t>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706D147F-B3E4-4F2C-B3E8-CE045FC0D4D5}"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Title 1"/>
          <p:cNvSpPr>
            <a:spLocks noGrp="1"/>
          </p:cNvSpPr>
          <p:nvPr>
            <p:ph type="ctrTitle"/>
          </p:nvPr>
        </p:nvSpPr>
        <p:spPr>
          <a:xfrm>
            <a:off x="1524000" y="291428"/>
            <a:ext cx="9144000" cy="3218535"/>
          </a:xfrm>
        </p:spPr>
        <p:txBody>
          <a:bodyPr>
            <a:normAutofit/>
          </a:bodyPr>
          <a:p>
            <a:r>
              <a:rPr b="1" dirty="0" sz="4000" lang="en-US">
                <a:latin typeface="Garamond" panose="02020404030301010803" pitchFamily="18" charset="0"/>
              </a:rPr>
              <a:t>N</a:t>
            </a:r>
            <a:r>
              <a:rPr b="1" dirty="0" sz="4000" lang="en-US">
                <a:latin typeface="Garamond" panose="02020404030301010803" pitchFamily="18" charset="0"/>
              </a:rPr>
              <a:t>I</a:t>
            </a:r>
            <a:r>
              <a:rPr b="1" dirty="0" sz="4000" lang="en-US">
                <a:latin typeface="Garamond" panose="02020404030301010803" pitchFamily="18" charset="0"/>
              </a:rPr>
              <a:t>G</a:t>
            </a:r>
            <a:r>
              <a:rPr b="1" dirty="0" sz="4000" lang="en-US">
                <a:latin typeface="Garamond" panose="02020404030301010803" pitchFamily="18" charset="0"/>
              </a:rPr>
              <a:t>E</a:t>
            </a:r>
            <a:r>
              <a:rPr b="1" dirty="0" sz="4000" lang="en-US">
                <a:latin typeface="Garamond" panose="02020404030301010803" pitchFamily="18" charset="0"/>
              </a:rPr>
              <a:t>R</a:t>
            </a:r>
            <a:r>
              <a:rPr b="1" dirty="0" sz="4000" lang="en-US">
                <a:latin typeface="Garamond" panose="02020404030301010803" pitchFamily="18" charset="0"/>
              </a:rPr>
              <a:t>I</a:t>
            </a:r>
            <a:r>
              <a:rPr b="1" dirty="0" sz="4000" lang="en-US">
                <a:latin typeface="Garamond" panose="02020404030301010803" pitchFamily="18" charset="0"/>
              </a:rPr>
              <a:t>A</a:t>
            </a:r>
            <a:r>
              <a:rPr b="1" dirty="0" sz="4000" lang="en-US">
                <a:latin typeface="Garamond" panose="02020404030301010803" pitchFamily="18" charset="0"/>
              </a:rPr>
              <a:t>N</a:t>
            </a:r>
            <a:r>
              <a:rPr b="1" dirty="0" sz="4000" lang="en-US">
                <a:latin typeface="Garamond" panose="02020404030301010803" pitchFamily="18" charset="0"/>
              </a:rPr>
              <a:t> </a:t>
            </a:r>
            <a:r>
              <a:rPr b="1" dirty="0" sz="4000" lang="en-US">
                <a:latin typeface="Garamond" panose="02020404030301010803" pitchFamily="18" charset="0"/>
              </a:rPr>
              <a:t>L</a:t>
            </a:r>
            <a:r>
              <a:rPr b="1" dirty="0" sz="4000" lang="en-US">
                <a:latin typeface="Garamond" panose="02020404030301010803" pitchFamily="18" charset="0"/>
              </a:rPr>
              <a:t>A</a:t>
            </a:r>
            <a:r>
              <a:rPr b="1" dirty="0" sz="4000" lang="en-US">
                <a:latin typeface="Garamond" panose="02020404030301010803" pitchFamily="18" charset="0"/>
              </a:rPr>
              <a:t>W</a:t>
            </a:r>
            <a:r>
              <a:rPr b="1" dirty="0" sz="4000" lang="en-US">
                <a:latin typeface="Garamond" panose="02020404030301010803" pitchFamily="18" charset="0"/>
              </a:rPr>
              <a:t> </a:t>
            </a:r>
            <a:r>
              <a:rPr b="1" dirty="0" sz="4000" lang="en-US">
                <a:latin typeface="Garamond" panose="02020404030301010803" pitchFamily="18" charset="0"/>
              </a:rPr>
              <a:t>S</a:t>
            </a:r>
            <a:r>
              <a:rPr b="1" dirty="0" sz="4000" lang="en-US">
                <a:latin typeface="Garamond" panose="02020404030301010803" pitchFamily="18" charset="0"/>
              </a:rPr>
              <a:t>C</a:t>
            </a:r>
            <a:r>
              <a:rPr b="1" dirty="0" sz="4000" lang="en-US">
                <a:latin typeface="Garamond" panose="02020404030301010803" pitchFamily="18" charset="0"/>
              </a:rPr>
              <a:t>HOOL</a:t>
            </a:r>
            <a:br>
              <a:rPr b="1" dirty="0" sz="4000" lang="en-US">
                <a:latin typeface="Garamond" panose="02020404030301010803" pitchFamily="18" charset="0"/>
              </a:rPr>
            </a:br>
            <a:r>
              <a:rPr b="1" dirty="0" sz="4000" lang="en-US">
                <a:latin typeface="Garamond" panose="02020404030301010803" pitchFamily="18" charset="0"/>
              </a:rPr>
              <a:t>2</a:t>
            </a:r>
            <a:r>
              <a:rPr b="1" dirty="0" sz="4000" lang="en-US">
                <a:latin typeface="Garamond" panose="02020404030301010803" pitchFamily="18" charset="0"/>
              </a:rPr>
              <a:t>0</a:t>
            </a:r>
            <a:r>
              <a:rPr b="1" dirty="0" sz="4000" lang="en-US">
                <a:latin typeface="Garamond" panose="02020404030301010803" pitchFamily="18" charset="0"/>
              </a:rPr>
              <a:t>2</a:t>
            </a:r>
            <a:r>
              <a:rPr b="1" dirty="0" sz="4000" lang="en-US">
                <a:latin typeface="Garamond" panose="02020404030301010803" pitchFamily="18" charset="0"/>
              </a:rPr>
              <a:t>4</a:t>
            </a:r>
            <a:r>
              <a:rPr b="1" dirty="0" sz="4000" lang="en-US">
                <a:latin typeface="Garamond" panose="02020404030301010803" pitchFamily="18" charset="0"/>
              </a:rPr>
              <a:t>/</a:t>
            </a:r>
            <a:r>
              <a:rPr b="1" dirty="0" sz="4000" lang="en-US">
                <a:latin typeface="Garamond" panose="02020404030301010803" pitchFamily="18" charset="0"/>
              </a:rPr>
              <a:t>2</a:t>
            </a:r>
            <a:r>
              <a:rPr b="1" dirty="0" sz="4000" lang="en-US">
                <a:latin typeface="Garamond" panose="02020404030301010803" pitchFamily="18" charset="0"/>
              </a:rPr>
              <a:t>0</a:t>
            </a:r>
            <a:r>
              <a:rPr b="1" dirty="0" sz="4000" lang="en-US">
                <a:latin typeface="Garamond" panose="02020404030301010803" pitchFamily="18" charset="0"/>
              </a:rPr>
              <a:t>2</a:t>
            </a:r>
            <a:r>
              <a:rPr b="1" dirty="0" sz="4000" lang="en-US">
                <a:latin typeface="Garamond" panose="02020404030301010803" pitchFamily="18" charset="0"/>
              </a:rPr>
              <a:t>5</a:t>
            </a:r>
            <a:r>
              <a:rPr b="1" dirty="0" sz="4000" lang="en-US">
                <a:latin typeface="Garamond" panose="02020404030301010803" pitchFamily="18" charset="0"/>
              </a:rPr>
              <a:t> </a:t>
            </a:r>
            <a:r>
              <a:rPr b="1" dirty="0" sz="4000" lang="en-US">
                <a:latin typeface="Garamond" panose="02020404030301010803" pitchFamily="18" charset="0"/>
              </a:rPr>
              <a:t>SESSION</a:t>
            </a:r>
            <a:br>
              <a:rPr b="1" dirty="0" sz="4000" lang="en-US">
                <a:latin typeface="Garamond" panose="02020404030301010803" pitchFamily="18" charset="0"/>
              </a:rPr>
            </a:br>
            <a:r>
              <a:rPr b="1" dirty="0" sz="4000" lang="en-US">
                <a:latin typeface="Garamond" panose="02020404030301010803" pitchFamily="18" charset="0"/>
              </a:rPr>
              <a:t> </a:t>
            </a:r>
            <a:r>
              <a:rPr b="1" dirty="0" sz="4000" lang="en-US">
                <a:latin typeface="Garamond" panose="02020404030301010803" pitchFamily="18" charset="0"/>
              </a:rPr>
              <a:t>(</a:t>
            </a:r>
            <a:r>
              <a:rPr b="1" dirty="0" sz="4000" lang="en-US">
                <a:latin typeface="Garamond" panose="02020404030301010803" pitchFamily="18" charset="0"/>
              </a:rPr>
              <a:t>R</a:t>
            </a:r>
            <a:r>
              <a:rPr b="1" dirty="0" sz="4000" lang="en-US">
                <a:latin typeface="Garamond" panose="02020404030301010803" pitchFamily="18" charset="0"/>
              </a:rPr>
              <a:t>E</a:t>
            </a:r>
            <a:r>
              <a:rPr b="1" dirty="0" sz="4000" lang="en-US">
                <a:latin typeface="Garamond" panose="02020404030301010803" pitchFamily="18" charset="0"/>
              </a:rPr>
              <a:t>G</a:t>
            </a:r>
            <a:r>
              <a:rPr b="1" dirty="0" sz="4000" lang="en-US">
                <a:latin typeface="Garamond" panose="02020404030301010803" pitchFamily="18" charset="0"/>
              </a:rPr>
              <a:t>U</a:t>
            </a:r>
            <a:r>
              <a:rPr b="1" dirty="0" sz="4000" lang="en-US">
                <a:latin typeface="Garamond" panose="02020404030301010803" pitchFamily="18" charset="0"/>
              </a:rPr>
              <a:t>L</a:t>
            </a:r>
            <a:r>
              <a:rPr b="1" dirty="0" sz="4000" lang="en-US">
                <a:latin typeface="Garamond" panose="02020404030301010803" pitchFamily="18" charset="0"/>
              </a:rPr>
              <a:t>A</a:t>
            </a:r>
            <a:r>
              <a:rPr b="1" dirty="0" sz="4000" lang="en-US">
                <a:latin typeface="Garamond" panose="02020404030301010803" pitchFamily="18" charset="0"/>
              </a:rPr>
              <a:t>R</a:t>
            </a:r>
            <a:r>
              <a:rPr b="1" dirty="0" sz="4000" lang="en-US">
                <a:latin typeface="Garamond" panose="02020404030301010803" pitchFamily="18" charset="0"/>
              </a:rPr>
              <a:t>)</a:t>
            </a:r>
            <a:br>
              <a:rPr b="1" dirty="0" sz="4000" lang="en-US">
                <a:latin typeface="Garamond" panose="02020404030301010803" pitchFamily="18" charset="0"/>
              </a:rPr>
            </a:br>
            <a:r>
              <a:rPr b="1" dirty="0" sz="4000" lang="en-GB">
                <a:latin typeface="Garamond" panose="02020404030301010803" pitchFamily="18" charset="0"/>
              </a:rPr>
              <a:t>CIVIL LITIGATION </a:t>
            </a:r>
            <a:br>
              <a:rPr b="1" dirty="0" sz="4000" lang="en-GB">
                <a:latin typeface="Garamond" panose="02020404030301010803" pitchFamily="18" charset="0"/>
              </a:rPr>
            </a:br>
            <a:r>
              <a:rPr b="1" dirty="0" sz="4000" lang="en-GB">
                <a:latin typeface="Garamond" panose="02020404030301010803" pitchFamily="18" charset="0"/>
              </a:rPr>
              <a:t>WEEK 6</a:t>
            </a:r>
            <a:endParaRPr b="1" dirty="0" sz="4000" lang="en-US">
              <a:latin typeface="Garamond" panose="02020404030301010803" pitchFamily="18" charset="0"/>
            </a:endParaRPr>
          </a:p>
        </p:txBody>
      </p:sp>
      <p:sp>
        <p:nvSpPr>
          <p:cNvPr id="1048587" name="Subtitle 2"/>
          <p:cNvSpPr>
            <a:spLocks noGrp="1"/>
          </p:cNvSpPr>
          <p:nvPr>
            <p:ph type="subTitle" idx="1"/>
          </p:nvPr>
        </p:nvSpPr>
        <p:spPr>
          <a:xfrm>
            <a:off x="1524000" y="4236766"/>
            <a:ext cx="9144000" cy="1967365"/>
          </a:xfrm>
        </p:spPr>
        <p:txBody>
          <a:bodyPr>
            <a:normAutofit/>
          </a:bodyPr>
          <a:p>
            <a:r>
              <a:rPr b="1" dirty="0" sz="4400" lang="en-GB">
                <a:latin typeface="Garamond" panose="02020404030301010803" pitchFamily="18" charset="0"/>
              </a:rPr>
              <a:t>COMMENCEMENT OF ACTIONS IN THE HIGH COURT</a:t>
            </a:r>
            <a:endParaRPr b="1" dirty="0" sz="4400" lang="en-US">
              <a:latin typeface="Garamond" panose="020204040303010108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593" name="Title 1"/>
          <p:cNvSpPr>
            <a:spLocks noGrp="1"/>
          </p:cNvSpPr>
          <p:nvPr>
            <p:ph type="title"/>
          </p:nvPr>
        </p:nvSpPr>
        <p:spPr/>
        <p:txBody>
          <a:bodyPr/>
          <a:p>
            <a:r>
              <a:rPr b="1" dirty="0" lang="en-US">
                <a:latin typeface="Garamond" panose="02020404030301010803" pitchFamily="18" charset="0"/>
              </a:rPr>
              <a:t>Contents</a:t>
            </a:r>
            <a:r>
              <a:rPr dirty="0" lang="en-US"/>
              <a:t/>
            </a:r>
            <a:br>
              <a:rPr dirty="0" lang="en-US"/>
            </a:br>
            <a:endParaRPr dirty="0" lang="en-US"/>
          </a:p>
        </p:txBody>
      </p:sp>
      <p:sp>
        <p:nvSpPr>
          <p:cNvPr id="1048594" name="Content Placeholder 2"/>
          <p:cNvSpPr>
            <a:spLocks noGrp="1"/>
          </p:cNvSpPr>
          <p:nvPr>
            <p:ph idx="1"/>
          </p:nvPr>
        </p:nvSpPr>
        <p:spPr/>
        <p:txBody>
          <a:bodyPr>
            <a:normAutofit/>
          </a:bodyPr>
          <a:p>
            <a:pPr indent="0" marL="0">
              <a:buNone/>
            </a:pPr>
            <a:r>
              <a:rPr dirty="0" lang="en-US">
                <a:latin typeface="Garamond" panose="02020404030301010803" pitchFamily="18" charset="0"/>
              </a:rPr>
              <a:t>1. Form and mode of commencement of action in the High Court</a:t>
            </a:r>
          </a:p>
          <a:p>
            <a:pPr indent="0" marL="0">
              <a:buNone/>
            </a:pPr>
            <a:r>
              <a:rPr dirty="0" lang="en-US">
                <a:latin typeface="Garamond" panose="02020404030301010803" pitchFamily="18" charset="0"/>
              </a:rPr>
              <a:t>2. The concept of frontloading </a:t>
            </a:r>
          </a:p>
          <a:p>
            <a:pPr indent="0" marL="0">
              <a:buNone/>
            </a:pPr>
            <a:r>
              <a:rPr dirty="0" lang="en-US">
                <a:latin typeface="Garamond" panose="02020404030301010803" pitchFamily="18" charset="0"/>
              </a:rPr>
              <a:t>3. Issue of originating processes</a:t>
            </a:r>
          </a:p>
          <a:p>
            <a:pPr indent="0" marL="0">
              <a:buNone/>
            </a:pPr>
            <a:r>
              <a:rPr dirty="0" lang="en-US">
                <a:latin typeface="Garamond" panose="02020404030301010803" pitchFamily="18" charset="0"/>
              </a:rPr>
              <a:t>4. Service of originating process </a:t>
            </a:r>
          </a:p>
          <a:p>
            <a:pPr indent="0" marL="0">
              <a:buNone/>
            </a:pPr>
            <a:r>
              <a:rPr dirty="0" lang="en-US">
                <a:latin typeface="Garamond" panose="02020404030301010803" pitchFamily="18" charset="0"/>
              </a:rPr>
              <a:t>5 E-filing and e-service</a:t>
            </a:r>
          </a:p>
          <a:p>
            <a:pPr indent="0" marL="0">
              <a:buNone/>
            </a:pPr>
            <a:r>
              <a:rPr dirty="0" lang="en-US">
                <a:latin typeface="Garamond" panose="02020404030301010803" pitchFamily="18" charset="0"/>
              </a:rPr>
              <a:t>6. Renewal of originating process</a:t>
            </a:r>
          </a:p>
          <a:p>
            <a:pPr indent="0" marL="0">
              <a:buNone/>
            </a:pPr>
            <a:r>
              <a:rPr dirty="0" lang="en-US">
                <a:latin typeface="Garamond" panose="02020404030301010803" pitchFamily="18" charset="0"/>
              </a:rPr>
              <a:t>7. Effect of non-compliance</a:t>
            </a:r>
          </a:p>
          <a:p>
            <a:pPr indent="0" marL="0">
              <a:buNone/>
            </a:pPr>
            <a:r>
              <a:rPr dirty="0" lang="en-US">
                <a:latin typeface="Garamond" panose="02020404030301010803" pitchFamily="18" charset="0"/>
              </a:rPr>
              <a:t>8. Appearance and default of appearance</a:t>
            </a:r>
          </a:p>
          <a:p>
            <a:pPr indent="0" marL="0">
              <a:buNone/>
            </a:pPr>
            <a:r>
              <a:rPr dirty="0" lang="en-US">
                <a:latin typeface="Garamond" panose="02020404030301010803" pitchFamily="18" charset="0"/>
              </a:rPr>
              <a:t>9. Fast-track procedure</a:t>
            </a:r>
          </a:p>
          <a:p>
            <a:pPr indent="0" marL="0">
              <a:buNone/>
            </a:pPr>
            <a:r>
              <a:rPr dirty="0" lang="en-US">
                <a:latin typeface="Garamond" panose="02020404030301010803" pitchFamily="18" charset="0"/>
              </a:rPr>
              <a:t>10. Ethical issues, costs and sanctions that arise from the conduct of a lawyer in commencing an action in court.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595" name="Title 1"/>
          <p:cNvSpPr>
            <a:spLocks noGrp="1"/>
          </p:cNvSpPr>
          <p:nvPr>
            <p:ph type="title"/>
          </p:nvPr>
        </p:nvSpPr>
        <p:spPr>
          <a:xfrm>
            <a:off x="0" y="0"/>
            <a:ext cx="12192000" cy="1214204"/>
          </a:xfrm>
        </p:spPr>
        <p:txBody>
          <a:bodyPr>
            <a:normAutofit/>
          </a:bodyPr>
          <a:p>
            <a:pPr algn="ctr"/>
            <a:r>
              <a:rPr b="1" dirty="0" lang="en-US">
                <a:latin typeface="Garamond" panose="02020404030301010803" pitchFamily="18" charset="0"/>
              </a:rPr>
              <a:t>Outcomes</a:t>
            </a:r>
            <a:endParaRPr dirty="0" lang="en-US">
              <a:latin typeface="Garamond" panose="02020404030301010803" pitchFamily="18" charset="0"/>
            </a:endParaRPr>
          </a:p>
        </p:txBody>
      </p:sp>
      <p:sp>
        <p:nvSpPr>
          <p:cNvPr id="1048596" name="Content Placeholder 2"/>
          <p:cNvSpPr>
            <a:spLocks noGrp="1"/>
          </p:cNvSpPr>
          <p:nvPr>
            <p:ph idx="1"/>
          </p:nvPr>
        </p:nvSpPr>
        <p:spPr>
          <a:xfrm>
            <a:off x="0" y="1049312"/>
            <a:ext cx="12192000" cy="5808688"/>
          </a:xfrm>
        </p:spPr>
        <p:txBody>
          <a:bodyPr>
            <a:normAutofit fontScale="92857" lnSpcReduction="20000"/>
          </a:bodyPr>
          <a:p>
            <a:pPr indent="0" marL="0">
              <a:buNone/>
            </a:pPr>
            <a:r>
              <a:rPr dirty="0" lang="en-US">
                <a:latin typeface="Garamond" panose="02020404030301010803" pitchFamily="18" charset="0"/>
              </a:rPr>
              <a:t>At the end of the lesson students would be able to:</a:t>
            </a:r>
          </a:p>
          <a:p>
            <a:pPr indent="0" marL="0">
              <a:buNone/>
            </a:pPr>
            <a:r>
              <a:rPr dirty="0" lang="en-US" err="1">
                <a:latin typeface="Garamond" panose="02020404030301010803" pitchFamily="18" charset="0"/>
              </a:rPr>
              <a:t>i</a:t>
            </a:r>
            <a:r>
              <a:rPr dirty="0" lang="en-US">
                <a:latin typeface="Garamond" panose="02020404030301010803" pitchFamily="18" charset="0"/>
              </a:rPr>
              <a:t>. explain how different types of proceedings are commenced in the High Courts including fast track proceedings;</a:t>
            </a:r>
          </a:p>
          <a:p>
            <a:pPr indent="0" marL="0">
              <a:buNone/>
            </a:pPr>
            <a:r>
              <a:rPr dirty="0" lang="en-US">
                <a:latin typeface="Garamond" panose="02020404030301010803" pitchFamily="18" charset="0"/>
              </a:rPr>
              <a:t>ii. identify in different cases studies the appropriate mode of commencement of action;</a:t>
            </a:r>
          </a:p>
          <a:p>
            <a:pPr indent="0" marL="0">
              <a:buNone/>
            </a:pPr>
            <a:r>
              <a:rPr dirty="0" lang="en-US">
                <a:latin typeface="Garamond" panose="02020404030301010803" pitchFamily="18" charset="0"/>
              </a:rPr>
              <a:t>iii. explain the steps to take to initiate or contest actions including fast track proceedings;</a:t>
            </a:r>
          </a:p>
          <a:p>
            <a:pPr indent="0" marL="0">
              <a:buNone/>
            </a:pPr>
            <a:r>
              <a:rPr dirty="0" lang="en-US">
                <a:latin typeface="Garamond" panose="02020404030301010803" pitchFamily="18" charset="0"/>
              </a:rPr>
              <a:t> iv. explain the effect of non-compliance with the rules in commencement of action;</a:t>
            </a:r>
          </a:p>
          <a:p>
            <a:pPr indent="0" marL="0">
              <a:buNone/>
            </a:pPr>
            <a:r>
              <a:rPr dirty="0" lang="en-US">
                <a:latin typeface="Garamond" panose="02020404030301010803" pitchFamily="18" charset="0"/>
              </a:rPr>
              <a:t>v. complete/draft  writs of summons and other originating processes as well as a pre-action counseling certificate and list documents that should be frontloaded using Case studies 1 and 2 and/or any other Case studies that are given;</a:t>
            </a:r>
          </a:p>
          <a:p>
            <a:pPr indent="0" marL="0">
              <a:buNone/>
            </a:pPr>
            <a:r>
              <a:rPr dirty="0" lang="en-US">
                <a:latin typeface="Garamond" panose="02020404030301010803" pitchFamily="18" charset="0"/>
              </a:rPr>
              <a:t>vi. explain how court documents are brought to the notice of the other party; review and critique sample proof of service;</a:t>
            </a:r>
          </a:p>
          <a:p>
            <a:pPr indent="0" marL="0">
              <a:buNone/>
            </a:pPr>
            <a:r>
              <a:rPr dirty="0" lang="en-US">
                <a:latin typeface="Garamond" panose="02020404030301010803" pitchFamily="18" charset="0"/>
              </a:rPr>
              <a:t>vii. explain the principles governing the issuance and renewal of originating processes;</a:t>
            </a:r>
          </a:p>
          <a:p>
            <a:pPr indent="0" marL="0">
              <a:buNone/>
            </a:pPr>
            <a:r>
              <a:rPr dirty="0" lang="en-US">
                <a:latin typeface="Garamond" panose="02020404030301010803" pitchFamily="18" charset="0"/>
              </a:rPr>
              <a:t>viii. explain the principles governing appearance and default of appearance;</a:t>
            </a:r>
          </a:p>
          <a:p>
            <a:pPr indent="0" marL="0">
              <a:buNone/>
            </a:pPr>
            <a:r>
              <a:rPr dirty="0" lang="en-US">
                <a:latin typeface="Garamond" panose="02020404030301010803" pitchFamily="18" charset="0"/>
              </a:rPr>
              <a:t>ix. explain ethical issues, costs and sanctions that arise from the conduct of a lawyer in commencing an action in court. </a:t>
            </a:r>
          </a:p>
          <a:p>
            <a:endParaRPr dirty="0" lang="en-US">
              <a:latin typeface="Garamond" panose="02020404030301010803"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3" name="Shape 118"/>
        <p:cNvGrpSpPr/>
        <p:nvPr/>
      </p:nvGrpSpPr>
      <p:grpSpPr>
        <a:xfrm>
          <a:off x="0" y="0"/>
          <a:ext cx="0" cy="0"/>
          <a:chOff x="0" y="0"/>
          <a:chExt cx="0" cy="0"/>
        </a:xfrm>
      </p:grpSpPr>
      <p:sp>
        <p:nvSpPr>
          <p:cNvPr id="1048597" name="Shape 119"/>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sz="3200" lang="en-US">
                <a:solidFill>
                  <a:schemeClr val="dk2"/>
                </a:solidFill>
                <a:latin typeface="Garamond"/>
                <a:ea typeface="Garamond"/>
                <a:cs typeface="Garamond"/>
                <a:sym typeface="Garamond"/>
              </a:rPr>
              <a:t>INTRODUCTION</a:t>
            </a:r>
          </a:p>
        </p:txBody>
      </p:sp>
      <p:sp>
        <p:nvSpPr>
          <p:cNvPr id="1048598" name="Shape 120"/>
          <p:cNvSpPr txBox="1">
            <a:spLocks noGrp="1"/>
          </p:cNvSpPr>
          <p:nvPr>
            <p:ph idx="1"/>
          </p:nvPr>
        </p:nvSpPr>
        <p:spPr>
          <a:xfrm>
            <a:off x="0" y="1570038"/>
            <a:ext cx="12192000" cy="5099099"/>
          </a:xfrm>
          <a:prstGeom prst="rect"/>
          <a:noFill/>
          <a:ln>
            <a:noFill/>
          </a:ln>
        </p:spPr>
        <p:txBody>
          <a:bodyPr anchor="t" anchorCtr="0" bIns="45700" lIns="91425" rIns="91425" rtlCol="0" tIns="45700" vert="horz">
            <a:noAutofit/>
          </a:bodyPr>
          <a:p>
            <a:pPr indent="-342900" marL="342900">
              <a:spcBef>
                <a:spcPts val="0"/>
              </a:spcBef>
              <a:buClr>
                <a:schemeClr val="dk1"/>
              </a:buClr>
              <a:buSzPct val="100000"/>
              <a:buNone/>
            </a:pPr>
            <a:r>
              <a:rPr b="1" dirty="0" sz="2400" lang="en-US">
                <a:solidFill>
                  <a:schemeClr val="dk2"/>
                </a:solidFill>
                <a:latin typeface="Garamond"/>
                <a:ea typeface="Garamond"/>
                <a:cs typeface="Garamond"/>
                <a:sym typeface="Garamond"/>
              </a:rPr>
              <a:t>     </a:t>
            </a:r>
            <a:r>
              <a:rPr b="1" dirty="0" sz="3600" lang="en-US">
                <a:solidFill>
                  <a:schemeClr val="dk2"/>
                </a:solidFill>
                <a:latin typeface="Garamond"/>
                <a:ea typeface="Garamond"/>
                <a:cs typeface="Garamond"/>
                <a:sym typeface="Garamond"/>
              </a:rPr>
              <a:t>Review Week 5 Lesson on Venue as a Preliminary Consideration for commencement of action in the High Court:</a:t>
            </a:r>
            <a:endParaRPr b="1" dirty="0" sz="3600">
              <a:solidFill>
                <a:schemeClr val="dk1"/>
              </a:solidFill>
              <a:latin typeface="Arial"/>
              <a:ea typeface="Arial"/>
              <a:cs typeface="Arial"/>
              <a:sym typeface="Arial"/>
            </a:endParaRPr>
          </a:p>
          <a:p>
            <a:pPr indent="-342900" marL="342900">
              <a:spcBef>
                <a:spcPts val="720"/>
              </a:spcBef>
              <a:buClr>
                <a:schemeClr val="dk1"/>
              </a:buClr>
              <a:buSzPct val="100000"/>
              <a:buFont typeface="Garamond"/>
              <a:buChar char="•"/>
            </a:pPr>
            <a:r>
              <a:rPr b="1" dirty="0" sz="3600" lang="en-US">
                <a:solidFill>
                  <a:schemeClr val="dk1"/>
                </a:solidFill>
                <a:latin typeface="Garamond"/>
                <a:ea typeface="Garamond"/>
                <a:cs typeface="Garamond"/>
                <a:sym typeface="Garamond"/>
              </a:rPr>
              <a:t>There is One High Court per State. Judicial Divisions exist for Administrative Convenience</a:t>
            </a:r>
            <a:r>
              <a:rPr dirty="0" sz="3600" lang="en-US">
                <a:solidFill>
                  <a:schemeClr val="dk1"/>
                </a:solidFill>
                <a:latin typeface="Garamond"/>
                <a:ea typeface="Garamond"/>
                <a:cs typeface="Garamond"/>
                <a:sym typeface="Garamond"/>
              </a:rPr>
              <a:t>. See </a:t>
            </a:r>
            <a:r>
              <a:rPr dirty="0" sz="3600" i="1" lang="en-US" err="1">
                <a:solidFill>
                  <a:schemeClr val="dk1"/>
                </a:solidFill>
                <a:latin typeface="Garamond"/>
                <a:ea typeface="Garamond"/>
                <a:cs typeface="Garamond"/>
                <a:sym typeface="Garamond"/>
              </a:rPr>
              <a:t>Nigerite</a:t>
            </a:r>
            <a:r>
              <a:rPr dirty="0" sz="3600" i="1" lang="en-US">
                <a:solidFill>
                  <a:schemeClr val="dk1"/>
                </a:solidFill>
                <a:latin typeface="Garamond"/>
                <a:ea typeface="Garamond"/>
                <a:cs typeface="Garamond"/>
                <a:sym typeface="Garamond"/>
              </a:rPr>
              <a:t> (</a:t>
            </a:r>
            <a:r>
              <a:rPr dirty="0" sz="3600" i="1" lang="en-US" err="1">
                <a:solidFill>
                  <a:schemeClr val="dk1"/>
                </a:solidFill>
                <a:latin typeface="Garamond"/>
                <a:ea typeface="Garamond"/>
                <a:cs typeface="Garamond"/>
                <a:sym typeface="Garamond"/>
              </a:rPr>
              <a:t>Nig</a:t>
            </a:r>
            <a:r>
              <a:rPr dirty="0" sz="3600" i="1" lang="en-US">
                <a:solidFill>
                  <a:schemeClr val="dk1"/>
                </a:solidFill>
                <a:latin typeface="Garamond"/>
                <a:ea typeface="Garamond"/>
                <a:cs typeface="Garamond"/>
                <a:sym typeface="Garamond"/>
              </a:rPr>
              <a:t>) Ltd v </a:t>
            </a:r>
            <a:r>
              <a:rPr dirty="0" sz="3600" i="1" lang="en-US" err="1">
                <a:solidFill>
                  <a:schemeClr val="dk1"/>
                </a:solidFill>
                <a:latin typeface="Garamond"/>
                <a:ea typeface="Garamond"/>
                <a:cs typeface="Garamond"/>
                <a:sym typeface="Garamond"/>
              </a:rPr>
              <a:t>Danlami</a:t>
            </a:r>
            <a:r>
              <a:rPr dirty="0" sz="3600" i="1" lang="en-US">
                <a:solidFill>
                  <a:schemeClr val="dk1"/>
                </a:solidFill>
                <a:latin typeface="Garamond"/>
                <a:ea typeface="Garamond"/>
                <a:cs typeface="Garamond"/>
                <a:sym typeface="Garamond"/>
              </a:rPr>
              <a:t> (</a:t>
            </a:r>
            <a:r>
              <a:rPr dirty="0" sz="3600" i="1" lang="en-US" err="1">
                <a:solidFill>
                  <a:schemeClr val="dk1"/>
                </a:solidFill>
                <a:latin typeface="Garamond"/>
                <a:ea typeface="Garamond"/>
                <a:cs typeface="Garamond"/>
                <a:sym typeface="Garamond"/>
              </a:rPr>
              <a:t>Nig</a:t>
            </a:r>
            <a:r>
              <a:rPr dirty="0" sz="3600" i="1" lang="en-US">
                <a:solidFill>
                  <a:schemeClr val="dk1"/>
                </a:solidFill>
                <a:latin typeface="Garamond"/>
                <a:ea typeface="Garamond"/>
                <a:cs typeface="Garamond"/>
                <a:sym typeface="Garamond"/>
              </a:rPr>
              <a:t>) Ltd (1992) 7 NWLR (Pt. 253) 288. </a:t>
            </a:r>
          </a:p>
          <a:p>
            <a:pPr indent="-342900" marL="342900">
              <a:spcBef>
                <a:spcPts val="40"/>
              </a:spcBef>
              <a:buClr>
                <a:schemeClr val="dk1"/>
              </a:buClr>
              <a:buSzPct val="100000"/>
              <a:buNone/>
            </a:pPr>
            <a:endParaRPr dirty="0" sz="200" i="1">
              <a:solidFill>
                <a:schemeClr val="dk1"/>
              </a:solidFill>
              <a:latin typeface="Garamond"/>
              <a:ea typeface="Garamond"/>
              <a:cs typeface="Garamond"/>
              <a:sym typeface="Garamond"/>
            </a:endParaRPr>
          </a:p>
          <a:p>
            <a:pPr indent="-342900" marL="342900">
              <a:spcBef>
                <a:spcPts val="720"/>
              </a:spcBef>
              <a:buClr>
                <a:schemeClr val="dk1"/>
              </a:buClr>
              <a:buSzPct val="100000"/>
              <a:buFont typeface="Garamond"/>
              <a:buChar char="•"/>
            </a:pPr>
            <a:r>
              <a:rPr b="1" dirty="0" sz="3600" lang="en-US">
                <a:solidFill>
                  <a:schemeClr val="dk1"/>
                </a:solidFill>
                <a:latin typeface="Garamond"/>
                <a:ea typeface="Garamond"/>
                <a:cs typeface="Garamond"/>
                <a:sym typeface="Garamond"/>
              </a:rPr>
              <a:t>Venue or Judicial Division to Commence your Action</a:t>
            </a:r>
            <a:r>
              <a:rPr dirty="0" sz="3600" lang="en-US">
                <a:solidFill>
                  <a:schemeClr val="dk1"/>
                </a:solidFill>
                <a:latin typeface="Garamond"/>
                <a:ea typeface="Garamond"/>
                <a:cs typeface="Garamond"/>
                <a:sym typeface="Garamond"/>
              </a:rPr>
              <a:t>. See </a:t>
            </a:r>
            <a:r>
              <a:rPr dirty="0" sz="3600" i="1" lang="en-US">
                <a:solidFill>
                  <a:schemeClr val="dk1"/>
                </a:solidFill>
                <a:latin typeface="Garamond"/>
                <a:ea typeface="Garamond"/>
                <a:cs typeface="Garamond"/>
                <a:sym typeface="Garamond"/>
              </a:rPr>
              <a:t>Or. 4 </a:t>
            </a:r>
            <a:r>
              <a:rPr dirty="0" sz="3600" i="1" lang="en-US" err="1">
                <a:solidFill>
                  <a:schemeClr val="dk1"/>
                </a:solidFill>
                <a:latin typeface="Garamond"/>
                <a:ea typeface="Garamond"/>
                <a:cs typeface="Garamond"/>
                <a:sym typeface="Garamond"/>
              </a:rPr>
              <a:t>Abj</a:t>
            </a:r>
            <a:r>
              <a:rPr dirty="0" sz="3600" i="1" lang="en-US">
                <a:solidFill>
                  <a:schemeClr val="dk1"/>
                </a:solidFill>
                <a:latin typeface="Garamond"/>
                <a:ea typeface="Garamond"/>
                <a:cs typeface="Garamond"/>
                <a:sym typeface="Garamond"/>
              </a:rPr>
              <a:t>. &amp; Or. 4 Lag.</a:t>
            </a:r>
          </a:p>
          <a:p>
            <a:pPr indent="-342900" marL="342900">
              <a:spcBef>
                <a:spcPts val="720"/>
              </a:spcBef>
              <a:buClr>
                <a:schemeClr val="dk1"/>
              </a:buClr>
              <a:buSzPct val="100000"/>
              <a:buNone/>
            </a:pPr>
            <a:endParaRPr dirty="0" sz="3600" i="1">
              <a:solidFill>
                <a:schemeClr val="dk1"/>
              </a:solidFill>
              <a:latin typeface="Garamond"/>
              <a:ea typeface="Garamond"/>
              <a:cs typeface="Garamond"/>
              <a:sym typeface="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6" name="Shape 124"/>
        <p:cNvGrpSpPr/>
        <p:nvPr/>
      </p:nvGrpSpPr>
      <p:grpSpPr>
        <a:xfrm>
          <a:off x="0" y="0"/>
          <a:ext cx="0" cy="0"/>
          <a:chOff x="0" y="0"/>
          <a:chExt cx="0" cy="0"/>
        </a:xfrm>
      </p:grpSpPr>
      <p:sp>
        <p:nvSpPr>
          <p:cNvPr id="1048602" name="Shape 125"/>
          <p:cNvSpPr txBox="1">
            <a:spLocks noGrp="1"/>
          </p:cNvSpPr>
          <p:nvPr>
            <p:ph type="title"/>
          </p:nvPr>
        </p:nvSpPr>
        <p:spPr>
          <a:xfrm>
            <a:off x="1981200" y="-149902"/>
            <a:ext cx="8229600" cy="1184223"/>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Venue or Judicial Division</a:t>
            </a:r>
            <a:br>
              <a:rPr b="1" dirty="0" sz="3600" lang="en-US">
                <a:solidFill>
                  <a:srgbClr val="000000"/>
                </a:solidFill>
                <a:latin typeface="Garamond"/>
                <a:ea typeface="Garamond"/>
                <a:cs typeface="Garamond"/>
                <a:sym typeface="Garamond"/>
              </a:rPr>
            </a:br>
            <a:r>
              <a:rPr dirty="0" sz="3600" i="1" lang="en-US">
                <a:solidFill>
                  <a:srgbClr val="000000"/>
                </a:solidFill>
                <a:latin typeface="Garamond"/>
                <a:ea typeface="Garamond"/>
                <a:cs typeface="Garamond"/>
                <a:sym typeface="Garamond"/>
              </a:rPr>
              <a:t>Or. 4 </a:t>
            </a:r>
            <a:r>
              <a:rPr dirty="0" sz="3600" i="1" lang="en-US" err="1">
                <a:solidFill>
                  <a:srgbClr val="000000"/>
                </a:solidFill>
                <a:latin typeface="Garamond"/>
                <a:ea typeface="Garamond"/>
                <a:cs typeface="Garamond"/>
                <a:sym typeface="Garamond"/>
              </a:rPr>
              <a:t>Abj</a:t>
            </a:r>
            <a:r>
              <a:rPr dirty="0" sz="3600" i="1" lang="en-US">
                <a:solidFill>
                  <a:srgbClr val="000000"/>
                </a:solidFill>
                <a:latin typeface="Garamond"/>
                <a:ea typeface="Garamond"/>
                <a:cs typeface="Garamond"/>
                <a:sym typeface="Garamond"/>
              </a:rPr>
              <a:t>. &amp; Or. 4 Lag.</a:t>
            </a:r>
          </a:p>
        </p:txBody>
      </p:sp>
      <p:sp>
        <p:nvSpPr>
          <p:cNvPr id="1048603" name="Shape 126"/>
          <p:cNvSpPr txBox="1">
            <a:spLocks noGrp="1"/>
          </p:cNvSpPr>
          <p:nvPr>
            <p:ph idx="1"/>
          </p:nvPr>
        </p:nvSpPr>
        <p:spPr>
          <a:xfrm>
            <a:off x="0" y="854440"/>
            <a:ext cx="12192000" cy="6003560"/>
          </a:xfrm>
          <a:prstGeom prst="rect"/>
          <a:noFill/>
          <a:ln>
            <a:noFill/>
          </a:ln>
        </p:spPr>
        <p:txBody>
          <a:bodyPr anchor="t" anchorCtr="0" bIns="45700" lIns="91425" rIns="91425" rtlCol="0" tIns="45700" vert="horz">
            <a:noAutofit/>
          </a:bodyPr>
          <a:p>
            <a:pPr indent="0" marL="0">
              <a:lnSpc>
                <a:spcPct val="100000"/>
              </a:lnSpc>
              <a:spcBef>
                <a:spcPts val="0"/>
              </a:spcBef>
              <a:buClr>
                <a:srgbClr val="000000"/>
              </a:buClr>
              <a:buSzPct val="25000"/>
              <a:buNone/>
            </a:pPr>
            <a:r>
              <a:rPr b="1" dirty="0" sz="3100" lang="en-US">
                <a:solidFill>
                  <a:srgbClr val="000000"/>
                </a:solidFill>
                <a:latin typeface="Garamond"/>
                <a:ea typeface="Garamond"/>
                <a:cs typeface="Garamond"/>
                <a:sym typeface="Garamond"/>
              </a:rPr>
              <a:t>The Appropriate Venue or Judicial Division for Trial of suits is as follows:</a:t>
            </a:r>
            <a:endParaRPr b="1" dirty="0" sz="3100">
              <a:solidFill>
                <a:srgbClr val="000000"/>
              </a:solidFill>
              <a:latin typeface="Garamond"/>
              <a:ea typeface="Garamond"/>
              <a:cs typeface="Garamond"/>
              <a:sym typeface="Garamond"/>
            </a:endParaRPr>
          </a:p>
          <a:p>
            <a:pPr indent="0" marL="0">
              <a:lnSpc>
                <a:spcPct val="100000"/>
              </a:lnSpc>
              <a:spcBef>
                <a:spcPts val="640"/>
              </a:spcBef>
              <a:buClr>
                <a:srgbClr val="000000"/>
              </a:buClr>
              <a:buSzPct val="100000"/>
              <a:buFont typeface="Arial"/>
              <a:buAutoNum type="arabicPeriod"/>
            </a:pPr>
            <a:r>
              <a:rPr b="1" dirty="0" sz="3100" lang="en-US">
                <a:solidFill>
                  <a:srgbClr val="000000"/>
                </a:solidFill>
                <a:latin typeface="Garamond"/>
                <a:ea typeface="Garamond"/>
                <a:cs typeface="Garamond"/>
                <a:sym typeface="Garamond"/>
              </a:rPr>
              <a:t>Land Matters</a:t>
            </a:r>
            <a:r>
              <a:rPr dirty="0" sz="3100" lang="en-US">
                <a:solidFill>
                  <a:srgbClr val="000000"/>
                </a:solidFill>
                <a:latin typeface="Garamond"/>
                <a:ea typeface="Garamond"/>
                <a:cs typeface="Garamond"/>
                <a:sym typeface="Garamond"/>
              </a:rPr>
              <a:t>: Judicial Division Where The Land Is Located.</a:t>
            </a:r>
          </a:p>
          <a:p>
            <a:pPr indent="0" marL="0">
              <a:lnSpc>
                <a:spcPct val="100000"/>
              </a:lnSpc>
              <a:spcBef>
                <a:spcPts val="640"/>
              </a:spcBef>
              <a:buClr>
                <a:srgbClr val="000000"/>
              </a:buClr>
              <a:buSzPct val="100000"/>
              <a:buFont typeface="Arial"/>
              <a:buAutoNum type="arabicPeriod"/>
            </a:pPr>
            <a:r>
              <a:rPr b="1" dirty="0" sz="3100" lang="en-US">
                <a:solidFill>
                  <a:srgbClr val="000000"/>
                </a:solidFill>
                <a:latin typeface="Garamond"/>
                <a:ea typeface="Garamond"/>
                <a:cs typeface="Garamond"/>
                <a:sym typeface="Garamond"/>
              </a:rPr>
              <a:t>Recovery Of Penalties, Forfeitures Or Actions Against Public Officers </a:t>
            </a:r>
            <a:r>
              <a:rPr dirty="0" sz="3100" lang="en-US">
                <a:solidFill>
                  <a:srgbClr val="000000"/>
                </a:solidFill>
                <a:latin typeface="Garamond"/>
                <a:ea typeface="Garamond"/>
                <a:cs typeface="Garamond"/>
                <a:sym typeface="Garamond"/>
              </a:rPr>
              <a:t>: Judicial Division Where The Cause Of Action Arose.</a:t>
            </a:r>
          </a:p>
          <a:p>
            <a:pPr indent="0" marL="0">
              <a:lnSpc>
                <a:spcPct val="100000"/>
              </a:lnSpc>
              <a:spcBef>
                <a:spcPts val="640"/>
              </a:spcBef>
              <a:buClr>
                <a:srgbClr val="000000"/>
              </a:buClr>
              <a:buSzPct val="100000"/>
              <a:buFont typeface="Arial"/>
              <a:buAutoNum type="arabicPeriod"/>
            </a:pPr>
            <a:r>
              <a:rPr b="1" dirty="0" sz="3100" lang="en-US">
                <a:solidFill>
                  <a:srgbClr val="000000"/>
                </a:solidFill>
                <a:latin typeface="Garamond"/>
                <a:ea typeface="Garamond"/>
                <a:cs typeface="Garamond"/>
                <a:sym typeface="Garamond"/>
              </a:rPr>
              <a:t>Actions On Specific Performance, Or In Respect Of Breach Of Contract:</a:t>
            </a:r>
            <a:r>
              <a:rPr dirty="0" sz="3100" lang="en-US">
                <a:solidFill>
                  <a:srgbClr val="000000"/>
                </a:solidFill>
                <a:latin typeface="Garamond"/>
                <a:ea typeface="Garamond"/>
                <a:cs typeface="Garamond"/>
                <a:sym typeface="Garamond"/>
              </a:rPr>
              <a:t> In The Judicial Division Where The Contract Ought To Have Been Performed Or In Which The Defendant Resides Or Carries On Business.</a:t>
            </a:r>
          </a:p>
          <a:p>
            <a:pPr indent="0" marL="0">
              <a:lnSpc>
                <a:spcPct val="100000"/>
              </a:lnSpc>
              <a:spcBef>
                <a:spcPts val="640"/>
              </a:spcBef>
              <a:buClr>
                <a:srgbClr val="000000"/>
              </a:buClr>
              <a:buSzPct val="100000"/>
              <a:buFont typeface="Arial"/>
              <a:buAutoNum type="arabicPeriod"/>
            </a:pPr>
            <a:r>
              <a:rPr b="1" dirty="0" sz="3100" lang="en-US">
                <a:solidFill>
                  <a:srgbClr val="000000"/>
                </a:solidFill>
                <a:latin typeface="Garamond"/>
                <a:ea typeface="Garamond"/>
                <a:cs typeface="Garamond"/>
                <a:sym typeface="Garamond"/>
              </a:rPr>
              <a:t>Every other Action </a:t>
            </a:r>
            <a:r>
              <a:rPr dirty="0" sz="3100" lang="en-US">
                <a:solidFill>
                  <a:srgbClr val="000000"/>
                </a:solidFill>
                <a:latin typeface="Garamond"/>
                <a:ea typeface="Garamond"/>
                <a:cs typeface="Garamond"/>
                <a:sym typeface="Garamond"/>
              </a:rPr>
              <a:t>takes place in the judicial division where the  defendant resides or carries on business</a:t>
            </a:r>
          </a:p>
          <a:p>
            <a:pPr>
              <a:lnSpc>
                <a:spcPct val="100000"/>
              </a:lnSpc>
              <a:spcBef>
                <a:spcPts val="640"/>
              </a:spcBef>
              <a:buClr>
                <a:srgbClr val="000000"/>
              </a:buClr>
              <a:buSzPct val="100000"/>
              <a:buFont typeface="Wingdings" panose="05000000000000000000" pitchFamily="2" charset="2"/>
              <a:buChar char="Ø"/>
            </a:pPr>
            <a:r>
              <a:rPr dirty="0" sz="3100" lang="en-US">
                <a:solidFill>
                  <a:srgbClr val="000000"/>
                </a:solidFill>
                <a:latin typeface="Garamond"/>
                <a:ea typeface="Garamond"/>
                <a:cs typeface="Garamond"/>
                <a:sym typeface="Garamond"/>
              </a:rPr>
              <a:t>Apart from Actions pertaining to land, use where the defendant resides, when in doubt. </a:t>
            </a:r>
          </a:p>
          <a:p>
            <a:pPr indent="0" marL="0">
              <a:lnSpc>
                <a:spcPct val="100000"/>
              </a:lnSpc>
              <a:spcBef>
                <a:spcPts val="640"/>
              </a:spcBef>
              <a:buClr>
                <a:srgbClr val="000000"/>
              </a:buClr>
              <a:buSzPct val="100000"/>
              <a:buFont typeface="Arial"/>
              <a:buAutoNum type="arabicPeriod"/>
            </a:pPr>
            <a:endParaRPr dirty="0" sz="3200" lang="en-US">
              <a:solidFill>
                <a:srgbClr val="000000"/>
              </a:solidFill>
              <a:latin typeface="Garamond"/>
              <a:ea typeface="Garamond"/>
              <a:cs typeface="Garamond"/>
              <a:sym typeface="Garamond"/>
            </a:endParaRPr>
          </a:p>
          <a:p>
            <a:pPr indent="0" marL="0">
              <a:lnSpc>
                <a:spcPct val="100000"/>
              </a:lnSpc>
              <a:spcBef>
                <a:spcPts val="640"/>
              </a:spcBef>
              <a:buClr>
                <a:schemeClr val="dk1"/>
              </a:buClr>
              <a:buSzPct val="100000"/>
              <a:buNone/>
            </a:pPr>
            <a:endParaRPr dirty="0" sz="3200">
              <a:solidFill>
                <a:srgbClr val="000000"/>
              </a:solidFill>
              <a:latin typeface="Garamond"/>
              <a:ea typeface="Garamond"/>
              <a:cs typeface="Garamond"/>
              <a:sym typeface="Garamond"/>
            </a:endParaRPr>
          </a:p>
          <a:p>
            <a:pPr indent="0" marL="0">
              <a:lnSpc>
                <a:spcPct val="100000"/>
              </a:lnSpc>
              <a:spcBef>
                <a:spcPts val="520"/>
              </a:spcBef>
              <a:buClr>
                <a:schemeClr val="dk1"/>
              </a:buClr>
              <a:buSzPct val="25000"/>
              <a:buNone/>
            </a:pPr>
            <a:endParaRPr dirty="0" sz="2600">
              <a:solidFill>
                <a:srgbClr val="000000"/>
              </a:solidFill>
              <a:latin typeface="Garamond"/>
              <a:ea typeface="Garamond"/>
              <a:cs typeface="Garamond"/>
              <a:sym typeface="Garamond"/>
            </a:endParaRPr>
          </a:p>
          <a:p>
            <a:pPr indent="-342900" marL="342900">
              <a:spcBef>
                <a:spcPts val="520"/>
              </a:spcBef>
              <a:buClr>
                <a:schemeClr val="dk1"/>
              </a:buClr>
              <a:buSzPct val="100000"/>
              <a:buNone/>
            </a:pPr>
            <a:endParaRPr dirty="0" sz="2600">
              <a:solidFill>
                <a:srgbClr val="000000"/>
              </a:solidFill>
              <a:latin typeface="Garamond"/>
              <a:ea typeface="Garamond"/>
              <a:cs typeface="Garamond"/>
              <a:sym typeface="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9" name="Shape 137"/>
        <p:cNvGrpSpPr/>
        <p:nvPr/>
      </p:nvGrpSpPr>
      <p:grpSpPr>
        <a:xfrm>
          <a:off x="0" y="0"/>
          <a:ext cx="0" cy="0"/>
          <a:chOff x="0" y="0"/>
          <a:chExt cx="0" cy="0"/>
        </a:xfrm>
      </p:grpSpPr>
      <p:sp>
        <p:nvSpPr>
          <p:cNvPr id="1048606" name="Shape 138"/>
          <p:cNvSpPr txBox="1">
            <a:spLocks noGrp="1"/>
          </p:cNvSpPr>
          <p:nvPr>
            <p:ph type="title"/>
          </p:nvPr>
        </p:nvSpPr>
        <p:spPr>
          <a:xfrm>
            <a:off x="0" y="0"/>
            <a:ext cx="12192000" cy="1648918"/>
          </a:xfrm>
          <a:prstGeom prst="rect"/>
          <a:noFill/>
          <a:ln>
            <a:noFill/>
          </a:ln>
        </p:spPr>
        <p:txBody>
          <a:bodyPr anchor="ctr" anchorCtr="0" bIns="45700" lIns="91425" rIns="91425" rtlCol="0" tIns="45700" vert="horz">
            <a:noAutofit/>
          </a:bodyPr>
          <a:p>
            <a:pPr algn="ctr" indent="-342900" marL="342900">
              <a:lnSpc>
                <a:spcPct val="80000"/>
              </a:lnSpc>
              <a:spcBef>
                <a:spcPts val="0"/>
              </a:spcBef>
              <a:buClr>
                <a:srgbClr val="000000"/>
              </a:buClr>
              <a:buSzPct val="25000"/>
            </a:pPr>
            <a:r>
              <a:rPr b="1" dirty="0" sz="3600" lang="en-US">
                <a:solidFill>
                  <a:srgbClr val="000000"/>
                </a:solidFill>
                <a:latin typeface="Garamond"/>
                <a:ea typeface="Garamond"/>
                <a:cs typeface="Garamond"/>
                <a:sym typeface="Garamond"/>
              </a:rPr>
              <a:t/>
            </a:r>
            <a:br>
              <a:rPr b="1" dirty="0" sz="3600" lang="en-US">
                <a:solidFill>
                  <a:srgbClr val="000000"/>
                </a:solidFill>
                <a:latin typeface="Garamond"/>
                <a:ea typeface="Garamond"/>
                <a:cs typeface="Garamond"/>
                <a:sym typeface="Garamond"/>
              </a:rPr>
            </a:br>
            <a:r>
              <a:rPr b="1" dirty="0" sz="3600" lang="en-US">
                <a:solidFill>
                  <a:srgbClr val="000000"/>
                </a:solidFill>
                <a:latin typeface="Garamond"/>
                <a:ea typeface="Garamond"/>
                <a:cs typeface="Garamond"/>
                <a:sym typeface="Garamond"/>
              </a:rPr>
              <a:t/>
            </a:r>
            <a:br>
              <a:rPr b="1" dirty="0" sz="3600" lang="en-US">
                <a:solidFill>
                  <a:srgbClr val="000000"/>
                </a:solidFill>
                <a:latin typeface="Garamond"/>
                <a:ea typeface="Garamond"/>
                <a:cs typeface="Garamond"/>
                <a:sym typeface="Garamond"/>
              </a:rPr>
            </a:br>
            <a:r>
              <a:rPr b="1" dirty="0" sz="3600" lang="en-US">
                <a:solidFill>
                  <a:srgbClr val="000000"/>
                </a:solidFill>
                <a:latin typeface="Garamond"/>
                <a:ea typeface="Garamond"/>
                <a:cs typeface="Garamond"/>
                <a:sym typeface="Garamond"/>
              </a:rPr>
              <a:t>MODES OF COMMENCING ACTIONS IN THE HIGH COURT</a:t>
            </a:r>
            <a:r>
              <a:rPr dirty="0" sz="3600" lang="en-US">
                <a:solidFill>
                  <a:srgbClr val="000000"/>
                </a:solidFill>
                <a:latin typeface="Garamond"/>
                <a:ea typeface="Garamond"/>
                <a:cs typeface="Garamond"/>
                <a:sym typeface="Garamond"/>
              </a:rPr>
              <a:t>  </a:t>
            </a:r>
            <a:br>
              <a:rPr dirty="0" sz="3600" lang="en-US">
                <a:solidFill>
                  <a:srgbClr val="000000"/>
                </a:solidFill>
                <a:latin typeface="Garamond"/>
                <a:ea typeface="Garamond"/>
                <a:cs typeface="Garamond"/>
                <a:sym typeface="Garamond"/>
              </a:rPr>
            </a:br>
            <a:endParaRPr dirty="0" sz="3600" i="1" lang="en-US">
              <a:solidFill>
                <a:srgbClr val="000000"/>
              </a:solidFill>
              <a:latin typeface="Garamond"/>
              <a:ea typeface="Garamond"/>
              <a:cs typeface="Garamond"/>
              <a:sym typeface="Garamond"/>
            </a:endParaRPr>
          </a:p>
        </p:txBody>
      </p:sp>
      <p:sp>
        <p:nvSpPr>
          <p:cNvPr id="1048607" name="Shape 139"/>
          <p:cNvSpPr txBox="1">
            <a:spLocks noGrp="1"/>
          </p:cNvSpPr>
          <p:nvPr>
            <p:ph idx="1"/>
          </p:nvPr>
        </p:nvSpPr>
        <p:spPr>
          <a:xfrm>
            <a:off x="0" y="2276474"/>
            <a:ext cx="12192000" cy="4581525"/>
          </a:xfrm>
          <a:prstGeom prst="rect"/>
          <a:noFill/>
          <a:ln>
            <a:noFill/>
          </a:ln>
        </p:spPr>
        <p:txBody>
          <a:bodyPr anchor="t" anchorCtr="0" bIns="45700" lIns="91425" rIns="91425" rtlCol="0" tIns="45700" vert="horz">
            <a:noAutofit/>
          </a:bodyPr>
          <a:p>
            <a:pPr indent="-342900" marL="342900">
              <a:lnSpc>
                <a:spcPct val="80000"/>
              </a:lnSpc>
              <a:spcBef>
                <a:spcPts val="0"/>
              </a:spcBef>
              <a:buClr>
                <a:schemeClr val="dk1"/>
              </a:buClr>
              <a:buSzPct val="100000"/>
              <a:buNone/>
            </a:pPr>
            <a:endParaRPr dirty="0" sz="1100" i="1">
              <a:solidFill>
                <a:schemeClr val="dk1"/>
              </a:solidFill>
              <a:latin typeface="Garamond"/>
              <a:ea typeface="Garamond"/>
              <a:cs typeface="Garamond"/>
              <a:sym typeface="Garamond"/>
            </a:endParaRPr>
          </a:p>
          <a:p>
            <a:pPr indent="0" marL="0">
              <a:lnSpc>
                <a:spcPct val="80000"/>
              </a:lnSpc>
              <a:spcBef>
                <a:spcPts val="800"/>
              </a:spcBef>
              <a:buClr>
                <a:schemeClr val="dk1"/>
              </a:buClr>
              <a:buSzPct val="100000"/>
              <a:buNone/>
            </a:pPr>
            <a:r>
              <a:rPr dirty="0" sz="4000" lang="en-GB">
                <a:solidFill>
                  <a:schemeClr val="dk1"/>
                </a:solidFill>
                <a:latin typeface="Garamond"/>
                <a:ea typeface="Garamond"/>
                <a:cs typeface="Garamond"/>
                <a:sym typeface="Garamond"/>
              </a:rPr>
              <a:t>See</a:t>
            </a:r>
            <a:r>
              <a:rPr dirty="0" sz="4000" i="1" lang="en-US">
                <a:solidFill>
                  <a:srgbClr val="000000"/>
                </a:solidFill>
                <a:latin typeface="Garamond"/>
                <a:ea typeface="Garamond"/>
                <a:cs typeface="Garamond"/>
                <a:sym typeface="Garamond"/>
              </a:rPr>
              <a:t>Or 2 r. 1 </a:t>
            </a:r>
            <a:r>
              <a:rPr dirty="0" sz="4000" i="1" lang="en-US" err="1">
                <a:solidFill>
                  <a:srgbClr val="000000"/>
                </a:solidFill>
                <a:latin typeface="Garamond"/>
                <a:ea typeface="Garamond"/>
                <a:cs typeface="Garamond"/>
                <a:sym typeface="Garamond"/>
              </a:rPr>
              <a:t>Abj</a:t>
            </a:r>
            <a:r>
              <a:rPr dirty="0" sz="4000" i="1" lang="en-US">
                <a:solidFill>
                  <a:srgbClr val="000000"/>
                </a:solidFill>
                <a:latin typeface="Garamond"/>
                <a:ea typeface="Garamond"/>
                <a:cs typeface="Garamond"/>
                <a:sym typeface="Garamond"/>
              </a:rPr>
              <a:t> &amp; Or 5 r. 1, 2 &amp; Lag.</a:t>
            </a:r>
            <a:br>
              <a:rPr dirty="0" sz="4000" i="1" lang="en-US">
                <a:solidFill>
                  <a:srgbClr val="000000"/>
                </a:solidFill>
                <a:latin typeface="Garamond"/>
                <a:ea typeface="Garamond"/>
                <a:cs typeface="Garamond"/>
                <a:sym typeface="Garamond"/>
              </a:rPr>
            </a:br>
            <a:endParaRPr dirty="0" sz="4000" lang="en-US">
              <a:solidFill>
                <a:schemeClr val="dk1"/>
              </a:solidFill>
              <a:latin typeface="Garamond"/>
              <a:ea typeface="Garamond"/>
              <a:cs typeface="Garamond"/>
              <a:sym typeface="Garamond"/>
            </a:endParaRPr>
          </a:p>
          <a:p>
            <a:pPr indent="-342900" marL="342900">
              <a:lnSpc>
                <a:spcPct val="80000"/>
              </a:lnSpc>
              <a:spcBef>
                <a:spcPts val="800"/>
              </a:spcBef>
              <a:buClr>
                <a:schemeClr val="dk1"/>
              </a:buClr>
              <a:buSzPct val="100000"/>
              <a:buFont typeface="Garamond"/>
              <a:buAutoNum type="arabicPeriod"/>
            </a:pPr>
            <a:r>
              <a:rPr dirty="0" sz="4000" lang="en-US">
                <a:solidFill>
                  <a:schemeClr val="dk1"/>
                </a:solidFill>
                <a:latin typeface="Garamond"/>
                <a:ea typeface="Garamond"/>
                <a:cs typeface="Garamond"/>
                <a:sym typeface="Garamond"/>
              </a:rPr>
              <a:t>Writ of Summons, </a:t>
            </a:r>
          </a:p>
          <a:p>
            <a:pPr indent="-342900" marL="342900">
              <a:lnSpc>
                <a:spcPct val="80000"/>
              </a:lnSpc>
              <a:spcBef>
                <a:spcPts val="800"/>
              </a:spcBef>
              <a:buClr>
                <a:schemeClr val="dk1"/>
              </a:buClr>
              <a:buSzPct val="100000"/>
              <a:buFont typeface="Garamond"/>
              <a:buAutoNum type="arabicPeriod"/>
            </a:pPr>
            <a:r>
              <a:rPr dirty="0" sz="4000" lang="en-US">
                <a:solidFill>
                  <a:schemeClr val="dk1"/>
                </a:solidFill>
                <a:latin typeface="Garamond"/>
                <a:ea typeface="Garamond"/>
                <a:cs typeface="Garamond"/>
                <a:sym typeface="Garamond"/>
              </a:rPr>
              <a:t>Originating Summons, </a:t>
            </a:r>
          </a:p>
          <a:p>
            <a:pPr indent="-342900" marL="342900">
              <a:lnSpc>
                <a:spcPct val="80000"/>
              </a:lnSpc>
              <a:spcBef>
                <a:spcPts val="800"/>
              </a:spcBef>
              <a:buClr>
                <a:schemeClr val="dk1"/>
              </a:buClr>
              <a:buSzPct val="100000"/>
              <a:buFont typeface="Garamond"/>
              <a:buAutoNum type="arabicPeriod"/>
            </a:pPr>
            <a:r>
              <a:rPr dirty="0" sz="4000" lang="en-US">
                <a:solidFill>
                  <a:schemeClr val="dk1"/>
                </a:solidFill>
                <a:latin typeface="Garamond"/>
                <a:ea typeface="Garamond"/>
                <a:cs typeface="Garamond"/>
                <a:sym typeface="Garamond"/>
              </a:rPr>
              <a:t>Originating Motion &amp; </a:t>
            </a:r>
          </a:p>
          <a:p>
            <a:pPr indent="-342900" marL="342900">
              <a:lnSpc>
                <a:spcPct val="80000"/>
              </a:lnSpc>
              <a:spcBef>
                <a:spcPts val="800"/>
              </a:spcBef>
              <a:buClr>
                <a:schemeClr val="dk1"/>
              </a:buClr>
              <a:buSzPct val="100000"/>
              <a:buFont typeface="Garamond"/>
              <a:buAutoNum type="arabicPeriod"/>
            </a:pPr>
            <a:r>
              <a:rPr dirty="0" sz="4000" lang="en-US">
                <a:solidFill>
                  <a:schemeClr val="dk1"/>
                </a:solidFill>
                <a:latin typeface="Garamond"/>
                <a:ea typeface="Garamond"/>
                <a:cs typeface="Garamond"/>
                <a:sym typeface="Garamond"/>
              </a:rPr>
              <a:t>Petition</a:t>
            </a:r>
            <a:r>
              <a:rPr dirty="0" sz="3600" lang="en-US">
                <a:solidFill>
                  <a:schemeClr val="dk1"/>
                </a:solidFill>
                <a:latin typeface="Garamond"/>
                <a:ea typeface="Garamond"/>
                <a:cs typeface="Garamond"/>
                <a:sym typeface="Garamond"/>
              </a:rPr>
              <a:t>.</a:t>
            </a:r>
          </a:p>
          <a:p>
            <a:pPr indent="-342900" marL="342900">
              <a:lnSpc>
                <a:spcPct val="80000"/>
              </a:lnSpc>
              <a:spcBef>
                <a:spcPts val="320"/>
              </a:spcBef>
              <a:buClr>
                <a:schemeClr val="dk1"/>
              </a:buClr>
              <a:buSzPct val="25000"/>
              <a:buNone/>
            </a:pPr>
            <a:endParaRPr dirty="0" sz="1600" i="1">
              <a:solidFill>
                <a:schemeClr val="dk1"/>
              </a:solidFill>
              <a:latin typeface="Garamond"/>
              <a:ea typeface="Garamond"/>
              <a:cs typeface="Garamond"/>
              <a:sym typeface="Garamond"/>
            </a:endParaRPr>
          </a:p>
          <a:p>
            <a:pPr indent="-342900" marL="342900">
              <a:spcBef>
                <a:spcPts val="320"/>
              </a:spcBef>
              <a:buClr>
                <a:schemeClr val="dk1"/>
              </a:buClr>
              <a:buSzPct val="100000"/>
              <a:buNone/>
            </a:pPr>
            <a:endParaRPr dirty="0" sz="1600" i="1">
              <a:solidFill>
                <a:schemeClr val="dk1"/>
              </a:solidFill>
              <a:latin typeface="Garamond"/>
              <a:ea typeface="Garamond"/>
              <a:cs typeface="Garamond"/>
              <a:sym typeface="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2" name="Shape 143"/>
        <p:cNvGrpSpPr/>
        <p:nvPr/>
      </p:nvGrpSpPr>
      <p:grpSpPr>
        <a:xfrm>
          <a:off x="0" y="0"/>
          <a:ext cx="0" cy="0"/>
          <a:chOff x="0" y="0"/>
          <a:chExt cx="0" cy="0"/>
        </a:xfrm>
      </p:grpSpPr>
      <p:sp>
        <p:nvSpPr>
          <p:cNvPr id="1048611" name="Shape 144"/>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1. </a:t>
            </a:r>
            <a:r>
              <a:rPr b="1" dirty="0" lang="en-US">
                <a:solidFill>
                  <a:srgbClr val="000000"/>
                </a:solidFill>
                <a:latin typeface="Garamond"/>
                <a:ea typeface="Garamond"/>
                <a:cs typeface="Garamond"/>
                <a:sym typeface="Garamond"/>
              </a:rPr>
              <a:t>Writ of Summons</a:t>
            </a:r>
          </a:p>
        </p:txBody>
      </p:sp>
      <p:sp>
        <p:nvSpPr>
          <p:cNvPr id="1048612" name="Shape 145"/>
          <p:cNvSpPr txBox="1">
            <a:spLocks noGrp="1"/>
          </p:cNvSpPr>
          <p:nvPr>
            <p:ph idx="1"/>
          </p:nvPr>
        </p:nvSpPr>
        <p:spPr>
          <a:xfrm>
            <a:off x="0" y="1600200"/>
            <a:ext cx="12192000" cy="5257800"/>
          </a:xfrm>
          <a:prstGeom prst="rect"/>
          <a:noFill/>
          <a:ln>
            <a:noFill/>
          </a:ln>
        </p:spPr>
        <p:txBody>
          <a:bodyPr anchor="t" anchorCtr="0" bIns="45700" lIns="91425" rIns="91425" rtlCol="0" tIns="45700" vert="horz">
            <a:noAutofit/>
          </a:bodyPr>
          <a:p>
            <a:pPr indent="-342900" marL="342900">
              <a:lnSpc>
                <a:spcPct val="100000"/>
              </a:lnSpc>
              <a:spcBef>
                <a:spcPts val="0"/>
              </a:spcBef>
              <a:buClr>
                <a:srgbClr val="000000"/>
              </a:buClr>
              <a:buSzPct val="100000"/>
              <a:buFont typeface="Garamond"/>
              <a:buChar char="•"/>
            </a:pPr>
            <a:r>
              <a:rPr b="1" dirty="0" sz="3600" lang="en-US">
                <a:solidFill>
                  <a:srgbClr val="000000"/>
                </a:solidFill>
                <a:latin typeface="Garamond"/>
                <a:ea typeface="Garamond"/>
                <a:cs typeface="Garamond"/>
                <a:sym typeface="Garamond"/>
              </a:rPr>
              <a:t>Contentious matters or where facts are likely to be in dispute</a:t>
            </a:r>
            <a:r>
              <a:rPr dirty="0" sz="3600" lang="en-US">
                <a:solidFill>
                  <a:srgbClr val="000000"/>
                </a:solidFill>
                <a:latin typeface="Garamond"/>
                <a:ea typeface="Garamond"/>
                <a:cs typeface="Garamond"/>
                <a:sym typeface="Garamond"/>
              </a:rPr>
              <a:t>. </a:t>
            </a:r>
            <a:r>
              <a:rPr dirty="0" sz="3200" lang="en-US">
                <a:solidFill>
                  <a:srgbClr val="000000"/>
                </a:solidFill>
                <a:latin typeface="Garamond"/>
                <a:ea typeface="Garamond"/>
                <a:cs typeface="Garamond"/>
                <a:sym typeface="Garamond"/>
              </a:rPr>
              <a:t>See </a:t>
            </a:r>
            <a:r>
              <a:rPr dirty="0" sz="3200" i="1" lang="en-US">
                <a:solidFill>
                  <a:srgbClr val="000000"/>
                </a:solidFill>
                <a:latin typeface="Garamond"/>
                <a:ea typeface="Garamond"/>
                <a:cs typeface="Garamond"/>
                <a:sym typeface="Garamond"/>
              </a:rPr>
              <a:t>Or 5 r. 1(1) Lag; Or 2 r. 2 </a:t>
            </a:r>
            <a:r>
              <a:rPr dirty="0" sz="3200" i="1" lang="en-US" err="1">
                <a:solidFill>
                  <a:srgbClr val="000000"/>
                </a:solidFill>
                <a:latin typeface="Garamond"/>
                <a:ea typeface="Garamond"/>
                <a:cs typeface="Garamond"/>
                <a:sym typeface="Garamond"/>
              </a:rPr>
              <a:t>Abj</a:t>
            </a:r>
            <a:r>
              <a:rPr dirty="0" sz="3200" i="1" lang="en-US">
                <a:solidFill>
                  <a:srgbClr val="000000"/>
                </a:solidFill>
                <a:latin typeface="Garamond"/>
                <a:ea typeface="Garamond"/>
                <a:cs typeface="Garamond"/>
                <a:sym typeface="Garamond"/>
              </a:rPr>
              <a:t>; Doherty v Doherty (1969) NMLR  24; NBN v </a:t>
            </a:r>
            <a:r>
              <a:rPr dirty="0" sz="3200" i="1" lang="en-US" err="1">
                <a:solidFill>
                  <a:srgbClr val="000000"/>
                </a:solidFill>
                <a:latin typeface="Garamond"/>
                <a:ea typeface="Garamond"/>
                <a:cs typeface="Garamond"/>
                <a:sym typeface="Garamond"/>
              </a:rPr>
              <a:t>Alakija</a:t>
            </a:r>
            <a:r>
              <a:rPr dirty="0" sz="3200" i="1" lang="en-US">
                <a:solidFill>
                  <a:srgbClr val="000000"/>
                </a:solidFill>
                <a:latin typeface="Garamond"/>
                <a:ea typeface="Garamond"/>
                <a:cs typeface="Garamond"/>
                <a:sym typeface="Garamond"/>
              </a:rPr>
              <a:t> (1978) 9 – 11 SC P 95; Director of SSS v </a:t>
            </a:r>
            <a:r>
              <a:rPr dirty="0" sz="3200" i="1" lang="en-US" err="1">
                <a:solidFill>
                  <a:srgbClr val="000000"/>
                </a:solidFill>
                <a:latin typeface="Garamond"/>
                <a:ea typeface="Garamond"/>
                <a:cs typeface="Garamond"/>
                <a:sym typeface="Garamond"/>
              </a:rPr>
              <a:t>Agbakoba</a:t>
            </a:r>
            <a:r>
              <a:rPr dirty="0" sz="3200" i="1" lang="en-US">
                <a:solidFill>
                  <a:srgbClr val="000000"/>
                </a:solidFill>
                <a:latin typeface="Garamond"/>
                <a:ea typeface="Garamond"/>
                <a:cs typeface="Garamond"/>
                <a:sym typeface="Garamond"/>
              </a:rPr>
              <a:t> (1999) 3 NWLR (Pt. 595) P 425</a:t>
            </a:r>
          </a:p>
          <a:p>
            <a:pPr indent="-342900" marL="342900">
              <a:lnSpc>
                <a:spcPct val="100000"/>
              </a:lnSpc>
              <a:spcBef>
                <a:spcPts val="640"/>
              </a:spcBef>
              <a:buClr>
                <a:srgbClr val="000000"/>
              </a:buClr>
              <a:buSzPct val="100000"/>
              <a:buFont typeface="Garamond"/>
              <a:buChar char="•"/>
            </a:pPr>
            <a:r>
              <a:rPr b="1" dirty="0" sz="3200" lang="en-US">
                <a:solidFill>
                  <a:srgbClr val="000000"/>
                </a:solidFill>
                <a:latin typeface="Garamond"/>
                <a:ea typeface="Garamond"/>
                <a:cs typeface="Garamond"/>
                <a:sym typeface="Garamond"/>
              </a:rPr>
              <a:t>Where the Claimant is uncertain about the mode of commencement of action.</a:t>
            </a:r>
            <a:r>
              <a:rPr dirty="0" sz="3200" lang="en-US">
                <a:solidFill>
                  <a:srgbClr val="000000"/>
                </a:solidFill>
                <a:latin typeface="Garamond"/>
                <a:ea typeface="Garamond"/>
                <a:cs typeface="Garamond"/>
                <a:sym typeface="Garamond"/>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5" name="Shape 150"/>
        <p:cNvGrpSpPr/>
        <p:nvPr/>
      </p:nvGrpSpPr>
      <p:grpSpPr>
        <a:xfrm>
          <a:off x="0" y="0"/>
          <a:ext cx="0" cy="0"/>
          <a:chOff x="0" y="0"/>
          <a:chExt cx="0" cy="0"/>
        </a:xfrm>
      </p:grpSpPr>
      <p:sp>
        <p:nvSpPr>
          <p:cNvPr id="1048615" name="Shape 151"/>
          <p:cNvSpPr txBox="1">
            <a:spLocks noGrp="1"/>
          </p:cNvSpPr>
          <p:nvPr>
            <p:ph type="title"/>
          </p:nvPr>
        </p:nvSpPr>
        <p:spPr>
          <a:xfrm>
            <a:off x="1981200" y="188912"/>
            <a:ext cx="8229600" cy="1079400"/>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Endorsement of Writ </a:t>
            </a:r>
          </a:p>
        </p:txBody>
      </p:sp>
      <p:sp>
        <p:nvSpPr>
          <p:cNvPr id="1048616" name="Shape 152"/>
          <p:cNvSpPr txBox="1">
            <a:spLocks noGrp="1"/>
          </p:cNvSpPr>
          <p:nvPr>
            <p:ph idx="1"/>
          </p:nvPr>
        </p:nvSpPr>
        <p:spPr>
          <a:xfrm>
            <a:off x="0" y="1268413"/>
            <a:ext cx="12192000" cy="5589587"/>
          </a:xfrm>
          <a:prstGeom prst="rect"/>
          <a:noFill/>
          <a:ln>
            <a:noFill/>
          </a:ln>
        </p:spPr>
        <p:txBody>
          <a:bodyPr anchor="t" anchorCtr="0" bIns="45700" lIns="91425" rIns="91425" rtlCol="0" tIns="45700" vert="horz">
            <a:noAutofit/>
          </a:bodyPr>
          <a:p>
            <a:pPr indent="-342900" marL="342900">
              <a:spcBef>
                <a:spcPts val="0"/>
              </a:spcBef>
              <a:buClr>
                <a:schemeClr val="dk1"/>
              </a:buClr>
              <a:buSzPct val="100000"/>
              <a:buFont typeface="Garamond"/>
              <a:buChar char="•"/>
            </a:pPr>
            <a:r>
              <a:rPr b="1" dirty="0" sz="3600" lang="en-US">
                <a:solidFill>
                  <a:schemeClr val="dk1"/>
                </a:solidFill>
                <a:latin typeface="Garamond"/>
                <a:ea typeface="Garamond"/>
                <a:cs typeface="Garamond"/>
                <a:sym typeface="Garamond"/>
              </a:rPr>
              <a:t>Content of a Writ of Summons</a:t>
            </a:r>
            <a:r>
              <a:rPr dirty="0" sz="3600" lang="en-US">
                <a:solidFill>
                  <a:schemeClr val="dk1"/>
                </a:solidFill>
                <a:latin typeface="Garamond"/>
                <a:ea typeface="Garamond"/>
                <a:cs typeface="Garamond"/>
                <a:sym typeface="Garamond"/>
              </a:rPr>
              <a:t>.</a:t>
            </a:r>
          </a:p>
          <a:p>
            <a:pPr indent="-285750" lvl="1" marL="742950">
              <a:spcBef>
                <a:spcPts val="720"/>
              </a:spcBef>
              <a:buClr>
                <a:srgbClr val="000000"/>
              </a:buClr>
              <a:buSzPct val="100000"/>
              <a:buFont typeface="Garamond"/>
              <a:buChar char="–"/>
            </a:pPr>
            <a:r>
              <a:rPr dirty="0" sz="3600" lang="en-US">
                <a:solidFill>
                  <a:srgbClr val="000000"/>
                </a:solidFill>
                <a:latin typeface="Garamond"/>
                <a:ea typeface="Garamond"/>
                <a:cs typeface="Garamond"/>
                <a:sym typeface="Garamond"/>
              </a:rPr>
              <a:t>See Or. 6 Lag; Or. 2 r.2(5) &amp; (6), &amp; Or. 6 </a:t>
            </a:r>
            <a:r>
              <a:rPr dirty="0" sz="3600" lang="en-US" err="1">
                <a:solidFill>
                  <a:srgbClr val="000000"/>
                </a:solidFill>
                <a:latin typeface="Garamond"/>
                <a:ea typeface="Garamond"/>
                <a:cs typeface="Garamond"/>
                <a:sym typeface="Garamond"/>
              </a:rPr>
              <a:t>Abj</a:t>
            </a:r>
            <a:r>
              <a:rPr dirty="0" sz="3600" lang="en-US">
                <a:solidFill>
                  <a:srgbClr val="000000"/>
                </a:solidFill>
                <a:latin typeface="Garamond"/>
                <a:ea typeface="Garamond"/>
                <a:cs typeface="Garamond"/>
                <a:sym typeface="Garamond"/>
              </a:rPr>
              <a:t>. – Forms 1 &amp; 2 </a:t>
            </a:r>
            <a:r>
              <a:rPr dirty="0" sz="3600" lang="en-US" err="1">
                <a:solidFill>
                  <a:srgbClr val="000000"/>
                </a:solidFill>
                <a:latin typeface="Garamond"/>
                <a:ea typeface="Garamond"/>
                <a:cs typeface="Garamond"/>
                <a:sym typeface="Garamond"/>
              </a:rPr>
              <a:t>Abj</a:t>
            </a:r>
            <a:r>
              <a:rPr dirty="0" sz="3600" lang="en-US">
                <a:solidFill>
                  <a:srgbClr val="000000"/>
                </a:solidFill>
                <a:latin typeface="Garamond"/>
                <a:ea typeface="Garamond"/>
                <a:cs typeface="Garamond"/>
                <a:sym typeface="Garamond"/>
              </a:rPr>
              <a:t> &amp;</a:t>
            </a:r>
            <a:r>
              <a:rPr dirty="0" sz="3600" i="1" lang="en-US">
                <a:solidFill>
                  <a:srgbClr val="000000"/>
                </a:solidFill>
                <a:latin typeface="Garamond"/>
                <a:ea typeface="Garamond"/>
                <a:cs typeface="Garamond"/>
                <a:sym typeface="Garamond"/>
              </a:rPr>
              <a:t> Lag . </a:t>
            </a:r>
            <a:r>
              <a:rPr dirty="0" sz="3600" lang="en-US">
                <a:solidFill>
                  <a:schemeClr val="dk1"/>
                </a:solidFill>
                <a:latin typeface="Garamond"/>
                <a:ea typeface="Garamond"/>
                <a:cs typeface="Garamond"/>
                <a:sym typeface="Garamond"/>
              </a:rPr>
              <a:t>Judicial division, heading in special cases, names and description of parties, claim, address of parties and legal practitioner. </a:t>
            </a:r>
            <a:endParaRPr dirty="0" sz="3600" i="1" lang="en-US" strike="sngStrike">
              <a:solidFill>
                <a:srgbClr val="FF0000"/>
              </a:solidFill>
              <a:latin typeface="Garamond"/>
              <a:ea typeface="Garamond"/>
              <a:cs typeface="Garamond"/>
              <a:sym typeface="Garamond"/>
            </a:endParaRPr>
          </a:p>
          <a:p>
            <a:pPr indent="-285750" lvl="1" marL="742950">
              <a:spcBef>
                <a:spcPts val="320"/>
              </a:spcBef>
              <a:buClr>
                <a:schemeClr val="dk1"/>
              </a:buClr>
              <a:buSzPct val="25000"/>
              <a:buNone/>
            </a:pPr>
            <a:endParaRPr dirty="0" sz="1600" i="1">
              <a:solidFill>
                <a:schemeClr val="dk1"/>
              </a:solidFill>
              <a:latin typeface="Garamond"/>
              <a:ea typeface="Garamond"/>
              <a:cs typeface="Garamond"/>
              <a:sym typeface="Garamond"/>
            </a:endParaRPr>
          </a:p>
          <a:p>
            <a:pPr indent="-342900" marL="342900">
              <a:spcBef>
                <a:spcPts val="720"/>
              </a:spcBef>
              <a:buClr>
                <a:schemeClr val="dk1"/>
              </a:buClr>
              <a:buSzPct val="100000"/>
              <a:buFont typeface="Garamond"/>
              <a:buChar char="•"/>
            </a:pPr>
            <a:r>
              <a:rPr b="1" dirty="0" sz="3600" lang="en-US">
                <a:solidFill>
                  <a:schemeClr val="dk1"/>
                </a:solidFill>
                <a:latin typeface="Garamond"/>
                <a:ea typeface="Garamond"/>
                <a:cs typeface="Garamond"/>
                <a:sym typeface="Garamond"/>
              </a:rPr>
              <a:t>General &amp; Special endorsement.</a:t>
            </a:r>
            <a:r>
              <a:rPr dirty="0" sz="3600" lang="en-US">
                <a:solidFill>
                  <a:schemeClr val="dk1"/>
                </a:solidFill>
                <a:latin typeface="Garamond"/>
                <a:ea typeface="Garamond"/>
                <a:cs typeface="Garamond"/>
                <a:sym typeface="Garamond"/>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8" name="Shape 157"/>
        <p:cNvGrpSpPr/>
        <p:nvPr/>
      </p:nvGrpSpPr>
      <p:grpSpPr>
        <a:xfrm>
          <a:off x="0" y="0"/>
          <a:ext cx="0" cy="0"/>
          <a:chOff x="0" y="0"/>
          <a:chExt cx="0" cy="0"/>
        </a:xfrm>
      </p:grpSpPr>
      <p:sp>
        <p:nvSpPr>
          <p:cNvPr id="1048620" name="Shape 158"/>
          <p:cNvSpPr txBox="1">
            <a:spLocks noGrp="1"/>
          </p:cNvSpPr>
          <p:nvPr>
            <p:ph type="title"/>
          </p:nvPr>
        </p:nvSpPr>
        <p:spPr>
          <a:xfrm>
            <a:off x="0" y="0"/>
            <a:ext cx="12192000" cy="1199213"/>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Endorsement of Writ – Or. 6 </a:t>
            </a:r>
            <a:r>
              <a:rPr b="1" dirty="0" lang="en-US" err="1">
                <a:solidFill>
                  <a:srgbClr val="000000"/>
                </a:solidFill>
                <a:latin typeface="Garamond"/>
                <a:ea typeface="Garamond"/>
                <a:cs typeface="Garamond"/>
                <a:sym typeface="Garamond"/>
              </a:rPr>
              <a:t>Abj</a:t>
            </a:r>
            <a:r>
              <a:rPr b="1" dirty="0" lang="en-US">
                <a:solidFill>
                  <a:srgbClr val="000000"/>
                </a:solidFill>
                <a:latin typeface="Garamond"/>
                <a:ea typeface="Garamond"/>
                <a:cs typeface="Garamond"/>
                <a:sym typeface="Garamond"/>
              </a:rPr>
              <a:t> &amp; Or. </a:t>
            </a:r>
            <a:r>
              <a:rPr b="1" dirty="0" lang="en-US">
                <a:latin typeface="Garamond"/>
                <a:ea typeface="Garamond"/>
                <a:cs typeface="Garamond"/>
                <a:sym typeface="Garamond"/>
              </a:rPr>
              <a:t>4</a:t>
            </a:r>
            <a:r>
              <a:rPr b="1" dirty="0" lang="en-US">
                <a:solidFill>
                  <a:srgbClr val="000000"/>
                </a:solidFill>
                <a:latin typeface="Garamond"/>
                <a:ea typeface="Garamond"/>
                <a:cs typeface="Garamond"/>
                <a:sym typeface="Garamond"/>
              </a:rPr>
              <a:t> Lag  </a:t>
            </a:r>
          </a:p>
        </p:txBody>
      </p:sp>
      <p:sp>
        <p:nvSpPr>
          <p:cNvPr id="1048621" name="Shape 159"/>
          <p:cNvSpPr txBox="1">
            <a:spLocks noGrp="1"/>
          </p:cNvSpPr>
          <p:nvPr>
            <p:ph idx="1"/>
          </p:nvPr>
        </p:nvSpPr>
        <p:spPr>
          <a:xfrm>
            <a:off x="0" y="1199213"/>
            <a:ext cx="12192000" cy="5658787"/>
          </a:xfrm>
          <a:prstGeom prst="rect"/>
          <a:noFill/>
          <a:ln>
            <a:noFill/>
          </a:ln>
        </p:spPr>
        <p:txBody>
          <a:bodyPr anchor="t" anchorCtr="0" bIns="45700" lIns="91425" rIns="91425" rtlCol="0" tIns="45700" vert="horz">
            <a:noAutofit/>
          </a:bodyPr>
          <a:p>
            <a:pPr algn="just"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Names &amp; Capacities in which parties sue or are sued – Mgt. </a:t>
            </a:r>
            <a:r>
              <a:rPr b="1" dirty="0" sz="3200" lang="en-US" err="1">
                <a:solidFill>
                  <a:schemeClr val="dk1"/>
                </a:solidFill>
                <a:latin typeface="Garamond"/>
                <a:ea typeface="Garamond"/>
                <a:cs typeface="Garamond"/>
                <a:sym typeface="Garamond"/>
              </a:rPr>
              <a:t>Ent</a:t>
            </a:r>
            <a:r>
              <a:rPr b="1" dirty="0" sz="3200" lang="en-US">
                <a:solidFill>
                  <a:schemeClr val="dk1"/>
                </a:solidFill>
                <a:latin typeface="Garamond"/>
                <a:ea typeface="Garamond"/>
                <a:cs typeface="Garamond"/>
                <a:sym typeface="Garamond"/>
              </a:rPr>
              <a:t>. Ltd. v </a:t>
            </a:r>
            <a:r>
              <a:rPr b="1" dirty="0" sz="3200" lang="en-US" err="1">
                <a:latin typeface="Garamond"/>
                <a:ea typeface="Garamond"/>
                <a:cs typeface="Garamond"/>
                <a:sym typeface="Garamond"/>
              </a:rPr>
              <a:t>O</a:t>
            </a:r>
            <a:r>
              <a:rPr b="1" dirty="0" sz="3200" lang="en-US" err="1">
                <a:solidFill>
                  <a:schemeClr val="dk1"/>
                </a:solidFill>
                <a:latin typeface="Garamond"/>
                <a:ea typeface="Garamond"/>
                <a:cs typeface="Garamond"/>
                <a:sym typeface="Garamond"/>
              </a:rPr>
              <a:t>tusanya</a:t>
            </a:r>
            <a:r>
              <a:rPr b="1" dirty="0" sz="3200" lang="en-US">
                <a:solidFill>
                  <a:schemeClr val="dk1"/>
                </a:solidFill>
                <a:latin typeface="Garamond"/>
                <a:ea typeface="Garamond"/>
                <a:cs typeface="Garamond"/>
                <a:sym typeface="Garamond"/>
              </a:rPr>
              <a:t> (1987) 18 NSCC (Pt. 1) 577. </a:t>
            </a:r>
          </a:p>
          <a:p>
            <a:pPr algn="just" indent="0" marL="0">
              <a:lnSpc>
                <a:spcPct val="100000"/>
              </a:lnSpc>
              <a:spcBef>
                <a:spcPts val="0"/>
              </a:spcBef>
              <a:buClr>
                <a:schemeClr val="dk1"/>
              </a:buClr>
              <a:buSzPct val="100000"/>
              <a:buNone/>
            </a:pPr>
            <a:endParaRPr b="1" dirty="0" sz="1400" lang="en-US">
              <a:solidFill>
                <a:schemeClr val="dk1"/>
              </a:solidFill>
              <a:latin typeface="Garamond"/>
              <a:ea typeface="Garamond"/>
              <a:cs typeface="Garamond"/>
              <a:sym typeface="Garamond"/>
            </a:endParaRPr>
          </a:p>
          <a:p>
            <a:pPr algn="just"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Endorsement of Claim on a Writ Of Summons</a:t>
            </a:r>
            <a:r>
              <a:rPr dirty="0" sz="3200" lang="en-US">
                <a:solidFill>
                  <a:schemeClr val="dk1"/>
                </a:solidFill>
                <a:latin typeface="Garamond"/>
                <a:ea typeface="Garamond"/>
                <a:cs typeface="Garamond"/>
                <a:sym typeface="Garamond"/>
              </a:rPr>
              <a:t>. </a:t>
            </a:r>
            <a:r>
              <a:rPr dirty="0" sz="3200" i="1" lang="en-US">
                <a:solidFill>
                  <a:schemeClr val="dk1"/>
                </a:solidFill>
                <a:latin typeface="Garamond"/>
                <a:ea typeface="Garamond"/>
                <a:cs typeface="Garamond"/>
                <a:sym typeface="Garamond"/>
              </a:rPr>
              <a:t>See </a:t>
            </a:r>
            <a:r>
              <a:rPr dirty="0" sz="3200" i="1" lang="en-US" err="1">
                <a:solidFill>
                  <a:schemeClr val="dk1"/>
                </a:solidFill>
                <a:latin typeface="Garamond"/>
                <a:ea typeface="Garamond"/>
                <a:cs typeface="Garamond"/>
                <a:sym typeface="Garamond"/>
              </a:rPr>
              <a:t>Alatede</a:t>
            </a:r>
            <a:r>
              <a:rPr dirty="0" sz="3200" i="1" lang="en-US">
                <a:solidFill>
                  <a:schemeClr val="dk1"/>
                </a:solidFill>
                <a:latin typeface="Garamond"/>
                <a:ea typeface="Garamond"/>
                <a:cs typeface="Garamond"/>
                <a:sym typeface="Garamond"/>
              </a:rPr>
              <a:t> v </a:t>
            </a:r>
            <a:r>
              <a:rPr dirty="0" sz="3200" i="1" lang="en-US" err="1">
                <a:solidFill>
                  <a:schemeClr val="dk1"/>
                </a:solidFill>
                <a:latin typeface="Garamond"/>
                <a:ea typeface="Garamond"/>
                <a:cs typeface="Garamond"/>
                <a:sym typeface="Garamond"/>
              </a:rPr>
              <a:t>Falode</a:t>
            </a:r>
            <a:r>
              <a:rPr dirty="0" sz="3200" i="1" lang="en-US">
                <a:solidFill>
                  <a:schemeClr val="dk1"/>
                </a:solidFill>
                <a:latin typeface="Garamond"/>
                <a:ea typeface="Garamond"/>
                <a:cs typeface="Garamond"/>
                <a:sym typeface="Garamond"/>
              </a:rPr>
              <a:t> (1966) All NLR P 101; </a:t>
            </a:r>
            <a:r>
              <a:rPr dirty="0" sz="3200" i="1" lang="en-US" err="1">
                <a:solidFill>
                  <a:schemeClr val="dk1"/>
                </a:solidFill>
                <a:latin typeface="Garamond"/>
                <a:ea typeface="Garamond"/>
                <a:cs typeface="Garamond"/>
                <a:sym typeface="Garamond"/>
              </a:rPr>
              <a:t>Alawode</a:t>
            </a:r>
            <a:r>
              <a:rPr dirty="0" sz="3200" i="1" lang="en-US">
                <a:solidFill>
                  <a:schemeClr val="dk1"/>
                </a:solidFill>
                <a:latin typeface="Garamond"/>
                <a:ea typeface="Garamond"/>
                <a:cs typeface="Garamond"/>
                <a:sym typeface="Garamond"/>
              </a:rPr>
              <a:t> v </a:t>
            </a:r>
            <a:r>
              <a:rPr dirty="0" sz="3200" i="1" lang="en-US" err="1">
                <a:solidFill>
                  <a:schemeClr val="dk1"/>
                </a:solidFill>
                <a:latin typeface="Garamond"/>
                <a:ea typeface="Garamond"/>
                <a:cs typeface="Garamond"/>
                <a:sym typeface="Garamond"/>
              </a:rPr>
              <a:t>Semoh</a:t>
            </a:r>
            <a:r>
              <a:rPr dirty="0" sz="3200" i="1" lang="en-US">
                <a:solidFill>
                  <a:schemeClr val="dk1"/>
                </a:solidFill>
                <a:latin typeface="Garamond"/>
                <a:ea typeface="Garamond"/>
                <a:cs typeface="Garamond"/>
                <a:sym typeface="Garamond"/>
              </a:rPr>
              <a:t> (1959) 4 </a:t>
            </a:r>
            <a:r>
              <a:rPr dirty="0" sz="3200" i="1" lang="en-US" err="1">
                <a:solidFill>
                  <a:schemeClr val="dk1"/>
                </a:solidFill>
                <a:latin typeface="Garamond"/>
                <a:ea typeface="Garamond"/>
                <a:cs typeface="Garamond"/>
                <a:sym typeface="Garamond"/>
              </a:rPr>
              <a:t>Fsc</a:t>
            </a:r>
            <a:r>
              <a:rPr dirty="0" sz="3200" i="1" lang="en-US">
                <a:solidFill>
                  <a:schemeClr val="dk1"/>
                </a:solidFill>
                <a:latin typeface="Garamond"/>
                <a:ea typeface="Garamond"/>
                <a:cs typeface="Garamond"/>
                <a:sym typeface="Garamond"/>
              </a:rPr>
              <a:t> P 29. </a:t>
            </a:r>
          </a:p>
          <a:p>
            <a:pPr algn="just" lvl="0"/>
            <a:r>
              <a:rPr b="1" dirty="0" sz="3200" lang="en-US">
                <a:solidFill>
                  <a:srgbClr val="000000"/>
                </a:solidFill>
                <a:latin typeface="Garamond"/>
                <a:ea typeface="Garamond"/>
                <a:cs typeface="Garamond"/>
                <a:sym typeface="Garamond"/>
              </a:rPr>
              <a:t>Endorsement of Address of Claimant &amp; his Legal Practitioner – See O4 R6 Lagos; O6 R6 Abuja.</a:t>
            </a:r>
          </a:p>
          <a:p>
            <a:pPr algn="just" lvl="0"/>
            <a:endParaRPr b="1" dirty="0" sz="1200" lang="en-US">
              <a:solidFill>
                <a:srgbClr val="000000"/>
              </a:solidFill>
              <a:latin typeface="Garamond"/>
              <a:ea typeface="Garamond"/>
              <a:cs typeface="Garamond"/>
              <a:sym typeface="Garamond"/>
            </a:endParaRPr>
          </a:p>
          <a:p>
            <a:pPr algn="just" lvl="0"/>
            <a:r>
              <a:rPr b="1" dirty="0" sz="3200" lang="en-US">
                <a:solidFill>
                  <a:srgbClr val="000000"/>
                </a:solidFill>
                <a:latin typeface="Garamond"/>
                <a:ea typeface="Garamond"/>
                <a:cs typeface="Garamond"/>
                <a:sym typeface="Garamond"/>
              </a:rPr>
              <a:t>Signing Of Writ by Claimant or Legal Practitioner. This is a fundamental requirement. Only the signature of a human being is contemplated here.</a:t>
            </a:r>
          </a:p>
          <a:p>
            <a:pPr indent="-342900" marL="342900">
              <a:spcBef>
                <a:spcPts val="720"/>
              </a:spcBef>
              <a:buClr>
                <a:schemeClr val="dk1"/>
              </a:buClr>
              <a:buSzPct val="100000"/>
              <a:buNone/>
            </a:pPr>
            <a:endParaRPr dirty="0" sz="3600">
              <a:solidFill>
                <a:srgbClr val="000000"/>
              </a:solidFill>
              <a:latin typeface="Garamond"/>
              <a:ea typeface="Garamond"/>
              <a:cs typeface="Garamond"/>
              <a:sym typeface="Garamon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25" name="Title 1"/>
          <p:cNvSpPr>
            <a:spLocks noGrp="1"/>
          </p:cNvSpPr>
          <p:nvPr>
            <p:ph type="title"/>
          </p:nvPr>
        </p:nvSpPr>
        <p:spPr/>
        <p:txBody>
          <a:bodyPr/>
          <a:p>
            <a:pPr algn="ctr"/>
            <a:r>
              <a:rPr b="1" dirty="0" lang="en-US">
                <a:solidFill>
                  <a:srgbClr val="000000"/>
                </a:solidFill>
                <a:latin typeface="Garamond"/>
                <a:ea typeface="Garamond"/>
                <a:cs typeface="Garamond"/>
                <a:sym typeface="Garamond"/>
              </a:rPr>
              <a:t>Endorsement of Writ Contd.</a:t>
            </a:r>
            <a:endParaRPr dirty="0" lang="en-GB"/>
          </a:p>
        </p:txBody>
      </p:sp>
      <p:sp>
        <p:nvSpPr>
          <p:cNvPr id="1048626" name="Text Placeholder 2"/>
          <p:cNvSpPr>
            <a:spLocks noGrp="1"/>
          </p:cNvSpPr>
          <p:nvPr>
            <p:ph idx="1"/>
          </p:nvPr>
        </p:nvSpPr>
        <p:spPr>
          <a:xfrm>
            <a:off x="0" y="1558978"/>
            <a:ext cx="12192000" cy="5299022"/>
          </a:xfrm>
        </p:spPr>
        <p:txBody>
          <a:bodyPr/>
          <a:p>
            <a:r>
              <a:rPr b="1" dirty="0" sz="3600" lang="en-GB">
                <a:latin typeface="Garamond" panose="02020404030301010803" pitchFamily="18" charset="0"/>
              </a:rPr>
              <a:t>Only a Legal Practitioner can sign a court process on behalf of a litigant – </a:t>
            </a:r>
            <a:r>
              <a:rPr dirty="0" sz="3600" lang="en-GB">
                <a:latin typeface="Garamond" panose="02020404030301010803" pitchFamily="18" charset="0"/>
              </a:rPr>
              <a:t>Section 9 of Legal Practitioners Act</a:t>
            </a:r>
          </a:p>
          <a:p>
            <a:endParaRPr b="1" dirty="0" sz="3600" lang="en-GB">
              <a:latin typeface="Garamond" panose="02020404030301010803" pitchFamily="18" charset="0"/>
            </a:endParaRPr>
          </a:p>
          <a:p>
            <a:r>
              <a:rPr b="1" dirty="0" sz="3600" lang="en-GB">
                <a:latin typeface="Garamond" panose="02020404030301010803" pitchFamily="18" charset="0"/>
              </a:rPr>
              <a:t>A Law Firm cannot sign a court process. A Writ of Summons </a:t>
            </a:r>
            <a:r>
              <a:rPr b="1" dirty="0" sz="3600" lang="en-GB" err="1">
                <a:latin typeface="Garamond" panose="02020404030301010803" pitchFamily="18" charset="0"/>
              </a:rPr>
              <a:t>sidgned</a:t>
            </a:r>
            <a:r>
              <a:rPr b="1" dirty="0" sz="3600" lang="en-GB">
                <a:latin typeface="Garamond" panose="02020404030301010803" pitchFamily="18" charset="0"/>
              </a:rPr>
              <a:t> by a law firm is incurably bad – This is not acceptable. </a:t>
            </a:r>
            <a:r>
              <a:rPr dirty="0" sz="3600" lang="en-GB" err="1">
                <a:latin typeface="Garamond" panose="02020404030301010803" pitchFamily="18" charset="0"/>
              </a:rPr>
              <a:t>See</a:t>
            </a:r>
            <a:r>
              <a:rPr dirty="0" sz="3600" i="1" lang="en-GB" err="1">
                <a:latin typeface="Garamond" panose="02020404030301010803" pitchFamily="18" charset="0"/>
              </a:rPr>
              <a:t>Okafor</a:t>
            </a:r>
            <a:r>
              <a:rPr dirty="0" sz="3600" i="1" lang="en-GB">
                <a:latin typeface="Garamond" panose="02020404030301010803" pitchFamily="18" charset="0"/>
              </a:rPr>
              <a:t> v Nweke</a:t>
            </a:r>
            <a:r>
              <a:rPr dirty="0" sz="3600" lang="en-GB">
                <a:latin typeface="Garamond" panose="02020404030301010803" pitchFamily="18" charset="0"/>
              </a:rPr>
              <a:t> (2007) All FWLR (Pt. 368) 1016; </a:t>
            </a:r>
            <a:r>
              <a:rPr dirty="0" sz="3600" i="1" lang="en-GB" err="1">
                <a:latin typeface="Garamond" panose="02020404030301010803" pitchFamily="18" charset="0"/>
              </a:rPr>
              <a:t>Alawiye</a:t>
            </a:r>
            <a:r>
              <a:rPr dirty="0" sz="3600" i="1" lang="en-GB">
                <a:latin typeface="Garamond" panose="02020404030301010803" pitchFamily="18" charset="0"/>
              </a:rPr>
              <a:t> v </a:t>
            </a:r>
            <a:r>
              <a:rPr dirty="0" sz="3600" i="1" lang="en-GB" err="1">
                <a:latin typeface="Garamond" panose="02020404030301010803" pitchFamily="18" charset="0"/>
              </a:rPr>
              <a:t>Ogunsany</a:t>
            </a:r>
            <a:r>
              <a:rPr dirty="0" sz="3600" lang="en-GB">
                <a:latin typeface="Garamond" panose="02020404030301010803" pitchFamily="18" charset="0"/>
              </a:rPr>
              <a:t> ( 2014) All FWLR (Pt. 668) 800.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2" name="Shape 163"/>
        <p:cNvGrpSpPr/>
        <p:nvPr/>
      </p:nvGrpSpPr>
      <p:grpSpPr>
        <a:xfrm>
          <a:off x="0" y="0"/>
          <a:ext cx="0" cy="0"/>
          <a:chOff x="0" y="0"/>
          <a:chExt cx="0" cy="0"/>
        </a:xfrm>
      </p:grpSpPr>
      <p:sp>
        <p:nvSpPr>
          <p:cNvPr id="1048627" name="Shape 164"/>
          <p:cNvSpPr txBox="1">
            <a:spLocks noGrp="1"/>
          </p:cNvSpPr>
          <p:nvPr>
            <p:ph type="title"/>
          </p:nvPr>
        </p:nvSpPr>
        <p:spPr>
          <a:xfrm>
            <a:off x="1981200" y="0"/>
            <a:ext cx="8229600" cy="1197075"/>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Affixing NBA Stamp &amp; Seal</a:t>
            </a:r>
          </a:p>
        </p:txBody>
      </p:sp>
      <p:sp>
        <p:nvSpPr>
          <p:cNvPr id="1048628" name="Shape 165"/>
          <p:cNvSpPr txBox="1">
            <a:spLocks noGrp="1"/>
          </p:cNvSpPr>
          <p:nvPr>
            <p:ph idx="1"/>
          </p:nvPr>
        </p:nvSpPr>
        <p:spPr>
          <a:xfrm>
            <a:off x="0" y="1079292"/>
            <a:ext cx="12192000" cy="5808688"/>
          </a:xfrm>
          <a:prstGeom prst="rect"/>
          <a:noFill/>
          <a:ln>
            <a:noFill/>
          </a:ln>
        </p:spPr>
        <p:txBody>
          <a:bodyPr anchor="t" anchorCtr="0" bIns="45700" lIns="91425" rIns="91425" rtlCol="0" tIns="45700" vert="horz">
            <a:noAutofit/>
          </a:bodyPr>
          <a:p>
            <a:pPr indent="-342900" marL="342900">
              <a:lnSpc>
                <a:spcPct val="100000"/>
              </a:lnSpc>
              <a:spcBef>
                <a:spcPts val="0"/>
              </a:spcBef>
              <a:buClr>
                <a:srgbClr val="000000"/>
              </a:buClr>
              <a:buSzPct val="100000"/>
              <a:buFont typeface="Garamond"/>
              <a:buChar char="•"/>
            </a:pPr>
            <a:r>
              <a:rPr b="1" dirty="0" sz="3400" lang="en-US">
                <a:solidFill>
                  <a:srgbClr val="000000"/>
                </a:solidFill>
                <a:latin typeface="Garamond"/>
                <a:ea typeface="Garamond"/>
                <a:cs typeface="Garamond"/>
                <a:sym typeface="Garamond"/>
              </a:rPr>
              <a:t>Lawyers’ NBA Stamp &amp; Seal should be affixed on Writ</a:t>
            </a:r>
            <a:r>
              <a:rPr dirty="0" sz="3400" lang="en-US">
                <a:solidFill>
                  <a:srgbClr val="000000"/>
                </a:solidFill>
                <a:latin typeface="Garamond"/>
                <a:ea typeface="Garamond"/>
                <a:cs typeface="Garamond"/>
                <a:sym typeface="Garamond"/>
              </a:rPr>
              <a:t>. </a:t>
            </a:r>
            <a:r>
              <a:rPr dirty="0" sz="3400" i="1" lang="en-US">
                <a:solidFill>
                  <a:srgbClr val="000000"/>
                </a:solidFill>
                <a:latin typeface="Garamond"/>
                <a:ea typeface="Garamond"/>
                <a:cs typeface="Garamond"/>
                <a:sym typeface="Garamond"/>
              </a:rPr>
              <a:t>See</a:t>
            </a:r>
            <a:r>
              <a:rPr dirty="0" sz="3400" lang="en-US">
                <a:solidFill>
                  <a:srgbClr val="000000"/>
                </a:solidFill>
                <a:latin typeface="Garamond"/>
                <a:ea typeface="Garamond"/>
                <a:cs typeface="Garamond"/>
                <a:sym typeface="Garamond"/>
              </a:rPr>
              <a:t> </a:t>
            </a:r>
            <a:r>
              <a:rPr dirty="0" sz="3400" i="1" lang="en-US">
                <a:solidFill>
                  <a:srgbClr val="000000"/>
                </a:solidFill>
                <a:latin typeface="Garamond"/>
                <a:ea typeface="Garamond"/>
                <a:cs typeface="Garamond"/>
                <a:sym typeface="Garamond"/>
              </a:rPr>
              <a:t>Order 2 r. 9 </a:t>
            </a:r>
            <a:r>
              <a:rPr dirty="0" sz="3400" i="1" lang="en-US" err="1">
                <a:solidFill>
                  <a:srgbClr val="000000"/>
                </a:solidFill>
                <a:latin typeface="Garamond"/>
                <a:ea typeface="Garamond"/>
                <a:cs typeface="Garamond"/>
                <a:sym typeface="Garamond"/>
              </a:rPr>
              <a:t>Abj</a:t>
            </a:r>
            <a:r>
              <a:rPr dirty="0" sz="3400" i="1" lang="en-US">
                <a:solidFill>
                  <a:srgbClr val="000000"/>
                </a:solidFill>
                <a:latin typeface="Garamond"/>
                <a:ea typeface="Garamond"/>
                <a:cs typeface="Garamond"/>
                <a:sym typeface="Garamond"/>
              </a:rPr>
              <a:t>, Rule 10 RPC 2023</a:t>
            </a:r>
          </a:p>
          <a:p>
            <a:pPr indent="-342900" marL="342900">
              <a:lnSpc>
                <a:spcPct val="100000"/>
              </a:lnSpc>
              <a:spcBef>
                <a:spcPts val="680"/>
              </a:spcBef>
              <a:buClr>
                <a:srgbClr val="000000"/>
              </a:buClr>
              <a:buSzPct val="100000"/>
              <a:buFont typeface="Garamond"/>
              <a:buChar char="•"/>
            </a:pPr>
            <a:r>
              <a:rPr b="1" dirty="0" sz="3400" lang="en-US">
                <a:solidFill>
                  <a:srgbClr val="000000"/>
                </a:solidFill>
                <a:latin typeface="Garamond"/>
                <a:ea typeface="Garamond"/>
                <a:cs typeface="Garamond"/>
                <a:sym typeface="Garamond"/>
              </a:rPr>
              <a:t>Failure to affix does not render process incompetent. May be cured by extension of time to regularize</a:t>
            </a:r>
            <a:r>
              <a:rPr dirty="0" sz="3400" lang="en-US">
                <a:solidFill>
                  <a:srgbClr val="000000"/>
                </a:solidFill>
                <a:latin typeface="Garamond"/>
                <a:ea typeface="Garamond"/>
                <a:cs typeface="Garamond"/>
                <a:sym typeface="Garamond"/>
              </a:rPr>
              <a:t>. </a:t>
            </a:r>
            <a:r>
              <a:rPr dirty="0" sz="3400" i="1" lang="en-US" err="1">
                <a:solidFill>
                  <a:srgbClr val="000000"/>
                </a:solidFill>
                <a:latin typeface="Garamond"/>
                <a:ea typeface="Garamond"/>
                <a:cs typeface="Garamond"/>
                <a:sym typeface="Garamond"/>
              </a:rPr>
              <a:t>Nyesom</a:t>
            </a:r>
            <a:r>
              <a:rPr dirty="0" sz="3400" i="1" lang="en-US">
                <a:solidFill>
                  <a:srgbClr val="000000"/>
                </a:solidFill>
                <a:latin typeface="Garamond"/>
                <a:ea typeface="Garamond"/>
                <a:cs typeface="Garamond"/>
                <a:sym typeface="Garamond"/>
              </a:rPr>
              <a:t> v </a:t>
            </a:r>
            <a:r>
              <a:rPr dirty="0" sz="3400" i="1" lang="en-US" err="1">
                <a:solidFill>
                  <a:srgbClr val="000000"/>
                </a:solidFill>
                <a:latin typeface="Garamond"/>
                <a:ea typeface="Garamond"/>
                <a:cs typeface="Garamond"/>
                <a:sym typeface="Garamond"/>
              </a:rPr>
              <a:t>Peterside</a:t>
            </a:r>
            <a:r>
              <a:rPr dirty="0" sz="3400" i="1" lang="en-US">
                <a:solidFill>
                  <a:srgbClr val="000000"/>
                </a:solidFill>
                <a:latin typeface="Garamond"/>
                <a:ea typeface="Garamond"/>
                <a:cs typeface="Garamond"/>
                <a:sym typeface="Garamond"/>
              </a:rPr>
              <a:t> (2016) 7 NWLR (pt. 1512) 452: Bello </a:t>
            </a:r>
            <a:r>
              <a:rPr dirty="0" sz="3400" i="1" lang="en-US" err="1">
                <a:solidFill>
                  <a:srgbClr val="000000"/>
                </a:solidFill>
                <a:latin typeface="Garamond"/>
                <a:ea typeface="Garamond"/>
                <a:cs typeface="Garamond"/>
                <a:sym typeface="Garamond"/>
              </a:rPr>
              <a:t>Sarkin</a:t>
            </a:r>
            <a:r>
              <a:rPr dirty="0" sz="3400" i="1" lang="en-US">
                <a:solidFill>
                  <a:srgbClr val="000000"/>
                </a:solidFill>
                <a:latin typeface="Garamond"/>
                <a:ea typeface="Garamond"/>
                <a:cs typeface="Garamond"/>
                <a:sym typeface="Garamond"/>
              </a:rPr>
              <a:t> </a:t>
            </a:r>
            <a:r>
              <a:rPr dirty="0" sz="3400" i="1" lang="en-US" err="1">
                <a:solidFill>
                  <a:srgbClr val="000000"/>
                </a:solidFill>
                <a:latin typeface="Garamond"/>
                <a:ea typeface="Garamond"/>
                <a:cs typeface="Garamond"/>
                <a:sym typeface="Garamond"/>
              </a:rPr>
              <a:t>Yaki</a:t>
            </a:r>
            <a:r>
              <a:rPr dirty="0" sz="3400" i="1" lang="en-US">
                <a:solidFill>
                  <a:srgbClr val="000000"/>
                </a:solidFill>
                <a:latin typeface="Garamond"/>
                <a:ea typeface="Garamond"/>
                <a:cs typeface="Garamond"/>
                <a:sym typeface="Garamond"/>
              </a:rPr>
              <a:t> v </a:t>
            </a:r>
            <a:r>
              <a:rPr dirty="0" sz="3400" i="1" lang="en-US" err="1">
                <a:solidFill>
                  <a:srgbClr val="000000"/>
                </a:solidFill>
                <a:latin typeface="Garamond"/>
                <a:ea typeface="Garamond"/>
                <a:cs typeface="Garamond"/>
                <a:sym typeface="Garamond"/>
              </a:rPr>
              <a:t>Bagudu</a:t>
            </a:r>
            <a:r>
              <a:rPr dirty="0" sz="3400" i="1" lang="en-US">
                <a:solidFill>
                  <a:srgbClr val="000000"/>
                </a:solidFill>
                <a:latin typeface="Garamond"/>
                <a:ea typeface="Garamond"/>
                <a:cs typeface="Garamond"/>
                <a:sym typeface="Garamond"/>
              </a:rPr>
              <a:t> (2015) 18 NWLR (pt. 1491) 288. </a:t>
            </a:r>
          </a:p>
          <a:p>
            <a:pPr indent="-342900" marL="342900">
              <a:lnSpc>
                <a:spcPct val="100000"/>
              </a:lnSpc>
              <a:spcBef>
                <a:spcPts val="680"/>
              </a:spcBef>
              <a:buClr>
                <a:srgbClr val="000000"/>
              </a:buClr>
              <a:buSzPct val="100000"/>
              <a:buFont typeface="Garamond"/>
              <a:buChar char="•"/>
            </a:pPr>
            <a:r>
              <a:rPr b="1" dirty="0" sz="3200" lang="en-GB">
                <a:latin typeface="Garamond" panose="02020404030301010803" pitchFamily="18" charset="0"/>
              </a:rPr>
              <a:t>Where a lawyer has paid for his seal but yet to receive it, payment receipt has been held to suffice – </a:t>
            </a:r>
            <a:r>
              <a:rPr dirty="0" sz="3200" i="1" lang="en-GB">
                <a:latin typeface="Garamond" panose="02020404030301010803" pitchFamily="18" charset="0"/>
              </a:rPr>
              <a:t>Today’s Car Ltd v LASACO Assurance</a:t>
            </a:r>
            <a:r>
              <a:rPr dirty="0" sz="3200" lang="en-GB">
                <a:latin typeface="Garamond" panose="02020404030301010803" pitchFamily="18" charset="0"/>
              </a:rPr>
              <a:t> (2016) LPELR – 41260(CA). Even an expired seal does not invalidate a process – </a:t>
            </a:r>
            <a:r>
              <a:rPr dirty="0" sz="3200" i="1" lang="en-GB" err="1">
                <a:latin typeface="Garamond" panose="02020404030301010803" pitchFamily="18" charset="0"/>
              </a:rPr>
              <a:t>Emechebe</a:t>
            </a:r>
            <a:r>
              <a:rPr dirty="0" sz="3200" i="1" lang="en-GB">
                <a:latin typeface="Garamond" panose="02020404030301010803" pitchFamily="18" charset="0"/>
              </a:rPr>
              <a:t> v Ceto Int’l Ltd.</a:t>
            </a:r>
            <a:r>
              <a:rPr dirty="0" sz="3200" lang="en-GB">
                <a:latin typeface="Garamond" panose="02020404030301010803" pitchFamily="18" charset="0"/>
              </a:rPr>
              <a:t> (2018) 11 NWLR (Pt. 1631) 520.</a:t>
            </a:r>
            <a:endParaRPr dirty="0" sz="3400" i="1" lang="en-US">
              <a:solidFill>
                <a:srgbClr val="000000"/>
              </a:solidFill>
              <a:latin typeface="Garamond"/>
              <a:ea typeface="Garamond"/>
              <a:cs typeface="Garamond"/>
              <a:sym typeface="Garamond"/>
            </a:endParaRPr>
          </a:p>
          <a:p>
            <a:pPr indent="-342900" marL="342900">
              <a:spcBef>
                <a:spcPts val="680"/>
              </a:spcBef>
              <a:buClr>
                <a:schemeClr val="dk1"/>
              </a:buClr>
              <a:buSzPct val="100000"/>
              <a:buNone/>
            </a:pPr>
            <a:endParaRPr dirty="0" sz="3400" i="1">
              <a:solidFill>
                <a:srgbClr val="000000"/>
              </a:solidFill>
              <a:latin typeface="Garamond"/>
              <a:ea typeface="Garamond"/>
              <a:cs typeface="Garamond"/>
              <a:sym typeface="Garamon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95" name="Shape 169"/>
        <p:cNvGrpSpPr/>
        <p:nvPr/>
      </p:nvGrpSpPr>
      <p:grpSpPr>
        <a:xfrm>
          <a:off x="0" y="0"/>
          <a:ext cx="0" cy="0"/>
          <a:chOff x="0" y="0"/>
          <a:chExt cx="0" cy="0"/>
        </a:xfrm>
      </p:grpSpPr>
      <p:sp>
        <p:nvSpPr>
          <p:cNvPr id="1048631" name="Shape 170"/>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endParaRPr b="1" dirty="0" lang="en-US">
              <a:solidFill>
                <a:srgbClr val="000000"/>
              </a:solidFill>
              <a:latin typeface="Garamond"/>
              <a:ea typeface="Garamond"/>
              <a:cs typeface="Garamond"/>
              <a:sym typeface="Garamond"/>
            </a:endParaRPr>
          </a:p>
        </p:txBody>
      </p:sp>
      <p:sp>
        <p:nvSpPr>
          <p:cNvPr id="1048632" name="Shape 171"/>
          <p:cNvSpPr txBox="1">
            <a:spLocks noGrp="1"/>
          </p:cNvSpPr>
          <p:nvPr>
            <p:ph idx="1"/>
          </p:nvPr>
        </p:nvSpPr>
        <p:spPr>
          <a:xfrm>
            <a:off x="0" y="1844675"/>
            <a:ext cx="12192000" cy="4825948"/>
          </a:xfrm>
          <a:prstGeom prst="rect"/>
          <a:noFill/>
          <a:ln>
            <a:noFill/>
          </a:ln>
        </p:spPr>
        <p:txBody>
          <a:bodyPr anchor="t" anchorCtr="0" bIns="45700" lIns="91425" rIns="91425" rtlCol="0" tIns="45700" vert="horz">
            <a:noAutofit/>
          </a:bodyPr>
          <a:p>
            <a:pPr indent="-342900">
              <a:spcBef>
                <a:spcPts val="0"/>
              </a:spcBef>
              <a:buClr>
                <a:srgbClr val="000000"/>
              </a:buClr>
              <a:buFont typeface="Garamond"/>
              <a:buChar char="•"/>
            </a:pPr>
            <a:r>
              <a:rPr dirty="0" sz="3600" lang="en-US">
                <a:solidFill>
                  <a:srgbClr val="000000"/>
                </a:solidFill>
                <a:latin typeface="Garamond" panose="02020404030301010803" pitchFamily="18" charset="0"/>
                <a:ea typeface="Garamond"/>
                <a:cs typeface="Garamond"/>
                <a:sym typeface="Garamond"/>
              </a:rPr>
              <a:t>Finally on this point, it must be noted that failure to affix seal as required does not invalidate a process but is regarded as an irregularity which can be cured by affixing the seal</a:t>
            </a:r>
            <a:r>
              <a:rPr b="1" dirty="0" sz="3600" lang="en-US">
                <a:solidFill>
                  <a:srgbClr val="000000"/>
                </a:solidFill>
                <a:latin typeface="Garamond" panose="02020404030301010803" pitchFamily="18" charset="0"/>
                <a:ea typeface="Garamond"/>
                <a:cs typeface="Garamond"/>
                <a:sym typeface="Garamond"/>
              </a:rPr>
              <a:t>. See the views of </a:t>
            </a:r>
            <a:r>
              <a:rPr b="1" dirty="0" sz="3600" lang="en-US" err="1">
                <a:solidFill>
                  <a:srgbClr val="000000"/>
                </a:solidFill>
                <a:latin typeface="Garamond" panose="02020404030301010803" pitchFamily="18" charset="0"/>
                <a:ea typeface="Garamond"/>
                <a:cs typeface="Garamond"/>
                <a:sym typeface="Garamond"/>
              </a:rPr>
              <a:t>Ngwuta</a:t>
            </a:r>
            <a:r>
              <a:rPr b="1" dirty="0" sz="3600" lang="en-US">
                <a:solidFill>
                  <a:srgbClr val="000000"/>
                </a:solidFill>
                <a:latin typeface="Garamond" panose="02020404030301010803" pitchFamily="18" charset="0"/>
                <a:ea typeface="Garamond"/>
                <a:cs typeface="Garamond"/>
                <a:sym typeface="Garamond"/>
              </a:rPr>
              <a:t> JSC </a:t>
            </a:r>
            <a:r>
              <a:rPr b="1" dirty="0" sz="3600" lang="en-US" err="1">
                <a:solidFill>
                  <a:srgbClr val="000000"/>
                </a:solidFill>
                <a:latin typeface="Garamond" panose="02020404030301010803" pitchFamily="18" charset="0"/>
                <a:ea typeface="Garamond"/>
                <a:cs typeface="Garamond"/>
                <a:sym typeface="Garamond"/>
              </a:rPr>
              <a:t>in</a:t>
            </a:r>
            <a:r>
              <a:rPr b="1" dirty="0" sz="3600" i="1" lang="en-US" err="1">
                <a:latin typeface="Garamond" panose="02020404030301010803" pitchFamily="18" charset="0"/>
              </a:rPr>
              <a:t>Yaki</a:t>
            </a:r>
            <a:r>
              <a:rPr b="1" dirty="0" sz="3600" i="1" lang="en-US">
                <a:latin typeface="Garamond" panose="02020404030301010803" pitchFamily="18" charset="0"/>
              </a:rPr>
              <a:t> v </a:t>
            </a:r>
            <a:r>
              <a:rPr b="1" dirty="0" sz="3600" i="1" lang="en-US" err="1">
                <a:latin typeface="Garamond" panose="02020404030301010803" pitchFamily="18" charset="0"/>
              </a:rPr>
              <a:t>Bagudu</a:t>
            </a:r>
            <a:r>
              <a:rPr b="1" dirty="0" sz="3600" i="1" lang="en-US">
                <a:latin typeface="Garamond" panose="02020404030301010803" pitchFamily="18" charset="0"/>
              </a:rPr>
              <a:t> </a:t>
            </a:r>
            <a:r>
              <a:rPr b="1" dirty="0" sz="3600" lang="en-US">
                <a:latin typeface="Garamond" panose="02020404030301010803" pitchFamily="18" charset="0"/>
              </a:rPr>
              <a:t>[</a:t>
            </a:r>
            <a:r>
              <a:rPr b="1" dirty="0" sz="3600" lang="en-GB">
                <a:latin typeface="Garamond" panose="02020404030301010803" pitchFamily="18" charset="0"/>
              </a:rPr>
              <a:t>2015] All FWLR (Pt. 810) 1026.</a:t>
            </a:r>
            <a:endParaRPr b="1" dirty="0" sz="3600" i="1" lang="en-US">
              <a:solidFill>
                <a:srgbClr val="000000"/>
              </a:solidFill>
              <a:latin typeface="Garamond" panose="02020404030301010803" pitchFamily="18" charset="0"/>
              <a:ea typeface="Garamond"/>
              <a:cs typeface="Garamond"/>
              <a:sym typeface="Garamond"/>
            </a:endParaRPr>
          </a:p>
          <a:p>
            <a:pPr indent="-342900" marL="342900">
              <a:spcBef>
                <a:spcPts val="680"/>
              </a:spcBef>
              <a:buClr>
                <a:schemeClr val="dk1"/>
              </a:buClr>
              <a:buSzPct val="100000"/>
              <a:buNone/>
            </a:pPr>
            <a:endParaRPr dirty="0" sz="3400" i="1">
              <a:solidFill>
                <a:srgbClr val="000000"/>
              </a:solidFill>
              <a:latin typeface="Garamond"/>
              <a:ea typeface="Garamond"/>
              <a:cs typeface="Garamond"/>
              <a:sym typeface="Garamo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98" name="Shape 175"/>
        <p:cNvGrpSpPr/>
        <p:nvPr/>
      </p:nvGrpSpPr>
      <p:grpSpPr>
        <a:xfrm>
          <a:off x="0" y="0"/>
          <a:ext cx="0" cy="0"/>
          <a:chOff x="0" y="0"/>
          <a:chExt cx="0" cy="0"/>
        </a:xfrm>
      </p:grpSpPr>
      <p:sp>
        <p:nvSpPr>
          <p:cNvPr id="1048635" name="Shape 176"/>
          <p:cNvSpPr txBox="1">
            <a:spLocks noGrp="1"/>
          </p:cNvSpPr>
          <p:nvPr>
            <p:ph type="title"/>
          </p:nvPr>
        </p:nvSpPr>
        <p:spPr>
          <a:xfrm>
            <a:off x="0" y="0"/>
            <a:ext cx="12192000" cy="1916236"/>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
            </a:r>
            <a:br>
              <a:rPr b="1" dirty="0" sz="3600" lang="en-US">
                <a:solidFill>
                  <a:srgbClr val="000000"/>
                </a:solidFill>
                <a:latin typeface="Garamond"/>
                <a:ea typeface="Garamond"/>
                <a:cs typeface="Garamond"/>
                <a:sym typeface="Garamond"/>
              </a:rPr>
            </a:br>
            <a:r>
              <a:rPr b="1" dirty="0" sz="3200" lang="en-US">
                <a:solidFill>
                  <a:srgbClr val="000000"/>
                </a:solidFill>
                <a:latin typeface="Garamond"/>
                <a:ea typeface="Garamond"/>
                <a:cs typeface="Garamond"/>
                <a:sym typeface="Garamond"/>
              </a:rPr>
              <a:t>Documents to Accompany a Writ Of Summons</a:t>
            </a:r>
            <a:r>
              <a:rPr dirty="0" sz="3200" lang="en-US">
                <a:solidFill>
                  <a:srgbClr val="000000"/>
                </a:solidFill>
                <a:latin typeface="Garamond"/>
                <a:ea typeface="Garamond"/>
                <a:cs typeface="Garamond"/>
                <a:sym typeface="Garamond"/>
              </a:rPr>
              <a:t>. </a:t>
            </a:r>
            <a:br>
              <a:rPr dirty="0" sz="3200" lang="en-US">
                <a:solidFill>
                  <a:srgbClr val="000000"/>
                </a:solidFill>
                <a:latin typeface="Garamond"/>
                <a:ea typeface="Garamond"/>
                <a:cs typeface="Garamond"/>
                <a:sym typeface="Garamond"/>
              </a:rPr>
            </a:br>
            <a:r>
              <a:rPr dirty="0" sz="3200" i="1" lang="en-US">
                <a:solidFill>
                  <a:srgbClr val="000000"/>
                </a:solidFill>
                <a:latin typeface="Garamond"/>
                <a:ea typeface="Garamond"/>
                <a:cs typeface="Garamond"/>
                <a:sym typeface="Garamond"/>
              </a:rPr>
              <a:t>See Or 5 r. 1(2) Lag; Or 2 r. 2 (2) &amp; r.8 </a:t>
            </a:r>
            <a:r>
              <a:rPr dirty="0" sz="3200" i="1" lang="en-US" err="1">
                <a:solidFill>
                  <a:srgbClr val="000000"/>
                </a:solidFill>
                <a:latin typeface="Garamond"/>
                <a:ea typeface="Garamond"/>
                <a:cs typeface="Garamond"/>
                <a:sym typeface="Garamond"/>
              </a:rPr>
              <a:t>Abj</a:t>
            </a:r>
            <a:r>
              <a:rPr dirty="0" sz="3200" i="1" lang="en-US">
                <a:solidFill>
                  <a:srgbClr val="000000"/>
                </a:solidFill>
                <a:latin typeface="Garamond"/>
                <a:ea typeface="Garamond"/>
                <a:cs typeface="Garamond"/>
                <a:sym typeface="Garamond"/>
              </a:rPr>
              <a:t>.</a:t>
            </a:r>
            <a:br>
              <a:rPr dirty="0" sz="3200" i="1" lang="en-US">
                <a:solidFill>
                  <a:srgbClr val="000000"/>
                </a:solidFill>
                <a:latin typeface="Garamond"/>
                <a:ea typeface="Garamond"/>
                <a:cs typeface="Garamond"/>
                <a:sym typeface="Garamond"/>
              </a:rPr>
            </a:br>
            <a:r>
              <a:rPr dirty="0" sz="3600" lang="en-US">
                <a:solidFill>
                  <a:srgbClr val="000000"/>
                </a:solidFill>
                <a:latin typeface="Garamond"/>
                <a:ea typeface="Garamond"/>
                <a:cs typeface="Garamond"/>
                <a:sym typeface="Garamond"/>
              </a:rPr>
              <a:t> </a:t>
            </a:r>
          </a:p>
        </p:txBody>
      </p:sp>
      <p:sp>
        <p:nvSpPr>
          <p:cNvPr id="1048636" name="Shape 177"/>
          <p:cNvSpPr txBox="1">
            <a:spLocks noGrp="1"/>
          </p:cNvSpPr>
          <p:nvPr>
            <p:ph idx="1"/>
          </p:nvPr>
        </p:nvSpPr>
        <p:spPr>
          <a:xfrm>
            <a:off x="0" y="1916110"/>
            <a:ext cx="12192000" cy="4941889"/>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25000"/>
              <a:buNone/>
            </a:pPr>
            <a:endParaRPr dirty="0" sz="300" i="1">
              <a:solidFill>
                <a:srgbClr val="000000"/>
              </a:solidFill>
              <a:latin typeface="Garamond"/>
              <a:ea typeface="Garamond"/>
              <a:cs typeface="Garamond"/>
              <a:sym typeface="Garamond"/>
            </a:endParaRPr>
          </a:p>
          <a:p>
            <a:pPr indent="-514350" lvl="1" marL="971550">
              <a:lnSpc>
                <a:spcPct val="100000"/>
              </a:lnSpc>
              <a:spcBef>
                <a:spcPts val="600"/>
              </a:spcBef>
              <a:buClr>
                <a:srgbClr val="000000"/>
              </a:buClr>
              <a:buSzPct val="100000"/>
              <a:buFont typeface="Garamond"/>
              <a:buAutoNum type="arabicPeriod"/>
            </a:pPr>
            <a:r>
              <a:rPr dirty="0" sz="3000" lang="en-US">
                <a:solidFill>
                  <a:srgbClr val="000000"/>
                </a:solidFill>
                <a:latin typeface="Garamond"/>
                <a:ea typeface="Garamond"/>
                <a:cs typeface="Garamond"/>
                <a:sym typeface="Garamond"/>
              </a:rPr>
              <a:t>Statement of Claim.</a:t>
            </a:r>
          </a:p>
          <a:p>
            <a:pPr indent="-514350" lvl="1" marL="971550">
              <a:lnSpc>
                <a:spcPct val="100000"/>
              </a:lnSpc>
              <a:spcBef>
                <a:spcPts val="600"/>
              </a:spcBef>
              <a:buClr>
                <a:srgbClr val="000000"/>
              </a:buClr>
              <a:buSzPct val="100000"/>
              <a:buFont typeface="Garamond"/>
              <a:buAutoNum type="arabicPeriod"/>
            </a:pPr>
            <a:r>
              <a:rPr dirty="0" sz="3000" lang="en-US">
                <a:solidFill>
                  <a:srgbClr val="000000"/>
                </a:solidFill>
                <a:latin typeface="Garamond"/>
                <a:ea typeface="Garamond"/>
                <a:cs typeface="Garamond"/>
                <a:sym typeface="Garamond"/>
              </a:rPr>
              <a:t>List of witnesses to be called at the trial</a:t>
            </a:r>
          </a:p>
          <a:p>
            <a:pPr indent="-514350" lvl="1" marL="971550">
              <a:lnSpc>
                <a:spcPct val="100000"/>
              </a:lnSpc>
              <a:spcBef>
                <a:spcPts val="600"/>
              </a:spcBef>
              <a:buClr>
                <a:srgbClr val="000000"/>
              </a:buClr>
              <a:buSzPct val="100000"/>
              <a:buFont typeface="Garamond"/>
              <a:buAutoNum type="arabicPeriod"/>
            </a:pPr>
            <a:r>
              <a:rPr dirty="0" sz="3000" lang="en-US">
                <a:solidFill>
                  <a:srgbClr val="000000"/>
                </a:solidFill>
                <a:latin typeface="Garamond"/>
                <a:ea typeface="Garamond"/>
                <a:cs typeface="Garamond"/>
                <a:sym typeface="Garamond"/>
              </a:rPr>
              <a:t>Written Statements on Oath of Witnesses except Witnesses on Subpoena</a:t>
            </a:r>
          </a:p>
          <a:p>
            <a:pPr indent="-514350" lvl="1" marL="971550">
              <a:lnSpc>
                <a:spcPct val="100000"/>
              </a:lnSpc>
              <a:spcBef>
                <a:spcPts val="600"/>
              </a:spcBef>
              <a:buClr>
                <a:srgbClr val="000000"/>
              </a:buClr>
              <a:buSzPct val="100000"/>
              <a:buFont typeface="Garamond"/>
              <a:buAutoNum type="arabicPeriod"/>
            </a:pPr>
            <a:r>
              <a:rPr dirty="0" sz="3000" lang="en-US">
                <a:solidFill>
                  <a:srgbClr val="000000"/>
                </a:solidFill>
                <a:latin typeface="Garamond"/>
                <a:ea typeface="Garamond"/>
                <a:cs typeface="Garamond"/>
                <a:sym typeface="Garamond"/>
              </a:rPr>
              <a:t>Copies of every document to be relied on at the trial</a:t>
            </a:r>
          </a:p>
          <a:p>
            <a:pPr indent="-514350" lvl="1" marL="971550">
              <a:lnSpc>
                <a:spcPct val="100000"/>
              </a:lnSpc>
              <a:spcBef>
                <a:spcPts val="600"/>
              </a:spcBef>
              <a:buClr>
                <a:srgbClr val="000000"/>
              </a:buClr>
              <a:buSzPct val="100000"/>
              <a:buFont typeface="Garamond"/>
              <a:buAutoNum type="arabicPeriod"/>
            </a:pPr>
            <a:r>
              <a:rPr dirty="0" sz="3000" lang="en-US">
                <a:solidFill>
                  <a:srgbClr val="000000"/>
                </a:solidFill>
                <a:latin typeface="Garamond"/>
                <a:ea typeface="Garamond"/>
                <a:cs typeface="Garamond"/>
                <a:sym typeface="Garamond"/>
              </a:rPr>
              <a:t>Pre Action Counselling Certificate – Form 6 (</a:t>
            </a:r>
            <a:r>
              <a:rPr dirty="0" sz="3000" lang="en-US" err="1">
                <a:solidFill>
                  <a:srgbClr val="000000"/>
                </a:solidFill>
                <a:latin typeface="Garamond"/>
                <a:ea typeface="Garamond"/>
                <a:cs typeface="Garamond"/>
                <a:sym typeface="Garamond"/>
              </a:rPr>
              <a:t>Abj</a:t>
            </a:r>
            <a:r>
              <a:rPr dirty="0" sz="3000" lang="en-US">
                <a:solidFill>
                  <a:srgbClr val="000000"/>
                </a:solidFill>
                <a:latin typeface="Garamond"/>
                <a:ea typeface="Garamond"/>
                <a:cs typeface="Garamond"/>
                <a:sym typeface="Garamond"/>
              </a:rPr>
              <a:t>) or Pre-action Protocol Form 01 with necessary documents (Lag)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1" name="Shape 99"/>
        <p:cNvGrpSpPr/>
        <p:nvPr/>
      </p:nvGrpSpPr>
      <p:grpSpPr>
        <a:xfrm>
          <a:off x="0" y="0"/>
          <a:ext cx="0" cy="0"/>
          <a:chOff x="0" y="0"/>
          <a:chExt cx="0" cy="0"/>
        </a:xfrm>
      </p:grpSpPr>
      <p:sp>
        <p:nvSpPr>
          <p:cNvPr id="1048639" name="Shape 100"/>
          <p:cNvSpPr txBox="1">
            <a:spLocks noGrp="1"/>
          </p:cNvSpPr>
          <p:nvPr>
            <p:ph type="title"/>
          </p:nvPr>
        </p:nvSpPr>
        <p:spPr>
          <a:xfrm>
            <a:off x="-1" y="115886"/>
            <a:ext cx="11407515" cy="1278200"/>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sz="3600" lang="en-US">
                <a:solidFill>
                  <a:schemeClr val="dk2"/>
                </a:solidFill>
                <a:latin typeface="Garamond"/>
                <a:ea typeface="Garamond"/>
                <a:cs typeface="Garamond"/>
                <a:sym typeface="Garamond"/>
              </a:rPr>
              <a:t>Pre action </a:t>
            </a:r>
            <a:r>
              <a:rPr b="1" dirty="0" sz="3600" lang="en-US">
                <a:latin typeface="Garamond"/>
                <a:ea typeface="Garamond"/>
                <a:cs typeface="Garamond"/>
                <a:sym typeface="Garamond"/>
              </a:rPr>
              <a:t>Protocol and Pre action Counselling</a:t>
            </a:r>
            <a:r>
              <a:rPr b="1" dirty="0" sz="4000" lang="en-US">
                <a:latin typeface="Garamond"/>
                <a:ea typeface="Garamond"/>
                <a:cs typeface="Garamond"/>
                <a:sym typeface="Garamond"/>
              </a:rPr>
              <a:t/>
            </a:r>
            <a:br>
              <a:rPr b="1" dirty="0" sz="4000" lang="en-US">
                <a:latin typeface="Garamond"/>
                <a:ea typeface="Garamond"/>
                <a:cs typeface="Garamond"/>
                <a:sym typeface="Garamond"/>
              </a:rPr>
            </a:br>
            <a:r>
              <a:rPr dirty="0" sz="2800" lang="en-US">
                <a:solidFill>
                  <a:schemeClr val="dk2"/>
                </a:solidFill>
                <a:latin typeface="Garamond"/>
                <a:ea typeface="Garamond"/>
                <a:cs typeface="Garamond"/>
                <a:sym typeface="Garamond"/>
              </a:rPr>
              <a:t>Or. 2 r.8 </a:t>
            </a:r>
            <a:r>
              <a:rPr dirty="0" sz="2800" lang="en-US" err="1">
                <a:solidFill>
                  <a:schemeClr val="dk2"/>
                </a:solidFill>
                <a:latin typeface="Garamond"/>
                <a:ea typeface="Garamond"/>
                <a:cs typeface="Garamond"/>
                <a:sym typeface="Garamond"/>
              </a:rPr>
              <a:t>Abj</a:t>
            </a:r>
            <a:r>
              <a:rPr dirty="0" sz="2800" lang="en-US">
                <a:solidFill>
                  <a:schemeClr val="dk2"/>
                </a:solidFill>
                <a:latin typeface="Garamond"/>
                <a:ea typeface="Garamond"/>
                <a:cs typeface="Garamond"/>
                <a:sym typeface="Garamond"/>
              </a:rPr>
              <a:t> &amp; Or. 5 r. 1(2)(e) &amp; r. 5(3)(d) Lag.</a:t>
            </a:r>
            <a:r>
              <a:rPr dirty="0" sz="2800" i="1" lang="en-US">
                <a:solidFill>
                  <a:schemeClr val="dk2"/>
                </a:solidFill>
                <a:latin typeface="Garamond"/>
                <a:ea typeface="Garamond"/>
                <a:cs typeface="Garamond"/>
                <a:sym typeface="Garamond"/>
              </a:rPr>
              <a:t> </a:t>
            </a:r>
          </a:p>
        </p:txBody>
      </p:sp>
      <p:sp>
        <p:nvSpPr>
          <p:cNvPr id="1048640" name="Shape 101"/>
          <p:cNvSpPr txBox="1">
            <a:spLocks noGrp="1"/>
          </p:cNvSpPr>
          <p:nvPr>
            <p:ph idx="1"/>
          </p:nvPr>
        </p:nvSpPr>
        <p:spPr>
          <a:xfrm>
            <a:off x="0" y="1394086"/>
            <a:ext cx="12192000" cy="5463914"/>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endParaRPr dirty="0" sz="3200" lang="en-US">
              <a:solidFill>
                <a:schemeClr val="dk1"/>
              </a:solidFill>
              <a:latin typeface="Garamond"/>
              <a:ea typeface="Garamond"/>
              <a:cs typeface="Garamond"/>
              <a:sym typeface="Garamond"/>
            </a:endParaRPr>
          </a:p>
          <a:p>
            <a:pPr indent="-342900" marL="342900">
              <a:lnSpc>
                <a:spcPct val="100000"/>
              </a:lnSpc>
              <a:spcBef>
                <a:spcPts val="0"/>
              </a:spcBef>
              <a:buClr>
                <a:schemeClr val="dk1"/>
              </a:buClr>
              <a:buSzPct val="100000"/>
              <a:buFont typeface="Garamond"/>
              <a:buChar char="•"/>
            </a:pPr>
            <a:r>
              <a:rPr dirty="0" sz="3200" lang="en-US">
                <a:solidFill>
                  <a:schemeClr val="dk1"/>
                </a:solidFill>
                <a:latin typeface="Garamond"/>
                <a:ea typeface="Garamond"/>
                <a:cs typeface="Garamond"/>
                <a:sym typeface="Garamond"/>
              </a:rPr>
              <a:t>Before an action is commenced in the High Courts of Lagos State and the FCT, Abuja, a lawyer is expected to comply with some steps, geared towards amicable settlement of the dispute and to avoid the filing of frivolous suits. </a:t>
            </a:r>
          </a:p>
          <a:p>
            <a:pPr indent="-342900" marL="342900">
              <a:lnSpc>
                <a:spcPct val="100000"/>
              </a:lnSpc>
              <a:spcBef>
                <a:spcPts val="640"/>
              </a:spcBef>
              <a:buClr>
                <a:schemeClr val="dk1"/>
              </a:buClr>
              <a:buSzPct val="100000"/>
              <a:buFont typeface="Garamond"/>
              <a:buChar char="•"/>
            </a:pPr>
            <a:r>
              <a:rPr dirty="0" sz="3200" lang="en-US">
                <a:solidFill>
                  <a:schemeClr val="dk1"/>
                </a:solidFill>
                <a:latin typeface="Garamond"/>
                <a:ea typeface="Garamond"/>
                <a:cs typeface="Garamond"/>
                <a:sym typeface="Garamond"/>
              </a:rPr>
              <a:t>Compliance is evidenced by filing alongside the Originating Process a </a:t>
            </a:r>
            <a:r>
              <a:rPr b="1" dirty="0" sz="3200" lang="en-US">
                <a:solidFill>
                  <a:schemeClr val="dk1"/>
                </a:solidFill>
                <a:latin typeface="Garamond"/>
                <a:ea typeface="Garamond"/>
                <a:cs typeface="Garamond"/>
                <a:sym typeface="Garamond"/>
              </a:rPr>
              <a:t>Pre action Protocol Form 01[Lagos]</a:t>
            </a:r>
            <a:r>
              <a:rPr dirty="0" sz="3200" lang="en-US">
                <a:solidFill>
                  <a:schemeClr val="dk1"/>
                </a:solidFill>
                <a:latin typeface="Garamond"/>
                <a:ea typeface="Garamond"/>
                <a:cs typeface="Garamond"/>
                <a:sym typeface="Garamond"/>
              </a:rPr>
              <a:t> or </a:t>
            </a:r>
            <a:r>
              <a:rPr b="1" dirty="0" sz="3200" lang="en-US">
                <a:solidFill>
                  <a:schemeClr val="dk1"/>
                </a:solidFill>
                <a:latin typeface="Garamond"/>
                <a:ea typeface="Garamond"/>
                <a:cs typeface="Garamond"/>
                <a:sym typeface="Garamond"/>
              </a:rPr>
              <a:t>Certificate of Pre action Counselling Form 6 [FCT, Abuja]</a:t>
            </a:r>
            <a:r>
              <a:rPr dirty="0" sz="3200" lang="en-US">
                <a:solidFill>
                  <a:schemeClr val="dk1"/>
                </a:solidFill>
                <a:latin typeface="Garamond"/>
                <a:ea typeface="Garamond"/>
                <a:cs typeface="Garamond"/>
                <a:sym typeface="Garamond"/>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4" name="Shape 105"/>
        <p:cNvGrpSpPr/>
        <p:nvPr/>
      </p:nvGrpSpPr>
      <p:grpSpPr>
        <a:xfrm>
          <a:off x="0" y="0"/>
          <a:ext cx="0" cy="0"/>
          <a:chOff x="0" y="0"/>
          <a:chExt cx="0" cy="0"/>
        </a:xfrm>
      </p:grpSpPr>
      <p:sp>
        <p:nvSpPr>
          <p:cNvPr id="1048643" name="Shape 106"/>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
            </a:r>
            <a:br>
              <a:rPr b="1" dirty="0" sz="3600" lang="en-US">
                <a:solidFill>
                  <a:srgbClr val="000000"/>
                </a:solidFill>
                <a:latin typeface="Garamond"/>
                <a:ea typeface="Garamond"/>
                <a:cs typeface="Garamond"/>
                <a:sym typeface="Garamond"/>
              </a:rPr>
            </a:br>
            <a:r>
              <a:rPr b="1" dirty="0" sz="3600" lang="en-US">
                <a:solidFill>
                  <a:srgbClr val="000000"/>
                </a:solidFill>
                <a:latin typeface="Garamond"/>
                <a:ea typeface="Garamond"/>
                <a:cs typeface="Garamond"/>
                <a:sym typeface="Garamond"/>
              </a:rPr>
              <a:t>Pre action Protocol and Pre action Counselling. </a:t>
            </a:r>
            <a:r>
              <a:rPr dirty="0" sz="3600" lang="en-US">
                <a:solidFill>
                  <a:srgbClr val="000000"/>
                </a:solidFill>
                <a:latin typeface="Garamond"/>
                <a:ea typeface="Garamond"/>
                <a:cs typeface="Garamond"/>
                <a:sym typeface="Garamond"/>
              </a:rPr>
              <a:t>Cont’d</a:t>
            </a:r>
            <a:r>
              <a:rPr b="1" dirty="0" sz="4000" lang="en-US">
                <a:solidFill>
                  <a:srgbClr val="000000"/>
                </a:solidFill>
                <a:latin typeface="Garamond"/>
                <a:ea typeface="Garamond"/>
                <a:cs typeface="Garamond"/>
                <a:sym typeface="Garamond"/>
              </a:rPr>
              <a:t/>
            </a:r>
            <a:br>
              <a:rPr b="1" dirty="0" sz="4000" lang="en-US">
                <a:solidFill>
                  <a:srgbClr val="000000"/>
                </a:solidFill>
                <a:latin typeface="Garamond"/>
                <a:ea typeface="Garamond"/>
                <a:cs typeface="Garamond"/>
                <a:sym typeface="Garamond"/>
              </a:rPr>
            </a:br>
            <a:endParaRPr b="1" dirty="0" sz="4000" lang="en-US">
              <a:solidFill>
                <a:srgbClr val="000000"/>
              </a:solidFill>
              <a:latin typeface="Garamond"/>
              <a:ea typeface="Garamond"/>
              <a:cs typeface="Garamond"/>
              <a:sym typeface="Garamond"/>
            </a:endParaRPr>
          </a:p>
        </p:txBody>
      </p:sp>
      <p:sp>
        <p:nvSpPr>
          <p:cNvPr id="1048644" name="Shape 107"/>
          <p:cNvSpPr txBox="1">
            <a:spLocks noGrp="1"/>
          </p:cNvSpPr>
          <p:nvPr>
            <p:ph idx="1"/>
          </p:nvPr>
        </p:nvSpPr>
        <p:spPr>
          <a:xfrm>
            <a:off x="0" y="1700210"/>
            <a:ext cx="12192000" cy="5157789"/>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dirty="0" sz="3200" lang="en-US">
                <a:solidFill>
                  <a:schemeClr val="dk1"/>
                </a:solidFill>
                <a:latin typeface="Garamond"/>
                <a:ea typeface="Garamond"/>
                <a:cs typeface="Garamond"/>
                <a:sym typeface="Garamond"/>
              </a:rPr>
              <a:t>In Abuja, the </a:t>
            </a:r>
            <a:r>
              <a:rPr b="1" dirty="0" sz="3200" lang="en-US">
                <a:solidFill>
                  <a:schemeClr val="dk1"/>
                </a:solidFill>
                <a:latin typeface="Garamond"/>
                <a:ea typeface="Garamond"/>
                <a:cs typeface="Garamond"/>
                <a:sym typeface="Garamond"/>
              </a:rPr>
              <a:t>Certificate of Pre action Counselling (Form 6) </a:t>
            </a:r>
            <a:r>
              <a:rPr dirty="0" sz="3200" lang="en-US">
                <a:solidFill>
                  <a:schemeClr val="dk1"/>
                </a:solidFill>
                <a:latin typeface="Garamond"/>
                <a:ea typeface="Garamond"/>
                <a:cs typeface="Garamond"/>
                <a:sym typeface="Garamond"/>
              </a:rPr>
              <a:t>is a statement to the effect that Counsel has advised party on the relative strength and weakness of the case and informed </a:t>
            </a:r>
            <a:r>
              <a:rPr dirty="0" lang="en-US">
                <a:latin typeface="Garamond"/>
                <a:ea typeface="Garamond"/>
                <a:cs typeface="Garamond"/>
                <a:sym typeface="Garamond"/>
              </a:rPr>
              <a:t>him</a:t>
            </a:r>
            <a:r>
              <a:rPr dirty="0" sz="3200" lang="en-US">
                <a:solidFill>
                  <a:schemeClr val="dk1"/>
                </a:solidFill>
                <a:latin typeface="Garamond"/>
                <a:ea typeface="Garamond"/>
                <a:cs typeface="Garamond"/>
                <a:sym typeface="Garamond"/>
              </a:rPr>
              <a:t> of the opportunity for Alternative Dispute resolution, amicable settlement and is willing to bear the cost of the suit where the suit turns out to be frivolous.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7" name="Shape 111"/>
        <p:cNvGrpSpPr/>
        <p:nvPr/>
      </p:nvGrpSpPr>
      <p:grpSpPr>
        <a:xfrm>
          <a:off x="0" y="0"/>
          <a:ext cx="0" cy="0"/>
          <a:chOff x="0" y="0"/>
          <a:chExt cx="0" cy="0"/>
        </a:xfrm>
      </p:grpSpPr>
      <p:sp>
        <p:nvSpPr>
          <p:cNvPr id="1048647" name="Shape 112"/>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
            </a:r>
            <a:br>
              <a:rPr b="1" dirty="0" sz="3600" lang="en-US">
                <a:solidFill>
                  <a:srgbClr val="000000"/>
                </a:solidFill>
                <a:latin typeface="Garamond"/>
                <a:ea typeface="Garamond"/>
                <a:cs typeface="Garamond"/>
                <a:sym typeface="Garamond"/>
              </a:rPr>
            </a:br>
            <a:r>
              <a:rPr b="1" dirty="0" sz="3600" lang="en-US">
                <a:solidFill>
                  <a:srgbClr val="000000"/>
                </a:solidFill>
                <a:latin typeface="Garamond"/>
                <a:ea typeface="Garamond"/>
                <a:cs typeface="Garamond"/>
                <a:sym typeface="Garamond"/>
              </a:rPr>
              <a:t>Pre action Protocol and Pre action Counselling. </a:t>
            </a:r>
            <a:r>
              <a:rPr dirty="0" sz="3600" lang="en-US">
                <a:solidFill>
                  <a:srgbClr val="000000"/>
                </a:solidFill>
                <a:latin typeface="Garamond"/>
                <a:ea typeface="Garamond"/>
                <a:cs typeface="Garamond"/>
                <a:sym typeface="Garamond"/>
              </a:rPr>
              <a:t>Cont’d</a:t>
            </a:r>
            <a:r>
              <a:rPr b="1" dirty="0" sz="4000" lang="en-US">
                <a:solidFill>
                  <a:srgbClr val="000000"/>
                </a:solidFill>
                <a:latin typeface="Garamond"/>
                <a:ea typeface="Garamond"/>
                <a:cs typeface="Garamond"/>
                <a:sym typeface="Garamond"/>
              </a:rPr>
              <a:t/>
            </a:r>
            <a:br>
              <a:rPr b="1" dirty="0" sz="4000" lang="en-US">
                <a:solidFill>
                  <a:srgbClr val="000000"/>
                </a:solidFill>
                <a:latin typeface="Garamond"/>
                <a:ea typeface="Garamond"/>
                <a:cs typeface="Garamond"/>
                <a:sym typeface="Garamond"/>
              </a:rPr>
            </a:br>
            <a:endParaRPr b="1" dirty="0" sz="4000" lang="en-US">
              <a:solidFill>
                <a:srgbClr val="000000"/>
              </a:solidFill>
              <a:latin typeface="Garamond"/>
              <a:ea typeface="Garamond"/>
              <a:cs typeface="Garamond"/>
              <a:sym typeface="Garamond"/>
            </a:endParaRPr>
          </a:p>
        </p:txBody>
      </p:sp>
      <p:sp>
        <p:nvSpPr>
          <p:cNvPr id="1048648" name="Shape 113"/>
          <p:cNvSpPr txBox="1">
            <a:spLocks noGrp="1"/>
          </p:cNvSpPr>
          <p:nvPr>
            <p:ph idx="1"/>
          </p:nvPr>
        </p:nvSpPr>
        <p:spPr>
          <a:xfrm>
            <a:off x="0" y="1773236"/>
            <a:ext cx="12192000" cy="4751400"/>
          </a:xfrm>
          <a:prstGeom prst="rect"/>
          <a:noFill/>
          <a:ln>
            <a:noFill/>
          </a:ln>
        </p:spPr>
        <p:txBody>
          <a:bodyPr anchor="t" anchorCtr="0" bIns="45700" lIns="91425" rIns="91425" rtlCol="0" tIns="45700" vert="horz">
            <a:noAutofit/>
          </a:bodyPr>
          <a:p>
            <a:pPr indent="-342900" marL="342900">
              <a:lnSpc>
                <a:spcPct val="100000"/>
              </a:lnSpc>
              <a:spcBef>
                <a:spcPts val="0"/>
              </a:spcBef>
              <a:buClr>
                <a:srgbClr val="000000"/>
              </a:buClr>
              <a:buSzPct val="112500"/>
              <a:buFont typeface="Garamond"/>
              <a:buChar char="•"/>
            </a:pPr>
            <a:r>
              <a:rPr dirty="0" sz="3200" lang="en-US">
                <a:solidFill>
                  <a:srgbClr val="000000"/>
                </a:solidFill>
                <a:latin typeface="Garamond"/>
                <a:ea typeface="Garamond"/>
                <a:cs typeface="Garamond"/>
                <a:sym typeface="Garamond"/>
              </a:rPr>
              <a:t>In Lagos, the </a:t>
            </a:r>
            <a:r>
              <a:rPr b="1" dirty="0" sz="3200" lang="en-US">
                <a:solidFill>
                  <a:srgbClr val="000000"/>
                </a:solidFill>
                <a:latin typeface="Garamond"/>
                <a:ea typeface="Garamond"/>
                <a:cs typeface="Garamond"/>
                <a:sym typeface="Garamond"/>
              </a:rPr>
              <a:t>Pre action Protocol Form 01 with necessary documents </a:t>
            </a:r>
            <a:r>
              <a:rPr dirty="0" sz="3200" lang="en-US">
                <a:solidFill>
                  <a:srgbClr val="000000"/>
                </a:solidFill>
                <a:latin typeface="Garamond"/>
                <a:ea typeface="Garamond"/>
                <a:cs typeface="Garamond"/>
                <a:sym typeface="Garamond"/>
              </a:rPr>
              <a:t>is a Statement on Oath of compliance with the </a:t>
            </a:r>
            <a:r>
              <a:rPr b="1" dirty="0" sz="3200" lang="en-US">
                <a:solidFill>
                  <a:srgbClr val="000000"/>
                </a:solidFill>
                <a:latin typeface="Garamond"/>
                <a:ea typeface="Garamond"/>
                <a:cs typeface="Garamond"/>
                <a:sym typeface="Garamond"/>
              </a:rPr>
              <a:t>protocol</a:t>
            </a:r>
            <a:r>
              <a:rPr dirty="0" sz="3200" lang="en-US">
                <a:solidFill>
                  <a:srgbClr val="000000"/>
                </a:solidFill>
                <a:latin typeface="Garamond"/>
                <a:ea typeface="Garamond"/>
                <a:cs typeface="Garamond"/>
                <a:sym typeface="Garamond"/>
              </a:rPr>
              <a:t> or </a:t>
            </a:r>
            <a:r>
              <a:rPr b="1" dirty="0" sz="3200" lang="en-US">
                <a:solidFill>
                  <a:srgbClr val="000000"/>
                </a:solidFill>
                <a:latin typeface="Garamond"/>
                <a:ea typeface="Garamond"/>
                <a:cs typeface="Garamond"/>
                <a:sym typeface="Garamond"/>
              </a:rPr>
              <a:t>steps</a:t>
            </a:r>
            <a:r>
              <a:rPr dirty="0" sz="3200" lang="en-US">
                <a:solidFill>
                  <a:srgbClr val="000000"/>
                </a:solidFill>
                <a:latin typeface="Garamond"/>
                <a:ea typeface="Garamond"/>
                <a:cs typeface="Garamond"/>
                <a:sym typeface="Garamond"/>
              </a:rPr>
              <a:t> </a:t>
            </a:r>
            <a:r>
              <a:rPr b="1" dirty="0" sz="3200" lang="en-US">
                <a:solidFill>
                  <a:srgbClr val="000000"/>
                </a:solidFill>
                <a:latin typeface="Garamond"/>
                <a:ea typeface="Garamond"/>
                <a:cs typeface="Garamond"/>
                <a:sym typeface="Garamond"/>
              </a:rPr>
              <a:t>that must be followed for amicable settlement</a:t>
            </a:r>
            <a:r>
              <a:rPr dirty="0" sz="3200" lang="en-US">
                <a:solidFill>
                  <a:srgbClr val="000000"/>
                </a:solidFill>
                <a:latin typeface="Garamond"/>
                <a:ea typeface="Garamond"/>
                <a:cs typeface="Garamond"/>
                <a:sym typeface="Garamond"/>
              </a:rPr>
              <a:t> of the dispute as required by the </a:t>
            </a:r>
            <a:r>
              <a:rPr dirty="0" sz="3600" i="1" lang="en-US">
                <a:solidFill>
                  <a:srgbClr val="000000"/>
                </a:solidFill>
                <a:latin typeface="Garamond"/>
                <a:ea typeface="Garamond"/>
                <a:cs typeface="Garamond"/>
                <a:sym typeface="Garamond"/>
              </a:rPr>
              <a:t>High Court of Lagos State Expeditious Disposal of Civil Cases and Practice Direction, 2019.</a:t>
            </a:r>
          </a:p>
          <a:p>
            <a:pPr indent="-342900" marL="342900">
              <a:lnSpc>
                <a:spcPct val="100000"/>
              </a:lnSpc>
              <a:spcBef>
                <a:spcPts val="640"/>
              </a:spcBef>
              <a:buClr>
                <a:srgbClr val="000000"/>
              </a:buClr>
              <a:buSzPct val="25000"/>
              <a:buNone/>
            </a:pPr>
            <a:r>
              <a:rPr dirty="0" sz="3200" lang="en-US">
                <a:solidFill>
                  <a:srgbClr val="000000"/>
                </a:solidFill>
                <a:latin typeface="Garamond"/>
                <a:ea typeface="Garamond"/>
                <a:cs typeface="Garamond"/>
                <a:sym typeface="Garamond"/>
              </a:rPr>
              <a:t>      </a:t>
            </a:r>
          </a:p>
          <a:p>
            <a:pPr indent="-342900" marL="342900">
              <a:spcBef>
                <a:spcPts val="640"/>
              </a:spcBef>
              <a:buClr>
                <a:schemeClr val="dk1"/>
              </a:buClr>
              <a:buSzPct val="100000"/>
              <a:buNone/>
            </a:pPr>
            <a:endParaRPr dirty="0" sz="3200">
              <a:solidFill>
                <a:srgbClr val="000000"/>
              </a:solidFill>
              <a:latin typeface="Garamond"/>
              <a:ea typeface="Garamond"/>
              <a:cs typeface="Garamond"/>
              <a:sym typeface="Garamon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0" name="Shape 182"/>
        <p:cNvGrpSpPr/>
        <p:nvPr/>
      </p:nvGrpSpPr>
      <p:grpSpPr>
        <a:xfrm>
          <a:off x="0" y="0"/>
          <a:ext cx="0" cy="0"/>
          <a:chOff x="0" y="0"/>
          <a:chExt cx="0" cy="0"/>
        </a:xfrm>
      </p:grpSpPr>
      <p:sp>
        <p:nvSpPr>
          <p:cNvPr id="1048651" name="Shape 183"/>
          <p:cNvSpPr txBox="1">
            <a:spLocks noGrp="1"/>
          </p:cNvSpPr>
          <p:nvPr>
            <p:ph type="title"/>
          </p:nvPr>
        </p:nvSpPr>
        <p:spPr>
          <a:xfrm>
            <a:off x="1981200" y="476250"/>
            <a:ext cx="8229600" cy="865200"/>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4000" lang="en-US">
                <a:solidFill>
                  <a:srgbClr val="000000"/>
                </a:solidFill>
                <a:latin typeface="Garamond"/>
                <a:ea typeface="Garamond"/>
                <a:cs typeface="Garamond"/>
                <a:sym typeface="Garamond"/>
              </a:rPr>
              <a:t>FRONTLOADING</a:t>
            </a:r>
          </a:p>
        </p:txBody>
      </p:sp>
      <p:sp>
        <p:nvSpPr>
          <p:cNvPr id="1048652" name="Shape 184"/>
          <p:cNvSpPr txBox="1">
            <a:spLocks noGrp="1"/>
          </p:cNvSpPr>
          <p:nvPr>
            <p:ph idx="1"/>
          </p:nvPr>
        </p:nvSpPr>
        <p:spPr>
          <a:xfrm>
            <a:off x="0" y="1628774"/>
            <a:ext cx="12192000" cy="5229225"/>
          </a:xfrm>
          <a:prstGeom prst="rect"/>
          <a:noFill/>
          <a:ln>
            <a:noFill/>
          </a:ln>
        </p:spPr>
        <p:txBody>
          <a:bodyPr anchor="t" anchorCtr="0" bIns="45700" lIns="91425" rIns="91425" rtlCol="0" tIns="45700" vert="horz">
            <a:noAutofit/>
          </a:bodyPr>
          <a:p>
            <a:pPr indent="0" marL="0">
              <a:lnSpc>
                <a:spcPct val="100000"/>
              </a:lnSpc>
              <a:spcBef>
                <a:spcPts val="0"/>
              </a:spcBef>
              <a:buClr>
                <a:schemeClr val="dk1"/>
              </a:buClr>
              <a:buSzPct val="25000"/>
              <a:buNone/>
            </a:pPr>
            <a:endParaRPr dirty="0" sz="100">
              <a:solidFill>
                <a:schemeClr val="dk1"/>
              </a:solidFill>
              <a:latin typeface="Arial"/>
              <a:ea typeface="Arial"/>
              <a:cs typeface="Arial"/>
              <a:sym typeface="Arial"/>
            </a:endParaRPr>
          </a:p>
          <a:p>
            <a:pPr indent="0" marL="0">
              <a:lnSpc>
                <a:spcPct val="100000"/>
              </a:lnSpc>
              <a:spcBef>
                <a:spcPts val="640"/>
              </a:spcBef>
              <a:buClr>
                <a:schemeClr val="dk1"/>
              </a:buClr>
              <a:buSzPct val="100000"/>
              <a:buFont typeface="Garamond"/>
              <a:buChar char="•"/>
            </a:pPr>
            <a:r>
              <a:rPr b="1" dirty="0" sz="3200" lang="en-US">
                <a:solidFill>
                  <a:schemeClr val="dk1"/>
                </a:solidFill>
                <a:latin typeface="Garamond"/>
                <a:ea typeface="Garamond"/>
                <a:cs typeface="Garamond"/>
                <a:sym typeface="Garamond"/>
              </a:rPr>
              <a:t>Meaning – </a:t>
            </a:r>
            <a:r>
              <a:rPr dirty="0" sz="3200" lang="en-US">
                <a:solidFill>
                  <a:schemeClr val="dk1"/>
                </a:solidFill>
                <a:latin typeface="Garamond"/>
                <a:ea typeface="Garamond"/>
                <a:cs typeface="Garamond"/>
                <a:sym typeface="Garamond"/>
              </a:rPr>
              <a:t>filing of Statement of Claim and other necessary documents alongside the Writ of Summons. </a:t>
            </a:r>
          </a:p>
          <a:p>
            <a:pPr indent="0" marL="0">
              <a:lnSpc>
                <a:spcPct val="100000"/>
              </a:lnSpc>
              <a:spcBef>
                <a:spcPts val="640"/>
              </a:spcBef>
              <a:buClr>
                <a:schemeClr val="dk1"/>
              </a:buClr>
              <a:buSzPct val="100000"/>
              <a:buFont typeface="Garamond"/>
              <a:buChar char="•"/>
            </a:pPr>
            <a:r>
              <a:rPr b="1" dirty="0" sz="3200" lang="en-US">
                <a:solidFill>
                  <a:schemeClr val="dk1"/>
                </a:solidFill>
                <a:latin typeface="Garamond"/>
                <a:ea typeface="Garamond"/>
                <a:cs typeface="Garamond"/>
                <a:sym typeface="Garamond"/>
              </a:rPr>
              <a:t>Advantages – </a:t>
            </a:r>
            <a:r>
              <a:rPr dirty="0" sz="3200" lang="en-US">
                <a:solidFill>
                  <a:schemeClr val="dk1"/>
                </a:solidFill>
                <a:latin typeface="Garamond"/>
                <a:ea typeface="Garamond"/>
                <a:cs typeface="Garamond"/>
                <a:sym typeface="Garamond"/>
              </a:rPr>
              <a:t>Trials are open, saves time &amp; cost, prevents frivolous suits, encourages ADR, efficient case management, avoids springing up of surprises, affords parties &amp; counsel opportunity to ascertain strength of case.</a:t>
            </a:r>
          </a:p>
          <a:p>
            <a:pPr indent="0" marL="0">
              <a:lnSpc>
                <a:spcPct val="100000"/>
              </a:lnSpc>
              <a:spcBef>
                <a:spcPts val="640"/>
              </a:spcBef>
              <a:buClr>
                <a:schemeClr val="dk1"/>
              </a:buClr>
              <a:buSzPct val="100000"/>
              <a:buFont typeface="Garamond"/>
              <a:buChar char="•"/>
            </a:pPr>
            <a:r>
              <a:rPr b="1" dirty="0" sz="3200" lang="en-US">
                <a:solidFill>
                  <a:srgbClr val="000000"/>
                </a:solidFill>
                <a:latin typeface="Garamond"/>
                <a:ea typeface="Garamond"/>
                <a:cs typeface="Garamond"/>
                <a:sym typeface="Garamond"/>
              </a:rPr>
              <a:t>Effect of failure to frontload or file accompanying Documents </a:t>
            </a:r>
            <a:r>
              <a:rPr dirty="0" sz="3200" lang="en-US">
                <a:solidFill>
                  <a:srgbClr val="000000"/>
                </a:solidFill>
                <a:latin typeface="Garamond"/>
                <a:ea typeface="Garamond"/>
                <a:cs typeface="Garamond"/>
                <a:sym typeface="Garamond"/>
              </a:rPr>
              <a:t>- In Abuja Process shall not to be accepted for filing. See </a:t>
            </a:r>
            <a:r>
              <a:rPr dirty="0" sz="3200" i="1" lang="en-US">
                <a:solidFill>
                  <a:srgbClr val="000000"/>
                </a:solidFill>
                <a:latin typeface="Garamond"/>
                <a:ea typeface="Garamond"/>
                <a:cs typeface="Garamond"/>
                <a:sym typeface="Garamond"/>
              </a:rPr>
              <a:t>Or. 2 r. 2 (4). </a:t>
            </a:r>
            <a:r>
              <a:rPr dirty="0" sz="3200" lang="en-US">
                <a:solidFill>
                  <a:srgbClr val="000000"/>
                </a:solidFill>
                <a:latin typeface="Garamond"/>
                <a:ea typeface="Garamond"/>
                <a:cs typeface="Garamond"/>
                <a:sym typeface="Garamond"/>
              </a:rPr>
              <a:t>In Lagos, Nullifies action. </a:t>
            </a:r>
            <a:r>
              <a:rPr dirty="0" sz="3200" i="1" lang="en-US">
                <a:solidFill>
                  <a:srgbClr val="000000"/>
                </a:solidFill>
                <a:latin typeface="Garamond"/>
                <a:ea typeface="Garamond"/>
                <a:cs typeface="Garamond"/>
                <a:sym typeface="Garamond"/>
              </a:rPr>
              <a:t>See</a:t>
            </a:r>
            <a:r>
              <a:rPr dirty="0" sz="3200" lang="en-US">
                <a:solidFill>
                  <a:srgbClr val="000000"/>
                </a:solidFill>
                <a:latin typeface="Garamond"/>
                <a:ea typeface="Garamond"/>
                <a:cs typeface="Garamond"/>
                <a:sym typeface="Garamond"/>
              </a:rPr>
              <a:t> </a:t>
            </a:r>
            <a:r>
              <a:rPr dirty="0" sz="3200" i="1" lang="en-US">
                <a:solidFill>
                  <a:srgbClr val="000000"/>
                </a:solidFill>
                <a:latin typeface="Garamond"/>
                <a:ea typeface="Garamond"/>
                <a:cs typeface="Garamond"/>
                <a:sym typeface="Garamond"/>
              </a:rPr>
              <a:t>Or. 5 r. 1(3).</a:t>
            </a:r>
            <a:endParaRPr dirty="0" sz="3200" lang="en-US">
              <a:solidFill>
                <a:schemeClr val="dk1"/>
              </a:solidFill>
              <a:latin typeface="Garamond"/>
              <a:ea typeface="Garamond"/>
              <a:cs typeface="Garamond"/>
              <a:sym typeface="Garamond"/>
            </a:endParaRPr>
          </a:p>
          <a:p>
            <a:pPr indent="-342900" marL="342900">
              <a:spcBef>
                <a:spcPts val="640"/>
              </a:spcBef>
              <a:buClr>
                <a:schemeClr val="dk1"/>
              </a:buClr>
              <a:buSzPct val="100000"/>
              <a:buNone/>
            </a:pPr>
            <a:endParaRPr b="1" dirty="0" sz="3200">
              <a:solidFill>
                <a:schemeClr val="dk1"/>
              </a:solidFill>
              <a:latin typeface="Garamond"/>
              <a:ea typeface="Garamond"/>
              <a:cs typeface="Garamond"/>
              <a:sym typeface="Garamon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13" name="Shape 195"/>
        <p:cNvGrpSpPr/>
        <p:nvPr/>
      </p:nvGrpSpPr>
      <p:grpSpPr>
        <a:xfrm>
          <a:off x="0" y="0"/>
          <a:ext cx="0" cy="0"/>
          <a:chOff x="0" y="0"/>
          <a:chExt cx="0" cy="0"/>
        </a:xfrm>
      </p:grpSpPr>
      <p:sp>
        <p:nvSpPr>
          <p:cNvPr id="1048656" name="Shape 196"/>
          <p:cNvSpPr txBox="1">
            <a:spLocks noGrp="1"/>
          </p:cNvSpPr>
          <p:nvPr>
            <p:ph type="title"/>
          </p:nvPr>
        </p:nvSpPr>
        <p:spPr>
          <a:xfrm>
            <a:off x="1981200" y="274636"/>
            <a:ext cx="8229600" cy="1785900"/>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sz="3600" lang="en-US">
                <a:solidFill>
                  <a:schemeClr val="dk2"/>
                </a:solidFill>
                <a:latin typeface="Arial"/>
                <a:ea typeface="Arial"/>
                <a:cs typeface="Arial"/>
                <a:sym typeface="Arial"/>
              </a:rPr>
              <a:t/>
            </a:r>
            <a:br>
              <a:rPr b="1" dirty="0" sz="3600" lang="en-US">
                <a:solidFill>
                  <a:schemeClr val="dk2"/>
                </a:solidFill>
                <a:latin typeface="Arial"/>
                <a:ea typeface="Arial"/>
                <a:cs typeface="Arial"/>
                <a:sym typeface="Arial"/>
              </a:rPr>
            </a:br>
            <a:r>
              <a:rPr b="1" dirty="0" sz="3600" lang="en-US">
                <a:latin typeface="Garamond"/>
                <a:ea typeface="Garamond"/>
                <a:cs typeface="Garamond"/>
                <a:sym typeface="Garamond"/>
              </a:rPr>
              <a:t>Differences Between Frontloading In Lagos &amp; Abuja</a:t>
            </a:r>
            <a:br>
              <a:rPr b="1" dirty="0" sz="3600" lang="en-US">
                <a:latin typeface="Garamond"/>
                <a:ea typeface="Garamond"/>
                <a:cs typeface="Garamond"/>
                <a:sym typeface="Garamond"/>
              </a:rPr>
            </a:br>
            <a:endParaRPr b="1" dirty="0" sz="3600" lang="en-US">
              <a:latin typeface="Garamond"/>
              <a:ea typeface="Garamond"/>
              <a:cs typeface="Garamond"/>
              <a:sym typeface="Garamond"/>
            </a:endParaRPr>
          </a:p>
        </p:txBody>
      </p:sp>
      <p:sp>
        <p:nvSpPr>
          <p:cNvPr id="1048657" name="Shape 197"/>
          <p:cNvSpPr txBox="1">
            <a:spLocks noGrp="1"/>
          </p:cNvSpPr>
          <p:nvPr>
            <p:ph idx="1"/>
          </p:nvPr>
        </p:nvSpPr>
        <p:spPr>
          <a:xfrm>
            <a:off x="0" y="1916110"/>
            <a:ext cx="12192000" cy="4941889"/>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600" lang="en-US">
                <a:solidFill>
                  <a:schemeClr val="dk1"/>
                </a:solidFill>
                <a:latin typeface="Garamond"/>
                <a:ea typeface="Garamond"/>
                <a:cs typeface="Garamond"/>
                <a:sym typeface="Garamond"/>
              </a:rPr>
              <a:t>Pre-action Counselling Certificate.</a:t>
            </a:r>
            <a:r>
              <a:rPr dirty="0" sz="3600" lang="en-US">
                <a:solidFill>
                  <a:schemeClr val="dk1"/>
                </a:solidFill>
                <a:latin typeface="Garamond"/>
                <a:ea typeface="Garamond"/>
                <a:cs typeface="Garamond"/>
                <a:sym typeface="Garamond"/>
              </a:rPr>
              <a:t> </a:t>
            </a:r>
            <a:r>
              <a:rPr dirty="0" sz="3600" i="1" lang="en-US">
                <a:solidFill>
                  <a:schemeClr val="dk1"/>
                </a:solidFill>
                <a:latin typeface="Garamond"/>
                <a:ea typeface="Garamond"/>
                <a:cs typeface="Garamond"/>
                <a:sym typeface="Garamond"/>
              </a:rPr>
              <a:t>See Or. 2 r. 8 &amp; FORM 6 </a:t>
            </a:r>
            <a:r>
              <a:rPr dirty="0" sz="3600" i="1" lang="en-US" err="1">
                <a:solidFill>
                  <a:schemeClr val="dk1"/>
                </a:solidFill>
                <a:latin typeface="Garamond"/>
                <a:ea typeface="Garamond"/>
                <a:cs typeface="Garamond"/>
                <a:sym typeface="Garamond"/>
              </a:rPr>
              <a:t>Abj</a:t>
            </a:r>
            <a:r>
              <a:rPr dirty="0" sz="3600" i="1" lang="en-US">
                <a:solidFill>
                  <a:schemeClr val="dk1"/>
                </a:solidFill>
                <a:latin typeface="Garamond"/>
                <a:ea typeface="Garamond"/>
                <a:cs typeface="Garamond"/>
                <a:sym typeface="Garamond"/>
              </a:rPr>
              <a:t>.</a:t>
            </a:r>
          </a:p>
          <a:p>
            <a:pPr indent="-342900" marL="342900">
              <a:lnSpc>
                <a:spcPct val="100000"/>
              </a:lnSpc>
              <a:spcBef>
                <a:spcPts val="720"/>
              </a:spcBef>
              <a:buClr>
                <a:schemeClr val="dk1"/>
              </a:buClr>
              <a:buSzPct val="100000"/>
              <a:buFont typeface="Garamond"/>
              <a:buChar char="•"/>
            </a:pPr>
            <a:r>
              <a:rPr b="1" dirty="0" sz="3600" lang="en-US">
                <a:solidFill>
                  <a:schemeClr val="dk1"/>
                </a:solidFill>
                <a:latin typeface="Garamond"/>
                <a:ea typeface="Garamond"/>
                <a:cs typeface="Garamond"/>
                <a:sym typeface="Garamond"/>
              </a:rPr>
              <a:t>Pre-action Protocol</a:t>
            </a:r>
            <a:r>
              <a:rPr dirty="0" sz="3600" lang="en-US">
                <a:solidFill>
                  <a:schemeClr val="dk1"/>
                </a:solidFill>
                <a:latin typeface="Garamond"/>
                <a:ea typeface="Garamond"/>
                <a:cs typeface="Garamond"/>
                <a:sym typeface="Garamond"/>
              </a:rPr>
              <a:t>. See </a:t>
            </a:r>
            <a:r>
              <a:rPr dirty="0" sz="3600" i="1" lang="en-US">
                <a:solidFill>
                  <a:schemeClr val="dk1"/>
                </a:solidFill>
                <a:latin typeface="Garamond"/>
                <a:ea typeface="Garamond"/>
                <a:cs typeface="Garamond"/>
                <a:sym typeface="Garamond"/>
              </a:rPr>
              <a:t>Preamble (Or. 2 r. 1(c)(v)), Or 5 r 1(2)(e) &amp; Form 01 Lag. </a:t>
            </a:r>
            <a:r>
              <a:rPr dirty="0" sz="3600" lang="en-US">
                <a:solidFill>
                  <a:schemeClr val="dk1"/>
                </a:solidFill>
                <a:latin typeface="Garamond"/>
                <a:ea typeface="Garamond"/>
                <a:cs typeface="Garamond"/>
                <a:sym typeface="Garamond"/>
              </a:rPr>
              <a:t>See also </a:t>
            </a:r>
            <a:r>
              <a:rPr dirty="0" sz="3600" i="1" lang="en-US">
                <a:solidFill>
                  <a:schemeClr val="dk1"/>
                </a:solidFill>
                <a:latin typeface="Garamond"/>
                <a:ea typeface="Garamond"/>
                <a:cs typeface="Garamond"/>
                <a:sym typeface="Garamond"/>
              </a:rPr>
              <a:t>High Court of Lagos State Expeditious Disposal of Civil Cases and Practice Direction, 2019</a:t>
            </a:r>
          </a:p>
          <a:p>
            <a:pPr indent="-342900" marL="342900">
              <a:spcBef>
                <a:spcPts val="720"/>
              </a:spcBef>
              <a:buClr>
                <a:schemeClr val="dk1"/>
              </a:buClr>
              <a:buSzPct val="100000"/>
              <a:buNone/>
            </a:pPr>
            <a:endParaRPr dirty="0" sz="3600" i="1">
              <a:solidFill>
                <a:schemeClr val="dk1"/>
              </a:solidFill>
              <a:latin typeface="Garamond"/>
              <a:ea typeface="Garamond"/>
              <a:cs typeface="Garamond"/>
              <a:sym typeface="Garamon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16" name="Shape 222"/>
        <p:cNvGrpSpPr/>
        <p:nvPr/>
      </p:nvGrpSpPr>
      <p:grpSpPr>
        <a:xfrm>
          <a:off x="0" y="0"/>
          <a:ext cx="0" cy="0"/>
          <a:chOff x="0" y="0"/>
          <a:chExt cx="0" cy="0"/>
        </a:xfrm>
      </p:grpSpPr>
      <p:sp>
        <p:nvSpPr>
          <p:cNvPr id="1048661" name="Shape 223"/>
          <p:cNvSpPr txBox="1">
            <a:spLocks noGrp="1"/>
          </p:cNvSpPr>
          <p:nvPr>
            <p:ph type="title"/>
          </p:nvPr>
        </p:nvSpPr>
        <p:spPr>
          <a:xfrm>
            <a:off x="1981200" y="188912"/>
            <a:ext cx="8229600" cy="936600"/>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2. Originating Summons</a:t>
            </a:r>
          </a:p>
        </p:txBody>
      </p:sp>
      <p:sp>
        <p:nvSpPr>
          <p:cNvPr id="1048662" name="Shape 224"/>
          <p:cNvSpPr txBox="1">
            <a:spLocks noGrp="1"/>
          </p:cNvSpPr>
          <p:nvPr>
            <p:ph idx="1"/>
          </p:nvPr>
        </p:nvSpPr>
        <p:spPr>
          <a:xfrm>
            <a:off x="0" y="1268413"/>
            <a:ext cx="12192000" cy="5589587"/>
          </a:xfrm>
          <a:prstGeom prst="rect"/>
          <a:noFill/>
          <a:ln>
            <a:noFill/>
          </a:ln>
        </p:spPr>
        <p:txBody>
          <a:bodyPr anchor="t" anchorCtr="0" bIns="45700" lIns="91425" rIns="91425" rtlCol="0" tIns="45700" vert="horz">
            <a:noAutofit/>
          </a:bodyPr>
          <a:p>
            <a:pPr indent="-342900" marL="342900">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Determination of questions dependent on the construction or interpretation of documents(deed, will, enactment or other document). Where facts are not likely to be in dispute. </a:t>
            </a:r>
          </a:p>
          <a:p>
            <a:pPr indent="-342900" marL="342900">
              <a:spcBef>
                <a:spcPts val="60"/>
              </a:spcBef>
              <a:buClr>
                <a:schemeClr val="dk1"/>
              </a:buClr>
              <a:buSzPct val="25000"/>
              <a:buNone/>
            </a:pPr>
            <a:endParaRPr dirty="0" sz="300" i="1">
              <a:solidFill>
                <a:schemeClr val="dk1"/>
              </a:solidFill>
              <a:latin typeface="Garamond"/>
              <a:ea typeface="Garamond"/>
              <a:cs typeface="Garamond"/>
              <a:sym typeface="Garamond"/>
            </a:endParaRPr>
          </a:p>
          <a:p>
            <a:pPr indent="-342900" marL="342900">
              <a:spcBef>
                <a:spcPts val="640"/>
              </a:spcBef>
              <a:buClr>
                <a:schemeClr val="dk1"/>
              </a:buClr>
              <a:buSzPct val="100000"/>
              <a:buFont typeface="Garamond"/>
              <a:buChar char="•"/>
            </a:pPr>
            <a:r>
              <a:rPr dirty="0" sz="3200" i="1" lang="en-US">
                <a:solidFill>
                  <a:schemeClr val="dk1"/>
                </a:solidFill>
                <a:latin typeface="Garamond"/>
                <a:ea typeface="Garamond"/>
                <a:cs typeface="Garamond"/>
                <a:sym typeface="Garamond"/>
              </a:rPr>
              <a:t>See Or 5 r 4 &amp; 5 Lag; Or 2 r. 3 </a:t>
            </a:r>
            <a:r>
              <a:rPr dirty="0" sz="3200" i="1" lang="en-US" err="1">
                <a:solidFill>
                  <a:schemeClr val="dk1"/>
                </a:solidFill>
                <a:latin typeface="Garamond"/>
                <a:ea typeface="Garamond"/>
                <a:cs typeface="Garamond"/>
                <a:sym typeface="Garamond"/>
              </a:rPr>
              <a:t>Abj</a:t>
            </a:r>
            <a:r>
              <a:rPr dirty="0" sz="3200" i="1" lang="en-US">
                <a:solidFill>
                  <a:schemeClr val="dk1"/>
                </a:solidFill>
                <a:latin typeface="Garamond"/>
                <a:ea typeface="Garamond"/>
                <a:cs typeface="Garamond"/>
                <a:sym typeface="Garamond"/>
              </a:rPr>
              <a:t>; Director of SSS v </a:t>
            </a:r>
            <a:r>
              <a:rPr dirty="0" sz="3200" i="1" lang="en-US" err="1">
                <a:solidFill>
                  <a:schemeClr val="dk1"/>
                </a:solidFill>
                <a:latin typeface="Garamond"/>
                <a:ea typeface="Garamond"/>
                <a:cs typeface="Garamond"/>
                <a:sym typeface="Garamond"/>
              </a:rPr>
              <a:t>Agbakoba</a:t>
            </a:r>
            <a:r>
              <a:rPr dirty="0" sz="3200" i="1" lang="en-US">
                <a:solidFill>
                  <a:schemeClr val="dk1"/>
                </a:solidFill>
                <a:latin typeface="Garamond"/>
                <a:ea typeface="Garamond"/>
                <a:cs typeface="Garamond"/>
                <a:sym typeface="Garamond"/>
              </a:rPr>
              <a:t> Supra; Doherty v Doherty (Supra); </a:t>
            </a:r>
            <a:r>
              <a:rPr dirty="0" sz="3200" i="1" lang="en-US" err="1">
                <a:solidFill>
                  <a:schemeClr val="dk1"/>
                </a:solidFill>
                <a:latin typeface="Garamond"/>
                <a:ea typeface="Garamond"/>
                <a:cs typeface="Garamond"/>
                <a:sym typeface="Garamond"/>
              </a:rPr>
              <a:t>Nbn</a:t>
            </a:r>
            <a:r>
              <a:rPr dirty="0" sz="3200" i="1" lang="en-US">
                <a:solidFill>
                  <a:schemeClr val="dk1"/>
                </a:solidFill>
                <a:latin typeface="Garamond"/>
                <a:ea typeface="Garamond"/>
                <a:cs typeface="Garamond"/>
                <a:sym typeface="Garamond"/>
              </a:rPr>
              <a:t> v </a:t>
            </a:r>
            <a:r>
              <a:rPr dirty="0" sz="3200" i="1" lang="en-US" err="1">
                <a:solidFill>
                  <a:schemeClr val="dk1"/>
                </a:solidFill>
                <a:latin typeface="Garamond"/>
                <a:ea typeface="Garamond"/>
                <a:cs typeface="Garamond"/>
                <a:sym typeface="Garamond"/>
              </a:rPr>
              <a:t>Alakija</a:t>
            </a:r>
            <a:r>
              <a:rPr dirty="0" sz="3200" i="1" lang="en-US">
                <a:solidFill>
                  <a:schemeClr val="dk1"/>
                </a:solidFill>
                <a:latin typeface="Garamond"/>
                <a:ea typeface="Garamond"/>
                <a:cs typeface="Garamond"/>
                <a:sym typeface="Garamond"/>
              </a:rPr>
              <a:t> Supra. See Also </a:t>
            </a:r>
            <a:r>
              <a:rPr dirty="0" sz="3200" i="1" lang="en-US" err="1">
                <a:solidFill>
                  <a:schemeClr val="dk1"/>
                </a:solidFill>
                <a:latin typeface="Garamond"/>
                <a:ea typeface="Garamond"/>
                <a:cs typeface="Garamond"/>
                <a:sym typeface="Garamond"/>
              </a:rPr>
              <a:t>Saude</a:t>
            </a:r>
            <a:r>
              <a:rPr dirty="0" sz="3200" i="1" lang="en-US">
                <a:solidFill>
                  <a:schemeClr val="dk1"/>
                </a:solidFill>
                <a:latin typeface="Garamond"/>
                <a:ea typeface="Garamond"/>
                <a:cs typeface="Garamond"/>
                <a:sym typeface="Garamond"/>
              </a:rPr>
              <a:t> v </a:t>
            </a:r>
            <a:r>
              <a:rPr dirty="0" sz="3200" i="1" lang="en-US" err="1">
                <a:solidFill>
                  <a:schemeClr val="dk1"/>
                </a:solidFill>
                <a:latin typeface="Garamond"/>
                <a:ea typeface="Garamond"/>
                <a:cs typeface="Garamond"/>
                <a:sym typeface="Garamond"/>
              </a:rPr>
              <a:t>Abdullahi</a:t>
            </a:r>
            <a:r>
              <a:rPr dirty="0" sz="3200" i="1" lang="en-US">
                <a:solidFill>
                  <a:schemeClr val="dk1"/>
                </a:solidFill>
                <a:latin typeface="Garamond"/>
                <a:ea typeface="Garamond"/>
                <a:cs typeface="Garamond"/>
                <a:sym typeface="Garamond"/>
              </a:rPr>
              <a:t> (1987) 4 NWLR (</a:t>
            </a:r>
            <a:r>
              <a:rPr dirty="0" sz="3200" i="1" lang="en-US" err="1">
                <a:solidFill>
                  <a:schemeClr val="dk1"/>
                </a:solidFill>
                <a:latin typeface="Garamond"/>
                <a:ea typeface="Garamond"/>
                <a:cs typeface="Garamond"/>
                <a:sym typeface="Garamond"/>
              </a:rPr>
              <a:t>Pt</a:t>
            </a:r>
            <a:r>
              <a:rPr dirty="0" sz="3200" i="1" lang="en-US">
                <a:solidFill>
                  <a:schemeClr val="dk1"/>
                </a:solidFill>
                <a:latin typeface="Garamond"/>
                <a:ea typeface="Garamond"/>
                <a:cs typeface="Garamond"/>
                <a:sym typeface="Garamond"/>
              </a:rPr>
              <a:t> 116) 387; </a:t>
            </a:r>
            <a:r>
              <a:rPr dirty="0" sz="3200" i="1" lang="en-US" err="1">
                <a:solidFill>
                  <a:schemeClr val="dk1"/>
                </a:solidFill>
                <a:latin typeface="Garamond"/>
                <a:ea typeface="Garamond"/>
                <a:cs typeface="Garamond"/>
                <a:sym typeface="Garamond"/>
              </a:rPr>
              <a:t>Unilag</a:t>
            </a:r>
            <a:r>
              <a:rPr dirty="0" sz="3200" i="1" lang="en-US">
                <a:solidFill>
                  <a:schemeClr val="dk1"/>
                </a:solidFill>
                <a:latin typeface="Garamond"/>
                <a:ea typeface="Garamond"/>
                <a:cs typeface="Garamond"/>
                <a:sym typeface="Garamond"/>
              </a:rPr>
              <a:t> v </a:t>
            </a:r>
            <a:r>
              <a:rPr dirty="0" sz="3200" i="1" lang="en-US" err="1">
                <a:solidFill>
                  <a:schemeClr val="dk1"/>
                </a:solidFill>
                <a:latin typeface="Garamond"/>
                <a:ea typeface="Garamond"/>
                <a:cs typeface="Garamond"/>
                <a:sym typeface="Garamond"/>
              </a:rPr>
              <a:t>Aigoro</a:t>
            </a:r>
            <a:r>
              <a:rPr dirty="0" sz="3200" i="1" lang="en-US">
                <a:solidFill>
                  <a:schemeClr val="dk1"/>
                </a:solidFill>
                <a:latin typeface="Garamond"/>
                <a:ea typeface="Garamond"/>
                <a:cs typeface="Garamond"/>
                <a:sym typeface="Garamond"/>
              </a:rPr>
              <a:t> (1991) 3 NWLR (</a:t>
            </a:r>
            <a:r>
              <a:rPr dirty="0" sz="3200" i="1" lang="en-US" err="1">
                <a:solidFill>
                  <a:schemeClr val="dk1"/>
                </a:solidFill>
                <a:latin typeface="Garamond"/>
                <a:ea typeface="Garamond"/>
                <a:cs typeface="Garamond"/>
                <a:sym typeface="Garamond"/>
              </a:rPr>
              <a:t>Pt</a:t>
            </a:r>
            <a:r>
              <a:rPr dirty="0" sz="3200" i="1" lang="en-US">
                <a:solidFill>
                  <a:schemeClr val="dk1"/>
                </a:solidFill>
                <a:latin typeface="Garamond"/>
                <a:ea typeface="Garamond"/>
                <a:cs typeface="Garamond"/>
                <a:sym typeface="Garamond"/>
              </a:rPr>
              <a:t> 179) 376; </a:t>
            </a:r>
            <a:r>
              <a:rPr dirty="0" sz="3200" i="1" lang="en-US" err="1">
                <a:solidFill>
                  <a:schemeClr val="dk1"/>
                </a:solidFill>
                <a:latin typeface="Garamond"/>
                <a:ea typeface="Garamond"/>
                <a:cs typeface="Garamond"/>
                <a:sym typeface="Garamond"/>
              </a:rPr>
              <a:t>Agip</a:t>
            </a:r>
            <a:r>
              <a:rPr dirty="0" sz="3200" i="1" lang="en-US">
                <a:solidFill>
                  <a:schemeClr val="dk1"/>
                </a:solidFill>
                <a:latin typeface="Garamond"/>
                <a:ea typeface="Garamond"/>
                <a:cs typeface="Garamond"/>
                <a:sym typeface="Garamond"/>
              </a:rPr>
              <a:t> Nigerian Ltd &amp; Ors v </a:t>
            </a:r>
            <a:r>
              <a:rPr dirty="0" sz="3200" i="1" lang="en-US" err="1">
                <a:solidFill>
                  <a:schemeClr val="dk1"/>
                </a:solidFill>
                <a:latin typeface="Garamond"/>
                <a:ea typeface="Garamond"/>
                <a:cs typeface="Garamond"/>
                <a:sym typeface="Garamond"/>
              </a:rPr>
              <a:t>Ezendu</a:t>
            </a:r>
            <a:r>
              <a:rPr dirty="0" sz="3200" i="1" lang="en-US">
                <a:solidFill>
                  <a:schemeClr val="dk1"/>
                </a:solidFill>
                <a:latin typeface="Garamond"/>
                <a:ea typeface="Garamond"/>
                <a:cs typeface="Garamond"/>
                <a:sym typeface="Garamond"/>
              </a:rPr>
              <a:t> (2010) 1 </a:t>
            </a:r>
            <a:r>
              <a:rPr dirty="0" sz="3200" i="1" lang="en-US" err="1">
                <a:solidFill>
                  <a:schemeClr val="dk1"/>
                </a:solidFill>
                <a:latin typeface="Garamond"/>
                <a:ea typeface="Garamond"/>
                <a:cs typeface="Garamond"/>
                <a:sym typeface="Garamond"/>
              </a:rPr>
              <a:t>Sc</a:t>
            </a:r>
            <a:r>
              <a:rPr dirty="0" sz="3200" i="1" lang="en-US">
                <a:solidFill>
                  <a:schemeClr val="dk1"/>
                </a:solidFill>
                <a:latin typeface="Garamond"/>
                <a:ea typeface="Garamond"/>
                <a:cs typeface="Garamond"/>
                <a:sym typeface="Garamond"/>
              </a:rPr>
              <a:t> (Pt. Ii) 99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9" name="Shape 228"/>
        <p:cNvGrpSpPr/>
        <p:nvPr/>
      </p:nvGrpSpPr>
      <p:grpSpPr>
        <a:xfrm>
          <a:off x="0" y="0"/>
          <a:ext cx="0" cy="0"/>
          <a:chOff x="0" y="0"/>
          <a:chExt cx="0" cy="0"/>
        </a:xfrm>
      </p:grpSpPr>
      <p:sp>
        <p:nvSpPr>
          <p:cNvPr id="1048666" name="Shape 229"/>
          <p:cNvSpPr txBox="1">
            <a:spLocks noGrp="1"/>
          </p:cNvSpPr>
          <p:nvPr>
            <p:ph type="title"/>
          </p:nvPr>
        </p:nvSpPr>
        <p:spPr>
          <a:xfrm>
            <a:off x="1981200" y="188912"/>
            <a:ext cx="8229600" cy="1079400"/>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Originating Summons, </a:t>
            </a:r>
            <a:r>
              <a:rPr dirty="0" lang="en-US">
                <a:solidFill>
                  <a:srgbClr val="000000"/>
                </a:solidFill>
                <a:latin typeface="Garamond"/>
                <a:ea typeface="Garamond"/>
                <a:cs typeface="Garamond"/>
                <a:sym typeface="Garamond"/>
              </a:rPr>
              <a:t>Cont’d</a:t>
            </a:r>
          </a:p>
        </p:txBody>
      </p:sp>
      <p:sp>
        <p:nvSpPr>
          <p:cNvPr id="1048667" name="Shape 230"/>
          <p:cNvSpPr txBox="1">
            <a:spLocks noGrp="1"/>
          </p:cNvSpPr>
          <p:nvPr>
            <p:ph idx="1"/>
          </p:nvPr>
        </p:nvSpPr>
        <p:spPr>
          <a:xfrm>
            <a:off x="0" y="1417638"/>
            <a:ext cx="12192000" cy="5440362"/>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Documents to accompany Summons. </a:t>
            </a:r>
            <a:r>
              <a:rPr dirty="0" sz="3200" i="1" lang="en-US">
                <a:solidFill>
                  <a:schemeClr val="dk1"/>
                </a:solidFill>
                <a:latin typeface="Garamond"/>
                <a:ea typeface="Garamond"/>
                <a:cs typeface="Garamond"/>
                <a:sym typeface="Garamond"/>
              </a:rPr>
              <a:t>See Or. 2 r. 3(5) </a:t>
            </a:r>
            <a:r>
              <a:rPr dirty="0" sz="3200" i="1" lang="en-US" err="1">
                <a:solidFill>
                  <a:schemeClr val="dk1"/>
                </a:solidFill>
                <a:latin typeface="Garamond"/>
                <a:ea typeface="Garamond"/>
                <a:cs typeface="Garamond"/>
                <a:sym typeface="Garamond"/>
              </a:rPr>
              <a:t>Abj</a:t>
            </a:r>
            <a:r>
              <a:rPr dirty="0" sz="3200" i="1" lang="en-US">
                <a:solidFill>
                  <a:schemeClr val="dk1"/>
                </a:solidFill>
                <a:latin typeface="Garamond"/>
                <a:ea typeface="Garamond"/>
                <a:cs typeface="Garamond"/>
                <a:sym typeface="Garamond"/>
              </a:rPr>
              <a:t>. &amp; Or. 5 r.5(3)</a:t>
            </a:r>
          </a:p>
          <a:p>
            <a:pPr indent="-514350" lvl="1" marL="971550">
              <a:lnSpc>
                <a:spcPct val="100000"/>
              </a:lnSpc>
              <a:spcBef>
                <a:spcPts val="560"/>
              </a:spcBef>
              <a:buClr>
                <a:schemeClr val="dk1"/>
              </a:buClr>
              <a:buSzPct val="100000"/>
              <a:buFont typeface="Garamond"/>
              <a:buAutoNum type="alphaLcParenR"/>
            </a:pPr>
            <a:r>
              <a:rPr dirty="0" sz="2800" i="1" lang="en-US">
                <a:solidFill>
                  <a:schemeClr val="dk1"/>
                </a:solidFill>
                <a:latin typeface="Garamond"/>
                <a:ea typeface="Garamond"/>
                <a:cs typeface="Garamond"/>
                <a:sym typeface="Garamond"/>
              </a:rPr>
              <a:t>An affidavit setting out the facts relied upon,</a:t>
            </a:r>
          </a:p>
          <a:p>
            <a:pPr indent="-514350" lvl="1" marL="971550">
              <a:lnSpc>
                <a:spcPct val="100000"/>
              </a:lnSpc>
              <a:spcBef>
                <a:spcPts val="560"/>
              </a:spcBef>
              <a:buClr>
                <a:schemeClr val="dk1"/>
              </a:buClr>
              <a:buSzPct val="100000"/>
              <a:buFont typeface="Garamond"/>
              <a:buAutoNum type="alphaLcParenR"/>
            </a:pPr>
            <a:r>
              <a:rPr dirty="0" sz="2800" i="1" lang="en-US">
                <a:solidFill>
                  <a:schemeClr val="dk1"/>
                </a:solidFill>
                <a:latin typeface="Garamond"/>
                <a:ea typeface="Garamond"/>
                <a:cs typeface="Garamond"/>
                <a:sym typeface="Garamond"/>
              </a:rPr>
              <a:t>Exhibits to be relied upon,</a:t>
            </a:r>
          </a:p>
          <a:p>
            <a:pPr indent="-514350" lvl="1" marL="971550">
              <a:lnSpc>
                <a:spcPct val="100000"/>
              </a:lnSpc>
              <a:spcBef>
                <a:spcPts val="560"/>
              </a:spcBef>
              <a:buClr>
                <a:schemeClr val="dk1"/>
              </a:buClr>
              <a:buSzPct val="100000"/>
              <a:buFont typeface="Garamond"/>
              <a:buAutoNum type="alphaLcParenR"/>
            </a:pPr>
            <a:r>
              <a:rPr dirty="0" sz="2800" i="1" lang="en-US">
                <a:solidFill>
                  <a:schemeClr val="dk1"/>
                </a:solidFill>
                <a:latin typeface="Garamond"/>
                <a:ea typeface="Garamond"/>
                <a:cs typeface="Garamond"/>
                <a:sym typeface="Garamond"/>
              </a:rPr>
              <a:t>Written address in support of the application, and </a:t>
            </a:r>
          </a:p>
          <a:p>
            <a:pPr indent="-514350" lvl="1" marL="971550">
              <a:lnSpc>
                <a:spcPct val="100000"/>
              </a:lnSpc>
              <a:spcBef>
                <a:spcPts val="560"/>
              </a:spcBef>
              <a:buClr>
                <a:schemeClr val="dk1"/>
              </a:buClr>
              <a:buSzPct val="100000"/>
              <a:buFont typeface="Garamond"/>
              <a:buAutoNum type="alphaLcParenR"/>
            </a:pPr>
            <a:r>
              <a:rPr dirty="0" sz="2800" i="1" lang="en-US">
                <a:solidFill>
                  <a:schemeClr val="dk1"/>
                </a:solidFill>
                <a:latin typeface="Garamond"/>
                <a:ea typeface="Garamond"/>
                <a:cs typeface="Garamond"/>
                <a:sym typeface="Garamond"/>
              </a:rPr>
              <a:t>Certificate of Pre action Counselling or Pre action Protocol form 01.</a:t>
            </a:r>
          </a:p>
          <a:p>
            <a:pPr indent="-342900" marL="342900">
              <a:lnSpc>
                <a:spcPct val="100000"/>
              </a:lnSpc>
              <a:spcBef>
                <a:spcPts val="640"/>
              </a:spcBef>
              <a:buClr>
                <a:schemeClr val="dk1"/>
              </a:buClr>
              <a:buSzPct val="100000"/>
              <a:buFont typeface="Garamond"/>
              <a:buChar char="•"/>
            </a:pPr>
            <a:r>
              <a:rPr b="1" dirty="0" sz="3200" lang="en-US">
                <a:solidFill>
                  <a:schemeClr val="dk1"/>
                </a:solidFill>
                <a:latin typeface="Garamond"/>
                <a:ea typeface="Garamond"/>
                <a:cs typeface="Garamond"/>
                <a:sym typeface="Garamond"/>
              </a:rPr>
              <a:t>Time to respond to Summons. </a:t>
            </a:r>
            <a:r>
              <a:rPr dirty="0" sz="3200" i="1" lang="en-US">
                <a:solidFill>
                  <a:schemeClr val="dk1"/>
                </a:solidFill>
                <a:latin typeface="Garamond"/>
                <a:ea typeface="Garamond"/>
                <a:cs typeface="Garamond"/>
                <a:sym typeface="Garamond"/>
              </a:rPr>
              <a:t>See Forms 3 appendix to the Abuja &amp; Lagos rules.</a:t>
            </a:r>
          </a:p>
          <a:p>
            <a:pPr indent="-514350" lvl="1" marL="971550">
              <a:lnSpc>
                <a:spcPct val="100000"/>
              </a:lnSpc>
              <a:spcBef>
                <a:spcPts val="560"/>
              </a:spcBef>
              <a:buClr>
                <a:schemeClr val="dk1"/>
              </a:buClr>
              <a:buSzPct val="100000"/>
              <a:buFont typeface="Garamond"/>
              <a:buChar char="–"/>
            </a:pPr>
            <a:r>
              <a:rPr dirty="0" sz="2800" lang="en-US">
                <a:solidFill>
                  <a:schemeClr val="dk1"/>
                </a:solidFill>
                <a:latin typeface="Garamond"/>
                <a:ea typeface="Garamond"/>
                <a:cs typeface="Garamond"/>
                <a:sym typeface="Garamond"/>
              </a:rPr>
              <a:t>42 days (FCT) &amp; 21 days (Lagos)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22" name="Shape 235"/>
        <p:cNvGrpSpPr/>
        <p:nvPr/>
      </p:nvGrpSpPr>
      <p:grpSpPr>
        <a:xfrm>
          <a:off x="0" y="0"/>
          <a:ext cx="0" cy="0"/>
          <a:chOff x="0" y="0"/>
          <a:chExt cx="0" cy="0"/>
        </a:xfrm>
      </p:grpSpPr>
      <p:sp>
        <p:nvSpPr>
          <p:cNvPr id="1048670" name="Shape 236"/>
          <p:cNvSpPr txBox="1">
            <a:spLocks noGrp="1"/>
          </p:cNvSpPr>
          <p:nvPr>
            <p:ph type="title"/>
          </p:nvPr>
        </p:nvSpPr>
        <p:spPr>
          <a:xfrm>
            <a:off x="1981200" y="188912"/>
            <a:ext cx="8229600" cy="936600"/>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4000" lang="en-US">
                <a:solidFill>
                  <a:srgbClr val="000000"/>
                </a:solidFill>
                <a:latin typeface="Garamond"/>
                <a:ea typeface="Garamond"/>
                <a:cs typeface="Garamond"/>
                <a:sym typeface="Garamond"/>
              </a:rPr>
              <a:t>3. Originating Motion</a:t>
            </a:r>
          </a:p>
        </p:txBody>
      </p:sp>
      <p:sp>
        <p:nvSpPr>
          <p:cNvPr id="1048671" name="Shape 237"/>
          <p:cNvSpPr txBox="1">
            <a:spLocks noGrp="1"/>
          </p:cNvSpPr>
          <p:nvPr>
            <p:ph idx="1"/>
          </p:nvPr>
        </p:nvSpPr>
        <p:spPr>
          <a:xfrm>
            <a:off x="0" y="1125538"/>
            <a:ext cx="12192000" cy="5616599"/>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Also known as Originating Application, it is used where a law or rule requires that actions may be commenced by it. </a:t>
            </a:r>
            <a:r>
              <a:rPr dirty="0" sz="3200" i="1" lang="en-US">
                <a:solidFill>
                  <a:schemeClr val="dk1"/>
                </a:solidFill>
                <a:latin typeface="Garamond"/>
                <a:ea typeface="Garamond"/>
                <a:cs typeface="Garamond"/>
                <a:sym typeface="Garamond"/>
              </a:rPr>
              <a:t>See Or 2 r 1 </a:t>
            </a:r>
            <a:r>
              <a:rPr dirty="0" sz="3200" i="1" lang="en-US" err="1">
                <a:solidFill>
                  <a:schemeClr val="dk1"/>
                </a:solidFill>
                <a:latin typeface="Garamond"/>
                <a:ea typeface="Garamond"/>
                <a:cs typeface="Garamond"/>
                <a:sym typeface="Garamond"/>
              </a:rPr>
              <a:t>Abj</a:t>
            </a:r>
            <a:r>
              <a:rPr dirty="0" sz="3200" i="1" lang="en-US">
                <a:solidFill>
                  <a:schemeClr val="dk1"/>
                </a:solidFill>
                <a:latin typeface="Garamond"/>
                <a:ea typeface="Garamond"/>
                <a:cs typeface="Garamond"/>
                <a:sym typeface="Garamond"/>
              </a:rPr>
              <a:t>. </a:t>
            </a:r>
            <a:r>
              <a:rPr dirty="0" sz="3200" lang="en-US">
                <a:solidFill>
                  <a:schemeClr val="dk1"/>
                </a:solidFill>
                <a:latin typeface="Garamond"/>
                <a:ea typeface="Garamond"/>
                <a:cs typeface="Garamond"/>
                <a:sym typeface="Garamond"/>
              </a:rPr>
              <a:t>See also </a:t>
            </a:r>
            <a:r>
              <a:rPr dirty="0" sz="3200" i="1" lang="en-US">
                <a:solidFill>
                  <a:schemeClr val="dk1"/>
                </a:solidFill>
                <a:latin typeface="Garamond"/>
                <a:ea typeface="Garamond"/>
                <a:cs typeface="Garamond"/>
                <a:sym typeface="Garamond"/>
              </a:rPr>
              <a:t>Or 43 r 1 </a:t>
            </a:r>
            <a:r>
              <a:rPr dirty="0" sz="3200" i="1" lang="en-US" err="1">
                <a:solidFill>
                  <a:schemeClr val="dk1"/>
                </a:solidFill>
                <a:latin typeface="Garamond"/>
                <a:ea typeface="Garamond"/>
                <a:cs typeface="Garamond"/>
                <a:sym typeface="Garamond"/>
              </a:rPr>
              <a:t>Abj</a:t>
            </a:r>
            <a:r>
              <a:rPr dirty="0" sz="3200" i="1" lang="en-US">
                <a:solidFill>
                  <a:schemeClr val="dk1"/>
                </a:solidFill>
                <a:latin typeface="Garamond"/>
                <a:ea typeface="Garamond"/>
                <a:cs typeface="Garamond"/>
                <a:sym typeface="Garamond"/>
              </a:rPr>
              <a:t>; Or 2 r. 1 Fundamental Rights Enforcement Procedure Rules 2009; </a:t>
            </a:r>
            <a:r>
              <a:rPr dirty="0" sz="3200" i="1" lang="en-US" err="1">
                <a:solidFill>
                  <a:schemeClr val="dk1"/>
                </a:solidFill>
                <a:latin typeface="Garamond"/>
                <a:ea typeface="Garamond"/>
                <a:cs typeface="Garamond"/>
                <a:sym typeface="Garamond"/>
              </a:rPr>
              <a:t>Kasoap</a:t>
            </a:r>
            <a:r>
              <a:rPr dirty="0" sz="3200" i="1" lang="en-US">
                <a:solidFill>
                  <a:schemeClr val="dk1"/>
                </a:solidFill>
                <a:latin typeface="Garamond"/>
                <a:ea typeface="Garamond"/>
                <a:cs typeface="Garamond"/>
                <a:sym typeface="Garamond"/>
              </a:rPr>
              <a:t> v </a:t>
            </a:r>
            <a:r>
              <a:rPr dirty="0" sz="3200" i="1" lang="en-US" err="1">
                <a:solidFill>
                  <a:schemeClr val="dk1"/>
                </a:solidFill>
                <a:latin typeface="Garamond"/>
                <a:ea typeface="Garamond"/>
                <a:cs typeface="Garamond"/>
                <a:sym typeface="Garamond"/>
              </a:rPr>
              <a:t>Kofa</a:t>
            </a:r>
            <a:r>
              <a:rPr dirty="0" sz="3200" i="1" lang="en-US">
                <a:solidFill>
                  <a:schemeClr val="dk1"/>
                </a:solidFill>
                <a:latin typeface="Garamond"/>
                <a:ea typeface="Garamond"/>
                <a:cs typeface="Garamond"/>
                <a:sym typeface="Garamond"/>
              </a:rPr>
              <a:t> Trading Co. (Supra)</a:t>
            </a:r>
          </a:p>
          <a:p>
            <a:pPr indent="-342900" marL="342900">
              <a:lnSpc>
                <a:spcPct val="100000"/>
              </a:lnSpc>
              <a:spcBef>
                <a:spcPts val="20"/>
              </a:spcBef>
              <a:buClr>
                <a:schemeClr val="dk1"/>
              </a:buClr>
              <a:buSzPct val="25000"/>
              <a:buNone/>
            </a:pPr>
            <a:endParaRPr dirty="0" sz="100" i="1">
              <a:solidFill>
                <a:schemeClr val="dk1"/>
              </a:solidFill>
              <a:latin typeface="Garamond"/>
              <a:ea typeface="Garamond"/>
              <a:cs typeface="Garamond"/>
              <a:sym typeface="Garamond"/>
            </a:endParaRPr>
          </a:p>
          <a:p>
            <a:pPr indent="-342900" marL="342900">
              <a:lnSpc>
                <a:spcPct val="100000"/>
              </a:lnSpc>
              <a:spcBef>
                <a:spcPts val="640"/>
              </a:spcBef>
              <a:buClr>
                <a:schemeClr val="dk1"/>
              </a:buClr>
              <a:buSzPct val="100000"/>
              <a:buFont typeface="Garamond"/>
              <a:buChar char="•"/>
            </a:pPr>
            <a:r>
              <a:rPr dirty="0" sz="3200" lang="en-US">
                <a:solidFill>
                  <a:schemeClr val="dk1"/>
                </a:solidFill>
                <a:latin typeface="Garamond"/>
                <a:ea typeface="Garamond"/>
                <a:cs typeface="Garamond"/>
                <a:sym typeface="Garamond"/>
              </a:rPr>
              <a:t>Example of actions that may be commenced by Originating Motion include Enforcement of Fundamental Rights, Application for prerogative reliefs, etc.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5" name="Shape 242"/>
        <p:cNvGrpSpPr/>
        <p:nvPr/>
      </p:nvGrpSpPr>
      <p:grpSpPr>
        <a:xfrm>
          <a:off x="0" y="0"/>
          <a:ext cx="0" cy="0"/>
          <a:chOff x="0" y="0"/>
          <a:chExt cx="0" cy="0"/>
        </a:xfrm>
      </p:grpSpPr>
      <p:sp>
        <p:nvSpPr>
          <p:cNvPr id="1048675" name="Shape 243"/>
          <p:cNvSpPr txBox="1">
            <a:spLocks noGrp="1"/>
          </p:cNvSpPr>
          <p:nvPr>
            <p:ph type="title"/>
          </p:nvPr>
        </p:nvSpPr>
        <p:spPr>
          <a:xfrm>
            <a:off x="838200" y="1"/>
            <a:ext cx="10515600" cy="1304143"/>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4. Petition</a:t>
            </a:r>
            <a:r>
              <a:rPr dirty="0" lang="en-US">
                <a:solidFill>
                  <a:schemeClr val="dk2"/>
                </a:solidFill>
                <a:latin typeface="Arial"/>
                <a:ea typeface="Arial"/>
                <a:cs typeface="Arial"/>
                <a:sym typeface="Arial"/>
              </a:rPr>
              <a:t> </a:t>
            </a:r>
          </a:p>
        </p:txBody>
      </p:sp>
      <p:sp>
        <p:nvSpPr>
          <p:cNvPr id="1048676" name="Shape 244"/>
          <p:cNvSpPr txBox="1">
            <a:spLocks noGrp="1"/>
          </p:cNvSpPr>
          <p:nvPr>
            <p:ph idx="1"/>
          </p:nvPr>
        </p:nvSpPr>
        <p:spPr>
          <a:xfrm>
            <a:off x="0" y="1417636"/>
            <a:ext cx="12192000" cy="5440363"/>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600" lang="en-US">
                <a:solidFill>
                  <a:schemeClr val="dk1"/>
                </a:solidFill>
                <a:latin typeface="Garamond"/>
                <a:ea typeface="Garamond"/>
                <a:cs typeface="Garamond"/>
                <a:sym typeface="Garamond"/>
              </a:rPr>
              <a:t>Used where a law or rule requires that actions be commenced by it. </a:t>
            </a:r>
            <a:r>
              <a:rPr dirty="0" sz="3600" lang="en-US">
                <a:solidFill>
                  <a:schemeClr val="dk1"/>
                </a:solidFill>
                <a:latin typeface="Garamond"/>
                <a:ea typeface="Garamond"/>
                <a:cs typeface="Garamond"/>
                <a:sym typeface="Garamond"/>
              </a:rPr>
              <a:t>See</a:t>
            </a:r>
            <a:r>
              <a:rPr dirty="0" sz="3600" i="1" lang="en-US">
                <a:solidFill>
                  <a:schemeClr val="dk1"/>
                </a:solidFill>
                <a:latin typeface="Garamond"/>
                <a:ea typeface="Garamond"/>
                <a:cs typeface="Garamond"/>
                <a:sym typeface="Garamond"/>
              </a:rPr>
              <a:t> Or 2 r 1 </a:t>
            </a:r>
            <a:r>
              <a:rPr dirty="0" sz="3600" i="1" lang="en-US" err="1">
                <a:solidFill>
                  <a:schemeClr val="dk1"/>
                </a:solidFill>
                <a:latin typeface="Garamond"/>
                <a:ea typeface="Garamond"/>
                <a:cs typeface="Garamond"/>
                <a:sym typeface="Garamond"/>
              </a:rPr>
              <a:t>Abj</a:t>
            </a:r>
            <a:r>
              <a:rPr dirty="0" sz="3600" i="1" lang="en-US">
                <a:solidFill>
                  <a:schemeClr val="dk1"/>
                </a:solidFill>
                <a:latin typeface="Garamond"/>
                <a:ea typeface="Garamond"/>
                <a:cs typeface="Garamond"/>
                <a:sym typeface="Garamond"/>
              </a:rPr>
              <a:t>. Or. 1 r. 2(3) Lag. </a:t>
            </a:r>
            <a:r>
              <a:rPr dirty="0" sz="3600" lang="en-US">
                <a:solidFill>
                  <a:schemeClr val="dk1"/>
                </a:solidFill>
                <a:latin typeface="Garamond"/>
                <a:ea typeface="Garamond"/>
                <a:cs typeface="Garamond"/>
                <a:sym typeface="Garamond"/>
              </a:rPr>
              <a:t>Also </a:t>
            </a:r>
            <a:r>
              <a:rPr dirty="0" sz="3600" i="1" lang="en-US" err="1">
                <a:solidFill>
                  <a:schemeClr val="dk1"/>
                </a:solidFill>
                <a:latin typeface="Garamond"/>
                <a:ea typeface="Garamond"/>
                <a:cs typeface="Garamond"/>
                <a:sym typeface="Garamond"/>
              </a:rPr>
              <a:t>Kasoap</a:t>
            </a:r>
            <a:r>
              <a:rPr dirty="0" sz="3600" i="1" lang="en-US">
                <a:solidFill>
                  <a:schemeClr val="dk1"/>
                </a:solidFill>
                <a:latin typeface="Garamond"/>
                <a:ea typeface="Garamond"/>
                <a:cs typeface="Garamond"/>
                <a:sym typeface="Garamond"/>
              </a:rPr>
              <a:t> v </a:t>
            </a:r>
            <a:r>
              <a:rPr dirty="0" sz="3600" i="1" lang="en-US" err="1">
                <a:solidFill>
                  <a:schemeClr val="dk1"/>
                </a:solidFill>
                <a:latin typeface="Garamond"/>
                <a:ea typeface="Garamond"/>
                <a:cs typeface="Garamond"/>
                <a:sym typeface="Garamond"/>
              </a:rPr>
              <a:t>Kofa</a:t>
            </a:r>
            <a:r>
              <a:rPr dirty="0" sz="3600" i="1" lang="en-US">
                <a:solidFill>
                  <a:schemeClr val="dk1"/>
                </a:solidFill>
                <a:latin typeface="Garamond"/>
                <a:ea typeface="Garamond"/>
                <a:cs typeface="Garamond"/>
                <a:sym typeface="Garamond"/>
              </a:rPr>
              <a:t> Trading Co. (1996) 2 SCNJ 325.</a:t>
            </a:r>
          </a:p>
          <a:p>
            <a:pPr indent="-342900" marL="342900">
              <a:lnSpc>
                <a:spcPct val="100000"/>
              </a:lnSpc>
              <a:spcBef>
                <a:spcPts val="720"/>
              </a:spcBef>
              <a:buClr>
                <a:schemeClr val="dk1"/>
              </a:buClr>
              <a:buSzPct val="100000"/>
              <a:buFont typeface="Garamond"/>
              <a:buChar char="•"/>
            </a:pPr>
            <a:r>
              <a:rPr dirty="0" sz="3600" lang="en-US">
                <a:solidFill>
                  <a:schemeClr val="dk1"/>
                </a:solidFill>
                <a:latin typeface="Garamond"/>
                <a:ea typeface="Garamond"/>
                <a:cs typeface="Garamond"/>
                <a:sym typeface="Garamond"/>
              </a:rPr>
              <a:t>Example of actions that may be commenced by Petition include Election Petitions, Matrimonial Causes, etc.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28" name="Shape 248"/>
        <p:cNvGrpSpPr/>
        <p:nvPr/>
      </p:nvGrpSpPr>
      <p:grpSpPr>
        <a:xfrm>
          <a:off x="0" y="0"/>
          <a:ext cx="0" cy="0"/>
          <a:chOff x="0" y="0"/>
          <a:chExt cx="0" cy="0"/>
        </a:xfrm>
      </p:grpSpPr>
      <p:sp>
        <p:nvSpPr>
          <p:cNvPr id="1048680" name="Shape 249"/>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Mandatory ADR Screening </a:t>
            </a:r>
          </a:p>
        </p:txBody>
      </p:sp>
      <p:sp>
        <p:nvSpPr>
          <p:cNvPr id="1048681" name="Shape 250"/>
          <p:cNvSpPr txBox="1">
            <a:spLocks noGrp="1"/>
          </p:cNvSpPr>
          <p:nvPr>
            <p:ph idx="1"/>
          </p:nvPr>
        </p:nvSpPr>
        <p:spPr>
          <a:xfrm>
            <a:off x="0" y="1825624"/>
            <a:ext cx="12192000" cy="5032375"/>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dirty="0" sz="3200" lang="en-US">
                <a:solidFill>
                  <a:schemeClr val="dk1"/>
                </a:solidFill>
                <a:latin typeface="Garamond"/>
                <a:ea typeface="Garamond"/>
                <a:cs typeface="Garamond"/>
                <a:sym typeface="Garamond"/>
              </a:rPr>
              <a:t>All originating processes upon acceptance for filing must be screened for suitability for ADR, and where appropriate, the Chief Judge will refer the case to the multi door court house or other appropriate ADR Institutions or Practitioners in line with practice direction to be issued by the CJ. </a:t>
            </a:r>
            <a:r>
              <a:rPr b="1" dirty="0" sz="3200" i="1" lang="en-US">
                <a:solidFill>
                  <a:schemeClr val="dk1"/>
                </a:solidFill>
                <a:latin typeface="Garamond"/>
                <a:ea typeface="Garamond"/>
                <a:cs typeface="Garamond"/>
                <a:sym typeface="Garamond"/>
              </a:rPr>
              <a:t>See Or. 2 r. 7 </a:t>
            </a:r>
            <a:r>
              <a:rPr b="1" dirty="0" sz="3200" i="1" lang="en-US" err="1">
                <a:solidFill>
                  <a:schemeClr val="dk1"/>
                </a:solidFill>
                <a:latin typeface="Garamond"/>
                <a:ea typeface="Garamond"/>
                <a:cs typeface="Garamond"/>
                <a:sym typeface="Garamond"/>
              </a:rPr>
              <a:t>Abj</a:t>
            </a:r>
            <a:r>
              <a:rPr b="1" dirty="0" sz="3200" i="1" lang="en-US">
                <a:solidFill>
                  <a:schemeClr val="dk1"/>
                </a:solidFill>
                <a:latin typeface="Garamond"/>
                <a:ea typeface="Garamond"/>
                <a:cs typeface="Garamond"/>
                <a:sym typeface="Garamond"/>
              </a:rPr>
              <a:t> &amp; Or. 5 r. 8 Lag</a:t>
            </a:r>
            <a:r>
              <a:rPr dirty="0" sz="3200" lang="en-US">
                <a:solidFill>
                  <a:schemeClr val="dk1"/>
                </a:solidFill>
                <a:latin typeface="Garamond"/>
                <a:ea typeface="Garamond"/>
                <a:cs typeface="Garamond"/>
                <a:sym typeface="Garamond"/>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31" name="Shape 209"/>
        <p:cNvGrpSpPr/>
        <p:nvPr/>
      </p:nvGrpSpPr>
      <p:grpSpPr>
        <a:xfrm>
          <a:off x="0" y="0"/>
          <a:ext cx="0" cy="0"/>
          <a:chOff x="0" y="0"/>
          <a:chExt cx="0" cy="0"/>
        </a:xfrm>
      </p:grpSpPr>
      <p:sp>
        <p:nvSpPr>
          <p:cNvPr id="1048684" name="Shape 210"/>
          <p:cNvSpPr txBox="1">
            <a:spLocks noGrp="1"/>
          </p:cNvSpPr>
          <p:nvPr>
            <p:ph type="title"/>
          </p:nvPr>
        </p:nvSpPr>
        <p:spPr>
          <a:xfrm>
            <a:off x="1981200" y="0"/>
            <a:ext cx="8229600" cy="1341375"/>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ISSUANCE OF ORIGINATING PROCESS</a:t>
            </a:r>
          </a:p>
        </p:txBody>
      </p:sp>
      <p:sp>
        <p:nvSpPr>
          <p:cNvPr id="1048685" name="Shape 211"/>
          <p:cNvSpPr txBox="1">
            <a:spLocks noGrp="1"/>
          </p:cNvSpPr>
          <p:nvPr>
            <p:ph idx="1"/>
          </p:nvPr>
        </p:nvSpPr>
        <p:spPr>
          <a:xfrm>
            <a:off x="0" y="1143000"/>
            <a:ext cx="12192000" cy="5715000"/>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600" lang="en-US">
                <a:solidFill>
                  <a:schemeClr val="dk1"/>
                </a:solidFill>
                <a:latin typeface="Garamond"/>
                <a:ea typeface="Garamond"/>
                <a:cs typeface="Garamond"/>
                <a:sym typeface="Garamond"/>
              </a:rPr>
              <a:t>Payment of filing fees. Failure affects jurisdiction of court. </a:t>
            </a:r>
            <a:r>
              <a:rPr dirty="0" sz="3600" i="1" lang="en-US" err="1">
                <a:solidFill>
                  <a:schemeClr val="dk1"/>
                </a:solidFill>
                <a:latin typeface="Garamond"/>
                <a:ea typeface="Garamond"/>
                <a:cs typeface="Garamond"/>
                <a:sym typeface="Garamond"/>
              </a:rPr>
              <a:t>Onwugbufor</a:t>
            </a:r>
            <a:r>
              <a:rPr dirty="0" sz="3600" i="1" lang="en-US">
                <a:solidFill>
                  <a:schemeClr val="dk1"/>
                </a:solidFill>
                <a:latin typeface="Garamond"/>
                <a:ea typeface="Garamond"/>
                <a:cs typeface="Garamond"/>
                <a:sym typeface="Garamond"/>
              </a:rPr>
              <a:t> v </a:t>
            </a:r>
            <a:r>
              <a:rPr dirty="0" sz="3600" i="1" lang="en-US" err="1">
                <a:solidFill>
                  <a:schemeClr val="dk1"/>
                </a:solidFill>
                <a:latin typeface="Garamond"/>
                <a:ea typeface="Garamond"/>
                <a:cs typeface="Garamond"/>
                <a:sym typeface="Garamond"/>
              </a:rPr>
              <a:t>Okoye</a:t>
            </a:r>
            <a:r>
              <a:rPr dirty="0" sz="3600" i="1" lang="en-US">
                <a:solidFill>
                  <a:schemeClr val="dk1"/>
                </a:solidFill>
                <a:latin typeface="Garamond"/>
                <a:ea typeface="Garamond"/>
                <a:cs typeface="Garamond"/>
                <a:sym typeface="Garamond"/>
              </a:rPr>
              <a:t> (1996) 1 SCNJ 1 </a:t>
            </a:r>
          </a:p>
          <a:p>
            <a:pPr indent="-342900" marL="342900">
              <a:lnSpc>
                <a:spcPct val="100000"/>
              </a:lnSpc>
              <a:spcBef>
                <a:spcPts val="240"/>
              </a:spcBef>
              <a:buClr>
                <a:schemeClr val="dk1"/>
              </a:buClr>
              <a:buSzPct val="25000"/>
              <a:buNone/>
            </a:pPr>
            <a:endParaRPr dirty="0" sz="1200" i="1">
              <a:solidFill>
                <a:schemeClr val="dk1"/>
              </a:solidFill>
              <a:latin typeface="Garamond"/>
              <a:ea typeface="Garamond"/>
              <a:cs typeface="Garamond"/>
              <a:sym typeface="Garamond"/>
            </a:endParaRPr>
          </a:p>
          <a:p>
            <a:pPr indent="-342900" marL="342900">
              <a:lnSpc>
                <a:spcPct val="100000"/>
              </a:lnSpc>
              <a:spcBef>
                <a:spcPts val="720"/>
              </a:spcBef>
              <a:buClr>
                <a:schemeClr val="dk1"/>
              </a:buClr>
              <a:buSzPct val="100000"/>
              <a:buFont typeface="Garamond"/>
              <a:buChar char="•"/>
            </a:pPr>
            <a:r>
              <a:rPr b="1" dirty="0" sz="3600" lang="en-US">
                <a:solidFill>
                  <a:schemeClr val="dk1"/>
                </a:solidFill>
                <a:latin typeface="Garamond"/>
                <a:ea typeface="Garamond"/>
                <a:cs typeface="Garamond"/>
                <a:sym typeface="Garamond"/>
              </a:rPr>
              <a:t>When is a Writ or Other Originating Process Issued? </a:t>
            </a:r>
            <a:r>
              <a:rPr dirty="0" sz="3600" lang="en-US">
                <a:solidFill>
                  <a:schemeClr val="dk1"/>
                </a:solidFill>
                <a:latin typeface="Garamond"/>
                <a:ea typeface="Garamond"/>
                <a:cs typeface="Garamond"/>
                <a:sym typeface="Garamond"/>
              </a:rPr>
              <a:t>– When sealed by Registrar. </a:t>
            </a:r>
            <a:r>
              <a:rPr dirty="0" sz="3600" i="1" lang="en-US">
                <a:solidFill>
                  <a:schemeClr val="dk1"/>
                </a:solidFill>
                <a:latin typeface="Garamond"/>
                <a:ea typeface="Garamond"/>
                <a:cs typeface="Garamond"/>
                <a:sym typeface="Garamond"/>
              </a:rPr>
              <a:t>See Or 8 r. 1 Lag; Or 8 r 2(1) </a:t>
            </a:r>
            <a:r>
              <a:rPr dirty="0" sz="3600" i="1" lang="en-US" err="1">
                <a:solidFill>
                  <a:schemeClr val="dk1"/>
                </a:solidFill>
                <a:latin typeface="Garamond"/>
                <a:ea typeface="Garamond"/>
                <a:cs typeface="Garamond"/>
                <a:sym typeface="Garamond"/>
              </a:rPr>
              <a:t>Abj</a:t>
            </a:r>
            <a:r>
              <a:rPr dirty="0" sz="3600" i="1" lang="en-US">
                <a:solidFill>
                  <a:schemeClr val="dk1"/>
                </a:solidFill>
                <a:latin typeface="Garamond"/>
                <a:ea typeface="Garamond"/>
                <a:cs typeface="Garamond"/>
                <a:sym typeface="Garamond"/>
              </a:rPr>
              <a:t>.</a:t>
            </a:r>
          </a:p>
          <a:p>
            <a:pPr indent="-342900" marL="342900">
              <a:lnSpc>
                <a:spcPct val="100000"/>
              </a:lnSpc>
              <a:spcBef>
                <a:spcPts val="720"/>
              </a:spcBef>
              <a:buClr>
                <a:schemeClr val="dk1"/>
              </a:buClr>
              <a:buSzPct val="100000"/>
              <a:buFont typeface="Garamond"/>
              <a:buChar char="•"/>
            </a:pPr>
            <a:endParaRPr dirty="0" sz="900" i="1" lang="en-US">
              <a:solidFill>
                <a:schemeClr val="dk1"/>
              </a:solidFill>
              <a:latin typeface="Garamond"/>
              <a:ea typeface="Garamond"/>
              <a:cs typeface="Garamond"/>
              <a:sym typeface="Garamond"/>
            </a:endParaRPr>
          </a:p>
          <a:p>
            <a:pPr indent="-342900" marL="342900">
              <a:lnSpc>
                <a:spcPct val="100000"/>
              </a:lnSpc>
              <a:spcBef>
                <a:spcPts val="720"/>
              </a:spcBef>
              <a:buClr>
                <a:schemeClr val="dk1"/>
              </a:buClr>
              <a:buSzPct val="100000"/>
              <a:buFont typeface="Garamond"/>
              <a:buChar char="•"/>
            </a:pPr>
            <a:r>
              <a:rPr b="1" dirty="0" sz="3600" lang="en-US">
                <a:latin typeface="Garamond"/>
                <a:ea typeface="Garamond"/>
                <a:cs typeface="Garamond"/>
                <a:sym typeface="Garamond"/>
              </a:rPr>
              <a:t>Note that as soon as a claimant has presented all the documents constituting the originating process together with evidence of payment of filing fees, he is deemed to have commenced his suit. </a:t>
            </a:r>
            <a:r>
              <a:rPr dirty="0" sz="3600" lang="en-US">
                <a:latin typeface="Garamond"/>
                <a:ea typeface="Garamond"/>
                <a:cs typeface="Garamond"/>
                <a:sym typeface="Garamond"/>
              </a:rPr>
              <a:t>See </a:t>
            </a:r>
            <a:r>
              <a:rPr dirty="0" sz="3600" i="1" lang="en-US">
                <a:latin typeface="Garamond"/>
                <a:ea typeface="Garamond"/>
                <a:cs typeface="Garamond"/>
                <a:sym typeface="Garamond"/>
              </a:rPr>
              <a:t>Shuaibu Muazu </a:t>
            </a:r>
            <a:r>
              <a:rPr dirty="0" sz="3600" lang="en-US">
                <a:latin typeface="Garamond"/>
                <a:ea typeface="Garamond"/>
                <a:cs typeface="Garamond"/>
                <a:sym typeface="Garamond"/>
              </a:rPr>
              <a:t>(2007) 7 NWLR (Pt. 1033) 271.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34" name="Shape 215"/>
        <p:cNvGrpSpPr/>
        <p:nvPr/>
      </p:nvGrpSpPr>
      <p:grpSpPr>
        <a:xfrm>
          <a:off x="0" y="0"/>
          <a:ext cx="0" cy="0"/>
          <a:chOff x="0" y="0"/>
          <a:chExt cx="0" cy="0"/>
        </a:xfrm>
      </p:grpSpPr>
      <p:sp>
        <p:nvSpPr>
          <p:cNvPr id="1048689" name="Shape 216"/>
          <p:cNvSpPr txBox="1">
            <a:spLocks noGrp="1"/>
          </p:cNvSpPr>
          <p:nvPr>
            <p:ph type="title"/>
          </p:nvPr>
        </p:nvSpPr>
        <p:spPr>
          <a:xfrm>
            <a:off x="1981200" y="188912"/>
            <a:ext cx="8229600" cy="1079400"/>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When An Action Is Commenced</a:t>
            </a:r>
          </a:p>
        </p:txBody>
      </p:sp>
      <p:sp>
        <p:nvSpPr>
          <p:cNvPr id="1048690" name="Shape 217"/>
          <p:cNvSpPr txBox="1">
            <a:spLocks noGrp="1"/>
          </p:cNvSpPr>
          <p:nvPr>
            <p:ph idx="1"/>
          </p:nvPr>
        </p:nvSpPr>
        <p:spPr>
          <a:xfrm>
            <a:off x="0" y="1339888"/>
            <a:ext cx="12192000" cy="5518112"/>
          </a:xfrm>
          <a:prstGeom prst="rect"/>
          <a:noFill/>
          <a:ln>
            <a:noFill/>
          </a:ln>
        </p:spPr>
        <p:txBody>
          <a:bodyPr anchor="t" anchorCtr="0" bIns="45700" lIns="91425" rIns="91425" rtlCol="0" tIns="45700" vert="horz">
            <a:noAutofit/>
          </a:bodyPr>
          <a:p>
            <a:pPr indent="-342900" marL="342900">
              <a:lnSpc>
                <a:spcPct val="100000"/>
              </a:lnSpc>
              <a:spcBef>
                <a:spcPts val="0"/>
              </a:spcBef>
              <a:buClr>
                <a:srgbClr val="000000"/>
              </a:buClr>
              <a:buSzPct val="100000"/>
              <a:buFont typeface="Garamond"/>
              <a:buChar char="•"/>
            </a:pPr>
            <a:r>
              <a:rPr dirty="0" sz="3500" lang="en-US">
                <a:solidFill>
                  <a:srgbClr val="000000"/>
                </a:solidFill>
                <a:latin typeface="Garamond"/>
                <a:ea typeface="Garamond"/>
                <a:cs typeface="Garamond"/>
                <a:sym typeface="Garamond"/>
              </a:rPr>
              <a:t>When Claimant has done all that is required as payment of filing fees etc., action is deemed commenced. </a:t>
            </a:r>
            <a:r>
              <a:rPr dirty="0" sz="3500" i="1" lang="en-US">
                <a:solidFill>
                  <a:srgbClr val="000000"/>
                </a:solidFill>
                <a:latin typeface="Garamond"/>
                <a:ea typeface="Garamond"/>
                <a:cs typeface="Garamond"/>
                <a:sym typeface="Garamond"/>
              </a:rPr>
              <a:t>See</a:t>
            </a:r>
            <a:r>
              <a:rPr dirty="0" sz="3500" lang="en-US">
                <a:solidFill>
                  <a:srgbClr val="000000"/>
                </a:solidFill>
                <a:latin typeface="Garamond"/>
                <a:ea typeface="Garamond"/>
                <a:cs typeface="Garamond"/>
                <a:sym typeface="Garamond"/>
              </a:rPr>
              <a:t> </a:t>
            </a:r>
            <a:r>
              <a:rPr dirty="0" sz="3500" i="1" lang="en-US" err="1">
                <a:solidFill>
                  <a:srgbClr val="000000"/>
                </a:solidFill>
                <a:latin typeface="Garamond"/>
                <a:ea typeface="Garamond"/>
                <a:cs typeface="Garamond"/>
                <a:sym typeface="Garamond"/>
              </a:rPr>
              <a:t>Uba</a:t>
            </a:r>
            <a:r>
              <a:rPr dirty="0" sz="3500" i="1" lang="en-US">
                <a:solidFill>
                  <a:srgbClr val="000000"/>
                </a:solidFill>
                <a:latin typeface="Garamond"/>
                <a:ea typeface="Garamond"/>
                <a:cs typeface="Garamond"/>
                <a:sym typeface="Garamond"/>
              </a:rPr>
              <a:t> v Mode </a:t>
            </a:r>
            <a:r>
              <a:rPr dirty="0" sz="3500" i="1" lang="en-US" err="1">
                <a:solidFill>
                  <a:srgbClr val="000000"/>
                </a:solidFill>
                <a:latin typeface="Garamond"/>
                <a:ea typeface="Garamond"/>
                <a:cs typeface="Garamond"/>
                <a:sym typeface="Garamond"/>
              </a:rPr>
              <a:t>Nig</a:t>
            </a:r>
            <a:r>
              <a:rPr dirty="0" sz="3500" i="1" lang="en-US">
                <a:solidFill>
                  <a:srgbClr val="000000"/>
                </a:solidFill>
                <a:latin typeface="Garamond"/>
                <a:ea typeface="Garamond"/>
                <a:cs typeface="Garamond"/>
                <a:sym typeface="Garamond"/>
              </a:rPr>
              <a:t> Ltd (2000) 1 NWLR (Pt. 640) P 270; </a:t>
            </a:r>
            <a:r>
              <a:rPr dirty="0" sz="3500" i="1" lang="en-US" err="1">
                <a:solidFill>
                  <a:srgbClr val="000000"/>
                </a:solidFill>
                <a:latin typeface="Garamond"/>
                <a:ea typeface="Garamond"/>
                <a:cs typeface="Garamond"/>
                <a:sym typeface="Garamond"/>
              </a:rPr>
              <a:t>Alawode</a:t>
            </a:r>
            <a:r>
              <a:rPr dirty="0" sz="3500" i="1" lang="en-US">
                <a:solidFill>
                  <a:srgbClr val="000000"/>
                </a:solidFill>
                <a:latin typeface="Garamond"/>
                <a:ea typeface="Garamond"/>
                <a:cs typeface="Garamond"/>
                <a:sym typeface="Garamond"/>
              </a:rPr>
              <a:t> v </a:t>
            </a:r>
            <a:r>
              <a:rPr dirty="0" sz="3500" i="1" lang="en-US" err="1">
                <a:solidFill>
                  <a:srgbClr val="000000"/>
                </a:solidFill>
                <a:latin typeface="Garamond"/>
                <a:ea typeface="Garamond"/>
                <a:cs typeface="Garamond"/>
                <a:sym typeface="Garamond"/>
              </a:rPr>
              <a:t>Semoh</a:t>
            </a:r>
            <a:r>
              <a:rPr dirty="0" sz="3500" i="1" lang="en-US">
                <a:solidFill>
                  <a:srgbClr val="000000"/>
                </a:solidFill>
                <a:latin typeface="Garamond"/>
                <a:ea typeface="Garamond"/>
                <a:cs typeface="Garamond"/>
                <a:sym typeface="Garamond"/>
              </a:rPr>
              <a:t> Supra</a:t>
            </a:r>
            <a:r>
              <a:rPr dirty="0" sz="3500" lang="en-US">
                <a:solidFill>
                  <a:srgbClr val="000000"/>
                </a:solidFill>
                <a:latin typeface="Garamond"/>
                <a:ea typeface="Garamond"/>
                <a:cs typeface="Garamond"/>
                <a:sym typeface="Garamond"/>
              </a:rPr>
              <a:t>.</a:t>
            </a:r>
          </a:p>
          <a:p>
            <a:pPr indent="-342900" marL="342900">
              <a:lnSpc>
                <a:spcPct val="100000"/>
              </a:lnSpc>
              <a:spcBef>
                <a:spcPts val="700"/>
              </a:spcBef>
              <a:buClr>
                <a:srgbClr val="000000"/>
              </a:buClr>
              <a:buSzPct val="100000"/>
              <a:buFont typeface="Garamond"/>
              <a:buChar char="•"/>
            </a:pPr>
            <a:r>
              <a:rPr dirty="0" sz="3500" lang="en-US">
                <a:solidFill>
                  <a:srgbClr val="000000"/>
                </a:solidFill>
                <a:latin typeface="Garamond"/>
                <a:ea typeface="Garamond"/>
                <a:cs typeface="Garamond"/>
                <a:sym typeface="Garamond"/>
              </a:rPr>
              <a:t>Writ may be issued after action is deemed to have commenced. Time of commencement determines matters such as application of statute of limitation and life span of writ etc.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37" name="Shape 202"/>
        <p:cNvGrpSpPr/>
        <p:nvPr/>
      </p:nvGrpSpPr>
      <p:grpSpPr>
        <a:xfrm>
          <a:off x="0" y="0"/>
          <a:ext cx="0" cy="0"/>
          <a:chOff x="0" y="0"/>
          <a:chExt cx="0" cy="0"/>
        </a:xfrm>
      </p:grpSpPr>
      <p:sp>
        <p:nvSpPr>
          <p:cNvPr id="1048693" name="Shape 203"/>
          <p:cNvSpPr txBox="1">
            <a:spLocks noGrp="1"/>
          </p:cNvSpPr>
          <p:nvPr>
            <p:ph type="title"/>
          </p:nvPr>
        </p:nvSpPr>
        <p:spPr>
          <a:xfrm>
            <a:off x="838200" y="-1"/>
            <a:ext cx="10515600" cy="1268413"/>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
            </a:r>
            <a:br>
              <a:rPr b="1" dirty="0" sz="3600" lang="en-US">
                <a:solidFill>
                  <a:srgbClr val="000000"/>
                </a:solidFill>
                <a:latin typeface="Garamond"/>
                <a:ea typeface="Garamond"/>
                <a:cs typeface="Garamond"/>
                <a:sym typeface="Garamond"/>
              </a:rPr>
            </a:br>
            <a:r>
              <a:rPr b="1" dirty="0" sz="3600" lang="en-US">
                <a:solidFill>
                  <a:srgbClr val="000000"/>
                </a:solidFill>
                <a:latin typeface="Garamond"/>
                <a:ea typeface="Garamond"/>
                <a:cs typeface="Garamond"/>
                <a:sym typeface="Garamond"/>
              </a:rPr>
              <a:t>CONCURRENT WRIT</a:t>
            </a:r>
            <a:r>
              <a:rPr dirty="0" sz="3600" lang="en-US">
                <a:solidFill>
                  <a:srgbClr val="000000"/>
                </a:solidFill>
                <a:latin typeface="Arial"/>
                <a:ea typeface="Arial"/>
                <a:cs typeface="Arial"/>
                <a:sym typeface="Arial"/>
              </a:rPr>
              <a:t>? </a:t>
            </a:r>
            <a:br>
              <a:rPr dirty="0" sz="3600" lang="en-US">
                <a:solidFill>
                  <a:srgbClr val="000000"/>
                </a:solidFill>
                <a:latin typeface="Arial"/>
                <a:ea typeface="Arial"/>
                <a:cs typeface="Arial"/>
                <a:sym typeface="Arial"/>
              </a:rPr>
            </a:br>
            <a:endParaRPr dirty="0" sz="3600" lang="en-US">
              <a:solidFill>
                <a:srgbClr val="000000"/>
              </a:solidFill>
              <a:latin typeface="Arial"/>
              <a:ea typeface="Arial"/>
              <a:cs typeface="Arial"/>
              <a:sym typeface="Arial"/>
            </a:endParaRPr>
          </a:p>
        </p:txBody>
      </p:sp>
      <p:sp>
        <p:nvSpPr>
          <p:cNvPr id="1048694" name="Shape 204"/>
          <p:cNvSpPr txBox="1">
            <a:spLocks noGrp="1"/>
          </p:cNvSpPr>
          <p:nvPr>
            <p:ph idx="1"/>
          </p:nvPr>
        </p:nvSpPr>
        <p:spPr>
          <a:xfrm>
            <a:off x="0" y="1268413"/>
            <a:ext cx="12192000" cy="5589587"/>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dirty="0" sz="3600" lang="en-US">
                <a:solidFill>
                  <a:schemeClr val="dk1"/>
                </a:solidFill>
                <a:latin typeface="Garamond"/>
                <a:ea typeface="Garamond"/>
                <a:cs typeface="Garamond"/>
                <a:sym typeface="Garamond"/>
              </a:rPr>
              <a:t>A Concurrent Writ is a true copy of a Writ taken out either at the point of issuance of the main writ or after, which bears the same date and has the same life span as the main writ. Example is where a concurrent writ for service outside jurisdiction is issued with one for service within jurisdiction. </a:t>
            </a:r>
            <a:r>
              <a:rPr b="1" dirty="0" sz="3600" i="1" lang="en-US">
                <a:solidFill>
                  <a:schemeClr val="dk1"/>
                </a:solidFill>
                <a:latin typeface="Garamond"/>
                <a:ea typeface="Garamond"/>
                <a:cs typeface="Garamond"/>
                <a:sym typeface="Garamond"/>
              </a:rPr>
              <a:t>Or 8 r 9 &amp; 10 Lag; Or 8 r 9 </a:t>
            </a:r>
            <a:r>
              <a:rPr b="1" dirty="0" sz="3600" i="1" lang="en-US" err="1">
                <a:solidFill>
                  <a:schemeClr val="dk1"/>
                </a:solidFill>
                <a:latin typeface="Garamond"/>
                <a:ea typeface="Garamond"/>
                <a:cs typeface="Garamond"/>
                <a:sym typeface="Garamond"/>
              </a:rPr>
              <a:t>Abj</a:t>
            </a:r>
            <a:r>
              <a:rPr dirty="0" sz="3600" i="1" lang="en-US">
                <a:solidFill>
                  <a:schemeClr val="dk1"/>
                </a:solidFill>
                <a:latin typeface="Garamond"/>
                <a:ea typeface="Garamond"/>
                <a:cs typeface="Garamond"/>
                <a:sym typeface="Garamond"/>
              </a:rPr>
              <a:t>.</a:t>
            </a:r>
          </a:p>
          <a:p>
            <a:pPr indent="-342900" marL="342900">
              <a:spcBef>
                <a:spcPts val="720"/>
              </a:spcBef>
              <a:buClr>
                <a:schemeClr val="dk1"/>
              </a:buClr>
              <a:buSzPct val="100000"/>
              <a:buNone/>
            </a:pPr>
            <a:endParaRPr dirty="0" sz="3600" i="1">
              <a:solidFill>
                <a:schemeClr val="dk1"/>
              </a:solidFill>
              <a:latin typeface="Garamond"/>
              <a:ea typeface="Garamond"/>
              <a:cs typeface="Garamond"/>
              <a:sym typeface="Garamon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40" name="Shape 255"/>
        <p:cNvGrpSpPr/>
        <p:nvPr/>
      </p:nvGrpSpPr>
      <p:grpSpPr>
        <a:xfrm>
          <a:off x="0" y="0"/>
          <a:ext cx="0" cy="0"/>
          <a:chOff x="0" y="0"/>
          <a:chExt cx="0" cy="0"/>
        </a:xfrm>
      </p:grpSpPr>
      <p:sp>
        <p:nvSpPr>
          <p:cNvPr id="1048698" name="Shape 256"/>
          <p:cNvSpPr txBox="1">
            <a:spLocks noGrp="1"/>
          </p:cNvSpPr>
          <p:nvPr>
            <p:ph type="title"/>
          </p:nvPr>
        </p:nvSpPr>
        <p:spPr>
          <a:xfrm>
            <a:off x="1262448" y="-305828"/>
            <a:ext cx="9667103" cy="1494549"/>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
            </a:r>
            <a:br>
              <a:rPr b="1" dirty="0" lang="en-US">
                <a:solidFill>
                  <a:schemeClr val="dk2"/>
                </a:solidFill>
                <a:latin typeface="Garamond"/>
                <a:ea typeface="Garamond"/>
                <a:cs typeface="Garamond"/>
                <a:sym typeface="Garamond"/>
              </a:rPr>
            </a:br>
            <a:r>
              <a:rPr b="1" dirty="0" sz="4000" lang="en-US">
                <a:latin typeface="Garamond"/>
                <a:ea typeface="Garamond"/>
                <a:cs typeface="Garamond"/>
                <a:sym typeface="Garamond"/>
              </a:rPr>
              <a:t>SERVICE OF ORIGINATING PROCESS</a:t>
            </a:r>
            <a:endParaRPr b="1" dirty="0" sz="4000" lang="en-US">
              <a:solidFill>
                <a:schemeClr val="dk2"/>
              </a:solidFill>
              <a:latin typeface="Arial"/>
              <a:ea typeface="Arial"/>
              <a:cs typeface="Arial"/>
              <a:sym typeface="Arial"/>
            </a:endParaRPr>
          </a:p>
        </p:txBody>
      </p:sp>
      <p:sp>
        <p:nvSpPr>
          <p:cNvPr id="1048699" name="Shape 257"/>
          <p:cNvSpPr txBox="1">
            <a:spLocks noGrp="1"/>
          </p:cNvSpPr>
          <p:nvPr>
            <p:ph idx="1"/>
          </p:nvPr>
        </p:nvSpPr>
        <p:spPr>
          <a:xfrm>
            <a:off x="0" y="1188721"/>
            <a:ext cx="12192000" cy="5669215"/>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Who Serves? - </a:t>
            </a:r>
            <a:r>
              <a:rPr dirty="0" sz="3200" lang="en-US">
                <a:solidFill>
                  <a:schemeClr val="dk1"/>
                </a:solidFill>
                <a:latin typeface="Garamond"/>
                <a:ea typeface="Garamond"/>
                <a:cs typeface="Garamond"/>
                <a:sym typeface="Garamond"/>
              </a:rPr>
              <a:t>Sheriff, Deputy Sheriff, Bailiff, special marshal, other officer of court, law chambers, courier companies appointed or registered by the CJ or other persons and such person shall be referred to as a process Server. </a:t>
            </a:r>
            <a:r>
              <a:rPr dirty="0" sz="3200" i="1" lang="en-US">
                <a:solidFill>
                  <a:schemeClr val="dk1"/>
                </a:solidFill>
                <a:latin typeface="Garamond"/>
                <a:ea typeface="Garamond"/>
                <a:cs typeface="Garamond"/>
                <a:sym typeface="Garamond"/>
              </a:rPr>
              <a:t>Or.7 r.1(1) </a:t>
            </a:r>
            <a:r>
              <a:rPr dirty="0" sz="3200" i="1" lang="en-US" err="1">
                <a:solidFill>
                  <a:schemeClr val="dk1"/>
                </a:solidFill>
                <a:latin typeface="Garamond"/>
                <a:ea typeface="Garamond"/>
                <a:cs typeface="Garamond"/>
                <a:sym typeface="Garamond"/>
              </a:rPr>
              <a:t>Abj</a:t>
            </a:r>
            <a:r>
              <a:rPr dirty="0" sz="3200" i="1" lang="en-US">
                <a:solidFill>
                  <a:schemeClr val="dk1"/>
                </a:solidFill>
                <a:latin typeface="Garamond"/>
                <a:ea typeface="Garamond"/>
                <a:cs typeface="Garamond"/>
                <a:sym typeface="Garamond"/>
              </a:rPr>
              <a:t>, Or 9 r. 1(1)(2) Lag. </a:t>
            </a:r>
          </a:p>
          <a:p>
            <a:pPr indent="-342900" marL="342900">
              <a:lnSpc>
                <a:spcPct val="100000"/>
              </a:lnSpc>
              <a:spcBef>
                <a:spcPts val="0"/>
              </a:spcBef>
              <a:buClr>
                <a:srgbClr val="000000"/>
              </a:buClr>
              <a:buSzPct val="100000"/>
              <a:buFont typeface="Garamond"/>
              <a:buChar char="•"/>
            </a:pPr>
            <a:r>
              <a:rPr b="1" dirty="0" sz="3200" lang="en-US">
                <a:solidFill>
                  <a:srgbClr val="000000"/>
                </a:solidFill>
                <a:latin typeface="Garamond"/>
                <a:ea typeface="Garamond"/>
                <a:cs typeface="Garamond"/>
                <a:sym typeface="Garamond"/>
              </a:rPr>
              <a:t>Time of Service</a:t>
            </a:r>
            <a:r>
              <a:rPr dirty="0" sz="3200" lang="en-US">
                <a:solidFill>
                  <a:srgbClr val="000000"/>
                </a:solidFill>
                <a:latin typeface="Garamond"/>
                <a:ea typeface="Garamond"/>
                <a:cs typeface="Garamond"/>
                <a:sym typeface="Garamond"/>
              </a:rPr>
              <a:t>.  Between 6am and 6pm. Service after 6pm is deemed served on next day. All days except Sunday and public holiday except in exceptional circumstances. See</a:t>
            </a:r>
            <a:r>
              <a:rPr b="1" dirty="0" sz="3200" i="1" lang="en-US">
                <a:solidFill>
                  <a:srgbClr val="000000"/>
                </a:solidFill>
                <a:latin typeface="Garamond"/>
                <a:ea typeface="Garamond"/>
                <a:cs typeface="Garamond"/>
                <a:sym typeface="Garamond"/>
              </a:rPr>
              <a:t>Or.9 r.15(1)&amp;(2) </a:t>
            </a:r>
            <a:r>
              <a:rPr b="1" dirty="0" sz="3200" i="1" lang="en-US" err="1">
                <a:solidFill>
                  <a:srgbClr val="000000"/>
                </a:solidFill>
                <a:latin typeface="Garamond"/>
                <a:ea typeface="Garamond"/>
                <a:cs typeface="Garamond"/>
                <a:sym typeface="Garamond"/>
              </a:rPr>
              <a:t>Abj</a:t>
            </a:r>
            <a:r>
              <a:rPr b="1" dirty="0" sz="3200" i="1" lang="en-US">
                <a:solidFill>
                  <a:srgbClr val="000000"/>
                </a:solidFill>
                <a:latin typeface="Garamond"/>
                <a:ea typeface="Garamond"/>
                <a:cs typeface="Garamond"/>
                <a:sym typeface="Garamond"/>
              </a:rPr>
              <a:t>, Or 9 r. 14(1)&amp;(2) Lag</a:t>
            </a:r>
            <a:r>
              <a:rPr dirty="0" sz="3200" i="1" lang="en-US">
                <a:solidFill>
                  <a:srgbClr val="000000"/>
                </a:solidFill>
                <a:latin typeface="Garamond"/>
                <a:ea typeface="Garamond"/>
                <a:cs typeface="Garamond"/>
                <a:sym typeface="Garamond"/>
              </a:rPr>
              <a:t>.</a:t>
            </a:r>
          </a:p>
          <a:p>
            <a:pPr indent="-342900" marL="342900">
              <a:lnSpc>
                <a:spcPct val="100000"/>
              </a:lnSpc>
              <a:spcBef>
                <a:spcPts val="0"/>
              </a:spcBef>
              <a:buClr>
                <a:srgbClr val="000000"/>
              </a:buClr>
              <a:buSzPct val="100000"/>
              <a:buFont typeface="Garamond"/>
              <a:buChar char="•"/>
            </a:pPr>
            <a:r>
              <a:rPr dirty="0" sz="3200" lang="en-US">
                <a:solidFill>
                  <a:srgbClr val="000000"/>
                </a:solidFill>
                <a:latin typeface="Garamond"/>
                <a:ea typeface="Garamond"/>
                <a:cs typeface="Garamond"/>
                <a:sym typeface="Garamond"/>
              </a:rPr>
              <a:t>Advance copies of all processes can be sent to the counsel representing a party via email, provided it is not an originating process. </a:t>
            </a:r>
            <a:r>
              <a:rPr b="1" dirty="0" sz="3200" lang="en-US">
                <a:solidFill>
                  <a:srgbClr val="000000"/>
                </a:solidFill>
                <a:latin typeface="Garamond"/>
                <a:ea typeface="Garamond"/>
                <a:cs typeface="Garamond"/>
                <a:sym typeface="Garamond"/>
              </a:rPr>
              <a:t>See Order 9 R 16 of </a:t>
            </a:r>
            <a:r>
              <a:rPr b="1" dirty="0" sz="3200" lang="en-US" err="1">
                <a:solidFill>
                  <a:srgbClr val="000000"/>
                </a:solidFill>
                <a:latin typeface="Garamond"/>
                <a:ea typeface="Garamond"/>
                <a:cs typeface="Garamond"/>
                <a:sym typeface="Garamond"/>
              </a:rPr>
              <a:t>Abj</a:t>
            </a:r>
            <a:endParaRPr b="1" dirty="0" sz="3200" lang="en-US">
              <a:solidFill>
                <a:srgbClr val="000000"/>
              </a:solidFill>
              <a:latin typeface="Garamond"/>
              <a:ea typeface="Garamond"/>
              <a:cs typeface="Garamond"/>
              <a:sym typeface="Garamond"/>
            </a:endParaRPr>
          </a:p>
          <a:p>
            <a:pPr indent="-342900" marL="342900">
              <a:lnSpc>
                <a:spcPct val="100000"/>
              </a:lnSpc>
              <a:spcBef>
                <a:spcPts val="0"/>
              </a:spcBef>
              <a:buClr>
                <a:schemeClr val="dk1"/>
              </a:buClr>
              <a:buSzPct val="100000"/>
              <a:buFont typeface="Garamond"/>
              <a:buChar char="•"/>
            </a:pPr>
            <a:endParaRPr dirty="0" sz="3200" i="1" lang="en-US">
              <a:solidFill>
                <a:schemeClr val="dk1"/>
              </a:solidFill>
              <a:latin typeface="Garamond"/>
              <a:ea typeface="Garamond"/>
              <a:cs typeface="Garamond"/>
              <a:sym typeface="Garamond"/>
            </a:endParaRPr>
          </a:p>
          <a:p>
            <a:pPr indent="-342900" marL="342900">
              <a:spcBef>
                <a:spcPts val="640"/>
              </a:spcBef>
              <a:buClr>
                <a:schemeClr val="dk1"/>
              </a:buClr>
              <a:buSzPct val="100000"/>
              <a:buNone/>
            </a:pPr>
            <a:endParaRPr dirty="0" sz="3200" i="1">
              <a:solidFill>
                <a:schemeClr val="dk1"/>
              </a:solidFill>
              <a:latin typeface="Garamond"/>
              <a:ea typeface="Garamond"/>
              <a:cs typeface="Garamond"/>
              <a:sym typeface="Garamon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43" name="Shape 261"/>
        <p:cNvGrpSpPr/>
        <p:nvPr/>
      </p:nvGrpSpPr>
      <p:grpSpPr>
        <a:xfrm>
          <a:off x="0" y="0"/>
          <a:ext cx="0" cy="0"/>
          <a:chOff x="0" y="0"/>
          <a:chExt cx="0" cy="0"/>
        </a:xfrm>
      </p:grpSpPr>
      <p:sp>
        <p:nvSpPr>
          <p:cNvPr id="1048703" name="Shape 262"/>
          <p:cNvSpPr txBox="1">
            <a:spLocks noGrp="1"/>
          </p:cNvSpPr>
          <p:nvPr>
            <p:ph type="title"/>
          </p:nvPr>
        </p:nvSpPr>
        <p:spPr>
          <a:xfrm>
            <a:off x="838200" y="1"/>
            <a:ext cx="10515600" cy="1109271"/>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Mode of Service </a:t>
            </a:r>
          </a:p>
        </p:txBody>
      </p:sp>
      <p:sp>
        <p:nvSpPr>
          <p:cNvPr id="1048704" name="Shape 263"/>
          <p:cNvSpPr txBox="1">
            <a:spLocks noGrp="1"/>
          </p:cNvSpPr>
          <p:nvPr>
            <p:ph idx="1"/>
          </p:nvPr>
        </p:nvSpPr>
        <p:spPr>
          <a:xfrm>
            <a:off x="0" y="1121629"/>
            <a:ext cx="12192000" cy="5748727"/>
          </a:xfrm>
          <a:prstGeom prst="rect"/>
          <a:noFill/>
          <a:ln>
            <a:noFill/>
          </a:ln>
        </p:spPr>
        <p:txBody>
          <a:bodyPr anchor="t" anchorCtr="0" bIns="45700" lIns="91425" rIns="91425" rtlCol="0" tIns="45700" vert="horz">
            <a:noAutofit/>
          </a:bodyPr>
          <a:p>
            <a:pPr indent="-342900" marL="342900">
              <a:lnSpc>
                <a:spcPct val="100000"/>
              </a:lnSpc>
              <a:spcBef>
                <a:spcPts val="0"/>
              </a:spcBef>
              <a:buClr>
                <a:srgbClr val="000000"/>
              </a:buClr>
              <a:buSzPct val="100000"/>
              <a:buFont typeface="Garamond"/>
              <a:buChar char="•"/>
            </a:pPr>
            <a:r>
              <a:rPr b="1" dirty="0" sz="2800" lang="en-US">
                <a:solidFill>
                  <a:srgbClr val="000000"/>
                </a:solidFill>
                <a:latin typeface="Garamond"/>
                <a:ea typeface="Garamond"/>
                <a:cs typeface="Garamond"/>
                <a:sym typeface="Garamond"/>
              </a:rPr>
              <a:t>Mode of Service</a:t>
            </a:r>
            <a:r>
              <a:rPr dirty="0" sz="2800" lang="en-US">
                <a:solidFill>
                  <a:srgbClr val="000000"/>
                </a:solidFill>
                <a:latin typeface="Garamond"/>
                <a:ea typeface="Garamond"/>
                <a:cs typeface="Garamond"/>
                <a:sym typeface="Garamond"/>
              </a:rPr>
              <a:t>. – Personal Service or Substituted Service. See </a:t>
            </a:r>
            <a:r>
              <a:rPr b="1" dirty="0" sz="2800" i="1" lang="en-US">
                <a:solidFill>
                  <a:srgbClr val="000000"/>
                </a:solidFill>
                <a:latin typeface="Garamond"/>
                <a:ea typeface="Garamond"/>
                <a:cs typeface="Garamond"/>
                <a:sym typeface="Garamond"/>
              </a:rPr>
              <a:t>Or 9 r 1 &amp; 2 </a:t>
            </a:r>
            <a:r>
              <a:rPr b="1" dirty="0" sz="2800" i="1" lang="en-US" err="1">
                <a:solidFill>
                  <a:srgbClr val="000000"/>
                </a:solidFill>
                <a:latin typeface="Garamond"/>
                <a:ea typeface="Garamond"/>
                <a:cs typeface="Garamond"/>
                <a:sym typeface="Garamond"/>
              </a:rPr>
              <a:t>Abj</a:t>
            </a:r>
            <a:r>
              <a:rPr b="1" dirty="0" sz="2800" i="1" lang="en-US">
                <a:solidFill>
                  <a:srgbClr val="000000"/>
                </a:solidFill>
                <a:latin typeface="Garamond"/>
                <a:ea typeface="Garamond"/>
                <a:cs typeface="Garamond"/>
                <a:sym typeface="Garamond"/>
              </a:rPr>
              <a:t>. Or 9 r 1 &amp; 2 Lag</a:t>
            </a:r>
            <a:r>
              <a:rPr dirty="0" sz="2800" i="1" lang="en-US">
                <a:solidFill>
                  <a:srgbClr val="000000"/>
                </a:solidFill>
                <a:latin typeface="Garamond"/>
                <a:ea typeface="Garamond"/>
                <a:cs typeface="Garamond"/>
                <a:sym typeface="Garamond"/>
              </a:rPr>
              <a:t>.</a:t>
            </a:r>
            <a:r>
              <a:rPr b="1" dirty="0" sz="2800" lang="en-US">
                <a:solidFill>
                  <a:srgbClr val="000000"/>
                </a:solidFill>
                <a:latin typeface="Garamond"/>
                <a:ea typeface="Garamond"/>
                <a:cs typeface="Garamond"/>
                <a:sym typeface="Garamond"/>
              </a:rPr>
              <a:t> </a:t>
            </a:r>
          </a:p>
          <a:p>
            <a:pPr indent="-342900" marL="342900">
              <a:lnSpc>
                <a:spcPct val="100000"/>
              </a:lnSpc>
              <a:spcBef>
                <a:spcPts val="720"/>
              </a:spcBef>
              <a:buClr>
                <a:srgbClr val="000000"/>
              </a:buClr>
              <a:buSzPct val="100000"/>
              <a:buFont typeface="Garamond"/>
              <a:buChar char="•"/>
            </a:pPr>
            <a:r>
              <a:rPr dirty="0" sz="2800" lang="en-US">
                <a:solidFill>
                  <a:srgbClr val="000000"/>
                </a:solidFill>
                <a:latin typeface="Garamond"/>
                <a:ea typeface="Garamond"/>
                <a:cs typeface="Garamond"/>
                <a:sym typeface="Garamond"/>
              </a:rPr>
              <a:t>Note how Partners, inmates in detention, persons under legal disability, foreign corporations etc. are served. </a:t>
            </a:r>
            <a:r>
              <a:rPr dirty="0" sz="2800" i="1" lang="en-US">
                <a:solidFill>
                  <a:srgbClr val="000000"/>
                </a:solidFill>
                <a:latin typeface="Garamond"/>
                <a:ea typeface="Garamond"/>
                <a:cs typeface="Garamond"/>
                <a:sym typeface="Garamond"/>
              </a:rPr>
              <a:t>See generally </a:t>
            </a:r>
            <a:r>
              <a:rPr b="1" dirty="0" sz="2800" i="1" lang="en-US">
                <a:solidFill>
                  <a:srgbClr val="000000"/>
                </a:solidFill>
                <a:latin typeface="Garamond"/>
                <a:ea typeface="Garamond"/>
                <a:cs typeface="Garamond"/>
                <a:sym typeface="Garamond"/>
              </a:rPr>
              <a:t>Or. 9 </a:t>
            </a:r>
            <a:r>
              <a:rPr b="1" dirty="0" sz="2800" i="1" lang="en-US" err="1">
                <a:solidFill>
                  <a:srgbClr val="000000"/>
                </a:solidFill>
                <a:latin typeface="Garamond"/>
                <a:ea typeface="Garamond"/>
                <a:cs typeface="Garamond"/>
                <a:sym typeface="Garamond"/>
              </a:rPr>
              <a:t>Abj</a:t>
            </a:r>
            <a:r>
              <a:rPr b="1" dirty="0" sz="2800" i="1" lang="en-US">
                <a:solidFill>
                  <a:srgbClr val="000000"/>
                </a:solidFill>
                <a:latin typeface="Garamond"/>
                <a:ea typeface="Garamond"/>
                <a:cs typeface="Garamond"/>
                <a:sym typeface="Garamond"/>
              </a:rPr>
              <a:t> and Or. 9 lag</a:t>
            </a:r>
            <a:r>
              <a:rPr dirty="0" sz="2800" i="1" lang="en-US">
                <a:solidFill>
                  <a:srgbClr val="000000"/>
                </a:solidFill>
                <a:latin typeface="Garamond"/>
                <a:ea typeface="Garamond"/>
                <a:cs typeface="Garamond"/>
                <a:sym typeface="Garamond"/>
              </a:rPr>
              <a:t>.</a:t>
            </a:r>
          </a:p>
          <a:p>
            <a:pPr indent="0" marL="0">
              <a:lnSpc>
                <a:spcPct val="100000"/>
              </a:lnSpc>
              <a:spcBef>
                <a:spcPts val="720"/>
              </a:spcBef>
              <a:buClr>
                <a:srgbClr val="000000"/>
              </a:buClr>
              <a:buSzPct val="100000"/>
              <a:buNone/>
            </a:pPr>
            <a:endParaRPr dirty="0" sz="3100" lang="en-US">
              <a:latin typeface="Garamond" panose="02020404030301010803" pitchFamily="18" charset="0"/>
            </a:endParaRPr>
          </a:p>
          <a:p>
            <a:pPr indent="-342900" marL="342900">
              <a:lnSpc>
                <a:spcPct val="100000"/>
              </a:lnSpc>
              <a:spcBef>
                <a:spcPts val="720"/>
              </a:spcBef>
              <a:buClr>
                <a:srgbClr val="000000"/>
              </a:buClr>
              <a:buSzPct val="100000"/>
              <a:buFont typeface="Garamond"/>
              <a:buChar char="•"/>
            </a:pPr>
            <a:r>
              <a:rPr dirty="0" sz="3100" lang="en-US">
                <a:latin typeface="Garamond" panose="02020404030301010803" pitchFamily="18" charset="0"/>
              </a:rPr>
              <a:t>Note: Service by Bailiff on a third party who brings to the actual of the party has been to be a proper service. See In </a:t>
            </a:r>
            <a:r>
              <a:rPr b="1" dirty="0" sz="3100" i="1" lang="en-US">
                <a:latin typeface="Garamond" panose="02020404030301010803" pitchFamily="18" charset="0"/>
              </a:rPr>
              <a:t>Akande v Jegede</a:t>
            </a:r>
            <a:r>
              <a:rPr b="1" dirty="0" sz="3100" lang="en-US">
                <a:latin typeface="Garamond" panose="02020404030301010803" pitchFamily="18" charset="0"/>
              </a:rPr>
              <a:t> [2022] 14 NWLR (Pt. 1849) 125</a:t>
            </a:r>
            <a:r>
              <a:rPr dirty="0" sz="3100" lang="en-US">
                <a:latin typeface="Garamond" panose="02020404030301010803" pitchFamily="18" charset="0"/>
              </a:rPr>
              <a:t>, and </a:t>
            </a:r>
            <a:r>
              <a:rPr b="1" dirty="0" sz="3100" i="1" lang="en-US">
                <a:latin typeface="Garamond" panose="02020404030301010803" pitchFamily="18" charset="0"/>
              </a:rPr>
              <a:t>Panache Comm. Ltd. v </a:t>
            </a:r>
            <a:r>
              <a:rPr b="1" dirty="0" sz="3100" i="1" lang="en-US" err="1">
                <a:latin typeface="Garamond" panose="02020404030301010803" pitchFamily="18" charset="0"/>
              </a:rPr>
              <a:t>Aikhomu</a:t>
            </a:r>
            <a:r>
              <a:rPr b="1" dirty="0" sz="3100" i="1" lang="en-US">
                <a:latin typeface="Garamond" panose="02020404030301010803" pitchFamily="18" charset="0"/>
              </a:rPr>
              <a:t> </a:t>
            </a:r>
            <a:r>
              <a:rPr b="1" dirty="0" sz="3100" lang="en-US">
                <a:latin typeface="Garamond" panose="02020404030301010803" pitchFamily="18" charset="0"/>
              </a:rPr>
              <a:t>[1994] 2NWLR (Pt. 327) 420</a:t>
            </a:r>
            <a:endParaRPr b="1" dirty="0" sz="3100" lang="en-GB">
              <a:latin typeface="Garamond" panose="02020404030301010803" pitchFamily="18" charset="0"/>
            </a:endParaRPr>
          </a:p>
          <a:p>
            <a:pPr indent="-342900" marL="342900">
              <a:lnSpc>
                <a:spcPct val="100000"/>
              </a:lnSpc>
              <a:spcBef>
                <a:spcPts val="720"/>
              </a:spcBef>
              <a:buClr>
                <a:srgbClr val="000000"/>
              </a:buClr>
              <a:buSzPct val="100000"/>
              <a:buFont typeface="Garamond"/>
              <a:buChar char="•"/>
            </a:pPr>
            <a:endParaRPr dirty="0" sz="3200" i="1" lang="en-US">
              <a:solidFill>
                <a:srgbClr val="000000"/>
              </a:solidFill>
              <a:latin typeface="Garamond"/>
              <a:ea typeface="Garamond"/>
              <a:cs typeface="Garamond"/>
              <a:sym typeface="Garamond"/>
            </a:endParaRPr>
          </a:p>
          <a:p>
            <a:pPr indent="-342900" marL="342900">
              <a:spcBef>
                <a:spcPts val="640"/>
              </a:spcBef>
              <a:buClr>
                <a:schemeClr val="dk1"/>
              </a:buClr>
              <a:buSzPct val="100000"/>
              <a:buNone/>
            </a:pPr>
            <a:endParaRPr dirty="0" sz="3200">
              <a:solidFill>
                <a:srgbClr val="000000"/>
              </a:solidFill>
              <a:latin typeface="Garamond"/>
              <a:ea typeface="Garamond"/>
              <a:cs typeface="Garamond"/>
              <a:sym typeface="Garamon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46" name="Shape 274"/>
        <p:cNvGrpSpPr/>
        <p:nvPr/>
      </p:nvGrpSpPr>
      <p:grpSpPr>
        <a:xfrm>
          <a:off x="0" y="0"/>
          <a:ext cx="0" cy="0"/>
          <a:chOff x="0" y="0"/>
          <a:chExt cx="0" cy="0"/>
        </a:xfrm>
      </p:grpSpPr>
      <p:sp>
        <p:nvSpPr>
          <p:cNvPr id="1048707" name="Shape 275"/>
          <p:cNvSpPr txBox="1">
            <a:spLocks noGrp="1"/>
          </p:cNvSpPr>
          <p:nvPr>
            <p:ph type="title"/>
          </p:nvPr>
        </p:nvSpPr>
        <p:spPr>
          <a:xfrm>
            <a:off x="1981200" y="0"/>
            <a:ext cx="8229600" cy="1268475"/>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Substituted Service</a:t>
            </a:r>
          </a:p>
        </p:txBody>
      </p:sp>
      <p:sp>
        <p:nvSpPr>
          <p:cNvPr id="1048708" name="Shape 276"/>
          <p:cNvSpPr txBox="1">
            <a:spLocks noGrp="1"/>
          </p:cNvSpPr>
          <p:nvPr>
            <p:ph idx="1"/>
          </p:nvPr>
        </p:nvSpPr>
        <p:spPr>
          <a:xfrm>
            <a:off x="0" y="1557338"/>
            <a:ext cx="12192000" cy="5300662"/>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300" lang="en-US">
                <a:solidFill>
                  <a:schemeClr val="dk1"/>
                </a:solidFill>
                <a:latin typeface="Garamond"/>
                <a:ea typeface="Garamond"/>
                <a:cs typeface="Garamond"/>
                <a:sym typeface="Garamond"/>
              </a:rPr>
              <a:t>Need and Procedure for Substituted Service.</a:t>
            </a:r>
            <a:r>
              <a:rPr dirty="0" sz="3300" lang="en-US">
                <a:solidFill>
                  <a:schemeClr val="dk1"/>
                </a:solidFill>
                <a:latin typeface="Garamond"/>
                <a:ea typeface="Garamond"/>
                <a:cs typeface="Garamond"/>
                <a:sym typeface="Garamond"/>
              </a:rPr>
              <a:t> </a:t>
            </a:r>
            <a:r>
              <a:rPr dirty="0" sz="3300" i="1" lang="en-US">
                <a:solidFill>
                  <a:srgbClr val="000000"/>
                </a:solidFill>
                <a:latin typeface="Garamond"/>
                <a:ea typeface="Garamond"/>
                <a:cs typeface="Garamond"/>
                <a:sym typeface="Garamond"/>
              </a:rPr>
              <a:t>See Or 9 r 5 Lag; Or 9 r. 11Abj.; Mark v Eke (Supra) </a:t>
            </a:r>
          </a:p>
          <a:p>
            <a:pPr indent="-342900" marL="342900">
              <a:lnSpc>
                <a:spcPct val="100000"/>
              </a:lnSpc>
              <a:spcBef>
                <a:spcPts val="660"/>
              </a:spcBef>
              <a:buClr>
                <a:schemeClr val="dk1"/>
              </a:buClr>
              <a:buSzPct val="100000"/>
              <a:buFont typeface="Garamond"/>
              <a:buChar char="•"/>
            </a:pPr>
            <a:r>
              <a:rPr b="1" dirty="0" sz="3300" lang="en-US">
                <a:solidFill>
                  <a:schemeClr val="dk1"/>
                </a:solidFill>
                <a:latin typeface="Garamond"/>
                <a:ea typeface="Garamond"/>
                <a:cs typeface="Garamond"/>
                <a:sym typeface="Garamond"/>
              </a:rPr>
              <a:t>Modes of Substituted Service </a:t>
            </a:r>
            <a:r>
              <a:rPr dirty="0" sz="3300" lang="en-US">
                <a:solidFill>
                  <a:schemeClr val="dk1"/>
                </a:solidFill>
                <a:latin typeface="Garamond"/>
                <a:ea typeface="Garamond"/>
                <a:cs typeface="Garamond"/>
                <a:sym typeface="Garamond"/>
              </a:rPr>
              <a:t>– listed by the Abuja rules only to include delivery to adult inmate in last abode of defendant, advertisement in gazette or newspaper, posting at Court House or by Email or scientific device, courier, etc. </a:t>
            </a:r>
            <a:r>
              <a:rPr dirty="0" sz="3300" i="1" lang="en-US">
                <a:solidFill>
                  <a:schemeClr val="dk1"/>
                </a:solidFill>
                <a:latin typeface="Garamond"/>
                <a:ea typeface="Garamond"/>
                <a:cs typeface="Garamond"/>
                <a:sym typeface="Garamond"/>
              </a:rPr>
              <a:t>Or. 9 r. 11(2) </a:t>
            </a:r>
            <a:r>
              <a:rPr dirty="0" sz="3300" i="1" lang="en-US" err="1">
                <a:solidFill>
                  <a:schemeClr val="dk1"/>
                </a:solidFill>
                <a:latin typeface="Garamond"/>
                <a:ea typeface="Garamond"/>
                <a:cs typeface="Garamond"/>
                <a:sym typeface="Garamond"/>
              </a:rPr>
              <a:t>Abj</a:t>
            </a:r>
            <a:r>
              <a:rPr dirty="0" sz="3300" i="1" lang="en-US">
                <a:solidFill>
                  <a:schemeClr val="dk1"/>
                </a:solidFill>
                <a:latin typeface="Garamond"/>
                <a:ea typeface="Garamond"/>
                <a:cs typeface="Garamond"/>
                <a:sym typeface="Garamond"/>
              </a:rPr>
              <a:t>.  </a:t>
            </a:r>
          </a:p>
          <a:p>
            <a:pPr indent="-342900" marL="342900">
              <a:lnSpc>
                <a:spcPct val="100000"/>
              </a:lnSpc>
              <a:spcBef>
                <a:spcPts val="660"/>
              </a:spcBef>
              <a:buClr>
                <a:schemeClr val="dk1"/>
              </a:buClr>
              <a:buSzPct val="100000"/>
              <a:buFont typeface="Garamond"/>
              <a:buChar char="•"/>
            </a:pPr>
            <a:r>
              <a:rPr b="1" dirty="0" sz="3300" lang="en-US">
                <a:solidFill>
                  <a:srgbClr val="000000"/>
                </a:solidFill>
                <a:latin typeface="Garamond"/>
                <a:ea typeface="Garamond"/>
                <a:cs typeface="Garamond"/>
                <a:sym typeface="Garamond"/>
              </a:rPr>
              <a:t>Procedure</a:t>
            </a:r>
            <a:r>
              <a:rPr dirty="0" sz="3300" lang="en-US">
                <a:solidFill>
                  <a:srgbClr val="000000"/>
                </a:solidFill>
                <a:latin typeface="Garamond"/>
                <a:ea typeface="Garamond"/>
                <a:cs typeface="Garamond"/>
                <a:sym typeface="Garamond"/>
              </a:rPr>
              <a:t>: Application by motion </a:t>
            </a:r>
            <a:r>
              <a:rPr dirty="0" sz="3300" i="1" lang="en-US">
                <a:solidFill>
                  <a:srgbClr val="000000"/>
                </a:solidFill>
                <a:latin typeface="Garamond"/>
                <a:ea typeface="Garamond"/>
                <a:cs typeface="Garamond"/>
                <a:sym typeface="Garamond"/>
              </a:rPr>
              <a:t>ex </a:t>
            </a:r>
            <a:r>
              <a:rPr dirty="0" sz="3300" i="1" lang="en-US" err="1">
                <a:solidFill>
                  <a:srgbClr val="000000"/>
                </a:solidFill>
                <a:latin typeface="Garamond"/>
                <a:ea typeface="Garamond"/>
                <a:cs typeface="Garamond"/>
                <a:sym typeface="Garamond"/>
              </a:rPr>
              <a:t>parte</a:t>
            </a:r>
            <a:r>
              <a:rPr dirty="0" sz="3300" i="1" lang="en-US">
                <a:solidFill>
                  <a:srgbClr val="000000"/>
                </a:solidFill>
                <a:latin typeface="Garamond"/>
                <a:ea typeface="Garamond"/>
                <a:cs typeface="Garamond"/>
                <a:sym typeface="Garamond"/>
              </a:rPr>
              <a:t>, </a:t>
            </a:r>
            <a:r>
              <a:rPr dirty="0" sz="3300" lang="en-US">
                <a:solidFill>
                  <a:srgbClr val="000000"/>
                </a:solidFill>
                <a:latin typeface="Garamond"/>
                <a:ea typeface="Garamond"/>
                <a:cs typeface="Garamond"/>
                <a:sym typeface="Garamond"/>
              </a:rPr>
              <a:t>supported by an</a:t>
            </a:r>
            <a:r>
              <a:rPr dirty="0" sz="3300" i="1" lang="en-US">
                <a:solidFill>
                  <a:srgbClr val="000000"/>
                </a:solidFill>
                <a:latin typeface="Garamond"/>
                <a:ea typeface="Garamond"/>
                <a:cs typeface="Garamond"/>
                <a:sym typeface="Garamond"/>
              </a:rPr>
              <a:t> </a:t>
            </a:r>
            <a:r>
              <a:rPr dirty="0" sz="3300" lang="en-US">
                <a:solidFill>
                  <a:srgbClr val="000000"/>
                </a:solidFill>
                <a:latin typeface="Garamond"/>
                <a:ea typeface="Garamond"/>
                <a:cs typeface="Garamond"/>
                <a:sym typeface="Garamond"/>
              </a:rPr>
              <a:t>affidavit and a written address</a:t>
            </a:r>
          </a:p>
          <a:p>
            <a:pPr indent="0" marL="0">
              <a:lnSpc>
                <a:spcPct val="100000"/>
              </a:lnSpc>
              <a:spcBef>
                <a:spcPts val="660"/>
              </a:spcBef>
              <a:buClr>
                <a:schemeClr val="dk1"/>
              </a:buClr>
              <a:buSzPct val="100000"/>
              <a:buNone/>
            </a:pPr>
            <a:endParaRPr dirty="0" sz="3300" i="1" lang="en-US">
              <a:solidFill>
                <a:schemeClr val="dk1"/>
              </a:solidFill>
              <a:latin typeface="Garamond"/>
              <a:ea typeface="Garamond"/>
              <a:cs typeface="Garamond"/>
              <a:sym typeface="Garamond"/>
            </a:endParaRPr>
          </a:p>
          <a:p>
            <a:pPr indent="-342900" marL="342900">
              <a:spcBef>
                <a:spcPts val="720"/>
              </a:spcBef>
              <a:buClr>
                <a:schemeClr val="dk1"/>
              </a:buClr>
              <a:buSzPct val="100000"/>
              <a:buNone/>
            </a:pPr>
            <a:endParaRPr dirty="0" sz="3600" i="1">
              <a:solidFill>
                <a:srgbClr val="000000"/>
              </a:solidFill>
              <a:latin typeface="Garamond"/>
              <a:ea typeface="Garamond"/>
              <a:cs typeface="Garamond"/>
              <a:sym typeface="Garamon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49" name="Shape 286"/>
        <p:cNvGrpSpPr/>
        <p:nvPr/>
      </p:nvGrpSpPr>
      <p:grpSpPr>
        <a:xfrm>
          <a:off x="0" y="0"/>
          <a:ext cx="0" cy="0"/>
          <a:chOff x="0" y="0"/>
          <a:chExt cx="0" cy="0"/>
        </a:xfrm>
      </p:grpSpPr>
      <p:sp>
        <p:nvSpPr>
          <p:cNvPr id="1048712" name="Shape 287"/>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Service on a Company  &amp; Threatened violence</a:t>
            </a:r>
          </a:p>
        </p:txBody>
      </p:sp>
      <p:sp>
        <p:nvSpPr>
          <p:cNvPr id="1048713" name="Shape 288"/>
          <p:cNvSpPr txBox="1">
            <a:spLocks noGrp="1"/>
          </p:cNvSpPr>
          <p:nvPr>
            <p:ph idx="1"/>
          </p:nvPr>
        </p:nvSpPr>
        <p:spPr>
          <a:xfrm>
            <a:off x="0" y="1932600"/>
            <a:ext cx="12192000" cy="4897500"/>
          </a:xfrm>
          <a:prstGeom prst="rect"/>
          <a:noFill/>
          <a:ln>
            <a:noFill/>
          </a:ln>
        </p:spPr>
        <p:txBody>
          <a:bodyPr anchor="t" anchorCtr="0" bIns="45700" lIns="91425" rIns="91425" rtlCol="0" tIns="45700" vert="horz">
            <a:noAutofit/>
          </a:bodyPr>
          <a:p>
            <a:pPr indent="-342900" marL="342900">
              <a:lnSpc>
                <a:spcPct val="100000"/>
              </a:lnSpc>
              <a:spcBef>
                <a:spcPts val="0"/>
              </a:spcBef>
              <a:buClr>
                <a:srgbClr val="000000"/>
              </a:buClr>
              <a:buSzPct val="100000"/>
              <a:buFont typeface="Garamond"/>
              <a:buChar char="•"/>
            </a:pPr>
            <a:r>
              <a:rPr b="1" dirty="0" sz="3300" lang="en-US">
                <a:solidFill>
                  <a:srgbClr val="000000"/>
                </a:solidFill>
                <a:latin typeface="Garamond"/>
                <a:ea typeface="Garamond"/>
                <a:cs typeface="Garamond"/>
                <a:sym typeface="Garamond"/>
              </a:rPr>
              <a:t>Service on a Company? – </a:t>
            </a:r>
            <a:r>
              <a:rPr dirty="0" sz="3300" lang="en-US">
                <a:solidFill>
                  <a:srgbClr val="000000"/>
                </a:solidFill>
                <a:latin typeface="Garamond"/>
                <a:ea typeface="Garamond"/>
                <a:cs typeface="Garamond"/>
                <a:sym typeface="Garamond"/>
              </a:rPr>
              <a:t>In</a:t>
            </a:r>
            <a:r>
              <a:rPr b="1" dirty="0" sz="3300" lang="en-US">
                <a:solidFill>
                  <a:srgbClr val="000000"/>
                </a:solidFill>
                <a:latin typeface="Garamond"/>
                <a:ea typeface="Garamond"/>
                <a:cs typeface="Garamond"/>
                <a:sym typeface="Garamond"/>
              </a:rPr>
              <a:t> </a:t>
            </a:r>
            <a:r>
              <a:rPr dirty="0" sz="3300" lang="en-US">
                <a:solidFill>
                  <a:srgbClr val="000000"/>
                </a:solidFill>
                <a:latin typeface="Garamond"/>
                <a:ea typeface="Garamond"/>
                <a:cs typeface="Garamond"/>
                <a:sym typeface="Garamond"/>
              </a:rPr>
              <a:t>Abuja, </a:t>
            </a:r>
            <a:r>
              <a:rPr dirty="0" sz="3300" lang="en-US">
                <a:latin typeface="Garamond"/>
                <a:ea typeface="Garamond"/>
                <a:cs typeface="Garamond"/>
                <a:sym typeface="Garamond"/>
              </a:rPr>
              <a:t>serving the process on any officer or employee at the head office or other place of business within jurisdiction. In Lagos, by delivery to director, secretary, trustee or senior or principal officer or by leaving at principal, registered or advertised office or place of business  See </a:t>
            </a:r>
            <a:r>
              <a:rPr dirty="0" sz="3300" i="1" lang="en-US" smtClean="0">
                <a:latin typeface="Garamond"/>
                <a:ea typeface="Garamond"/>
                <a:cs typeface="Garamond"/>
                <a:sym typeface="Garamond"/>
              </a:rPr>
              <a:t>s.104 </a:t>
            </a:r>
            <a:r>
              <a:rPr dirty="0" sz="3300" i="1" lang="en-US">
                <a:latin typeface="Garamond"/>
                <a:ea typeface="Garamond"/>
                <a:cs typeface="Garamond"/>
                <a:sym typeface="Garamond"/>
              </a:rPr>
              <a:t>CAMA, Or 9 r 9 Lag; Or 9r 8 </a:t>
            </a:r>
            <a:r>
              <a:rPr dirty="0" sz="3300" i="1" lang="en-US" err="1">
                <a:latin typeface="Garamond"/>
                <a:ea typeface="Garamond"/>
                <a:cs typeface="Garamond"/>
                <a:sym typeface="Garamond"/>
              </a:rPr>
              <a:t>Abj</a:t>
            </a:r>
            <a:r>
              <a:rPr dirty="0" sz="3300" i="1" lang="en-US">
                <a:latin typeface="Garamond"/>
                <a:ea typeface="Garamond"/>
                <a:cs typeface="Garamond"/>
                <a:sym typeface="Garamond"/>
              </a:rPr>
              <a:t>.; Mark v Eke (2004) 1 SC (Pt. II) 1 at 19.</a:t>
            </a:r>
          </a:p>
          <a:p>
            <a:pPr indent="-342900" marL="342900">
              <a:lnSpc>
                <a:spcPct val="100000"/>
              </a:lnSpc>
              <a:spcBef>
                <a:spcPts val="0"/>
              </a:spcBef>
              <a:buClr>
                <a:srgbClr val="000000"/>
              </a:buClr>
              <a:buSzPct val="100000"/>
              <a:buFont typeface="Garamond"/>
              <a:buChar char="•"/>
            </a:pPr>
            <a:endParaRPr b="1" dirty="0" sz="3300" lang="en-US">
              <a:solidFill>
                <a:srgbClr val="000000"/>
              </a:solidFill>
              <a:latin typeface="Garamond"/>
              <a:ea typeface="Garamond"/>
              <a:cs typeface="Garamond"/>
              <a:sym typeface="Garamond"/>
            </a:endParaRPr>
          </a:p>
          <a:p>
            <a:pPr indent="-342900" marL="342900">
              <a:lnSpc>
                <a:spcPct val="100000"/>
              </a:lnSpc>
              <a:spcBef>
                <a:spcPts val="0"/>
              </a:spcBef>
              <a:buClr>
                <a:srgbClr val="000000"/>
              </a:buClr>
              <a:buSzPct val="100000"/>
              <a:buFont typeface="Garamond"/>
              <a:buChar char="•"/>
            </a:pPr>
            <a:r>
              <a:rPr b="1" dirty="0" sz="3300" lang="en-US">
                <a:solidFill>
                  <a:srgbClr val="000000"/>
                </a:solidFill>
                <a:latin typeface="Garamond"/>
                <a:ea typeface="Garamond"/>
                <a:cs typeface="Garamond"/>
                <a:sym typeface="Garamond"/>
              </a:rPr>
              <a:t>Where Violence is Threatened. – </a:t>
            </a:r>
            <a:r>
              <a:rPr dirty="0" sz="3300" lang="en-US">
                <a:solidFill>
                  <a:srgbClr val="000000"/>
                </a:solidFill>
                <a:latin typeface="Garamond"/>
                <a:ea typeface="Garamond"/>
                <a:cs typeface="Garamond"/>
                <a:sym typeface="Garamond"/>
              </a:rPr>
              <a:t>Leave within reach</a:t>
            </a:r>
            <a:r>
              <a:rPr b="1" dirty="0" sz="3300" lang="en-US">
                <a:solidFill>
                  <a:srgbClr val="000000"/>
                </a:solidFill>
                <a:latin typeface="Garamond"/>
                <a:ea typeface="Garamond"/>
                <a:cs typeface="Garamond"/>
                <a:sym typeface="Garamond"/>
              </a:rPr>
              <a:t>. </a:t>
            </a:r>
            <a:r>
              <a:rPr dirty="0" sz="3300" i="1" lang="en-US">
                <a:solidFill>
                  <a:srgbClr val="000000"/>
                </a:solidFill>
                <a:latin typeface="Garamond"/>
                <a:ea typeface="Garamond"/>
                <a:cs typeface="Garamond"/>
                <a:sym typeface="Garamond"/>
              </a:rPr>
              <a:t>Or. 9 r. 12 Lag. &amp; Or. 9 r. 12</a:t>
            </a:r>
          </a:p>
          <a:p>
            <a:pPr indent="0" marL="0">
              <a:lnSpc>
                <a:spcPct val="100000"/>
              </a:lnSpc>
              <a:spcBef>
                <a:spcPts val="0"/>
              </a:spcBef>
              <a:buClr>
                <a:srgbClr val="000000"/>
              </a:buClr>
              <a:buSzPct val="100000"/>
              <a:buNone/>
            </a:pPr>
            <a:endParaRPr dirty="0" sz="3300" i="1" lang="en-US">
              <a:solidFill>
                <a:srgbClr val="000000"/>
              </a:solidFill>
              <a:latin typeface="Garamond"/>
              <a:ea typeface="Garamond"/>
              <a:cs typeface="Garamond"/>
              <a:sym typeface="Garamond"/>
            </a:endParaRPr>
          </a:p>
          <a:p>
            <a:pPr indent="-342900" marL="342900">
              <a:spcBef>
                <a:spcPts val="660"/>
              </a:spcBef>
              <a:buClr>
                <a:schemeClr val="dk1"/>
              </a:buClr>
              <a:buSzPct val="100000"/>
              <a:buNone/>
            </a:pPr>
            <a:endParaRPr dirty="0" sz="3300" i="1">
              <a:solidFill>
                <a:srgbClr val="000000"/>
              </a:solidFill>
              <a:latin typeface="Garamond"/>
              <a:ea typeface="Garamond"/>
              <a:cs typeface="Garamond"/>
              <a:sym typeface="Garamon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52" name="Shape 299"/>
        <p:cNvGrpSpPr/>
        <p:nvPr/>
      </p:nvGrpSpPr>
      <p:grpSpPr>
        <a:xfrm>
          <a:off x="0" y="0"/>
          <a:ext cx="0" cy="0"/>
          <a:chOff x="0" y="0"/>
          <a:chExt cx="0" cy="0"/>
        </a:xfrm>
      </p:grpSpPr>
      <p:sp>
        <p:nvSpPr>
          <p:cNvPr id="1048716" name="Shape 300"/>
          <p:cNvSpPr txBox="1">
            <a:spLocks noGrp="1"/>
          </p:cNvSpPr>
          <p:nvPr>
            <p:ph type="title"/>
          </p:nvPr>
        </p:nvSpPr>
        <p:spPr>
          <a:xfrm>
            <a:off x="1981200" y="188911"/>
            <a:ext cx="8229600" cy="1295400"/>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Service out of Jurisdiction within Nigeria</a:t>
            </a:r>
            <a:endParaRPr dirty="0" sz="3200" lang="en-US">
              <a:solidFill>
                <a:srgbClr val="000000"/>
              </a:solidFill>
              <a:latin typeface="Garamond"/>
              <a:ea typeface="Garamond"/>
              <a:cs typeface="Garamond"/>
              <a:sym typeface="Garamond"/>
            </a:endParaRPr>
          </a:p>
        </p:txBody>
      </p:sp>
      <p:sp>
        <p:nvSpPr>
          <p:cNvPr id="1048717" name="Shape 301"/>
          <p:cNvSpPr txBox="1">
            <a:spLocks noGrp="1"/>
          </p:cNvSpPr>
          <p:nvPr>
            <p:ph idx="1"/>
          </p:nvPr>
        </p:nvSpPr>
        <p:spPr>
          <a:xfrm>
            <a:off x="0" y="1484313"/>
            <a:ext cx="12192000" cy="5373687"/>
          </a:xfrm>
          <a:prstGeom prst="rect"/>
          <a:noFill/>
          <a:ln>
            <a:noFill/>
          </a:ln>
        </p:spPr>
        <p:txBody>
          <a:bodyPr anchor="t" anchorCtr="0" bIns="45700" lIns="91425" rIns="91425" rtlCol="0" tIns="45700" vert="horz">
            <a:noAutofit/>
          </a:bodyPr>
          <a:p>
            <a:pPr indent="-342900" marL="342900">
              <a:lnSpc>
                <a:spcPct val="8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No leave required</a:t>
            </a:r>
            <a:r>
              <a:rPr dirty="0" sz="3200" lang="en-US">
                <a:solidFill>
                  <a:schemeClr val="dk1"/>
                </a:solidFill>
                <a:latin typeface="Garamond"/>
                <a:ea typeface="Garamond"/>
                <a:cs typeface="Garamond"/>
                <a:sym typeface="Garamond"/>
              </a:rPr>
              <a:t>. These 2 conditions must however be satisfied.</a:t>
            </a:r>
          </a:p>
          <a:p>
            <a:pPr indent="0" marL="0">
              <a:lnSpc>
                <a:spcPct val="80000"/>
              </a:lnSpc>
              <a:spcBef>
                <a:spcPts val="640"/>
              </a:spcBef>
              <a:buClr>
                <a:schemeClr val="dk1"/>
              </a:buClr>
              <a:buSzPct val="100000"/>
              <a:buNone/>
            </a:pPr>
            <a:endParaRPr dirty="0" sz="1100" lang="en-US">
              <a:solidFill>
                <a:schemeClr val="dk1"/>
              </a:solidFill>
              <a:latin typeface="Garamond"/>
              <a:ea typeface="Garamond"/>
              <a:cs typeface="Garamond"/>
              <a:sym typeface="Garamond"/>
            </a:endParaRPr>
          </a:p>
          <a:p>
            <a:pPr indent="-342900" marL="342900">
              <a:lnSpc>
                <a:spcPct val="80000"/>
              </a:lnSpc>
              <a:spcBef>
                <a:spcPts val="640"/>
              </a:spcBef>
              <a:buClr>
                <a:schemeClr val="dk1"/>
              </a:buClr>
              <a:buSzPct val="100000"/>
              <a:buFont typeface="Arial"/>
              <a:buAutoNum type="alphaLcParenR"/>
            </a:pPr>
            <a:r>
              <a:rPr dirty="0" sz="3200" lang="en-US">
                <a:solidFill>
                  <a:schemeClr val="dk1"/>
                </a:solidFill>
                <a:latin typeface="Garamond"/>
                <a:ea typeface="Garamond"/>
                <a:cs typeface="Garamond"/>
                <a:sym typeface="Garamond"/>
              </a:rPr>
              <a:t>Time to enter appearance must not be less than 30 days where the rules prescribe less. Hence it will be 30 in Abuja which prescribes </a:t>
            </a:r>
            <a:r>
              <a:rPr dirty="0" sz="3200" lang="en-US">
                <a:latin typeface="Garamond"/>
                <a:ea typeface="Garamond"/>
                <a:cs typeface="Garamond"/>
                <a:sym typeface="Garamond"/>
              </a:rPr>
              <a:t>21 days </a:t>
            </a:r>
            <a:r>
              <a:rPr dirty="0" sz="3200" lang="en-US">
                <a:solidFill>
                  <a:schemeClr val="dk1"/>
                </a:solidFill>
                <a:latin typeface="Garamond"/>
                <a:ea typeface="Garamond"/>
                <a:cs typeface="Garamond"/>
                <a:sym typeface="Garamond"/>
              </a:rPr>
              <a:t>and 42 days in Lagos since the rules prescribe 42, which is above 30 days. </a:t>
            </a:r>
            <a:r>
              <a:rPr b="1" dirty="0" sz="3200" i="1" lang="en-US">
                <a:solidFill>
                  <a:srgbClr val="000000"/>
                </a:solidFill>
                <a:latin typeface="Garamond"/>
                <a:ea typeface="Garamond"/>
                <a:cs typeface="Garamond"/>
                <a:sym typeface="Garamond"/>
              </a:rPr>
              <a:t>See 97 – 99 Sheriff &amp; Civil Process Act; See also Nwabueze v Okoye (1988) 4 NWLR (Pt 91)664; Adegoke Motors v </a:t>
            </a:r>
            <a:r>
              <a:rPr b="1" dirty="0" sz="3200" i="1" lang="en-US" err="1">
                <a:solidFill>
                  <a:srgbClr val="000000"/>
                </a:solidFill>
                <a:latin typeface="Garamond"/>
                <a:ea typeface="Garamond"/>
                <a:cs typeface="Garamond"/>
                <a:sym typeface="Garamond"/>
              </a:rPr>
              <a:t>Adesnya</a:t>
            </a:r>
            <a:r>
              <a:rPr b="1" dirty="0" sz="3200" i="1" lang="en-US">
                <a:solidFill>
                  <a:srgbClr val="000000"/>
                </a:solidFill>
                <a:latin typeface="Garamond"/>
                <a:ea typeface="Garamond"/>
                <a:cs typeface="Garamond"/>
                <a:sym typeface="Garamond"/>
              </a:rPr>
              <a:t> (1989) 3 NWLR (Pt 109) P 205; </a:t>
            </a:r>
            <a:r>
              <a:rPr b="1" dirty="0" sz="3200" i="1" lang="en-US" err="1">
                <a:solidFill>
                  <a:srgbClr val="000000"/>
                </a:solidFill>
                <a:latin typeface="Garamond"/>
                <a:ea typeface="Garamond"/>
                <a:cs typeface="Garamond"/>
                <a:sym typeface="Garamond"/>
              </a:rPr>
              <a:t>Odua</a:t>
            </a:r>
            <a:r>
              <a:rPr b="1" dirty="0" sz="3200" i="1" lang="en-US">
                <a:solidFill>
                  <a:srgbClr val="000000"/>
                </a:solidFill>
                <a:latin typeface="Garamond"/>
                <a:ea typeface="Garamond"/>
                <a:cs typeface="Garamond"/>
                <a:sym typeface="Garamond"/>
              </a:rPr>
              <a:t> </a:t>
            </a:r>
            <a:r>
              <a:rPr b="1" dirty="0" sz="3200" i="1" lang="en-US" err="1">
                <a:solidFill>
                  <a:srgbClr val="000000"/>
                </a:solidFill>
                <a:latin typeface="Garamond"/>
                <a:ea typeface="Garamond"/>
                <a:cs typeface="Garamond"/>
                <a:sym typeface="Garamond"/>
              </a:rPr>
              <a:t>Invst</a:t>
            </a:r>
            <a:r>
              <a:rPr b="1" dirty="0" sz="3200" i="1" lang="en-US">
                <a:solidFill>
                  <a:srgbClr val="000000"/>
                </a:solidFill>
                <a:latin typeface="Garamond"/>
                <a:ea typeface="Garamond"/>
                <a:cs typeface="Garamond"/>
                <a:sym typeface="Garamond"/>
              </a:rPr>
              <a:t> v Talabi (1997) 10 NWLR (Pt. 523) P1. </a:t>
            </a:r>
          </a:p>
          <a:p>
            <a:pPr indent="-342900" marL="342900">
              <a:lnSpc>
                <a:spcPct val="80000"/>
              </a:lnSpc>
              <a:spcBef>
                <a:spcPts val="640"/>
              </a:spcBef>
              <a:buClr>
                <a:schemeClr val="dk1"/>
              </a:buClr>
              <a:buSzPct val="100000"/>
              <a:buFont typeface="Arial"/>
              <a:buAutoNum type="alphaLcParenR"/>
            </a:pPr>
            <a:r>
              <a:rPr dirty="0" sz="3200" lang="en-US">
                <a:solidFill>
                  <a:srgbClr val="000000"/>
                </a:solidFill>
                <a:latin typeface="Garamond"/>
                <a:ea typeface="Garamond"/>
                <a:cs typeface="Garamond"/>
                <a:sym typeface="Garamond"/>
              </a:rPr>
              <a:t>Endorsement that writ is for service out of the  state and in another. </a:t>
            </a:r>
            <a:r>
              <a:rPr b="1" dirty="0" sz="3200" i="1" lang="en-US">
                <a:solidFill>
                  <a:srgbClr val="000000"/>
                </a:solidFill>
                <a:latin typeface="Garamond"/>
                <a:ea typeface="Garamond"/>
                <a:cs typeface="Garamond"/>
                <a:sym typeface="Garamond"/>
              </a:rPr>
              <a:t>See 97 – 99 Sheriff &amp; Civil Process Act; See Also Nwabueze v Okoye (1988) 4 NWLR (Pt 91)664; Adegoke Motors v </a:t>
            </a:r>
            <a:r>
              <a:rPr b="1" dirty="0" sz="3200" i="1" lang="en-US" err="1">
                <a:solidFill>
                  <a:srgbClr val="000000"/>
                </a:solidFill>
                <a:latin typeface="Garamond"/>
                <a:ea typeface="Garamond"/>
                <a:cs typeface="Garamond"/>
                <a:sym typeface="Garamond"/>
              </a:rPr>
              <a:t>Adesnya</a:t>
            </a:r>
            <a:r>
              <a:rPr b="1" dirty="0" sz="3200" i="1" lang="en-US">
                <a:solidFill>
                  <a:srgbClr val="000000"/>
                </a:solidFill>
                <a:latin typeface="Garamond"/>
                <a:ea typeface="Garamond"/>
                <a:cs typeface="Garamond"/>
                <a:sym typeface="Garamond"/>
              </a:rPr>
              <a:t> (1989) 3 NWLR (Pt 109) P 205; </a:t>
            </a:r>
            <a:r>
              <a:rPr b="1" dirty="0" sz="3200" i="1" lang="en-US" err="1">
                <a:solidFill>
                  <a:srgbClr val="000000"/>
                </a:solidFill>
                <a:latin typeface="Garamond"/>
                <a:ea typeface="Garamond"/>
                <a:cs typeface="Garamond"/>
                <a:sym typeface="Garamond"/>
              </a:rPr>
              <a:t>Odua</a:t>
            </a:r>
            <a:r>
              <a:rPr b="1" dirty="0" sz="3200" i="1" lang="en-US">
                <a:solidFill>
                  <a:srgbClr val="000000"/>
                </a:solidFill>
                <a:latin typeface="Garamond"/>
                <a:ea typeface="Garamond"/>
                <a:cs typeface="Garamond"/>
                <a:sym typeface="Garamond"/>
              </a:rPr>
              <a:t> </a:t>
            </a:r>
            <a:r>
              <a:rPr b="1" dirty="0" sz="3200" i="1" lang="en-US" err="1">
                <a:solidFill>
                  <a:srgbClr val="000000"/>
                </a:solidFill>
                <a:latin typeface="Garamond"/>
                <a:ea typeface="Garamond"/>
                <a:cs typeface="Garamond"/>
                <a:sym typeface="Garamond"/>
              </a:rPr>
              <a:t>Invst</a:t>
            </a:r>
            <a:r>
              <a:rPr b="1" dirty="0" sz="3200" i="1" lang="en-US">
                <a:solidFill>
                  <a:srgbClr val="000000"/>
                </a:solidFill>
                <a:latin typeface="Garamond"/>
                <a:ea typeface="Garamond"/>
                <a:cs typeface="Garamond"/>
                <a:sym typeface="Garamond"/>
              </a:rPr>
              <a:t> v Talabi (1997) 10 NWLR (Pt 523) P1</a:t>
            </a:r>
            <a:r>
              <a:rPr dirty="0" sz="3200" i="1" lang="en-US">
                <a:solidFill>
                  <a:srgbClr val="000000"/>
                </a:solidFill>
                <a:latin typeface="Garamond"/>
                <a:ea typeface="Garamond"/>
                <a:cs typeface="Garamond"/>
                <a:sym typeface="Garamond"/>
              </a:rPr>
              <a:t>.</a:t>
            </a:r>
            <a:endParaRPr b="1" dirty="0" sz="3200" i="1" lang="en-US">
              <a:solidFill>
                <a:srgbClr val="000000"/>
              </a:solidFill>
              <a:latin typeface="Garamond"/>
              <a:ea typeface="Garamond"/>
              <a:cs typeface="Garamond"/>
              <a:sym typeface="Garamond"/>
            </a:endParaRPr>
          </a:p>
          <a:p>
            <a:pPr indent="-342900" marL="342900">
              <a:spcBef>
                <a:spcPts val="640"/>
              </a:spcBef>
              <a:buClr>
                <a:schemeClr val="dk1"/>
              </a:buClr>
              <a:buSzPct val="100000"/>
              <a:buNone/>
            </a:pPr>
            <a:endParaRPr dirty="0" sz="3200" i="1">
              <a:solidFill>
                <a:srgbClr val="000000"/>
              </a:solidFill>
              <a:latin typeface="Garamond"/>
              <a:ea typeface="Garamond"/>
              <a:cs typeface="Garamond"/>
              <a:sym typeface="Garamon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55" name="Shape 312"/>
        <p:cNvGrpSpPr/>
        <p:nvPr/>
      </p:nvGrpSpPr>
      <p:grpSpPr>
        <a:xfrm>
          <a:off x="0" y="0"/>
          <a:ext cx="0" cy="0"/>
          <a:chOff x="0" y="0"/>
          <a:chExt cx="0" cy="0"/>
        </a:xfrm>
      </p:grpSpPr>
      <p:sp>
        <p:nvSpPr>
          <p:cNvPr id="1048721" name="Shape 313"/>
          <p:cNvSpPr txBox="1">
            <a:spLocks noGrp="1"/>
          </p:cNvSpPr>
          <p:nvPr>
            <p:ph type="title"/>
          </p:nvPr>
        </p:nvSpPr>
        <p:spPr>
          <a:xfrm>
            <a:off x="838200" y="1"/>
            <a:ext cx="10515600" cy="1690688"/>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Service outside Nigeria</a:t>
            </a:r>
            <a:endParaRPr b="1" dirty="0" lang="en-US">
              <a:solidFill>
                <a:schemeClr val="dk2"/>
              </a:solidFill>
              <a:latin typeface="Arial"/>
              <a:ea typeface="Arial"/>
              <a:cs typeface="Arial"/>
              <a:sym typeface="Arial"/>
            </a:endParaRPr>
          </a:p>
        </p:txBody>
      </p:sp>
      <p:sp>
        <p:nvSpPr>
          <p:cNvPr id="1048722" name="Shape 314"/>
          <p:cNvSpPr txBox="1">
            <a:spLocks noGrp="1"/>
          </p:cNvSpPr>
          <p:nvPr>
            <p:ph idx="1"/>
          </p:nvPr>
        </p:nvSpPr>
        <p:spPr>
          <a:xfrm>
            <a:off x="0" y="1825624"/>
            <a:ext cx="12192000" cy="5032375"/>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600" lang="en-US">
                <a:solidFill>
                  <a:schemeClr val="dk1"/>
                </a:solidFill>
                <a:latin typeface="Garamond"/>
                <a:ea typeface="Garamond"/>
                <a:cs typeface="Garamond"/>
                <a:sym typeface="Garamond"/>
              </a:rPr>
              <a:t>Procedure for Service out of Nigeria</a:t>
            </a:r>
            <a:r>
              <a:rPr dirty="0" sz="3600" lang="en-US">
                <a:solidFill>
                  <a:schemeClr val="dk1"/>
                </a:solidFill>
                <a:latin typeface="Garamond"/>
                <a:ea typeface="Garamond"/>
                <a:cs typeface="Garamond"/>
                <a:sym typeface="Garamond"/>
              </a:rPr>
              <a:t>. See </a:t>
            </a:r>
            <a:r>
              <a:rPr dirty="0" sz="3600" i="1" lang="en-US">
                <a:solidFill>
                  <a:schemeClr val="dk1"/>
                </a:solidFill>
                <a:latin typeface="Garamond"/>
                <a:ea typeface="Garamond"/>
                <a:cs typeface="Garamond"/>
                <a:sym typeface="Garamond"/>
              </a:rPr>
              <a:t>Or 10 r. 1 Lag; Or 10 r 1 </a:t>
            </a:r>
            <a:r>
              <a:rPr dirty="0" sz="3600" i="1" lang="en-US" err="1">
                <a:solidFill>
                  <a:schemeClr val="dk1"/>
                </a:solidFill>
                <a:latin typeface="Garamond"/>
                <a:ea typeface="Garamond"/>
                <a:cs typeface="Garamond"/>
                <a:sym typeface="Garamond"/>
              </a:rPr>
              <a:t>Abj</a:t>
            </a:r>
            <a:r>
              <a:rPr dirty="0" sz="3600" i="1" lang="en-US">
                <a:solidFill>
                  <a:schemeClr val="dk1"/>
                </a:solidFill>
                <a:latin typeface="Garamond"/>
                <a:ea typeface="Garamond"/>
                <a:cs typeface="Garamond"/>
                <a:sym typeface="Garamond"/>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58" name="Shape 318"/>
        <p:cNvGrpSpPr/>
        <p:nvPr/>
      </p:nvGrpSpPr>
      <p:grpSpPr>
        <a:xfrm>
          <a:off x="0" y="0"/>
          <a:ext cx="0" cy="0"/>
          <a:chOff x="0" y="0"/>
          <a:chExt cx="0" cy="0"/>
        </a:xfrm>
      </p:grpSpPr>
      <p:sp>
        <p:nvSpPr>
          <p:cNvPr id="1048726" name="Shape 319"/>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600" lang="en-US">
                <a:solidFill>
                  <a:srgbClr val="000000"/>
                </a:solidFill>
                <a:latin typeface="Garamond"/>
                <a:ea typeface="Garamond"/>
                <a:cs typeface="Garamond"/>
                <a:sym typeface="Garamond"/>
              </a:rPr>
              <a:t>Proof of Service</a:t>
            </a:r>
          </a:p>
        </p:txBody>
      </p:sp>
      <p:sp>
        <p:nvSpPr>
          <p:cNvPr id="1048727" name="Shape 320"/>
          <p:cNvSpPr txBox="1">
            <a:spLocks noGrp="1"/>
          </p:cNvSpPr>
          <p:nvPr>
            <p:ph idx="1"/>
          </p:nvPr>
        </p:nvSpPr>
        <p:spPr>
          <a:xfrm>
            <a:off x="0" y="1825624"/>
            <a:ext cx="12192000" cy="5032375"/>
          </a:xfrm>
          <a:prstGeom prst="rect"/>
          <a:noFill/>
          <a:ln>
            <a:noFill/>
          </a:ln>
        </p:spPr>
        <p:txBody>
          <a:bodyPr anchor="t" anchorCtr="0" bIns="45700" lIns="91425" rIns="91425" rtlCol="0" tIns="45700" vert="horz">
            <a:noAutofit/>
          </a:bodyPr>
          <a:p>
            <a:pPr indent="-342900" marL="342900">
              <a:lnSpc>
                <a:spcPct val="100000"/>
              </a:lnSpc>
              <a:spcBef>
                <a:spcPts val="0"/>
              </a:spcBef>
              <a:buClr>
                <a:srgbClr val="000000"/>
              </a:buClr>
              <a:buSzPct val="100000"/>
              <a:buFont typeface="Garamond"/>
              <a:buChar char="•"/>
            </a:pPr>
            <a:r>
              <a:rPr b="1" dirty="0" sz="3600" lang="en-US">
                <a:solidFill>
                  <a:srgbClr val="000000"/>
                </a:solidFill>
                <a:latin typeface="Garamond"/>
                <a:ea typeface="Garamond"/>
                <a:cs typeface="Garamond"/>
                <a:sym typeface="Garamond"/>
              </a:rPr>
              <a:t>Affidavit of Service </a:t>
            </a:r>
            <a:r>
              <a:rPr dirty="0" sz="3600" i="1" lang="en-US">
                <a:solidFill>
                  <a:srgbClr val="000000"/>
                </a:solidFill>
                <a:latin typeface="Garamond"/>
                <a:ea typeface="Garamond"/>
                <a:cs typeface="Garamond"/>
                <a:sym typeface="Garamond"/>
              </a:rPr>
              <a:t>Or. 9 r. 13 </a:t>
            </a:r>
            <a:r>
              <a:rPr dirty="0" sz="3600" i="1" lang="en-US" err="1">
                <a:solidFill>
                  <a:srgbClr val="000000"/>
                </a:solidFill>
                <a:latin typeface="Garamond"/>
                <a:ea typeface="Garamond"/>
                <a:cs typeface="Garamond"/>
                <a:sym typeface="Garamond"/>
              </a:rPr>
              <a:t>Abj</a:t>
            </a:r>
            <a:r>
              <a:rPr dirty="0" sz="3600" i="1" lang="en-US">
                <a:solidFill>
                  <a:srgbClr val="000000"/>
                </a:solidFill>
                <a:latin typeface="Garamond"/>
                <a:ea typeface="Garamond"/>
                <a:cs typeface="Garamond"/>
                <a:sym typeface="Garamond"/>
              </a:rPr>
              <a:t>. </a:t>
            </a:r>
          </a:p>
          <a:p>
            <a:pPr indent="-342900" marL="342900">
              <a:lnSpc>
                <a:spcPct val="100000"/>
              </a:lnSpc>
              <a:spcBef>
                <a:spcPts val="720"/>
              </a:spcBef>
              <a:buClr>
                <a:schemeClr val="dk1"/>
              </a:buClr>
              <a:buSzPct val="100000"/>
              <a:buNone/>
            </a:pPr>
            <a:endParaRPr dirty="0" sz="3600" i="1">
              <a:solidFill>
                <a:srgbClr val="000000"/>
              </a:solidFill>
              <a:latin typeface="Garamond"/>
              <a:ea typeface="Garamond"/>
              <a:cs typeface="Garamond"/>
              <a:sym typeface="Garamond"/>
            </a:endParaRPr>
          </a:p>
          <a:p>
            <a:pPr indent="-342900" marL="342900">
              <a:spcBef>
                <a:spcPts val="720"/>
              </a:spcBef>
              <a:buClr>
                <a:schemeClr val="dk1"/>
              </a:buClr>
              <a:buSzPct val="100000"/>
              <a:buNone/>
            </a:pPr>
            <a:endParaRPr dirty="0" sz="3600" i="1">
              <a:solidFill>
                <a:srgbClr val="000000"/>
              </a:solidFill>
              <a:latin typeface="Garamond"/>
              <a:ea typeface="Garamond"/>
              <a:cs typeface="Garamond"/>
              <a:sym typeface="Garamon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61" name="Shape 325"/>
        <p:cNvGrpSpPr/>
        <p:nvPr/>
      </p:nvGrpSpPr>
      <p:grpSpPr>
        <a:xfrm>
          <a:off x="0" y="0"/>
          <a:ext cx="0" cy="0"/>
          <a:chOff x="0" y="0"/>
          <a:chExt cx="0" cy="0"/>
        </a:xfrm>
      </p:grpSpPr>
      <p:sp>
        <p:nvSpPr>
          <p:cNvPr id="1048730" name="Shape 326"/>
          <p:cNvSpPr txBox="1">
            <a:spLocks noGrp="1"/>
          </p:cNvSpPr>
          <p:nvPr>
            <p:ph type="title"/>
          </p:nvPr>
        </p:nvSpPr>
        <p:spPr>
          <a:xfrm>
            <a:off x="1981200" y="274636"/>
            <a:ext cx="8229600" cy="1425600"/>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sz="4000" lang="en-US">
                <a:latin typeface="Arial"/>
                <a:ea typeface="Arial"/>
                <a:cs typeface="Arial"/>
                <a:sym typeface="Arial"/>
              </a:rPr>
              <a:t>Consequence of Failure to Serve</a:t>
            </a:r>
            <a:r>
              <a:rPr b="1" dirty="0" sz="4000" lang="en-US">
                <a:solidFill>
                  <a:schemeClr val="dk2"/>
                </a:solidFill>
                <a:latin typeface="Arial"/>
                <a:ea typeface="Arial"/>
                <a:cs typeface="Arial"/>
                <a:sym typeface="Arial"/>
              </a:rPr>
              <a:t>.</a:t>
            </a:r>
          </a:p>
        </p:txBody>
      </p:sp>
      <p:sp>
        <p:nvSpPr>
          <p:cNvPr id="1048731" name="Shape 327"/>
          <p:cNvSpPr txBox="1">
            <a:spLocks noGrp="1"/>
          </p:cNvSpPr>
          <p:nvPr>
            <p:ph idx="1"/>
          </p:nvPr>
        </p:nvSpPr>
        <p:spPr>
          <a:xfrm>
            <a:off x="0" y="1989136"/>
            <a:ext cx="12192000" cy="4868864"/>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600" lang="en-US">
                <a:solidFill>
                  <a:schemeClr val="dk1"/>
                </a:solidFill>
                <a:latin typeface="Garamond"/>
                <a:ea typeface="Garamond"/>
                <a:cs typeface="Garamond"/>
                <a:sym typeface="Garamond"/>
              </a:rPr>
              <a:t>Effect of lack of Service of Originating Process.</a:t>
            </a:r>
            <a:r>
              <a:rPr dirty="0" sz="3600" lang="en-US">
                <a:solidFill>
                  <a:schemeClr val="dk1"/>
                </a:solidFill>
                <a:latin typeface="Garamond"/>
                <a:ea typeface="Garamond"/>
                <a:cs typeface="Garamond"/>
                <a:sym typeface="Garamond"/>
              </a:rPr>
              <a:t> Affects the jurisdiction of the Court. See</a:t>
            </a:r>
            <a:r>
              <a:rPr b="1" dirty="0" sz="3600" lang="en-US">
                <a:solidFill>
                  <a:schemeClr val="dk1"/>
                </a:solidFill>
                <a:latin typeface="Garamond"/>
                <a:ea typeface="Garamond"/>
                <a:cs typeface="Garamond"/>
                <a:sym typeface="Garamond"/>
              </a:rPr>
              <a:t> </a:t>
            </a:r>
            <a:r>
              <a:rPr dirty="0" sz="3600" i="1" lang="en-US">
                <a:solidFill>
                  <a:schemeClr val="dk1"/>
                </a:solidFill>
                <a:latin typeface="Garamond"/>
                <a:ea typeface="Garamond"/>
                <a:cs typeface="Garamond"/>
                <a:sym typeface="Garamond"/>
              </a:rPr>
              <a:t>NEPA v </a:t>
            </a:r>
            <a:r>
              <a:rPr dirty="0" sz="3600" i="1" lang="en-US" err="1">
                <a:solidFill>
                  <a:schemeClr val="dk1"/>
                </a:solidFill>
                <a:latin typeface="Garamond"/>
                <a:ea typeface="Garamond"/>
                <a:cs typeface="Garamond"/>
                <a:sym typeface="Garamond"/>
              </a:rPr>
              <a:t>Onah</a:t>
            </a:r>
            <a:r>
              <a:rPr dirty="0" sz="3600" i="1" lang="en-US">
                <a:solidFill>
                  <a:schemeClr val="dk1"/>
                </a:solidFill>
                <a:latin typeface="Garamond"/>
                <a:ea typeface="Garamond"/>
                <a:cs typeface="Garamond"/>
                <a:sym typeface="Garamond"/>
              </a:rPr>
              <a:t> (1997) 1 NWLR (</a:t>
            </a:r>
            <a:r>
              <a:rPr dirty="0" sz="3600" i="1" lang="en-US" err="1">
                <a:solidFill>
                  <a:schemeClr val="dk1"/>
                </a:solidFill>
                <a:latin typeface="Garamond"/>
                <a:ea typeface="Garamond"/>
                <a:cs typeface="Garamond"/>
                <a:sym typeface="Garamond"/>
              </a:rPr>
              <a:t>pt</a:t>
            </a:r>
            <a:r>
              <a:rPr dirty="0" sz="3600" i="1" lang="en-US">
                <a:solidFill>
                  <a:schemeClr val="dk1"/>
                </a:solidFill>
                <a:latin typeface="Garamond"/>
                <a:ea typeface="Garamond"/>
                <a:cs typeface="Garamond"/>
                <a:sym typeface="Garamond"/>
              </a:rPr>
              <a:t> 484) p 680; NBN v Guthrie (1993) 4 SCNJ p 1; Dickson v Marcus </a:t>
            </a:r>
            <a:r>
              <a:rPr dirty="0" sz="3600" i="1" lang="en-US" err="1">
                <a:solidFill>
                  <a:schemeClr val="dk1"/>
                </a:solidFill>
                <a:latin typeface="Garamond"/>
                <a:ea typeface="Garamond"/>
                <a:cs typeface="Garamond"/>
                <a:sym typeface="Garamond"/>
              </a:rPr>
              <a:t>Okoi</a:t>
            </a:r>
            <a:r>
              <a:rPr dirty="0" sz="3600" i="1" lang="en-US">
                <a:solidFill>
                  <a:schemeClr val="dk1"/>
                </a:solidFill>
                <a:latin typeface="Garamond"/>
                <a:ea typeface="Garamond"/>
                <a:cs typeface="Garamond"/>
                <a:sym typeface="Garamond"/>
              </a:rPr>
              <a:t> (2003) 16 NWLR (Pt. 846) p 397.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64" name="Shape 332"/>
        <p:cNvGrpSpPr/>
        <p:nvPr/>
      </p:nvGrpSpPr>
      <p:grpSpPr>
        <a:xfrm>
          <a:off x="0" y="0"/>
          <a:ext cx="0" cy="0"/>
          <a:chOff x="0" y="0"/>
          <a:chExt cx="0" cy="0"/>
        </a:xfrm>
      </p:grpSpPr>
      <p:sp>
        <p:nvSpPr>
          <p:cNvPr id="1048735" name="Shape 333"/>
          <p:cNvSpPr txBox="1">
            <a:spLocks noGrp="1"/>
          </p:cNvSpPr>
          <p:nvPr>
            <p:ph type="title"/>
          </p:nvPr>
        </p:nvSpPr>
        <p:spPr>
          <a:xfrm>
            <a:off x="1981200" y="115886"/>
            <a:ext cx="8229600" cy="865200"/>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sz="3600" lang="en-US">
                <a:solidFill>
                  <a:schemeClr val="dk2"/>
                </a:solidFill>
                <a:latin typeface="Arial"/>
                <a:ea typeface="Arial"/>
                <a:cs typeface="Arial"/>
                <a:sym typeface="Arial"/>
              </a:rPr>
              <a:t>Setting Aside a Defective Writ</a:t>
            </a:r>
          </a:p>
        </p:txBody>
      </p:sp>
      <p:sp>
        <p:nvSpPr>
          <p:cNvPr id="1048736" name="Shape 334"/>
          <p:cNvSpPr txBox="1">
            <a:spLocks noGrp="1"/>
          </p:cNvSpPr>
          <p:nvPr>
            <p:ph idx="1"/>
          </p:nvPr>
        </p:nvSpPr>
        <p:spPr>
          <a:xfrm>
            <a:off x="0" y="981074"/>
            <a:ext cx="12192000" cy="5876925"/>
          </a:xfrm>
          <a:prstGeom prst="rect"/>
          <a:noFill/>
          <a:ln>
            <a:noFill/>
          </a:ln>
        </p:spPr>
        <p:txBody>
          <a:bodyPr anchor="t" anchorCtr="0" bIns="45700" lIns="91425" rIns="91425" rtlCol="0" tIns="45700" vert="horz">
            <a:noAutofit/>
          </a:bodyPr>
          <a:p>
            <a:pPr indent="0" marL="0">
              <a:lnSpc>
                <a:spcPct val="100000"/>
              </a:lnSpc>
              <a:spcBef>
                <a:spcPts val="0"/>
              </a:spcBef>
              <a:buClr>
                <a:schemeClr val="dk1"/>
              </a:buClr>
              <a:buSzPct val="25000"/>
              <a:buNone/>
            </a:pPr>
            <a:endParaRPr b="1" dirty="0" sz="3600" lang="en-US">
              <a:solidFill>
                <a:schemeClr val="dk1"/>
              </a:solidFill>
              <a:latin typeface="Garamond"/>
              <a:ea typeface="Garamond"/>
              <a:cs typeface="Garamond"/>
              <a:sym typeface="Garamond"/>
            </a:endParaRPr>
          </a:p>
          <a:p>
            <a:pPr indent="0" marL="0">
              <a:lnSpc>
                <a:spcPct val="100000"/>
              </a:lnSpc>
              <a:spcBef>
                <a:spcPts val="0"/>
              </a:spcBef>
              <a:buClr>
                <a:schemeClr val="dk1"/>
              </a:buClr>
              <a:buSzPct val="25000"/>
              <a:buNone/>
            </a:pPr>
            <a:r>
              <a:rPr b="1" dirty="0" sz="3600" lang="en-US">
                <a:solidFill>
                  <a:schemeClr val="dk1"/>
                </a:solidFill>
                <a:latin typeface="Garamond"/>
                <a:ea typeface="Garamond"/>
                <a:cs typeface="Garamond"/>
                <a:sym typeface="Garamond"/>
              </a:rPr>
              <a:t>Steps the DEFENDANT may Take:</a:t>
            </a:r>
          </a:p>
          <a:p>
            <a:pPr indent="0" marL="0">
              <a:lnSpc>
                <a:spcPct val="100000"/>
              </a:lnSpc>
              <a:spcBef>
                <a:spcPts val="640"/>
              </a:spcBef>
              <a:buClr>
                <a:schemeClr val="dk1"/>
              </a:buClr>
              <a:buSzPct val="100000"/>
              <a:buFont typeface="Garamond"/>
              <a:buAutoNum type="alphaLcParenR"/>
            </a:pPr>
            <a:r>
              <a:rPr dirty="0" sz="3200" lang="en-US">
                <a:solidFill>
                  <a:schemeClr val="dk1"/>
                </a:solidFill>
                <a:latin typeface="Garamond"/>
                <a:ea typeface="Garamond"/>
                <a:cs typeface="Garamond"/>
                <a:sym typeface="Garamond"/>
              </a:rPr>
              <a:t>Enter conditional appearance then apply by motion on notice, affidavit &amp; written address a to set aside writ or service,</a:t>
            </a:r>
          </a:p>
          <a:p>
            <a:pPr indent="0" marL="0">
              <a:lnSpc>
                <a:spcPct val="100000"/>
              </a:lnSpc>
              <a:spcBef>
                <a:spcPts val="640"/>
              </a:spcBef>
              <a:buClr>
                <a:schemeClr val="dk1"/>
              </a:buClr>
              <a:buSzPct val="100000"/>
              <a:buFont typeface="Garamond"/>
              <a:buAutoNum type="alphaLcParenR"/>
            </a:pPr>
            <a:r>
              <a:rPr dirty="0" sz="3200" lang="en-US">
                <a:solidFill>
                  <a:schemeClr val="dk1"/>
                </a:solidFill>
                <a:latin typeface="Garamond"/>
                <a:ea typeface="Garamond"/>
                <a:cs typeface="Garamond"/>
                <a:sym typeface="Garamond"/>
              </a:rPr>
              <a:t>Without entering appearance apply by motion on notice or summons to set aside writ,</a:t>
            </a:r>
          </a:p>
          <a:p>
            <a:pPr indent="0" marL="0">
              <a:lnSpc>
                <a:spcPct val="100000"/>
              </a:lnSpc>
              <a:spcBef>
                <a:spcPts val="640"/>
              </a:spcBef>
              <a:buClr>
                <a:srgbClr val="000000"/>
              </a:buClr>
              <a:buSzPct val="100000"/>
              <a:buFont typeface="Garamond"/>
              <a:buAutoNum type="alphaLcParenR"/>
            </a:pPr>
            <a:r>
              <a:rPr dirty="0" sz="3200" lang="en-US">
                <a:solidFill>
                  <a:srgbClr val="000000"/>
                </a:solidFill>
                <a:latin typeface="Garamond"/>
                <a:ea typeface="Garamond"/>
                <a:cs typeface="Garamond"/>
                <a:sym typeface="Garamond"/>
              </a:rPr>
              <a:t>Apply to challenge jurisdiction without entering appearance. </a:t>
            </a:r>
            <a:r>
              <a:rPr dirty="0" lang="en-US">
                <a:solidFill>
                  <a:srgbClr val="000000"/>
                </a:solidFill>
                <a:latin typeface="Garamond"/>
                <a:ea typeface="Garamond"/>
                <a:cs typeface="Garamond"/>
                <a:sym typeface="Garamond"/>
              </a:rPr>
              <a:t>See </a:t>
            </a:r>
            <a:r>
              <a:rPr b="1" dirty="0" i="1" lang="en-US">
                <a:solidFill>
                  <a:srgbClr val="000000"/>
                </a:solidFill>
                <a:latin typeface="Garamond"/>
                <a:ea typeface="Garamond"/>
                <a:cs typeface="Garamond"/>
                <a:sym typeface="Garamond"/>
              </a:rPr>
              <a:t>Holman Brothers Nig. Ltd v </a:t>
            </a:r>
            <a:r>
              <a:rPr b="1" dirty="0" i="1" lang="en-US" err="1">
                <a:solidFill>
                  <a:srgbClr val="000000"/>
                </a:solidFill>
                <a:latin typeface="Garamond"/>
                <a:ea typeface="Garamond"/>
                <a:cs typeface="Garamond"/>
                <a:sym typeface="Garamond"/>
              </a:rPr>
              <a:t>Kigo</a:t>
            </a:r>
            <a:r>
              <a:rPr b="1" dirty="0" i="1" lang="en-US">
                <a:solidFill>
                  <a:srgbClr val="000000"/>
                </a:solidFill>
                <a:latin typeface="Garamond"/>
                <a:ea typeface="Garamond"/>
                <a:cs typeface="Garamond"/>
                <a:sym typeface="Garamond"/>
              </a:rPr>
              <a:t> </a:t>
            </a:r>
            <a:r>
              <a:rPr b="1" dirty="0" i="1" lang="en-US" err="1">
                <a:solidFill>
                  <a:srgbClr val="000000"/>
                </a:solidFill>
                <a:latin typeface="Garamond"/>
                <a:ea typeface="Garamond"/>
                <a:cs typeface="Garamond"/>
                <a:sym typeface="Garamond"/>
              </a:rPr>
              <a:t>Nig</a:t>
            </a:r>
            <a:r>
              <a:rPr b="1" dirty="0" i="1" lang="en-US">
                <a:solidFill>
                  <a:srgbClr val="000000"/>
                </a:solidFill>
                <a:latin typeface="Garamond"/>
                <a:ea typeface="Garamond"/>
                <a:cs typeface="Garamond"/>
                <a:sym typeface="Garamond"/>
              </a:rPr>
              <a:t> Ltd (1980) 8-11 SC p 43; </a:t>
            </a:r>
            <a:r>
              <a:rPr b="1" dirty="0" i="1" lang="en-US" err="1">
                <a:solidFill>
                  <a:srgbClr val="000000"/>
                </a:solidFill>
                <a:latin typeface="Garamond"/>
                <a:ea typeface="Garamond"/>
                <a:cs typeface="Garamond"/>
                <a:sym typeface="Garamond"/>
              </a:rPr>
              <a:t>Skenconsult</a:t>
            </a:r>
            <a:r>
              <a:rPr b="1" dirty="0" i="1" lang="en-US">
                <a:solidFill>
                  <a:srgbClr val="000000"/>
                </a:solidFill>
                <a:latin typeface="Garamond"/>
                <a:ea typeface="Garamond"/>
                <a:cs typeface="Garamond"/>
                <a:sym typeface="Garamond"/>
              </a:rPr>
              <a:t> v </a:t>
            </a:r>
            <a:r>
              <a:rPr b="1" dirty="0" i="1" lang="en-US" err="1">
                <a:solidFill>
                  <a:srgbClr val="000000"/>
                </a:solidFill>
                <a:latin typeface="Garamond"/>
                <a:ea typeface="Garamond"/>
                <a:cs typeface="Garamond"/>
                <a:sym typeface="Garamond"/>
              </a:rPr>
              <a:t>Ukey</a:t>
            </a:r>
            <a:r>
              <a:rPr b="1" dirty="0" i="1" lang="en-US">
                <a:solidFill>
                  <a:srgbClr val="000000"/>
                </a:solidFill>
                <a:latin typeface="Garamond"/>
                <a:ea typeface="Garamond"/>
                <a:cs typeface="Garamond"/>
                <a:sym typeface="Garamond"/>
              </a:rPr>
              <a:t> (1981) 1 SC 6; Or 5 r 2 </a:t>
            </a:r>
            <a:r>
              <a:rPr b="1" dirty="0" i="1" lang="en-US" err="1">
                <a:solidFill>
                  <a:srgbClr val="000000"/>
                </a:solidFill>
                <a:latin typeface="Garamond"/>
                <a:ea typeface="Garamond"/>
                <a:cs typeface="Garamond"/>
                <a:sym typeface="Garamond"/>
              </a:rPr>
              <a:t>Abj</a:t>
            </a:r>
            <a:r>
              <a:rPr b="1" dirty="0" i="1" lang="en-US">
                <a:solidFill>
                  <a:srgbClr val="000000"/>
                </a:solidFill>
                <a:latin typeface="Garamond"/>
                <a:ea typeface="Garamond"/>
                <a:cs typeface="Garamond"/>
                <a:sym typeface="Garamond"/>
              </a:rPr>
              <a:t>; Or 7 r 2 Lag; Ag Eastern Nig. v Ag Federation (1964) 1 All NLR 224</a:t>
            </a:r>
            <a:r>
              <a:rPr dirty="0" i="1" lang="en-US">
                <a:solidFill>
                  <a:srgbClr val="000000"/>
                </a:solidFill>
                <a:latin typeface="Garamond"/>
                <a:ea typeface="Garamond"/>
                <a:cs typeface="Garamond"/>
                <a:sym typeface="Garamond"/>
              </a:rPr>
              <a:t>.</a:t>
            </a:r>
            <a:endParaRPr dirty="0" sz="36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67" name=""/>
        <p:cNvGrpSpPr/>
        <p:nvPr/>
      </p:nvGrpSpPr>
      <p:grpSpPr>
        <a:xfrm>
          <a:off x="0" y="0"/>
          <a:ext cx="0" cy="0"/>
          <a:chOff x="0" y="0"/>
          <a:chExt cx="0" cy="0"/>
        </a:xfrm>
      </p:grpSpPr>
      <p:sp>
        <p:nvSpPr>
          <p:cNvPr id="1048740" name="Title 1"/>
          <p:cNvSpPr>
            <a:spLocks noGrp="1"/>
          </p:cNvSpPr>
          <p:nvPr>
            <p:ph type="title"/>
          </p:nvPr>
        </p:nvSpPr>
        <p:spPr/>
        <p:txBody>
          <a:bodyPr/>
          <a:p>
            <a:pPr algn="ctr"/>
            <a:r>
              <a:rPr b="1" dirty="0" lang="en-GB">
                <a:latin typeface="Garamond" panose="02020404030301010803" pitchFamily="18" charset="0"/>
              </a:rPr>
              <a:t>Non-Service &amp; Irregular Service</a:t>
            </a:r>
          </a:p>
        </p:txBody>
      </p:sp>
      <p:sp>
        <p:nvSpPr>
          <p:cNvPr id="1048741" name="Text Placeholder 2"/>
          <p:cNvSpPr>
            <a:spLocks noGrp="1"/>
          </p:cNvSpPr>
          <p:nvPr>
            <p:ph idx="1"/>
          </p:nvPr>
        </p:nvSpPr>
        <p:spPr>
          <a:xfrm>
            <a:off x="0" y="1800910"/>
            <a:ext cx="12192000" cy="5032375"/>
          </a:xfrm>
        </p:spPr>
        <p:txBody>
          <a:bodyPr/>
          <a:p>
            <a:endParaRPr dirty="0" lang="en-US"/>
          </a:p>
          <a:p>
            <a:pPr algn="just"/>
            <a:r>
              <a:rPr dirty="0" sz="3200" lang="en-US">
                <a:latin typeface="Garamond" panose="02020404030301010803" pitchFamily="18" charset="0"/>
              </a:rPr>
              <a:t>Where there is no proper service, the court has no jurisdiction. Where there is improper service, it is a procedural defect which can be remedied. </a:t>
            </a:r>
            <a:endParaRPr dirty="0" sz="3200" lang="en-GB">
              <a:latin typeface="Garamond" panose="02020404030301010803" pitchFamily="18" charset="0"/>
            </a:endParaRPr>
          </a:p>
          <a:p>
            <a:pPr algn="just" indent="0" marL="114300">
              <a:buNone/>
            </a:pPr>
            <a:r>
              <a:rPr dirty="0" sz="3200" lang="en-US">
                <a:latin typeface="Garamond" panose="02020404030301010803" pitchFamily="18" charset="0"/>
              </a:rPr>
              <a:t>See </a:t>
            </a:r>
            <a:r>
              <a:rPr b="1" dirty="0" sz="3200" lang="en-US">
                <a:latin typeface="Garamond" panose="02020404030301010803" pitchFamily="18" charset="0"/>
              </a:rPr>
              <a:t>RFG Limited &amp; 1 Or. v Skye Bank Plc. [2013] 4 NWLR (Pt. 1344) 251; G.T.B. Plc. v </a:t>
            </a:r>
            <a:r>
              <a:rPr b="1" dirty="0" sz="3200" lang="en-US" err="1">
                <a:latin typeface="Garamond" panose="02020404030301010803" pitchFamily="18" charset="0"/>
              </a:rPr>
              <a:t>Muyiwa</a:t>
            </a:r>
            <a:r>
              <a:rPr b="1" dirty="0" sz="3200" lang="en-US">
                <a:latin typeface="Garamond" panose="02020404030301010803" pitchFamily="18" charset="0"/>
              </a:rPr>
              <a:t> [2021] All FWLR (Pt. 1079) 869</a:t>
            </a:r>
            <a:r>
              <a:rPr dirty="0" sz="3200" lang="en-US">
                <a:latin typeface="Garamond" panose="02020404030301010803" pitchFamily="18" charset="0"/>
              </a:rPr>
              <a:t>.</a:t>
            </a:r>
            <a:endParaRPr dirty="0" sz="3200" lang="en-GB">
              <a:latin typeface="Garamond" panose="02020404030301010803" pitchFamily="18" charset="0"/>
            </a:endParaRPr>
          </a:p>
          <a:p>
            <a:pPr algn="just"/>
            <a:endParaRPr dirty="0" sz="3200" lang="en-GB">
              <a:latin typeface="Garamond" panose="02020404030301010803"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68" name="Shape 339"/>
        <p:cNvGrpSpPr/>
        <p:nvPr/>
      </p:nvGrpSpPr>
      <p:grpSpPr>
        <a:xfrm>
          <a:off x="0" y="0"/>
          <a:ext cx="0" cy="0"/>
          <a:chOff x="0" y="0"/>
          <a:chExt cx="0" cy="0"/>
        </a:xfrm>
      </p:grpSpPr>
      <p:sp>
        <p:nvSpPr>
          <p:cNvPr id="1048742" name="Shape 340"/>
          <p:cNvSpPr txBox="1">
            <a:spLocks noGrp="1"/>
          </p:cNvSpPr>
          <p:nvPr>
            <p:ph type="title"/>
          </p:nvPr>
        </p:nvSpPr>
        <p:spPr>
          <a:xfrm>
            <a:off x="1981200" y="274636"/>
            <a:ext cx="8229600" cy="1498500"/>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sz="3200" lang="en-US">
                <a:solidFill>
                  <a:srgbClr val="000000"/>
                </a:solidFill>
                <a:latin typeface="Garamond"/>
                <a:ea typeface="Garamond"/>
                <a:cs typeface="Garamond"/>
                <a:sym typeface="Garamond"/>
              </a:rPr>
              <a:t>Time Within Which The Defendant Can React To a Defective Writ.</a:t>
            </a:r>
          </a:p>
        </p:txBody>
      </p:sp>
      <p:sp>
        <p:nvSpPr>
          <p:cNvPr id="1048743" name="Shape 341"/>
          <p:cNvSpPr txBox="1">
            <a:spLocks noGrp="1"/>
          </p:cNvSpPr>
          <p:nvPr>
            <p:ph idx="1"/>
          </p:nvPr>
        </p:nvSpPr>
        <p:spPr>
          <a:xfrm>
            <a:off x="0" y="1916111"/>
            <a:ext cx="12192000" cy="4681500"/>
          </a:xfrm>
          <a:prstGeom prst="rect"/>
          <a:noFill/>
          <a:ln>
            <a:noFill/>
          </a:ln>
        </p:spPr>
        <p:txBody>
          <a:bodyPr anchor="t" anchorCtr="0" bIns="45700" lIns="91425" rIns="91425" rtlCol="0" tIns="45700" vert="horz">
            <a:noAutofit/>
          </a:bodyPr>
          <a:p>
            <a:pPr indent="-342900" marL="342900">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Application to set aside may be made within Reasonable time and before taking any step after becoming aware</a:t>
            </a:r>
            <a:r>
              <a:rPr dirty="0" sz="3200" lang="en-US">
                <a:solidFill>
                  <a:schemeClr val="dk1"/>
                </a:solidFill>
                <a:latin typeface="Garamond"/>
                <a:ea typeface="Garamond"/>
                <a:cs typeface="Garamond"/>
                <a:sym typeface="Garamond"/>
              </a:rPr>
              <a:t>. See </a:t>
            </a:r>
            <a:r>
              <a:rPr dirty="0" sz="3200" i="1" lang="en-US" err="1">
                <a:solidFill>
                  <a:schemeClr val="dk1"/>
                </a:solidFill>
                <a:latin typeface="Garamond"/>
                <a:ea typeface="Garamond"/>
                <a:cs typeface="Garamond"/>
                <a:sym typeface="Garamond"/>
              </a:rPr>
              <a:t>Skenconsult</a:t>
            </a:r>
            <a:r>
              <a:rPr dirty="0" sz="3200" i="1" lang="en-US">
                <a:solidFill>
                  <a:schemeClr val="dk1"/>
                </a:solidFill>
                <a:latin typeface="Garamond"/>
                <a:ea typeface="Garamond"/>
                <a:cs typeface="Garamond"/>
                <a:sym typeface="Garamond"/>
              </a:rPr>
              <a:t> v </a:t>
            </a:r>
            <a:r>
              <a:rPr dirty="0" sz="3200" i="1" lang="en-US" err="1">
                <a:solidFill>
                  <a:schemeClr val="dk1"/>
                </a:solidFill>
                <a:latin typeface="Garamond"/>
                <a:ea typeface="Garamond"/>
                <a:cs typeface="Garamond"/>
                <a:sym typeface="Garamond"/>
              </a:rPr>
              <a:t>Ukey</a:t>
            </a:r>
            <a:r>
              <a:rPr dirty="0" sz="3200" i="1" lang="en-US">
                <a:solidFill>
                  <a:schemeClr val="dk1"/>
                </a:solidFill>
                <a:latin typeface="Garamond"/>
                <a:ea typeface="Garamond"/>
                <a:cs typeface="Garamond"/>
                <a:sym typeface="Garamond"/>
              </a:rPr>
              <a:t> (1981) 1 SC 6; Or 5 r 2 </a:t>
            </a:r>
            <a:r>
              <a:rPr dirty="0" sz="3200" i="1" lang="en-US" err="1">
                <a:solidFill>
                  <a:schemeClr val="dk1"/>
                </a:solidFill>
                <a:latin typeface="Garamond"/>
                <a:ea typeface="Garamond"/>
                <a:cs typeface="Garamond"/>
                <a:sym typeface="Garamond"/>
              </a:rPr>
              <a:t>Abj</a:t>
            </a:r>
            <a:r>
              <a:rPr dirty="0" sz="3200" i="1" lang="en-US">
                <a:solidFill>
                  <a:schemeClr val="dk1"/>
                </a:solidFill>
                <a:latin typeface="Garamond"/>
                <a:ea typeface="Garamond"/>
                <a:cs typeface="Garamond"/>
                <a:sym typeface="Garamond"/>
              </a:rPr>
              <a:t>; Or 7 r. 2 Lag;  Cole v </a:t>
            </a:r>
            <a:r>
              <a:rPr dirty="0" sz="3200" i="1" lang="en-US" err="1">
                <a:solidFill>
                  <a:schemeClr val="dk1"/>
                </a:solidFill>
                <a:latin typeface="Garamond"/>
                <a:ea typeface="Garamond"/>
                <a:cs typeface="Garamond"/>
                <a:sym typeface="Garamond"/>
              </a:rPr>
              <a:t>Agu</a:t>
            </a:r>
            <a:r>
              <a:rPr dirty="0" sz="3200" i="1" lang="en-US">
                <a:solidFill>
                  <a:schemeClr val="dk1"/>
                </a:solidFill>
                <a:latin typeface="Garamond"/>
                <a:ea typeface="Garamond"/>
                <a:cs typeface="Garamond"/>
                <a:sym typeface="Garamond"/>
              </a:rPr>
              <a:t> (Unreported </a:t>
            </a:r>
            <a:r>
              <a:rPr dirty="0" sz="3200" i="1" lang="en-US" err="1">
                <a:solidFill>
                  <a:schemeClr val="dk1"/>
                </a:solidFill>
                <a:latin typeface="Garamond"/>
                <a:ea typeface="Garamond"/>
                <a:cs typeface="Garamond"/>
                <a:sym typeface="Garamond"/>
              </a:rPr>
              <a:t>Ld</a:t>
            </a:r>
            <a:r>
              <a:rPr dirty="0" sz="3200" i="1" lang="en-US">
                <a:solidFill>
                  <a:schemeClr val="dk1"/>
                </a:solidFill>
                <a:latin typeface="Garamond"/>
                <a:ea typeface="Garamond"/>
                <a:cs typeface="Garamond"/>
                <a:sym typeface="Garamond"/>
              </a:rPr>
              <a:t>/295/69); </a:t>
            </a:r>
            <a:r>
              <a:rPr dirty="0" sz="3200" i="1" lang="en-US" err="1">
                <a:solidFill>
                  <a:schemeClr val="dk1"/>
                </a:solidFill>
                <a:latin typeface="Garamond"/>
                <a:ea typeface="Garamond"/>
                <a:cs typeface="Garamond"/>
                <a:sym typeface="Garamond"/>
              </a:rPr>
              <a:t>Ariori</a:t>
            </a:r>
            <a:r>
              <a:rPr dirty="0" sz="3200" i="1" lang="en-US">
                <a:solidFill>
                  <a:schemeClr val="dk1"/>
                </a:solidFill>
                <a:latin typeface="Garamond"/>
                <a:ea typeface="Garamond"/>
                <a:cs typeface="Garamond"/>
                <a:sym typeface="Garamond"/>
              </a:rPr>
              <a:t> v </a:t>
            </a:r>
            <a:r>
              <a:rPr dirty="0" sz="3200" i="1" lang="en-US" err="1">
                <a:solidFill>
                  <a:schemeClr val="dk1"/>
                </a:solidFill>
                <a:latin typeface="Garamond"/>
                <a:ea typeface="Garamond"/>
                <a:cs typeface="Garamond"/>
                <a:sym typeface="Garamond"/>
              </a:rPr>
              <a:t>Elemo</a:t>
            </a:r>
            <a:r>
              <a:rPr dirty="0" sz="3200" i="1" lang="en-US">
                <a:solidFill>
                  <a:schemeClr val="dk1"/>
                </a:solidFill>
                <a:latin typeface="Garamond"/>
                <a:ea typeface="Garamond"/>
                <a:cs typeface="Garamond"/>
                <a:sym typeface="Garamond"/>
              </a:rPr>
              <a:t> (1983) 1 </a:t>
            </a:r>
            <a:r>
              <a:rPr dirty="0" sz="3200" i="1" lang="en-US" err="1">
                <a:solidFill>
                  <a:schemeClr val="dk1"/>
                </a:solidFill>
                <a:latin typeface="Garamond"/>
                <a:ea typeface="Garamond"/>
                <a:cs typeface="Garamond"/>
                <a:sym typeface="Garamond"/>
              </a:rPr>
              <a:t>Sc</a:t>
            </a:r>
            <a:r>
              <a:rPr dirty="0" sz="3200" i="1" lang="en-US">
                <a:solidFill>
                  <a:schemeClr val="dk1"/>
                </a:solidFill>
                <a:latin typeface="Garamond"/>
                <a:ea typeface="Garamond"/>
                <a:cs typeface="Garamond"/>
                <a:sym typeface="Garamond"/>
              </a:rPr>
              <a:t> 13.; </a:t>
            </a:r>
            <a:r>
              <a:rPr dirty="0" sz="3200" i="1" lang="en-US" err="1">
                <a:solidFill>
                  <a:schemeClr val="dk1"/>
                </a:solidFill>
                <a:latin typeface="Garamond"/>
                <a:ea typeface="Garamond"/>
                <a:cs typeface="Garamond"/>
                <a:sym typeface="Garamond"/>
              </a:rPr>
              <a:t>Ezomo</a:t>
            </a:r>
            <a:r>
              <a:rPr dirty="0" sz="3200" i="1" lang="en-US">
                <a:solidFill>
                  <a:schemeClr val="dk1"/>
                </a:solidFill>
                <a:latin typeface="Garamond"/>
                <a:ea typeface="Garamond"/>
                <a:cs typeface="Garamond"/>
                <a:sym typeface="Garamond"/>
              </a:rPr>
              <a:t> v </a:t>
            </a:r>
            <a:r>
              <a:rPr dirty="0" sz="3200" i="1" lang="en-US" err="1">
                <a:solidFill>
                  <a:schemeClr val="dk1"/>
                </a:solidFill>
                <a:latin typeface="Garamond"/>
                <a:ea typeface="Garamond"/>
                <a:cs typeface="Garamond"/>
                <a:sym typeface="Garamond"/>
              </a:rPr>
              <a:t>Oyahkire</a:t>
            </a:r>
            <a:r>
              <a:rPr dirty="0" sz="3200" i="1" lang="en-US">
                <a:solidFill>
                  <a:schemeClr val="dk1"/>
                </a:solidFill>
                <a:latin typeface="Garamond"/>
                <a:ea typeface="Garamond"/>
                <a:cs typeface="Garamond"/>
                <a:sym typeface="Garamond"/>
              </a:rPr>
              <a:t> (1985) 2 </a:t>
            </a:r>
            <a:r>
              <a:rPr dirty="0" sz="3200" i="1" lang="en-US" err="1">
                <a:solidFill>
                  <a:schemeClr val="dk1"/>
                </a:solidFill>
                <a:latin typeface="Garamond"/>
                <a:ea typeface="Garamond"/>
                <a:cs typeface="Garamond"/>
                <a:sym typeface="Garamond"/>
              </a:rPr>
              <a:t>Sc</a:t>
            </a:r>
            <a:r>
              <a:rPr dirty="0" sz="3200" i="1" lang="en-US">
                <a:solidFill>
                  <a:schemeClr val="dk1"/>
                </a:solidFill>
                <a:latin typeface="Garamond"/>
                <a:ea typeface="Garamond"/>
                <a:cs typeface="Garamond"/>
                <a:sym typeface="Garamond"/>
              </a:rPr>
              <a:t> P 26.; </a:t>
            </a:r>
            <a:r>
              <a:rPr dirty="0" sz="3200" i="1" lang="en-US" err="1">
                <a:solidFill>
                  <a:schemeClr val="dk1"/>
                </a:solidFill>
                <a:latin typeface="Garamond"/>
                <a:ea typeface="Garamond"/>
                <a:cs typeface="Garamond"/>
                <a:sym typeface="Garamond"/>
              </a:rPr>
              <a:t>Adegoke</a:t>
            </a:r>
            <a:r>
              <a:rPr dirty="0" sz="3200" i="1" lang="en-US">
                <a:solidFill>
                  <a:schemeClr val="dk1"/>
                </a:solidFill>
                <a:latin typeface="Garamond"/>
                <a:ea typeface="Garamond"/>
                <a:cs typeface="Garamond"/>
                <a:sym typeface="Garamond"/>
              </a:rPr>
              <a:t> Motors v </a:t>
            </a:r>
            <a:r>
              <a:rPr dirty="0" sz="3200" i="1" lang="en-US" err="1">
                <a:solidFill>
                  <a:schemeClr val="dk1"/>
                </a:solidFill>
                <a:latin typeface="Garamond"/>
                <a:ea typeface="Garamond"/>
                <a:cs typeface="Garamond"/>
                <a:sym typeface="Garamond"/>
              </a:rPr>
              <a:t>Adesanya</a:t>
            </a:r>
            <a:r>
              <a:rPr dirty="0" sz="3200" i="1" lang="en-US">
                <a:solidFill>
                  <a:schemeClr val="dk1"/>
                </a:solidFill>
                <a:latin typeface="Garamond"/>
                <a:ea typeface="Garamond"/>
                <a:cs typeface="Garamond"/>
                <a:sym typeface="Garamond"/>
              </a:rPr>
              <a:t> Supra.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71" name="Shape 346"/>
        <p:cNvGrpSpPr/>
        <p:nvPr/>
      </p:nvGrpSpPr>
      <p:grpSpPr>
        <a:xfrm>
          <a:off x="0" y="0"/>
          <a:ext cx="0" cy="0"/>
          <a:chOff x="0" y="0"/>
          <a:chExt cx="0" cy="0"/>
        </a:xfrm>
      </p:grpSpPr>
      <p:sp>
        <p:nvSpPr>
          <p:cNvPr id="1048747" name="Shape 347"/>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Defective Writ </a:t>
            </a:r>
          </a:p>
        </p:txBody>
      </p:sp>
      <p:sp>
        <p:nvSpPr>
          <p:cNvPr id="1048748" name="Shape 348"/>
          <p:cNvSpPr txBox="1">
            <a:spLocks noGrp="1"/>
          </p:cNvSpPr>
          <p:nvPr>
            <p:ph idx="1"/>
          </p:nvPr>
        </p:nvSpPr>
        <p:spPr>
          <a:xfrm>
            <a:off x="0" y="1825624"/>
            <a:ext cx="12192000" cy="5032375"/>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600" lang="en-US">
                <a:solidFill>
                  <a:schemeClr val="dk1"/>
                </a:solidFill>
                <a:latin typeface="Garamond"/>
                <a:ea typeface="Garamond"/>
                <a:cs typeface="Garamond"/>
                <a:sym typeface="Garamond"/>
              </a:rPr>
              <a:t>Steps </a:t>
            </a:r>
            <a:r>
              <a:rPr b="1" sz="3600" lang="en-US">
                <a:solidFill>
                  <a:schemeClr val="dk1"/>
                </a:solidFill>
                <a:latin typeface="Garamond"/>
                <a:ea typeface="Garamond"/>
                <a:cs typeface="Garamond"/>
                <a:sym typeface="Garamond"/>
              </a:rPr>
              <a:t>a Claimant </a:t>
            </a:r>
            <a:r>
              <a:rPr b="1" dirty="0" sz="3600" lang="en-US">
                <a:solidFill>
                  <a:schemeClr val="dk1"/>
                </a:solidFill>
                <a:latin typeface="Garamond"/>
                <a:ea typeface="Garamond"/>
                <a:cs typeface="Garamond"/>
                <a:sym typeface="Garamond"/>
              </a:rPr>
              <a:t>Can Take To A Defective Writ – Apply by Motion on Notice, affidavit and written address to rectify defect. </a:t>
            </a:r>
            <a:r>
              <a:rPr dirty="0" sz="3600" lang="en-US">
                <a:solidFill>
                  <a:schemeClr val="dk1"/>
                </a:solidFill>
                <a:latin typeface="Garamond"/>
                <a:ea typeface="Garamond"/>
                <a:cs typeface="Garamond"/>
                <a:sym typeface="Garamond"/>
              </a:rPr>
              <a:t>See </a:t>
            </a:r>
            <a:r>
              <a:rPr dirty="0" sz="3600" i="1" lang="en-US" err="1">
                <a:solidFill>
                  <a:schemeClr val="dk1"/>
                </a:solidFill>
                <a:latin typeface="Garamond"/>
                <a:ea typeface="Garamond"/>
                <a:cs typeface="Garamond"/>
                <a:sym typeface="Garamond"/>
              </a:rPr>
              <a:t>Okomu</a:t>
            </a:r>
            <a:r>
              <a:rPr dirty="0" sz="3600" i="1" lang="en-US">
                <a:solidFill>
                  <a:schemeClr val="dk1"/>
                </a:solidFill>
                <a:latin typeface="Garamond"/>
                <a:ea typeface="Garamond"/>
                <a:cs typeface="Garamond"/>
                <a:sym typeface="Garamond"/>
              </a:rPr>
              <a:t> Palm Co v </a:t>
            </a:r>
            <a:r>
              <a:rPr dirty="0" sz="3600" i="1" lang="en-US" err="1">
                <a:solidFill>
                  <a:schemeClr val="dk1"/>
                </a:solidFill>
                <a:latin typeface="Garamond"/>
                <a:ea typeface="Garamond"/>
                <a:cs typeface="Garamond"/>
                <a:sym typeface="Garamond"/>
              </a:rPr>
              <a:t>Iserhienrhien</a:t>
            </a:r>
            <a:r>
              <a:rPr dirty="0" sz="3600" i="1" lang="en-US">
                <a:solidFill>
                  <a:schemeClr val="dk1"/>
                </a:solidFill>
                <a:latin typeface="Garamond"/>
                <a:ea typeface="Garamond"/>
                <a:cs typeface="Garamond"/>
                <a:sym typeface="Garamond"/>
              </a:rPr>
              <a:t> (1996) 1 NWLR (Pt 422) 94; </a:t>
            </a:r>
            <a:r>
              <a:rPr dirty="0" sz="3600" i="1" lang="en-US" err="1">
                <a:solidFill>
                  <a:schemeClr val="dk1"/>
                </a:solidFill>
                <a:latin typeface="Garamond"/>
                <a:ea typeface="Garamond"/>
                <a:cs typeface="Garamond"/>
                <a:sym typeface="Garamond"/>
              </a:rPr>
              <a:t>Kupoluyi</a:t>
            </a:r>
            <a:r>
              <a:rPr dirty="0" sz="3600" i="1" lang="en-US">
                <a:solidFill>
                  <a:schemeClr val="dk1"/>
                </a:solidFill>
                <a:latin typeface="Garamond"/>
                <a:ea typeface="Garamond"/>
                <a:cs typeface="Garamond"/>
                <a:sym typeface="Garamond"/>
              </a:rPr>
              <a:t> v Philips (2001) 13 NWLR (Pt 731).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74" name="Shape 188"/>
        <p:cNvGrpSpPr/>
        <p:nvPr/>
      </p:nvGrpSpPr>
      <p:grpSpPr>
        <a:xfrm>
          <a:off x="0" y="0"/>
          <a:ext cx="0" cy="0"/>
          <a:chOff x="0" y="0"/>
          <a:chExt cx="0" cy="0"/>
        </a:xfrm>
      </p:grpSpPr>
      <p:sp>
        <p:nvSpPr>
          <p:cNvPr id="1048752" name="Shape 189"/>
          <p:cNvSpPr txBox="1">
            <a:spLocks noGrp="1"/>
          </p:cNvSpPr>
          <p:nvPr>
            <p:ph type="title"/>
          </p:nvPr>
        </p:nvSpPr>
        <p:spPr>
          <a:xfrm>
            <a:off x="838200" y="1"/>
            <a:ext cx="10515600" cy="1257299"/>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ELECTRONIC FILING AND SERVICE</a:t>
            </a:r>
            <a:endParaRPr dirty="0" i="1" lang="en-US">
              <a:solidFill>
                <a:srgbClr val="000000"/>
              </a:solidFill>
              <a:latin typeface="Garamond"/>
              <a:ea typeface="Garamond"/>
              <a:cs typeface="Garamond"/>
              <a:sym typeface="Garamond"/>
            </a:endParaRPr>
          </a:p>
        </p:txBody>
      </p:sp>
      <p:sp>
        <p:nvSpPr>
          <p:cNvPr id="1048753" name="Shape 190"/>
          <p:cNvSpPr txBox="1">
            <a:spLocks noGrp="1"/>
          </p:cNvSpPr>
          <p:nvPr>
            <p:ph idx="1"/>
          </p:nvPr>
        </p:nvSpPr>
        <p:spPr>
          <a:xfrm>
            <a:off x="0" y="1257300"/>
            <a:ext cx="12192000" cy="5600699"/>
          </a:xfrm>
          <a:prstGeom prst="rect"/>
          <a:noFill/>
          <a:ln>
            <a:noFill/>
          </a:ln>
        </p:spPr>
        <p:txBody>
          <a:bodyPr anchor="t" anchorCtr="0" bIns="45700" lIns="91425" rIns="91425" rtlCol="0" tIns="45700" vert="horz">
            <a:noAutofit/>
          </a:bodyPr>
          <a:p>
            <a:pPr algn="just">
              <a:spcBef>
                <a:spcPts val="640"/>
              </a:spcBef>
              <a:buClr>
                <a:schemeClr val="dk1"/>
              </a:buClr>
              <a:buSzPct val="100000"/>
              <a:buFont typeface="Wingdings" panose="05000000000000000000" pitchFamily="2" charset="2"/>
              <a:buChar char="Ø"/>
            </a:pPr>
            <a:r>
              <a:rPr b="1" dirty="0" sz="3600" lang="en-US">
                <a:solidFill>
                  <a:srgbClr val="000000"/>
                </a:solidFill>
                <a:latin typeface="Garamond"/>
                <a:ea typeface="Garamond"/>
                <a:cs typeface="Garamond"/>
                <a:sym typeface="Garamond"/>
              </a:rPr>
              <a:t>See generally </a:t>
            </a:r>
            <a:r>
              <a:rPr dirty="0" sz="3600" i="1" lang="en-US">
                <a:solidFill>
                  <a:srgbClr val="000000"/>
                </a:solidFill>
                <a:latin typeface="Garamond"/>
                <a:ea typeface="Garamond"/>
                <a:cs typeface="Garamond"/>
                <a:sym typeface="Garamond"/>
              </a:rPr>
              <a:t>Or. 3 </a:t>
            </a:r>
            <a:r>
              <a:rPr dirty="0" sz="3600" i="1" lang="en-US" err="1">
                <a:solidFill>
                  <a:srgbClr val="000000"/>
                </a:solidFill>
                <a:latin typeface="Garamond"/>
                <a:ea typeface="Garamond"/>
                <a:cs typeface="Garamond"/>
                <a:sym typeface="Garamond"/>
              </a:rPr>
              <a:t>Abj</a:t>
            </a:r>
            <a:endParaRPr dirty="0" sz="3400" lang="en-GB">
              <a:solidFill>
                <a:srgbClr val="000000"/>
              </a:solidFill>
              <a:latin typeface="Garamond"/>
              <a:ea typeface="Garamond"/>
              <a:cs typeface="Garamond"/>
              <a:sym typeface="Garamond"/>
            </a:endParaRPr>
          </a:p>
          <a:p>
            <a:pPr algn="just">
              <a:spcBef>
                <a:spcPts val="640"/>
              </a:spcBef>
              <a:buClr>
                <a:schemeClr val="dk1"/>
              </a:buClr>
              <a:buSzPct val="100000"/>
              <a:buFont typeface="Wingdings" panose="05000000000000000000" pitchFamily="2" charset="2"/>
              <a:buChar char="Ø"/>
            </a:pPr>
            <a:r>
              <a:rPr dirty="0" sz="3400" lang="en-GB">
                <a:solidFill>
                  <a:srgbClr val="000000"/>
                </a:solidFill>
                <a:latin typeface="Garamond"/>
                <a:ea typeface="Garamond"/>
                <a:cs typeface="Garamond"/>
                <a:sym typeface="Garamond"/>
              </a:rPr>
              <a:t>All process and service may be done electronically.</a:t>
            </a:r>
          </a:p>
          <a:p>
            <a:pPr algn="just">
              <a:spcBef>
                <a:spcPts val="640"/>
              </a:spcBef>
              <a:buClr>
                <a:schemeClr val="dk1"/>
              </a:buClr>
              <a:buSzPct val="100000"/>
              <a:buFont typeface="Wingdings" panose="05000000000000000000" pitchFamily="2" charset="2"/>
              <a:buChar char="Ø"/>
            </a:pPr>
            <a:r>
              <a:rPr dirty="0" sz="3400" lang="en-GB">
                <a:solidFill>
                  <a:srgbClr val="000000"/>
                </a:solidFill>
                <a:latin typeface="Garamond"/>
                <a:ea typeface="Garamond"/>
                <a:cs typeface="Garamond"/>
                <a:sym typeface="Garamond"/>
              </a:rPr>
              <a:t>Chief Judge is to establish E-filing Unit which will be responsible for management of documents and processes filed.</a:t>
            </a:r>
          </a:p>
          <a:p>
            <a:pPr algn="just">
              <a:spcBef>
                <a:spcPts val="640"/>
              </a:spcBef>
              <a:buClr>
                <a:schemeClr val="dk1"/>
              </a:buClr>
              <a:buSzPct val="100000"/>
              <a:buFont typeface="Wingdings" panose="05000000000000000000" pitchFamily="2" charset="2"/>
              <a:buChar char="Ø"/>
            </a:pPr>
            <a:r>
              <a:rPr dirty="0" sz="3400" lang="en-GB">
                <a:solidFill>
                  <a:srgbClr val="000000"/>
                </a:solidFill>
                <a:latin typeface="Garamond"/>
                <a:ea typeface="Garamond"/>
                <a:cs typeface="Garamond"/>
                <a:sym typeface="Garamond"/>
              </a:rPr>
              <a:t>The E-filing Unit shall run concurrently with the regular registry.</a:t>
            </a:r>
          </a:p>
          <a:p>
            <a:pPr algn="just">
              <a:spcBef>
                <a:spcPts val="640"/>
              </a:spcBef>
              <a:buClr>
                <a:schemeClr val="dk1"/>
              </a:buClr>
              <a:buSzPct val="100000"/>
              <a:buFont typeface="Wingdings" panose="05000000000000000000" pitchFamily="2" charset="2"/>
              <a:buChar char="Ø"/>
            </a:pPr>
            <a:r>
              <a:rPr dirty="0" sz="3400" lang="en-GB">
                <a:solidFill>
                  <a:srgbClr val="000000"/>
                </a:solidFill>
                <a:latin typeface="Garamond"/>
                <a:ea typeface="Garamond"/>
                <a:cs typeface="Garamond"/>
                <a:sym typeface="Garamond"/>
              </a:rPr>
              <a:t>The filing method adopted by the Claimant shall be followed by the Defendant </a:t>
            </a:r>
          </a:p>
          <a:p>
            <a:pPr algn="just">
              <a:spcBef>
                <a:spcPts val="640"/>
              </a:spcBef>
              <a:buClr>
                <a:schemeClr val="dk1"/>
              </a:buClr>
              <a:buSzPct val="100000"/>
              <a:buFont typeface="Wingdings" panose="05000000000000000000" pitchFamily="2" charset="2"/>
              <a:buChar char="Ø"/>
            </a:pPr>
            <a:r>
              <a:rPr dirty="0" sz="3400" lang="en-GB">
                <a:solidFill>
                  <a:srgbClr val="000000"/>
                </a:solidFill>
                <a:latin typeface="Garamond"/>
                <a:ea typeface="Garamond"/>
                <a:cs typeface="Garamond"/>
                <a:sym typeface="Garamond"/>
              </a:rPr>
              <a:t>Processes can validly signed electronically.</a:t>
            </a:r>
          </a:p>
          <a:p>
            <a:pPr algn="just">
              <a:spcBef>
                <a:spcPts val="640"/>
              </a:spcBef>
              <a:buClr>
                <a:schemeClr val="dk1"/>
              </a:buClr>
              <a:buSzPct val="100000"/>
              <a:buFont typeface="Wingdings" panose="05000000000000000000" pitchFamily="2" charset="2"/>
              <a:buChar char="Ø"/>
            </a:pPr>
            <a:r>
              <a:rPr dirty="0" sz="3400" lang="en-GB">
                <a:solidFill>
                  <a:srgbClr val="000000"/>
                </a:solidFill>
                <a:latin typeface="Garamond"/>
                <a:ea typeface="Garamond"/>
                <a:cs typeface="Garamond"/>
                <a:sym typeface="Garamond"/>
              </a:rPr>
              <a:t>Hearing in a case can be held virtually upon the application of the parties or direction of the Judge</a:t>
            </a:r>
            <a:endParaRPr dirty="0" sz="3400">
              <a:solidFill>
                <a:srgbClr val="000000"/>
              </a:solidFill>
              <a:latin typeface="Garamond"/>
              <a:ea typeface="Garamond"/>
              <a:cs typeface="Garamond"/>
              <a:sym typeface="Garamon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77" name="Shape 367"/>
        <p:cNvGrpSpPr/>
        <p:nvPr/>
      </p:nvGrpSpPr>
      <p:grpSpPr>
        <a:xfrm>
          <a:off x="0" y="0"/>
          <a:ext cx="0" cy="0"/>
          <a:chOff x="0" y="0"/>
          <a:chExt cx="0" cy="0"/>
        </a:xfrm>
      </p:grpSpPr>
      <p:sp>
        <p:nvSpPr>
          <p:cNvPr id="1048756" name="Shape 368"/>
          <p:cNvSpPr txBox="1">
            <a:spLocks noGrp="1"/>
          </p:cNvSpPr>
          <p:nvPr>
            <p:ph type="title"/>
          </p:nvPr>
        </p:nvSpPr>
        <p:spPr>
          <a:xfrm>
            <a:off x="838200" y="1"/>
            <a:ext cx="10515600" cy="1028699"/>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sz="4000" lang="en-US">
                <a:solidFill>
                  <a:schemeClr val="dk2"/>
                </a:solidFill>
                <a:latin typeface="Garamond"/>
                <a:ea typeface="Garamond"/>
                <a:cs typeface="Garamond"/>
                <a:sym typeface="Garamond"/>
              </a:rPr>
              <a:t>RENEWAL OF ORIGINATING PROCESS</a:t>
            </a:r>
          </a:p>
        </p:txBody>
      </p:sp>
      <p:sp>
        <p:nvSpPr>
          <p:cNvPr id="1048757" name="Shape 369"/>
          <p:cNvSpPr txBox="1">
            <a:spLocks noGrp="1"/>
          </p:cNvSpPr>
          <p:nvPr>
            <p:ph idx="1"/>
          </p:nvPr>
        </p:nvSpPr>
        <p:spPr>
          <a:xfrm>
            <a:off x="0" y="1028700"/>
            <a:ext cx="12192000" cy="5829300"/>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600" lang="en-US">
                <a:solidFill>
                  <a:schemeClr val="dk1"/>
                </a:solidFill>
                <a:latin typeface="Garamond"/>
                <a:ea typeface="Garamond"/>
                <a:cs typeface="Garamond"/>
                <a:sym typeface="Garamond"/>
              </a:rPr>
              <a:t>Life Span Of An Originating Process</a:t>
            </a:r>
            <a:r>
              <a:rPr dirty="0" sz="3600" lang="en-US">
                <a:solidFill>
                  <a:schemeClr val="dk1"/>
                </a:solidFill>
                <a:latin typeface="Garamond"/>
                <a:ea typeface="Garamond"/>
                <a:cs typeface="Garamond"/>
                <a:sym typeface="Garamond"/>
              </a:rPr>
              <a:t>. - 6 months in the first instance and may be renewed twice for a period of 3 months in each case. See </a:t>
            </a:r>
            <a:r>
              <a:rPr dirty="0" sz="3600" i="1" lang="en-US">
                <a:solidFill>
                  <a:schemeClr val="dk1"/>
                </a:solidFill>
                <a:latin typeface="Garamond"/>
                <a:ea typeface="Garamond"/>
                <a:cs typeface="Garamond"/>
                <a:sym typeface="Garamond"/>
              </a:rPr>
              <a:t>Or 8 r 6 &amp; 7 Lag. </a:t>
            </a:r>
            <a:r>
              <a:rPr dirty="0" sz="3600" i="1" lang="en-US" err="1">
                <a:solidFill>
                  <a:schemeClr val="dk1"/>
                </a:solidFill>
                <a:latin typeface="Garamond"/>
                <a:ea typeface="Garamond"/>
                <a:cs typeface="Garamond"/>
                <a:sym typeface="Garamond"/>
              </a:rPr>
              <a:t>Kolawole</a:t>
            </a:r>
            <a:r>
              <a:rPr dirty="0" sz="3600" i="1" lang="en-US">
                <a:solidFill>
                  <a:schemeClr val="dk1"/>
                </a:solidFill>
                <a:latin typeface="Garamond"/>
                <a:ea typeface="Garamond"/>
                <a:cs typeface="Garamond"/>
                <a:sym typeface="Garamond"/>
              </a:rPr>
              <a:t> v Alberto (1989) 1 NWLR (Pt. 98) p 328. </a:t>
            </a:r>
            <a:r>
              <a:rPr dirty="0" sz="3600" lang="en-US">
                <a:solidFill>
                  <a:schemeClr val="dk1"/>
                </a:solidFill>
                <a:latin typeface="Garamond"/>
                <a:ea typeface="Garamond"/>
                <a:cs typeface="Garamond"/>
                <a:sym typeface="Garamond"/>
              </a:rPr>
              <a:t>In Abuja the Writ is valid for 12 months and renewable for another 6 Months. See Order 8 Rule 6(1) &amp; (2).</a:t>
            </a:r>
          </a:p>
          <a:p>
            <a:pPr indent="-342900" marL="342900">
              <a:lnSpc>
                <a:spcPct val="100000"/>
              </a:lnSpc>
              <a:spcBef>
                <a:spcPts val="720"/>
              </a:spcBef>
              <a:buClr>
                <a:schemeClr val="dk1"/>
              </a:buClr>
              <a:buSzPct val="100000"/>
              <a:buFont typeface="Garamond"/>
              <a:buChar char="•"/>
            </a:pPr>
            <a:r>
              <a:rPr b="1" dirty="0" sz="3600" lang="en-US">
                <a:solidFill>
                  <a:schemeClr val="dk1"/>
                </a:solidFill>
                <a:latin typeface="Garamond"/>
                <a:ea typeface="Garamond"/>
                <a:cs typeface="Garamond"/>
                <a:sym typeface="Garamond"/>
              </a:rPr>
              <a:t>Procedure for Renewal – </a:t>
            </a:r>
            <a:r>
              <a:rPr dirty="0" sz="3600" i="1" lang="en-US">
                <a:solidFill>
                  <a:schemeClr val="dk1"/>
                </a:solidFill>
                <a:latin typeface="Garamond"/>
                <a:ea typeface="Garamond"/>
                <a:cs typeface="Garamond"/>
                <a:sym typeface="Garamond"/>
              </a:rPr>
              <a:t>Ex-parte </a:t>
            </a:r>
            <a:r>
              <a:rPr dirty="0" sz="3600" lang="en-US">
                <a:solidFill>
                  <a:schemeClr val="dk1"/>
                </a:solidFill>
                <a:latin typeface="Garamond"/>
                <a:ea typeface="Garamond"/>
                <a:cs typeface="Garamond"/>
                <a:sym typeface="Garamond"/>
              </a:rPr>
              <a:t>application, affidavit &amp; written address. Note endorsement to be made. The Claimant is required to apply for the renewal of the Writ within 14 days after the expiry of the Writ. See Or. 8 R. 6(2) </a:t>
            </a:r>
            <a:r>
              <a:rPr dirty="0" sz="3600" lang="en-US" err="1">
                <a:solidFill>
                  <a:schemeClr val="dk1"/>
                </a:solidFill>
                <a:latin typeface="Garamond"/>
                <a:ea typeface="Garamond"/>
                <a:cs typeface="Garamond"/>
                <a:sym typeface="Garamond"/>
              </a:rPr>
              <a:t>Abj</a:t>
            </a:r>
            <a:r>
              <a:rPr dirty="0" sz="3600" lang="en-US">
                <a:solidFill>
                  <a:schemeClr val="dk1"/>
                </a:solidFill>
                <a:latin typeface="Garamond"/>
                <a:ea typeface="Garamond"/>
                <a:cs typeface="Garamond"/>
                <a:sym typeface="Garamond"/>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80" name="Shape 374"/>
        <p:cNvGrpSpPr/>
        <p:nvPr/>
      </p:nvGrpSpPr>
      <p:grpSpPr>
        <a:xfrm>
          <a:off x="0" y="0"/>
          <a:ext cx="0" cy="0"/>
          <a:chOff x="0" y="0"/>
          <a:chExt cx="0" cy="0"/>
        </a:xfrm>
      </p:grpSpPr>
      <p:sp>
        <p:nvSpPr>
          <p:cNvPr id="1048761" name="Shape 375"/>
          <p:cNvSpPr txBox="1">
            <a:spLocks noGrp="1"/>
          </p:cNvSpPr>
          <p:nvPr>
            <p:ph type="title"/>
          </p:nvPr>
        </p:nvSpPr>
        <p:spPr>
          <a:xfrm>
            <a:off x="0" y="0"/>
            <a:ext cx="12191999" cy="1334125"/>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sz="4000" lang="en-US">
                <a:solidFill>
                  <a:schemeClr val="dk2"/>
                </a:solidFill>
                <a:latin typeface="Garamond"/>
                <a:ea typeface="Garamond"/>
                <a:cs typeface="Garamond"/>
                <a:sym typeface="Garamond"/>
              </a:rPr>
              <a:t>EFFECT OF NON-COMPLIANCE WITH RULES OF COURT</a:t>
            </a:r>
          </a:p>
        </p:txBody>
      </p:sp>
      <p:sp>
        <p:nvSpPr>
          <p:cNvPr id="1048762" name="Shape 376"/>
          <p:cNvSpPr txBox="1">
            <a:spLocks noGrp="1"/>
          </p:cNvSpPr>
          <p:nvPr>
            <p:ph idx="1"/>
          </p:nvPr>
        </p:nvSpPr>
        <p:spPr>
          <a:xfrm>
            <a:off x="0" y="2060574"/>
            <a:ext cx="12192000" cy="4797425"/>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600" lang="en-US">
                <a:solidFill>
                  <a:schemeClr val="dk1"/>
                </a:solidFill>
                <a:latin typeface="Garamond"/>
                <a:ea typeface="Garamond"/>
                <a:cs typeface="Garamond"/>
                <a:sym typeface="Garamond"/>
              </a:rPr>
              <a:t>Legal Effect of Non Compliance With The Rules</a:t>
            </a:r>
            <a:r>
              <a:rPr dirty="0" sz="3600" lang="en-US">
                <a:solidFill>
                  <a:schemeClr val="dk1"/>
                </a:solidFill>
                <a:latin typeface="Garamond"/>
                <a:ea typeface="Garamond"/>
                <a:cs typeface="Garamond"/>
                <a:sym typeface="Garamond"/>
              </a:rPr>
              <a:t>. – See</a:t>
            </a:r>
            <a:r>
              <a:rPr dirty="0" sz="3600" i="1" lang="en-US">
                <a:solidFill>
                  <a:schemeClr val="dk1"/>
                </a:solidFill>
                <a:latin typeface="Garamond"/>
                <a:ea typeface="Garamond"/>
                <a:cs typeface="Garamond"/>
                <a:sym typeface="Garamond"/>
              </a:rPr>
              <a:t> Or 7 </a:t>
            </a:r>
            <a:r>
              <a:rPr dirty="0" sz="3600" i="1" lang="en-US" err="1">
                <a:solidFill>
                  <a:schemeClr val="dk1"/>
                </a:solidFill>
                <a:latin typeface="Garamond"/>
                <a:ea typeface="Garamond"/>
                <a:cs typeface="Garamond"/>
                <a:sym typeface="Garamond"/>
              </a:rPr>
              <a:t>Abj</a:t>
            </a:r>
            <a:r>
              <a:rPr dirty="0" sz="3600" i="1" lang="en-US">
                <a:solidFill>
                  <a:schemeClr val="dk1"/>
                </a:solidFill>
                <a:latin typeface="Garamond"/>
                <a:ea typeface="Garamond"/>
                <a:cs typeface="Garamond"/>
                <a:sym typeface="Garamond"/>
              </a:rPr>
              <a:t>; Or. 7 Lag. See also </a:t>
            </a:r>
            <a:r>
              <a:rPr dirty="0" sz="3600" i="1" lang="en-US" err="1">
                <a:solidFill>
                  <a:schemeClr val="dk1"/>
                </a:solidFill>
                <a:latin typeface="Garamond"/>
                <a:ea typeface="Garamond"/>
                <a:cs typeface="Garamond"/>
                <a:sym typeface="Garamond"/>
              </a:rPr>
              <a:t>Ezomo</a:t>
            </a:r>
            <a:r>
              <a:rPr dirty="0" sz="3600" i="1" lang="en-US">
                <a:solidFill>
                  <a:schemeClr val="dk1"/>
                </a:solidFill>
                <a:latin typeface="Garamond"/>
                <a:ea typeface="Garamond"/>
                <a:cs typeface="Garamond"/>
                <a:sym typeface="Garamond"/>
              </a:rPr>
              <a:t> v </a:t>
            </a:r>
            <a:r>
              <a:rPr dirty="0" sz="3600" i="1" lang="en-US" err="1">
                <a:solidFill>
                  <a:schemeClr val="dk1"/>
                </a:solidFill>
                <a:latin typeface="Garamond"/>
                <a:ea typeface="Garamond"/>
                <a:cs typeface="Garamond"/>
                <a:sym typeface="Garamond"/>
              </a:rPr>
              <a:t>Oyakhire</a:t>
            </a:r>
            <a:r>
              <a:rPr dirty="0" sz="3600" i="1" lang="en-US">
                <a:solidFill>
                  <a:schemeClr val="dk1"/>
                </a:solidFill>
                <a:latin typeface="Garamond"/>
                <a:ea typeface="Garamond"/>
                <a:cs typeface="Garamond"/>
                <a:sym typeface="Garamond"/>
              </a:rPr>
              <a:t> Supra; </a:t>
            </a:r>
            <a:r>
              <a:rPr dirty="0" sz="3600" i="1" lang="en-US" err="1">
                <a:solidFill>
                  <a:schemeClr val="dk1"/>
                </a:solidFill>
                <a:latin typeface="Garamond"/>
                <a:ea typeface="Garamond"/>
                <a:cs typeface="Garamond"/>
                <a:sym typeface="Garamond"/>
              </a:rPr>
              <a:t>Nwabueze</a:t>
            </a:r>
            <a:r>
              <a:rPr dirty="0" sz="3600" i="1" lang="en-US">
                <a:solidFill>
                  <a:schemeClr val="dk1"/>
                </a:solidFill>
                <a:latin typeface="Garamond"/>
                <a:ea typeface="Garamond"/>
                <a:cs typeface="Garamond"/>
                <a:sym typeface="Garamond"/>
              </a:rPr>
              <a:t> v </a:t>
            </a:r>
            <a:r>
              <a:rPr dirty="0" sz="3600" i="1" lang="en-US" err="1">
                <a:solidFill>
                  <a:schemeClr val="dk1"/>
                </a:solidFill>
                <a:latin typeface="Garamond"/>
                <a:ea typeface="Garamond"/>
                <a:cs typeface="Garamond"/>
                <a:sym typeface="Garamond"/>
              </a:rPr>
              <a:t>Okoye</a:t>
            </a:r>
            <a:r>
              <a:rPr dirty="0" sz="3600" i="1" lang="en-US">
                <a:solidFill>
                  <a:schemeClr val="dk1"/>
                </a:solidFill>
                <a:latin typeface="Garamond"/>
                <a:ea typeface="Garamond"/>
                <a:cs typeface="Garamond"/>
                <a:sym typeface="Garamond"/>
              </a:rPr>
              <a:t> Supra; </a:t>
            </a:r>
            <a:r>
              <a:rPr dirty="0" sz="3600" i="1" lang="en-US" err="1">
                <a:solidFill>
                  <a:schemeClr val="dk1"/>
                </a:solidFill>
                <a:latin typeface="Garamond"/>
                <a:ea typeface="Garamond"/>
                <a:cs typeface="Garamond"/>
                <a:sym typeface="Garamond"/>
              </a:rPr>
              <a:t>Adegoke</a:t>
            </a:r>
            <a:r>
              <a:rPr dirty="0" sz="3600" i="1" lang="en-US">
                <a:solidFill>
                  <a:schemeClr val="dk1"/>
                </a:solidFill>
                <a:latin typeface="Garamond"/>
                <a:ea typeface="Garamond"/>
                <a:cs typeface="Garamond"/>
                <a:sym typeface="Garamond"/>
              </a:rPr>
              <a:t> v </a:t>
            </a:r>
            <a:r>
              <a:rPr dirty="0" sz="3600" i="1" lang="en-US" err="1">
                <a:solidFill>
                  <a:schemeClr val="dk1"/>
                </a:solidFill>
                <a:latin typeface="Garamond"/>
                <a:ea typeface="Garamond"/>
                <a:cs typeface="Garamond"/>
                <a:sym typeface="Garamond"/>
              </a:rPr>
              <a:t>Adesanya</a:t>
            </a:r>
            <a:r>
              <a:rPr dirty="0" sz="3600" i="1" lang="en-US">
                <a:solidFill>
                  <a:schemeClr val="dk1"/>
                </a:solidFill>
                <a:latin typeface="Garamond"/>
                <a:ea typeface="Garamond"/>
                <a:cs typeface="Garamond"/>
                <a:sym typeface="Garamond"/>
              </a:rPr>
              <a:t> Supra. </a:t>
            </a:r>
          </a:p>
          <a:p>
            <a:pPr indent="-342900" marL="342900">
              <a:spcBef>
                <a:spcPts val="720"/>
              </a:spcBef>
              <a:buClr>
                <a:schemeClr val="dk1"/>
              </a:buClr>
              <a:buSzPct val="100000"/>
              <a:buNone/>
            </a:pPr>
            <a:endParaRPr dirty="0" sz="3600" i="1">
              <a:solidFill>
                <a:schemeClr val="dk1"/>
              </a:solidFill>
              <a:latin typeface="Garamond"/>
              <a:ea typeface="Garamond"/>
              <a:cs typeface="Garamond"/>
              <a:sym typeface="Garamon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83" name="Shape 353"/>
        <p:cNvGrpSpPr/>
        <p:nvPr/>
      </p:nvGrpSpPr>
      <p:grpSpPr>
        <a:xfrm>
          <a:off x="0" y="0"/>
          <a:ext cx="0" cy="0"/>
          <a:chOff x="0" y="0"/>
          <a:chExt cx="0" cy="0"/>
        </a:xfrm>
      </p:grpSpPr>
      <p:sp>
        <p:nvSpPr>
          <p:cNvPr id="1048766" name="Shape 354"/>
          <p:cNvSpPr txBox="1">
            <a:spLocks noGrp="1"/>
          </p:cNvSpPr>
          <p:nvPr>
            <p:ph type="title"/>
          </p:nvPr>
        </p:nvSpPr>
        <p:spPr>
          <a:xfrm>
            <a:off x="1981200" y="0"/>
            <a:ext cx="8229600" cy="1668780"/>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Arial"/>
                <a:ea typeface="Arial"/>
                <a:cs typeface="Arial"/>
                <a:sym typeface="Arial"/>
              </a:rPr>
              <a:t>APPEARANCE AND DEFAULT OF APPEARNCE</a:t>
            </a:r>
          </a:p>
        </p:txBody>
      </p:sp>
      <p:sp>
        <p:nvSpPr>
          <p:cNvPr id="1048767" name="Shape 355"/>
          <p:cNvSpPr txBox="1">
            <a:spLocks noGrp="1"/>
          </p:cNvSpPr>
          <p:nvPr>
            <p:ph idx="1"/>
          </p:nvPr>
        </p:nvSpPr>
        <p:spPr>
          <a:xfrm>
            <a:off x="0" y="1668780"/>
            <a:ext cx="12192000" cy="5189220"/>
          </a:xfrm>
          <a:prstGeom prst="rect"/>
          <a:noFill/>
          <a:ln>
            <a:noFill/>
          </a:ln>
        </p:spPr>
        <p:txBody>
          <a:bodyPr anchor="t" anchorCtr="0" bIns="45700" lIns="91425" rIns="91425" rtlCol="0" tIns="45700" vert="horz">
            <a:noAutofit/>
          </a:bodyPr>
          <a:p>
            <a:pPr algn="just" indent="-342900" marL="342900">
              <a:lnSpc>
                <a:spcPct val="100000"/>
              </a:lnSpc>
              <a:spcBef>
                <a:spcPts val="0"/>
              </a:spcBef>
              <a:buClr>
                <a:schemeClr val="dk1"/>
              </a:buClr>
              <a:buSzPct val="100000"/>
              <a:buFont typeface="Garamond"/>
              <a:buChar char="•"/>
            </a:pPr>
            <a:endParaRPr b="1" dirty="0" sz="3200" lang="en-US">
              <a:solidFill>
                <a:schemeClr val="dk1"/>
              </a:solidFill>
              <a:latin typeface="Garamond"/>
              <a:ea typeface="Garamond"/>
              <a:cs typeface="Garamond"/>
              <a:sym typeface="Garamond"/>
            </a:endParaRPr>
          </a:p>
          <a:p>
            <a:pPr algn="just"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Meaning &amp; Procedure For Entering Appearance</a:t>
            </a:r>
            <a:r>
              <a:rPr dirty="0" sz="3200" lang="en-US">
                <a:solidFill>
                  <a:schemeClr val="dk1"/>
                </a:solidFill>
                <a:latin typeface="Garamond"/>
                <a:ea typeface="Garamond"/>
                <a:cs typeface="Garamond"/>
                <a:sym typeface="Garamond"/>
              </a:rPr>
              <a:t>. – Appearance which is conditional or unconditional submission to jurisdiction of court is entered by filing </a:t>
            </a:r>
            <a:r>
              <a:rPr b="1" dirty="0" sz="3200" lang="en-US">
                <a:solidFill>
                  <a:schemeClr val="dk1"/>
                </a:solidFill>
                <a:latin typeface="Garamond"/>
                <a:ea typeface="Garamond"/>
                <a:cs typeface="Garamond"/>
                <a:sym typeface="Garamond"/>
              </a:rPr>
              <a:t>Memorandum of Appearance</a:t>
            </a:r>
            <a:r>
              <a:rPr dirty="0" sz="3200" lang="en-US">
                <a:solidFill>
                  <a:schemeClr val="dk1"/>
                </a:solidFill>
                <a:latin typeface="Garamond"/>
                <a:ea typeface="Garamond"/>
                <a:cs typeface="Garamond"/>
                <a:sym typeface="Garamond"/>
              </a:rPr>
              <a:t> as in </a:t>
            </a:r>
            <a:r>
              <a:rPr b="1" dirty="0" sz="3200" lang="en-US">
                <a:solidFill>
                  <a:schemeClr val="dk1"/>
                </a:solidFill>
                <a:latin typeface="Garamond"/>
                <a:ea typeface="Garamond"/>
                <a:cs typeface="Garamond"/>
                <a:sym typeface="Garamond"/>
              </a:rPr>
              <a:t>Forms 11 &amp; 12 </a:t>
            </a:r>
            <a:r>
              <a:rPr dirty="0" sz="3200" lang="en-US">
                <a:solidFill>
                  <a:schemeClr val="dk1"/>
                </a:solidFill>
                <a:latin typeface="Garamond"/>
                <a:ea typeface="Garamond"/>
                <a:cs typeface="Garamond"/>
                <a:sym typeface="Garamond"/>
              </a:rPr>
              <a:t>in Lagos &amp; Abuja, respectively. </a:t>
            </a:r>
            <a:r>
              <a:rPr dirty="0" sz="3200" i="1" lang="en-US">
                <a:solidFill>
                  <a:schemeClr val="dk1"/>
                </a:solidFill>
                <a:latin typeface="Garamond"/>
                <a:ea typeface="Garamond"/>
                <a:cs typeface="Garamond"/>
                <a:sym typeface="Garamond"/>
              </a:rPr>
              <a:t>See Or 11 r. 1(1)-(3) Lag; Or  11 r. 1(1)-(3) </a:t>
            </a:r>
            <a:r>
              <a:rPr dirty="0" sz="3200" i="1" lang="en-US" err="1">
                <a:solidFill>
                  <a:schemeClr val="dk1"/>
                </a:solidFill>
                <a:latin typeface="Garamond"/>
                <a:ea typeface="Garamond"/>
                <a:cs typeface="Garamond"/>
                <a:sym typeface="Garamond"/>
              </a:rPr>
              <a:t>Abj</a:t>
            </a:r>
            <a:r>
              <a:rPr dirty="0" sz="3200" i="1" lang="en-US">
                <a:solidFill>
                  <a:schemeClr val="dk1"/>
                </a:solidFill>
                <a:latin typeface="Garamond"/>
                <a:ea typeface="Garamond"/>
                <a:cs typeface="Garamond"/>
                <a:sym typeface="Garamond"/>
              </a:rPr>
              <a:t>.</a:t>
            </a:r>
            <a:endParaRPr dirty="0" sz="3200" lang="en-US">
              <a:solidFill>
                <a:schemeClr val="dk1"/>
              </a:solidFill>
              <a:latin typeface="Garamond"/>
              <a:ea typeface="Garamond"/>
              <a:cs typeface="Garamond"/>
              <a:sym typeface="Garamond"/>
            </a:endParaRPr>
          </a:p>
          <a:p>
            <a:pPr algn="just" indent="-342900" marL="342900">
              <a:lnSpc>
                <a:spcPct val="100000"/>
              </a:lnSpc>
              <a:spcBef>
                <a:spcPts val="640"/>
              </a:spcBef>
              <a:buClr>
                <a:schemeClr val="dk1"/>
              </a:buClr>
              <a:buSzPct val="100000"/>
              <a:buFont typeface="Garamond"/>
              <a:buChar char="•"/>
            </a:pPr>
            <a:r>
              <a:rPr b="1" dirty="0" sz="3200" lang="en-US">
                <a:solidFill>
                  <a:schemeClr val="dk1"/>
                </a:solidFill>
                <a:latin typeface="Garamond"/>
                <a:ea typeface="Garamond"/>
                <a:cs typeface="Garamond"/>
                <a:sym typeface="Garamond"/>
              </a:rPr>
              <a:t>Time to enter appearance</a:t>
            </a:r>
            <a:r>
              <a:rPr dirty="0" lang="en-US">
                <a:latin typeface="Garamond"/>
                <a:ea typeface="Garamond"/>
                <a:cs typeface="Garamond"/>
                <a:sym typeface="Garamond"/>
              </a:rPr>
              <a:t> -</a:t>
            </a:r>
            <a:r>
              <a:rPr dirty="0" sz="3200" lang="en-US">
                <a:solidFill>
                  <a:schemeClr val="dk1"/>
                </a:solidFill>
                <a:latin typeface="Garamond"/>
                <a:ea typeface="Garamond"/>
                <a:cs typeface="Garamond"/>
                <a:sym typeface="Garamond"/>
              </a:rPr>
              <a:t> </a:t>
            </a:r>
            <a:r>
              <a:rPr b="1" dirty="0" sz="3200" lang="en-US">
                <a:solidFill>
                  <a:schemeClr val="dk1"/>
                </a:solidFill>
                <a:latin typeface="Garamond"/>
                <a:ea typeface="Garamond"/>
                <a:cs typeface="Garamond"/>
                <a:sym typeface="Garamond"/>
              </a:rPr>
              <a:t>42 days in </a:t>
            </a:r>
            <a:r>
              <a:rPr dirty="0" sz="3200" lang="en-US">
                <a:solidFill>
                  <a:schemeClr val="dk1"/>
                </a:solidFill>
                <a:latin typeface="Garamond"/>
                <a:ea typeface="Garamond"/>
                <a:cs typeface="Garamond"/>
                <a:sym typeface="Garamond"/>
              </a:rPr>
              <a:t>Lagos &amp; </a:t>
            </a:r>
            <a:r>
              <a:rPr b="1" dirty="0" sz="3200" lang="en-US">
                <a:solidFill>
                  <a:schemeClr val="dk1"/>
                </a:solidFill>
                <a:latin typeface="Garamond"/>
                <a:ea typeface="Garamond"/>
                <a:cs typeface="Garamond"/>
                <a:sym typeface="Garamond"/>
              </a:rPr>
              <a:t>21 days in </a:t>
            </a:r>
            <a:r>
              <a:rPr dirty="0" sz="3200" lang="en-US">
                <a:solidFill>
                  <a:schemeClr val="dk1"/>
                </a:solidFill>
                <a:latin typeface="Garamond"/>
                <a:ea typeface="Garamond"/>
                <a:cs typeface="Garamond"/>
                <a:sym typeface="Garamond"/>
              </a:rPr>
              <a:t>Abuja as stated on the form of Writ of Summons. Or. 1 r 1.</a:t>
            </a:r>
          </a:p>
          <a:p>
            <a:pPr algn="just" indent="-342900" marL="342900">
              <a:lnSpc>
                <a:spcPct val="100000"/>
              </a:lnSpc>
              <a:spcBef>
                <a:spcPts val="640"/>
              </a:spcBef>
              <a:buClr>
                <a:schemeClr val="dk1"/>
              </a:buClr>
              <a:buSzPct val="100000"/>
              <a:buFont typeface="Garamond"/>
              <a:buChar char="•"/>
            </a:pPr>
            <a:r>
              <a:rPr dirty="0" sz="3200" lang="en-US">
                <a:solidFill>
                  <a:schemeClr val="dk1"/>
                </a:solidFill>
                <a:latin typeface="Garamond"/>
                <a:ea typeface="Garamond"/>
                <a:cs typeface="Garamond"/>
                <a:sym typeface="Garamond"/>
              </a:rPr>
              <a:t>Note Conditional &amp; Unconditional Appearance.</a:t>
            </a:r>
          </a:p>
        </p:txBody>
      </p:sp>
    </p:spTree>
  </p:cSld>
  <p:clrMapOvr>
    <a:masterClrMapping/>
  </p:clrMapOvr>
  <p:transition spd="med"/>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10" presetSubtype="0">
                                  <p:stCondLst>
                                    <p:cond delay="0"/>
                                  </p:stCondLst>
                                  <p:childTnLst>
                                    <p:set>
                                      <p:cBhvr>
                                        <p:cTn dur="1" fill="hold" id="6">
                                          <p:stCondLst>
                                            <p:cond delay="0"/>
                                          </p:stCondLst>
                                        </p:cTn>
                                        <p:tgtEl>
                                          <p:spTgt spid="1048766"/>
                                        </p:tgtEl>
                                        <p:attrNameLst>
                                          <p:attrName>style.visibility</p:attrName>
                                        </p:attrNameLst>
                                      </p:cBhvr>
                                      <p:to>
                                        <p:strVal val="visible"/>
                                      </p:to>
                                    </p:set>
                                    <p:animEffect transition="in" filter="fade">
                                      <p:cBhvr>
                                        <p:cTn dur="2000" id="7"/>
                                        <p:tgtEl>
                                          <p:spTgt spid="1048766"/>
                                        </p:tgtEl>
                                      </p:cBhvr>
                                    </p:animEffect>
                                  </p:childTnLst>
                                </p:cTn>
                              </p:par>
                              <p:par>
                                <p:cTn fill="hold" id="8" nodeType="withEffect" presetClass="entr" presetID="10" presetSubtype="0">
                                  <p:stCondLst>
                                    <p:cond delay="0"/>
                                  </p:stCondLst>
                                  <p:childTnLst>
                                    <p:set>
                                      <p:cBhvr>
                                        <p:cTn dur="1" fill="hold" id="9">
                                          <p:stCondLst>
                                            <p:cond delay="0"/>
                                          </p:stCondLst>
                                        </p:cTn>
                                        <p:tgtEl>
                                          <p:spTgt spid="1048767"/>
                                        </p:tgtEl>
                                        <p:attrNameLst>
                                          <p:attrName>style.visibility</p:attrName>
                                        </p:attrNameLst>
                                      </p:cBhvr>
                                      <p:to>
                                        <p:strVal val="visible"/>
                                      </p:to>
                                    </p:set>
                                    <p:animEffect transition="in" filter="fade">
                                      <p:cBhvr>
                                        <p:cTn dur="2000" id="10"/>
                                        <p:tgtEl>
                                          <p:spTgt spid="1048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86" name="Shape 360"/>
        <p:cNvGrpSpPr/>
        <p:nvPr/>
      </p:nvGrpSpPr>
      <p:grpSpPr>
        <a:xfrm>
          <a:off x="0" y="0"/>
          <a:ext cx="0" cy="0"/>
          <a:chOff x="0" y="0"/>
          <a:chExt cx="0" cy="0"/>
        </a:xfrm>
      </p:grpSpPr>
      <p:sp>
        <p:nvSpPr>
          <p:cNvPr id="1048771" name="Shape 361"/>
          <p:cNvSpPr txBox="1">
            <a:spLocks noGrp="1"/>
          </p:cNvSpPr>
          <p:nvPr>
            <p:ph type="title"/>
          </p:nvPr>
        </p:nvSpPr>
        <p:spPr>
          <a:xfrm>
            <a:off x="1981200" y="115886"/>
            <a:ext cx="8229600" cy="1152600"/>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Arial"/>
                <a:ea typeface="Arial"/>
                <a:cs typeface="Arial"/>
                <a:sym typeface="Arial"/>
              </a:rPr>
              <a:t>APPEARANCE AND DEFAULT OF APPEARNCE</a:t>
            </a:r>
          </a:p>
        </p:txBody>
      </p:sp>
      <p:sp>
        <p:nvSpPr>
          <p:cNvPr id="1048772" name="Shape 362"/>
          <p:cNvSpPr txBox="1">
            <a:spLocks noGrp="1"/>
          </p:cNvSpPr>
          <p:nvPr>
            <p:ph idx="1"/>
          </p:nvPr>
        </p:nvSpPr>
        <p:spPr>
          <a:xfrm>
            <a:off x="0" y="1268413"/>
            <a:ext cx="12192000" cy="5589599"/>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Arial"/>
              <a:buChar char="•"/>
            </a:pPr>
            <a:r>
              <a:rPr b="1" dirty="0" sz="3600" lang="en-US">
                <a:solidFill>
                  <a:schemeClr val="dk1"/>
                </a:solidFill>
                <a:latin typeface="Garamond" panose="02020404030301010803" pitchFamily="18" charset="0"/>
                <a:ea typeface="Arial"/>
                <a:cs typeface="Arial"/>
                <a:sym typeface="Arial"/>
              </a:rPr>
              <a:t>Effect of Failure to Appear Within Time</a:t>
            </a:r>
            <a:r>
              <a:rPr dirty="0" sz="3600" lang="en-US">
                <a:solidFill>
                  <a:schemeClr val="dk1"/>
                </a:solidFill>
                <a:latin typeface="Garamond" panose="02020404030301010803" pitchFamily="18" charset="0"/>
                <a:ea typeface="Arial"/>
                <a:cs typeface="Arial"/>
                <a:sym typeface="Arial"/>
              </a:rPr>
              <a:t>. </a:t>
            </a:r>
            <a:r>
              <a:rPr dirty="0" sz="3200" lang="en-US">
                <a:solidFill>
                  <a:schemeClr val="dk1"/>
                </a:solidFill>
                <a:latin typeface="Garamond" panose="02020404030301010803" pitchFamily="18" charset="0"/>
                <a:ea typeface="Garamond"/>
                <a:cs typeface="Garamond"/>
                <a:sym typeface="Garamond"/>
              </a:rPr>
              <a:t>See</a:t>
            </a:r>
            <a:r>
              <a:rPr dirty="0" sz="3200" lang="en-US">
                <a:solidFill>
                  <a:schemeClr val="dk1"/>
                </a:solidFill>
                <a:latin typeface="Garamond" panose="02020404030301010803" pitchFamily="18" charset="0"/>
                <a:ea typeface="Arial"/>
                <a:cs typeface="Arial"/>
                <a:sym typeface="Arial"/>
              </a:rPr>
              <a:t> </a:t>
            </a:r>
            <a:r>
              <a:rPr dirty="0" sz="3200" i="1" lang="en-US">
                <a:solidFill>
                  <a:schemeClr val="dk1"/>
                </a:solidFill>
                <a:latin typeface="Garamond" panose="02020404030301010803" pitchFamily="18" charset="0"/>
                <a:ea typeface="Garamond"/>
                <a:cs typeface="Garamond"/>
                <a:sym typeface="Garamond"/>
              </a:rPr>
              <a:t>Or. 11 r 5 (Cost N1, 000 daily) &amp; Or 12 (Default) </a:t>
            </a:r>
            <a:r>
              <a:rPr dirty="0" sz="3200" i="1" lang="en-US">
                <a:latin typeface="Garamond" panose="02020404030301010803" pitchFamily="18" charset="0"/>
                <a:ea typeface="Garamond"/>
                <a:cs typeface="Garamond"/>
                <a:sym typeface="Garamond"/>
              </a:rPr>
              <a:t>Lag; and Or. 50 r 5 (N 500 daily) &amp; Or 11 r. 5 and Or. 12  (Default) </a:t>
            </a:r>
            <a:r>
              <a:rPr dirty="0" sz="3200" i="1" lang="en-US" err="1">
                <a:latin typeface="Garamond" panose="02020404030301010803" pitchFamily="18" charset="0"/>
                <a:ea typeface="Garamond"/>
                <a:cs typeface="Garamond"/>
                <a:sym typeface="Garamond"/>
              </a:rPr>
              <a:t>Abj</a:t>
            </a:r>
            <a:r>
              <a:rPr dirty="0" sz="3200" i="1" lang="en-US">
                <a:latin typeface="Garamond" panose="02020404030301010803" pitchFamily="18" charset="0"/>
                <a:ea typeface="Garamond"/>
                <a:cs typeface="Garamond"/>
                <a:sym typeface="Garamond"/>
              </a:rPr>
              <a:t>.</a:t>
            </a:r>
            <a:endParaRPr b="1" dirty="0" sz="3200" lang="en-US">
              <a:latin typeface="Garamond" panose="02020404030301010803" pitchFamily="18" charset="0"/>
              <a:ea typeface="Garamond"/>
              <a:cs typeface="Garamond"/>
              <a:sym typeface="Garamond"/>
            </a:endParaRPr>
          </a:p>
          <a:p>
            <a:pPr indent="-342900" marL="342900">
              <a:lnSpc>
                <a:spcPct val="100000"/>
              </a:lnSpc>
              <a:spcBef>
                <a:spcPts val="720"/>
              </a:spcBef>
              <a:buClr>
                <a:schemeClr val="dk1"/>
              </a:buClr>
              <a:buSzPct val="100000"/>
              <a:buFont typeface="Garamond"/>
              <a:buChar char="•"/>
            </a:pPr>
            <a:r>
              <a:rPr b="1" dirty="0" sz="3600" lang="en-US">
                <a:latin typeface="Garamond" panose="02020404030301010803" pitchFamily="18" charset="0"/>
                <a:ea typeface="Garamond"/>
                <a:cs typeface="Garamond"/>
                <a:sym typeface="Garamond"/>
              </a:rPr>
              <a:t>No Default Judgment In</a:t>
            </a:r>
            <a:r>
              <a:rPr b="1" dirty="0" sz="3600" lang="en-US">
                <a:solidFill>
                  <a:schemeClr val="dk1"/>
                </a:solidFill>
                <a:latin typeface="Garamond" panose="02020404030301010803" pitchFamily="18" charset="0"/>
                <a:ea typeface="Garamond"/>
                <a:cs typeface="Garamond"/>
                <a:sym typeface="Garamond"/>
              </a:rPr>
              <a:t> Declaratory Actions- </a:t>
            </a:r>
            <a:r>
              <a:rPr dirty="0" sz="3200" i="1" lang="en-US" err="1">
                <a:solidFill>
                  <a:schemeClr val="dk1"/>
                </a:solidFill>
                <a:latin typeface="Garamond" panose="02020404030301010803" pitchFamily="18" charset="0"/>
                <a:ea typeface="Garamond"/>
                <a:cs typeface="Garamond"/>
                <a:sym typeface="Garamond"/>
              </a:rPr>
              <a:t>Agbakoba</a:t>
            </a:r>
            <a:r>
              <a:rPr dirty="0" sz="3200" i="1" lang="en-US">
                <a:solidFill>
                  <a:schemeClr val="dk1"/>
                </a:solidFill>
                <a:latin typeface="Garamond" panose="02020404030301010803" pitchFamily="18" charset="0"/>
                <a:ea typeface="Garamond"/>
                <a:cs typeface="Garamond"/>
                <a:sym typeface="Garamond"/>
              </a:rPr>
              <a:t> v SSS.</a:t>
            </a:r>
          </a:p>
          <a:p>
            <a:pPr indent="-342900" marL="342900">
              <a:lnSpc>
                <a:spcPct val="100000"/>
              </a:lnSpc>
              <a:spcBef>
                <a:spcPts val="720"/>
              </a:spcBef>
              <a:buClr>
                <a:schemeClr val="dk1"/>
              </a:buClr>
              <a:buSzPct val="100000"/>
              <a:buFont typeface="Garamond"/>
              <a:buChar char="•"/>
            </a:pPr>
            <a:r>
              <a:rPr b="1" dirty="0" sz="3600" lang="en-US">
                <a:solidFill>
                  <a:schemeClr val="dk1"/>
                </a:solidFill>
                <a:latin typeface="Garamond" panose="02020404030301010803" pitchFamily="18" charset="0"/>
                <a:ea typeface="Garamond"/>
                <a:cs typeface="Garamond"/>
                <a:sym typeface="Garamond"/>
              </a:rPr>
              <a:t>Setting aside Judgment in Default.</a:t>
            </a:r>
            <a:r>
              <a:rPr b="1" dirty="0" sz="3200" lang="en-US">
                <a:solidFill>
                  <a:schemeClr val="dk1"/>
                </a:solidFill>
                <a:latin typeface="Garamond" panose="02020404030301010803" pitchFamily="18" charset="0"/>
                <a:ea typeface="Garamond"/>
                <a:cs typeface="Garamond"/>
                <a:sym typeface="Garamond"/>
              </a:rPr>
              <a:t> </a:t>
            </a:r>
            <a:r>
              <a:rPr dirty="0" sz="3200" i="1" lang="en-US">
                <a:solidFill>
                  <a:schemeClr val="dk1"/>
                </a:solidFill>
                <a:latin typeface="Garamond" panose="02020404030301010803" pitchFamily="18" charset="0"/>
                <a:ea typeface="Garamond"/>
                <a:cs typeface="Garamond"/>
                <a:sym typeface="Garamond"/>
              </a:rPr>
              <a:t>Or. 10 r. 12 </a:t>
            </a:r>
            <a:r>
              <a:rPr dirty="0" sz="3200" i="1" lang="en-US" err="1">
                <a:solidFill>
                  <a:schemeClr val="dk1"/>
                </a:solidFill>
                <a:latin typeface="Garamond" panose="02020404030301010803" pitchFamily="18" charset="0"/>
                <a:ea typeface="Garamond"/>
                <a:cs typeface="Garamond"/>
                <a:sym typeface="Garamond"/>
              </a:rPr>
              <a:t>Abj</a:t>
            </a:r>
            <a:r>
              <a:rPr dirty="0" sz="3200" i="1" lang="en-US">
                <a:solidFill>
                  <a:schemeClr val="dk1"/>
                </a:solidFill>
                <a:latin typeface="Garamond" panose="02020404030301010803" pitchFamily="18" charset="0"/>
                <a:ea typeface="Garamond"/>
                <a:cs typeface="Garamond"/>
                <a:sym typeface="Garamond"/>
              </a:rPr>
              <a:t>. &amp; Or 12 Lag. Reasonable time &amp; cause for delay, </a:t>
            </a:r>
            <a:r>
              <a:rPr dirty="0" sz="3200" i="1" lang="en-US" err="1">
                <a:solidFill>
                  <a:schemeClr val="dk1"/>
                </a:solidFill>
                <a:latin typeface="Garamond" panose="02020404030301010803" pitchFamily="18" charset="0"/>
                <a:ea typeface="Garamond"/>
                <a:cs typeface="Garamond"/>
                <a:sym typeface="Garamond"/>
              </a:rPr>
              <a:t>defence</a:t>
            </a:r>
            <a:r>
              <a:rPr dirty="0" sz="3200" i="1" lang="en-US">
                <a:solidFill>
                  <a:schemeClr val="dk1"/>
                </a:solidFill>
                <a:latin typeface="Garamond" panose="02020404030301010803" pitchFamily="18" charset="0"/>
                <a:ea typeface="Garamond"/>
                <a:cs typeface="Garamond"/>
                <a:sym typeface="Garamond"/>
              </a:rPr>
              <a:t> &amp; penalty payment. Note  Or. 21 r. 12 </a:t>
            </a:r>
            <a:r>
              <a:rPr dirty="0" sz="3200" i="1" lang="en-US" err="1">
                <a:solidFill>
                  <a:schemeClr val="dk1"/>
                </a:solidFill>
                <a:latin typeface="Garamond" panose="02020404030301010803" pitchFamily="18" charset="0"/>
                <a:ea typeface="Garamond"/>
                <a:cs typeface="Garamond"/>
                <a:sym typeface="Garamond"/>
              </a:rPr>
              <a:t>Abj</a:t>
            </a:r>
            <a:r>
              <a:rPr dirty="0" sz="3200" i="1" lang="en-US">
                <a:solidFill>
                  <a:schemeClr val="dk1"/>
                </a:solidFill>
                <a:latin typeface="Garamond" panose="02020404030301010803" pitchFamily="18" charset="0"/>
                <a:ea typeface="Garamond"/>
                <a:cs typeface="Garamond"/>
                <a:sym typeface="Garamond"/>
              </a:rPr>
              <a:t>. Or. 22 r. 12 Lagos.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89" name="Shape 380"/>
        <p:cNvGrpSpPr/>
        <p:nvPr/>
      </p:nvGrpSpPr>
      <p:grpSpPr>
        <a:xfrm>
          <a:off x="0" y="0"/>
          <a:ext cx="0" cy="0"/>
          <a:chOff x="0" y="0"/>
          <a:chExt cx="0" cy="0"/>
        </a:xfrm>
      </p:grpSpPr>
      <p:sp>
        <p:nvSpPr>
          <p:cNvPr id="1048776" name="Shape 381"/>
          <p:cNvSpPr txBox="1">
            <a:spLocks noGrp="1"/>
          </p:cNvSpPr>
          <p:nvPr>
            <p:ph type="title"/>
          </p:nvPr>
        </p:nvSpPr>
        <p:spPr>
          <a:xfrm>
            <a:off x="-1" y="0"/>
            <a:ext cx="11992131" cy="1364105"/>
          </a:xfrm>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FAST TRACK</a:t>
            </a:r>
            <a:br>
              <a:rPr b="1" dirty="0" lang="en-US">
                <a:solidFill>
                  <a:schemeClr val="dk2"/>
                </a:solidFill>
                <a:latin typeface="Garamond"/>
                <a:ea typeface="Garamond"/>
                <a:cs typeface="Garamond"/>
                <a:sym typeface="Garamond"/>
              </a:rPr>
            </a:br>
            <a:r>
              <a:rPr dirty="0" sz="3200" i="1" lang="en-US">
                <a:solidFill>
                  <a:srgbClr val="000000"/>
                </a:solidFill>
                <a:latin typeface="Garamond"/>
                <a:ea typeface="Garamond"/>
                <a:cs typeface="Garamond"/>
                <a:sym typeface="Garamond"/>
              </a:rPr>
              <a:t>Or. 59 Lag &amp; Or. 41 </a:t>
            </a:r>
            <a:r>
              <a:rPr dirty="0" sz="3200" i="1" lang="en-US" err="1">
                <a:solidFill>
                  <a:srgbClr val="000000"/>
                </a:solidFill>
                <a:latin typeface="Garamond"/>
                <a:ea typeface="Garamond"/>
                <a:cs typeface="Garamond"/>
                <a:sym typeface="Garamond"/>
              </a:rPr>
              <a:t>Abj</a:t>
            </a:r>
            <a:r>
              <a:rPr dirty="0" sz="3200" i="1" lang="en-US">
                <a:solidFill>
                  <a:srgbClr val="000000"/>
                </a:solidFill>
                <a:latin typeface="Garamond"/>
                <a:ea typeface="Garamond"/>
                <a:cs typeface="Garamond"/>
                <a:sym typeface="Garamond"/>
              </a:rPr>
              <a:t>.</a:t>
            </a:r>
          </a:p>
        </p:txBody>
      </p:sp>
      <p:sp>
        <p:nvSpPr>
          <p:cNvPr id="1048777" name="Shape 382"/>
          <p:cNvSpPr txBox="1">
            <a:spLocks noGrp="1"/>
          </p:cNvSpPr>
          <p:nvPr>
            <p:ph idx="1"/>
          </p:nvPr>
        </p:nvSpPr>
        <p:spPr>
          <a:xfrm>
            <a:off x="0" y="1844536"/>
            <a:ext cx="12191999" cy="5013464"/>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A special procedure </a:t>
            </a:r>
            <a:r>
              <a:rPr dirty="0" sz="3200" lang="en-US">
                <a:solidFill>
                  <a:schemeClr val="dk1"/>
                </a:solidFill>
                <a:latin typeface="Garamond"/>
                <a:ea typeface="Garamond"/>
                <a:cs typeface="Garamond"/>
                <a:sym typeface="Garamond"/>
              </a:rPr>
              <a:t>for</a:t>
            </a:r>
            <a:r>
              <a:rPr b="1" dirty="0" sz="3200" lang="en-US">
                <a:solidFill>
                  <a:schemeClr val="dk1"/>
                </a:solidFill>
                <a:latin typeface="Garamond"/>
                <a:ea typeface="Garamond"/>
                <a:cs typeface="Garamond"/>
                <a:sym typeface="Garamond"/>
              </a:rPr>
              <a:t> speedy trial of suits </a:t>
            </a:r>
            <a:r>
              <a:rPr dirty="0" sz="3200" lang="en-US">
                <a:solidFill>
                  <a:schemeClr val="dk1"/>
                </a:solidFill>
                <a:latin typeface="Garamond"/>
                <a:ea typeface="Garamond"/>
                <a:cs typeface="Garamond"/>
                <a:sym typeface="Garamond"/>
              </a:rPr>
              <a:t>commenced by way of </a:t>
            </a:r>
            <a:r>
              <a:rPr b="1" dirty="0" sz="3200" lang="en-US">
                <a:solidFill>
                  <a:schemeClr val="dk1"/>
                </a:solidFill>
                <a:latin typeface="Garamond"/>
                <a:ea typeface="Garamond"/>
                <a:cs typeface="Garamond"/>
                <a:sym typeface="Garamond"/>
              </a:rPr>
              <a:t>Writ of Summons</a:t>
            </a:r>
            <a:r>
              <a:rPr dirty="0" sz="3200" lang="en-US">
                <a:solidFill>
                  <a:schemeClr val="dk1"/>
                </a:solidFill>
                <a:latin typeface="Garamond"/>
                <a:ea typeface="Garamond"/>
                <a:cs typeface="Garamond"/>
                <a:sym typeface="Garamond"/>
              </a:rPr>
              <a:t>. Under the Lagos rules the trial from commencement is 9 months. No time is stated in Abuja rules.</a:t>
            </a:r>
          </a:p>
          <a:p>
            <a:pPr indent="-342900" marL="342900">
              <a:spcBef>
                <a:spcPts val="640"/>
              </a:spcBef>
              <a:buClr>
                <a:schemeClr val="dk1"/>
              </a:buClr>
              <a:buSzPct val="100000"/>
              <a:buNone/>
            </a:pPr>
            <a:endParaRPr dirty="0" sz="3200">
              <a:solidFill>
                <a:schemeClr val="dk1"/>
              </a:solidFill>
              <a:latin typeface="Garamond"/>
              <a:ea typeface="Garamond"/>
              <a:cs typeface="Garamond"/>
              <a:sym typeface="Garamon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92" name="Shape 386"/>
        <p:cNvGrpSpPr/>
        <p:nvPr/>
      </p:nvGrpSpPr>
      <p:grpSpPr>
        <a:xfrm>
          <a:off x="0" y="0"/>
          <a:ext cx="0" cy="0"/>
          <a:chOff x="0" y="0"/>
          <a:chExt cx="0" cy="0"/>
        </a:xfrm>
      </p:grpSpPr>
      <p:sp>
        <p:nvSpPr>
          <p:cNvPr id="1048780" name="Shape 387"/>
          <p:cNvSpPr txBox="1">
            <a:spLocks noGrp="1"/>
          </p:cNvSpPr>
          <p:nvPr>
            <p:ph type="title"/>
          </p:nvPr>
        </p:nvSpPr>
        <p:spPr>
          <a:xfrm>
            <a:off x="838200" y="1"/>
            <a:ext cx="10515600" cy="1259173"/>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FAST TRACK </a:t>
            </a:r>
            <a:br>
              <a:rPr b="1" dirty="0" lang="en-US">
                <a:solidFill>
                  <a:srgbClr val="000000"/>
                </a:solidFill>
                <a:latin typeface="Garamond"/>
                <a:ea typeface="Garamond"/>
                <a:cs typeface="Garamond"/>
                <a:sym typeface="Garamond"/>
              </a:rPr>
            </a:br>
            <a:r>
              <a:rPr dirty="0" sz="3200" i="1" lang="en-US">
                <a:solidFill>
                  <a:srgbClr val="000000"/>
                </a:solidFill>
                <a:latin typeface="Garamond"/>
                <a:ea typeface="Garamond"/>
                <a:cs typeface="Garamond"/>
                <a:sym typeface="Garamond"/>
              </a:rPr>
              <a:t>Or. 59 Lag.</a:t>
            </a:r>
          </a:p>
        </p:txBody>
      </p:sp>
      <p:sp>
        <p:nvSpPr>
          <p:cNvPr id="1048781" name="Shape 388"/>
          <p:cNvSpPr txBox="1">
            <a:spLocks noGrp="1"/>
          </p:cNvSpPr>
          <p:nvPr>
            <p:ph idx="1"/>
          </p:nvPr>
        </p:nvSpPr>
        <p:spPr>
          <a:xfrm>
            <a:off x="0" y="1600200"/>
            <a:ext cx="12192000" cy="5257800"/>
          </a:xfrm>
          <a:prstGeom prst="rect"/>
          <a:noFill/>
          <a:ln>
            <a:noFill/>
          </a:ln>
        </p:spPr>
        <p:txBody>
          <a:bodyPr anchor="t" anchorCtr="0" bIns="45700" lIns="91425" rIns="91425" rtlCol="0" tIns="45700" vert="horz">
            <a:noAutofit/>
          </a:bodyPr>
          <a:p>
            <a:pPr indent="0" marL="0">
              <a:lnSpc>
                <a:spcPct val="100000"/>
              </a:lnSpc>
              <a:spcBef>
                <a:spcPts val="0"/>
              </a:spcBef>
              <a:buClr>
                <a:srgbClr val="000000"/>
              </a:buClr>
              <a:buSzPct val="25000"/>
              <a:buNone/>
            </a:pPr>
            <a:r>
              <a:rPr b="1" dirty="0" sz="3200" lang="en-US">
                <a:solidFill>
                  <a:srgbClr val="000000"/>
                </a:solidFill>
                <a:latin typeface="Garamond"/>
                <a:ea typeface="Garamond"/>
                <a:cs typeface="Garamond"/>
                <a:sym typeface="Garamond"/>
              </a:rPr>
              <a:t>Lagos:</a:t>
            </a:r>
          </a:p>
          <a:p>
            <a:pPr indent="0" marL="0">
              <a:lnSpc>
                <a:spcPct val="100000"/>
              </a:lnSpc>
              <a:spcBef>
                <a:spcPts val="640"/>
              </a:spcBef>
              <a:buClr>
                <a:srgbClr val="000000"/>
              </a:buClr>
              <a:buSzPct val="100000"/>
              <a:buFont typeface="Garamond"/>
              <a:buChar char="•"/>
            </a:pPr>
            <a:r>
              <a:rPr b="1" dirty="0" sz="3200" lang="en-US">
                <a:solidFill>
                  <a:srgbClr val="000000"/>
                </a:solidFill>
                <a:latin typeface="Garamond"/>
                <a:ea typeface="Garamond"/>
                <a:cs typeface="Garamond"/>
                <a:sym typeface="Garamond"/>
              </a:rPr>
              <a:t>Qualification for Fast Track. </a:t>
            </a:r>
            <a:r>
              <a:rPr dirty="0" sz="3200" i="1" lang="en-US">
                <a:solidFill>
                  <a:srgbClr val="000000"/>
                </a:solidFill>
                <a:latin typeface="Garamond"/>
                <a:ea typeface="Garamond"/>
                <a:cs typeface="Garamond"/>
                <a:sym typeface="Garamond"/>
              </a:rPr>
              <a:t>Or 59 r. 2 Lag.</a:t>
            </a:r>
          </a:p>
          <a:p>
            <a:pPr indent="0" lvl="1" marL="457200">
              <a:lnSpc>
                <a:spcPct val="100000"/>
              </a:lnSpc>
              <a:spcBef>
                <a:spcPts val="640"/>
              </a:spcBef>
              <a:buClr>
                <a:srgbClr val="000000"/>
              </a:buClr>
              <a:buSzPct val="25000"/>
              <a:buNone/>
            </a:pPr>
            <a:r>
              <a:rPr dirty="0" sz="3200" lang="en-US">
                <a:solidFill>
                  <a:srgbClr val="000000"/>
                </a:solidFill>
                <a:latin typeface="Garamond"/>
                <a:ea typeface="Garamond"/>
                <a:cs typeface="Garamond"/>
                <a:sym typeface="Garamond"/>
              </a:rPr>
              <a:t>The action is commenced by </a:t>
            </a:r>
            <a:r>
              <a:rPr b="1" dirty="0" sz="3200" lang="en-US">
                <a:solidFill>
                  <a:srgbClr val="000000"/>
                </a:solidFill>
                <a:latin typeface="Garamond"/>
                <a:ea typeface="Garamond"/>
                <a:cs typeface="Garamond"/>
                <a:sym typeface="Garamond"/>
              </a:rPr>
              <a:t>Writ of Summons </a:t>
            </a:r>
            <a:r>
              <a:rPr dirty="0" sz="3200" lang="en-US">
                <a:solidFill>
                  <a:srgbClr val="000000"/>
                </a:solidFill>
                <a:latin typeface="Garamond"/>
                <a:ea typeface="Garamond"/>
                <a:cs typeface="Garamond"/>
                <a:sym typeface="Garamond"/>
              </a:rPr>
              <a:t>and  </a:t>
            </a:r>
          </a:p>
          <a:p>
            <a:pPr indent="0" lvl="1" marL="457200">
              <a:lnSpc>
                <a:spcPct val="100000"/>
              </a:lnSpc>
              <a:spcBef>
                <a:spcPts val="640"/>
              </a:spcBef>
              <a:buClr>
                <a:srgbClr val="000000"/>
              </a:buClr>
              <a:buSzPct val="100000"/>
              <a:buFont typeface="Arial"/>
              <a:buAutoNum type="arabicPeriod"/>
            </a:pPr>
            <a:r>
              <a:rPr dirty="0" sz="3200" lang="en-US">
                <a:solidFill>
                  <a:srgbClr val="000000"/>
                </a:solidFill>
                <a:latin typeface="Garamond"/>
                <a:ea typeface="Garamond"/>
                <a:cs typeface="Garamond"/>
                <a:sym typeface="Garamond"/>
              </a:rPr>
              <a:t> The claim or counterclaim is for </a:t>
            </a:r>
            <a:r>
              <a:rPr b="1" dirty="0" sz="3200" lang="en-US">
                <a:solidFill>
                  <a:srgbClr val="000000"/>
                </a:solidFill>
                <a:latin typeface="Garamond"/>
                <a:ea typeface="Garamond"/>
                <a:cs typeface="Garamond"/>
                <a:sym typeface="Garamond"/>
              </a:rPr>
              <a:t>liquidated monetary relief of a sum not less than One Hundred Million Naira</a:t>
            </a:r>
            <a:r>
              <a:rPr dirty="0" sz="3200" lang="en-US">
                <a:solidFill>
                  <a:srgbClr val="000000"/>
                </a:solidFill>
                <a:latin typeface="Garamond"/>
                <a:ea typeface="Garamond"/>
                <a:cs typeface="Garamond"/>
                <a:sym typeface="Garamond"/>
              </a:rPr>
              <a:t>, or </a:t>
            </a:r>
          </a:p>
          <a:p>
            <a:pPr indent="0" lvl="1" marL="457200">
              <a:lnSpc>
                <a:spcPct val="100000"/>
              </a:lnSpc>
              <a:spcBef>
                <a:spcPts val="640"/>
              </a:spcBef>
              <a:buClr>
                <a:srgbClr val="000000"/>
              </a:buClr>
              <a:buSzPct val="100000"/>
              <a:buFont typeface="Arial"/>
              <a:buAutoNum type="arabicPeriod"/>
            </a:pPr>
            <a:r>
              <a:rPr dirty="0" sz="3200" lang="en-US">
                <a:solidFill>
                  <a:srgbClr val="000000"/>
                </a:solidFill>
                <a:latin typeface="Garamond"/>
                <a:ea typeface="Garamond"/>
                <a:cs typeface="Garamond"/>
                <a:sym typeface="Garamond"/>
              </a:rPr>
              <a:t> The </a:t>
            </a:r>
            <a:r>
              <a:rPr b="1" dirty="0" sz="3200" lang="en-US">
                <a:solidFill>
                  <a:srgbClr val="000000"/>
                </a:solidFill>
                <a:latin typeface="Garamond"/>
                <a:ea typeface="Garamond"/>
                <a:cs typeface="Garamond"/>
                <a:sym typeface="Garamond"/>
              </a:rPr>
              <a:t>claim involves a mortgage transaction, charge or other securities. </a:t>
            </a:r>
          </a:p>
          <a:p>
            <a:pPr indent="0" lvl="1" marL="457200">
              <a:lnSpc>
                <a:spcPct val="100000"/>
              </a:lnSpc>
              <a:spcBef>
                <a:spcPts val="560"/>
              </a:spcBef>
              <a:buClr>
                <a:schemeClr val="dk1"/>
              </a:buClr>
              <a:buSzPct val="100000"/>
              <a:buNone/>
            </a:pPr>
            <a:endParaRPr dirty="0" sz="2800">
              <a:solidFill>
                <a:srgbClr val="000000"/>
              </a:solidFill>
              <a:latin typeface="Garamond"/>
              <a:ea typeface="Garamond"/>
              <a:cs typeface="Garamond"/>
              <a:sym typeface="Garamond"/>
            </a:endParaRPr>
          </a:p>
          <a:p>
            <a:pPr indent="0" marL="0">
              <a:lnSpc>
                <a:spcPct val="100000"/>
              </a:lnSpc>
              <a:spcBef>
                <a:spcPts val="640"/>
              </a:spcBef>
              <a:buClr>
                <a:schemeClr val="dk1"/>
              </a:buClr>
              <a:buSzPct val="25000"/>
              <a:buNone/>
            </a:pPr>
            <a:endParaRPr b="1" dirty="0" sz="3200">
              <a:solidFill>
                <a:srgbClr val="000000"/>
              </a:solidFill>
              <a:latin typeface="Garamond"/>
              <a:ea typeface="Garamond"/>
              <a:cs typeface="Garamond"/>
              <a:sym typeface="Garamond"/>
            </a:endParaRPr>
          </a:p>
          <a:p>
            <a:pPr indent="-342900" marL="342900">
              <a:spcBef>
                <a:spcPts val="640"/>
              </a:spcBef>
              <a:buClr>
                <a:schemeClr val="dk1"/>
              </a:buClr>
              <a:buSzPct val="100000"/>
              <a:buNone/>
            </a:pPr>
            <a:endParaRPr b="1" dirty="0" sz="3200">
              <a:solidFill>
                <a:srgbClr val="000000"/>
              </a:solidFill>
              <a:latin typeface="Garamond"/>
              <a:ea typeface="Garamond"/>
              <a:cs typeface="Garamond"/>
              <a:sym typeface="Garamon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95" name="Shape 392"/>
        <p:cNvGrpSpPr/>
        <p:nvPr/>
      </p:nvGrpSpPr>
      <p:grpSpPr>
        <a:xfrm>
          <a:off x="0" y="0"/>
          <a:ext cx="0" cy="0"/>
          <a:chOff x="0" y="0"/>
          <a:chExt cx="0" cy="0"/>
        </a:xfrm>
      </p:grpSpPr>
      <p:sp>
        <p:nvSpPr>
          <p:cNvPr id="1048784" name="Shape 393"/>
          <p:cNvSpPr txBox="1">
            <a:spLocks noGrp="1"/>
          </p:cNvSpPr>
          <p:nvPr>
            <p:ph type="title"/>
          </p:nvPr>
        </p:nvSpPr>
        <p:spPr>
          <a:xfrm>
            <a:off x="1981200" y="188912"/>
            <a:ext cx="8229600" cy="1008000"/>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FAST TRACK </a:t>
            </a:r>
            <a:br>
              <a:rPr b="1" dirty="0" lang="en-US">
                <a:solidFill>
                  <a:srgbClr val="000000"/>
                </a:solidFill>
                <a:latin typeface="Garamond"/>
                <a:ea typeface="Garamond"/>
                <a:cs typeface="Garamond"/>
                <a:sym typeface="Garamond"/>
              </a:rPr>
            </a:br>
            <a:r>
              <a:rPr dirty="0" sz="3200" i="1" lang="en-US">
                <a:solidFill>
                  <a:srgbClr val="000000"/>
                </a:solidFill>
                <a:latin typeface="Garamond"/>
                <a:ea typeface="Garamond"/>
                <a:cs typeface="Garamond"/>
                <a:sym typeface="Garamond"/>
              </a:rPr>
              <a:t>Or. 59 Lagos.</a:t>
            </a:r>
          </a:p>
        </p:txBody>
      </p:sp>
      <p:sp>
        <p:nvSpPr>
          <p:cNvPr id="1048785" name="Shape 394"/>
          <p:cNvSpPr txBox="1">
            <a:spLocks noGrp="1"/>
          </p:cNvSpPr>
          <p:nvPr>
            <p:ph idx="1"/>
          </p:nvPr>
        </p:nvSpPr>
        <p:spPr>
          <a:xfrm>
            <a:off x="0" y="1417638"/>
            <a:ext cx="12192000" cy="5324399"/>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Procedure</a:t>
            </a:r>
            <a:r>
              <a:rPr dirty="0" sz="3200" lang="en-US">
                <a:solidFill>
                  <a:schemeClr val="dk1"/>
                </a:solidFill>
                <a:latin typeface="Garamond"/>
                <a:ea typeface="Garamond"/>
                <a:cs typeface="Garamond"/>
                <a:sym typeface="Garamond"/>
              </a:rPr>
              <a:t> – Where case qualifies, the Asst. Chief Registrar shall mark Originating Process ‘QUALIFIED FOR FAST TRACK’ and direct payment of filing fees. </a:t>
            </a:r>
            <a:r>
              <a:rPr dirty="0" sz="3200" i="1" lang="en-US">
                <a:solidFill>
                  <a:schemeClr val="dk1"/>
                </a:solidFill>
                <a:latin typeface="Garamond"/>
                <a:ea typeface="Garamond"/>
                <a:cs typeface="Garamond"/>
                <a:sym typeface="Garamond"/>
              </a:rPr>
              <a:t>Or. 59 r. 3</a:t>
            </a:r>
          </a:p>
          <a:p>
            <a:pPr indent="-342900" marL="342900">
              <a:lnSpc>
                <a:spcPct val="100000"/>
              </a:lnSpc>
              <a:spcBef>
                <a:spcPts val="640"/>
              </a:spcBef>
              <a:buClr>
                <a:schemeClr val="dk1"/>
              </a:buClr>
              <a:buSzPct val="100000"/>
              <a:buFont typeface="Garamond"/>
              <a:buChar char="•"/>
            </a:pPr>
            <a:r>
              <a:rPr b="1" dirty="0" sz="3200" lang="en-US">
                <a:solidFill>
                  <a:schemeClr val="dk1"/>
                </a:solidFill>
                <a:latin typeface="Garamond"/>
                <a:ea typeface="Garamond"/>
                <a:cs typeface="Garamond"/>
                <a:sym typeface="Garamond"/>
              </a:rPr>
              <a:t>SERVICE</a:t>
            </a:r>
            <a:r>
              <a:rPr dirty="0" sz="3200" lang="en-US">
                <a:solidFill>
                  <a:schemeClr val="dk1"/>
                </a:solidFill>
                <a:latin typeface="Garamond"/>
                <a:ea typeface="Garamond"/>
                <a:cs typeface="Garamond"/>
                <a:sym typeface="Garamond"/>
              </a:rPr>
              <a:t> – Process must be </a:t>
            </a:r>
            <a:r>
              <a:rPr dirty="0" lang="en-US">
                <a:latin typeface="Garamond"/>
                <a:ea typeface="Garamond"/>
                <a:cs typeface="Garamond"/>
                <a:sym typeface="Garamond"/>
              </a:rPr>
              <a:t>served</a:t>
            </a:r>
            <a:r>
              <a:rPr dirty="0" sz="3200" lang="en-US">
                <a:solidFill>
                  <a:schemeClr val="dk1"/>
                </a:solidFill>
                <a:latin typeface="Garamond"/>
                <a:ea typeface="Garamond"/>
                <a:cs typeface="Garamond"/>
                <a:sym typeface="Garamond"/>
              </a:rPr>
              <a:t> within 14 days of filing - </a:t>
            </a:r>
            <a:r>
              <a:rPr dirty="0" sz="3200" i="1" lang="en-US">
                <a:solidFill>
                  <a:srgbClr val="000000"/>
                </a:solidFill>
                <a:latin typeface="Garamond"/>
                <a:ea typeface="Garamond"/>
                <a:cs typeface="Garamond"/>
                <a:sym typeface="Garamond"/>
              </a:rPr>
              <a:t>Or. 59 r. 4</a:t>
            </a:r>
          </a:p>
          <a:p>
            <a:pPr indent="-342900" marL="342900">
              <a:lnSpc>
                <a:spcPct val="100000"/>
              </a:lnSpc>
              <a:spcBef>
                <a:spcPts val="640"/>
              </a:spcBef>
              <a:buClr>
                <a:srgbClr val="000000"/>
              </a:buClr>
              <a:buSzPct val="100000"/>
              <a:buFont typeface="Garamond"/>
              <a:buChar char="•"/>
            </a:pPr>
            <a:r>
              <a:rPr b="1" dirty="0" sz="3200" lang="en-US">
                <a:solidFill>
                  <a:srgbClr val="000000"/>
                </a:solidFill>
                <a:latin typeface="Garamond"/>
                <a:ea typeface="Garamond"/>
                <a:cs typeface="Garamond"/>
                <a:sym typeface="Garamond"/>
              </a:rPr>
              <a:t>DEFENCE &amp; REPLY – Defence &amp; frontloaded documents </a:t>
            </a:r>
            <a:r>
              <a:rPr dirty="0" sz="3200" lang="en-US">
                <a:solidFill>
                  <a:srgbClr val="000000"/>
                </a:solidFill>
                <a:latin typeface="Garamond"/>
                <a:ea typeface="Garamond"/>
                <a:cs typeface="Garamond"/>
                <a:sym typeface="Garamond"/>
              </a:rPr>
              <a:t>to be </a:t>
            </a:r>
            <a:r>
              <a:rPr b="1" dirty="0" sz="3200" lang="en-US">
                <a:solidFill>
                  <a:srgbClr val="000000"/>
                </a:solidFill>
                <a:latin typeface="Garamond"/>
                <a:ea typeface="Garamond"/>
                <a:cs typeface="Garamond"/>
                <a:sym typeface="Garamond"/>
              </a:rPr>
              <a:t>filed </a:t>
            </a:r>
            <a:r>
              <a:rPr dirty="0" sz="3200" lang="en-US">
                <a:solidFill>
                  <a:srgbClr val="000000"/>
                </a:solidFill>
                <a:latin typeface="Garamond"/>
                <a:ea typeface="Garamond"/>
                <a:cs typeface="Garamond"/>
                <a:sym typeface="Garamond"/>
              </a:rPr>
              <a:t>within </a:t>
            </a:r>
            <a:r>
              <a:rPr b="1" dirty="0" sz="3200" lang="en-US">
                <a:solidFill>
                  <a:srgbClr val="000000"/>
                </a:solidFill>
                <a:latin typeface="Garamond"/>
                <a:ea typeface="Garamond"/>
                <a:cs typeface="Garamond"/>
                <a:sym typeface="Garamond"/>
              </a:rPr>
              <a:t>30 days </a:t>
            </a:r>
            <a:r>
              <a:rPr dirty="0" sz="3200" lang="en-US">
                <a:solidFill>
                  <a:srgbClr val="000000"/>
                </a:solidFill>
                <a:latin typeface="Garamond"/>
                <a:ea typeface="Garamond"/>
                <a:cs typeface="Garamond"/>
                <a:sym typeface="Garamond"/>
              </a:rPr>
              <a:t>of service. </a:t>
            </a:r>
            <a:r>
              <a:rPr b="1" dirty="0" sz="3200" lang="en-US">
                <a:solidFill>
                  <a:srgbClr val="000000"/>
                </a:solidFill>
                <a:latin typeface="Garamond"/>
                <a:ea typeface="Garamond"/>
                <a:cs typeface="Garamond"/>
                <a:sym typeface="Garamond"/>
              </a:rPr>
              <a:t>Reply</a:t>
            </a:r>
            <a:r>
              <a:rPr dirty="0" sz="3200" lang="en-US">
                <a:solidFill>
                  <a:srgbClr val="000000"/>
                </a:solidFill>
                <a:latin typeface="Garamond"/>
                <a:ea typeface="Garamond"/>
                <a:cs typeface="Garamond"/>
                <a:sym typeface="Garamond"/>
              </a:rPr>
              <a:t> by </a:t>
            </a:r>
            <a:r>
              <a:rPr b="1" dirty="0" sz="3200" lang="en-US">
                <a:solidFill>
                  <a:srgbClr val="000000"/>
                </a:solidFill>
                <a:latin typeface="Garamond"/>
                <a:ea typeface="Garamond"/>
                <a:cs typeface="Garamond"/>
                <a:sym typeface="Garamond"/>
              </a:rPr>
              <a:t>Claimant</a:t>
            </a:r>
            <a:r>
              <a:rPr dirty="0" sz="3200" lang="en-US">
                <a:solidFill>
                  <a:srgbClr val="000000"/>
                </a:solidFill>
                <a:latin typeface="Garamond"/>
                <a:ea typeface="Garamond"/>
                <a:cs typeface="Garamond"/>
                <a:sym typeface="Garamond"/>
              </a:rPr>
              <a:t> to be </a:t>
            </a:r>
            <a:r>
              <a:rPr b="1" dirty="0" sz="3200" lang="en-US">
                <a:solidFill>
                  <a:srgbClr val="000000"/>
                </a:solidFill>
                <a:latin typeface="Garamond"/>
                <a:ea typeface="Garamond"/>
                <a:cs typeface="Garamond"/>
                <a:sym typeface="Garamond"/>
              </a:rPr>
              <a:t>filed </a:t>
            </a:r>
            <a:r>
              <a:rPr dirty="0" sz="3200" lang="en-US">
                <a:solidFill>
                  <a:srgbClr val="000000"/>
                </a:solidFill>
                <a:latin typeface="Garamond"/>
                <a:ea typeface="Garamond"/>
                <a:cs typeface="Garamond"/>
                <a:sym typeface="Garamond"/>
              </a:rPr>
              <a:t>within 7 days of service. </a:t>
            </a:r>
            <a:r>
              <a:rPr dirty="0" sz="3200" i="1" lang="en-US">
                <a:solidFill>
                  <a:srgbClr val="000000"/>
                </a:solidFill>
                <a:latin typeface="Garamond"/>
                <a:ea typeface="Garamond"/>
                <a:cs typeface="Garamond"/>
                <a:sym typeface="Garamond"/>
              </a:rPr>
              <a:t>Or. 59 r. 5</a:t>
            </a:r>
          </a:p>
          <a:p>
            <a:pPr indent="0" marL="0">
              <a:lnSpc>
                <a:spcPct val="100000"/>
              </a:lnSpc>
              <a:spcBef>
                <a:spcPts val="640"/>
              </a:spcBef>
              <a:buClr>
                <a:srgbClr val="000000"/>
              </a:buClr>
              <a:buSzPct val="100000"/>
              <a:buNone/>
            </a:pPr>
            <a:r>
              <a:rPr dirty="0" sz="3200" lang="en-US">
                <a:solidFill>
                  <a:srgbClr val="000000"/>
                </a:solidFill>
                <a:latin typeface="Garamond"/>
                <a:ea typeface="Garamond"/>
                <a:cs typeface="Garamond"/>
                <a:sym typeface="Garamond"/>
              </a:rPr>
              <a:t> </a:t>
            </a:r>
          </a:p>
          <a:p>
            <a:pPr indent="-342900" marL="342900">
              <a:spcBef>
                <a:spcPts val="640"/>
              </a:spcBef>
              <a:buClr>
                <a:schemeClr val="dk1"/>
              </a:buClr>
              <a:buSzPct val="100000"/>
              <a:buNone/>
            </a:pPr>
            <a:endParaRPr b="1" dirty="0" sz="3200">
              <a:solidFill>
                <a:srgbClr val="000000"/>
              </a:solidFill>
              <a:latin typeface="Garamond"/>
              <a:ea typeface="Garamond"/>
              <a:cs typeface="Garamond"/>
              <a:sym typeface="Garamon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98" name="Shape 398"/>
        <p:cNvGrpSpPr/>
        <p:nvPr/>
      </p:nvGrpSpPr>
      <p:grpSpPr>
        <a:xfrm>
          <a:off x="0" y="0"/>
          <a:ext cx="0" cy="0"/>
          <a:chOff x="0" y="0"/>
          <a:chExt cx="0" cy="0"/>
        </a:xfrm>
      </p:grpSpPr>
      <p:sp>
        <p:nvSpPr>
          <p:cNvPr id="1048788" name="Shape 399"/>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FAST TRACK </a:t>
            </a:r>
            <a:br>
              <a:rPr b="1" dirty="0" lang="en-US">
                <a:solidFill>
                  <a:srgbClr val="000000"/>
                </a:solidFill>
                <a:latin typeface="Garamond"/>
                <a:ea typeface="Garamond"/>
                <a:cs typeface="Garamond"/>
                <a:sym typeface="Garamond"/>
              </a:rPr>
            </a:br>
            <a:r>
              <a:rPr dirty="0" sz="3200" i="1" lang="en-US">
                <a:solidFill>
                  <a:srgbClr val="000000"/>
                </a:solidFill>
                <a:latin typeface="Garamond"/>
                <a:ea typeface="Garamond"/>
                <a:cs typeface="Garamond"/>
                <a:sym typeface="Garamond"/>
              </a:rPr>
              <a:t>Or. 59 Lagos.</a:t>
            </a:r>
          </a:p>
        </p:txBody>
      </p:sp>
      <p:sp>
        <p:nvSpPr>
          <p:cNvPr id="1048789" name="Shape 400"/>
          <p:cNvSpPr txBox="1">
            <a:spLocks noGrp="1"/>
          </p:cNvSpPr>
          <p:nvPr>
            <p:ph idx="1"/>
          </p:nvPr>
        </p:nvSpPr>
        <p:spPr>
          <a:xfrm>
            <a:off x="0" y="1700210"/>
            <a:ext cx="12192000" cy="5157789"/>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Case Management Conference – </a:t>
            </a:r>
            <a:r>
              <a:rPr dirty="0" sz="3200" lang="en-US">
                <a:solidFill>
                  <a:schemeClr val="dk1"/>
                </a:solidFill>
                <a:latin typeface="Garamond"/>
                <a:ea typeface="Garamond"/>
                <a:cs typeface="Garamond"/>
                <a:sym typeface="Garamond"/>
              </a:rPr>
              <a:t>Within 7 days of close of pleadings. The Claimant or Defendant, where Claimant fails, applies as in Forms 17 &amp; 18. </a:t>
            </a:r>
            <a:r>
              <a:rPr dirty="0" sz="3200" i="1" lang="en-US">
                <a:solidFill>
                  <a:schemeClr val="dk1"/>
                </a:solidFill>
                <a:latin typeface="Garamond"/>
                <a:ea typeface="Garamond"/>
                <a:cs typeface="Garamond"/>
                <a:sym typeface="Garamond"/>
              </a:rPr>
              <a:t>Or. 59 r. 6. </a:t>
            </a:r>
          </a:p>
          <a:p>
            <a:pPr indent="-342900" marL="342900">
              <a:lnSpc>
                <a:spcPct val="100000"/>
              </a:lnSpc>
              <a:spcBef>
                <a:spcPts val="640"/>
              </a:spcBef>
              <a:buClr>
                <a:schemeClr val="dk1"/>
              </a:buClr>
              <a:buSzPct val="100000"/>
              <a:buFont typeface="Garamond"/>
              <a:buChar char="•"/>
            </a:pPr>
            <a:r>
              <a:rPr dirty="0" sz="3200" lang="en-US">
                <a:solidFill>
                  <a:schemeClr val="dk1"/>
                </a:solidFill>
                <a:latin typeface="Garamond"/>
                <a:ea typeface="Garamond"/>
                <a:cs typeface="Garamond"/>
                <a:sym typeface="Garamond"/>
              </a:rPr>
              <a:t>Conference must be concluded within 30 days, but may be extended by judge for a further period of 14 days. Shall be held from day to day &amp; adjourned only to comply with directions.</a:t>
            </a:r>
          </a:p>
          <a:p>
            <a:pPr indent="-342900" marL="342900">
              <a:lnSpc>
                <a:spcPct val="100000"/>
              </a:lnSpc>
              <a:spcBef>
                <a:spcPts val="640"/>
              </a:spcBef>
              <a:buClr>
                <a:schemeClr val="dk1"/>
              </a:buClr>
              <a:buSzPct val="25000"/>
              <a:buNone/>
            </a:pPr>
            <a:r>
              <a:rPr dirty="0" sz="3200" lang="en-US">
                <a:solidFill>
                  <a:schemeClr val="dk1"/>
                </a:solidFill>
                <a:latin typeface="Garamond"/>
                <a:ea typeface="Garamond"/>
                <a:cs typeface="Garamond"/>
                <a:sym typeface="Garamond"/>
              </a:rPr>
              <a:t> </a:t>
            </a:r>
          </a:p>
          <a:p>
            <a:pPr indent="-342900" marL="342900">
              <a:spcBef>
                <a:spcPts val="640"/>
              </a:spcBef>
              <a:buClr>
                <a:schemeClr val="dk1"/>
              </a:buClr>
              <a:buSzPct val="100000"/>
              <a:buNone/>
            </a:pPr>
            <a:endParaRPr dirty="0" sz="3200" i="1">
              <a:solidFill>
                <a:schemeClr val="dk1"/>
              </a:solidFill>
              <a:latin typeface="Garamond"/>
              <a:ea typeface="Garamond"/>
              <a:cs typeface="Garamond"/>
              <a:sym typeface="Garamon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01" name="Shape 404"/>
        <p:cNvGrpSpPr/>
        <p:nvPr/>
      </p:nvGrpSpPr>
      <p:grpSpPr>
        <a:xfrm>
          <a:off x="0" y="0"/>
          <a:ext cx="0" cy="0"/>
          <a:chOff x="0" y="0"/>
          <a:chExt cx="0" cy="0"/>
        </a:xfrm>
      </p:grpSpPr>
      <p:sp>
        <p:nvSpPr>
          <p:cNvPr id="1048792" name="Shape 405"/>
          <p:cNvSpPr txBox="1">
            <a:spLocks noGrp="1"/>
          </p:cNvSpPr>
          <p:nvPr>
            <p:ph type="title"/>
          </p:nvPr>
        </p:nvSpPr>
        <p:spPr>
          <a:xfrm>
            <a:off x="838200" y="1"/>
            <a:ext cx="10515600" cy="1064301"/>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FAST TRACK </a:t>
            </a:r>
            <a:br>
              <a:rPr b="1" dirty="0" lang="en-US">
                <a:solidFill>
                  <a:srgbClr val="000000"/>
                </a:solidFill>
                <a:latin typeface="Garamond"/>
                <a:ea typeface="Garamond"/>
                <a:cs typeface="Garamond"/>
                <a:sym typeface="Garamond"/>
              </a:rPr>
            </a:br>
            <a:r>
              <a:rPr dirty="0" sz="3200" i="1" lang="en-US">
                <a:solidFill>
                  <a:srgbClr val="000000"/>
                </a:solidFill>
                <a:latin typeface="Garamond"/>
                <a:ea typeface="Garamond"/>
                <a:cs typeface="Garamond"/>
                <a:sym typeface="Garamond"/>
              </a:rPr>
              <a:t>Or. 59 Lagos.</a:t>
            </a:r>
          </a:p>
        </p:txBody>
      </p:sp>
      <p:sp>
        <p:nvSpPr>
          <p:cNvPr id="1048793" name="Shape 406"/>
          <p:cNvSpPr txBox="1">
            <a:spLocks noGrp="1"/>
          </p:cNvSpPr>
          <p:nvPr>
            <p:ph idx="1"/>
          </p:nvPr>
        </p:nvSpPr>
        <p:spPr>
          <a:xfrm>
            <a:off x="0" y="1214203"/>
            <a:ext cx="12192000" cy="5643795"/>
          </a:xfrm>
          <a:prstGeom prst="rect"/>
          <a:noFill/>
          <a:ln>
            <a:noFill/>
          </a:ln>
        </p:spPr>
        <p:txBody>
          <a:bodyPr anchor="t" anchorCtr="0" bIns="45700" lIns="91425" rIns="91425" rtlCol="0" tIns="45700" vert="horz">
            <a:noAutofit/>
          </a:bodyPr>
          <a:p>
            <a:pPr indent="-342900" marL="342900">
              <a:lnSpc>
                <a:spcPct val="100000"/>
              </a:lnSpc>
              <a:spcBef>
                <a:spcPts val="0"/>
              </a:spcBef>
              <a:buClr>
                <a:srgbClr val="000000"/>
              </a:buClr>
              <a:buSzPct val="100000"/>
              <a:buFont typeface="Garamond"/>
              <a:buChar char="•"/>
            </a:pPr>
            <a:r>
              <a:rPr b="1" dirty="0" sz="3200" lang="en-US">
                <a:solidFill>
                  <a:srgbClr val="000000"/>
                </a:solidFill>
                <a:latin typeface="Garamond"/>
                <a:ea typeface="Garamond"/>
                <a:cs typeface="Garamond"/>
                <a:sym typeface="Garamond"/>
              </a:rPr>
              <a:t>Trial Direction – </a:t>
            </a:r>
            <a:r>
              <a:rPr dirty="0" sz="3200" lang="en-US">
                <a:solidFill>
                  <a:srgbClr val="000000"/>
                </a:solidFill>
                <a:latin typeface="Garamond"/>
                <a:ea typeface="Garamond"/>
                <a:cs typeface="Garamond"/>
                <a:sym typeface="Garamond"/>
              </a:rPr>
              <a:t>After conference, Report is issued and Chief Judge or Designated Judge to whom the case file is forwarded assigns case to Trial Judge. The trial judge at the first hearing is to issue directions, including timetable for hearing. </a:t>
            </a:r>
            <a:r>
              <a:rPr dirty="0" sz="3200" i="1" lang="en-US">
                <a:solidFill>
                  <a:srgbClr val="000000"/>
                </a:solidFill>
                <a:latin typeface="Garamond"/>
                <a:ea typeface="Garamond"/>
                <a:cs typeface="Garamond"/>
                <a:sym typeface="Garamond"/>
              </a:rPr>
              <a:t>Or 59 r. 8 </a:t>
            </a:r>
          </a:p>
          <a:p>
            <a:pPr indent="-342900" marL="342900">
              <a:lnSpc>
                <a:spcPct val="100000"/>
              </a:lnSpc>
              <a:spcBef>
                <a:spcPts val="640"/>
              </a:spcBef>
              <a:buClr>
                <a:schemeClr val="dk1"/>
              </a:buClr>
              <a:buSzPct val="100000"/>
              <a:buFont typeface="Garamond"/>
              <a:buChar char="•"/>
            </a:pPr>
            <a:r>
              <a:rPr b="1" dirty="0" sz="3200" lang="en-US">
                <a:solidFill>
                  <a:schemeClr val="dk1"/>
                </a:solidFill>
                <a:latin typeface="Garamond"/>
                <a:ea typeface="Garamond"/>
                <a:cs typeface="Garamond"/>
                <a:sym typeface="Garamond"/>
              </a:rPr>
              <a:t>Trial</a:t>
            </a:r>
            <a:r>
              <a:rPr dirty="0" sz="3200" lang="en-US">
                <a:solidFill>
                  <a:schemeClr val="dk1"/>
                </a:solidFill>
                <a:latin typeface="Garamond"/>
                <a:ea typeface="Garamond"/>
                <a:cs typeface="Garamond"/>
                <a:sym typeface="Garamond"/>
              </a:rPr>
              <a:t> </a:t>
            </a:r>
            <a:r>
              <a:rPr dirty="0" sz="3200" lang="en-US">
                <a:solidFill>
                  <a:schemeClr val="dk1"/>
                </a:solidFill>
                <a:latin typeface="Arial"/>
                <a:ea typeface="Arial"/>
                <a:cs typeface="Arial"/>
                <a:sym typeface="Arial"/>
              </a:rPr>
              <a:t>– </a:t>
            </a:r>
            <a:r>
              <a:rPr dirty="0" sz="3200" lang="en-US">
                <a:solidFill>
                  <a:schemeClr val="dk1"/>
                </a:solidFill>
                <a:latin typeface="Garamond"/>
                <a:ea typeface="Garamond"/>
                <a:cs typeface="Garamond"/>
                <a:sym typeface="Garamond"/>
              </a:rPr>
              <a:t>Day to day hearing and may only be adjourned in exceptional circumstances. </a:t>
            </a:r>
            <a:r>
              <a:rPr dirty="0" sz="3200" i="1" lang="en-US">
                <a:solidFill>
                  <a:schemeClr val="dk1"/>
                </a:solidFill>
                <a:latin typeface="Garamond"/>
                <a:ea typeface="Garamond"/>
                <a:cs typeface="Garamond"/>
                <a:sym typeface="Garamond"/>
              </a:rPr>
              <a:t>Or. 59 r. 11 &amp; 12. </a:t>
            </a:r>
            <a:r>
              <a:rPr b="1" dirty="0" sz="3200" lang="en-US">
                <a:solidFill>
                  <a:schemeClr val="dk1"/>
                </a:solidFill>
                <a:latin typeface="Garamond"/>
                <a:ea typeface="Garamond"/>
                <a:cs typeface="Garamond"/>
                <a:sym typeface="Garamond"/>
              </a:rPr>
              <a:t>Time</a:t>
            </a:r>
            <a:r>
              <a:rPr dirty="0" sz="3200" lang="en-US">
                <a:solidFill>
                  <a:schemeClr val="dk1"/>
                </a:solidFill>
                <a:latin typeface="Garamond"/>
                <a:ea typeface="Garamond"/>
                <a:cs typeface="Garamond"/>
                <a:sym typeface="Garamond"/>
              </a:rPr>
              <a:t> – Trial and addresses not to exceed 90 days from date of direction. </a:t>
            </a:r>
            <a:r>
              <a:rPr dirty="0" sz="3200" i="1" lang="en-US">
                <a:solidFill>
                  <a:schemeClr val="dk1"/>
                </a:solidFill>
                <a:latin typeface="Garamond"/>
                <a:ea typeface="Garamond"/>
                <a:cs typeface="Garamond"/>
                <a:sym typeface="Garamond"/>
              </a:rPr>
              <a:t>r. 13</a:t>
            </a:r>
            <a:r>
              <a:rPr dirty="0" sz="3200" lang="en-US">
                <a:solidFill>
                  <a:schemeClr val="dk1"/>
                </a:solidFill>
                <a:latin typeface="Garamond"/>
                <a:ea typeface="Garamond"/>
                <a:cs typeface="Garamond"/>
                <a:sym typeface="Garamond"/>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204" name="Shape 410"/>
        <p:cNvGrpSpPr/>
        <p:nvPr/>
      </p:nvGrpSpPr>
      <p:grpSpPr>
        <a:xfrm>
          <a:off x="0" y="0"/>
          <a:ext cx="0" cy="0"/>
          <a:chOff x="0" y="0"/>
          <a:chExt cx="0" cy="0"/>
        </a:xfrm>
      </p:grpSpPr>
      <p:sp>
        <p:nvSpPr>
          <p:cNvPr id="1048796" name="Shape 411"/>
          <p:cNvSpPr txBox="1">
            <a:spLocks noGrp="1"/>
          </p:cNvSpPr>
          <p:nvPr>
            <p:ph type="title"/>
          </p:nvPr>
        </p:nvSpPr>
        <p:spPr>
          <a:xfrm>
            <a:off x="838200" y="1"/>
            <a:ext cx="10515600" cy="1304143"/>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FAST TRACK </a:t>
            </a:r>
            <a:br>
              <a:rPr b="1" dirty="0" lang="en-US">
                <a:solidFill>
                  <a:srgbClr val="000000"/>
                </a:solidFill>
                <a:latin typeface="Garamond"/>
                <a:ea typeface="Garamond"/>
                <a:cs typeface="Garamond"/>
                <a:sym typeface="Garamond"/>
              </a:rPr>
            </a:br>
            <a:r>
              <a:rPr dirty="0" sz="3200" i="1" lang="en-US">
                <a:solidFill>
                  <a:srgbClr val="000000"/>
                </a:solidFill>
                <a:latin typeface="Garamond"/>
                <a:ea typeface="Garamond"/>
                <a:cs typeface="Garamond"/>
                <a:sym typeface="Garamond"/>
              </a:rPr>
              <a:t>Or. 59 Lagos.</a:t>
            </a:r>
          </a:p>
        </p:txBody>
      </p:sp>
      <p:sp>
        <p:nvSpPr>
          <p:cNvPr id="1048797" name="Shape 412"/>
          <p:cNvSpPr txBox="1">
            <a:spLocks noGrp="1"/>
          </p:cNvSpPr>
          <p:nvPr>
            <p:ph idx="1"/>
          </p:nvPr>
        </p:nvSpPr>
        <p:spPr>
          <a:xfrm>
            <a:off x="0" y="1304144"/>
            <a:ext cx="12192000" cy="5553855"/>
          </a:xfrm>
          <a:prstGeom prst="rect"/>
          <a:noFill/>
          <a:ln>
            <a:noFill/>
          </a:ln>
        </p:spPr>
        <p:txBody>
          <a:bodyPr anchor="t" anchorCtr="0" bIns="45700" lIns="91425" rIns="91425" rtlCol="0" tIns="45700" vert="horz">
            <a:noAutofit/>
          </a:bodyPr>
          <a:p>
            <a:pPr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Final address – </a:t>
            </a:r>
            <a:r>
              <a:rPr dirty="0" sz="3200" lang="en-US">
                <a:solidFill>
                  <a:schemeClr val="dk1"/>
                </a:solidFill>
                <a:latin typeface="Garamond"/>
                <a:ea typeface="Garamond"/>
                <a:cs typeface="Garamond"/>
                <a:sym typeface="Garamond"/>
              </a:rPr>
              <a:t>addresses shall be filed by the party beginning 14 days after close of evidence. The other party shall file his address14 days after service of the address of the party beginning. The party beginning may file a reply on points of law within 7 days of the service of the address of the other party on him. </a:t>
            </a:r>
            <a:r>
              <a:rPr dirty="0" sz="3200" i="1" lang="en-US">
                <a:solidFill>
                  <a:schemeClr val="dk1"/>
                </a:solidFill>
                <a:latin typeface="Garamond"/>
                <a:ea typeface="Garamond"/>
                <a:cs typeface="Garamond"/>
                <a:sym typeface="Garamond"/>
              </a:rPr>
              <a:t>Or. 59 r. 13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207" name="Shape 416"/>
        <p:cNvGrpSpPr/>
        <p:nvPr/>
      </p:nvGrpSpPr>
      <p:grpSpPr>
        <a:xfrm>
          <a:off x="0" y="0"/>
          <a:ext cx="0" cy="0"/>
          <a:chOff x="0" y="0"/>
          <a:chExt cx="0" cy="0"/>
        </a:xfrm>
      </p:grpSpPr>
      <p:sp>
        <p:nvSpPr>
          <p:cNvPr id="1048800" name="Shape 417"/>
          <p:cNvSpPr txBox="1">
            <a:spLocks noGrp="1"/>
          </p:cNvSpPr>
          <p:nvPr>
            <p:ph type="title"/>
          </p:nvPr>
        </p:nvSpPr>
        <p:spPr>
          <a:xfrm>
            <a:off x="1981200" y="0"/>
            <a:ext cx="8229600" cy="1844811"/>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FAST TRACK </a:t>
            </a:r>
            <a:br>
              <a:rPr b="1" dirty="0" lang="en-US">
                <a:solidFill>
                  <a:srgbClr val="000000"/>
                </a:solidFill>
                <a:latin typeface="Garamond"/>
                <a:ea typeface="Garamond"/>
                <a:cs typeface="Garamond"/>
                <a:sym typeface="Garamond"/>
              </a:rPr>
            </a:br>
            <a:r>
              <a:rPr dirty="0" sz="3200" i="1" lang="en-US">
                <a:solidFill>
                  <a:srgbClr val="000000"/>
                </a:solidFill>
                <a:latin typeface="Garamond"/>
                <a:ea typeface="Garamond"/>
                <a:cs typeface="Garamond"/>
                <a:sym typeface="Garamond"/>
              </a:rPr>
              <a:t>Or. 59 Lagos.</a:t>
            </a:r>
          </a:p>
        </p:txBody>
      </p:sp>
      <p:sp>
        <p:nvSpPr>
          <p:cNvPr id="1048801" name="Shape 418"/>
          <p:cNvSpPr txBox="1">
            <a:spLocks noGrp="1"/>
          </p:cNvSpPr>
          <p:nvPr>
            <p:ph idx="1"/>
          </p:nvPr>
        </p:nvSpPr>
        <p:spPr>
          <a:xfrm>
            <a:off x="0" y="2060574"/>
            <a:ext cx="12192000" cy="4797425"/>
          </a:xfrm>
          <a:prstGeom prst="rect"/>
          <a:noFill/>
          <a:ln>
            <a:noFill/>
          </a:ln>
        </p:spPr>
        <p:txBody>
          <a:bodyPr anchor="t" anchorCtr="0" bIns="45700" lIns="91425" rIns="91425" rtlCol="0" tIns="45700" vert="horz">
            <a:noAutofit/>
          </a:bodyPr>
          <a:p>
            <a:pPr indent="-342900" marL="342900">
              <a:lnSpc>
                <a:spcPct val="100000"/>
              </a:lnSpc>
              <a:spcBef>
                <a:spcPts val="0"/>
              </a:spcBef>
              <a:buClr>
                <a:srgbClr val="000000"/>
              </a:buClr>
              <a:buSzPct val="100000"/>
              <a:buFont typeface="Garamond"/>
              <a:buChar char="•"/>
            </a:pPr>
            <a:r>
              <a:rPr b="1" dirty="0" sz="3200" lang="en-US">
                <a:solidFill>
                  <a:srgbClr val="000000"/>
                </a:solidFill>
                <a:latin typeface="Garamond"/>
                <a:ea typeface="Garamond"/>
                <a:cs typeface="Garamond"/>
                <a:sym typeface="Garamond"/>
              </a:rPr>
              <a:t>Judgement – </a:t>
            </a:r>
            <a:r>
              <a:rPr dirty="0" sz="3200" lang="en-US">
                <a:solidFill>
                  <a:srgbClr val="000000"/>
                </a:solidFill>
                <a:latin typeface="Garamond"/>
                <a:ea typeface="Garamond"/>
                <a:cs typeface="Garamond"/>
                <a:sym typeface="Garamond"/>
              </a:rPr>
              <a:t>Judge shall </a:t>
            </a:r>
            <a:r>
              <a:rPr b="1" dirty="0" sz="3200" lang="en-US" err="1" u="sng">
                <a:solidFill>
                  <a:srgbClr val="000000"/>
                </a:solidFill>
                <a:latin typeface="Garamond"/>
                <a:ea typeface="Garamond"/>
                <a:cs typeface="Garamond"/>
                <a:sym typeface="Garamond"/>
              </a:rPr>
              <a:t>endeavour</a:t>
            </a:r>
            <a:r>
              <a:rPr dirty="0" sz="3200" lang="en-US">
                <a:solidFill>
                  <a:srgbClr val="000000"/>
                </a:solidFill>
                <a:latin typeface="Garamond"/>
                <a:ea typeface="Garamond"/>
                <a:cs typeface="Garamond"/>
                <a:sym typeface="Garamond"/>
              </a:rPr>
              <a:t> to deliver judgment within sixty(60) days of the completion of trial. The use of the word ‘</a:t>
            </a:r>
            <a:r>
              <a:rPr dirty="0" sz="3200" lang="en-US" err="1">
                <a:solidFill>
                  <a:srgbClr val="000000"/>
                </a:solidFill>
                <a:latin typeface="Garamond"/>
                <a:ea typeface="Garamond"/>
                <a:cs typeface="Garamond"/>
                <a:sym typeface="Garamond"/>
              </a:rPr>
              <a:t>endeavour</a:t>
            </a:r>
            <a:r>
              <a:rPr dirty="0" sz="3200" lang="en-US">
                <a:solidFill>
                  <a:srgbClr val="000000"/>
                </a:solidFill>
                <a:latin typeface="Garamond"/>
                <a:ea typeface="Garamond"/>
                <a:cs typeface="Garamond"/>
                <a:sym typeface="Garamond"/>
              </a:rPr>
              <a:t>’ is in the light of the constitutional 90 days. S. 294 CFRN 1999</a:t>
            </a:r>
          </a:p>
          <a:p>
            <a:pPr indent="-342900" marL="342900">
              <a:spcBef>
                <a:spcPts val="640"/>
              </a:spcBef>
              <a:buClr>
                <a:schemeClr val="dk1"/>
              </a:buClr>
              <a:buSzPct val="100000"/>
              <a:buNone/>
            </a:pPr>
            <a:endParaRPr dirty="0" sz="3200">
              <a:solidFill>
                <a:srgbClr val="000000"/>
              </a:solidFill>
              <a:latin typeface="Garamond"/>
              <a:ea typeface="Garamond"/>
              <a:cs typeface="Garamond"/>
              <a:sym typeface="Garamon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210" name="Shape 422"/>
        <p:cNvGrpSpPr/>
        <p:nvPr/>
      </p:nvGrpSpPr>
      <p:grpSpPr>
        <a:xfrm>
          <a:off x="0" y="0"/>
          <a:ext cx="0" cy="0"/>
          <a:chOff x="0" y="0"/>
          <a:chExt cx="0" cy="0"/>
        </a:xfrm>
      </p:grpSpPr>
      <p:sp>
        <p:nvSpPr>
          <p:cNvPr id="1048804" name="Shape 423"/>
          <p:cNvSpPr txBox="1">
            <a:spLocks noGrp="1"/>
          </p:cNvSpPr>
          <p:nvPr>
            <p:ph type="title"/>
          </p:nvPr>
        </p:nvSpPr>
        <p:spPr>
          <a:xfrm>
            <a:off x="1981200" y="274636"/>
            <a:ext cx="8229600" cy="1029508"/>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FAST TRACK </a:t>
            </a:r>
            <a:br>
              <a:rPr b="1" dirty="0" lang="en-US">
                <a:solidFill>
                  <a:srgbClr val="000000"/>
                </a:solidFill>
                <a:latin typeface="Garamond"/>
                <a:ea typeface="Garamond"/>
                <a:cs typeface="Garamond"/>
                <a:sym typeface="Garamond"/>
              </a:rPr>
            </a:br>
            <a:r>
              <a:rPr dirty="0" sz="3200" i="1" lang="en-US">
                <a:solidFill>
                  <a:srgbClr val="000000"/>
                </a:solidFill>
                <a:latin typeface="Garamond"/>
                <a:ea typeface="Garamond"/>
                <a:cs typeface="Garamond"/>
                <a:sym typeface="Garamond"/>
              </a:rPr>
              <a:t>Or. 41 Abuja.</a:t>
            </a:r>
          </a:p>
        </p:txBody>
      </p:sp>
      <p:sp>
        <p:nvSpPr>
          <p:cNvPr id="1048805" name="Shape 424"/>
          <p:cNvSpPr txBox="1">
            <a:spLocks noGrp="1"/>
          </p:cNvSpPr>
          <p:nvPr>
            <p:ph idx="1"/>
          </p:nvPr>
        </p:nvSpPr>
        <p:spPr>
          <a:xfrm>
            <a:off x="0" y="1304144"/>
            <a:ext cx="12192000" cy="5553856"/>
          </a:xfrm>
          <a:prstGeom prst="rect"/>
          <a:noFill/>
          <a:ln>
            <a:noFill/>
          </a:ln>
        </p:spPr>
        <p:txBody>
          <a:bodyPr anchor="t" anchorCtr="0" bIns="45700" lIns="91425" rIns="91425" rtlCol="0" tIns="45700" vert="horz">
            <a:noAutofit/>
          </a:bodyPr>
          <a:p>
            <a:pPr indent="0" marL="0">
              <a:lnSpc>
                <a:spcPct val="100000"/>
              </a:lnSpc>
              <a:spcBef>
                <a:spcPts val="0"/>
              </a:spcBef>
              <a:buClr>
                <a:schemeClr val="dk1"/>
              </a:buClr>
              <a:buSzPct val="25000"/>
              <a:buNone/>
            </a:pPr>
            <a:r>
              <a:rPr b="1" dirty="0" sz="3600" lang="en-US">
                <a:solidFill>
                  <a:schemeClr val="dk1"/>
                </a:solidFill>
                <a:latin typeface="Garamond"/>
                <a:ea typeface="Garamond"/>
                <a:cs typeface="Garamond"/>
                <a:sym typeface="Garamond"/>
              </a:rPr>
              <a:t>Abuja:</a:t>
            </a:r>
          </a:p>
          <a:p>
            <a:pPr indent="0" marL="0">
              <a:lnSpc>
                <a:spcPct val="100000"/>
              </a:lnSpc>
              <a:spcBef>
                <a:spcPts val="220"/>
              </a:spcBef>
              <a:buClr>
                <a:schemeClr val="dk1"/>
              </a:buClr>
              <a:buSzPct val="25000"/>
              <a:buNone/>
            </a:pPr>
            <a:endParaRPr b="1" dirty="0" sz="1100">
              <a:solidFill>
                <a:schemeClr val="dk1"/>
              </a:solidFill>
              <a:latin typeface="Garamond"/>
              <a:ea typeface="Garamond"/>
              <a:cs typeface="Garamond"/>
              <a:sym typeface="Garamond"/>
            </a:endParaRPr>
          </a:p>
          <a:p>
            <a:pPr indent="0" marL="0">
              <a:lnSpc>
                <a:spcPct val="100000"/>
              </a:lnSpc>
              <a:spcBef>
                <a:spcPts val="640"/>
              </a:spcBef>
              <a:buClr>
                <a:srgbClr val="000000"/>
              </a:buClr>
              <a:buSzPct val="100000"/>
              <a:buFont typeface="Garamond"/>
              <a:buChar char="•"/>
            </a:pPr>
            <a:r>
              <a:rPr b="1" dirty="0" sz="3200" lang="en-US">
                <a:solidFill>
                  <a:srgbClr val="000000"/>
                </a:solidFill>
                <a:latin typeface="Garamond"/>
                <a:ea typeface="Garamond"/>
                <a:cs typeface="Garamond"/>
                <a:sym typeface="Garamond"/>
              </a:rPr>
              <a:t>Qualification or Jurisdiction for Fast Track Division: </a:t>
            </a:r>
            <a:r>
              <a:rPr dirty="0" sz="3200" lang="en-US">
                <a:solidFill>
                  <a:srgbClr val="000000"/>
                </a:solidFill>
                <a:latin typeface="Garamond"/>
                <a:ea typeface="Garamond"/>
                <a:cs typeface="Garamond"/>
                <a:sym typeface="Garamond"/>
              </a:rPr>
              <a:t>Monetary claim of not less than 100million, and emanating from:  </a:t>
            </a:r>
          </a:p>
          <a:p>
            <a:pPr indent="0" marL="0">
              <a:lnSpc>
                <a:spcPct val="100000"/>
              </a:lnSpc>
              <a:spcBef>
                <a:spcPts val="640"/>
              </a:spcBef>
              <a:buClr>
                <a:srgbClr val="000000"/>
              </a:buClr>
              <a:buSzPct val="100000"/>
              <a:buFont typeface="Garamond"/>
              <a:buChar char="•"/>
            </a:pPr>
            <a:endParaRPr dirty="0" sz="3200" lang="en-US">
              <a:solidFill>
                <a:srgbClr val="000000"/>
              </a:solidFill>
              <a:latin typeface="Garamond"/>
              <a:ea typeface="Garamond"/>
              <a:cs typeface="Garamond"/>
              <a:sym typeface="Garamond"/>
            </a:endParaRPr>
          </a:p>
          <a:p>
            <a:pPr indent="-514350" marL="514350">
              <a:lnSpc>
                <a:spcPct val="100000"/>
              </a:lnSpc>
              <a:spcBef>
                <a:spcPts val="640"/>
              </a:spcBef>
              <a:buClr>
                <a:srgbClr val="000000"/>
              </a:buClr>
              <a:buSzPct val="100000"/>
              <a:buAutoNum type="alphaLcPeriod"/>
            </a:pPr>
            <a:r>
              <a:rPr dirty="0" sz="3200" lang="en-US">
                <a:solidFill>
                  <a:srgbClr val="000000"/>
                </a:solidFill>
                <a:latin typeface="Garamond"/>
                <a:ea typeface="Garamond"/>
                <a:cs typeface="Garamond"/>
                <a:sym typeface="Garamond"/>
              </a:rPr>
              <a:t>Banker/Customer transactions </a:t>
            </a:r>
          </a:p>
          <a:p>
            <a:pPr indent="-514350" marL="514350">
              <a:lnSpc>
                <a:spcPct val="100000"/>
              </a:lnSpc>
              <a:spcBef>
                <a:spcPts val="640"/>
              </a:spcBef>
              <a:buClr>
                <a:srgbClr val="000000"/>
              </a:buClr>
              <a:buSzPct val="100000"/>
              <a:buAutoNum type="alphaLcPeriod"/>
            </a:pPr>
            <a:r>
              <a:rPr dirty="0" sz="3200" lang="en-US">
                <a:solidFill>
                  <a:srgbClr val="000000"/>
                </a:solidFill>
                <a:latin typeface="Garamond"/>
                <a:ea typeface="Garamond"/>
                <a:cs typeface="Garamond"/>
                <a:sym typeface="Garamond"/>
              </a:rPr>
              <a:t>Commercial transactions</a:t>
            </a:r>
          </a:p>
          <a:p>
            <a:pPr indent="-342900" marL="342900">
              <a:spcBef>
                <a:spcPts val="640"/>
              </a:spcBef>
              <a:buClr>
                <a:schemeClr val="dk1"/>
              </a:buClr>
              <a:buSzPct val="100000"/>
              <a:buNone/>
            </a:pPr>
            <a:endParaRPr dirty="0" sz="3200" lang="en-GB">
              <a:solidFill>
                <a:srgbClr val="000000"/>
              </a:solidFill>
              <a:latin typeface="Garamond"/>
              <a:ea typeface="Garamond"/>
              <a:cs typeface="Garamond"/>
              <a:sym typeface="Garamond"/>
            </a:endParaRPr>
          </a:p>
          <a:p>
            <a:pPr indent="-342900" marL="342900">
              <a:spcBef>
                <a:spcPts val="640"/>
              </a:spcBef>
              <a:buClr>
                <a:schemeClr val="dk1"/>
              </a:buClr>
              <a:buSzPct val="100000"/>
              <a:buNone/>
            </a:pPr>
            <a:r>
              <a:rPr dirty="0" sz="3200" lang="en-GB">
                <a:solidFill>
                  <a:srgbClr val="000000"/>
                </a:solidFill>
                <a:latin typeface="Garamond"/>
                <a:ea typeface="Garamond"/>
                <a:cs typeface="Garamond"/>
                <a:sym typeface="Garamond"/>
              </a:rPr>
              <a:t>See Or 41 r. 2 &amp; 3.</a:t>
            </a:r>
            <a:endParaRPr dirty="0" sz="3200">
              <a:solidFill>
                <a:srgbClr val="000000"/>
              </a:solidFill>
              <a:latin typeface="Garamond"/>
              <a:ea typeface="Garamond"/>
              <a:cs typeface="Garamond"/>
              <a:sym typeface="Garamon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213" name="Shape 434"/>
        <p:cNvGrpSpPr/>
        <p:nvPr/>
      </p:nvGrpSpPr>
      <p:grpSpPr>
        <a:xfrm>
          <a:off x="0" y="0"/>
          <a:ext cx="0" cy="0"/>
          <a:chOff x="0" y="0"/>
          <a:chExt cx="0" cy="0"/>
        </a:xfrm>
      </p:grpSpPr>
      <p:sp>
        <p:nvSpPr>
          <p:cNvPr id="1048808" name="Shape 435"/>
          <p:cNvSpPr txBox="1">
            <a:spLocks noGrp="1"/>
          </p:cNvSpPr>
          <p:nvPr>
            <p:ph type="title"/>
          </p:nvPr>
        </p:nvSpPr>
        <p:spPr>
          <a:xfrm>
            <a:off x="838200" y="1"/>
            <a:ext cx="10515600" cy="1079291"/>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FAST TRACK </a:t>
            </a:r>
            <a:br>
              <a:rPr b="1" dirty="0" lang="en-US">
                <a:solidFill>
                  <a:srgbClr val="000000"/>
                </a:solidFill>
                <a:latin typeface="Garamond"/>
                <a:ea typeface="Garamond"/>
                <a:cs typeface="Garamond"/>
                <a:sym typeface="Garamond"/>
              </a:rPr>
            </a:br>
            <a:r>
              <a:rPr dirty="0" sz="3200" i="1" lang="en-US">
                <a:solidFill>
                  <a:srgbClr val="000000"/>
                </a:solidFill>
                <a:latin typeface="Garamond"/>
                <a:ea typeface="Garamond"/>
                <a:cs typeface="Garamond"/>
                <a:sym typeface="Garamond"/>
              </a:rPr>
              <a:t>Or. 41 Abuja</a:t>
            </a:r>
          </a:p>
        </p:txBody>
      </p:sp>
      <p:sp>
        <p:nvSpPr>
          <p:cNvPr id="1048809" name="Shape 436"/>
          <p:cNvSpPr txBox="1">
            <a:spLocks noGrp="1"/>
          </p:cNvSpPr>
          <p:nvPr>
            <p:ph idx="1"/>
          </p:nvPr>
        </p:nvSpPr>
        <p:spPr>
          <a:xfrm>
            <a:off x="0" y="1184223"/>
            <a:ext cx="12192000" cy="5673775"/>
          </a:xfrm>
          <a:prstGeom prst="rect"/>
          <a:noFill/>
          <a:ln>
            <a:noFill/>
          </a:ln>
        </p:spPr>
        <p:txBody>
          <a:bodyPr anchor="t" anchorCtr="0" bIns="45700" lIns="91425" rIns="91425" rtlCol="0" tIns="45700" vert="horz">
            <a:noAutofit/>
          </a:bodyPr>
          <a:p>
            <a:pPr algn="just" indent="-342900" marL="342900">
              <a:lnSpc>
                <a:spcPct val="100000"/>
              </a:lnSpc>
              <a:spcBef>
                <a:spcPts val="0"/>
              </a:spcBef>
              <a:buClr>
                <a:schemeClr val="dk1"/>
              </a:buClr>
              <a:buSzPct val="100000"/>
              <a:buFont typeface="Garamond"/>
              <a:buChar char="•"/>
            </a:pPr>
            <a:r>
              <a:rPr b="1" dirty="0" sz="3200" lang="en-US">
                <a:solidFill>
                  <a:schemeClr val="dk1"/>
                </a:solidFill>
                <a:latin typeface="Garamond"/>
                <a:ea typeface="Garamond"/>
                <a:cs typeface="Garamond"/>
                <a:sym typeface="Garamond"/>
              </a:rPr>
              <a:t>Procedure</a:t>
            </a:r>
            <a:r>
              <a:rPr dirty="0" sz="3200" lang="en-US">
                <a:solidFill>
                  <a:schemeClr val="dk1"/>
                </a:solidFill>
                <a:latin typeface="Garamond"/>
                <a:ea typeface="Garamond"/>
                <a:cs typeface="Garamond"/>
                <a:sym typeface="Garamond"/>
              </a:rPr>
              <a:t> – The Claimant shall present to the Fast Track Division Coordinator his Originating Process accompanied with a duly completed application form in </a:t>
            </a:r>
            <a:r>
              <a:rPr b="1" dirty="0" sz="3200" lang="en-US">
                <a:solidFill>
                  <a:schemeClr val="dk1"/>
                </a:solidFill>
                <a:latin typeface="Garamond"/>
                <a:ea typeface="Garamond"/>
                <a:cs typeface="Garamond"/>
                <a:sym typeface="Garamond"/>
              </a:rPr>
              <a:t>Forms 27, 28, 29 and 30</a:t>
            </a:r>
            <a:r>
              <a:rPr dirty="0" sz="3200" lang="en-US">
                <a:solidFill>
                  <a:schemeClr val="dk1"/>
                </a:solidFill>
                <a:latin typeface="Garamond"/>
                <a:ea typeface="Garamond"/>
                <a:cs typeface="Garamond"/>
                <a:sym typeface="Garamond"/>
              </a:rPr>
              <a:t>. </a:t>
            </a:r>
            <a:r>
              <a:rPr dirty="0" sz="3200" i="1" lang="en-US">
                <a:solidFill>
                  <a:schemeClr val="dk1"/>
                </a:solidFill>
                <a:latin typeface="Garamond"/>
                <a:ea typeface="Garamond"/>
                <a:cs typeface="Garamond"/>
                <a:sym typeface="Garamond"/>
              </a:rPr>
              <a:t>Or. 41 r. 4 </a:t>
            </a:r>
          </a:p>
          <a:p>
            <a:pPr algn="just" indent="-342900" marL="342900">
              <a:lnSpc>
                <a:spcPct val="100000"/>
              </a:lnSpc>
              <a:spcBef>
                <a:spcPts val="640"/>
              </a:spcBef>
              <a:buClr>
                <a:schemeClr val="dk1"/>
              </a:buClr>
              <a:buSzPct val="100000"/>
              <a:buFont typeface="Garamond"/>
              <a:buChar char="•"/>
            </a:pPr>
            <a:r>
              <a:rPr dirty="0" sz="3200" lang="en-US">
                <a:solidFill>
                  <a:schemeClr val="dk1"/>
                </a:solidFill>
                <a:latin typeface="Garamond"/>
                <a:ea typeface="Garamond"/>
                <a:cs typeface="Garamond"/>
                <a:sym typeface="Garamond"/>
              </a:rPr>
              <a:t>The Claimant is to pay a non-refundable fast track fee of N500,000.00</a:t>
            </a:r>
            <a:r>
              <a:rPr dirty="0" sz="3200" i="1" lang="en-US">
                <a:solidFill>
                  <a:schemeClr val="dk1"/>
                </a:solidFill>
                <a:latin typeface="Garamond"/>
                <a:ea typeface="Garamond"/>
                <a:cs typeface="Garamond"/>
                <a:sym typeface="Garamond"/>
              </a:rPr>
              <a:t>. Or. 41 r. 7</a:t>
            </a:r>
            <a:r>
              <a:rPr b="1" dirty="0" sz="3200" lang="en-US">
                <a:solidFill>
                  <a:schemeClr val="dk1"/>
                </a:solidFill>
                <a:latin typeface="Garamond"/>
                <a:ea typeface="Garamond"/>
                <a:cs typeface="Garamond"/>
                <a:sym typeface="Garamond"/>
              </a:rPr>
              <a:t> .</a:t>
            </a:r>
          </a:p>
          <a:p>
            <a:pPr algn="just" indent="-342900" marL="342900">
              <a:lnSpc>
                <a:spcPct val="100000"/>
              </a:lnSpc>
              <a:spcBef>
                <a:spcPts val="640"/>
              </a:spcBef>
              <a:buClr>
                <a:schemeClr val="dk1"/>
              </a:buClr>
              <a:buSzPct val="100000"/>
              <a:buFont typeface="Garamond"/>
              <a:buChar char="•"/>
            </a:pPr>
            <a:r>
              <a:rPr dirty="0" sz="3200" lang="en-US">
                <a:solidFill>
                  <a:schemeClr val="dk1"/>
                </a:solidFill>
                <a:latin typeface="Garamond"/>
                <a:ea typeface="Garamond"/>
                <a:cs typeface="Garamond"/>
                <a:sym typeface="Garamond"/>
              </a:rPr>
              <a:t>The time to respond to originating processes and the entire duration of the trial is not specified.</a:t>
            </a:r>
          </a:p>
          <a:p>
            <a:pPr algn="just" indent="-342900" marL="342900">
              <a:lnSpc>
                <a:spcPct val="100000"/>
              </a:lnSpc>
              <a:spcBef>
                <a:spcPts val="640"/>
              </a:spcBef>
              <a:buClr>
                <a:schemeClr val="dk1"/>
              </a:buClr>
              <a:buSzPct val="100000"/>
              <a:buFont typeface="Garamond"/>
              <a:buChar char="•"/>
            </a:pPr>
            <a:r>
              <a:rPr dirty="0" sz="3200" lang="en-US">
                <a:solidFill>
                  <a:schemeClr val="dk1"/>
                </a:solidFill>
                <a:latin typeface="Garamond"/>
                <a:ea typeface="Garamond"/>
                <a:cs typeface="Garamond"/>
                <a:sym typeface="Garamond"/>
              </a:rPr>
              <a:t>Amendment of processes is not allowed after commencement of trial.</a:t>
            </a:r>
          </a:p>
          <a:p>
            <a:pPr algn="just" indent="-342900" marL="342900">
              <a:lnSpc>
                <a:spcPct val="100000"/>
              </a:lnSpc>
              <a:spcBef>
                <a:spcPts val="640"/>
              </a:spcBef>
              <a:buClr>
                <a:schemeClr val="dk1"/>
              </a:buClr>
              <a:buSzPct val="100000"/>
              <a:buFont typeface="Garamond"/>
              <a:buChar char="•"/>
            </a:pPr>
            <a:r>
              <a:rPr b="1" dirty="0" sz="3200" lang="en-US">
                <a:solidFill>
                  <a:schemeClr val="dk1"/>
                </a:solidFill>
                <a:latin typeface="Garamond"/>
                <a:ea typeface="Garamond"/>
                <a:cs typeface="Garamond"/>
                <a:sym typeface="Garamond"/>
              </a:rPr>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216" name="Shape 440"/>
        <p:cNvGrpSpPr/>
        <p:nvPr/>
      </p:nvGrpSpPr>
      <p:grpSpPr>
        <a:xfrm>
          <a:off x="0" y="0"/>
          <a:ext cx="0" cy="0"/>
          <a:chOff x="0" y="0"/>
          <a:chExt cx="0" cy="0"/>
        </a:xfrm>
      </p:grpSpPr>
      <p:sp>
        <p:nvSpPr>
          <p:cNvPr id="1048812" name="Shape 441"/>
          <p:cNvSpPr txBox="1">
            <a:spLocks noGrp="1"/>
          </p:cNvSpPr>
          <p:nvPr>
            <p:ph type="title"/>
          </p:nvPr>
        </p:nvSpPr>
        <p:spPr>
          <a:xfrm>
            <a:off x="205740" y="1"/>
            <a:ext cx="11148060" cy="1303019"/>
          </a:xfrm>
          <a:prstGeom prst="rect"/>
          <a:noFill/>
          <a:ln>
            <a:noFill/>
          </a:ln>
        </p:spPr>
        <p:txBody>
          <a:bodyPr anchor="ctr" anchorCtr="0" bIns="45700" lIns="91425" rIns="91425" rtlCol="0" tIns="45700" vert="horz">
            <a:noAutofit/>
          </a:bodyPr>
          <a:p>
            <a:pPr algn="ctr">
              <a:lnSpc>
                <a:spcPct val="100000"/>
              </a:lnSpc>
              <a:spcBef>
                <a:spcPts val="0"/>
              </a:spcBef>
              <a:buClr>
                <a:srgbClr val="000000"/>
              </a:buClr>
              <a:buSzPct val="25000"/>
            </a:pPr>
            <a:r>
              <a:rPr b="1" dirty="0" lang="en-US">
                <a:solidFill>
                  <a:srgbClr val="000000"/>
                </a:solidFill>
                <a:latin typeface="Garamond"/>
                <a:ea typeface="Garamond"/>
                <a:cs typeface="Garamond"/>
                <a:sym typeface="Garamond"/>
              </a:rPr>
              <a:t>FAST TRACK – </a:t>
            </a:r>
            <a:r>
              <a:rPr dirty="0" sz="3200" i="1" lang="en-US">
                <a:solidFill>
                  <a:srgbClr val="000000"/>
                </a:solidFill>
                <a:latin typeface="Garamond"/>
                <a:ea typeface="Garamond"/>
                <a:cs typeface="Garamond"/>
                <a:sym typeface="Garamond"/>
              </a:rPr>
              <a:t>Or. 41 Abuja</a:t>
            </a:r>
          </a:p>
        </p:txBody>
      </p:sp>
      <p:sp>
        <p:nvSpPr>
          <p:cNvPr id="1048813" name="Shape 442"/>
          <p:cNvSpPr txBox="1">
            <a:spLocks noGrp="1"/>
          </p:cNvSpPr>
          <p:nvPr>
            <p:ph idx="1"/>
          </p:nvPr>
        </p:nvSpPr>
        <p:spPr>
          <a:xfrm>
            <a:off x="0" y="1005840"/>
            <a:ext cx="12192000" cy="5852159"/>
          </a:xfrm>
          <a:prstGeom prst="rect"/>
          <a:noFill/>
          <a:ln>
            <a:noFill/>
          </a:ln>
        </p:spPr>
        <p:txBody>
          <a:bodyPr anchor="t" anchorCtr="0" bIns="45700" lIns="91425" rIns="91425" rtlCol="0" tIns="45700" vert="horz">
            <a:noAutofit/>
          </a:bodyPr>
          <a:p>
            <a:pPr indent="-342900" marL="342900">
              <a:lnSpc>
                <a:spcPct val="100000"/>
              </a:lnSpc>
              <a:spcBef>
                <a:spcPts val="20"/>
              </a:spcBef>
              <a:buClr>
                <a:schemeClr val="dk1"/>
              </a:buClr>
              <a:buSzPct val="100000"/>
              <a:buNone/>
            </a:pPr>
            <a:r>
              <a:rPr dirty="0" sz="100" lang="en-GB">
                <a:solidFill>
                  <a:schemeClr val="dk1"/>
                </a:solidFill>
                <a:latin typeface="Garamond"/>
                <a:ea typeface="Garamond"/>
                <a:cs typeface="Garamond"/>
                <a:sym typeface="Garamond"/>
              </a:rPr>
              <a:t>41</a:t>
            </a:r>
            <a:endParaRPr dirty="0" sz="100">
              <a:solidFill>
                <a:schemeClr val="dk1"/>
              </a:solidFill>
              <a:latin typeface="Garamond"/>
              <a:ea typeface="Garamond"/>
              <a:cs typeface="Garamond"/>
              <a:sym typeface="Garamond"/>
            </a:endParaRPr>
          </a:p>
          <a:p>
            <a:pPr indent="-342900" marL="342900">
              <a:lnSpc>
                <a:spcPct val="100000"/>
              </a:lnSpc>
              <a:spcBef>
                <a:spcPts val="640"/>
              </a:spcBef>
              <a:buClr>
                <a:schemeClr val="dk1"/>
              </a:buClr>
              <a:buSzPct val="100000"/>
              <a:buFont typeface="Garamond"/>
              <a:buChar char="•"/>
            </a:pPr>
            <a:endParaRPr b="1" dirty="0" sz="3200" lang="en-US">
              <a:solidFill>
                <a:schemeClr val="dk1"/>
              </a:solidFill>
              <a:latin typeface="Garamond"/>
              <a:ea typeface="Garamond"/>
              <a:cs typeface="Garamond"/>
              <a:sym typeface="Garamond"/>
            </a:endParaRPr>
          </a:p>
          <a:p>
            <a:pPr indent="-342900" marL="342900">
              <a:lnSpc>
                <a:spcPct val="100000"/>
              </a:lnSpc>
              <a:spcBef>
                <a:spcPts val="640"/>
              </a:spcBef>
              <a:buClr>
                <a:schemeClr val="dk1"/>
              </a:buClr>
              <a:buSzPct val="100000"/>
              <a:buFont typeface="Garamond"/>
              <a:buChar char="•"/>
            </a:pPr>
            <a:r>
              <a:rPr b="1" dirty="0" sz="3200" lang="en-US">
                <a:solidFill>
                  <a:schemeClr val="dk1"/>
                </a:solidFill>
                <a:latin typeface="Garamond"/>
                <a:ea typeface="Garamond"/>
                <a:cs typeface="Garamond"/>
                <a:sym typeface="Garamond"/>
              </a:rPr>
              <a:t>Trial</a:t>
            </a:r>
            <a:r>
              <a:rPr dirty="0" sz="3200" lang="en-US">
                <a:solidFill>
                  <a:schemeClr val="dk1"/>
                </a:solidFill>
                <a:latin typeface="Garamond"/>
                <a:ea typeface="Garamond"/>
                <a:cs typeface="Garamond"/>
                <a:sym typeface="Garamond"/>
              </a:rPr>
              <a:t> – proceedings shall be conducted expeditiously. Or. 41 r. 5</a:t>
            </a:r>
            <a:r>
              <a:rPr dirty="0" sz="3200" i="1" lang="en-US">
                <a:solidFill>
                  <a:srgbClr val="000000"/>
                </a:solidFill>
                <a:latin typeface="Garamond"/>
                <a:ea typeface="Garamond"/>
                <a:cs typeface="Garamond"/>
                <a:sym typeface="Garamond"/>
              </a:rPr>
              <a:t>. </a:t>
            </a:r>
            <a:r>
              <a:rPr dirty="0" sz="3200" lang="en-US">
                <a:solidFill>
                  <a:schemeClr val="dk1"/>
                </a:solidFill>
                <a:latin typeface="Garamond"/>
                <a:ea typeface="Garamond"/>
                <a:cs typeface="Garamond"/>
                <a:sym typeface="Garamond"/>
              </a:rPr>
              <a:t>Adjournments shall not granted except in compelling circumstances. Or. 41 r. 5(b). </a:t>
            </a:r>
          </a:p>
          <a:p>
            <a:pPr indent="-342900" marL="342900">
              <a:lnSpc>
                <a:spcPct val="100000"/>
              </a:lnSpc>
              <a:spcBef>
                <a:spcPts val="640"/>
              </a:spcBef>
              <a:buClr>
                <a:schemeClr val="dk1"/>
              </a:buClr>
              <a:buSzPct val="100000"/>
              <a:buFont typeface="Garamond"/>
              <a:buChar char="•"/>
            </a:pPr>
            <a:r>
              <a:rPr dirty="0" sz="3200" lang="en-US">
                <a:solidFill>
                  <a:schemeClr val="dk1"/>
                </a:solidFill>
                <a:latin typeface="Garamond"/>
                <a:ea typeface="Garamond"/>
                <a:cs typeface="Garamond"/>
                <a:sym typeface="Garamond"/>
              </a:rPr>
              <a:t>Any application for extension of time shall attract N2000 per day of default. </a:t>
            </a:r>
          </a:p>
          <a:p>
            <a:pPr indent="-342900" marL="342900">
              <a:lnSpc>
                <a:spcPct val="100000"/>
              </a:lnSpc>
              <a:spcBef>
                <a:spcPts val="640"/>
              </a:spcBef>
              <a:buClr>
                <a:schemeClr val="dk1"/>
              </a:buClr>
              <a:buSzPct val="100000"/>
              <a:buFont typeface="Garamond"/>
              <a:buChar char="•"/>
            </a:pPr>
            <a:r>
              <a:rPr b="1" dirty="0" sz="3200" lang="en-US">
                <a:solidFill>
                  <a:schemeClr val="dk1"/>
                </a:solidFill>
                <a:latin typeface="Garamond"/>
                <a:ea typeface="Garamond"/>
                <a:cs typeface="Garamond"/>
                <a:sym typeface="Garamond"/>
              </a:rPr>
              <a:t>Filing and service of final addresses </a:t>
            </a:r>
            <a:r>
              <a:rPr dirty="0" sz="3200" lang="en-US">
                <a:solidFill>
                  <a:schemeClr val="dk1"/>
                </a:solidFill>
                <a:latin typeface="Garamond"/>
                <a:ea typeface="Garamond"/>
                <a:cs typeface="Garamond"/>
                <a:sym typeface="Garamond"/>
              </a:rPr>
              <a:t>– 7 days. While Reply is to be filed and served within 5 days. </a:t>
            </a:r>
            <a:r>
              <a:rPr dirty="0" sz="3200" i="1" lang="en-US">
                <a:solidFill>
                  <a:schemeClr val="dk1"/>
                </a:solidFill>
                <a:latin typeface="Garamond"/>
                <a:ea typeface="Garamond"/>
                <a:cs typeface="Garamond"/>
                <a:sym typeface="Garamond"/>
              </a:rPr>
              <a:t>Or. 41 r. 5(b).</a:t>
            </a:r>
            <a:endParaRPr dirty="0" sz="3200">
              <a:solidFill>
                <a:schemeClr val="dk1"/>
              </a:solidFill>
              <a:latin typeface="Garamond"/>
              <a:ea typeface="Garamond"/>
              <a:cs typeface="Garamond"/>
              <a:sym typeface="Garamon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219" name="Shape 452"/>
        <p:cNvGrpSpPr/>
        <p:nvPr/>
      </p:nvGrpSpPr>
      <p:grpSpPr>
        <a:xfrm>
          <a:off x="0" y="0"/>
          <a:ext cx="0" cy="0"/>
          <a:chOff x="0" y="0"/>
          <a:chExt cx="0" cy="0"/>
        </a:xfrm>
      </p:grpSpPr>
      <p:sp>
        <p:nvSpPr>
          <p:cNvPr id="1048816" name="Shape 453"/>
          <p:cNvSpPr txBox="1">
            <a:spLocks noGrp="1"/>
          </p:cNvSpPr>
          <p:nvPr>
            <p:ph type="title"/>
          </p:nvPr>
        </p:nvSpPr>
        <p:spPr>
          <a:prstGeom prst="rect"/>
          <a:noFill/>
          <a:ln>
            <a:noFill/>
          </a:ln>
        </p:spPr>
        <p:txBody>
          <a:bodyPr anchor="ctr" anchorCtr="0" bIns="45700" lIns="91425" rIns="91425" rtlCol="0" tIns="45700" vert="horz">
            <a:noAutofit/>
          </a:bodyPr>
          <a:p>
            <a:pPr algn="ctr">
              <a:lnSpc>
                <a:spcPct val="100000"/>
              </a:lnSpc>
              <a:spcBef>
                <a:spcPts val="0"/>
              </a:spcBef>
              <a:buClr>
                <a:schemeClr val="dk2"/>
              </a:buClr>
              <a:buSzPct val="25000"/>
            </a:pPr>
            <a:r>
              <a:rPr b="1" dirty="0" lang="en-US">
                <a:solidFill>
                  <a:schemeClr val="dk2"/>
                </a:solidFill>
                <a:latin typeface="Garamond"/>
                <a:ea typeface="Garamond"/>
                <a:cs typeface="Garamond"/>
                <a:sym typeface="Garamond"/>
              </a:rPr>
              <a:t>ETHICAL ISSUES</a:t>
            </a:r>
          </a:p>
        </p:txBody>
      </p:sp>
      <p:sp>
        <p:nvSpPr>
          <p:cNvPr id="1048817" name="Shape 454"/>
          <p:cNvSpPr txBox="1">
            <a:spLocks noGrp="1"/>
          </p:cNvSpPr>
          <p:nvPr>
            <p:ph idx="1"/>
          </p:nvPr>
        </p:nvSpPr>
        <p:spPr>
          <a:xfrm>
            <a:off x="0" y="1558977"/>
            <a:ext cx="12192000" cy="5299023"/>
          </a:xfrm>
          <a:prstGeom prst="rect"/>
          <a:noFill/>
          <a:ln>
            <a:noFill/>
          </a:ln>
        </p:spPr>
        <p:txBody>
          <a:bodyPr anchor="t" anchorCtr="0" bIns="45700" lIns="91425" rIns="91425" rtlCol="0" tIns="45700" vert="horz">
            <a:noAutofit/>
          </a:bodyPr>
          <a:p>
            <a:pPr indent="0" marL="0">
              <a:lnSpc>
                <a:spcPct val="100000"/>
              </a:lnSpc>
              <a:spcBef>
                <a:spcPts val="0"/>
              </a:spcBef>
              <a:buClr>
                <a:schemeClr val="dk1"/>
              </a:buClr>
              <a:buSzPct val="25000"/>
              <a:buNone/>
            </a:pPr>
            <a:r>
              <a:rPr dirty="0" sz="3200" lang="en-US">
                <a:solidFill>
                  <a:schemeClr val="dk1"/>
                </a:solidFill>
                <a:latin typeface="Garamond"/>
                <a:ea typeface="Garamond"/>
                <a:cs typeface="Garamond"/>
                <a:sym typeface="Garamond"/>
              </a:rPr>
              <a:t>What are the ethical implications of:</a:t>
            </a:r>
          </a:p>
          <a:p>
            <a:pPr indent="-520700" lvl="1" marL="914400">
              <a:lnSpc>
                <a:spcPct val="100000"/>
              </a:lnSpc>
              <a:spcBef>
                <a:spcPts val="640"/>
              </a:spcBef>
              <a:buClr>
                <a:schemeClr val="dk1"/>
              </a:buClr>
              <a:buSzPct val="100000"/>
              <a:buFont typeface="Garamond"/>
              <a:buAutoNum type="arabicPeriod"/>
            </a:pPr>
            <a:r>
              <a:rPr dirty="0" sz="3200" lang="en-US">
                <a:solidFill>
                  <a:schemeClr val="dk1"/>
                </a:solidFill>
                <a:latin typeface="Garamond"/>
                <a:ea typeface="Garamond"/>
                <a:cs typeface="Garamond"/>
                <a:sym typeface="Garamond"/>
              </a:rPr>
              <a:t>commencing an action by the wrong procedure,</a:t>
            </a:r>
          </a:p>
          <a:p>
            <a:pPr indent="-520700" lvl="1" marL="914400">
              <a:lnSpc>
                <a:spcPct val="100000"/>
              </a:lnSpc>
              <a:spcBef>
                <a:spcPts val="640"/>
              </a:spcBef>
              <a:buClr>
                <a:schemeClr val="dk1"/>
              </a:buClr>
              <a:buSzPct val="100000"/>
              <a:buFont typeface="Garamond"/>
              <a:buAutoNum type="arabicPeriod"/>
            </a:pPr>
            <a:r>
              <a:rPr dirty="0" sz="3200" lang="en-US">
                <a:solidFill>
                  <a:schemeClr val="dk1"/>
                </a:solidFill>
                <a:latin typeface="Garamond"/>
                <a:ea typeface="Garamond"/>
                <a:cs typeface="Garamond"/>
                <a:sym typeface="Garamond"/>
              </a:rPr>
              <a:t>non or improper service of originating processes, and </a:t>
            </a:r>
          </a:p>
          <a:p>
            <a:pPr indent="-520700" lvl="1" marL="914400">
              <a:lnSpc>
                <a:spcPct val="100000"/>
              </a:lnSpc>
              <a:spcBef>
                <a:spcPts val="640"/>
              </a:spcBef>
              <a:buClr>
                <a:schemeClr val="dk1"/>
              </a:buClr>
              <a:buSzPct val="100000"/>
              <a:buFont typeface="Garamond"/>
              <a:buAutoNum type="arabicPeriod"/>
            </a:pPr>
            <a:r>
              <a:rPr dirty="0" sz="3200" lang="en-US">
                <a:solidFill>
                  <a:schemeClr val="dk1"/>
                </a:solidFill>
                <a:latin typeface="Garamond"/>
                <a:ea typeface="Garamond"/>
                <a:cs typeface="Garamond"/>
                <a:sym typeface="Garamond"/>
              </a:rPr>
              <a:t>delay in raising objection to and non-compliance with the rules.</a:t>
            </a:r>
          </a:p>
          <a:p>
            <a:pPr indent="-520700" lvl="1" marL="914400">
              <a:lnSpc>
                <a:spcPct val="100000"/>
              </a:lnSpc>
              <a:spcBef>
                <a:spcPts val="640"/>
              </a:spcBef>
              <a:buClr>
                <a:schemeClr val="dk1"/>
              </a:buClr>
              <a:buSzPct val="100000"/>
              <a:buFont typeface="Garamond"/>
              <a:buAutoNum type="arabicPeriod"/>
            </a:pPr>
            <a:r>
              <a:rPr dirty="0" sz="3200" lang="en-US">
                <a:solidFill>
                  <a:schemeClr val="dk1"/>
                </a:solidFill>
                <a:latin typeface="Garamond"/>
                <a:ea typeface="Garamond"/>
                <a:cs typeface="Garamond"/>
                <a:sym typeface="Garamond"/>
              </a:rPr>
              <a:t>Diligence in prosecuting and defending an action</a:t>
            </a:r>
          </a:p>
          <a:p>
            <a:pPr indent="-342900" marL="342900">
              <a:spcBef>
                <a:spcPts val="640"/>
              </a:spcBef>
              <a:buClr>
                <a:schemeClr val="dk1"/>
              </a:buClr>
              <a:buSzPct val="100000"/>
              <a:buNone/>
            </a:pPr>
            <a:endParaRPr dirty="0" sz="3200">
              <a:solidFill>
                <a:schemeClr val="dk1"/>
              </a:solidFill>
              <a:latin typeface="Garamond"/>
              <a:ea typeface="Garamond"/>
              <a:cs typeface="Garamond"/>
              <a:sym typeface="Garamond"/>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HP</Company>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CIVIL LITIGATION  WEEK 6</dc:title>
  <dc:creator>COMMENT</dc:creator>
  <cp:lastModifiedBy>COMMENT</cp:lastModifiedBy>
  <dcterms:created xsi:type="dcterms:W3CDTF">2025-03-30T15:44:52Z</dcterms:created>
  <dcterms:modified xsi:type="dcterms:W3CDTF">2025-05-18T05:51:52Z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e4d41a8b18764ed888c406b368b52389</vt:lpwstr>
  </property>
</Properties>
</file>