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slides/slide10.xml" ContentType="application/vnd.openxmlformats-officedocument.presentationml.slide+xml"/>
  <Override PartName="/ppt/notesSlides/notesSlide3.xml" ContentType="application/vnd.openxmlformats-officedocument.presentationml.notesSlide+xml"/>
  <Override PartName="/ppt/slides/slide11.xml" ContentType="application/vnd.openxmlformats-officedocument.presentationml.slide+xml"/>
  <Override PartName="/ppt/slides/slide12.xml" ContentType="application/vnd.openxmlformats-officedocument.presentationml.slide+xml"/>
  <Override PartName="/ppt/notesSlides/notesSlide4.xml" ContentType="application/vnd.openxmlformats-officedocument.presentationml.notes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5.xml" ContentType="application/vnd.openxmlformats-officedocument.presentationml.notesSlide+xml"/>
  <Override PartName="/ppt/slides/slide16.xml" ContentType="application/vnd.openxmlformats-officedocument.presentationml.slide+xml"/>
  <Override PartName="/ppt/notesSlides/notesSlide6.xml" ContentType="application/vnd.openxmlformats-officedocument.presentationml.notes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Slides/notesSlide7.xml" ContentType="application/vnd.openxmlformats-officedocument.presentationml.notesSlide+xml"/>
  <Override PartName="/ppt/slides/slide20.xml" ContentType="application/vnd.openxmlformats-officedocument.presentationml.slide+xml"/>
  <Override PartName="/ppt/notesSlides/notesSlide8.xml" ContentType="application/vnd.openxmlformats-officedocument.presentationml.notesSlide+xml"/>
  <Override PartName="/ppt/slides/slide21.xml" ContentType="application/vnd.openxmlformats-officedocument.presentationml.slide+xml"/>
  <Override PartName="/ppt/notesSlides/notesSlide9.xml" ContentType="application/vnd.openxmlformats-officedocument.presentationml.notesSlide+xml"/>
  <Override PartName="/ppt/slides/slide22.xml" ContentType="application/vnd.openxmlformats-officedocument.presentationml.slide+xml"/>
  <Override PartName="/ppt/notesSlides/notesSlide10.xml" ContentType="application/vnd.openxmlformats-officedocument.presentationml.notesSlide+xml"/>
  <Override PartName="/ppt/slides/slide23.xml" ContentType="application/vnd.openxmlformats-officedocument.presentationml.slide+xml"/>
  <Override PartName="/ppt/notesSlides/notesSlide11.xml" ContentType="application/vnd.openxmlformats-officedocument.presentationml.notesSlide+xml"/>
  <Override PartName="/ppt/slides/slide24.xml" ContentType="application/vnd.openxmlformats-officedocument.presentationml.slide+xml"/>
  <Override PartName="/ppt/notesSlides/notesSlide12.xml" ContentType="application/vnd.openxmlformats-officedocument.presentationml.notesSlide+xml"/>
  <Override PartName="/ppt/slides/slide25.xml" ContentType="application/vnd.openxmlformats-officedocument.presentationml.slide+xml"/>
  <Override PartName="/ppt/notesSlides/notesSlide13.xml" ContentType="application/vnd.openxmlformats-officedocument.presentationml.notesSlide+xml"/>
  <Override PartName="/ppt/slides/slide26.xml" ContentType="application/vnd.openxmlformats-officedocument.presentationml.slide+xml"/>
  <Override PartName="/ppt/notesSlides/notesSlide14.xml" ContentType="application/vnd.openxmlformats-officedocument.presentationml.notesSlide+xml"/>
  <Override PartName="/ppt/slides/slide27.xml" ContentType="application/vnd.openxmlformats-officedocument.presentationml.slide+xml"/>
  <Override PartName="/ppt/notesSlides/notesSlide15.xml" ContentType="application/vnd.openxmlformats-officedocument.presentationml.notesSlide+xml"/>
  <Override PartName="/ppt/slides/slide28.xml" ContentType="application/vnd.openxmlformats-officedocument.presentationml.slide+xml"/>
  <Override PartName="/ppt/notesSlides/notesSlide16.xml" ContentType="application/vnd.openxmlformats-officedocument.presentationml.notesSlide+xml"/>
  <Override PartName="/ppt/slides/slide29.xml" ContentType="application/vnd.openxmlformats-officedocument.presentationml.slide+xml"/>
  <Override PartName="/ppt/notesSlides/notesSlide17.xml" ContentType="application/vnd.openxmlformats-officedocument.presentationml.notesSlide+xml"/>
  <Override PartName="/ppt/slides/slide30.xml" ContentType="application/vnd.openxmlformats-officedocument.presentationml.slide+xml"/>
  <Override PartName="/ppt/notesSlides/notesSlide18.xml" ContentType="application/vnd.openxmlformats-officedocument.presentationml.notesSlide+xml"/>
  <Override PartName="/ppt/slides/slide31.xml" ContentType="application/vnd.openxmlformats-officedocument.presentationml.slide+xml"/>
  <Override PartName="/ppt/notesSlides/notesSlide19.xml" ContentType="application/vnd.openxmlformats-officedocument.presentationml.notesSlide+xml"/>
  <Override PartName="/ppt/slides/slide32.xml" ContentType="application/vnd.openxmlformats-officedocument.presentationml.slide+xml"/>
  <Override PartName="/ppt/notesSlides/notesSlide20.xml" ContentType="application/vnd.openxmlformats-officedocument.presentationml.notes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Slides/notesSlide21.xml" ContentType="application/vnd.openxmlformats-officedocument.presentationml.notesSlide+xml"/>
  <Override PartName="/ppt/slides/slide39.xml" ContentType="application/vnd.openxmlformats-officedocument.presentationml.slide+xml"/>
  <Override PartName="/ppt/notesSlides/notesSlide22.xml" ContentType="application/vnd.openxmlformats-officedocument.presentationml.notesSlide+xml"/>
  <Override PartName="/ppt/slides/slide40.xml" ContentType="application/vnd.openxmlformats-officedocument.presentationml.slide+xml"/>
  <Override PartName="/ppt/notesSlides/notesSlide23.xml" ContentType="application/vnd.openxmlformats-officedocument.presentationml.notesSlide+xml"/>
  <Override PartName="/ppt/slides/slide41.xml" ContentType="application/vnd.openxmlformats-officedocument.presentationml.slide+xml"/>
  <Override PartName="/ppt/notesSlides/notesSlide24.xml" ContentType="application/vnd.openxmlformats-officedocument.presentationml.notesSlide+xml"/>
  <Override PartName="/ppt/slides/slide42.xml" ContentType="application/vnd.openxmlformats-officedocument.presentationml.slide+xml"/>
  <Override PartName="/ppt/notesSlides/notesSlide25.xml" ContentType="application/vnd.openxmlformats-officedocument.presentationml.notesSlide+xml"/>
  <Override PartName="/ppt/slides/slide43.xml" ContentType="application/vnd.openxmlformats-officedocument.presentationml.slide+xml"/>
  <Override PartName="/ppt/notesSlides/notesSlide26.xml" ContentType="application/vnd.openxmlformats-officedocument.presentationml.notesSlide+xml"/>
  <Override PartName="/ppt/slides/slide44.xml" ContentType="application/vnd.openxmlformats-officedocument.presentationml.slide+xml"/>
  <Override PartName="/ppt/notesSlides/notesSlide27.xml" ContentType="application/vnd.openxmlformats-officedocument.presentationml.notesSlide+xml"/>
  <Override PartName="/ppt/slides/slide45.xml" ContentType="application/vnd.openxmlformats-officedocument.presentationml.slide+xml"/>
  <Override PartName="/ppt/notesSlides/notesSlide28.xml" ContentType="application/vnd.openxmlformats-officedocument.presentationml.notesSlide+xml"/>
  <Override PartName="/ppt/slides/slide46.xml" ContentType="application/vnd.openxmlformats-officedocument.presentationml.slide+xml"/>
  <Override PartName="/ppt/notesSlides/notesSlide29.xml" ContentType="application/vnd.openxmlformats-officedocument.presentationml.notesSlide+xml"/>
  <Override PartName="/ppt/slides/slide47.xml" ContentType="application/vnd.openxmlformats-officedocument.presentationml.slide+xml"/>
  <Override PartName="/ppt/notesSlides/notesSlide30.xml" ContentType="application/vnd.openxmlformats-officedocument.presentationml.notesSlide+xml"/>
  <Override PartName="/ppt/slides/slide48.xml" ContentType="application/vnd.openxmlformats-officedocument.presentationml.slide+xml"/>
  <Override PartName="/ppt/notesSlides/notesSlide31.xml" ContentType="application/vnd.openxmlformats-officedocument.presentationml.notesSlide+xml"/>
  <Override PartName="/ppt/slides/slide49.xml" ContentType="application/vnd.openxmlformats-officedocument.presentationml.slide+xml"/>
  <Override PartName="/ppt/notesSlides/notesSlide32.xml" ContentType="application/vnd.openxmlformats-officedocument.presentationml.notesSlide+xml"/>
  <Override PartName="/ppt/slides/slide50.xml" ContentType="application/vnd.openxmlformats-officedocument.presentationml.slide+xml"/>
  <Override PartName="/ppt/notesSlides/notesSlide33.xml" ContentType="application/vnd.openxmlformats-officedocument.presentationml.notesSlide+xml"/>
  <Override PartName="/ppt/slides/slide51.xml" ContentType="application/vnd.openxmlformats-officedocument.presentationml.slide+xml"/>
  <Override PartName="/ppt/slides/slide52.xml" ContentType="application/vnd.openxmlformats-officedocument.presentationml.slide+xml"/>
  <Override PartName="/ppt/notesSlides/notesSlide34.xml" ContentType="application/vnd.openxmlformats-officedocument.presentationml.notesSlide+xml"/>
  <Override PartName="/ppt/slides/slide53.xml" ContentType="application/vnd.openxmlformats-officedocument.presentationml.slide+xml"/>
  <Override PartName="/ppt/notesSlides/notesSlide35.xml" ContentType="application/vnd.openxmlformats-officedocument.presentationml.notesSlide+xml"/>
  <Override PartName="/ppt/slides/slide54.xml" ContentType="application/vnd.openxmlformats-officedocument.presentationml.slide+xml"/>
  <Override PartName="/ppt/notesSlides/notesSlide36.xml" ContentType="application/vnd.openxmlformats-officedocument.presentationml.notesSlide+xml"/>
  <Override PartName="/ppt/slides/slide55.xml" ContentType="application/vnd.openxmlformats-officedocument.presentationml.slide+xml"/>
  <Override PartName="/ppt/slides/slide56.xml" ContentType="application/vnd.openxmlformats-officedocument.presentationml.slide+xml"/>
  <Override PartName="/ppt/notesSlides/notesSlide37.xml" ContentType="application/vnd.openxmlformats-officedocument.presentationml.notesSlide+xml"/>
  <Override PartName="/ppt/slides/slide57.xml" ContentType="application/vnd.openxmlformats-officedocument.presentationml.slide+xml"/>
  <Override PartName="/ppt/notesSlides/notesSlide38.xml" ContentType="application/vnd.openxmlformats-officedocument.presentationml.notesSlide+xml"/>
  <Override PartName="/ppt/slides/slide58.xml" ContentType="application/vnd.openxmlformats-officedocument.presentationml.slide+xml"/>
  <Override PartName="/ppt/notesSlides/notesSlide39.xml" ContentType="application/vnd.openxmlformats-officedocument.presentationml.notesSlide+xml"/>
  <Override PartName="/ppt/slides/slide59.xml" ContentType="application/vnd.openxmlformats-officedocument.presentationml.slide+xml"/>
  <Override PartName="/ppt/notesSlides/notesSlide40.xml" ContentType="application/vnd.openxmlformats-officedocument.presentationml.notesSlide+xml"/>
  <Override PartName="/ppt/slides/slide60.xml" ContentType="application/vnd.openxmlformats-officedocument.presentationml.slide+xml"/>
  <Override PartName="/ppt/notesSlides/notesSlide41.xml" ContentType="application/vnd.openxmlformats-officedocument.presentationml.notesSlide+xml"/>
  <Override PartName="/ppt/slides/slide61.xml" ContentType="application/vnd.openxmlformats-officedocument.presentationml.slide+xml"/>
  <Override PartName="/ppt/notesSlides/notesSlide42.xml" ContentType="application/vnd.openxmlformats-officedocument.presentationml.notesSlide+xml"/>
  <Override PartName="/ppt/slides/slide62.xml" ContentType="application/vnd.openxmlformats-officedocument.presentationml.slide+xml"/>
  <Override PartName="/ppt/notesSlides/notesSlide43.xml" ContentType="application/vnd.openxmlformats-officedocument.presentationml.notesSlide+xml"/>
  <Override PartName="/ppt/slides/slide63.xml" ContentType="application/vnd.openxmlformats-officedocument.presentationml.slide+xml"/>
  <Override PartName="/ppt/notesSlides/notesSlide44.xml" ContentType="application/vnd.openxmlformats-officedocument.presentationml.notesSlide+xml"/>
  <Override PartName="/ppt/slides/slide64.xml" ContentType="application/vnd.openxmlformats-officedocument.presentationml.slide+xml"/>
  <Override PartName="/ppt/notesSlides/notesSlide45.xml" ContentType="application/vnd.openxmlformats-officedocument.presentationml.notesSlide+xml"/>
  <Override PartName="/ppt/slides/slide65.xml" ContentType="application/vnd.openxmlformats-officedocument.presentationml.slide+xml"/>
  <Override PartName="/ppt/notesSlides/notesSlide46.xml" ContentType="application/vnd.openxmlformats-officedocument.presentationml.notesSlide+xml"/>
  <Override PartName="/ppt/slides/slide66.xml" ContentType="application/vnd.openxmlformats-officedocument.presentationml.slide+xml"/>
  <Override PartName="/ppt/notesSlides/notesSlide47.xml" ContentType="application/vnd.openxmlformats-officedocument.presentationml.notesSlide+xml"/>
  <Override PartName="/ppt/slides/slide67.xml" ContentType="application/vnd.openxmlformats-officedocument.presentationml.slide+xml"/>
  <Override PartName="/ppt/notesSlides/notesSlide48.xml" ContentType="application/vnd.openxmlformats-officedocument.presentationml.notesSlide+xml"/>
  <Override PartName="/ppt/slides/slide68.xml" ContentType="application/vnd.openxmlformats-officedocument.presentationml.slide+xml"/>
  <Override PartName="/ppt/notesSlides/notesSlide49.xml" ContentType="application/vnd.openxmlformats-officedocument.presentationml.notesSlide+xml"/>
  <Override PartName="/ppt/slides/slide69.xml" ContentType="application/vnd.openxmlformats-officedocument.presentationml.slide+xml"/>
  <Override PartName="/ppt/notesSlides/notesSlide50.xml" ContentType="application/vnd.openxmlformats-officedocument.presentationml.notesSlide+xml"/>
  <Override PartName="/ppt/slides/slide70.xml" ContentType="application/vnd.openxmlformats-officedocument.presentationml.slide+xml"/>
  <Override PartName="/ppt/notesSlides/notesSlide51.xml" ContentType="application/vnd.openxmlformats-officedocument.presentationml.notesSlide+xml"/>
  <Override PartName="/ppt/slides/slide71.xml" ContentType="application/vnd.openxmlformats-officedocument.presentationml.slide+xml"/>
  <Override PartName="/ppt/notesSlides/notesSlide52.xml" ContentType="application/vnd.openxmlformats-officedocument.presentationml.notesSlide+xml"/>
  <Override PartName="/ppt/slides/slide72.xml" ContentType="application/vnd.openxmlformats-officedocument.presentationml.slide+xml"/>
  <Override PartName="/ppt/notesSlides/notesSlide53.xml" ContentType="application/vnd.openxmlformats-officedocument.presentationml.notesSlide+xml"/>
  <Override PartName="/ppt/slides/slide73.xml" ContentType="application/vnd.openxmlformats-officedocument.presentationml.slide+xml"/>
  <Override PartName="/ppt/notesSlides/notesSlide54.xml" ContentType="application/vnd.openxmlformats-officedocument.presentationml.notesSlide+xml"/>
  <Override PartName="/ppt/slides/slide74.xml" ContentType="application/vnd.openxmlformats-officedocument.presentationml.slide+xml"/>
  <Override PartName="/ppt/notesSlides/notesSlide55.xml" ContentType="application/vnd.openxmlformats-officedocument.presentationml.notes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Slides/notesSlide56.xml" ContentType="application/vnd.openxmlformats-officedocument.presentationml.notesSlide+xml"/>
  <Override PartName="/ppt/slides/slide78.xml" ContentType="application/vnd.openxmlformats-officedocument.presentationml.slide+xml"/>
  <Override PartName="/ppt/notesSlides/notesSlide57.xml" ContentType="application/vnd.openxmlformats-officedocument.presentationml.notesSlide+xml"/>
  <Override PartName="/ppt/slides/slide79.xml" ContentType="application/vnd.openxmlformats-officedocument.presentationml.slide+xml"/>
  <Override PartName="/ppt/notesSlides/notesSlide58.xml" ContentType="application/vnd.openxmlformats-officedocument.presentationml.notesSlide+xml"/>
  <Override PartName="/ppt/slides/slide80.xml" ContentType="application/vnd.openxmlformats-officedocument.presentationml.slide+xml"/>
  <Override PartName="/ppt/notesSlides/notesSlide59.xml" ContentType="application/vnd.openxmlformats-officedocument.presentationml.notesSlide+xml"/>
  <Override PartName="/ppt/slides/slide81.xml" ContentType="application/vnd.openxmlformats-officedocument.presentationml.slide+xml"/>
  <Override PartName="/ppt/notesSlides/notesSlide60.xml" ContentType="application/vnd.openxmlformats-officedocument.presentationml.notesSlide+xml"/>
  <Override PartName="/ppt/slides/slide82.xml" ContentType="application/vnd.openxmlformats-officedocument.presentationml.slide+xml"/>
  <Override PartName="/ppt/notesSlides/notesSlide61.xml" ContentType="application/vnd.openxmlformats-officedocument.presentationml.notesSlide+xml"/>
  <Override PartName="/ppt/slides/slide83.xml" ContentType="application/vnd.openxmlformats-officedocument.presentationml.slide+xml"/>
  <Override PartName="/ppt/notesSlides/notesSlide62.xml" ContentType="application/vnd.openxmlformats-officedocument.presentationml.notesSlide+xml"/>
  <Override PartName="/ppt/slides/slide84.xml" ContentType="application/vnd.openxmlformats-officedocument.presentationml.slide+xml"/>
  <Override PartName="/ppt/slides/slide85.xml" ContentType="application/vnd.openxmlformats-officedocument.presentationml.slide+xml"/>
  <Override PartName="/ppt/notesSlides/notesSlide63.xml" ContentType="application/vnd.openxmlformats-officedocument.presentationml.notesSlide+xml"/>
  <Override PartName="/ppt/slides/slide86.xml" ContentType="application/vnd.openxmlformats-officedocument.presentationml.slide+xml"/>
  <Override PartName="/ppt/notesSlides/notesSlide64.xml" ContentType="application/vnd.openxmlformats-officedocument.presentationml.notesSlide+xml"/>
  <Override PartName="/ppt/slides/slide87.xml" ContentType="application/vnd.openxmlformats-officedocument.presentationml.slide+xml"/>
  <Override PartName="/ppt/slides/slide88.xml" ContentType="application/vnd.openxmlformats-officedocument.presentationml.slide+xml"/>
  <Override PartName="/ppt/notesSlides/notesSlide65.xml" ContentType="application/vnd.openxmlformats-officedocument.presentationml.notesSlide+xml"/>
  <Override PartName="/ppt/slides/slide8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p:normalViewPr>
    <p:restoredLeft sz="15000" autoAdjust="0"/>
    <p:restoredTop sz="94799" autoAdjust="0"/>
  </p:normalViewPr>
  <p:slideViewPr>
    <p:cSldViewPr snapToGrid="0">
      <p:cViewPr varScale="1">
        <p:scale>
          <a:sx n="77" d="100"/>
          <a:sy n="77" d="100"/>
        </p:scale>
        <p:origin x="504" y="78"/>
      </p:cViewPr>
    </p:cSldViewPr>
  </p:slideViewPr>
  <p:outlineViewPr>
    <p:cViewPr>
      <p:scale>
        <a:sx n="33" d="100"/>
        <a:sy n="33" d="100"/>
      </p:scale>
      <p:origin x="0" y="-6882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71" Type="http://schemas.openxmlformats.org/officeDocument/2006/relationships/slide" Target="slides/slide69.xml"/><Relationship Id="rId72" Type="http://schemas.openxmlformats.org/officeDocument/2006/relationships/slide" Target="slides/slide70.xml"/><Relationship Id="rId73" Type="http://schemas.openxmlformats.org/officeDocument/2006/relationships/slide" Target="slides/slide71.xml"/><Relationship Id="rId74" Type="http://schemas.openxmlformats.org/officeDocument/2006/relationships/slide" Target="slides/slide72.xml"/><Relationship Id="rId75" Type="http://schemas.openxmlformats.org/officeDocument/2006/relationships/slide" Target="slides/slide73.xml"/><Relationship Id="rId76" Type="http://schemas.openxmlformats.org/officeDocument/2006/relationships/slide" Target="slides/slide74.xml"/><Relationship Id="rId77" Type="http://schemas.openxmlformats.org/officeDocument/2006/relationships/slide" Target="slides/slide75.xml"/><Relationship Id="rId78" Type="http://schemas.openxmlformats.org/officeDocument/2006/relationships/slide" Target="slides/slide76.xml"/><Relationship Id="rId79" Type="http://schemas.openxmlformats.org/officeDocument/2006/relationships/slide" Target="slides/slide77.xml"/><Relationship Id="rId80" Type="http://schemas.openxmlformats.org/officeDocument/2006/relationships/slide" Target="slides/slide78.xml"/><Relationship Id="rId81" Type="http://schemas.openxmlformats.org/officeDocument/2006/relationships/slide" Target="slides/slide79.xml"/><Relationship Id="rId82" Type="http://schemas.openxmlformats.org/officeDocument/2006/relationships/slide" Target="slides/slide80.xml"/><Relationship Id="rId83" Type="http://schemas.openxmlformats.org/officeDocument/2006/relationships/slide" Target="slides/slide81.xml"/><Relationship Id="rId84" Type="http://schemas.openxmlformats.org/officeDocument/2006/relationships/slide" Target="slides/slide82.xml"/><Relationship Id="rId85" Type="http://schemas.openxmlformats.org/officeDocument/2006/relationships/slide" Target="slides/slide83.xml"/><Relationship Id="rId86" Type="http://schemas.openxmlformats.org/officeDocument/2006/relationships/slide" Target="slides/slide84.xml"/><Relationship Id="rId87" Type="http://schemas.openxmlformats.org/officeDocument/2006/relationships/slide" Target="slides/slide85.xml"/><Relationship Id="rId88" Type="http://schemas.openxmlformats.org/officeDocument/2006/relationships/slide" Target="slides/slide86.xml"/><Relationship Id="rId89" Type="http://schemas.openxmlformats.org/officeDocument/2006/relationships/slide" Target="slides/slide87.xml"/><Relationship Id="rId90" Type="http://schemas.openxmlformats.org/officeDocument/2006/relationships/slide" Target="slides/slide88.xml"/><Relationship Id="rId91" Type="http://schemas.openxmlformats.org/officeDocument/2006/relationships/slide" Target="slides/slide89.xml"/><Relationship Id="rId92" Type="http://schemas.openxmlformats.org/officeDocument/2006/relationships/slide" Target="slides/slide90.xml"/><Relationship Id="rId93" Type="http://schemas.openxmlformats.org/officeDocument/2006/relationships/tableStyles" Target="tableStyles.xml"/><Relationship Id="rId94" Type="http://schemas.openxmlformats.org/officeDocument/2006/relationships/presProps" Target="presProps.xml"/><Relationship Id="rId95" Type="http://schemas.openxmlformats.org/officeDocument/2006/relationships/viewProps" Target="viewProps.xml"/><Relationship Id="rId9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335" name=""/>
        <p:cNvGrpSpPr/>
        <p:nvPr/>
      </p:nvGrpSpPr>
      <p:grpSpPr>
        <a:xfrm>
          <a:off x="0" y="0"/>
          <a:ext cx="0" cy="0"/>
          <a:chOff x="0" y="0"/>
          <a:chExt cx="0" cy="0"/>
        </a:xfrm>
      </p:grpSpPr>
      <p:sp>
        <p:nvSpPr>
          <p:cNvPr id="1048943"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US"/>
          </a:p>
        </p:txBody>
      </p:sp>
      <p:sp>
        <p:nvSpPr>
          <p:cNvPr id="1048944"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BF99BAA5-7E2D-43B4-9865-FCD0759B739D}" type="datetimeFigureOut">
              <a:rPr lang="en-US" smtClean="0"/>
              <a:t>5/19/2025</a:t>
            </a:fld>
            <a:endParaRPr lang="en-US"/>
          </a:p>
        </p:txBody>
      </p:sp>
      <p:sp>
        <p:nvSpPr>
          <p:cNvPr id="1048945"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US"/>
          </a:p>
        </p:txBody>
      </p:sp>
      <p:sp>
        <p:nvSpPr>
          <p:cNvPr id="1048946"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47"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US"/>
          </a:p>
        </p:txBody>
      </p:sp>
      <p:sp>
        <p:nvSpPr>
          <p:cNvPr id="1048948"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154CF572-D3DB-4D5C-9586-E02F24722BED}" type="slidenum">
              <a:rPr lang="en-US" smtClean="0"/>
              <a:t>‹#›</a:t>
            </a:fld>
            <a:endParaRPr lang="en-US"/>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slide" Target="../slides/slide88.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44"/>
        <p:cNvGrpSpPr/>
        <p:nvPr/>
      </p:nvGrpSpPr>
      <p:grpSpPr>
        <a:xfrm>
          <a:off x="0" y="0"/>
          <a:ext cx="0" cy="0"/>
          <a:chOff x="0" y="0"/>
          <a:chExt cx="0" cy="0"/>
        </a:xfrm>
      </p:grpSpPr>
      <p:sp>
        <p:nvSpPr>
          <p:cNvPr id="1048607" name="Google Shape;145;g77c1a88031_3_9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08" name="Google Shape;146;g77c1a88031_3_9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8" name="Shape 150"/>
        <p:cNvGrpSpPr/>
        <p:nvPr/>
      </p:nvGrpSpPr>
      <p:grpSpPr>
        <a:xfrm>
          <a:off x="0" y="0"/>
          <a:ext cx="0" cy="0"/>
          <a:chOff x="0" y="0"/>
          <a:chExt cx="0" cy="0"/>
        </a:xfrm>
      </p:grpSpPr>
      <p:sp>
        <p:nvSpPr>
          <p:cNvPr id="1048610" name="Google Shape;151;g77c1a88031_3_9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11" name="Google Shape;152;g77c1a88031_3_9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 name="Shape 156"/>
        <p:cNvGrpSpPr/>
        <p:nvPr/>
      </p:nvGrpSpPr>
      <p:grpSpPr>
        <a:xfrm>
          <a:off x="0" y="0"/>
          <a:ext cx="0" cy="0"/>
          <a:chOff x="0" y="0"/>
          <a:chExt cx="0" cy="0"/>
        </a:xfrm>
      </p:grpSpPr>
      <p:sp>
        <p:nvSpPr>
          <p:cNvPr id="1048613" name="Google Shape;157;g77c1a88031_3_10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14" name="Google Shape;158;g77c1a88031_3_10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 name="Shape 162"/>
        <p:cNvGrpSpPr/>
        <p:nvPr/>
      </p:nvGrpSpPr>
      <p:grpSpPr>
        <a:xfrm>
          <a:off x="0" y="0"/>
          <a:ext cx="0" cy="0"/>
          <a:chOff x="0" y="0"/>
          <a:chExt cx="0" cy="0"/>
        </a:xfrm>
      </p:grpSpPr>
      <p:sp>
        <p:nvSpPr>
          <p:cNvPr id="1048619" name="Google Shape;163;g77c1a88031_3_10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20" name="Google Shape;164;g77c1a88031_3_10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0" name="Shape 168"/>
        <p:cNvGrpSpPr/>
        <p:nvPr/>
      </p:nvGrpSpPr>
      <p:grpSpPr>
        <a:xfrm>
          <a:off x="0" y="0"/>
          <a:ext cx="0" cy="0"/>
          <a:chOff x="0" y="0"/>
          <a:chExt cx="0" cy="0"/>
        </a:xfrm>
      </p:grpSpPr>
      <p:sp>
        <p:nvSpPr>
          <p:cNvPr id="1048627" name="Google Shape;169;g77c1a88031_3_11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28" name="Google Shape;170;g77c1a88031_3_11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3" name="Shape 174"/>
        <p:cNvGrpSpPr/>
        <p:nvPr/>
      </p:nvGrpSpPr>
      <p:grpSpPr>
        <a:xfrm>
          <a:off x="0" y="0"/>
          <a:ext cx="0" cy="0"/>
          <a:chOff x="0" y="0"/>
          <a:chExt cx="0" cy="0"/>
        </a:xfrm>
      </p:grpSpPr>
      <p:sp>
        <p:nvSpPr>
          <p:cNvPr id="1048631" name="Google Shape;175;g77c1a88031_3_11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32" name="Google Shape;176;g77c1a88031_3_11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8" name="Shape 192"/>
        <p:cNvGrpSpPr/>
        <p:nvPr/>
      </p:nvGrpSpPr>
      <p:grpSpPr>
        <a:xfrm>
          <a:off x="0" y="0"/>
          <a:ext cx="0" cy="0"/>
          <a:chOff x="0" y="0"/>
          <a:chExt cx="0" cy="0"/>
        </a:xfrm>
      </p:grpSpPr>
      <p:sp>
        <p:nvSpPr>
          <p:cNvPr id="1048638" name="Google Shape;193;g77c1a88031_3_13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39" name="Google Shape;194;g77c1a88031_3_13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1" name="Shape 198"/>
        <p:cNvGrpSpPr/>
        <p:nvPr/>
      </p:nvGrpSpPr>
      <p:grpSpPr>
        <a:xfrm>
          <a:off x="0" y="0"/>
          <a:ext cx="0" cy="0"/>
          <a:chOff x="0" y="0"/>
          <a:chExt cx="0" cy="0"/>
        </a:xfrm>
      </p:grpSpPr>
      <p:sp>
        <p:nvSpPr>
          <p:cNvPr id="1048642" name="Google Shape;199;g77c1a88031_3_13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43" name="Google Shape;200;g77c1a88031_3_13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4" name="Shape 204"/>
        <p:cNvGrpSpPr/>
        <p:nvPr/>
      </p:nvGrpSpPr>
      <p:grpSpPr>
        <a:xfrm>
          <a:off x="0" y="0"/>
          <a:ext cx="0" cy="0"/>
          <a:chOff x="0" y="0"/>
          <a:chExt cx="0" cy="0"/>
        </a:xfrm>
      </p:grpSpPr>
      <p:sp>
        <p:nvSpPr>
          <p:cNvPr id="1048646" name="Google Shape;205;g77c1a88031_3_14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47" name="Google Shape;206;g77c1a88031_3_14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 name="Shape 210"/>
        <p:cNvGrpSpPr/>
        <p:nvPr/>
      </p:nvGrpSpPr>
      <p:grpSpPr>
        <a:xfrm>
          <a:off x="0" y="0"/>
          <a:ext cx="0" cy="0"/>
          <a:chOff x="0" y="0"/>
          <a:chExt cx="0" cy="0"/>
        </a:xfrm>
      </p:grpSpPr>
      <p:sp>
        <p:nvSpPr>
          <p:cNvPr id="1048650" name="Google Shape;211;g77c1a88031_3_14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51" name="Google Shape;212;g77c1a88031_3_14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216"/>
        <p:cNvGrpSpPr/>
        <p:nvPr/>
      </p:nvGrpSpPr>
      <p:grpSpPr>
        <a:xfrm>
          <a:off x="0" y="0"/>
          <a:ext cx="0" cy="0"/>
          <a:chOff x="0" y="0"/>
          <a:chExt cx="0" cy="0"/>
        </a:xfrm>
      </p:grpSpPr>
      <p:sp>
        <p:nvSpPr>
          <p:cNvPr id="1048654" name="Google Shape;217;g77c1a88031_3_15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55" name="Google Shape;218;g77c1a88031_3_15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222"/>
        <p:cNvGrpSpPr/>
        <p:nvPr/>
      </p:nvGrpSpPr>
      <p:grpSpPr>
        <a:xfrm>
          <a:off x="0" y="0"/>
          <a:ext cx="0" cy="0"/>
          <a:chOff x="0" y="0"/>
          <a:chExt cx="0" cy="0"/>
        </a:xfrm>
      </p:grpSpPr>
      <p:sp>
        <p:nvSpPr>
          <p:cNvPr id="1048658" name="Google Shape;223;g77c1a88031_3_15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59" name="Google Shape;224;g77c1a88031_3_15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6" name="Shape 228"/>
        <p:cNvGrpSpPr/>
        <p:nvPr/>
      </p:nvGrpSpPr>
      <p:grpSpPr>
        <a:xfrm>
          <a:off x="0" y="0"/>
          <a:ext cx="0" cy="0"/>
          <a:chOff x="0" y="0"/>
          <a:chExt cx="0" cy="0"/>
        </a:xfrm>
      </p:grpSpPr>
      <p:sp>
        <p:nvSpPr>
          <p:cNvPr id="1048662" name="Google Shape;229;g77c1a88031_3_16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63" name="Google Shape;230;g77c1a88031_3_16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9" name="Shape 234"/>
        <p:cNvGrpSpPr/>
        <p:nvPr/>
      </p:nvGrpSpPr>
      <p:grpSpPr>
        <a:xfrm>
          <a:off x="0" y="0"/>
          <a:ext cx="0" cy="0"/>
          <a:chOff x="0" y="0"/>
          <a:chExt cx="0" cy="0"/>
        </a:xfrm>
      </p:grpSpPr>
      <p:sp>
        <p:nvSpPr>
          <p:cNvPr id="1048666" name="Google Shape;235;g77c1a88031_3_16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67" name="Google Shape;236;g77c1a88031_3_16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2" name="Shape 240"/>
        <p:cNvGrpSpPr/>
        <p:nvPr/>
      </p:nvGrpSpPr>
      <p:grpSpPr>
        <a:xfrm>
          <a:off x="0" y="0"/>
          <a:ext cx="0" cy="0"/>
          <a:chOff x="0" y="0"/>
          <a:chExt cx="0" cy="0"/>
        </a:xfrm>
      </p:grpSpPr>
      <p:sp>
        <p:nvSpPr>
          <p:cNvPr id="1048670" name="Google Shape;241;g77c1a88031_3_17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71" name="Google Shape;242;g77c1a88031_3_17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5" name="Shape 246"/>
        <p:cNvGrpSpPr/>
        <p:nvPr/>
      </p:nvGrpSpPr>
      <p:grpSpPr>
        <a:xfrm>
          <a:off x="0" y="0"/>
          <a:ext cx="0" cy="0"/>
          <a:chOff x="0" y="0"/>
          <a:chExt cx="0" cy="0"/>
        </a:xfrm>
      </p:grpSpPr>
      <p:sp>
        <p:nvSpPr>
          <p:cNvPr id="1048674" name="Google Shape;247;g77c1a88031_3_17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75" name="Google Shape;248;g77c1a88031_3_17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8" name="Shape 252"/>
        <p:cNvGrpSpPr/>
        <p:nvPr/>
      </p:nvGrpSpPr>
      <p:grpSpPr>
        <a:xfrm>
          <a:off x="0" y="0"/>
          <a:ext cx="0" cy="0"/>
          <a:chOff x="0" y="0"/>
          <a:chExt cx="0" cy="0"/>
        </a:xfrm>
      </p:grpSpPr>
      <p:sp>
        <p:nvSpPr>
          <p:cNvPr id="1048678" name="Google Shape;253;g77c1a88031_3_18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79" name="Google Shape;254;g77c1a88031_3_18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1" name="Shape 258"/>
        <p:cNvGrpSpPr/>
        <p:nvPr/>
      </p:nvGrpSpPr>
      <p:grpSpPr>
        <a:xfrm>
          <a:off x="0" y="0"/>
          <a:ext cx="0" cy="0"/>
          <a:chOff x="0" y="0"/>
          <a:chExt cx="0" cy="0"/>
        </a:xfrm>
      </p:grpSpPr>
      <p:sp>
        <p:nvSpPr>
          <p:cNvPr id="1048682" name="Google Shape;259;g77c1a88031_3_18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83" name="Google Shape;260;g77c1a88031_3_18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4" name="Shape 299"/>
        <p:cNvGrpSpPr/>
        <p:nvPr/>
      </p:nvGrpSpPr>
      <p:grpSpPr>
        <a:xfrm>
          <a:off x="0" y="0"/>
          <a:ext cx="0" cy="0"/>
          <a:chOff x="0" y="0"/>
          <a:chExt cx="0" cy="0"/>
        </a:xfrm>
      </p:grpSpPr>
      <p:sp>
        <p:nvSpPr>
          <p:cNvPr id="1048686" name="Google Shape;300;g77c1a88031_3_22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87" name="Google Shape;301;g77c1a88031_3_22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7" name="Shape 305"/>
        <p:cNvGrpSpPr/>
        <p:nvPr/>
      </p:nvGrpSpPr>
      <p:grpSpPr>
        <a:xfrm>
          <a:off x="0" y="0"/>
          <a:ext cx="0" cy="0"/>
          <a:chOff x="0" y="0"/>
          <a:chExt cx="0" cy="0"/>
        </a:xfrm>
      </p:grpSpPr>
      <p:sp>
        <p:nvSpPr>
          <p:cNvPr id="1048690" name="Google Shape;306;g77c1a88031_3_22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691" name="Google Shape;307;g77c1a88031_3_22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311"/>
        <p:cNvGrpSpPr/>
        <p:nvPr/>
      </p:nvGrpSpPr>
      <p:grpSpPr>
        <a:xfrm>
          <a:off x="0" y="0"/>
          <a:ext cx="0" cy="0"/>
          <a:chOff x="0" y="0"/>
          <a:chExt cx="0" cy="0"/>
        </a:xfrm>
      </p:grpSpPr>
      <p:sp>
        <p:nvSpPr>
          <p:cNvPr id="1048704" name="Google Shape;312;g77c1a88031_3_23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05" name="Google Shape;313;g77c1a88031_3_23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8" name="Shape 317"/>
        <p:cNvGrpSpPr/>
        <p:nvPr/>
      </p:nvGrpSpPr>
      <p:grpSpPr>
        <a:xfrm>
          <a:off x="0" y="0"/>
          <a:ext cx="0" cy="0"/>
          <a:chOff x="0" y="0"/>
          <a:chExt cx="0" cy="0"/>
        </a:xfrm>
      </p:grpSpPr>
      <p:sp>
        <p:nvSpPr>
          <p:cNvPr id="1048708" name="Google Shape;318;g77c1a88031_3_23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09" name="Google Shape;319;g77c1a88031_3_23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1" name="Shape 323"/>
        <p:cNvGrpSpPr/>
        <p:nvPr/>
      </p:nvGrpSpPr>
      <p:grpSpPr>
        <a:xfrm>
          <a:off x="0" y="0"/>
          <a:ext cx="0" cy="0"/>
          <a:chOff x="0" y="0"/>
          <a:chExt cx="0" cy="0"/>
        </a:xfrm>
      </p:grpSpPr>
      <p:sp>
        <p:nvSpPr>
          <p:cNvPr id="1048712" name="Google Shape;324;g77c1a88031_3_24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13" name="Google Shape;325;g77c1a88031_3_24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4" name="Shape 329"/>
        <p:cNvGrpSpPr/>
        <p:nvPr/>
      </p:nvGrpSpPr>
      <p:grpSpPr>
        <a:xfrm>
          <a:off x="0" y="0"/>
          <a:ext cx="0" cy="0"/>
          <a:chOff x="0" y="0"/>
          <a:chExt cx="0" cy="0"/>
        </a:xfrm>
      </p:grpSpPr>
      <p:sp>
        <p:nvSpPr>
          <p:cNvPr id="1048716" name="Google Shape;330;g77c1a88031_3_24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17" name="Google Shape;331;g77c1a88031_3_24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7" name="Shape 335"/>
        <p:cNvGrpSpPr/>
        <p:nvPr/>
      </p:nvGrpSpPr>
      <p:grpSpPr>
        <a:xfrm>
          <a:off x="0" y="0"/>
          <a:ext cx="0" cy="0"/>
          <a:chOff x="0" y="0"/>
          <a:chExt cx="0" cy="0"/>
        </a:xfrm>
      </p:grpSpPr>
      <p:sp>
        <p:nvSpPr>
          <p:cNvPr id="1048720" name="Google Shape;336;g77c1a88031_3_25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21" name="Google Shape;337;g77c1a88031_3_25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0" name="Shape 341"/>
        <p:cNvGrpSpPr/>
        <p:nvPr/>
      </p:nvGrpSpPr>
      <p:grpSpPr>
        <a:xfrm>
          <a:off x="0" y="0"/>
          <a:ext cx="0" cy="0"/>
          <a:chOff x="0" y="0"/>
          <a:chExt cx="0" cy="0"/>
        </a:xfrm>
      </p:grpSpPr>
      <p:sp>
        <p:nvSpPr>
          <p:cNvPr id="1048724" name="Google Shape;342;g77c1a88031_3_25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25" name="Google Shape;343;g77c1a88031_3_25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3" name="Shape 347"/>
        <p:cNvGrpSpPr/>
        <p:nvPr/>
      </p:nvGrpSpPr>
      <p:grpSpPr>
        <a:xfrm>
          <a:off x="0" y="0"/>
          <a:ext cx="0" cy="0"/>
          <a:chOff x="0" y="0"/>
          <a:chExt cx="0" cy="0"/>
        </a:xfrm>
      </p:grpSpPr>
      <p:sp>
        <p:nvSpPr>
          <p:cNvPr id="1048728" name="Google Shape;348;g77c1a88031_3_26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29" name="Google Shape;349;g77c1a88031_3_26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6" name="Shape 353"/>
        <p:cNvGrpSpPr/>
        <p:nvPr/>
      </p:nvGrpSpPr>
      <p:grpSpPr>
        <a:xfrm>
          <a:off x="0" y="0"/>
          <a:ext cx="0" cy="0"/>
          <a:chOff x="0" y="0"/>
          <a:chExt cx="0" cy="0"/>
        </a:xfrm>
      </p:grpSpPr>
      <p:sp>
        <p:nvSpPr>
          <p:cNvPr id="1048732" name="Google Shape;354;g77c1a88031_3_26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33" name="Google Shape;355;g77c1a88031_3_26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9" name="Shape 359"/>
        <p:cNvGrpSpPr/>
        <p:nvPr/>
      </p:nvGrpSpPr>
      <p:grpSpPr>
        <a:xfrm>
          <a:off x="0" y="0"/>
          <a:ext cx="0" cy="0"/>
          <a:chOff x="0" y="0"/>
          <a:chExt cx="0" cy="0"/>
        </a:xfrm>
      </p:grpSpPr>
      <p:sp>
        <p:nvSpPr>
          <p:cNvPr id="1048736" name="Google Shape;360;g77c1a88031_3_27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37" name="Google Shape;361;g77c1a88031_3_27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2" name="Shape 365"/>
        <p:cNvGrpSpPr/>
        <p:nvPr/>
      </p:nvGrpSpPr>
      <p:grpSpPr>
        <a:xfrm>
          <a:off x="0" y="0"/>
          <a:ext cx="0" cy="0"/>
          <a:chOff x="0" y="0"/>
          <a:chExt cx="0" cy="0"/>
        </a:xfrm>
      </p:grpSpPr>
      <p:sp>
        <p:nvSpPr>
          <p:cNvPr id="1048740" name="Google Shape;366;g77c1a88031_3_27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41" name="Google Shape;367;g77c1a88031_3_27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5" name="Shape 371"/>
        <p:cNvGrpSpPr/>
        <p:nvPr/>
      </p:nvGrpSpPr>
      <p:grpSpPr>
        <a:xfrm>
          <a:off x="0" y="0"/>
          <a:ext cx="0" cy="0"/>
          <a:chOff x="0" y="0"/>
          <a:chExt cx="0" cy="0"/>
        </a:xfrm>
      </p:grpSpPr>
      <p:sp>
        <p:nvSpPr>
          <p:cNvPr id="1048744" name="Google Shape;372;g77c1a88031_3_28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45" name="Google Shape;373;g77c1a88031_3_28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8" name="Shape 377"/>
        <p:cNvGrpSpPr/>
        <p:nvPr/>
      </p:nvGrpSpPr>
      <p:grpSpPr>
        <a:xfrm>
          <a:off x="0" y="0"/>
          <a:ext cx="0" cy="0"/>
          <a:chOff x="0" y="0"/>
          <a:chExt cx="0" cy="0"/>
        </a:xfrm>
      </p:grpSpPr>
      <p:sp>
        <p:nvSpPr>
          <p:cNvPr id="1048748" name="Google Shape;378;g77c1a88031_3_28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49" name="Google Shape;379;g77c1a88031_3_28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1" name="Shape 383"/>
        <p:cNvGrpSpPr/>
        <p:nvPr/>
      </p:nvGrpSpPr>
      <p:grpSpPr>
        <a:xfrm>
          <a:off x="0" y="0"/>
          <a:ext cx="0" cy="0"/>
          <a:chOff x="0" y="0"/>
          <a:chExt cx="0" cy="0"/>
        </a:xfrm>
      </p:grpSpPr>
      <p:sp>
        <p:nvSpPr>
          <p:cNvPr id="1048752" name="Google Shape;384;g77c1a88031_3_29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53" name="Google Shape;385;g77c1a88031_3_29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5" name="Shape 395"/>
        <p:cNvGrpSpPr/>
        <p:nvPr/>
      </p:nvGrpSpPr>
      <p:grpSpPr>
        <a:xfrm>
          <a:off x="0" y="0"/>
          <a:ext cx="0" cy="0"/>
          <a:chOff x="0" y="0"/>
          <a:chExt cx="0" cy="0"/>
        </a:xfrm>
      </p:grpSpPr>
      <p:sp>
        <p:nvSpPr>
          <p:cNvPr id="1048758" name="Google Shape;396;g77c1a88031_3_30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59" name="Google Shape;397;g77c1a88031_3_30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8" name="Shape 401"/>
        <p:cNvGrpSpPr/>
        <p:nvPr/>
      </p:nvGrpSpPr>
      <p:grpSpPr>
        <a:xfrm>
          <a:off x="0" y="0"/>
          <a:ext cx="0" cy="0"/>
          <a:chOff x="0" y="0"/>
          <a:chExt cx="0" cy="0"/>
        </a:xfrm>
      </p:grpSpPr>
      <p:sp>
        <p:nvSpPr>
          <p:cNvPr id="1048762" name="Google Shape;402;g77c1a88031_3_30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63" name="Google Shape;403;g77c1a88031_3_30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1" name="Shape 413"/>
        <p:cNvGrpSpPr/>
        <p:nvPr/>
      </p:nvGrpSpPr>
      <p:grpSpPr>
        <a:xfrm>
          <a:off x="0" y="0"/>
          <a:ext cx="0" cy="0"/>
          <a:chOff x="0" y="0"/>
          <a:chExt cx="0" cy="0"/>
        </a:xfrm>
      </p:grpSpPr>
      <p:sp>
        <p:nvSpPr>
          <p:cNvPr id="1048766" name="Google Shape;414;g77c1a88031_3_31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67" name="Google Shape;415;g77c1a88031_3_31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5" name="Shape 419"/>
        <p:cNvGrpSpPr/>
        <p:nvPr/>
      </p:nvGrpSpPr>
      <p:grpSpPr>
        <a:xfrm>
          <a:off x="0" y="0"/>
          <a:ext cx="0" cy="0"/>
          <a:chOff x="0" y="0"/>
          <a:chExt cx="0" cy="0"/>
        </a:xfrm>
      </p:grpSpPr>
      <p:sp>
        <p:nvSpPr>
          <p:cNvPr id="1048772" name="Google Shape;420;g77c1a88031_3_32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73" name="Google Shape;421;g77c1a88031_3_32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8" name="Shape 425"/>
        <p:cNvGrpSpPr/>
        <p:nvPr/>
      </p:nvGrpSpPr>
      <p:grpSpPr>
        <a:xfrm>
          <a:off x="0" y="0"/>
          <a:ext cx="0" cy="0"/>
          <a:chOff x="0" y="0"/>
          <a:chExt cx="0" cy="0"/>
        </a:xfrm>
      </p:grpSpPr>
      <p:sp>
        <p:nvSpPr>
          <p:cNvPr id="1048776" name="Google Shape;426;g77c1a88031_3_32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77" name="Google Shape;427;g77c1a88031_3_32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1" name="Shape 431"/>
        <p:cNvGrpSpPr/>
        <p:nvPr/>
      </p:nvGrpSpPr>
      <p:grpSpPr>
        <a:xfrm>
          <a:off x="0" y="0"/>
          <a:ext cx="0" cy="0"/>
          <a:chOff x="0" y="0"/>
          <a:chExt cx="0" cy="0"/>
        </a:xfrm>
      </p:grpSpPr>
      <p:sp>
        <p:nvSpPr>
          <p:cNvPr id="1048780" name="Google Shape;432;g77c1a88031_3_33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81" name="Google Shape;433;g77c1a88031_3_33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4" name="Shape 437"/>
        <p:cNvGrpSpPr/>
        <p:nvPr/>
      </p:nvGrpSpPr>
      <p:grpSpPr>
        <a:xfrm>
          <a:off x="0" y="0"/>
          <a:ext cx="0" cy="0"/>
          <a:chOff x="0" y="0"/>
          <a:chExt cx="0" cy="0"/>
        </a:xfrm>
      </p:grpSpPr>
      <p:sp>
        <p:nvSpPr>
          <p:cNvPr id="1048784" name="Google Shape;438;g77c1a88031_3_33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85" name="Google Shape;439;g77c1a88031_3_33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7" name="Shape 443"/>
        <p:cNvGrpSpPr/>
        <p:nvPr/>
      </p:nvGrpSpPr>
      <p:grpSpPr>
        <a:xfrm>
          <a:off x="0" y="0"/>
          <a:ext cx="0" cy="0"/>
          <a:chOff x="0" y="0"/>
          <a:chExt cx="0" cy="0"/>
        </a:xfrm>
      </p:grpSpPr>
      <p:sp>
        <p:nvSpPr>
          <p:cNvPr id="1048788" name="Google Shape;444;g77c1a88031_3_34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89" name="Google Shape;445;g77c1a88031_3_34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0" name="Shape 449"/>
        <p:cNvGrpSpPr/>
        <p:nvPr/>
      </p:nvGrpSpPr>
      <p:grpSpPr>
        <a:xfrm>
          <a:off x="0" y="0"/>
          <a:ext cx="0" cy="0"/>
          <a:chOff x="0" y="0"/>
          <a:chExt cx="0" cy="0"/>
        </a:xfrm>
      </p:grpSpPr>
      <p:sp>
        <p:nvSpPr>
          <p:cNvPr id="1048792" name="Google Shape;450;g77c1a88031_3_34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93" name="Google Shape;451;g77c1a88031_3_34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3" name="Shape 455"/>
        <p:cNvGrpSpPr/>
        <p:nvPr/>
      </p:nvGrpSpPr>
      <p:grpSpPr>
        <a:xfrm>
          <a:off x="0" y="0"/>
          <a:ext cx="0" cy="0"/>
          <a:chOff x="0" y="0"/>
          <a:chExt cx="0" cy="0"/>
        </a:xfrm>
      </p:grpSpPr>
      <p:sp>
        <p:nvSpPr>
          <p:cNvPr id="1048796" name="Google Shape;456;g77c1a88031_3_35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797" name="Google Shape;457;g77c1a88031_3_35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6" name="Shape 461"/>
        <p:cNvGrpSpPr/>
        <p:nvPr/>
      </p:nvGrpSpPr>
      <p:grpSpPr>
        <a:xfrm>
          <a:off x="0" y="0"/>
          <a:ext cx="0" cy="0"/>
          <a:chOff x="0" y="0"/>
          <a:chExt cx="0" cy="0"/>
        </a:xfrm>
      </p:grpSpPr>
      <p:sp>
        <p:nvSpPr>
          <p:cNvPr id="1048799" name="Google Shape;462;g77c1a88031_3_35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00" name="Google Shape;463;g77c1a88031_3_35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9" name="Shape 467"/>
        <p:cNvGrpSpPr/>
        <p:nvPr/>
      </p:nvGrpSpPr>
      <p:grpSpPr>
        <a:xfrm>
          <a:off x="0" y="0"/>
          <a:ext cx="0" cy="0"/>
          <a:chOff x="0" y="0"/>
          <a:chExt cx="0" cy="0"/>
        </a:xfrm>
      </p:grpSpPr>
      <p:sp>
        <p:nvSpPr>
          <p:cNvPr id="1048803" name="Google Shape;468;g77c1a88031_3_36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04" name="Google Shape;469;g77c1a88031_3_36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2" name="Shape 473"/>
        <p:cNvGrpSpPr/>
        <p:nvPr/>
      </p:nvGrpSpPr>
      <p:grpSpPr>
        <a:xfrm>
          <a:off x="0" y="0"/>
          <a:ext cx="0" cy="0"/>
          <a:chOff x="0" y="0"/>
          <a:chExt cx="0" cy="0"/>
        </a:xfrm>
      </p:grpSpPr>
      <p:sp>
        <p:nvSpPr>
          <p:cNvPr id="1048807" name="Google Shape;474;g77c1a88031_3_36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08" name="Google Shape;475;g77c1a88031_3_36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5" name="Shape 479"/>
        <p:cNvGrpSpPr/>
        <p:nvPr/>
      </p:nvGrpSpPr>
      <p:grpSpPr>
        <a:xfrm>
          <a:off x="0" y="0"/>
          <a:ext cx="0" cy="0"/>
          <a:chOff x="0" y="0"/>
          <a:chExt cx="0" cy="0"/>
        </a:xfrm>
      </p:grpSpPr>
      <p:sp>
        <p:nvSpPr>
          <p:cNvPr id="1048811" name="Google Shape;480;g77c1a88031_3_371: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12" name="Google Shape;481;g77c1a88031_3_37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8" name="Shape 485"/>
        <p:cNvGrpSpPr/>
        <p:nvPr/>
      </p:nvGrpSpPr>
      <p:grpSpPr>
        <a:xfrm>
          <a:off x="0" y="0"/>
          <a:ext cx="0" cy="0"/>
          <a:chOff x="0" y="0"/>
          <a:chExt cx="0" cy="0"/>
        </a:xfrm>
      </p:grpSpPr>
      <p:sp>
        <p:nvSpPr>
          <p:cNvPr id="1048815" name="Google Shape;486;g77c1a88031_3_376: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16" name="Google Shape;487;g77c1a88031_3_376: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1" name="Shape 491"/>
        <p:cNvGrpSpPr/>
        <p:nvPr/>
      </p:nvGrpSpPr>
      <p:grpSpPr>
        <a:xfrm>
          <a:off x="0" y="0"/>
          <a:ext cx="0" cy="0"/>
          <a:chOff x="0" y="0"/>
          <a:chExt cx="0" cy="0"/>
        </a:xfrm>
      </p:grpSpPr>
      <p:sp>
        <p:nvSpPr>
          <p:cNvPr id="1048818" name="Google Shape;492;g77c1a88031_3_381: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8819" name="Google Shape;493;g77c1a88031_3_381:notes"/>
          <p:cNvSpPr txBox="1">
            <a:spLocks noGrp="1"/>
          </p:cNvSpPr>
          <p:nvPr>
            <p:ph type="body" idx="1"/>
          </p:nvPr>
        </p:nvSpPr>
        <p:spPr>
          <a:xfrm>
            <a:off x="685800" y="4343400"/>
            <a:ext cx="5486400" cy="4114800"/>
          </a:xfrm>
          <a:prstGeom prst="rect"/>
          <a:noFill/>
          <a:ln>
            <a:noFill/>
          </a:ln>
        </p:spPr>
        <p:txBody>
          <a:bodyPr anchor="t" anchorCtr="0" bIns="45700" lIns="91425" rIns="91425" spcFirstLastPara="1" tIns="45700" wrap="square">
            <a:noAutofit/>
          </a:bodyPr>
          <a:p>
            <a:pPr algn="l" indent="0" lvl="0" marL="0" rtl="0">
              <a:spcBef>
                <a:spcPts val="0"/>
              </a:spcBef>
              <a:spcAft>
                <a:spcPts val="0"/>
              </a:spcAft>
              <a:buNone/>
            </a:pPr>
          </a:p>
        </p:txBody>
      </p:sp>
      <p:sp>
        <p:nvSpPr>
          <p:cNvPr id="1048820" name="Google Shape;494;g77c1a88031_3_381:notes"/>
          <p:cNvSpPr txBox="1">
            <a:spLocks noGrp="1"/>
          </p:cNvSpPr>
          <p:nvPr>
            <p:ph type="sldNum" idx="12"/>
          </p:nvPr>
        </p:nvSpPr>
        <p:spPr>
          <a:xfrm>
            <a:off x="3884613" y="8685213"/>
            <a:ext cx="2971800" cy="457200"/>
          </a:xfrm>
          <a:prstGeom prst="rect"/>
          <a:noFill/>
          <a:ln>
            <a:noFill/>
          </a:ln>
        </p:spPr>
        <p:txBody>
          <a:bodyPr anchor="b" anchorCtr="0" bIns="45700" lIns="91425" rIns="91425" spcFirstLastPara="1" tIns="45700" wrap="square">
            <a:noAutofit/>
          </a:bodyPr>
          <a:p>
            <a:pPr algn="r" indent="0" lvl="0" marL="0" rtl="0">
              <a:spcBef>
                <a:spcPts val="0"/>
              </a:spcBef>
              <a:spcAft>
                <a:spcPts val="0"/>
              </a:spcAft>
              <a:buNone/>
            </a:pPr>
            <a:fld id="{00000000-1234-1234-1234-123412341234}" type="slidenum">
              <a:rPr lang="en"/>
              <a:t>68</a:t>
            </a:fld>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4" name="Shape 498"/>
        <p:cNvGrpSpPr/>
        <p:nvPr/>
      </p:nvGrpSpPr>
      <p:grpSpPr>
        <a:xfrm>
          <a:off x="0" y="0"/>
          <a:ext cx="0" cy="0"/>
          <a:chOff x="0" y="0"/>
          <a:chExt cx="0" cy="0"/>
        </a:xfrm>
      </p:grpSpPr>
      <p:sp>
        <p:nvSpPr>
          <p:cNvPr id="1048823" name="Google Shape;499;g77c1a88031_3_38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24" name="Google Shape;500;g77c1a88031_3_38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7" name="Shape 504"/>
        <p:cNvGrpSpPr/>
        <p:nvPr/>
      </p:nvGrpSpPr>
      <p:grpSpPr>
        <a:xfrm>
          <a:off x="0" y="0"/>
          <a:ext cx="0" cy="0"/>
          <a:chOff x="0" y="0"/>
          <a:chExt cx="0" cy="0"/>
        </a:xfrm>
      </p:grpSpPr>
      <p:sp>
        <p:nvSpPr>
          <p:cNvPr id="1048827" name="Google Shape;505;g77c1a88031_3_39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28" name="Google Shape;506;g77c1a88031_3_39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0" name="Shape 510"/>
        <p:cNvGrpSpPr/>
        <p:nvPr/>
      </p:nvGrpSpPr>
      <p:grpSpPr>
        <a:xfrm>
          <a:off x="0" y="0"/>
          <a:ext cx="0" cy="0"/>
          <a:chOff x="0" y="0"/>
          <a:chExt cx="0" cy="0"/>
        </a:xfrm>
      </p:grpSpPr>
      <p:sp>
        <p:nvSpPr>
          <p:cNvPr id="1048831" name="Google Shape;511;g77c1a88031_3_39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32" name="Google Shape;512;g77c1a88031_3_39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3" name="Shape 516"/>
        <p:cNvGrpSpPr/>
        <p:nvPr/>
      </p:nvGrpSpPr>
      <p:grpSpPr>
        <a:xfrm>
          <a:off x="0" y="0"/>
          <a:ext cx="0" cy="0"/>
          <a:chOff x="0" y="0"/>
          <a:chExt cx="0" cy="0"/>
        </a:xfrm>
      </p:grpSpPr>
      <p:sp>
        <p:nvSpPr>
          <p:cNvPr id="1048835" name="Google Shape;517;g77c1a88031_3_40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36" name="Google Shape;518;g77c1a88031_3_40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6" name="Shape 522"/>
        <p:cNvGrpSpPr/>
        <p:nvPr/>
      </p:nvGrpSpPr>
      <p:grpSpPr>
        <a:xfrm>
          <a:off x="0" y="0"/>
          <a:ext cx="0" cy="0"/>
          <a:chOff x="0" y="0"/>
          <a:chExt cx="0" cy="0"/>
        </a:xfrm>
      </p:grpSpPr>
      <p:sp>
        <p:nvSpPr>
          <p:cNvPr id="1048839" name="Google Shape;523;g77c1a88031_3_40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40" name="Google Shape;524;g77c1a88031_3_40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9" name="Shape 528"/>
        <p:cNvGrpSpPr/>
        <p:nvPr/>
      </p:nvGrpSpPr>
      <p:grpSpPr>
        <a:xfrm>
          <a:off x="0" y="0"/>
          <a:ext cx="0" cy="0"/>
          <a:chOff x="0" y="0"/>
          <a:chExt cx="0" cy="0"/>
        </a:xfrm>
      </p:grpSpPr>
      <p:sp>
        <p:nvSpPr>
          <p:cNvPr id="1048843" name="Google Shape;529;g77c1a88031_3_41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44" name="Google Shape;530;g77c1a88031_3_41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4" name="Shape 534"/>
        <p:cNvGrpSpPr/>
        <p:nvPr/>
      </p:nvGrpSpPr>
      <p:grpSpPr>
        <a:xfrm>
          <a:off x="0" y="0"/>
          <a:ext cx="0" cy="0"/>
          <a:chOff x="0" y="0"/>
          <a:chExt cx="0" cy="0"/>
        </a:xfrm>
      </p:grpSpPr>
      <p:sp>
        <p:nvSpPr>
          <p:cNvPr id="1048851" name="Google Shape;535;g77c1a88031_3_41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52" name="Google Shape;536;g77c1a88031_3_41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7" name="Shape 540"/>
        <p:cNvGrpSpPr/>
        <p:nvPr/>
      </p:nvGrpSpPr>
      <p:grpSpPr>
        <a:xfrm>
          <a:off x="0" y="0"/>
          <a:ext cx="0" cy="0"/>
          <a:chOff x="0" y="0"/>
          <a:chExt cx="0" cy="0"/>
        </a:xfrm>
      </p:grpSpPr>
      <p:sp>
        <p:nvSpPr>
          <p:cNvPr id="1048855" name="Google Shape;541;g77c1a88031_3_42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56" name="Google Shape;542;g77c1a88031_3_42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0" name="Shape 546"/>
        <p:cNvGrpSpPr/>
        <p:nvPr/>
      </p:nvGrpSpPr>
      <p:grpSpPr>
        <a:xfrm>
          <a:off x="0" y="0"/>
          <a:ext cx="0" cy="0"/>
          <a:chOff x="0" y="0"/>
          <a:chExt cx="0" cy="0"/>
        </a:xfrm>
      </p:grpSpPr>
      <p:sp>
        <p:nvSpPr>
          <p:cNvPr id="1048858" name="Google Shape;547;g77c1a88031_3_42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59" name="Google Shape;548;g77c1a88031_3_42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3" name="Shape 552"/>
        <p:cNvGrpSpPr/>
        <p:nvPr/>
      </p:nvGrpSpPr>
      <p:grpSpPr>
        <a:xfrm>
          <a:off x="0" y="0"/>
          <a:ext cx="0" cy="0"/>
          <a:chOff x="0" y="0"/>
          <a:chExt cx="0" cy="0"/>
        </a:xfrm>
      </p:grpSpPr>
      <p:sp>
        <p:nvSpPr>
          <p:cNvPr id="1048862" name="Google Shape;553;g77c1a88031_3_43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63" name="Google Shape;554;g77c1a88031_3_43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6" name="Shape 558"/>
        <p:cNvGrpSpPr/>
        <p:nvPr/>
      </p:nvGrpSpPr>
      <p:grpSpPr>
        <a:xfrm>
          <a:off x="0" y="0"/>
          <a:ext cx="0" cy="0"/>
          <a:chOff x="0" y="0"/>
          <a:chExt cx="0" cy="0"/>
        </a:xfrm>
      </p:grpSpPr>
      <p:sp>
        <p:nvSpPr>
          <p:cNvPr id="1048865" name="Google Shape;559;g77c1a88031_3_43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66" name="Google Shape;560;g77c1a88031_3_43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9" name="Shape 564"/>
        <p:cNvGrpSpPr/>
        <p:nvPr/>
      </p:nvGrpSpPr>
      <p:grpSpPr>
        <a:xfrm>
          <a:off x="0" y="0"/>
          <a:ext cx="0" cy="0"/>
          <a:chOff x="0" y="0"/>
          <a:chExt cx="0" cy="0"/>
        </a:xfrm>
      </p:grpSpPr>
      <p:sp>
        <p:nvSpPr>
          <p:cNvPr id="1048869" name="Google Shape;565;g77c1a88031_3_44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70" name="Google Shape;566;g77c1a88031_3_44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2" name="Shape 570"/>
        <p:cNvGrpSpPr/>
        <p:nvPr/>
      </p:nvGrpSpPr>
      <p:grpSpPr>
        <a:xfrm>
          <a:off x="0" y="0"/>
          <a:ext cx="0" cy="0"/>
          <a:chOff x="0" y="0"/>
          <a:chExt cx="0" cy="0"/>
        </a:xfrm>
      </p:grpSpPr>
      <p:sp>
        <p:nvSpPr>
          <p:cNvPr id="1048873" name="Google Shape;571;g77c1a88031_3_44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74" name="Google Shape;572;g77c1a88031_3_44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6" name="Shape 600"/>
        <p:cNvGrpSpPr/>
        <p:nvPr/>
      </p:nvGrpSpPr>
      <p:grpSpPr>
        <a:xfrm>
          <a:off x="0" y="0"/>
          <a:ext cx="0" cy="0"/>
          <a:chOff x="0" y="0"/>
          <a:chExt cx="0" cy="0"/>
        </a:xfrm>
      </p:grpSpPr>
      <p:sp>
        <p:nvSpPr>
          <p:cNvPr id="1048879" name="Google Shape;601;g77c1a88031_3_47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80" name="Google Shape;602;g77c1a88031_3_47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9" name="Shape 612"/>
        <p:cNvGrpSpPr/>
        <p:nvPr/>
      </p:nvGrpSpPr>
      <p:grpSpPr>
        <a:xfrm>
          <a:off x="0" y="0"/>
          <a:ext cx="0" cy="0"/>
          <a:chOff x="0" y="0"/>
          <a:chExt cx="0" cy="0"/>
        </a:xfrm>
      </p:grpSpPr>
      <p:sp>
        <p:nvSpPr>
          <p:cNvPr id="1048883" name="Google Shape;613;g77c1a88031_3_482: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84" name="Google Shape;614;g77c1a88031_3_482: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3" name="Shape 606"/>
        <p:cNvGrpSpPr/>
        <p:nvPr/>
      </p:nvGrpSpPr>
      <p:grpSpPr>
        <a:xfrm>
          <a:off x="0" y="0"/>
          <a:ext cx="0" cy="0"/>
          <a:chOff x="0" y="0"/>
          <a:chExt cx="0" cy="0"/>
        </a:xfrm>
      </p:grpSpPr>
      <p:sp>
        <p:nvSpPr>
          <p:cNvPr id="1048889" name="Google Shape;607;g77c1a88031_3_477:notes"/>
          <p:cNvSpPr txBox="1">
            <a:spLocks noGrp="1"/>
          </p:cNvSpPr>
          <p:nvPr>
            <p:ph type="body" idx="1"/>
          </p:nvPr>
        </p:nvSpPr>
        <p:spPr>
          <a:xfrm>
            <a:off x="685800" y="4343400"/>
            <a:ext cx="5486400" cy="4114800"/>
          </a:xfrm>
          <a:prstGeom prst="rect"/>
        </p:spPr>
        <p:txBody>
          <a:bodyPr anchor="t" anchorCtr="0" bIns="91425" lIns="91425" rIns="91425" spcFirstLastPara="1" tIns="91425" wrap="square">
            <a:noAutofit/>
          </a:bodyPr>
          <a:p>
            <a:pPr algn="l" indent="0" lvl="0" marL="0" rtl="0">
              <a:spcBef>
                <a:spcPts val="0"/>
              </a:spcBef>
              <a:spcAft>
                <a:spcPts val="0"/>
              </a:spcAft>
              <a:buNone/>
            </a:pPr>
          </a:p>
        </p:txBody>
      </p:sp>
      <p:sp>
        <p:nvSpPr>
          <p:cNvPr id="1048890" name="Google Shape;608;g77c1a88031_3_477:notes"/>
          <p:cNvSpPr>
            <a:spLocks noChangeAspect="1" noRot="1" noGrp="1"/>
          </p:cNvSpPr>
          <p:nvPr>
            <p:ph type="sldImg" idx="2"/>
          </p:nvPr>
        </p:nvSpPr>
        <p:spPr>
          <a:xfrm>
            <a:off x="381000" y="685800"/>
            <a:ext cx="6096000" cy="3429000"/>
          </a:xfrm>
          <a:custGeom>
            <a:avLst/>
            <a:ah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4"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1048582" name="Subtitle 2"/>
          <p:cNvSpPr>
            <a:spLocks noGrp="1"/>
          </p:cNvSpPr>
          <p:nvPr>
            <p:ph type="subTitle" idx="1"/>
          </p:nvPr>
        </p:nvSpPr>
        <p:spPr>
          <a:xfrm>
            <a:off x="1524000" y="3602038"/>
            <a:ext cx="9144000" cy="1655762"/>
          </a:xfrm>
        </p:spPr>
        <p:txBody>
          <a:bodyPr/>
          <a:lstStyle>
            <a:lvl1pPr algn="ctr" indent="0" marL="0">
              <a:buNone/>
              <a:defRPr sz="2400"/>
            </a:lvl1pPr>
            <a:lvl2pPr algn="ctr" indent="0" marL="457200">
              <a:buNone/>
              <a:defRPr sz="2000"/>
            </a:lvl2pPr>
            <a:lvl3pPr algn="ctr" indent="0" marL="914400">
              <a:buNone/>
              <a:defRPr sz="1800"/>
            </a:lvl3pPr>
            <a:lvl4pPr algn="ctr" indent="0" marL="1371600">
              <a:buNone/>
              <a:defRPr sz="1600"/>
            </a:lvl4pPr>
            <a:lvl5pPr algn="ctr" indent="0" marL="1828800">
              <a:buNone/>
              <a:defRPr sz="1600"/>
            </a:lvl5pPr>
            <a:lvl6pPr algn="ctr" indent="0" marL="2286000">
              <a:buNone/>
              <a:defRPr sz="1600"/>
            </a:lvl6pPr>
            <a:lvl7pPr algn="ctr" indent="0" marL="2743200">
              <a:buNone/>
              <a:defRPr sz="1600"/>
            </a:lvl7pPr>
            <a:lvl8pPr algn="ctr" indent="0" marL="3200400">
              <a:buNone/>
              <a:defRPr sz="1600"/>
            </a:lvl8pPr>
            <a:lvl9pPr algn="ctr" indent="0" marL="3657600">
              <a:buNone/>
              <a:defRPr sz="1600"/>
            </a:lvl9pPr>
          </a:lstStyle>
          <a:p>
            <a:r>
              <a:rPr lang="en-US"/>
              <a:t>Click to edit Master subtitle style</a:t>
            </a:r>
          </a:p>
        </p:txBody>
      </p:sp>
      <p:sp>
        <p:nvSpPr>
          <p:cNvPr id="1048583" name="Date Placeholder 3"/>
          <p:cNvSpPr>
            <a:spLocks noGrp="1"/>
          </p:cNvSpPr>
          <p:nvPr>
            <p:ph type="dt" sz="half" idx="10"/>
          </p:nvPr>
        </p:nvSpPr>
        <p:spPr/>
        <p:txBody>
          <a:bodyPr/>
          <a:p>
            <a:fld id="{0449AAB7-4672-4CA1-8A4F-DA000D2CC371}" type="datetimeFigureOut">
              <a:rPr lang="en-US" smtClean="0"/>
              <a:t>5/19/2025</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6ECC5875-1EE9-46E5-A83D-A505F0ED108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06" name=""/>
        <p:cNvGrpSpPr/>
        <p:nvPr/>
      </p:nvGrpSpPr>
      <p:grpSpPr>
        <a:xfrm>
          <a:off x="0" y="0"/>
          <a:ext cx="0" cy="0"/>
          <a:chOff x="0" y="0"/>
          <a:chExt cx="0" cy="0"/>
        </a:xfrm>
      </p:grpSpPr>
      <p:sp>
        <p:nvSpPr>
          <p:cNvPr id="1048588" name="Title 1"/>
          <p:cNvSpPr>
            <a:spLocks noGrp="1"/>
          </p:cNvSpPr>
          <p:nvPr>
            <p:ph type="title"/>
          </p:nvPr>
        </p:nvSpPr>
        <p:spPr/>
        <p:txBody>
          <a:bodyPr/>
          <a:p>
            <a:r>
              <a:rPr lang="en-US"/>
              <a:t>Click to edit Master title style</a:t>
            </a:r>
          </a:p>
        </p:txBody>
      </p:sp>
      <p:sp>
        <p:nvSpPr>
          <p:cNvPr id="1048589"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0" name="Date Placeholder 3"/>
          <p:cNvSpPr>
            <a:spLocks noGrp="1"/>
          </p:cNvSpPr>
          <p:nvPr>
            <p:ph type="dt" sz="half" idx="10"/>
          </p:nvPr>
        </p:nvSpPr>
        <p:spPr/>
        <p:txBody>
          <a:bodyPr/>
          <a:p>
            <a:fld id="{0449AAB7-4672-4CA1-8A4F-DA000D2CC371}" type="datetimeFigureOut">
              <a:rPr lang="en-US" smtClean="0"/>
              <a:t>5/19/2025</a:t>
            </a:fld>
            <a:endParaRPr lang="en-US"/>
          </a:p>
        </p:txBody>
      </p:sp>
      <p:sp>
        <p:nvSpPr>
          <p:cNvPr id="1048591" name="Footer Placeholder 4"/>
          <p:cNvSpPr>
            <a:spLocks noGrp="1"/>
          </p:cNvSpPr>
          <p:nvPr>
            <p:ph type="ftr" sz="quarter" idx="11"/>
          </p:nvPr>
        </p:nvSpPr>
        <p:spPr/>
        <p:txBody>
          <a:bodyPr/>
          <a:p>
            <a:endParaRPr lang="en-US"/>
          </a:p>
        </p:txBody>
      </p:sp>
      <p:sp>
        <p:nvSpPr>
          <p:cNvPr id="1048592" name="Slide Number Placeholder 5"/>
          <p:cNvSpPr>
            <a:spLocks noGrp="1"/>
          </p:cNvSpPr>
          <p:nvPr>
            <p:ph type="sldNum" sz="quarter" idx="12"/>
          </p:nvPr>
        </p:nvSpPr>
        <p:spPr/>
        <p:txBody>
          <a:bodyPr/>
          <a:p>
            <a:fld id="{6ECC5875-1EE9-46E5-A83D-A505F0ED108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330" name=""/>
        <p:cNvGrpSpPr/>
        <p:nvPr/>
      </p:nvGrpSpPr>
      <p:grpSpPr>
        <a:xfrm>
          <a:off x="0" y="0"/>
          <a:ext cx="0" cy="0"/>
          <a:chOff x="0" y="0"/>
          <a:chExt cx="0" cy="0"/>
        </a:xfrm>
      </p:grpSpPr>
      <p:sp>
        <p:nvSpPr>
          <p:cNvPr id="1048915"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1048916" name="Text Placeholder 2"/>
          <p:cNvSpPr>
            <a:spLocks noGrp="1"/>
          </p:cNvSpPr>
          <p:nvPr>
            <p:ph type="body" idx="1"/>
          </p:nvPr>
        </p:nvSpPr>
        <p:spPr>
          <a:xfrm>
            <a:off x="831850" y="4589463"/>
            <a:ext cx="10515600" cy="1500187"/>
          </a:xfrm>
        </p:spPr>
        <p:txBody>
          <a:bodyPr/>
          <a:lstStyle>
            <a:lvl1pPr indent="0" marL="0">
              <a:buNone/>
              <a:defRPr sz="2400">
                <a:solidFill>
                  <a:schemeClr val="tx1">
                    <a:tint val="75000"/>
                  </a:schemeClr>
                </a:solidFill>
              </a:defRPr>
            </a:lvl1pPr>
            <a:lvl2pPr indent="0" marL="457200">
              <a:buNone/>
              <a:defRPr sz="2000">
                <a:solidFill>
                  <a:schemeClr val="tx1">
                    <a:tint val="75000"/>
                  </a:schemeClr>
                </a:solidFill>
              </a:defRPr>
            </a:lvl2pPr>
            <a:lvl3pPr indent="0" marL="914400">
              <a:buNone/>
              <a:defRPr sz="1800">
                <a:solidFill>
                  <a:schemeClr val="tx1">
                    <a:tint val="75000"/>
                  </a:schemeClr>
                </a:solidFill>
              </a:defRPr>
            </a:lvl3pPr>
            <a:lvl4pPr indent="0" marL="1371600">
              <a:buNone/>
              <a:defRPr sz="1600">
                <a:solidFill>
                  <a:schemeClr val="tx1">
                    <a:tint val="75000"/>
                  </a:schemeClr>
                </a:solidFill>
              </a:defRPr>
            </a:lvl4pPr>
            <a:lvl5pPr indent="0" marL="1828800">
              <a:buNone/>
              <a:defRPr sz="1600">
                <a:solidFill>
                  <a:schemeClr val="tx1">
                    <a:tint val="75000"/>
                  </a:schemeClr>
                </a:solidFill>
              </a:defRPr>
            </a:lvl5pPr>
            <a:lvl6pPr indent="0" marL="2286000">
              <a:buNone/>
              <a:defRPr sz="1600">
                <a:solidFill>
                  <a:schemeClr val="tx1">
                    <a:tint val="75000"/>
                  </a:schemeClr>
                </a:solidFill>
              </a:defRPr>
            </a:lvl6pPr>
            <a:lvl7pPr indent="0" marL="2743200">
              <a:buNone/>
              <a:defRPr sz="1600">
                <a:solidFill>
                  <a:schemeClr val="tx1">
                    <a:tint val="75000"/>
                  </a:schemeClr>
                </a:solidFill>
              </a:defRPr>
            </a:lvl7pPr>
            <a:lvl8pPr indent="0" marL="3200400">
              <a:buNone/>
              <a:defRPr sz="1600">
                <a:solidFill>
                  <a:schemeClr val="tx1">
                    <a:tint val="75000"/>
                  </a:schemeClr>
                </a:solidFill>
              </a:defRPr>
            </a:lvl8pPr>
            <a:lvl9pPr indent="0" marL="3657600">
              <a:buNone/>
              <a:defRPr sz="1600">
                <a:solidFill>
                  <a:schemeClr val="tx1">
                    <a:tint val="75000"/>
                  </a:schemeClr>
                </a:solidFill>
              </a:defRPr>
            </a:lvl9pPr>
          </a:lstStyle>
          <a:p>
            <a:pPr lvl="0"/>
            <a:r>
              <a:rPr lang="en-US"/>
              <a:t>Click to edit Master text styles</a:t>
            </a:r>
          </a:p>
        </p:txBody>
      </p:sp>
      <p:sp>
        <p:nvSpPr>
          <p:cNvPr id="1048917" name="Date Placeholder 3"/>
          <p:cNvSpPr>
            <a:spLocks noGrp="1"/>
          </p:cNvSpPr>
          <p:nvPr>
            <p:ph type="dt" sz="half" idx="10"/>
          </p:nvPr>
        </p:nvSpPr>
        <p:spPr/>
        <p:txBody>
          <a:bodyPr/>
          <a:p>
            <a:fld id="{0449AAB7-4672-4CA1-8A4F-DA000D2CC371}" type="datetimeFigureOut">
              <a:rPr lang="en-US" smtClean="0"/>
              <a:t>5/19/2025</a:t>
            </a:fld>
            <a:endParaRPr lang="en-US"/>
          </a:p>
        </p:txBody>
      </p:sp>
      <p:sp>
        <p:nvSpPr>
          <p:cNvPr id="1048918" name="Footer Placeholder 4"/>
          <p:cNvSpPr>
            <a:spLocks noGrp="1"/>
          </p:cNvSpPr>
          <p:nvPr>
            <p:ph type="ftr" sz="quarter" idx="11"/>
          </p:nvPr>
        </p:nvSpPr>
        <p:spPr/>
        <p:txBody>
          <a:bodyPr/>
          <a:p>
            <a:endParaRPr lang="en-US"/>
          </a:p>
        </p:txBody>
      </p:sp>
      <p:sp>
        <p:nvSpPr>
          <p:cNvPr id="1048919" name="Slide Number Placeholder 5"/>
          <p:cNvSpPr>
            <a:spLocks noGrp="1"/>
          </p:cNvSpPr>
          <p:nvPr>
            <p:ph type="sldNum" sz="quarter" idx="12"/>
          </p:nvPr>
        </p:nvSpPr>
        <p:spPr/>
        <p:txBody>
          <a:bodyPr/>
          <a:p>
            <a:fld id="{6ECC5875-1EE9-46E5-A83D-A505F0ED108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331" name=""/>
        <p:cNvGrpSpPr/>
        <p:nvPr/>
      </p:nvGrpSpPr>
      <p:grpSpPr>
        <a:xfrm>
          <a:off x="0" y="0"/>
          <a:ext cx="0" cy="0"/>
          <a:chOff x="0" y="0"/>
          <a:chExt cx="0" cy="0"/>
        </a:xfrm>
      </p:grpSpPr>
      <p:sp>
        <p:nvSpPr>
          <p:cNvPr id="1048920" name="Title 1"/>
          <p:cNvSpPr>
            <a:spLocks noGrp="1"/>
          </p:cNvSpPr>
          <p:nvPr>
            <p:ph type="title"/>
          </p:nvPr>
        </p:nvSpPr>
        <p:spPr/>
        <p:txBody>
          <a:bodyPr/>
          <a:p>
            <a:r>
              <a:rPr lang="en-US"/>
              <a:t>Click to edit Master title style</a:t>
            </a:r>
          </a:p>
        </p:txBody>
      </p:sp>
      <p:sp>
        <p:nvSpPr>
          <p:cNvPr id="1048921" name="Content Placeholder 2"/>
          <p:cNvSpPr>
            <a:spLocks noGrp="1"/>
          </p:cNvSpPr>
          <p:nvPr>
            <p:ph sz="half" idx="1"/>
          </p:nvPr>
        </p:nvSpPr>
        <p:spPr>
          <a:xfrm>
            <a:off x="838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22" name="Content Placeholder 3"/>
          <p:cNvSpPr>
            <a:spLocks noGrp="1"/>
          </p:cNvSpPr>
          <p:nvPr>
            <p:ph sz="half" idx="2"/>
          </p:nvPr>
        </p:nvSpPr>
        <p:spPr>
          <a:xfrm>
            <a:off x="6172200" y="1825625"/>
            <a:ext cx="5181600" cy="435133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23" name="Date Placeholder 4"/>
          <p:cNvSpPr>
            <a:spLocks noGrp="1"/>
          </p:cNvSpPr>
          <p:nvPr>
            <p:ph type="dt" sz="half" idx="10"/>
          </p:nvPr>
        </p:nvSpPr>
        <p:spPr/>
        <p:txBody>
          <a:bodyPr/>
          <a:p>
            <a:fld id="{0449AAB7-4672-4CA1-8A4F-DA000D2CC371}" type="datetimeFigureOut">
              <a:rPr lang="en-US" smtClean="0"/>
              <a:t>5/19/2025</a:t>
            </a:fld>
            <a:endParaRPr lang="en-US"/>
          </a:p>
        </p:txBody>
      </p:sp>
      <p:sp>
        <p:nvSpPr>
          <p:cNvPr id="1048924" name="Footer Placeholder 5"/>
          <p:cNvSpPr>
            <a:spLocks noGrp="1"/>
          </p:cNvSpPr>
          <p:nvPr>
            <p:ph type="ftr" sz="quarter" idx="11"/>
          </p:nvPr>
        </p:nvSpPr>
        <p:spPr/>
        <p:txBody>
          <a:bodyPr/>
          <a:p>
            <a:endParaRPr lang="en-US"/>
          </a:p>
        </p:txBody>
      </p:sp>
      <p:sp>
        <p:nvSpPr>
          <p:cNvPr id="1048925" name="Slide Number Placeholder 6"/>
          <p:cNvSpPr>
            <a:spLocks noGrp="1"/>
          </p:cNvSpPr>
          <p:nvPr>
            <p:ph type="sldNum" sz="quarter" idx="12"/>
          </p:nvPr>
        </p:nvSpPr>
        <p:spPr/>
        <p:txBody>
          <a:bodyPr/>
          <a:p>
            <a:fld id="{6ECC5875-1EE9-46E5-A83D-A505F0ED108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332" name=""/>
        <p:cNvGrpSpPr/>
        <p:nvPr/>
      </p:nvGrpSpPr>
      <p:grpSpPr>
        <a:xfrm>
          <a:off x="0" y="0"/>
          <a:ext cx="0" cy="0"/>
          <a:chOff x="0" y="0"/>
          <a:chExt cx="0" cy="0"/>
        </a:xfrm>
      </p:grpSpPr>
      <p:sp>
        <p:nvSpPr>
          <p:cNvPr id="1048926" name="Title 1"/>
          <p:cNvSpPr>
            <a:spLocks noGrp="1"/>
          </p:cNvSpPr>
          <p:nvPr>
            <p:ph type="title"/>
          </p:nvPr>
        </p:nvSpPr>
        <p:spPr>
          <a:xfrm>
            <a:off x="839788" y="365125"/>
            <a:ext cx="10515600" cy="1325563"/>
          </a:xfrm>
        </p:spPr>
        <p:txBody>
          <a:bodyPr/>
          <a:p>
            <a:r>
              <a:rPr lang="en-US"/>
              <a:t>Click to edit Master title style</a:t>
            </a:r>
          </a:p>
        </p:txBody>
      </p:sp>
      <p:sp>
        <p:nvSpPr>
          <p:cNvPr id="1048927" name="Text Placeholder 2"/>
          <p:cNvSpPr>
            <a:spLocks noGrp="1"/>
          </p:cNvSpPr>
          <p:nvPr>
            <p:ph type="body" idx="1"/>
          </p:nvPr>
        </p:nvSpPr>
        <p:spPr>
          <a:xfrm>
            <a:off x="839788" y="1681163"/>
            <a:ext cx="5157787"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928" name="Content Placeholder 3"/>
          <p:cNvSpPr>
            <a:spLocks noGrp="1"/>
          </p:cNvSpPr>
          <p:nvPr>
            <p:ph sz="half" idx="2"/>
          </p:nvPr>
        </p:nvSpPr>
        <p:spPr>
          <a:xfrm>
            <a:off x="839788" y="2505075"/>
            <a:ext cx="5157787"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29" name="Text Placeholder 4"/>
          <p:cNvSpPr>
            <a:spLocks noGrp="1"/>
          </p:cNvSpPr>
          <p:nvPr>
            <p:ph type="body" sz="quarter" idx="3"/>
          </p:nvPr>
        </p:nvSpPr>
        <p:spPr>
          <a:xfrm>
            <a:off x="6172200" y="1681163"/>
            <a:ext cx="5183188" cy="82391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930" name="Content Placeholder 5"/>
          <p:cNvSpPr>
            <a:spLocks noGrp="1"/>
          </p:cNvSpPr>
          <p:nvPr>
            <p:ph sz="quarter" idx="4"/>
          </p:nvPr>
        </p:nvSpPr>
        <p:spPr>
          <a:xfrm>
            <a:off x="6172200" y="2505075"/>
            <a:ext cx="5183188" cy="3684588"/>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31" name="Date Placeholder 6"/>
          <p:cNvSpPr>
            <a:spLocks noGrp="1"/>
          </p:cNvSpPr>
          <p:nvPr>
            <p:ph type="dt" sz="half" idx="10"/>
          </p:nvPr>
        </p:nvSpPr>
        <p:spPr/>
        <p:txBody>
          <a:bodyPr/>
          <a:p>
            <a:fld id="{0449AAB7-4672-4CA1-8A4F-DA000D2CC371}" type="datetimeFigureOut">
              <a:rPr lang="en-US" smtClean="0"/>
              <a:t>5/19/2025</a:t>
            </a:fld>
            <a:endParaRPr lang="en-US"/>
          </a:p>
        </p:txBody>
      </p:sp>
      <p:sp>
        <p:nvSpPr>
          <p:cNvPr id="1048932" name="Footer Placeholder 7"/>
          <p:cNvSpPr>
            <a:spLocks noGrp="1"/>
          </p:cNvSpPr>
          <p:nvPr>
            <p:ph type="ftr" sz="quarter" idx="11"/>
          </p:nvPr>
        </p:nvSpPr>
        <p:spPr/>
        <p:txBody>
          <a:bodyPr/>
          <a:p>
            <a:endParaRPr lang="en-US"/>
          </a:p>
        </p:txBody>
      </p:sp>
      <p:sp>
        <p:nvSpPr>
          <p:cNvPr id="1048933" name="Slide Number Placeholder 8"/>
          <p:cNvSpPr>
            <a:spLocks noGrp="1"/>
          </p:cNvSpPr>
          <p:nvPr>
            <p:ph type="sldNum" sz="quarter" idx="12"/>
          </p:nvPr>
        </p:nvSpPr>
        <p:spPr/>
        <p:txBody>
          <a:bodyPr/>
          <a:p>
            <a:fld id="{6ECC5875-1EE9-46E5-A83D-A505F0ED108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326" name=""/>
        <p:cNvGrpSpPr/>
        <p:nvPr/>
      </p:nvGrpSpPr>
      <p:grpSpPr>
        <a:xfrm>
          <a:off x="0" y="0"/>
          <a:ext cx="0" cy="0"/>
          <a:chOff x="0" y="0"/>
          <a:chExt cx="0" cy="0"/>
        </a:xfrm>
      </p:grpSpPr>
      <p:sp>
        <p:nvSpPr>
          <p:cNvPr id="1048895" name="Title 1"/>
          <p:cNvSpPr>
            <a:spLocks noGrp="1"/>
          </p:cNvSpPr>
          <p:nvPr>
            <p:ph type="title"/>
          </p:nvPr>
        </p:nvSpPr>
        <p:spPr/>
        <p:txBody>
          <a:bodyPr/>
          <a:p>
            <a:r>
              <a:rPr lang="en-US"/>
              <a:t>Click to edit Master title style</a:t>
            </a:r>
          </a:p>
        </p:txBody>
      </p:sp>
      <p:sp>
        <p:nvSpPr>
          <p:cNvPr id="1048896" name="Date Placeholder 2"/>
          <p:cNvSpPr>
            <a:spLocks noGrp="1"/>
          </p:cNvSpPr>
          <p:nvPr>
            <p:ph type="dt" sz="half" idx="10"/>
          </p:nvPr>
        </p:nvSpPr>
        <p:spPr/>
        <p:txBody>
          <a:bodyPr/>
          <a:p>
            <a:fld id="{0449AAB7-4672-4CA1-8A4F-DA000D2CC371}" type="datetimeFigureOut">
              <a:rPr lang="en-US" smtClean="0"/>
              <a:t>5/19/2025</a:t>
            </a:fld>
            <a:endParaRPr lang="en-US"/>
          </a:p>
        </p:txBody>
      </p:sp>
      <p:sp>
        <p:nvSpPr>
          <p:cNvPr id="1048897" name="Footer Placeholder 3"/>
          <p:cNvSpPr>
            <a:spLocks noGrp="1"/>
          </p:cNvSpPr>
          <p:nvPr>
            <p:ph type="ftr" sz="quarter" idx="11"/>
          </p:nvPr>
        </p:nvSpPr>
        <p:spPr/>
        <p:txBody>
          <a:bodyPr/>
          <a:p>
            <a:endParaRPr lang="en-US"/>
          </a:p>
        </p:txBody>
      </p:sp>
      <p:sp>
        <p:nvSpPr>
          <p:cNvPr id="1048898" name="Slide Number Placeholder 4"/>
          <p:cNvSpPr>
            <a:spLocks noGrp="1"/>
          </p:cNvSpPr>
          <p:nvPr>
            <p:ph type="sldNum" sz="quarter" idx="12"/>
          </p:nvPr>
        </p:nvSpPr>
        <p:spPr/>
        <p:txBody>
          <a:bodyPr/>
          <a:p>
            <a:fld id="{6ECC5875-1EE9-46E5-A83D-A505F0ED108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333" name=""/>
        <p:cNvGrpSpPr/>
        <p:nvPr/>
      </p:nvGrpSpPr>
      <p:grpSpPr>
        <a:xfrm>
          <a:off x="0" y="0"/>
          <a:ext cx="0" cy="0"/>
          <a:chOff x="0" y="0"/>
          <a:chExt cx="0" cy="0"/>
        </a:xfrm>
      </p:grpSpPr>
      <p:sp>
        <p:nvSpPr>
          <p:cNvPr id="1048934" name="Date Placeholder 1"/>
          <p:cNvSpPr>
            <a:spLocks noGrp="1"/>
          </p:cNvSpPr>
          <p:nvPr>
            <p:ph type="dt" sz="half" idx="10"/>
          </p:nvPr>
        </p:nvSpPr>
        <p:spPr/>
        <p:txBody>
          <a:bodyPr/>
          <a:p>
            <a:fld id="{0449AAB7-4672-4CA1-8A4F-DA000D2CC371}" type="datetimeFigureOut">
              <a:rPr lang="en-US" smtClean="0"/>
              <a:t>5/19/2025</a:t>
            </a:fld>
            <a:endParaRPr lang="en-US"/>
          </a:p>
        </p:txBody>
      </p:sp>
      <p:sp>
        <p:nvSpPr>
          <p:cNvPr id="1048935" name="Footer Placeholder 2"/>
          <p:cNvSpPr>
            <a:spLocks noGrp="1"/>
          </p:cNvSpPr>
          <p:nvPr>
            <p:ph type="ftr" sz="quarter" idx="11"/>
          </p:nvPr>
        </p:nvSpPr>
        <p:spPr/>
        <p:txBody>
          <a:bodyPr/>
          <a:p>
            <a:endParaRPr lang="en-US"/>
          </a:p>
        </p:txBody>
      </p:sp>
      <p:sp>
        <p:nvSpPr>
          <p:cNvPr id="1048936" name="Slide Number Placeholder 3"/>
          <p:cNvSpPr>
            <a:spLocks noGrp="1"/>
          </p:cNvSpPr>
          <p:nvPr>
            <p:ph type="sldNum" sz="quarter" idx="12"/>
          </p:nvPr>
        </p:nvSpPr>
        <p:spPr/>
        <p:txBody>
          <a:bodyPr/>
          <a:p>
            <a:fld id="{6ECC5875-1EE9-46E5-A83D-A505F0ED108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334" name=""/>
        <p:cNvGrpSpPr/>
        <p:nvPr/>
      </p:nvGrpSpPr>
      <p:grpSpPr>
        <a:xfrm>
          <a:off x="0" y="0"/>
          <a:ext cx="0" cy="0"/>
          <a:chOff x="0" y="0"/>
          <a:chExt cx="0" cy="0"/>
        </a:xfrm>
      </p:grpSpPr>
      <p:sp>
        <p:nvSpPr>
          <p:cNvPr id="1048937"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938"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39"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940" name="Date Placeholder 4"/>
          <p:cNvSpPr>
            <a:spLocks noGrp="1"/>
          </p:cNvSpPr>
          <p:nvPr>
            <p:ph type="dt" sz="half" idx="10"/>
          </p:nvPr>
        </p:nvSpPr>
        <p:spPr/>
        <p:txBody>
          <a:bodyPr/>
          <a:p>
            <a:fld id="{0449AAB7-4672-4CA1-8A4F-DA000D2CC371}" type="datetimeFigureOut">
              <a:rPr lang="en-US" smtClean="0"/>
              <a:t>5/19/2025</a:t>
            </a:fld>
            <a:endParaRPr lang="en-US"/>
          </a:p>
        </p:txBody>
      </p:sp>
      <p:sp>
        <p:nvSpPr>
          <p:cNvPr id="1048941" name="Footer Placeholder 5"/>
          <p:cNvSpPr>
            <a:spLocks noGrp="1"/>
          </p:cNvSpPr>
          <p:nvPr>
            <p:ph type="ftr" sz="quarter" idx="11"/>
          </p:nvPr>
        </p:nvSpPr>
        <p:spPr/>
        <p:txBody>
          <a:bodyPr/>
          <a:p>
            <a:endParaRPr lang="en-US"/>
          </a:p>
        </p:txBody>
      </p:sp>
      <p:sp>
        <p:nvSpPr>
          <p:cNvPr id="1048942" name="Slide Number Placeholder 6"/>
          <p:cNvSpPr>
            <a:spLocks noGrp="1"/>
          </p:cNvSpPr>
          <p:nvPr>
            <p:ph type="sldNum" sz="quarter" idx="12"/>
          </p:nvPr>
        </p:nvSpPr>
        <p:spPr/>
        <p:txBody>
          <a:bodyPr/>
          <a:p>
            <a:fld id="{6ECC5875-1EE9-46E5-A83D-A505F0ED108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328" name=""/>
        <p:cNvGrpSpPr/>
        <p:nvPr/>
      </p:nvGrpSpPr>
      <p:grpSpPr>
        <a:xfrm>
          <a:off x="0" y="0"/>
          <a:ext cx="0" cy="0"/>
          <a:chOff x="0" y="0"/>
          <a:chExt cx="0" cy="0"/>
        </a:xfrm>
      </p:grpSpPr>
      <p:sp>
        <p:nvSpPr>
          <p:cNvPr id="1048904"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1048905" name="Picture Placeholder 2"/>
          <p:cNvSpPr>
            <a:spLocks noGrp="1"/>
          </p:cNvSpPr>
          <p:nvPr>
            <p:ph type="pic" idx="1"/>
          </p:nvPr>
        </p:nvSpPr>
        <p:spPr>
          <a:xfrm>
            <a:off x="5183188" y="987425"/>
            <a:ext cx="6172200" cy="4873625"/>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906" name="Text Placeholder 3"/>
          <p:cNvSpPr>
            <a:spLocks noGrp="1"/>
          </p:cNvSpPr>
          <p:nvPr>
            <p:ph type="body" sz="half" idx="2"/>
          </p:nvPr>
        </p:nvSpPr>
        <p:spPr>
          <a:xfrm>
            <a:off x="839788" y="2057400"/>
            <a:ext cx="3932237" cy="3811588"/>
          </a:xfrm>
        </p:spPr>
        <p:txBody>
          <a:bodyPr/>
          <a:lstStyle>
            <a:lvl1pPr indent="0" marL="0">
              <a:buNone/>
              <a:defRPr sz="1600"/>
            </a:lvl1pPr>
            <a:lvl2pPr indent="0" marL="457200">
              <a:buNone/>
              <a:defRPr sz="1400"/>
            </a:lvl2pPr>
            <a:lvl3pPr indent="0" marL="914400">
              <a:buNone/>
              <a:defRPr sz="1200"/>
            </a:lvl3pPr>
            <a:lvl4pPr indent="0" marL="1371600">
              <a:buNone/>
              <a:defRPr sz="1000"/>
            </a:lvl4pPr>
            <a:lvl5pPr indent="0" marL="1828800">
              <a:buNone/>
              <a:defRPr sz="1000"/>
            </a:lvl5pPr>
            <a:lvl6pPr indent="0" marL="2286000">
              <a:buNone/>
              <a:defRPr sz="1000"/>
            </a:lvl6pPr>
            <a:lvl7pPr indent="0" marL="2743200">
              <a:buNone/>
              <a:defRPr sz="1000"/>
            </a:lvl7pPr>
            <a:lvl8pPr indent="0" marL="3200400">
              <a:buNone/>
              <a:defRPr sz="1000"/>
            </a:lvl8pPr>
            <a:lvl9pPr indent="0" marL="3657600">
              <a:buNone/>
              <a:defRPr sz="1000"/>
            </a:lvl9pPr>
          </a:lstStyle>
          <a:p>
            <a:pPr lvl="0"/>
            <a:r>
              <a:rPr lang="en-US"/>
              <a:t>Click to edit Master text styles</a:t>
            </a:r>
          </a:p>
        </p:txBody>
      </p:sp>
      <p:sp>
        <p:nvSpPr>
          <p:cNvPr id="1048907" name="Date Placeholder 4"/>
          <p:cNvSpPr>
            <a:spLocks noGrp="1"/>
          </p:cNvSpPr>
          <p:nvPr>
            <p:ph type="dt" sz="half" idx="10"/>
          </p:nvPr>
        </p:nvSpPr>
        <p:spPr/>
        <p:txBody>
          <a:bodyPr/>
          <a:p>
            <a:fld id="{0449AAB7-4672-4CA1-8A4F-DA000D2CC371}" type="datetimeFigureOut">
              <a:rPr lang="en-US" smtClean="0"/>
              <a:t>5/19/2025</a:t>
            </a:fld>
            <a:endParaRPr lang="en-US"/>
          </a:p>
        </p:txBody>
      </p:sp>
      <p:sp>
        <p:nvSpPr>
          <p:cNvPr id="1048908" name="Footer Placeholder 5"/>
          <p:cNvSpPr>
            <a:spLocks noGrp="1"/>
          </p:cNvSpPr>
          <p:nvPr>
            <p:ph type="ftr" sz="quarter" idx="11"/>
          </p:nvPr>
        </p:nvSpPr>
        <p:spPr/>
        <p:txBody>
          <a:bodyPr/>
          <a:p>
            <a:endParaRPr lang="en-US"/>
          </a:p>
        </p:txBody>
      </p:sp>
      <p:sp>
        <p:nvSpPr>
          <p:cNvPr id="1048909" name="Slide Number Placeholder 6"/>
          <p:cNvSpPr>
            <a:spLocks noGrp="1"/>
          </p:cNvSpPr>
          <p:nvPr>
            <p:ph type="sldNum" sz="quarter" idx="12"/>
          </p:nvPr>
        </p:nvSpPr>
        <p:spPr/>
        <p:txBody>
          <a:bodyPr/>
          <a:p>
            <a:fld id="{6ECC5875-1EE9-46E5-A83D-A505F0ED108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329" name=""/>
        <p:cNvGrpSpPr/>
        <p:nvPr/>
      </p:nvGrpSpPr>
      <p:grpSpPr>
        <a:xfrm>
          <a:off x="0" y="0"/>
          <a:ext cx="0" cy="0"/>
          <a:chOff x="0" y="0"/>
          <a:chExt cx="0" cy="0"/>
        </a:xfrm>
      </p:grpSpPr>
      <p:sp>
        <p:nvSpPr>
          <p:cNvPr id="1048910" name="Title 1"/>
          <p:cNvSpPr>
            <a:spLocks noGrp="1"/>
          </p:cNvSpPr>
          <p:nvPr>
            <p:ph type="title"/>
          </p:nvPr>
        </p:nvSpPr>
        <p:spPr/>
        <p:txBody>
          <a:bodyPr/>
          <a:p>
            <a:r>
              <a:rPr lang="en-US"/>
              <a:t>Click to edit Master title style</a:t>
            </a:r>
          </a:p>
        </p:txBody>
      </p:sp>
      <p:sp>
        <p:nvSpPr>
          <p:cNvPr id="1048911"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12" name="Date Placeholder 3"/>
          <p:cNvSpPr>
            <a:spLocks noGrp="1"/>
          </p:cNvSpPr>
          <p:nvPr>
            <p:ph type="dt" sz="half" idx="10"/>
          </p:nvPr>
        </p:nvSpPr>
        <p:spPr/>
        <p:txBody>
          <a:bodyPr/>
          <a:p>
            <a:fld id="{0449AAB7-4672-4CA1-8A4F-DA000D2CC371}" type="datetimeFigureOut">
              <a:rPr lang="en-US" smtClean="0"/>
              <a:t>5/19/2025</a:t>
            </a:fld>
            <a:endParaRPr lang="en-US"/>
          </a:p>
        </p:txBody>
      </p:sp>
      <p:sp>
        <p:nvSpPr>
          <p:cNvPr id="1048913" name="Footer Placeholder 4"/>
          <p:cNvSpPr>
            <a:spLocks noGrp="1"/>
          </p:cNvSpPr>
          <p:nvPr>
            <p:ph type="ftr" sz="quarter" idx="11"/>
          </p:nvPr>
        </p:nvSpPr>
        <p:spPr/>
        <p:txBody>
          <a:bodyPr/>
          <a:p>
            <a:endParaRPr lang="en-US"/>
          </a:p>
        </p:txBody>
      </p:sp>
      <p:sp>
        <p:nvSpPr>
          <p:cNvPr id="1048914" name="Slide Number Placeholder 5"/>
          <p:cNvSpPr>
            <a:spLocks noGrp="1"/>
          </p:cNvSpPr>
          <p:nvPr>
            <p:ph type="sldNum" sz="quarter" idx="12"/>
          </p:nvPr>
        </p:nvSpPr>
        <p:spPr/>
        <p:txBody>
          <a:bodyPr/>
          <a:p>
            <a:fld id="{6ECC5875-1EE9-46E5-A83D-A505F0ED108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327" name=""/>
        <p:cNvGrpSpPr/>
        <p:nvPr/>
      </p:nvGrpSpPr>
      <p:grpSpPr>
        <a:xfrm>
          <a:off x="0" y="0"/>
          <a:ext cx="0" cy="0"/>
          <a:chOff x="0" y="0"/>
          <a:chExt cx="0" cy="0"/>
        </a:xfrm>
      </p:grpSpPr>
      <p:sp>
        <p:nvSpPr>
          <p:cNvPr id="1048899" name="Vertical Title 1"/>
          <p:cNvSpPr>
            <a:spLocks noGrp="1"/>
          </p:cNvSpPr>
          <p:nvPr>
            <p:ph type="title" orient="vert"/>
          </p:nvPr>
        </p:nvSpPr>
        <p:spPr>
          <a:xfrm>
            <a:off x="8724900" y="365125"/>
            <a:ext cx="2628900" cy="5811838"/>
          </a:xfrm>
        </p:spPr>
        <p:txBody>
          <a:bodyPr vert="eaVert"/>
          <a:p>
            <a:r>
              <a:rPr lang="en-US"/>
              <a:t>Click to edit Master title style</a:t>
            </a:r>
          </a:p>
        </p:txBody>
      </p:sp>
      <p:sp>
        <p:nvSpPr>
          <p:cNvPr id="1048900" name="Vertical Text Placeholder 2"/>
          <p:cNvSpPr>
            <a:spLocks noGrp="1"/>
          </p:cNvSpPr>
          <p:nvPr>
            <p:ph type="body" orient="vert" idx="1"/>
          </p:nvPr>
        </p:nvSpPr>
        <p:spPr>
          <a:xfrm>
            <a:off x="838200" y="365125"/>
            <a:ext cx="7734300" cy="5811838"/>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1" name="Date Placeholder 3"/>
          <p:cNvSpPr>
            <a:spLocks noGrp="1"/>
          </p:cNvSpPr>
          <p:nvPr>
            <p:ph type="dt" sz="half" idx="10"/>
          </p:nvPr>
        </p:nvSpPr>
        <p:spPr/>
        <p:txBody>
          <a:bodyPr/>
          <a:p>
            <a:fld id="{0449AAB7-4672-4CA1-8A4F-DA000D2CC371}" type="datetimeFigureOut">
              <a:rPr lang="en-US" smtClean="0"/>
              <a:t>5/19/2025</a:t>
            </a:fld>
            <a:endParaRPr lang="en-US"/>
          </a:p>
        </p:txBody>
      </p:sp>
      <p:sp>
        <p:nvSpPr>
          <p:cNvPr id="1048902" name="Footer Placeholder 4"/>
          <p:cNvSpPr>
            <a:spLocks noGrp="1"/>
          </p:cNvSpPr>
          <p:nvPr>
            <p:ph type="ftr" sz="quarter" idx="11"/>
          </p:nvPr>
        </p:nvSpPr>
        <p:spPr/>
        <p:txBody>
          <a:bodyPr/>
          <a:p>
            <a:endParaRPr lang="en-US"/>
          </a:p>
        </p:txBody>
      </p:sp>
      <p:sp>
        <p:nvSpPr>
          <p:cNvPr id="1048903" name="Slide Number Placeholder 5"/>
          <p:cNvSpPr>
            <a:spLocks noGrp="1"/>
          </p:cNvSpPr>
          <p:nvPr>
            <p:ph type="sldNum" sz="quarter" idx="12"/>
          </p:nvPr>
        </p:nvSpPr>
        <p:spPr/>
        <p:txBody>
          <a:bodyPr/>
          <a:p>
            <a:fld id="{6ECC5875-1EE9-46E5-A83D-A505F0ED108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p:spPr>
        <p:txBody>
          <a:bodyPr anchor="ctr" bIns="45720" lIns="91440" rIns="91440" rtlCol="0" tIns="45720" vert="horz">
            <a:normAutofit/>
          </a:bodyPr>
          <a:p>
            <a:r>
              <a:rPr lang="en-US"/>
              <a:t>Click to edit Master title style</a:t>
            </a:r>
          </a:p>
        </p:txBody>
      </p:sp>
      <p:sp>
        <p:nvSpPr>
          <p:cNvPr id="1048577" name="Text Placeholder 2"/>
          <p:cNvSpPr>
            <a:spLocks noGrp="1"/>
          </p:cNvSpPr>
          <p:nvPr>
            <p:ph type="body" idx="1"/>
          </p:nvPr>
        </p:nvSpPr>
        <p:spPr>
          <a:xfrm>
            <a:off x="838200" y="1825625"/>
            <a:ext cx="10515600" cy="4351338"/>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838200" y="6356350"/>
            <a:ext cx="2743200" cy="365125"/>
          </a:xfrm>
          <a:prstGeom prst="rect"/>
        </p:spPr>
        <p:txBody>
          <a:bodyPr anchor="ctr" bIns="45720" lIns="91440" rIns="91440" rtlCol="0" tIns="45720" vert="horz"/>
          <a:lstStyle>
            <a:lvl1pPr algn="l">
              <a:defRPr sz="1200">
                <a:solidFill>
                  <a:schemeClr val="tx1">
                    <a:tint val="75000"/>
                  </a:schemeClr>
                </a:solidFill>
              </a:defRPr>
            </a:lvl1pPr>
          </a:lstStyle>
          <a:p>
            <a:fld id="{0449AAB7-4672-4CA1-8A4F-DA000D2CC371}" type="datetimeFigureOut">
              <a:rPr lang="en-US" smtClean="0"/>
              <a:t>5/19/2025</a:t>
            </a:fld>
            <a:endParaRPr lang="en-US"/>
          </a:p>
        </p:txBody>
      </p:sp>
      <p:sp>
        <p:nvSpPr>
          <p:cNvPr id="1048579" name="Footer Placeholder 4"/>
          <p:cNvSpPr>
            <a:spLocks noGrp="1"/>
          </p:cNvSpPr>
          <p:nvPr>
            <p:ph type="ftr" sz="quarter" idx="3"/>
          </p:nvPr>
        </p:nvSpPr>
        <p:spPr>
          <a:xfrm>
            <a:off x="4038600" y="6356350"/>
            <a:ext cx="41148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8610600" y="6356350"/>
            <a:ext cx="2743200" cy="365125"/>
          </a:xfrm>
          <a:prstGeom prst="rect"/>
        </p:spPr>
        <p:txBody>
          <a:bodyPr anchor="ctr" bIns="45720" lIns="91440" rIns="91440" rtlCol="0" tIns="45720" vert="horz"/>
          <a:lstStyle>
            <a:lvl1pPr algn="r">
              <a:defRPr sz="1200">
                <a:solidFill>
                  <a:schemeClr val="tx1">
                    <a:tint val="75000"/>
                  </a:schemeClr>
                </a:solidFill>
              </a:defRPr>
            </a:lvl1pPr>
          </a:lstStyle>
          <a:p>
            <a:fld id="{6ECC5875-1EE9-46E5-A83D-A505F0ED1082}"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eaLnBrk="1" hangingPunct="1" latinLnBrk="0" rtl="0">
        <a:lnSpc>
          <a:spcPct val="90000"/>
        </a:lnSpc>
        <a:spcBef>
          <a:spcPct val="0"/>
        </a:spcBef>
        <a:buNone/>
        <a:defRPr sz="4400" kern="1200">
          <a:solidFill>
            <a:schemeClr val="tx1"/>
          </a:solidFill>
          <a:latin typeface="+mj-lt"/>
          <a:ea typeface="+mj-ea"/>
          <a:cs typeface="+mj-cs"/>
        </a:defRPr>
      </a:lvl1pPr>
    </p:titleStyle>
    <p:bodyStyle>
      <a:lvl1pPr algn="l" defTabSz="914400" eaLnBrk="1" hangingPunct="1" indent="-228600" latinLnBrk="0" marL="228600" rtl="0">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algn="l" defTabSz="914400" eaLnBrk="1" hangingPunct="1" indent="-228600" latinLnBrk="0" marL="685800" rtl="0">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algn="l" defTabSz="914400" eaLnBrk="1" hangingPunct="1" indent="-228600" latinLnBrk="0" marL="1143000" rtl="0">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algn="l" defTabSz="914400" eaLnBrk="1" hangingPunct="1" indent="-228600" latinLnBrk="0" marL="1600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algn="l" defTabSz="914400" eaLnBrk="1" hangingPunct="1" indent="-228600" latinLnBrk="0" marL="20574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algn="l" defTabSz="914400" eaLnBrk="1" hangingPunct="1" indent="-228600" latinLnBrk="0" marL="25146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algn="l" defTabSz="914400" eaLnBrk="1" hangingPunct="1" indent="-228600" latinLnBrk="0" marL="29718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algn="l" defTabSz="914400" eaLnBrk="1" hangingPunct="1" indent="-228600" latinLnBrk="0" marL="34290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algn="l" defTabSz="914400" eaLnBrk="1" hangingPunct="1" indent="-228600" latinLnBrk="0" marL="3886200" rtl="0">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6" name="Title 1"/>
          <p:cNvSpPr>
            <a:spLocks noGrp="1"/>
          </p:cNvSpPr>
          <p:nvPr>
            <p:ph type="ctrTitle"/>
          </p:nvPr>
        </p:nvSpPr>
        <p:spPr/>
        <p:txBody>
          <a:bodyPr/>
          <a:p>
            <a:r>
              <a:rPr dirty="0" lang="en-GB">
                <a:latin typeface="Times New Roman" panose="02020603050405020304" pitchFamily="18" charset="0"/>
                <a:cs typeface="Times New Roman" panose="02020603050405020304" pitchFamily="18" charset="0"/>
              </a:rPr>
              <a:t>CIVIL LITIGATION </a:t>
            </a:r>
            <a:br>
              <a:rPr dirty="0" lang="en-GB">
                <a:latin typeface="Times New Roman" panose="02020603050405020304" pitchFamily="18" charset="0"/>
                <a:cs typeface="Times New Roman" panose="02020603050405020304" pitchFamily="18" charset="0"/>
              </a:rPr>
            </a:br>
            <a:r>
              <a:rPr dirty="0" lang="en-GB">
                <a:latin typeface="Times New Roman" panose="02020603050405020304" pitchFamily="18" charset="0"/>
                <a:cs typeface="Times New Roman" panose="02020603050405020304" pitchFamily="18" charset="0"/>
              </a:rPr>
              <a:t>WEEK 7</a:t>
            </a:r>
            <a:endParaRPr dirty="0" lang="en-US">
              <a:latin typeface="Times New Roman" panose="02020603050405020304" pitchFamily="18" charset="0"/>
              <a:cs typeface="Times New Roman" panose="02020603050405020304" pitchFamily="18" charset="0"/>
            </a:endParaRPr>
          </a:p>
        </p:txBody>
      </p:sp>
      <p:sp>
        <p:nvSpPr>
          <p:cNvPr id="1048587" name="Subtitle 2"/>
          <p:cNvSpPr>
            <a:spLocks noGrp="1"/>
          </p:cNvSpPr>
          <p:nvPr>
            <p:ph type="subTitle" idx="1"/>
          </p:nvPr>
        </p:nvSpPr>
        <p:spPr/>
        <p:txBody>
          <a:bodyPr>
            <a:normAutofit/>
          </a:bodyPr>
          <a:p>
            <a:r>
              <a:rPr dirty="0" sz="4000" lang="en-GB">
                <a:latin typeface="Times New Roman" panose="02020603050405020304" pitchFamily="18" charset="0"/>
                <a:cs typeface="Times New Roman" panose="02020603050405020304" pitchFamily="18" charset="0"/>
              </a:rPr>
              <a:t>INTERLOCUTORY APPLICATIONS AND ORDERS</a:t>
            </a:r>
            <a:endParaRPr dirty="0" sz="400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7" name=""/>
        <p:cNvGrpSpPr/>
        <p:nvPr/>
      </p:nvGrpSpPr>
      <p:grpSpPr>
        <a:xfrm>
          <a:off x="0" y="0"/>
          <a:ext cx="0" cy="0"/>
          <a:chOff x="0" y="0"/>
          <a:chExt cx="0" cy="0"/>
        </a:xfrm>
      </p:grpSpPr>
      <p:sp>
        <p:nvSpPr>
          <p:cNvPr id="1048593" name="Title 1"/>
          <p:cNvSpPr>
            <a:spLocks noGrp="1"/>
          </p:cNvSpPr>
          <p:nvPr>
            <p:ph type="title"/>
          </p:nvPr>
        </p:nvSpPr>
        <p:spPr>
          <a:xfrm>
            <a:off x="838200" y="203076"/>
            <a:ext cx="10515600" cy="595574"/>
          </a:xfrm>
        </p:spPr>
        <p:txBody>
          <a:bodyPr>
            <a:normAutofit fontScale="90000"/>
          </a:bodyPr>
          <a:p>
            <a:pPr algn="ctr"/>
            <a:r>
              <a:rPr b="1" dirty="0" lang="en-US">
                <a:latin typeface="Times New Roman" panose="02020603050405020304" pitchFamily="18" charset="0"/>
                <a:cs typeface="Times New Roman" panose="02020603050405020304" pitchFamily="18" charset="0"/>
              </a:rPr>
              <a:t>CONTENTS</a:t>
            </a:r>
          </a:p>
        </p:txBody>
      </p:sp>
      <p:sp>
        <p:nvSpPr>
          <p:cNvPr id="1048594" name="Content Placeholder 2"/>
          <p:cNvSpPr>
            <a:spLocks noGrp="1"/>
          </p:cNvSpPr>
          <p:nvPr>
            <p:ph idx="1"/>
          </p:nvPr>
        </p:nvSpPr>
        <p:spPr>
          <a:xfrm>
            <a:off x="838200" y="1006997"/>
            <a:ext cx="10515600" cy="5169966"/>
          </a:xfrm>
        </p:spPr>
        <p:txBody>
          <a:bodyPr>
            <a:normAutofit/>
          </a:bodyPr>
          <a:p>
            <a:pPr indent="0" marL="0">
              <a:buNone/>
            </a:pPr>
            <a:r>
              <a:rPr dirty="0" lang="en-US"/>
              <a:t>1. Meaning, nature, scope, and mode of interlocutory applications</a:t>
            </a:r>
          </a:p>
          <a:p>
            <a:pPr indent="0" marL="0">
              <a:buNone/>
            </a:pPr>
            <a:r>
              <a:rPr dirty="0" lang="en-US"/>
              <a:t>2. Interlocutory applications by mode of motion (meaning of motions, types of motion-ex parte and notice, contents of motion, drafting of motion, hearing of motion, moving of motion)</a:t>
            </a:r>
          </a:p>
          <a:p>
            <a:pPr indent="0" marL="0">
              <a:buNone/>
            </a:pPr>
            <a:r>
              <a:rPr dirty="0" lang="en-US"/>
              <a:t>3. Affidavit </a:t>
            </a:r>
          </a:p>
          <a:p>
            <a:pPr indent="0" marL="0">
              <a:buNone/>
            </a:pPr>
            <a:r>
              <a:rPr dirty="0" lang="en-US"/>
              <a:t>4. Written address</a:t>
            </a:r>
          </a:p>
          <a:p>
            <a:pPr indent="0" marL="0">
              <a:buNone/>
            </a:pPr>
            <a:r>
              <a:rPr dirty="0" lang="en-US"/>
              <a:t>5. Some specific interlocutory orders and application-interim injunction, interlocutory injunction, </a:t>
            </a:r>
            <a:r>
              <a:rPr dirty="0" lang="en-US" err="1"/>
              <a:t>mareva</a:t>
            </a:r>
            <a:r>
              <a:rPr dirty="0" lang="en-US"/>
              <a:t> injunction, </a:t>
            </a:r>
            <a:r>
              <a:rPr dirty="0" lang="en-US" err="1"/>
              <a:t>anton</a:t>
            </a:r>
            <a:r>
              <a:rPr dirty="0" lang="en-US"/>
              <a:t> </a:t>
            </a:r>
            <a:r>
              <a:rPr dirty="0" lang="en-US" err="1"/>
              <a:t>piller</a:t>
            </a:r>
            <a:r>
              <a:rPr dirty="0" lang="en-US"/>
              <a:t> injunction, interpleader proceedings</a:t>
            </a:r>
          </a:p>
          <a:p>
            <a:pPr indent="0" marL="0">
              <a:buNone/>
            </a:pPr>
            <a:r>
              <a:rPr dirty="0" lang="en-US"/>
              <a:t>6. Ethical issues relating to interlocutory applications </a:t>
            </a:r>
          </a:p>
          <a:p>
            <a:pPr indent="0" marL="0">
              <a:buNone/>
            </a:pPr>
            <a:r>
              <a:rPr dirty="0" lang="en-US"/>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8" name=""/>
        <p:cNvGrpSpPr/>
        <p:nvPr/>
      </p:nvGrpSpPr>
      <p:grpSpPr>
        <a:xfrm>
          <a:off x="0" y="0"/>
          <a:ext cx="0" cy="0"/>
          <a:chOff x="0" y="0"/>
          <a:chExt cx="0" cy="0"/>
        </a:xfrm>
      </p:grpSpPr>
      <p:sp>
        <p:nvSpPr>
          <p:cNvPr id="1048595" name="Title 1"/>
          <p:cNvSpPr>
            <a:spLocks noGrp="1"/>
          </p:cNvSpPr>
          <p:nvPr>
            <p:ph type="title"/>
          </p:nvPr>
        </p:nvSpPr>
        <p:spPr>
          <a:xfrm>
            <a:off x="838200" y="365125"/>
            <a:ext cx="10515600" cy="688171"/>
          </a:xfrm>
        </p:spPr>
        <p:txBody>
          <a:bodyPr>
            <a:normAutofit/>
          </a:bodyPr>
          <a:p>
            <a:pPr algn="ctr"/>
            <a:r>
              <a:rPr b="1" dirty="0" lang="en-US">
                <a:latin typeface="Times New Roman" panose="02020603050405020304" pitchFamily="18" charset="0"/>
                <a:cs typeface="Times New Roman" panose="02020603050405020304" pitchFamily="18" charset="0"/>
              </a:rPr>
              <a:t>OUTCOMES</a:t>
            </a:r>
            <a:endParaRPr dirty="0" lang="en-US">
              <a:latin typeface="Times New Roman" panose="02020603050405020304" pitchFamily="18" charset="0"/>
              <a:cs typeface="Times New Roman" panose="02020603050405020304" pitchFamily="18" charset="0"/>
            </a:endParaRPr>
          </a:p>
        </p:txBody>
      </p:sp>
      <p:sp>
        <p:nvSpPr>
          <p:cNvPr id="1048596" name="Content Placeholder 2"/>
          <p:cNvSpPr>
            <a:spLocks noGrp="1"/>
          </p:cNvSpPr>
          <p:nvPr>
            <p:ph idx="1"/>
          </p:nvPr>
        </p:nvSpPr>
        <p:spPr>
          <a:xfrm>
            <a:off x="838200" y="1203767"/>
            <a:ext cx="10515600" cy="4973196"/>
          </a:xfrm>
        </p:spPr>
        <p:txBody>
          <a:bodyPr>
            <a:normAutofit/>
          </a:bodyPr>
          <a:p>
            <a:pPr indent="0" marL="0">
              <a:buNone/>
            </a:pPr>
            <a:r>
              <a:rPr dirty="0" lang="en-US"/>
              <a:t>At the end of this lesson students would be able to:</a:t>
            </a:r>
          </a:p>
          <a:p>
            <a:pPr indent="0" marL="0">
              <a:buNone/>
            </a:pPr>
            <a:r>
              <a:rPr dirty="0" lang="en-US" err="1"/>
              <a:t>i</a:t>
            </a:r>
            <a:r>
              <a:rPr dirty="0" lang="en-US"/>
              <a:t>. explain the meaning of interlocutory applications and list examples;</a:t>
            </a:r>
          </a:p>
          <a:p>
            <a:pPr indent="0" marL="0">
              <a:buNone/>
            </a:pPr>
            <a:r>
              <a:rPr dirty="0" lang="en-US"/>
              <a:t>ii. identify and discuss the principles and scope of the following interlocutory orders and applications - Interim </a:t>
            </a:r>
            <a:r>
              <a:rPr dirty="0" lang="en-US" err="1"/>
              <a:t>Injuctions</a:t>
            </a:r>
            <a:r>
              <a:rPr dirty="0" lang="en-US"/>
              <a:t>, Interlocutory Injunctions, </a:t>
            </a:r>
            <a:r>
              <a:rPr dirty="0" lang="en-US" err="1"/>
              <a:t>Mareva</a:t>
            </a:r>
            <a:r>
              <a:rPr dirty="0" lang="en-US"/>
              <a:t> Injunction, Anton </a:t>
            </a:r>
            <a:r>
              <a:rPr dirty="0" lang="en-US" err="1"/>
              <a:t>Piller</a:t>
            </a:r>
            <a:r>
              <a:rPr dirty="0" lang="en-US"/>
              <a:t> Injunction; and Interpleader;</a:t>
            </a:r>
          </a:p>
          <a:p>
            <a:pPr indent="0" marL="0">
              <a:buNone/>
            </a:pPr>
            <a:r>
              <a:rPr dirty="0" lang="en-US"/>
              <a:t>iii. explain the meaning, types and list the contents of a motion;</a:t>
            </a:r>
          </a:p>
          <a:p>
            <a:pPr indent="0" marL="0">
              <a:buNone/>
            </a:pPr>
            <a:r>
              <a:rPr dirty="0" lang="en-US"/>
              <a:t>iv. state and explain the principles regarding affidavit evidence;</a:t>
            </a:r>
          </a:p>
          <a:p>
            <a:pPr indent="0" marL="0">
              <a:buNone/>
            </a:pPr>
            <a:r>
              <a:rPr dirty="0" lang="en-US"/>
              <a:t>v. draft and argue simple motions (affidavits in support inclusive); and </a:t>
            </a:r>
          </a:p>
          <a:p>
            <a:pPr indent="0" marL="0">
              <a:buNone/>
            </a:pPr>
            <a:r>
              <a:rPr dirty="0" lang="en-US"/>
              <a:t>vi. identify and state the ethical issues involved in interlocutory applications-abuse of ex-parte injunctions, swearing of affidavits by counsel, suppression of facts in ex parte applications, falsification/misrepresentation of facts in affidavits, and late filing of motions and counter affidavits.</a:t>
            </a:r>
          </a:p>
          <a:p>
            <a:pPr indent="0" marL="0">
              <a:buNone/>
            </a:pPr>
            <a:endParaRPr dirty="0" lang="en-US">
              <a:latin typeface="Times New Roman" panose="02020603050405020304" pitchFamily="18" charset="0"/>
              <a:cs typeface="Times New Roman" panose="02020603050405020304" pitchFamily="18" charset="0"/>
            </a:endParaRPr>
          </a:p>
          <a:p>
            <a:pPr algn="ctr" indent="0" marL="0">
              <a:buNone/>
            </a:pPr>
            <a:endParaRPr dirty="0"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09" name=""/>
        <p:cNvGrpSpPr/>
        <p:nvPr/>
      </p:nvGrpSpPr>
      <p:grpSpPr>
        <a:xfrm>
          <a:off x="0" y="0"/>
          <a:ext cx="0" cy="0"/>
          <a:chOff x="0" y="0"/>
          <a:chExt cx="0" cy="0"/>
        </a:xfrm>
      </p:grpSpPr>
      <p:sp>
        <p:nvSpPr>
          <p:cNvPr id="1048597" name="Title 1"/>
          <p:cNvSpPr>
            <a:spLocks noGrp="1"/>
          </p:cNvSpPr>
          <p:nvPr>
            <p:ph type="title"/>
          </p:nvPr>
        </p:nvSpPr>
        <p:spPr/>
        <p:txBody>
          <a:bodyPr/>
          <a:p>
            <a:pPr algn="ctr"/>
            <a:r>
              <a:rPr b="1" dirty="0" lang="en-US"/>
              <a:t>MEANING, NATURE, SCOPE, AND MODE OF INTERLOCUTORY APPLICATIONS</a:t>
            </a:r>
            <a:endParaRPr dirty="0" lang="en-US"/>
          </a:p>
        </p:txBody>
      </p:sp>
      <p:sp>
        <p:nvSpPr>
          <p:cNvPr id="1048598" name="Content Placeholder 2"/>
          <p:cNvSpPr>
            <a:spLocks noGrp="1"/>
          </p:cNvSpPr>
          <p:nvPr>
            <p:ph idx="1"/>
          </p:nvPr>
        </p:nvSpPr>
        <p:spPr/>
        <p:txBody>
          <a:bodyPr/>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0" name=""/>
        <p:cNvGrpSpPr/>
        <p:nvPr/>
      </p:nvGrpSpPr>
      <p:grpSpPr>
        <a:xfrm>
          <a:off x="0" y="0"/>
          <a:ext cx="0" cy="0"/>
          <a:chOff x="0" y="0"/>
          <a:chExt cx="0" cy="0"/>
        </a:xfrm>
      </p:grpSpPr>
      <p:sp>
        <p:nvSpPr>
          <p:cNvPr id="1048599" name="Title 1"/>
          <p:cNvSpPr>
            <a:spLocks noGrp="1"/>
          </p:cNvSpPr>
          <p:nvPr>
            <p:ph type="title"/>
          </p:nvPr>
        </p:nvSpPr>
        <p:spPr>
          <a:xfrm>
            <a:off x="838200" y="365126"/>
            <a:ext cx="10515600" cy="1046986"/>
          </a:xfrm>
        </p:spPr>
        <p:txBody>
          <a:bodyPr>
            <a:noAutofit/>
          </a:bodyPr>
          <a:p>
            <a:pPr algn="ctr"/>
            <a:r>
              <a:rPr b="1" dirty="0" sz="4000" lang="en-US"/>
              <a:t>Meaning, nature and scope of interlocutory applications </a:t>
            </a:r>
            <a:endParaRPr b="1" dirty="0" sz="4000" lang="en-US">
              <a:latin typeface="Times New Roman" panose="02020603050405020304" pitchFamily="18" charset="0"/>
              <a:cs typeface="Times New Roman" panose="02020603050405020304" pitchFamily="18" charset="0"/>
            </a:endParaRPr>
          </a:p>
        </p:txBody>
      </p:sp>
      <p:sp>
        <p:nvSpPr>
          <p:cNvPr id="1048600" name="Content Placeholder 2"/>
          <p:cNvSpPr>
            <a:spLocks noGrp="1"/>
          </p:cNvSpPr>
          <p:nvPr>
            <p:ph idx="1"/>
          </p:nvPr>
        </p:nvSpPr>
        <p:spPr/>
        <p:txBody>
          <a:bodyPr/>
          <a:p>
            <a:pPr>
              <a:spcBef>
                <a:spcPts val="0"/>
              </a:spcBef>
              <a:buClr>
                <a:schemeClr val="dk1"/>
              </a:buClr>
              <a:buSzPts val="4000"/>
              <a:buFont typeface="Wingdings" panose="05000000000000000000" pitchFamily="2" charset="2"/>
              <a:buChar char="Ø"/>
            </a:pPr>
            <a:r>
              <a:rPr dirty="0" lang="en-US">
                <a:latin typeface="Times New Roman"/>
                <a:ea typeface="Times New Roman"/>
                <a:cs typeface="Times New Roman"/>
                <a:sym typeface="Times New Roman"/>
              </a:rPr>
              <a:t>Interlocutory applications are applications made to the court while an action is pending.</a:t>
            </a:r>
            <a:endParaRPr dirty="0" lang="en-US"/>
          </a:p>
          <a:p>
            <a:pPr>
              <a:spcBef>
                <a:spcPts val="1067"/>
              </a:spcBef>
              <a:buClr>
                <a:schemeClr val="dk1"/>
              </a:buClr>
              <a:buSzPts val="4000"/>
              <a:buFont typeface="Wingdings" panose="05000000000000000000" pitchFamily="2" charset="2"/>
              <a:buChar char="Ø"/>
            </a:pPr>
            <a:r>
              <a:rPr dirty="0" lang="en-US">
                <a:latin typeface="Times New Roman"/>
                <a:ea typeface="Times New Roman"/>
                <a:cs typeface="Times New Roman"/>
                <a:sym typeface="Times New Roman"/>
              </a:rPr>
              <a:t>It is  “interlocutory” because it is tied to a suit. </a:t>
            </a:r>
            <a:endParaRPr dirty="0" lang="en-US"/>
          </a:p>
          <a:p>
            <a:pPr>
              <a:spcBef>
                <a:spcPts val="1067"/>
              </a:spcBef>
              <a:buClr>
                <a:schemeClr val="dk1"/>
              </a:buClr>
              <a:buSzPts val="4000"/>
              <a:buFont typeface="Wingdings" panose="05000000000000000000" pitchFamily="2" charset="2"/>
              <a:buChar char="Ø"/>
            </a:pPr>
            <a:r>
              <a:rPr dirty="0" lang="en-US">
                <a:latin typeface="Times New Roman"/>
                <a:ea typeface="Times New Roman"/>
                <a:cs typeface="Times New Roman"/>
                <a:sym typeface="Times New Roman"/>
              </a:rPr>
              <a:t>It can be made during or after trial.</a:t>
            </a:r>
            <a:endParaRPr dirty="0" lang="en-US"/>
          </a:p>
          <a:p>
            <a:pPr>
              <a:spcBef>
                <a:spcPts val="0"/>
              </a:spcBef>
              <a:buClr>
                <a:schemeClr val="dk1"/>
              </a:buClr>
              <a:buSzPts val="4000"/>
              <a:buFont typeface="Wingdings" panose="05000000000000000000" pitchFamily="2" charset="2"/>
              <a:buChar char="Ø"/>
            </a:pPr>
            <a:r>
              <a:rPr dirty="0" lang="en-US">
                <a:latin typeface="Times New Roman"/>
                <a:ea typeface="Times New Roman"/>
                <a:cs typeface="Times New Roman"/>
                <a:sym typeface="Times New Roman"/>
              </a:rPr>
              <a:t>It is “interlocutory” because it results in an order other than a final decision in a suit.</a:t>
            </a:r>
            <a:endParaRPr dirty="0" lang="en-US"/>
          </a:p>
          <a:p>
            <a:pPr indent="-118530" marL="457189">
              <a:spcBef>
                <a:spcPts val="1067"/>
              </a:spcBef>
              <a:buClr>
                <a:schemeClr val="dk1"/>
              </a:buClr>
              <a:buSzPts val="4000"/>
              <a:buNone/>
            </a:pPr>
            <a:endParaRPr dirty="0" lang="en-US">
              <a:latin typeface="Times New Roman"/>
              <a:ea typeface="Times New Roman"/>
              <a:cs typeface="Times New Roman"/>
              <a:sym typeface="Times New Roman"/>
            </a:endParaRPr>
          </a:p>
          <a:p>
            <a:endParaRPr dirty="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11" name=""/>
        <p:cNvGrpSpPr/>
        <p:nvPr/>
      </p:nvGrpSpPr>
      <p:grpSpPr>
        <a:xfrm>
          <a:off x="0" y="0"/>
          <a:ext cx="0" cy="0"/>
          <a:chOff x="0" y="0"/>
          <a:chExt cx="0" cy="0"/>
        </a:xfrm>
      </p:grpSpPr>
      <p:sp>
        <p:nvSpPr>
          <p:cNvPr id="1048601" name="Title 1"/>
          <p:cNvSpPr>
            <a:spLocks noGrp="1"/>
          </p:cNvSpPr>
          <p:nvPr>
            <p:ph type="title"/>
          </p:nvPr>
        </p:nvSpPr>
        <p:spPr/>
        <p:txBody>
          <a:bodyPr>
            <a:normAutofit fontScale="95455"/>
          </a:bodyPr>
          <a:p>
            <a:pPr algn="ctr"/>
            <a:r>
              <a:rPr b="1" dirty="0" lang="en-GB"/>
              <a:t>Difference between interlocutory application and originating motion/application/ or process </a:t>
            </a:r>
            <a:endParaRPr b="1" dirty="0" lang="en-US"/>
          </a:p>
        </p:txBody>
      </p:sp>
      <p:sp>
        <p:nvSpPr>
          <p:cNvPr id="1048602" name="Content Placeholder 2"/>
          <p:cNvSpPr>
            <a:spLocks noGrp="1"/>
          </p:cNvSpPr>
          <p:nvPr>
            <p:ph idx="1"/>
          </p:nvPr>
        </p:nvSpPr>
        <p:spPr/>
        <p:txBody>
          <a:bodyPr>
            <a:normAutofit fontScale="85714" lnSpcReduction="20000"/>
          </a:bodyPr>
          <a:p>
            <a:pPr algn="just">
              <a:buFont typeface="Wingdings" panose="05000000000000000000" pitchFamily="2" charset="2"/>
              <a:buChar char="Ø"/>
            </a:pPr>
            <a:r>
              <a:rPr dirty="0" lang="en-US">
                <a:latin typeface="Times New Roman" panose="02020603050405020304" pitchFamily="18" charset="0"/>
                <a:ea typeface="Times New Roman" panose="02020603050405020304" pitchFamily="18" charset="0"/>
              </a:rPr>
              <a:t>Interlocutory -  interim or temporary, not final</a:t>
            </a:r>
            <a:endParaRPr dirty="0" lang="x-none">
              <a:latin typeface="Times New Roman" panose="02020603050405020304" pitchFamily="18" charset="0"/>
              <a:ea typeface="Times New Roman" panose="02020603050405020304" pitchFamily="18" charset="0"/>
            </a:endParaRPr>
          </a:p>
          <a:p>
            <a:pPr algn="just"/>
            <a:r>
              <a:rPr dirty="0" lang="en-US">
                <a:latin typeface="Times New Roman" panose="02020603050405020304" pitchFamily="18" charset="0"/>
                <a:ea typeface="Times New Roman" panose="02020603050405020304" pitchFamily="18" charset="0"/>
              </a:rPr>
              <a:t>See International Finance Corporation v D.S.N.L Offshore Ltd (2008) All FWLR Pt. 403 1264 at 1296:</a:t>
            </a:r>
            <a:endParaRPr dirty="0" lang="x-none">
              <a:latin typeface="Times New Roman" panose="02020603050405020304" pitchFamily="18" charset="0"/>
              <a:ea typeface="Times New Roman" panose="02020603050405020304" pitchFamily="18" charset="0"/>
            </a:endParaRPr>
          </a:p>
          <a:p>
            <a:pPr algn="just" indent="0" marL="152396">
              <a:buNone/>
            </a:pPr>
            <a:r>
              <a:rPr dirty="0" lang="en-US">
                <a:latin typeface="Times New Roman" panose="02020603050405020304" pitchFamily="18" charset="0"/>
                <a:ea typeface="Times New Roman" panose="02020603050405020304" pitchFamily="18" charset="0"/>
              </a:rPr>
              <a:t>      CA – defined it to mean ---- something ‘intervening, provisional, temporary</a:t>
            </a:r>
          </a:p>
          <a:p>
            <a:pPr algn="just" indent="0" marL="152396">
              <a:buNone/>
            </a:pPr>
            <a:r>
              <a:rPr dirty="0" lang="en-US">
                <a:latin typeface="Times New Roman" panose="02020603050405020304" pitchFamily="18" charset="0"/>
                <a:ea typeface="Times New Roman" panose="02020603050405020304" pitchFamily="18" charset="0"/>
              </a:rPr>
              <a:t>“There is a world of difference between the legal words of interlocutory process and originating process. Interlocutory process is brought by way of motion and is always provisional, interim, temporary and therefore is not final. The intention of interlocutory relief is that there is something intervening between the commencement and the end of a suit that decides some point or matter. Interlocutory relief therefore is not a final decision of the dispute between an applicant and the respondent”. </a:t>
            </a:r>
          </a:p>
          <a:p>
            <a:pPr algn="just" indent="0" marL="152396">
              <a:buNone/>
            </a:pPr>
            <a:r>
              <a:rPr dirty="0" lang="en-US">
                <a:latin typeface="Times New Roman" panose="02020603050405020304" pitchFamily="18" charset="0"/>
                <a:ea typeface="Times New Roman" panose="02020603050405020304" pitchFamily="18" charset="0"/>
              </a:rPr>
              <a:t>Thomas, J.C.A., </a:t>
            </a:r>
          </a:p>
          <a:p>
            <a:pPr algn="just" indent="-457200" marL="609596"/>
            <a:r>
              <a:rPr dirty="0" lang="en-GB">
                <a:latin typeface="Times New Roman" panose="02020603050405020304" pitchFamily="18" charset="0"/>
                <a:ea typeface="Times New Roman" panose="02020603050405020304" pitchFamily="18" charset="0"/>
              </a:rPr>
              <a:t>Originating motion/application/ processes are processes for commencement of action as discussed in week 6.</a:t>
            </a:r>
            <a:endParaRPr dirty="0" lang="x-none">
              <a:latin typeface="Times New Roman" panose="02020603050405020304" pitchFamily="18" charset="0"/>
              <a:ea typeface="Times New Roman" panose="02020603050405020304" pitchFamily="18" charset="0"/>
            </a:endParaRPr>
          </a:p>
          <a:p>
            <a:endParaRPr dirty="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2" name=""/>
        <p:cNvGrpSpPr/>
        <p:nvPr/>
      </p:nvGrpSpPr>
      <p:grpSpPr>
        <a:xfrm>
          <a:off x="0" y="0"/>
          <a:ext cx="0" cy="0"/>
          <a:chOff x="0" y="0"/>
          <a:chExt cx="0" cy="0"/>
        </a:xfrm>
      </p:grpSpPr>
      <p:sp>
        <p:nvSpPr>
          <p:cNvPr id="1048603" name="Title 1"/>
          <p:cNvSpPr>
            <a:spLocks noGrp="1"/>
          </p:cNvSpPr>
          <p:nvPr>
            <p:ph type="title"/>
          </p:nvPr>
        </p:nvSpPr>
        <p:spPr/>
        <p:txBody>
          <a:bodyPr/>
          <a:p>
            <a:pPr algn="ctr"/>
            <a:r>
              <a:rPr b="1" dirty="0" lang="en-GB"/>
              <a:t>Parties in Interlocutory Application</a:t>
            </a:r>
            <a:endParaRPr b="1" dirty="0" lang="en-US"/>
          </a:p>
        </p:txBody>
      </p:sp>
      <p:sp>
        <p:nvSpPr>
          <p:cNvPr id="1048604" name="Content Placeholder 2"/>
          <p:cNvSpPr>
            <a:spLocks noGrp="1"/>
          </p:cNvSpPr>
          <p:nvPr>
            <p:ph idx="1"/>
          </p:nvPr>
        </p:nvSpPr>
        <p:spPr/>
        <p:txBody>
          <a:bodyPr/>
          <a:p>
            <a:r>
              <a:rPr dirty="0" lang="en-US">
                <a:latin typeface="Times New Roman"/>
                <a:ea typeface="Times New Roman"/>
                <a:cs typeface="Times New Roman"/>
                <a:sym typeface="Times New Roman"/>
              </a:rPr>
              <a:t>The parties in an interlocutory application are the “APPLICANT” and “RESPONDENT”</a:t>
            </a:r>
          </a:p>
          <a:p>
            <a:endParaRPr dirty="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13" name="Shape 147"/>
        <p:cNvGrpSpPr/>
        <p:nvPr/>
      </p:nvGrpSpPr>
      <p:grpSpPr>
        <a:xfrm>
          <a:off x="0" y="0"/>
          <a:ext cx="0" cy="0"/>
          <a:chOff x="0" y="0"/>
          <a:chExt cx="0" cy="0"/>
        </a:xfrm>
      </p:grpSpPr>
      <p:sp>
        <p:nvSpPr>
          <p:cNvPr id="1048605" name="Google Shape;148;p28"/>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dirty="0" lang="en">
                <a:latin typeface="Times New Roman"/>
                <a:ea typeface="Times New Roman"/>
                <a:cs typeface="Times New Roman"/>
                <a:sym typeface="Times New Roman"/>
              </a:rPr>
              <a:t>Uses of Interlocutory Applications</a:t>
            </a:r>
            <a:endParaRPr dirty="0">
              <a:latin typeface="Times New Roman"/>
              <a:ea typeface="Times New Roman"/>
              <a:cs typeface="Times New Roman"/>
              <a:sym typeface="Times New Roman"/>
            </a:endParaRPr>
          </a:p>
        </p:txBody>
      </p:sp>
      <p:sp>
        <p:nvSpPr>
          <p:cNvPr id="1048606" name="Google Shape;149;p28"/>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500"/>
              <a:buFont typeface="Noto Sans Symbols"/>
              <a:buChar char="✔"/>
            </a:pPr>
            <a:r>
              <a:rPr dirty="0" sz="3733" lang="en">
                <a:latin typeface="Times New Roman"/>
                <a:ea typeface="Times New Roman"/>
                <a:cs typeface="Times New Roman"/>
                <a:sym typeface="Times New Roman"/>
              </a:rPr>
              <a:t>It can be used to remedy some defects in a pending suit.</a:t>
            </a:r>
            <a:endParaRPr dirty="0" sz="3733"/>
          </a:p>
          <a:p>
            <a:pPr indent="-457189" marL="457189">
              <a:spcBef>
                <a:spcPts val="933"/>
              </a:spcBef>
              <a:buClr>
                <a:schemeClr val="dk1"/>
              </a:buClr>
              <a:buSzPts val="3500"/>
              <a:buFont typeface="Noto Sans Symbols"/>
              <a:buChar char="✔"/>
            </a:pPr>
            <a:r>
              <a:rPr dirty="0" sz="3733" lang="en">
                <a:latin typeface="Times New Roman"/>
                <a:ea typeface="Times New Roman"/>
                <a:cs typeface="Times New Roman"/>
                <a:sym typeface="Times New Roman"/>
              </a:rPr>
              <a:t>In some instances, it is condition precedent to the commencement of a substantive action. As is the case of application for leave to issue a writ especially when it is to be served out of jurisdiction or under </a:t>
            </a:r>
            <a:r>
              <a:rPr dirty="0" sz="3733" lang="en" err="1">
                <a:latin typeface="Times New Roman"/>
                <a:ea typeface="Times New Roman"/>
                <a:cs typeface="Times New Roman"/>
                <a:sym typeface="Times New Roman"/>
              </a:rPr>
              <a:t>exparte</a:t>
            </a:r>
            <a:r>
              <a:rPr dirty="0" sz="3733" lang="en">
                <a:latin typeface="Times New Roman"/>
                <a:ea typeface="Times New Roman"/>
                <a:cs typeface="Times New Roman"/>
                <a:sym typeface="Times New Roman"/>
              </a:rPr>
              <a:t> application for judicial review.</a:t>
            </a:r>
            <a:endParaRPr dirty="0" sz="3733"/>
          </a:p>
          <a:p>
            <a:pPr indent="-160863" marL="457189">
              <a:spcBef>
                <a:spcPts val="933"/>
              </a:spcBef>
              <a:buClr>
                <a:schemeClr val="dk1"/>
              </a:buClr>
              <a:buSzPts val="3500"/>
              <a:buNone/>
            </a:pPr>
            <a:endParaRPr dirty="0" sz="3733">
              <a:latin typeface="Times New Roman"/>
              <a:ea typeface="Times New Roman"/>
              <a:cs typeface="Times New Roman"/>
              <a:sym typeface="Times New Roman"/>
            </a:endParaRPr>
          </a:p>
          <a:p>
            <a:pPr indent="-160863" marL="457189">
              <a:spcBef>
                <a:spcPts val="933"/>
              </a:spcBef>
              <a:buClr>
                <a:schemeClr val="dk1"/>
              </a:buClr>
              <a:buSzPts val="3500"/>
              <a:buNone/>
            </a:pPr>
            <a:endParaRPr dirty="0" sz="3733"/>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16" name="Shape 153"/>
        <p:cNvGrpSpPr/>
        <p:nvPr/>
      </p:nvGrpSpPr>
      <p:grpSpPr>
        <a:xfrm>
          <a:off x="0" y="0"/>
          <a:ext cx="0" cy="0"/>
          <a:chOff x="0" y="0"/>
          <a:chExt cx="0" cy="0"/>
        </a:xfrm>
      </p:grpSpPr>
      <p:sp>
        <p:nvSpPr>
          <p:cNvPr id="1048609" name="Google Shape;155;p29"/>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buFont typeface="Noto Sans Symbols"/>
              <a:buChar char="✔"/>
            </a:pPr>
            <a:r>
              <a:rPr dirty="0" sz="3733" lang="en">
                <a:latin typeface="Times New Roman"/>
                <a:ea typeface="Times New Roman"/>
                <a:cs typeface="Times New Roman"/>
                <a:sym typeface="Times New Roman"/>
              </a:rPr>
              <a:t>It can be used to seek some temporary reliefs or additional reliefs to the ones contained in the claim of the party.</a:t>
            </a:r>
            <a:endParaRPr dirty="0" sz="3733"/>
          </a:p>
          <a:p>
            <a:pPr indent="-457189" marL="457189">
              <a:spcBef>
                <a:spcPts val="960"/>
              </a:spcBef>
              <a:buClr>
                <a:schemeClr val="dk1"/>
              </a:buClr>
              <a:buSzPts val="3600"/>
              <a:buFont typeface="Noto Sans Symbols"/>
              <a:buChar char="✔"/>
            </a:pPr>
            <a:r>
              <a:rPr dirty="0" sz="3733" lang="en">
                <a:latin typeface="Times New Roman"/>
                <a:ea typeface="Times New Roman"/>
                <a:cs typeface="Times New Roman"/>
                <a:sym typeface="Times New Roman"/>
              </a:rPr>
              <a:t>It is also an effective tool in stopping or killing a substantive suit.</a:t>
            </a:r>
            <a:endParaRPr dirty="0" sz="3733"/>
          </a:p>
          <a:p>
            <a:pPr indent="-457189" marL="457189">
              <a:spcBef>
                <a:spcPts val="960"/>
              </a:spcBef>
              <a:buClr>
                <a:schemeClr val="dk1"/>
              </a:buClr>
              <a:buSzPts val="3600"/>
              <a:buFont typeface="Noto Sans Symbols"/>
              <a:buChar char="✔"/>
            </a:pPr>
            <a:r>
              <a:rPr dirty="0" sz="3733" lang="en">
                <a:latin typeface="Times New Roman"/>
                <a:ea typeface="Times New Roman"/>
                <a:cs typeface="Times New Roman"/>
                <a:sym typeface="Times New Roman"/>
              </a:rPr>
              <a:t>It is used to remedy delay when the applicant has ran out of time in doing a thing required  by the rules.</a:t>
            </a:r>
            <a:endParaRPr dirty="0" sz="3733">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19" name="Shape 159"/>
        <p:cNvGrpSpPr/>
        <p:nvPr/>
      </p:nvGrpSpPr>
      <p:grpSpPr>
        <a:xfrm>
          <a:off x="0" y="0"/>
          <a:ext cx="0" cy="0"/>
          <a:chOff x="0" y="0"/>
          <a:chExt cx="0" cy="0"/>
        </a:xfrm>
      </p:grpSpPr>
      <p:sp>
        <p:nvSpPr>
          <p:cNvPr id="1048612" name="Google Shape;161;p30"/>
          <p:cNvSpPr txBox="1">
            <a:spLocks noGrp="1"/>
          </p:cNvSpPr>
          <p:nvPr>
            <p:ph idx="1"/>
          </p:nvPr>
        </p:nvSpPr>
        <p:spPr>
          <a:xfrm>
            <a:off x="609600" y="639183"/>
            <a:ext cx="11037345" cy="5026511"/>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500"/>
              <a:buFont typeface="Noto Sans Symbols"/>
              <a:buChar char="✔"/>
            </a:pPr>
            <a:r>
              <a:rPr dirty="0" sz="3733" lang="en">
                <a:latin typeface="Times New Roman"/>
                <a:ea typeface="Times New Roman"/>
                <a:cs typeface="Times New Roman"/>
                <a:sym typeface="Times New Roman"/>
              </a:rPr>
              <a:t>The ultimate aim is to assist parties in the orderly  presentation of their cases and in getting speedy judgment. </a:t>
            </a:r>
            <a:endParaRPr dirty="0" sz="3733"/>
          </a:p>
          <a:p>
            <a:pPr indent="-457189" marL="457189">
              <a:spcBef>
                <a:spcPts val="933"/>
              </a:spcBef>
              <a:buClr>
                <a:schemeClr val="dk1"/>
              </a:buClr>
              <a:buSzPts val="3500"/>
            </a:pPr>
            <a:r>
              <a:rPr dirty="0" sz="3733" lang="en">
                <a:latin typeface="Times New Roman"/>
                <a:ea typeface="Times New Roman"/>
                <a:cs typeface="Times New Roman"/>
                <a:sym typeface="Times New Roman"/>
              </a:rPr>
              <a:t>It should be noted however, that some lawyers use it negatively as a delay tactics. See </a:t>
            </a:r>
            <a:r>
              <a:rPr b="1" dirty="0" sz="3733" lang="en">
                <a:latin typeface="Times New Roman"/>
                <a:ea typeface="Times New Roman"/>
                <a:cs typeface="Times New Roman"/>
                <a:sym typeface="Times New Roman"/>
              </a:rPr>
              <a:t>PROFESSOR STEVE UGBA V GAGRIEL SUSWAM (2014)  LPELR 22882 SC, OGBORU V UDUAGHAN (2011) 17 NWLR (PT 1232)</a:t>
            </a:r>
            <a:endParaRPr b="1" dirty="0" sz="3733">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22" name=""/>
        <p:cNvGrpSpPr/>
        <p:nvPr/>
      </p:nvGrpSpPr>
      <p:grpSpPr>
        <a:xfrm>
          <a:off x="0" y="0"/>
          <a:ext cx="0" cy="0"/>
          <a:chOff x="0" y="0"/>
          <a:chExt cx="0" cy="0"/>
        </a:xfrm>
      </p:grpSpPr>
      <p:sp>
        <p:nvSpPr>
          <p:cNvPr id="1048615" name="Title 1"/>
          <p:cNvSpPr>
            <a:spLocks noGrp="1"/>
          </p:cNvSpPr>
          <p:nvPr>
            <p:ph type="title"/>
          </p:nvPr>
        </p:nvSpPr>
        <p:spPr/>
        <p:txBody>
          <a:bodyPr/>
          <a:p>
            <a:pPr algn="ctr"/>
            <a:r>
              <a:rPr dirty="0" lang="x-none">
                <a:latin typeface="Times New Roman" panose="02020603050405020304" pitchFamily="18" charset="0"/>
                <a:cs typeface="Times New Roman" panose="02020603050405020304" pitchFamily="18" charset="0"/>
              </a:rPr>
              <a:t>E</a:t>
            </a:r>
            <a:r>
              <a:rPr dirty="0" lang="en-GB" err="1">
                <a:latin typeface="Times New Roman" panose="02020603050405020304" pitchFamily="18" charset="0"/>
                <a:cs typeface="Times New Roman" panose="02020603050405020304" pitchFamily="18" charset="0"/>
              </a:rPr>
              <a:t>xamples</a:t>
            </a:r>
            <a:r>
              <a:rPr dirty="0" lang="en-GB">
                <a:latin typeface="Times New Roman" panose="02020603050405020304" pitchFamily="18" charset="0"/>
                <a:cs typeface="Times New Roman" panose="02020603050405020304" pitchFamily="18" charset="0"/>
              </a:rPr>
              <a:t> of Interlocutory Applications</a:t>
            </a:r>
            <a:endParaRPr dirty="0" lang="x-none">
              <a:latin typeface="Times New Roman" panose="02020603050405020304" pitchFamily="18" charset="0"/>
              <a:cs typeface="Times New Roman" panose="02020603050405020304" pitchFamily="18" charset="0"/>
            </a:endParaRPr>
          </a:p>
        </p:txBody>
      </p:sp>
      <p:sp>
        <p:nvSpPr>
          <p:cNvPr id="1048616" name="Text Placeholder 2"/>
          <p:cNvSpPr>
            <a:spLocks noGrp="1"/>
          </p:cNvSpPr>
          <p:nvPr>
            <p:ph idx="1"/>
          </p:nvPr>
        </p:nvSpPr>
        <p:spPr/>
        <p:txBody>
          <a:bodyPr>
            <a:noAutofit/>
          </a:bodyPr>
          <a:p>
            <a:pPr indent="-457189" marL="457189">
              <a:buFont typeface="Times New Roman" panose="02020603050405020304" pitchFamily="18" charset="0"/>
              <a:buChar char="-"/>
            </a:pPr>
            <a:r>
              <a:rPr dirty="0" lang="en-US">
                <a:latin typeface="Times New Roman" panose="02020603050405020304" pitchFamily="18" charset="0"/>
                <a:ea typeface="Times New Roman" panose="02020603050405020304" pitchFamily="18" charset="0"/>
                <a:cs typeface="Times New Roman" panose="02020603050405020304" pitchFamily="18" charset="0"/>
              </a:rPr>
              <a:t>An order of court at pretrial on the order of hearing of the case is interlocutory</a:t>
            </a:r>
            <a:endParaRPr dirty="0" lang="x-none">
              <a:latin typeface="Times New Roman" panose="02020603050405020304" pitchFamily="18" charset="0"/>
              <a:ea typeface="Times New Roman" panose="02020603050405020304" pitchFamily="18" charset="0"/>
              <a:cs typeface="Times New Roman" panose="02020603050405020304" pitchFamily="18" charset="0"/>
            </a:endParaRPr>
          </a:p>
          <a:p>
            <a:pPr indent="-457189" marL="457189">
              <a:buFont typeface="Times New Roman" panose="02020603050405020304" pitchFamily="18" charset="0"/>
              <a:buChar char="-"/>
            </a:pPr>
            <a:r>
              <a:rPr dirty="0" lang="x-none">
                <a:latin typeface="Times New Roman" panose="02020603050405020304" pitchFamily="18" charset="0"/>
                <a:ea typeface="Times New Roman" panose="02020603050405020304" pitchFamily="18" charset="0"/>
                <a:cs typeface="Times New Roman" panose="02020603050405020304" pitchFamily="18" charset="0"/>
              </a:rPr>
              <a:t>Application for Extension of Time to file court process Application for Amendment of Statement of Claim </a:t>
            </a:r>
          </a:p>
          <a:p>
            <a:pPr indent="-457189" marL="457189">
              <a:buFont typeface="Times New Roman" panose="02020603050405020304" pitchFamily="18" charset="0"/>
              <a:buChar char="-"/>
            </a:pPr>
            <a:r>
              <a:rPr dirty="0" lang="x-none">
                <a:latin typeface="Times New Roman" panose="02020603050405020304" pitchFamily="18" charset="0"/>
                <a:ea typeface="Times New Roman" panose="02020603050405020304" pitchFamily="18" charset="0"/>
                <a:cs typeface="Times New Roman" panose="02020603050405020304" pitchFamily="18" charset="0"/>
              </a:rPr>
              <a:t>Application for Substituted service Application for order to produce Application for joinder of parties </a:t>
            </a:r>
          </a:p>
          <a:p>
            <a:pPr indent="-457189" marL="457189">
              <a:buFont typeface="Times New Roman" panose="02020603050405020304" pitchFamily="18" charset="0"/>
              <a:buChar char="-"/>
            </a:pPr>
            <a:r>
              <a:rPr dirty="0" lang="x-none">
                <a:latin typeface="Times New Roman" panose="02020603050405020304" pitchFamily="18" charset="0"/>
                <a:ea typeface="Times New Roman" panose="02020603050405020304" pitchFamily="18" charset="0"/>
                <a:cs typeface="Times New Roman" panose="02020603050405020304" pitchFamily="18" charset="0"/>
              </a:rPr>
              <a:t>Application for striking out a suit Application for Summary Judgement </a:t>
            </a:r>
          </a:p>
          <a:p>
            <a:pPr indent="-457189" marL="457189">
              <a:buFont typeface="Times New Roman" panose="02020603050405020304" pitchFamily="18" charset="0"/>
              <a:buChar char="-"/>
            </a:pPr>
            <a:r>
              <a:rPr dirty="0" lang="x-none">
                <a:latin typeface="Times New Roman" panose="02020603050405020304" pitchFamily="18" charset="0"/>
                <a:ea typeface="Times New Roman" panose="02020603050405020304" pitchFamily="18" charset="0"/>
                <a:cs typeface="Times New Roman" panose="02020603050405020304" pitchFamily="18" charset="0"/>
              </a:rPr>
              <a:t>Application for Default Judgement</a:t>
            </a:r>
            <a:br>
              <a:rPr dirty="0" lang="x-none">
                <a:latin typeface="Times New Roman" panose="02020603050405020304" pitchFamily="18" charset="0"/>
                <a:ea typeface="Times New Roman" panose="02020603050405020304" pitchFamily="18" charset="0"/>
                <a:cs typeface="Times New Roman" panose="02020603050405020304" pitchFamily="18" charset="0"/>
              </a:rPr>
            </a:br>
            <a:r>
              <a:rPr dirty="0" lang="x-none">
                <a:latin typeface="Times New Roman" panose="02020603050405020304" pitchFamily="18" charset="0"/>
                <a:ea typeface="Times New Roman" panose="02020603050405020304" pitchFamily="18" charset="0"/>
                <a:cs typeface="Times New Roman" panose="02020603050405020304" pitchFamily="18" charset="0"/>
              </a:rPr>
              <a:t>Application for setting a aside a default judgement </a:t>
            </a:r>
          </a:p>
          <a:p>
            <a:pPr indent="0" marL="152396">
              <a:buNone/>
            </a:pPr>
            <a:endParaRPr dirty="0" lang="x-none">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23" name="Shape 165"/>
        <p:cNvGrpSpPr/>
        <p:nvPr/>
      </p:nvGrpSpPr>
      <p:grpSpPr>
        <a:xfrm>
          <a:off x="0" y="0"/>
          <a:ext cx="0" cy="0"/>
          <a:chOff x="0" y="0"/>
          <a:chExt cx="0" cy="0"/>
        </a:xfrm>
      </p:grpSpPr>
      <p:sp>
        <p:nvSpPr>
          <p:cNvPr id="1048617" name="Google Shape;166;p31"/>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dirty="0" lang="en">
                <a:latin typeface="Times New Roman"/>
                <a:ea typeface="Times New Roman"/>
                <a:cs typeface="Times New Roman"/>
                <a:sym typeface="Times New Roman"/>
              </a:rPr>
              <a:t>Mode of making Interlocutory Applications to Court</a:t>
            </a:r>
            <a:endParaRPr dirty="0">
              <a:latin typeface="Times New Roman"/>
              <a:ea typeface="Times New Roman"/>
              <a:cs typeface="Times New Roman"/>
              <a:sym typeface="Times New Roman"/>
            </a:endParaRPr>
          </a:p>
        </p:txBody>
      </p:sp>
      <p:sp>
        <p:nvSpPr>
          <p:cNvPr id="1048618" name="Google Shape;167;p31"/>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lnSpc>
                <a:spcPct val="80000"/>
              </a:lnSpc>
              <a:spcBef>
                <a:spcPts val="0"/>
              </a:spcBef>
              <a:buClr>
                <a:schemeClr val="dk1"/>
              </a:buClr>
              <a:buSzPts val="3409"/>
            </a:pPr>
            <a:r>
              <a:rPr dirty="0" sz="3733" lang="en">
                <a:latin typeface="Times New Roman"/>
                <a:ea typeface="Times New Roman"/>
                <a:cs typeface="Times New Roman"/>
                <a:sym typeface="Times New Roman"/>
              </a:rPr>
              <a:t>An interlocutory application is required to be made either in open court or to the Judge in chamber:</a:t>
            </a:r>
            <a:endParaRPr dirty="0" sz="3733"/>
          </a:p>
          <a:p>
            <a:pPr indent="-457189" marL="457189">
              <a:lnSpc>
                <a:spcPct val="80000"/>
              </a:lnSpc>
              <a:spcBef>
                <a:spcPts val="909"/>
              </a:spcBef>
              <a:buClr>
                <a:schemeClr val="dk1"/>
              </a:buClr>
              <a:buSzPts val="3409"/>
              <a:buFont typeface="Noto Sans Symbols"/>
              <a:buChar char="✔"/>
            </a:pPr>
            <a:r>
              <a:rPr dirty="0" sz="3733" lang="en">
                <a:latin typeface="Times New Roman"/>
                <a:ea typeface="Times New Roman"/>
                <a:cs typeface="Times New Roman"/>
                <a:sym typeface="Times New Roman"/>
              </a:rPr>
              <a:t>Orally;</a:t>
            </a:r>
            <a:endParaRPr dirty="0" sz="3733"/>
          </a:p>
          <a:p>
            <a:pPr indent="-457189" marL="457189">
              <a:lnSpc>
                <a:spcPct val="80000"/>
              </a:lnSpc>
              <a:spcBef>
                <a:spcPts val="909"/>
              </a:spcBef>
              <a:buClr>
                <a:schemeClr val="dk1"/>
              </a:buClr>
              <a:buSzPts val="3409"/>
              <a:buFont typeface="Noto Sans Symbols"/>
              <a:buChar char="✔"/>
            </a:pPr>
            <a:r>
              <a:rPr dirty="0" sz="3733" lang="en">
                <a:latin typeface="Times New Roman"/>
                <a:ea typeface="Times New Roman"/>
                <a:cs typeface="Times New Roman"/>
                <a:sym typeface="Times New Roman"/>
              </a:rPr>
              <a:t>By motion. See </a:t>
            </a:r>
            <a:r>
              <a:rPr b="1" dirty="0" sz="3733" lang="en">
                <a:solidFill>
                  <a:srgbClr val="FF0000"/>
                </a:solidFill>
                <a:latin typeface="Times New Roman"/>
                <a:ea typeface="Times New Roman"/>
                <a:cs typeface="Times New Roman"/>
                <a:sym typeface="Times New Roman"/>
              </a:rPr>
              <a:t>O 30 R1 &amp; 31 </a:t>
            </a:r>
            <a:r>
              <a:rPr dirty="0" sz="3733" lang="en">
                <a:solidFill>
                  <a:srgbClr val="FF0000"/>
                </a:solidFill>
                <a:latin typeface="Times New Roman"/>
                <a:ea typeface="Times New Roman"/>
                <a:cs typeface="Times New Roman"/>
                <a:sym typeface="Times New Roman"/>
              </a:rPr>
              <a:t>Abuja</a:t>
            </a:r>
            <a:r>
              <a:rPr dirty="0" sz="3733" lang="en">
                <a:latin typeface="Times New Roman"/>
                <a:ea typeface="Times New Roman"/>
                <a:cs typeface="Times New Roman"/>
                <a:sym typeface="Times New Roman"/>
              </a:rPr>
              <a:t>, </a:t>
            </a:r>
            <a:r>
              <a:rPr b="1" dirty="0" sz="3733" lang="en">
                <a:latin typeface="Times New Roman"/>
                <a:ea typeface="Times New Roman"/>
                <a:cs typeface="Times New Roman"/>
                <a:sym typeface="Times New Roman"/>
              </a:rPr>
              <a:t>O 43 R1 Lagos</a:t>
            </a:r>
            <a:r>
              <a:rPr dirty="0" sz="3733" lang="en">
                <a:latin typeface="Times New Roman"/>
                <a:ea typeface="Times New Roman"/>
                <a:cs typeface="Times New Roman"/>
                <a:sym typeface="Times New Roman"/>
              </a:rPr>
              <a:t>.</a:t>
            </a:r>
            <a:endParaRPr dirty="0" sz="3733"/>
          </a:p>
          <a:p>
            <a:pPr indent="-457189" marL="457189">
              <a:lnSpc>
                <a:spcPct val="80000"/>
              </a:lnSpc>
              <a:spcBef>
                <a:spcPts val="909"/>
              </a:spcBef>
              <a:buClr>
                <a:schemeClr val="dk1"/>
              </a:buClr>
              <a:buSzPts val="3409"/>
              <a:buFont typeface="Noto Sans Symbols"/>
              <a:buChar char="✔"/>
            </a:pPr>
            <a:r>
              <a:rPr dirty="0" sz="3733" lang="en">
                <a:latin typeface="Times New Roman"/>
                <a:ea typeface="Times New Roman"/>
                <a:cs typeface="Times New Roman"/>
                <a:sym typeface="Times New Roman"/>
              </a:rPr>
              <a:t>Summons (where the rules of court provides for it) e.g. interpleader proceedings. </a:t>
            </a:r>
            <a:r>
              <a:rPr b="1" dirty="0" sz="3733" lang="en">
                <a:latin typeface="Times New Roman"/>
                <a:ea typeface="Times New Roman"/>
                <a:cs typeface="Times New Roman"/>
                <a:sym typeface="Times New Roman"/>
              </a:rPr>
              <a:t>See </a:t>
            </a:r>
            <a:r>
              <a:rPr b="1" dirty="0" sz="3733" lang="en">
                <a:solidFill>
                  <a:srgbClr val="FF0000"/>
                </a:solidFill>
                <a:latin typeface="Times New Roman"/>
                <a:ea typeface="Times New Roman"/>
                <a:cs typeface="Times New Roman"/>
                <a:sym typeface="Times New Roman"/>
              </a:rPr>
              <a:t>O 26 R 5</a:t>
            </a:r>
            <a:r>
              <a:rPr dirty="0" sz="3733" lang="en">
                <a:solidFill>
                  <a:srgbClr val="FF0000"/>
                </a:solidFill>
                <a:latin typeface="Times New Roman"/>
                <a:ea typeface="Times New Roman"/>
                <a:cs typeface="Times New Roman"/>
                <a:sym typeface="Times New Roman"/>
              </a:rPr>
              <a:t> Abuja</a:t>
            </a:r>
            <a:r>
              <a:rPr dirty="0" sz="3733" lang="en">
                <a:latin typeface="Times New Roman"/>
                <a:ea typeface="Times New Roman"/>
                <a:cs typeface="Times New Roman"/>
                <a:sym typeface="Times New Roman"/>
              </a:rPr>
              <a:t> and </a:t>
            </a:r>
            <a:r>
              <a:rPr b="1" dirty="0" sz="3733" lang="en">
                <a:latin typeface="Times New Roman"/>
                <a:ea typeface="Times New Roman"/>
                <a:cs typeface="Times New Roman"/>
                <a:sym typeface="Times New Roman"/>
              </a:rPr>
              <a:t>O 47 R 2</a:t>
            </a:r>
            <a:r>
              <a:rPr dirty="0" sz="3733" lang="en">
                <a:latin typeface="Times New Roman"/>
                <a:ea typeface="Times New Roman"/>
                <a:cs typeface="Times New Roman"/>
                <a:sym typeface="Times New Roman"/>
              </a:rPr>
              <a:t>Lagos</a:t>
            </a:r>
            <a:endParaRPr dirty="0" sz="3733">
              <a:latin typeface="Times New Roman"/>
              <a:ea typeface="Times New Roman"/>
              <a:cs typeface="Times New Roman"/>
              <a:sym typeface="Times New Roman"/>
            </a:endParaRPr>
          </a:p>
          <a:p>
            <a:pPr indent="-168482" marL="457189">
              <a:lnSpc>
                <a:spcPct val="80000"/>
              </a:lnSpc>
              <a:spcBef>
                <a:spcPts val="909"/>
              </a:spcBef>
              <a:buClr>
                <a:schemeClr val="dk1"/>
              </a:buClr>
              <a:buSzPts val="3410"/>
              <a:buNone/>
            </a:pPr>
            <a:endParaRPr dirty="0" sz="3733">
              <a:latin typeface="Times New Roman"/>
              <a:ea typeface="Times New Roman"/>
              <a:cs typeface="Times New Roman"/>
              <a:sym typeface="Times New Roman"/>
            </a:endParaRPr>
          </a:p>
          <a:p>
            <a:pPr indent="0" marL="0">
              <a:lnSpc>
                <a:spcPct val="80000"/>
              </a:lnSpc>
              <a:spcBef>
                <a:spcPts val="909"/>
              </a:spcBef>
              <a:buClr>
                <a:schemeClr val="dk1"/>
              </a:buClr>
              <a:buSzPts val="3410"/>
              <a:buNone/>
            </a:pPr>
            <a:endParaRPr dirty="0" sz="3733">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26" name=""/>
        <p:cNvGrpSpPr/>
        <p:nvPr/>
      </p:nvGrpSpPr>
      <p:grpSpPr>
        <a:xfrm>
          <a:off x="0" y="0"/>
          <a:ext cx="0" cy="0"/>
          <a:chOff x="0" y="0"/>
          <a:chExt cx="0" cy="0"/>
        </a:xfrm>
      </p:grpSpPr>
      <p:sp>
        <p:nvSpPr>
          <p:cNvPr id="1048621" name="Title 1"/>
          <p:cNvSpPr>
            <a:spLocks noGrp="1"/>
          </p:cNvSpPr>
          <p:nvPr>
            <p:ph type="title"/>
          </p:nvPr>
        </p:nvSpPr>
        <p:spPr/>
        <p:txBody>
          <a:bodyPr/>
          <a:p>
            <a:pPr algn="ctr"/>
            <a:r>
              <a:rPr dirty="0" lang="en">
                <a:latin typeface="Times New Roman"/>
                <a:ea typeface="Times New Roman"/>
                <a:cs typeface="Times New Roman"/>
                <a:sym typeface="Times New Roman"/>
              </a:rPr>
              <a:t>Limits to filing of Interlocutory Application</a:t>
            </a:r>
            <a:endParaRPr dirty="0" lang="en-US"/>
          </a:p>
        </p:txBody>
      </p:sp>
      <p:sp>
        <p:nvSpPr>
          <p:cNvPr id="1048622" name="Content Placeholder 2"/>
          <p:cNvSpPr>
            <a:spLocks noGrp="1"/>
          </p:cNvSpPr>
          <p:nvPr>
            <p:ph idx="1"/>
          </p:nvPr>
        </p:nvSpPr>
        <p:spPr/>
        <p:txBody>
          <a:bodyPr/>
          <a:p>
            <a:pPr indent="-457189" marL="457189">
              <a:spcBef>
                <a:spcPts val="0"/>
              </a:spcBef>
              <a:buClr>
                <a:schemeClr val="dk1"/>
              </a:buClr>
              <a:buSzPts val="3200"/>
            </a:pPr>
            <a:r>
              <a:rPr dirty="0" lang="en-US">
                <a:latin typeface="Times New Roman"/>
                <a:ea typeface="Times New Roman"/>
                <a:cs typeface="Times New Roman"/>
                <a:sym typeface="Times New Roman"/>
              </a:rPr>
              <a:t>As a general rule there is no limit to the number of application to be filed in a particular suit. </a:t>
            </a:r>
            <a:endParaRPr dirty="0" lang="en-US"/>
          </a:p>
          <a:p>
            <a:pPr indent="-457189" marL="457189">
              <a:spcBef>
                <a:spcPts val="853"/>
              </a:spcBef>
              <a:buClr>
                <a:schemeClr val="dk1"/>
              </a:buClr>
              <a:buSzPts val="3200"/>
            </a:pPr>
            <a:r>
              <a:rPr dirty="0" lang="en-US">
                <a:latin typeface="Times New Roman"/>
                <a:ea typeface="Times New Roman"/>
                <a:cs typeface="Times New Roman"/>
                <a:sym typeface="Times New Roman"/>
              </a:rPr>
              <a:t>Where an application is meant to delay proceedings or it is frivolous it will be struck out.</a:t>
            </a:r>
            <a:endParaRPr dirty="0" lang="en-US"/>
          </a:p>
          <a:p>
            <a:pPr indent="-457189" marL="457189">
              <a:spcBef>
                <a:spcPts val="853"/>
              </a:spcBef>
              <a:buClr>
                <a:schemeClr val="dk1"/>
              </a:buClr>
              <a:buSzPts val="3200"/>
            </a:pPr>
            <a:r>
              <a:rPr dirty="0" lang="en-US">
                <a:latin typeface="Times New Roman"/>
                <a:ea typeface="Times New Roman"/>
                <a:cs typeface="Times New Roman"/>
                <a:sym typeface="Times New Roman"/>
              </a:rPr>
              <a:t>In Abuja, an application for amendment of pleadings can be brought only twice </a:t>
            </a:r>
            <a:r>
              <a:rPr lang="en-US">
                <a:latin typeface="Times New Roman"/>
                <a:ea typeface="Times New Roman"/>
                <a:cs typeface="Times New Roman"/>
                <a:sym typeface="Times New Roman"/>
              </a:rPr>
              <a:t>during trial. </a:t>
            </a:r>
            <a:r>
              <a:rPr dirty="0" lang="en-US">
                <a:latin typeface="Times New Roman"/>
                <a:ea typeface="Times New Roman"/>
                <a:cs typeface="Times New Roman"/>
                <a:sym typeface="Times New Roman"/>
              </a:rPr>
              <a:t>See </a:t>
            </a:r>
            <a:r>
              <a:rPr b="1" dirty="0" lang="en-US">
                <a:latin typeface="Times New Roman"/>
                <a:ea typeface="Times New Roman"/>
                <a:cs typeface="Times New Roman"/>
                <a:sym typeface="Times New Roman"/>
              </a:rPr>
              <a:t>O 24 R1</a:t>
            </a:r>
          </a:p>
          <a:p>
            <a:pPr indent="-457189" marL="457189">
              <a:spcBef>
                <a:spcPts val="853"/>
              </a:spcBef>
              <a:buClr>
                <a:schemeClr val="dk1"/>
              </a:buClr>
              <a:buSzPts val="3200"/>
            </a:pPr>
            <a:r>
              <a:rPr dirty="0" lang="en-US">
                <a:latin typeface="Times New Roman"/>
                <a:ea typeface="Times New Roman"/>
                <a:cs typeface="Times New Roman"/>
                <a:sym typeface="Times New Roman"/>
              </a:rPr>
              <a:t>In Lagos, an application for amendment of pleadings can be brought only twice </a:t>
            </a:r>
            <a:r>
              <a:rPr lang="en-US">
                <a:latin typeface="Times New Roman"/>
                <a:ea typeface="Times New Roman"/>
                <a:cs typeface="Times New Roman"/>
                <a:sym typeface="Times New Roman"/>
              </a:rPr>
              <a:t>during trial. </a:t>
            </a:r>
            <a:r>
              <a:rPr b="1" dirty="0" lang="en-US">
                <a:latin typeface="Times New Roman"/>
                <a:ea typeface="Times New Roman"/>
                <a:cs typeface="Times New Roman"/>
                <a:sym typeface="Times New Roman"/>
              </a:rPr>
              <a:t>See</a:t>
            </a:r>
            <a:r>
              <a:rPr dirty="0" lang="en-US">
                <a:latin typeface="Times New Roman"/>
                <a:ea typeface="Times New Roman"/>
                <a:cs typeface="Times New Roman"/>
                <a:sym typeface="Times New Roman"/>
              </a:rPr>
              <a:t> </a:t>
            </a:r>
            <a:r>
              <a:rPr b="1" dirty="0" lang="en-US">
                <a:latin typeface="Times New Roman"/>
                <a:ea typeface="Times New Roman"/>
                <a:cs typeface="Times New Roman"/>
                <a:sym typeface="Times New Roman"/>
              </a:rPr>
              <a:t>O 26 R1</a:t>
            </a:r>
            <a:endParaRPr dirty="0" lang="en-US"/>
          </a:p>
          <a:p>
            <a:pPr indent="-457189" marL="457189">
              <a:spcBef>
                <a:spcPts val="853"/>
              </a:spcBef>
              <a:buClr>
                <a:schemeClr val="dk1"/>
              </a:buClr>
              <a:buSzPts val="3200"/>
            </a:pPr>
            <a:endParaRPr dirty="0" lang="en-US"/>
          </a:p>
          <a:p>
            <a:endParaRPr dirty="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27" name=""/>
        <p:cNvGrpSpPr/>
        <p:nvPr/>
      </p:nvGrpSpPr>
      <p:grpSpPr>
        <a:xfrm>
          <a:off x="0" y="0"/>
          <a:ext cx="0" cy="0"/>
          <a:chOff x="0" y="0"/>
          <a:chExt cx="0" cy="0"/>
        </a:xfrm>
      </p:grpSpPr>
      <p:sp>
        <p:nvSpPr>
          <p:cNvPr id="1048623" name="Title 1"/>
          <p:cNvSpPr>
            <a:spLocks noGrp="1"/>
          </p:cNvSpPr>
          <p:nvPr>
            <p:ph type="title"/>
          </p:nvPr>
        </p:nvSpPr>
        <p:spPr/>
        <p:txBody>
          <a:bodyPr/>
          <a:p>
            <a:r>
              <a:rPr b="1" dirty="0" lang="en-GB"/>
              <a:t>INTERLOCUTORY APPLICATIONS BY MOTION</a:t>
            </a:r>
            <a:endParaRPr b="1" dirty="0" lang="en-US"/>
          </a:p>
        </p:txBody>
      </p:sp>
      <p:sp>
        <p:nvSpPr>
          <p:cNvPr id="1048624" name="Content Placeholder 2"/>
          <p:cNvSpPr>
            <a:spLocks noGrp="1"/>
          </p:cNvSpPr>
          <p:nvPr>
            <p:ph idx="1"/>
          </p:nvPr>
        </p:nvSpPr>
        <p:spPr/>
        <p:txBody>
          <a:bodyPr/>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28" name="Shape 171"/>
        <p:cNvGrpSpPr/>
        <p:nvPr/>
      </p:nvGrpSpPr>
      <p:grpSpPr>
        <a:xfrm>
          <a:off x="0" y="0"/>
          <a:ext cx="0" cy="0"/>
          <a:chOff x="0" y="0"/>
          <a:chExt cx="0" cy="0"/>
        </a:xfrm>
      </p:grpSpPr>
      <p:sp>
        <p:nvSpPr>
          <p:cNvPr id="1048625" name="Google Shape;172;p32"/>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Meaning of Motion</a:t>
            </a:r>
            <a:endParaRPr b="1" dirty="0">
              <a:latin typeface="Times New Roman"/>
              <a:ea typeface="Times New Roman"/>
              <a:cs typeface="Times New Roman"/>
              <a:sym typeface="Times New Roman"/>
            </a:endParaRPr>
          </a:p>
        </p:txBody>
      </p:sp>
      <p:sp>
        <p:nvSpPr>
          <p:cNvPr id="1048626" name="Google Shape;173;p32"/>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5400"/>
            </a:pPr>
            <a:r>
              <a:rPr dirty="0" sz="3733" lang="en">
                <a:latin typeface="Times New Roman"/>
                <a:ea typeface="Times New Roman"/>
                <a:cs typeface="Times New Roman"/>
                <a:sym typeface="Times New Roman"/>
              </a:rPr>
              <a:t>A motion is an application, usually in writing made to the court for an order in terms of the prayers sought in the application.</a:t>
            </a:r>
          </a:p>
          <a:p>
            <a:pPr indent="0" marL="0">
              <a:spcBef>
                <a:spcPts val="0"/>
              </a:spcBef>
              <a:buClr>
                <a:schemeClr val="dk1"/>
              </a:buClr>
              <a:buSzPts val="5400"/>
              <a:buNone/>
            </a:pPr>
            <a:endParaRPr dirty="0" sz="3733">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31" name="Shape 177"/>
        <p:cNvGrpSpPr/>
        <p:nvPr/>
      </p:nvGrpSpPr>
      <p:grpSpPr>
        <a:xfrm>
          <a:off x="0" y="0"/>
          <a:ext cx="0" cy="0"/>
          <a:chOff x="0" y="0"/>
          <a:chExt cx="0" cy="0"/>
        </a:xfrm>
      </p:grpSpPr>
      <p:sp>
        <p:nvSpPr>
          <p:cNvPr id="1048629" name="Google Shape;178;p33"/>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Types of Motion</a:t>
            </a:r>
            <a:endParaRPr b="1" dirty="0">
              <a:latin typeface="Times New Roman"/>
              <a:ea typeface="Times New Roman"/>
              <a:cs typeface="Times New Roman"/>
              <a:sym typeface="Times New Roman"/>
            </a:endParaRPr>
          </a:p>
        </p:txBody>
      </p:sp>
      <p:sp>
        <p:nvSpPr>
          <p:cNvPr id="1048630" name="Google Shape;179;p33"/>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000"/>
            </a:pPr>
            <a:r>
              <a:rPr dirty="0" sz="5333" lang="en">
                <a:latin typeface="Times New Roman"/>
                <a:ea typeface="Times New Roman"/>
                <a:cs typeface="Times New Roman"/>
                <a:sym typeface="Times New Roman"/>
              </a:rPr>
              <a:t>Motion </a:t>
            </a:r>
            <a:r>
              <a:rPr dirty="0" sz="5333" i="1" lang="en">
                <a:latin typeface="Times New Roman"/>
                <a:ea typeface="Times New Roman"/>
                <a:cs typeface="Times New Roman"/>
                <a:sym typeface="Times New Roman"/>
              </a:rPr>
              <a:t>Ex-parte</a:t>
            </a:r>
            <a:br>
              <a:rPr dirty="0" sz="5333" lang="en">
                <a:latin typeface="Times New Roman"/>
                <a:ea typeface="Times New Roman"/>
                <a:cs typeface="Times New Roman"/>
                <a:sym typeface="Times New Roman"/>
              </a:rPr>
            </a:br>
            <a:r>
              <a:rPr dirty="0" sz="5333" lang="en">
                <a:latin typeface="Times New Roman"/>
                <a:ea typeface="Times New Roman"/>
                <a:cs typeface="Times New Roman"/>
                <a:sym typeface="Times New Roman"/>
              </a:rPr>
              <a:t>Motion on Notice</a:t>
            </a:r>
            <a:endParaRPr dirty="0" sz="5333">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34" name=""/>
        <p:cNvGrpSpPr/>
        <p:nvPr/>
      </p:nvGrpSpPr>
      <p:grpSpPr>
        <a:xfrm>
          <a:off x="0" y="0"/>
          <a:ext cx="0" cy="0"/>
          <a:chOff x="0" y="0"/>
          <a:chExt cx="0" cy="0"/>
        </a:xfrm>
      </p:grpSpPr>
      <p:sp>
        <p:nvSpPr>
          <p:cNvPr id="1048633" name="Title 1"/>
          <p:cNvSpPr>
            <a:spLocks noGrp="1"/>
          </p:cNvSpPr>
          <p:nvPr>
            <p:ph type="title"/>
          </p:nvPr>
        </p:nvSpPr>
        <p:spPr/>
        <p:txBody>
          <a:bodyPr/>
          <a:p>
            <a:pPr algn="ctr"/>
            <a:r>
              <a:rPr b="1" dirty="0" lang="en">
                <a:latin typeface="Times New Roman"/>
                <a:ea typeface="Times New Roman"/>
                <a:cs typeface="Times New Roman"/>
                <a:sym typeface="Times New Roman"/>
              </a:rPr>
              <a:t>Motion </a:t>
            </a:r>
            <a:r>
              <a:rPr b="1" dirty="0" i="1" lang="en">
                <a:latin typeface="Times New Roman"/>
                <a:ea typeface="Times New Roman"/>
                <a:cs typeface="Times New Roman"/>
                <a:sym typeface="Times New Roman"/>
              </a:rPr>
              <a:t>Ex-parte</a:t>
            </a:r>
            <a:endParaRPr dirty="0" lang="en-US"/>
          </a:p>
        </p:txBody>
      </p:sp>
      <p:sp>
        <p:nvSpPr>
          <p:cNvPr id="1048634" name="Content Placeholder 2"/>
          <p:cNvSpPr>
            <a:spLocks noGrp="1"/>
          </p:cNvSpPr>
          <p:nvPr>
            <p:ph idx="1"/>
          </p:nvPr>
        </p:nvSpPr>
        <p:spPr/>
        <p:txBody>
          <a:bodyPr/>
          <a:p>
            <a:r>
              <a:rPr dirty="0" lang="en-US">
                <a:latin typeface="Times New Roman"/>
                <a:ea typeface="Times New Roman"/>
                <a:cs typeface="Times New Roman"/>
                <a:sym typeface="Times New Roman"/>
              </a:rPr>
              <a:t>It is an application for an order of court without the notice of the other party to the suit. Even where the party to be affected is in court he cannot respond to same. See </a:t>
            </a:r>
            <a:r>
              <a:rPr b="1" dirty="0" lang="en-US">
                <a:latin typeface="Times New Roman"/>
                <a:ea typeface="Times New Roman"/>
                <a:cs typeface="Times New Roman"/>
                <a:sym typeface="Times New Roman"/>
              </a:rPr>
              <a:t>7-UP BOTTLING CO. V ABIOLA &amp; SONS LTD (1995)2 SCNJ37, GOMBE V. PW NIG LTD (1995) 2 SCNJ 37. </a:t>
            </a:r>
          </a:p>
          <a:p>
            <a:endParaRPr dirty="0"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35" name=""/>
        <p:cNvGrpSpPr/>
        <p:nvPr/>
      </p:nvGrpSpPr>
      <p:grpSpPr>
        <a:xfrm>
          <a:off x="0" y="0"/>
          <a:ext cx="0" cy="0"/>
          <a:chOff x="0" y="0"/>
          <a:chExt cx="0" cy="0"/>
        </a:xfrm>
      </p:grpSpPr>
      <p:sp>
        <p:nvSpPr>
          <p:cNvPr id="1048635" name="Title 1"/>
          <p:cNvSpPr>
            <a:spLocks noGrp="1"/>
          </p:cNvSpPr>
          <p:nvPr>
            <p:ph type="title"/>
          </p:nvPr>
        </p:nvSpPr>
        <p:spPr/>
        <p:txBody>
          <a:bodyPr/>
          <a:p>
            <a:pPr algn="ctr"/>
            <a:r>
              <a:rPr b="1" dirty="0" lang="en-GB"/>
              <a:t>When to use Motion Ex parte</a:t>
            </a:r>
            <a:endParaRPr b="1" dirty="0" lang="en-US"/>
          </a:p>
        </p:txBody>
      </p:sp>
      <p:sp>
        <p:nvSpPr>
          <p:cNvPr id="1048636" name="Content Placeholder 2"/>
          <p:cNvSpPr>
            <a:spLocks noGrp="1"/>
          </p:cNvSpPr>
          <p:nvPr>
            <p:ph idx="1"/>
          </p:nvPr>
        </p:nvSpPr>
        <p:spPr/>
        <p:txBody>
          <a:bodyPr/>
          <a:p>
            <a:pPr indent="0" marL="0">
              <a:spcBef>
                <a:spcPts val="0"/>
              </a:spcBef>
              <a:buClr>
                <a:schemeClr val="dk1"/>
              </a:buClr>
              <a:buSzPts val="3600"/>
              <a:buNone/>
            </a:pPr>
            <a:r>
              <a:rPr dirty="0" i="1" lang="en-US">
                <a:latin typeface="Times New Roman"/>
                <a:ea typeface="Times New Roman"/>
                <a:cs typeface="Times New Roman"/>
                <a:sym typeface="Times New Roman"/>
              </a:rPr>
              <a:t>Ex parte </a:t>
            </a:r>
            <a:r>
              <a:rPr dirty="0" lang="en-US">
                <a:latin typeface="Times New Roman"/>
                <a:ea typeface="Times New Roman"/>
                <a:cs typeface="Times New Roman"/>
                <a:sym typeface="Times New Roman"/>
              </a:rPr>
              <a:t>applications are normally permitted in two circumstances:</a:t>
            </a:r>
            <a:endParaRPr dirty="0" lang="en-US"/>
          </a:p>
          <a:p>
            <a:pPr indent="-457189" marL="457189">
              <a:spcBef>
                <a:spcPts val="960"/>
              </a:spcBef>
              <a:buClr>
                <a:schemeClr val="dk1"/>
              </a:buClr>
              <a:buSzPts val="3600"/>
              <a:buFont typeface="Noto Sans Symbols"/>
              <a:buChar char="⮚"/>
            </a:pPr>
            <a:r>
              <a:rPr dirty="0" lang="en-US">
                <a:latin typeface="Times New Roman"/>
                <a:ea typeface="Times New Roman"/>
                <a:cs typeface="Times New Roman"/>
                <a:sym typeface="Times New Roman"/>
              </a:rPr>
              <a:t>Where time is of the essence</a:t>
            </a:r>
            <a:endParaRPr dirty="0" lang="en-US"/>
          </a:p>
          <a:p>
            <a:pPr indent="-457189" marL="457189">
              <a:spcBef>
                <a:spcPts val="960"/>
              </a:spcBef>
              <a:buClr>
                <a:schemeClr val="dk1"/>
              </a:buClr>
              <a:buSzPts val="3600"/>
              <a:buFont typeface="Noto Sans Symbols"/>
              <a:buChar char="⮚"/>
            </a:pPr>
            <a:r>
              <a:rPr dirty="0" lang="en-US">
                <a:latin typeface="Times New Roman"/>
                <a:ea typeface="Times New Roman"/>
                <a:cs typeface="Times New Roman"/>
                <a:sym typeface="Times New Roman"/>
              </a:rPr>
              <a:t>Where from the nature of the application, the interest of the adverse party will not be affected negatively. </a:t>
            </a:r>
            <a:r>
              <a:rPr b="1" dirty="0" lang="en-US">
                <a:latin typeface="Times New Roman"/>
                <a:ea typeface="Times New Roman"/>
                <a:cs typeface="Times New Roman"/>
                <a:sym typeface="Times New Roman"/>
              </a:rPr>
              <a:t>See LEEDO PRESIDENTIAL MOTEL LTD V BANK OF THE NORTH LTD (1998)7 SCJN 328 </a:t>
            </a:r>
          </a:p>
          <a:p>
            <a:endParaRPr dirty="0"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36" name="Shape 195"/>
        <p:cNvGrpSpPr/>
        <p:nvPr/>
      </p:nvGrpSpPr>
      <p:grpSpPr>
        <a:xfrm>
          <a:off x="0" y="0"/>
          <a:ext cx="0" cy="0"/>
          <a:chOff x="0" y="0"/>
          <a:chExt cx="0" cy="0"/>
        </a:xfrm>
      </p:grpSpPr>
      <p:sp>
        <p:nvSpPr>
          <p:cNvPr id="1048637" name="Google Shape;197;p36"/>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400"/>
            </a:pPr>
            <a:r>
              <a:rPr b="1" dirty="0" sz="3733" lang="en">
                <a:latin typeface="Times New Roman"/>
                <a:ea typeface="Times New Roman"/>
                <a:cs typeface="Times New Roman"/>
                <a:sym typeface="Times New Roman"/>
              </a:rPr>
              <a:t>NOTE: </a:t>
            </a:r>
            <a:r>
              <a:rPr dirty="0" sz="3733" lang="en">
                <a:latin typeface="Times New Roman"/>
                <a:ea typeface="Times New Roman"/>
                <a:cs typeface="Times New Roman"/>
                <a:sym typeface="Times New Roman"/>
              </a:rPr>
              <a:t>no application for an injunction can be made </a:t>
            </a:r>
            <a:r>
              <a:rPr dirty="0" sz="3733" i="1" lang="en">
                <a:latin typeface="Times New Roman"/>
                <a:ea typeface="Times New Roman"/>
                <a:cs typeface="Times New Roman"/>
                <a:sym typeface="Times New Roman"/>
              </a:rPr>
              <a:t>ex </a:t>
            </a:r>
            <a:r>
              <a:rPr dirty="0" sz="3733" i="1" lang="en" err="1">
                <a:latin typeface="Times New Roman"/>
                <a:ea typeface="Times New Roman"/>
                <a:cs typeface="Times New Roman"/>
                <a:sym typeface="Times New Roman"/>
              </a:rPr>
              <a:t>parte</a:t>
            </a:r>
            <a:r>
              <a:rPr dirty="0" sz="3733" i="1" lang="en">
                <a:latin typeface="Times New Roman"/>
                <a:ea typeface="Times New Roman"/>
                <a:cs typeface="Times New Roman"/>
                <a:sym typeface="Times New Roman"/>
              </a:rPr>
              <a:t> </a:t>
            </a:r>
            <a:r>
              <a:rPr dirty="0" sz="3733" lang="en">
                <a:latin typeface="Times New Roman"/>
                <a:ea typeface="Times New Roman"/>
                <a:cs typeface="Times New Roman"/>
                <a:sym typeface="Times New Roman"/>
              </a:rPr>
              <a:t>except the applicant files with it a motion on notice. See </a:t>
            </a:r>
            <a:r>
              <a:rPr b="1" dirty="0" sz="3733" lang="en">
                <a:solidFill>
                  <a:srgbClr val="FF0000"/>
                </a:solidFill>
                <a:latin typeface="Times New Roman"/>
                <a:ea typeface="Times New Roman"/>
                <a:cs typeface="Times New Roman"/>
                <a:sym typeface="Times New Roman"/>
              </a:rPr>
              <a:t>O 30 R 3(1) </a:t>
            </a:r>
            <a:r>
              <a:rPr dirty="0" sz="3733" lang="en">
                <a:solidFill>
                  <a:srgbClr val="FF0000"/>
                </a:solidFill>
                <a:latin typeface="Times New Roman"/>
                <a:ea typeface="Times New Roman"/>
                <a:cs typeface="Times New Roman"/>
                <a:sym typeface="Times New Roman"/>
              </a:rPr>
              <a:t>Abuja</a:t>
            </a:r>
            <a:r>
              <a:rPr dirty="0" sz="3733" lang="en">
                <a:latin typeface="Times New Roman"/>
                <a:ea typeface="Times New Roman"/>
                <a:cs typeface="Times New Roman"/>
                <a:sym typeface="Times New Roman"/>
              </a:rPr>
              <a:t> and </a:t>
            </a:r>
            <a:r>
              <a:rPr b="1" dirty="0" sz="3733" lang="en">
                <a:latin typeface="Times New Roman"/>
                <a:ea typeface="Times New Roman"/>
                <a:cs typeface="Times New Roman"/>
                <a:sym typeface="Times New Roman"/>
              </a:rPr>
              <a:t>O 43 R 3(2) Lagos</a:t>
            </a:r>
            <a:endParaRPr b="1" dirty="0" sz="3733">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39" name="Shape 201"/>
        <p:cNvGrpSpPr/>
        <p:nvPr/>
      </p:nvGrpSpPr>
      <p:grpSpPr>
        <a:xfrm>
          <a:off x="0" y="0"/>
          <a:ext cx="0" cy="0"/>
          <a:chOff x="0" y="0"/>
          <a:chExt cx="0" cy="0"/>
        </a:xfrm>
      </p:grpSpPr>
      <p:sp>
        <p:nvSpPr>
          <p:cNvPr id="1048640" name="Google Shape;202;p37"/>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600"/>
            </a:pPr>
            <a:r>
              <a:rPr b="1" dirty="0" sz="4800" lang="en">
                <a:latin typeface="Times New Roman"/>
                <a:ea typeface="Times New Roman"/>
                <a:cs typeface="Times New Roman"/>
                <a:sym typeface="Times New Roman"/>
              </a:rPr>
              <a:t>Examples of Application that can be made by Motion Ex parte</a:t>
            </a:r>
            <a:endParaRPr dirty="0" sz="4800" i="1"/>
          </a:p>
        </p:txBody>
      </p:sp>
      <p:sp>
        <p:nvSpPr>
          <p:cNvPr id="1048641" name="Google Shape;203;p37"/>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buFont typeface="Noto Sans Symbols"/>
              <a:buChar char="✔"/>
            </a:pPr>
            <a:r>
              <a:rPr dirty="0" sz="2667" lang="en">
                <a:latin typeface="Times New Roman"/>
                <a:ea typeface="Times New Roman"/>
                <a:cs typeface="Times New Roman"/>
                <a:sym typeface="Times New Roman"/>
              </a:rPr>
              <a:t>Application for leave to bring a suit in a representative capacity</a:t>
            </a:r>
            <a:endParaRPr dirty="0" sz="2667"/>
          </a:p>
          <a:p>
            <a:pPr indent="-457189" marL="457189">
              <a:spcBef>
                <a:spcPts val="960"/>
              </a:spcBef>
              <a:buClr>
                <a:schemeClr val="dk1"/>
              </a:buClr>
              <a:buSzPts val="3600"/>
              <a:buFont typeface="Noto Sans Symbols"/>
              <a:buChar char="✔"/>
            </a:pPr>
            <a:r>
              <a:rPr dirty="0" sz="2667" lang="en">
                <a:latin typeface="Times New Roman"/>
                <a:ea typeface="Times New Roman"/>
                <a:cs typeface="Times New Roman"/>
                <a:sym typeface="Times New Roman"/>
              </a:rPr>
              <a:t>Application for substituted service</a:t>
            </a:r>
            <a:endParaRPr dirty="0" sz="2667"/>
          </a:p>
          <a:p>
            <a:pPr indent="-457189" marL="457189">
              <a:spcBef>
                <a:spcPts val="960"/>
              </a:spcBef>
              <a:buClr>
                <a:schemeClr val="dk1"/>
              </a:buClr>
              <a:buSzPts val="3600"/>
              <a:buFont typeface="Noto Sans Symbols"/>
              <a:buChar char="✔"/>
            </a:pPr>
            <a:r>
              <a:rPr dirty="0" sz="2667" lang="en">
                <a:latin typeface="Times New Roman"/>
                <a:ea typeface="Times New Roman"/>
                <a:cs typeface="Times New Roman"/>
                <a:sym typeface="Times New Roman"/>
              </a:rPr>
              <a:t>Application for interim injunction</a:t>
            </a:r>
            <a:endParaRPr dirty="0" sz="2667"/>
          </a:p>
          <a:p>
            <a:pPr indent="-457189" marL="457189">
              <a:spcBef>
                <a:spcPts val="960"/>
              </a:spcBef>
              <a:buClr>
                <a:schemeClr val="dk1"/>
              </a:buClr>
              <a:buSzPts val="3600"/>
              <a:buFont typeface="Noto Sans Symbols"/>
              <a:buChar char="✔"/>
            </a:pPr>
            <a:r>
              <a:rPr dirty="0" sz="2667" lang="en">
                <a:latin typeface="Times New Roman"/>
                <a:ea typeface="Times New Roman"/>
                <a:cs typeface="Times New Roman"/>
                <a:sym typeface="Times New Roman"/>
              </a:rPr>
              <a:t>Application to renew a writ</a:t>
            </a:r>
            <a:endParaRPr dirty="0" sz="2667"/>
          </a:p>
          <a:p>
            <a:pPr indent="-457189" marL="457189">
              <a:spcBef>
                <a:spcPts val="960"/>
              </a:spcBef>
              <a:buClr>
                <a:schemeClr val="dk1"/>
              </a:buClr>
              <a:buSzPts val="3600"/>
              <a:buFont typeface="Noto Sans Symbols"/>
              <a:buChar char="✔"/>
            </a:pPr>
            <a:r>
              <a:rPr dirty="0" sz="2667" lang="en">
                <a:latin typeface="Times New Roman"/>
                <a:ea typeface="Times New Roman"/>
                <a:cs typeface="Times New Roman"/>
                <a:sym typeface="Times New Roman"/>
              </a:rPr>
              <a:t>Application for garnishee order nisi</a:t>
            </a:r>
            <a:endParaRPr dirty="0" sz="2667"/>
          </a:p>
          <a:p>
            <a:pPr indent="-457189" marL="457189">
              <a:spcBef>
                <a:spcPts val="960"/>
              </a:spcBef>
              <a:buClr>
                <a:schemeClr val="dk1"/>
              </a:buClr>
              <a:buSzPts val="3600"/>
              <a:buFont typeface="Noto Sans Symbols"/>
              <a:buChar char="✔"/>
            </a:pPr>
            <a:r>
              <a:rPr dirty="0" sz="2667" lang="en">
                <a:latin typeface="Times New Roman"/>
                <a:ea typeface="Times New Roman"/>
                <a:cs typeface="Times New Roman"/>
                <a:sym typeface="Times New Roman"/>
              </a:rPr>
              <a:t>Anton pillar injunction</a:t>
            </a:r>
            <a:endParaRPr dirty="0" sz="2667"/>
          </a:p>
          <a:p>
            <a:pPr indent="-457189" marL="457189">
              <a:spcBef>
                <a:spcPts val="960"/>
              </a:spcBef>
              <a:buClr>
                <a:schemeClr val="dk1"/>
              </a:buClr>
              <a:buSzPts val="3600"/>
              <a:buFont typeface="Noto Sans Symbols"/>
              <a:buChar char="✔"/>
            </a:pPr>
            <a:r>
              <a:rPr dirty="0" sz="2667" lang="en" err="1">
                <a:latin typeface="Times New Roman"/>
                <a:ea typeface="Times New Roman"/>
                <a:cs typeface="Times New Roman"/>
                <a:sym typeface="Times New Roman"/>
              </a:rPr>
              <a:t>Mareva</a:t>
            </a:r>
            <a:r>
              <a:rPr dirty="0" sz="2667" lang="en">
                <a:latin typeface="Times New Roman"/>
                <a:ea typeface="Times New Roman"/>
                <a:cs typeface="Times New Roman"/>
                <a:sym typeface="Times New Roman"/>
              </a:rPr>
              <a:t> injunction etc.</a:t>
            </a:r>
            <a:endParaRPr dirty="0" sz="2667"/>
          </a:p>
          <a:p>
            <a:pPr indent="-152396" marL="457189">
              <a:spcBef>
                <a:spcPts val="960"/>
              </a:spcBef>
              <a:buClr>
                <a:schemeClr val="dk1"/>
              </a:buClr>
              <a:buSzPts val="3600"/>
              <a:buNone/>
            </a:pPr>
            <a:endParaRPr dirty="0" sz="2667"/>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42" name="Shape 207"/>
        <p:cNvGrpSpPr/>
        <p:nvPr/>
      </p:nvGrpSpPr>
      <p:grpSpPr>
        <a:xfrm>
          <a:off x="0" y="0"/>
          <a:ext cx="0" cy="0"/>
          <a:chOff x="0" y="0"/>
          <a:chExt cx="0" cy="0"/>
        </a:xfrm>
      </p:grpSpPr>
      <p:sp>
        <p:nvSpPr>
          <p:cNvPr id="1048644" name="Google Shape;208;p38"/>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b="1" dirty="0" sz="4267" lang="en">
                <a:latin typeface="Times New Roman"/>
                <a:ea typeface="Times New Roman"/>
                <a:cs typeface="Times New Roman"/>
                <a:sym typeface="Times New Roman"/>
              </a:rPr>
              <a:t>Orders the Court may make after hearing Ex parte Application</a:t>
            </a:r>
            <a:endParaRPr b="1" dirty="0" sz="4267">
              <a:latin typeface="Times New Roman"/>
              <a:ea typeface="Times New Roman"/>
              <a:cs typeface="Times New Roman"/>
              <a:sym typeface="Times New Roman"/>
            </a:endParaRPr>
          </a:p>
        </p:txBody>
      </p:sp>
      <p:sp>
        <p:nvSpPr>
          <p:cNvPr id="1048645" name="Google Shape;209;p38"/>
          <p:cNvSpPr txBox="1">
            <a:spLocks noGrp="1"/>
          </p:cNvSpPr>
          <p:nvPr>
            <p:ph idx="1"/>
          </p:nvPr>
        </p:nvSpPr>
        <p:spPr>
          <a:xfrm>
            <a:off x="609600" y="2106705"/>
            <a:ext cx="10972800" cy="42972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400"/>
              <a:buFont typeface="Noto Sans Symbols"/>
              <a:buChar char="⮚"/>
            </a:pPr>
            <a:r>
              <a:rPr dirty="0" sz="2667" lang="en">
                <a:latin typeface="Times New Roman"/>
                <a:ea typeface="Times New Roman"/>
                <a:cs typeface="Times New Roman"/>
                <a:sym typeface="Times New Roman"/>
              </a:rPr>
              <a:t>Grant the application</a:t>
            </a:r>
            <a:endParaRPr dirty="0" sz="2667"/>
          </a:p>
          <a:p>
            <a:pPr indent="-457189" marL="457189">
              <a:spcBef>
                <a:spcPts val="907"/>
              </a:spcBef>
              <a:buClr>
                <a:schemeClr val="dk1"/>
              </a:buClr>
              <a:buSzPts val="3400"/>
              <a:buFont typeface="Noto Sans Symbols"/>
              <a:buChar char="⮚"/>
            </a:pPr>
            <a:r>
              <a:rPr dirty="0" sz="2667" lang="en">
                <a:latin typeface="Times New Roman"/>
                <a:ea typeface="Times New Roman"/>
                <a:cs typeface="Times New Roman"/>
                <a:sym typeface="Times New Roman"/>
              </a:rPr>
              <a:t>Refuse the application</a:t>
            </a:r>
            <a:endParaRPr dirty="0" sz="2667"/>
          </a:p>
          <a:p>
            <a:pPr indent="-457189" marL="457189">
              <a:spcBef>
                <a:spcPts val="907"/>
              </a:spcBef>
              <a:buClr>
                <a:schemeClr val="dk1"/>
              </a:buClr>
              <a:buSzPts val="3400"/>
              <a:buFont typeface="Noto Sans Symbols"/>
              <a:buChar char="⮚"/>
            </a:pPr>
            <a:r>
              <a:rPr dirty="0" sz="2667" lang="en">
                <a:latin typeface="Times New Roman"/>
                <a:ea typeface="Times New Roman"/>
                <a:cs typeface="Times New Roman"/>
                <a:sym typeface="Times New Roman"/>
              </a:rPr>
              <a:t>Direct that the motion be served on the other party</a:t>
            </a:r>
            <a:endParaRPr dirty="0" sz="2667"/>
          </a:p>
          <a:p>
            <a:pPr indent="-457189" marL="457189">
              <a:spcBef>
                <a:spcPts val="907"/>
              </a:spcBef>
              <a:buClr>
                <a:schemeClr val="dk1"/>
              </a:buClr>
              <a:buSzPts val="3400"/>
              <a:buFont typeface="Noto Sans Symbols"/>
              <a:buChar char="⮚"/>
            </a:pPr>
            <a:r>
              <a:rPr dirty="0" sz="2667" lang="en">
                <a:latin typeface="Times New Roman"/>
                <a:ea typeface="Times New Roman"/>
                <a:cs typeface="Times New Roman"/>
                <a:sym typeface="Times New Roman"/>
              </a:rPr>
              <a:t>Order that the party sought to be affected appear in court within a given time and show cause why the order should not be granted.</a:t>
            </a:r>
            <a:endParaRPr dirty="0" sz="2667"/>
          </a:p>
          <a:p>
            <a:pPr indent="0" marL="0">
              <a:spcBef>
                <a:spcPts val="907"/>
              </a:spcBef>
              <a:buClr>
                <a:schemeClr val="dk1"/>
              </a:buClr>
              <a:buSzPts val="3400"/>
              <a:buNone/>
            </a:pPr>
            <a:r>
              <a:rPr dirty="0" sz="2667" lang="en">
                <a:latin typeface="Times New Roman"/>
                <a:ea typeface="Times New Roman"/>
                <a:cs typeface="Times New Roman"/>
                <a:sym typeface="Times New Roman"/>
              </a:rPr>
              <a:t>See </a:t>
            </a:r>
            <a:r>
              <a:rPr b="1" dirty="0" sz="2667" lang="en">
                <a:solidFill>
                  <a:srgbClr val="FF0000"/>
                </a:solidFill>
                <a:latin typeface="Times New Roman"/>
                <a:ea typeface="Times New Roman"/>
                <a:cs typeface="Times New Roman"/>
                <a:sym typeface="Times New Roman"/>
              </a:rPr>
              <a:t>O 30 R 7 </a:t>
            </a:r>
            <a:r>
              <a:rPr dirty="0" sz="2667" lang="en">
                <a:solidFill>
                  <a:srgbClr val="FF0000"/>
                </a:solidFill>
                <a:latin typeface="Times New Roman"/>
                <a:ea typeface="Times New Roman"/>
                <a:cs typeface="Times New Roman"/>
                <a:sym typeface="Times New Roman"/>
              </a:rPr>
              <a:t>Abuja</a:t>
            </a:r>
            <a:r>
              <a:rPr dirty="0" sz="2667" lang="en">
                <a:latin typeface="Times New Roman"/>
                <a:ea typeface="Times New Roman"/>
                <a:cs typeface="Times New Roman"/>
                <a:sym typeface="Times New Roman"/>
              </a:rPr>
              <a:t>, </a:t>
            </a:r>
            <a:r>
              <a:rPr b="1" dirty="0" sz="2667" lang="en">
                <a:latin typeface="Times New Roman"/>
                <a:ea typeface="Times New Roman"/>
                <a:cs typeface="Times New Roman"/>
                <a:sym typeface="Times New Roman"/>
              </a:rPr>
              <a:t>O 43 R 5 </a:t>
            </a:r>
            <a:r>
              <a:rPr dirty="0" sz="2667" lang="en">
                <a:latin typeface="Times New Roman"/>
                <a:ea typeface="Times New Roman"/>
                <a:cs typeface="Times New Roman"/>
                <a:sym typeface="Times New Roman"/>
              </a:rPr>
              <a:t>Lagos.</a:t>
            </a:r>
            <a:endParaRPr dirty="0" sz="2667">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45" name="Shape 213"/>
        <p:cNvGrpSpPr/>
        <p:nvPr/>
      </p:nvGrpSpPr>
      <p:grpSpPr>
        <a:xfrm>
          <a:off x="0" y="0"/>
          <a:ext cx="0" cy="0"/>
          <a:chOff x="0" y="0"/>
          <a:chExt cx="0" cy="0"/>
        </a:xfrm>
      </p:grpSpPr>
      <p:sp>
        <p:nvSpPr>
          <p:cNvPr id="1048648" name="Google Shape;214;p39"/>
          <p:cNvSpPr txBox="1">
            <a:spLocks noGrp="1"/>
          </p:cNvSpPr>
          <p:nvPr>
            <p:ph type="title"/>
          </p:nvPr>
        </p:nvSpPr>
        <p:spPr>
          <a:xfrm>
            <a:off x="609600" y="-36059"/>
            <a:ext cx="10972800" cy="1143200"/>
          </a:xfrm>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b="1" dirty="0" sz="4267" lang="en">
                <a:latin typeface="Times New Roman"/>
                <a:ea typeface="Times New Roman"/>
                <a:cs typeface="Times New Roman"/>
                <a:sym typeface="Times New Roman"/>
              </a:rPr>
              <a:t>Life Span of Ex parte Order</a:t>
            </a:r>
            <a:endParaRPr b="1" dirty="0" sz="4267">
              <a:latin typeface="Times New Roman"/>
              <a:ea typeface="Times New Roman"/>
              <a:cs typeface="Times New Roman"/>
              <a:sym typeface="Times New Roman"/>
            </a:endParaRPr>
          </a:p>
        </p:txBody>
      </p:sp>
      <p:sp>
        <p:nvSpPr>
          <p:cNvPr id="1048649" name="Google Shape;215;p39"/>
          <p:cNvSpPr txBox="1">
            <a:spLocks noGrp="1"/>
          </p:cNvSpPr>
          <p:nvPr>
            <p:ph idx="1"/>
          </p:nvPr>
        </p:nvSpPr>
        <p:spPr>
          <a:xfrm>
            <a:off x="609600" y="1107141"/>
            <a:ext cx="11277600" cy="50592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000"/>
            </a:pPr>
            <a:r>
              <a:rPr dirty="0" sz="3733" lang="en">
                <a:latin typeface="Times New Roman"/>
                <a:ea typeface="Times New Roman"/>
                <a:cs typeface="Times New Roman"/>
                <a:sym typeface="Times New Roman"/>
              </a:rPr>
              <a:t>Any order obtained </a:t>
            </a:r>
            <a:r>
              <a:rPr dirty="0" sz="3733" i="1" lang="en">
                <a:latin typeface="Times New Roman"/>
                <a:ea typeface="Times New Roman"/>
                <a:cs typeface="Times New Roman"/>
                <a:sym typeface="Times New Roman"/>
              </a:rPr>
              <a:t>ex </a:t>
            </a:r>
            <a:r>
              <a:rPr dirty="0" sz="3733" i="1" lang="en" err="1">
                <a:latin typeface="Times New Roman"/>
                <a:ea typeface="Times New Roman"/>
                <a:cs typeface="Times New Roman"/>
                <a:sym typeface="Times New Roman"/>
              </a:rPr>
              <a:t>parte</a:t>
            </a:r>
            <a:r>
              <a:rPr dirty="0" sz="3733" i="1" lang="en">
                <a:latin typeface="Times New Roman"/>
                <a:ea typeface="Times New Roman"/>
                <a:cs typeface="Times New Roman"/>
                <a:sym typeface="Times New Roman"/>
              </a:rPr>
              <a:t> </a:t>
            </a:r>
            <a:r>
              <a:rPr dirty="0" sz="3733" lang="en">
                <a:latin typeface="Times New Roman"/>
                <a:ea typeface="Times New Roman"/>
                <a:cs typeface="Times New Roman"/>
                <a:sym typeface="Times New Roman"/>
              </a:rPr>
              <a:t>is expected to last for a short period.</a:t>
            </a:r>
            <a:endParaRPr dirty="0" sz="3733"/>
          </a:p>
          <a:p>
            <a:pPr indent="-457189" marL="457189">
              <a:spcBef>
                <a:spcPts val="1067"/>
              </a:spcBef>
              <a:buClr>
                <a:schemeClr val="dk1"/>
              </a:buClr>
              <a:buSzPts val="4000"/>
            </a:pPr>
            <a:r>
              <a:rPr dirty="0" sz="3733" lang="en">
                <a:latin typeface="Times New Roman"/>
                <a:ea typeface="Times New Roman"/>
                <a:cs typeface="Times New Roman"/>
                <a:sym typeface="Times New Roman"/>
              </a:rPr>
              <a:t>In Lagos and Abuja, it shall abate after 7 days see </a:t>
            </a:r>
            <a:r>
              <a:rPr b="1" dirty="0" sz="3733" lang="en">
                <a:latin typeface="Times New Roman"/>
                <a:ea typeface="Times New Roman"/>
                <a:cs typeface="Times New Roman"/>
                <a:sym typeface="Times New Roman"/>
              </a:rPr>
              <a:t>O 43 R 3(3)</a:t>
            </a:r>
            <a:r>
              <a:rPr dirty="0" sz="3733" lang="en">
                <a:latin typeface="Times New Roman"/>
                <a:ea typeface="Times New Roman"/>
                <a:cs typeface="Times New Roman"/>
                <a:sym typeface="Times New Roman"/>
              </a:rPr>
              <a:t>Lagos</a:t>
            </a:r>
            <a:r>
              <a:rPr b="1" dirty="0" sz="3733" lang="en">
                <a:latin typeface="Times New Roman"/>
                <a:ea typeface="Times New Roman"/>
                <a:cs typeface="Times New Roman"/>
                <a:sym typeface="Times New Roman"/>
              </a:rPr>
              <a:t> </a:t>
            </a:r>
            <a:r>
              <a:rPr dirty="0" sz="3733" lang="en">
                <a:latin typeface="Times New Roman"/>
                <a:ea typeface="Times New Roman"/>
                <a:cs typeface="Times New Roman"/>
                <a:sym typeface="Times New Roman"/>
              </a:rPr>
              <a:t>and</a:t>
            </a:r>
            <a:r>
              <a:rPr b="1" dirty="0" sz="3733" lang="en">
                <a:latin typeface="Times New Roman"/>
                <a:ea typeface="Times New Roman"/>
                <a:cs typeface="Times New Roman"/>
                <a:sym typeface="Times New Roman"/>
              </a:rPr>
              <a:t> </a:t>
            </a:r>
            <a:r>
              <a:rPr b="1" dirty="0" sz="3733" lang="en">
                <a:solidFill>
                  <a:srgbClr val="FF0000"/>
                </a:solidFill>
                <a:latin typeface="Times New Roman"/>
                <a:ea typeface="Times New Roman"/>
                <a:cs typeface="Times New Roman"/>
                <a:sym typeface="Times New Roman"/>
              </a:rPr>
              <a:t>O 30 3(2) </a:t>
            </a:r>
            <a:r>
              <a:rPr dirty="0" sz="3733" lang="en">
                <a:solidFill>
                  <a:srgbClr val="FF0000"/>
                </a:solidFill>
                <a:latin typeface="Times New Roman"/>
                <a:ea typeface="Times New Roman"/>
                <a:cs typeface="Times New Roman"/>
                <a:sym typeface="Times New Roman"/>
              </a:rPr>
              <a:t>Abuja</a:t>
            </a:r>
            <a:r>
              <a:rPr dirty="0" sz="3733" lang="en">
                <a:latin typeface="Times New Roman"/>
                <a:ea typeface="Times New Roman"/>
                <a:cs typeface="Times New Roman"/>
                <a:sym typeface="Times New Roman"/>
              </a:rPr>
              <a:t>. </a:t>
            </a:r>
            <a:endParaRPr dirty="0" sz="3733"/>
          </a:p>
          <a:p>
            <a:pPr indent="-457189" marL="457189">
              <a:spcBef>
                <a:spcPts val="1067"/>
              </a:spcBef>
              <a:buClr>
                <a:schemeClr val="dk1"/>
              </a:buClr>
              <a:buSzPts val="4000"/>
            </a:pPr>
            <a:r>
              <a:rPr dirty="0" sz="3733" lang="en">
                <a:latin typeface="Times New Roman"/>
                <a:ea typeface="Times New Roman"/>
                <a:cs typeface="Times New Roman"/>
                <a:sym typeface="Times New Roman"/>
              </a:rPr>
              <a:t>However, </a:t>
            </a:r>
            <a:r>
              <a:rPr b="1" dirty="0" sz="3733" lang="en">
                <a:latin typeface="Times New Roman"/>
                <a:ea typeface="Times New Roman"/>
                <a:cs typeface="Times New Roman"/>
                <a:sym typeface="Times New Roman"/>
              </a:rPr>
              <a:t>O 43 R3(4) </a:t>
            </a:r>
            <a:r>
              <a:rPr dirty="0" sz="3733" lang="en">
                <a:latin typeface="Times New Roman"/>
                <a:ea typeface="Times New Roman"/>
                <a:cs typeface="Times New Roman"/>
                <a:sym typeface="Times New Roman"/>
              </a:rPr>
              <a:t>Lagos and </a:t>
            </a:r>
            <a:r>
              <a:rPr b="1" dirty="0" sz="3733" lang="en">
                <a:solidFill>
                  <a:srgbClr val="FF0000"/>
                </a:solidFill>
                <a:latin typeface="Times New Roman"/>
                <a:ea typeface="Times New Roman"/>
                <a:cs typeface="Times New Roman"/>
                <a:sym typeface="Times New Roman"/>
              </a:rPr>
              <a:t>O 30 R 3 (3) </a:t>
            </a:r>
            <a:r>
              <a:rPr dirty="0" sz="3733" lang="en">
                <a:solidFill>
                  <a:srgbClr val="FF0000"/>
                </a:solidFill>
                <a:latin typeface="Times New Roman"/>
                <a:ea typeface="Times New Roman"/>
                <a:cs typeface="Times New Roman"/>
                <a:sym typeface="Times New Roman"/>
              </a:rPr>
              <a:t>Abuja</a:t>
            </a:r>
            <a:r>
              <a:rPr b="1" dirty="0" sz="3733" lang="en">
                <a:solidFill>
                  <a:srgbClr val="FF0000"/>
                </a:solidFill>
                <a:latin typeface="Times New Roman"/>
                <a:ea typeface="Times New Roman"/>
                <a:cs typeface="Times New Roman"/>
                <a:sym typeface="Times New Roman"/>
              </a:rPr>
              <a:t> </a:t>
            </a:r>
            <a:r>
              <a:rPr dirty="0" sz="3733" lang="en">
                <a:latin typeface="Times New Roman"/>
                <a:ea typeface="Times New Roman"/>
                <a:cs typeface="Times New Roman"/>
                <a:sym typeface="Times New Roman"/>
              </a:rPr>
              <a:t>gives the judge power to extend the period where necessary, but such extension shall not exceed 7 days.</a:t>
            </a:r>
            <a:endParaRPr dirty="0" sz="3733"/>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48" name="Shape 219"/>
        <p:cNvGrpSpPr/>
        <p:nvPr/>
      </p:nvGrpSpPr>
      <p:grpSpPr>
        <a:xfrm>
          <a:off x="0" y="0"/>
          <a:ext cx="0" cy="0"/>
          <a:chOff x="0" y="0"/>
          <a:chExt cx="0" cy="0"/>
        </a:xfrm>
      </p:grpSpPr>
      <p:sp>
        <p:nvSpPr>
          <p:cNvPr id="1048652" name="Google Shape;220;p40"/>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Motion on Notice</a:t>
            </a:r>
            <a:endParaRPr b="1" dirty="0">
              <a:latin typeface="Times New Roman"/>
              <a:ea typeface="Times New Roman"/>
              <a:cs typeface="Times New Roman"/>
              <a:sym typeface="Times New Roman"/>
            </a:endParaRPr>
          </a:p>
        </p:txBody>
      </p:sp>
      <p:sp>
        <p:nvSpPr>
          <p:cNvPr id="1048653" name="Google Shape;221;p40"/>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400"/>
            </a:pPr>
            <a:r>
              <a:rPr dirty="0" sz="3733" lang="en">
                <a:latin typeface="Times New Roman"/>
                <a:ea typeface="Times New Roman"/>
                <a:cs typeface="Times New Roman"/>
                <a:sym typeface="Times New Roman"/>
              </a:rPr>
              <a:t>A motion on notice is one which is served on the other party and asking him to appear in court on a named date for the hearing of same. Personal service of motion is not required unlike originating processes.</a:t>
            </a:r>
            <a:endParaRPr dirty="0" sz="3733"/>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51" name="Shape 225"/>
        <p:cNvGrpSpPr/>
        <p:nvPr/>
      </p:nvGrpSpPr>
      <p:grpSpPr>
        <a:xfrm>
          <a:off x="0" y="0"/>
          <a:ext cx="0" cy="0"/>
          <a:chOff x="0" y="0"/>
          <a:chExt cx="0" cy="0"/>
        </a:xfrm>
      </p:grpSpPr>
      <p:sp>
        <p:nvSpPr>
          <p:cNvPr id="1048656" name="Google Shape;226;p41"/>
          <p:cNvSpPr txBox="1">
            <a:spLocks noGrp="1"/>
          </p:cNvSpPr>
          <p:nvPr>
            <p:ph type="title"/>
          </p:nvPr>
        </p:nvSpPr>
        <p:spPr>
          <a:xfrm>
            <a:off x="838200" y="179926"/>
            <a:ext cx="10515600" cy="734470"/>
          </a:xfrm>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Service of Motion on Notice</a:t>
            </a:r>
            <a:endParaRPr b="1" dirty="0">
              <a:latin typeface="Times New Roman"/>
              <a:ea typeface="Times New Roman"/>
              <a:cs typeface="Times New Roman"/>
              <a:sym typeface="Times New Roman"/>
            </a:endParaRPr>
          </a:p>
        </p:txBody>
      </p:sp>
      <p:sp>
        <p:nvSpPr>
          <p:cNvPr id="1048657" name="Google Shape;227;p41"/>
          <p:cNvSpPr txBox="1">
            <a:spLocks noGrp="1"/>
          </p:cNvSpPr>
          <p:nvPr>
            <p:ph idx="1"/>
          </p:nvPr>
        </p:nvSpPr>
        <p:spPr>
          <a:xfrm>
            <a:off x="838200" y="995423"/>
            <a:ext cx="10515600" cy="5181540"/>
          </a:xfrm>
          <a:prstGeom prst="rect"/>
          <a:noFill/>
          <a:ln>
            <a:noFill/>
          </a:ln>
        </p:spPr>
        <p:txBody>
          <a:bodyPr anchor="t" anchorCtr="0" bIns="60933" lIns="121900" rIns="121900" rtlCol="0" spcFirstLastPara="1" tIns="60933" vert="horz" wrap="square">
            <a:noAutofit/>
          </a:bodyPr>
          <a:p>
            <a:pPr>
              <a:spcBef>
                <a:spcPts val="0"/>
              </a:spcBef>
              <a:buClr>
                <a:schemeClr val="dk1"/>
              </a:buClr>
              <a:buSzPts val="3600"/>
              <a:buFont typeface="Wingdings" panose="05000000000000000000" pitchFamily="2" charset="2"/>
              <a:buChar char="Ø"/>
            </a:pPr>
            <a:r>
              <a:rPr b="1" dirty="0" sz="4400" lang="en">
                <a:latin typeface="Times New Roman" panose="02020603050405020304" pitchFamily="18" charset="0"/>
                <a:ea typeface="Times New Roman"/>
                <a:cs typeface="Times New Roman" panose="02020603050405020304" pitchFamily="18" charset="0"/>
                <a:sym typeface="Times New Roman"/>
              </a:rPr>
              <a:t>In Abuja</a:t>
            </a:r>
            <a:r>
              <a:rPr dirty="0" sz="4400" lang="en">
                <a:latin typeface="Times New Roman" panose="02020603050405020304" pitchFamily="18" charset="0"/>
                <a:ea typeface="Times New Roman"/>
                <a:cs typeface="Times New Roman" panose="02020603050405020304" pitchFamily="18" charset="0"/>
                <a:sym typeface="Times New Roman"/>
              </a:rPr>
              <a:t>, there shall be at least 2 clear days between the date of service and hearing except there is leave of court to the contrary. </a:t>
            </a:r>
            <a:r>
              <a:rPr b="1" dirty="0" sz="4400" lang="en">
                <a:solidFill>
                  <a:srgbClr val="FF0000"/>
                </a:solidFill>
                <a:latin typeface="Times New Roman" panose="02020603050405020304" pitchFamily="18" charset="0"/>
                <a:ea typeface="Times New Roman"/>
                <a:cs typeface="Times New Roman" panose="02020603050405020304" pitchFamily="18" charset="0"/>
                <a:sym typeface="Times New Roman"/>
              </a:rPr>
              <a:t>O 30 R6 Abuja</a:t>
            </a:r>
            <a:endParaRPr b="1" dirty="0" sz="4400">
              <a:solidFill>
                <a:srgbClr val="FF0000"/>
              </a:solidFill>
              <a:latin typeface="Times New Roman" panose="02020603050405020304" pitchFamily="18" charset="0"/>
              <a:cs typeface="Times New Roman" panose="02020603050405020304" pitchFamily="18" charset="0"/>
            </a:endParaRPr>
          </a:p>
          <a:p>
            <a:pPr>
              <a:spcBef>
                <a:spcPts val="960"/>
              </a:spcBef>
              <a:buClr>
                <a:schemeClr val="dk1"/>
              </a:buClr>
              <a:buSzPts val="3600"/>
              <a:buFont typeface="Wingdings" panose="05000000000000000000" pitchFamily="2" charset="2"/>
              <a:buChar char="Ø"/>
            </a:pPr>
            <a:r>
              <a:rPr dirty="0" sz="4400" lang="en">
                <a:latin typeface="Times New Roman" panose="02020603050405020304" pitchFamily="18" charset="0"/>
                <a:ea typeface="Times New Roman"/>
                <a:cs typeface="Times New Roman" panose="02020603050405020304" pitchFamily="18" charset="0"/>
                <a:sym typeface="Times New Roman"/>
              </a:rPr>
              <a:t>The respondent is expected to file counter affidavit within 7 days. </a:t>
            </a:r>
            <a:r>
              <a:rPr b="1" dirty="0" sz="4400" lang="en">
                <a:solidFill>
                  <a:srgbClr val="FF0000"/>
                </a:solidFill>
                <a:latin typeface="Times New Roman" panose="02020603050405020304" pitchFamily="18" charset="0"/>
                <a:ea typeface="Times New Roman"/>
                <a:cs typeface="Times New Roman" panose="02020603050405020304" pitchFamily="18" charset="0"/>
                <a:sym typeface="Times New Roman"/>
              </a:rPr>
              <a:t>O 30 R 1(3) ABJ</a:t>
            </a:r>
            <a:endParaRPr dirty="0" sz="4400">
              <a:solidFill>
                <a:srgbClr val="FF0000"/>
              </a:solidFill>
              <a:latin typeface="Times New Roman" panose="02020603050405020304" pitchFamily="18" charset="0"/>
              <a:cs typeface="Times New Roman" panose="02020603050405020304" pitchFamily="18" charset="0"/>
            </a:endParaRPr>
          </a:p>
          <a:p>
            <a:pPr>
              <a:spcBef>
                <a:spcPts val="960"/>
              </a:spcBef>
              <a:buClr>
                <a:schemeClr val="dk1"/>
              </a:buClr>
              <a:buSzPts val="3600"/>
              <a:buFont typeface="Wingdings" panose="05000000000000000000" pitchFamily="2" charset="2"/>
              <a:buChar char="Ø"/>
            </a:pPr>
            <a:r>
              <a:rPr dirty="0" sz="4400" lang="en">
                <a:latin typeface="Times New Roman" panose="02020603050405020304" pitchFamily="18" charset="0"/>
                <a:ea typeface="Times New Roman"/>
                <a:cs typeface="Times New Roman" panose="02020603050405020304" pitchFamily="18" charset="0"/>
                <a:sym typeface="Times New Roman"/>
              </a:rPr>
              <a:t>The Applicant has 7 days to file reply if any. See</a:t>
            </a:r>
            <a:r>
              <a:rPr b="1" dirty="0" sz="4400" lang="en">
                <a:latin typeface="Times New Roman" panose="02020603050405020304" pitchFamily="18" charset="0"/>
                <a:ea typeface="Times New Roman"/>
                <a:cs typeface="Times New Roman" panose="02020603050405020304" pitchFamily="18" charset="0"/>
                <a:sym typeface="Times New Roman"/>
              </a:rPr>
              <a:t> </a:t>
            </a:r>
            <a:r>
              <a:rPr b="1" dirty="0" sz="4400" lang="en">
                <a:solidFill>
                  <a:srgbClr val="FF0000"/>
                </a:solidFill>
                <a:latin typeface="Times New Roman" panose="02020603050405020304" pitchFamily="18" charset="0"/>
                <a:ea typeface="Times New Roman"/>
                <a:cs typeface="Times New Roman" panose="02020603050405020304" pitchFamily="18" charset="0"/>
                <a:sym typeface="Times New Roman"/>
              </a:rPr>
              <a:t>O 30 R1(4) Abuja</a:t>
            </a:r>
            <a:endParaRPr b="1" dirty="0" sz="440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54" name="Shape 231"/>
        <p:cNvGrpSpPr/>
        <p:nvPr/>
      </p:nvGrpSpPr>
      <p:grpSpPr>
        <a:xfrm>
          <a:off x="0" y="0"/>
          <a:ext cx="0" cy="0"/>
          <a:chOff x="0" y="0"/>
          <a:chExt cx="0" cy="0"/>
        </a:xfrm>
      </p:grpSpPr>
      <p:sp>
        <p:nvSpPr>
          <p:cNvPr id="1048660" name="Google Shape;232;p42"/>
          <p:cNvSpPr txBox="1">
            <a:spLocks noGrp="1"/>
          </p:cNvSpPr>
          <p:nvPr>
            <p:ph type="title"/>
          </p:nvPr>
        </p:nvSpPr>
        <p:spPr>
          <a:xfrm>
            <a:off x="838200" y="365126"/>
            <a:ext cx="10515600" cy="502976"/>
          </a:xfrm>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endParaRPr b="1" dirty="0">
              <a:latin typeface="Times New Roman" panose="02020603050405020304" pitchFamily="18" charset="0"/>
              <a:cs typeface="Times New Roman" panose="02020603050405020304" pitchFamily="18" charset="0"/>
            </a:endParaRPr>
          </a:p>
        </p:txBody>
      </p:sp>
      <p:sp>
        <p:nvSpPr>
          <p:cNvPr id="1048661" name="Google Shape;233;p42"/>
          <p:cNvSpPr txBox="1">
            <a:spLocks noGrp="1"/>
          </p:cNvSpPr>
          <p:nvPr>
            <p:ph idx="1"/>
          </p:nvPr>
        </p:nvSpPr>
        <p:spPr>
          <a:xfrm>
            <a:off x="838200" y="868102"/>
            <a:ext cx="10515600" cy="5308861"/>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pPr>
            <a:r>
              <a:rPr b="1" dirty="0" sz="4800" lang="en">
                <a:latin typeface="Times New Roman"/>
                <a:ea typeface="Times New Roman"/>
                <a:cs typeface="Times New Roman"/>
                <a:sym typeface="Times New Roman"/>
              </a:rPr>
              <a:t>In Lagos </a:t>
            </a:r>
            <a:r>
              <a:rPr dirty="0" sz="4800" lang="en">
                <a:latin typeface="Times New Roman"/>
                <a:ea typeface="Times New Roman"/>
                <a:cs typeface="Times New Roman"/>
                <a:sym typeface="Times New Roman"/>
              </a:rPr>
              <a:t>every motion must be served within 5 days of filing see </a:t>
            </a:r>
            <a:r>
              <a:rPr b="1" dirty="0" sz="4800" lang="en">
                <a:latin typeface="Times New Roman"/>
                <a:ea typeface="Times New Roman"/>
                <a:cs typeface="Times New Roman"/>
                <a:sym typeface="Times New Roman"/>
              </a:rPr>
              <a:t>O 43 R 1(2b) </a:t>
            </a:r>
            <a:r>
              <a:rPr dirty="0" sz="4800" lang="en">
                <a:latin typeface="Times New Roman"/>
                <a:ea typeface="Times New Roman"/>
                <a:cs typeface="Times New Roman"/>
                <a:sym typeface="Times New Roman"/>
              </a:rPr>
              <a:t>Lagos.</a:t>
            </a:r>
            <a:endParaRPr dirty="0"/>
          </a:p>
          <a:p>
            <a:pPr indent="-457189" marL="457189">
              <a:spcBef>
                <a:spcPts val="960"/>
              </a:spcBef>
              <a:buClr>
                <a:schemeClr val="dk1"/>
              </a:buClr>
              <a:buSzPts val="3600"/>
            </a:pPr>
            <a:r>
              <a:rPr dirty="0" sz="4800" lang="en">
                <a:latin typeface="Times New Roman"/>
                <a:ea typeface="Times New Roman"/>
                <a:cs typeface="Times New Roman"/>
                <a:sym typeface="Times New Roman"/>
              </a:rPr>
              <a:t>The respondent is expected to file counter affidavit within 7 days. See </a:t>
            </a:r>
            <a:r>
              <a:rPr b="1" dirty="0" sz="4800" lang="en">
                <a:latin typeface="Times New Roman"/>
                <a:ea typeface="Times New Roman"/>
                <a:cs typeface="Times New Roman"/>
                <a:sym typeface="Times New Roman"/>
              </a:rPr>
              <a:t>O 43 R 1(3) </a:t>
            </a:r>
            <a:r>
              <a:rPr dirty="0" sz="4800" lang="en">
                <a:latin typeface="Times New Roman"/>
                <a:ea typeface="Times New Roman"/>
                <a:cs typeface="Times New Roman"/>
                <a:sym typeface="Times New Roman"/>
              </a:rPr>
              <a:t> Lag</a:t>
            </a:r>
            <a:endParaRPr b="1" dirty="0" sz="4800">
              <a:latin typeface="Times New Roman"/>
              <a:ea typeface="Times New Roman"/>
              <a:cs typeface="Times New Roman"/>
              <a:sym typeface="Times New Roman"/>
            </a:endParaRPr>
          </a:p>
          <a:p>
            <a:pPr indent="-457189" marL="457189">
              <a:spcBef>
                <a:spcPts val="960"/>
              </a:spcBef>
              <a:buClr>
                <a:schemeClr val="dk1"/>
              </a:buClr>
              <a:buSzPts val="3600"/>
            </a:pPr>
            <a:r>
              <a:rPr dirty="0" sz="4800" lang="en">
                <a:latin typeface="Times New Roman"/>
                <a:ea typeface="Times New Roman"/>
                <a:cs typeface="Times New Roman"/>
                <a:sym typeface="Times New Roman"/>
              </a:rPr>
              <a:t>The Applicant has 7 days to file reply if any. See </a:t>
            </a:r>
            <a:r>
              <a:rPr b="1" dirty="0" sz="4800" lang="en">
                <a:latin typeface="Times New Roman"/>
                <a:ea typeface="Times New Roman"/>
                <a:cs typeface="Times New Roman"/>
                <a:sym typeface="Times New Roman"/>
              </a:rPr>
              <a:t>O 43 R1(4)</a:t>
            </a:r>
            <a:endParaRPr dirty="0" sz="4800">
              <a:latin typeface="Times New Roman"/>
              <a:ea typeface="Times New Roman"/>
              <a:cs typeface="Times New Roman"/>
              <a:sym typeface="Times New Roman"/>
            </a:endParaRPr>
          </a:p>
          <a:p>
            <a:pPr indent="-152396" marL="457189">
              <a:spcBef>
                <a:spcPts val="960"/>
              </a:spcBef>
              <a:buClr>
                <a:schemeClr val="dk1"/>
              </a:buClr>
              <a:buSzPts val="3600"/>
              <a:buNone/>
            </a:pPr>
            <a:endParaRPr dirty="0" sz="48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57" name="Shape 237"/>
        <p:cNvGrpSpPr/>
        <p:nvPr/>
      </p:nvGrpSpPr>
      <p:grpSpPr>
        <a:xfrm>
          <a:off x="0" y="0"/>
          <a:ext cx="0" cy="0"/>
          <a:chOff x="0" y="0"/>
          <a:chExt cx="0" cy="0"/>
        </a:xfrm>
      </p:grpSpPr>
      <p:sp>
        <p:nvSpPr>
          <p:cNvPr id="1048664" name="Google Shape;238;p43"/>
          <p:cNvSpPr txBox="1">
            <a:spLocks noGrp="1"/>
          </p:cNvSpPr>
          <p:nvPr>
            <p:ph type="title"/>
          </p:nvPr>
        </p:nvSpPr>
        <p:spPr>
          <a:xfrm>
            <a:off x="838200" y="307250"/>
            <a:ext cx="10515600" cy="1325563"/>
          </a:xfrm>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600"/>
            </a:pPr>
            <a:r>
              <a:rPr b="1" dirty="0" sz="4800" lang="en">
                <a:latin typeface="Times New Roman"/>
                <a:ea typeface="Times New Roman"/>
                <a:cs typeface="Times New Roman"/>
                <a:sym typeface="Times New Roman"/>
              </a:rPr>
              <a:t>Examples of Applications that can be made by Motion on Notice</a:t>
            </a:r>
            <a:endParaRPr dirty="0" sz="4800"/>
          </a:p>
        </p:txBody>
      </p:sp>
      <p:sp>
        <p:nvSpPr>
          <p:cNvPr id="1048665" name="Google Shape;239;p43"/>
          <p:cNvSpPr txBox="1">
            <a:spLocks noGrp="1"/>
          </p:cNvSpPr>
          <p:nvPr>
            <p:ph idx="1"/>
          </p:nvPr>
        </p:nvSpPr>
        <p:spPr>
          <a:xfrm>
            <a:off x="838200" y="1582550"/>
            <a:ext cx="10515600" cy="4351338"/>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pPr>
            <a:r>
              <a:rPr dirty="0" sz="4800" lang="en">
                <a:latin typeface="Times New Roman"/>
                <a:ea typeface="Times New Roman"/>
                <a:cs typeface="Times New Roman"/>
                <a:sym typeface="Times New Roman"/>
              </a:rPr>
              <a:t>Application for joinder of parties</a:t>
            </a:r>
            <a:endParaRPr dirty="0"/>
          </a:p>
          <a:p>
            <a:pPr indent="-457189" marL="457189">
              <a:spcBef>
                <a:spcPts val="960"/>
              </a:spcBef>
              <a:buClr>
                <a:schemeClr val="dk1"/>
              </a:buClr>
              <a:buSzPts val="3600"/>
            </a:pPr>
            <a:r>
              <a:rPr dirty="0" sz="4800" lang="en">
                <a:latin typeface="Times New Roman"/>
                <a:ea typeface="Times New Roman"/>
                <a:cs typeface="Times New Roman"/>
                <a:sym typeface="Times New Roman"/>
              </a:rPr>
              <a:t>Application for interlocutory injunction</a:t>
            </a:r>
            <a:endParaRPr dirty="0"/>
          </a:p>
          <a:p>
            <a:pPr indent="-457189" marL="457189">
              <a:spcBef>
                <a:spcPts val="960"/>
              </a:spcBef>
              <a:buClr>
                <a:schemeClr val="dk1"/>
              </a:buClr>
              <a:buSzPts val="3600"/>
            </a:pPr>
            <a:r>
              <a:rPr dirty="0" sz="4800" lang="en">
                <a:latin typeface="Times New Roman"/>
                <a:ea typeface="Times New Roman"/>
                <a:cs typeface="Times New Roman"/>
                <a:sym typeface="Times New Roman"/>
              </a:rPr>
              <a:t>Application for amendment of pleadings</a:t>
            </a:r>
            <a:endParaRPr dirty="0"/>
          </a:p>
          <a:p>
            <a:pPr indent="-457189" marL="457189">
              <a:spcBef>
                <a:spcPts val="960"/>
              </a:spcBef>
              <a:buClr>
                <a:schemeClr val="dk1"/>
              </a:buClr>
              <a:buSzPts val="3600"/>
            </a:pPr>
            <a:r>
              <a:rPr dirty="0" sz="4800" lang="en">
                <a:latin typeface="Times New Roman"/>
                <a:ea typeface="Times New Roman"/>
                <a:cs typeface="Times New Roman"/>
                <a:sym typeface="Times New Roman"/>
              </a:rPr>
              <a:t>Application for striking out of pleadings </a:t>
            </a:r>
            <a:endParaRPr dirty="0"/>
          </a:p>
          <a:p>
            <a:pPr indent="-457189" marL="457189">
              <a:spcBef>
                <a:spcPts val="960"/>
              </a:spcBef>
              <a:buClr>
                <a:schemeClr val="dk1"/>
              </a:buClr>
              <a:buSzPts val="3600"/>
            </a:pPr>
            <a:r>
              <a:rPr dirty="0" sz="4800" lang="en">
                <a:latin typeface="Times New Roman"/>
                <a:ea typeface="Times New Roman"/>
                <a:cs typeface="Times New Roman"/>
                <a:sym typeface="Times New Roman"/>
              </a:rPr>
              <a:t>Application for stay of execution etc.</a:t>
            </a:r>
            <a:endParaRPr dirty="0" sz="4800">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60" name="Shape 243"/>
        <p:cNvGrpSpPr/>
        <p:nvPr/>
      </p:nvGrpSpPr>
      <p:grpSpPr>
        <a:xfrm>
          <a:off x="0" y="0"/>
          <a:ext cx="0" cy="0"/>
          <a:chOff x="0" y="0"/>
          <a:chExt cx="0" cy="0"/>
        </a:xfrm>
      </p:grpSpPr>
      <p:sp>
        <p:nvSpPr>
          <p:cNvPr id="1048668" name="Google Shape;244;p44"/>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600"/>
            </a:pPr>
            <a:r>
              <a:rPr b="1" dirty="0" sz="4000" lang="en">
                <a:latin typeface="Times New Roman"/>
                <a:ea typeface="Times New Roman"/>
                <a:cs typeface="Times New Roman"/>
                <a:sym typeface="Times New Roman"/>
              </a:rPr>
              <a:t>Orders the Court may make after hearing Motion on Notice</a:t>
            </a:r>
            <a:endParaRPr dirty="0" sz="3733"/>
          </a:p>
        </p:txBody>
      </p:sp>
      <p:sp>
        <p:nvSpPr>
          <p:cNvPr id="1048669" name="Google Shape;245;p44"/>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buFont typeface="Noto Sans Symbols"/>
              <a:buChar char="✔"/>
            </a:pPr>
            <a:r>
              <a:rPr dirty="0" sz="3733" lang="en">
                <a:latin typeface="Times New Roman"/>
                <a:ea typeface="Times New Roman"/>
                <a:cs typeface="Times New Roman"/>
                <a:sym typeface="Times New Roman"/>
              </a:rPr>
              <a:t>Grant the order as prayed</a:t>
            </a:r>
            <a:endParaRPr dirty="0" sz="3733"/>
          </a:p>
          <a:p>
            <a:pPr indent="-457189" marL="457189">
              <a:spcBef>
                <a:spcPts val="960"/>
              </a:spcBef>
              <a:buClr>
                <a:schemeClr val="dk1"/>
              </a:buClr>
              <a:buSzPts val="3600"/>
              <a:buFont typeface="Noto Sans Symbols"/>
              <a:buChar char="✔"/>
            </a:pPr>
            <a:r>
              <a:rPr dirty="0" sz="3733" lang="en">
                <a:latin typeface="Times New Roman"/>
                <a:ea typeface="Times New Roman"/>
                <a:cs typeface="Times New Roman"/>
                <a:sym typeface="Times New Roman"/>
              </a:rPr>
              <a:t>Grant an order less than what was prayed</a:t>
            </a:r>
            <a:endParaRPr dirty="0" sz="3733"/>
          </a:p>
          <a:p>
            <a:pPr indent="-457189" marL="457189">
              <a:spcBef>
                <a:spcPts val="960"/>
              </a:spcBef>
              <a:buClr>
                <a:schemeClr val="dk1"/>
              </a:buClr>
              <a:buSzPts val="3600"/>
              <a:buFont typeface="Noto Sans Symbols"/>
              <a:buChar char="✔"/>
            </a:pPr>
            <a:r>
              <a:rPr dirty="0" sz="3733" lang="en">
                <a:latin typeface="Times New Roman"/>
                <a:ea typeface="Times New Roman"/>
                <a:cs typeface="Times New Roman"/>
                <a:sym typeface="Times New Roman"/>
              </a:rPr>
              <a:t>Make an order striking out or dismissing the application</a:t>
            </a:r>
            <a:endParaRPr dirty="0" sz="3733"/>
          </a:p>
          <a:p>
            <a:pPr indent="0" marL="0">
              <a:spcBef>
                <a:spcPts val="960"/>
              </a:spcBef>
              <a:buClr>
                <a:schemeClr val="dk1"/>
              </a:buClr>
              <a:buSzPts val="3600"/>
              <a:buNone/>
            </a:pPr>
            <a:r>
              <a:rPr dirty="0" sz="3733" lang="en">
                <a:latin typeface="Times New Roman"/>
                <a:ea typeface="Times New Roman"/>
                <a:cs typeface="Times New Roman"/>
                <a:sym typeface="Times New Roman"/>
              </a:rPr>
              <a:t>NOTE: the court cannot make an order over and above what has been prayed or sought for.</a:t>
            </a:r>
            <a:endParaRPr dirty="0" sz="3733">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63" name="Shape 249"/>
        <p:cNvGrpSpPr/>
        <p:nvPr/>
      </p:nvGrpSpPr>
      <p:grpSpPr>
        <a:xfrm>
          <a:off x="0" y="0"/>
          <a:ext cx="0" cy="0"/>
          <a:chOff x="0" y="0"/>
          <a:chExt cx="0" cy="0"/>
        </a:xfrm>
      </p:grpSpPr>
      <p:sp>
        <p:nvSpPr>
          <p:cNvPr id="1048672" name="Google Shape;250;p45"/>
          <p:cNvSpPr txBox="1">
            <a:spLocks noGrp="1"/>
          </p:cNvSpPr>
          <p:nvPr>
            <p:ph type="title"/>
          </p:nvPr>
        </p:nvSpPr>
        <p:spPr>
          <a:xfrm>
            <a:off x="508000" y="-83127"/>
            <a:ext cx="11074400" cy="1265200"/>
          </a:xfrm>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sz="4800" lang="en">
                <a:latin typeface="Times New Roman"/>
                <a:ea typeface="Times New Roman"/>
                <a:cs typeface="Times New Roman"/>
                <a:sym typeface="Times New Roman"/>
              </a:rPr>
              <a:t>Contents and Drafting of a Motion</a:t>
            </a:r>
            <a:endParaRPr b="1" dirty="0" sz="4800">
              <a:latin typeface="Times New Roman"/>
              <a:ea typeface="Times New Roman"/>
              <a:cs typeface="Times New Roman"/>
              <a:sym typeface="Times New Roman"/>
            </a:endParaRPr>
          </a:p>
        </p:txBody>
      </p:sp>
      <p:sp>
        <p:nvSpPr>
          <p:cNvPr id="1048673" name="Google Shape;251;p45"/>
          <p:cNvSpPr txBox="1">
            <a:spLocks noGrp="1"/>
          </p:cNvSpPr>
          <p:nvPr>
            <p:ph idx="1"/>
          </p:nvPr>
        </p:nvSpPr>
        <p:spPr>
          <a:xfrm>
            <a:off x="406400" y="914399"/>
            <a:ext cx="11176000" cy="5798372"/>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500"/>
            </a:pPr>
            <a:r>
              <a:rPr dirty="0" sz="3733" lang="en">
                <a:latin typeface="Times New Roman"/>
                <a:ea typeface="Times New Roman"/>
                <a:cs typeface="Times New Roman"/>
                <a:sym typeface="Times New Roman"/>
              </a:rPr>
              <a:t>Heading of the court</a:t>
            </a:r>
            <a:endParaRPr dirty="0" sz="3733"/>
          </a:p>
          <a:p>
            <a:pPr indent="-457189" marL="457189">
              <a:spcBef>
                <a:spcPts val="933"/>
              </a:spcBef>
              <a:buClr>
                <a:schemeClr val="dk1"/>
              </a:buClr>
              <a:buSzPts val="3500"/>
            </a:pPr>
            <a:r>
              <a:rPr dirty="0" sz="3733" lang="en">
                <a:latin typeface="Times New Roman"/>
                <a:ea typeface="Times New Roman"/>
                <a:cs typeface="Times New Roman"/>
                <a:sym typeface="Times New Roman"/>
              </a:rPr>
              <a:t>The suit number</a:t>
            </a:r>
            <a:endParaRPr dirty="0" sz="3733"/>
          </a:p>
          <a:p>
            <a:pPr indent="-457189" marL="457189">
              <a:spcBef>
                <a:spcPts val="933"/>
              </a:spcBef>
              <a:buClr>
                <a:schemeClr val="dk1"/>
              </a:buClr>
              <a:buSzPts val="3500"/>
            </a:pPr>
            <a:r>
              <a:rPr dirty="0" sz="3733" lang="en">
                <a:latin typeface="Times New Roman"/>
                <a:ea typeface="Times New Roman"/>
                <a:cs typeface="Times New Roman"/>
                <a:sym typeface="Times New Roman"/>
              </a:rPr>
              <a:t>Parties(‘applicant’, ‘respondent’)</a:t>
            </a:r>
            <a:endParaRPr dirty="0" sz="3733"/>
          </a:p>
          <a:p>
            <a:pPr indent="-457189" marL="457189">
              <a:spcBef>
                <a:spcPts val="933"/>
              </a:spcBef>
              <a:buClr>
                <a:schemeClr val="dk1"/>
              </a:buClr>
              <a:buSzPts val="3500"/>
            </a:pPr>
            <a:r>
              <a:rPr dirty="0" sz="3733" lang="en">
                <a:latin typeface="Times New Roman"/>
                <a:ea typeface="Times New Roman"/>
                <a:cs typeface="Times New Roman"/>
                <a:sym typeface="Times New Roman"/>
              </a:rPr>
              <a:t>Type of motion </a:t>
            </a:r>
            <a:r>
              <a:rPr dirty="0" sz="3733" i="1" lang="en">
                <a:latin typeface="Times New Roman"/>
                <a:ea typeface="Times New Roman"/>
                <a:cs typeface="Times New Roman"/>
                <a:sym typeface="Times New Roman"/>
              </a:rPr>
              <a:t>( ex </a:t>
            </a:r>
            <a:r>
              <a:rPr dirty="0" sz="3733" i="1" lang="en" err="1">
                <a:latin typeface="Times New Roman"/>
                <a:ea typeface="Times New Roman"/>
                <a:cs typeface="Times New Roman"/>
                <a:sym typeface="Times New Roman"/>
              </a:rPr>
              <a:t>parte</a:t>
            </a:r>
            <a:r>
              <a:rPr dirty="0" sz="3733" i="1" lang="en">
                <a:latin typeface="Times New Roman"/>
                <a:ea typeface="Times New Roman"/>
                <a:cs typeface="Times New Roman"/>
                <a:sym typeface="Times New Roman"/>
              </a:rPr>
              <a:t> </a:t>
            </a:r>
            <a:r>
              <a:rPr dirty="0" sz="3733" lang="en">
                <a:latin typeface="Times New Roman"/>
                <a:ea typeface="Times New Roman"/>
                <a:cs typeface="Times New Roman"/>
                <a:sym typeface="Times New Roman"/>
              </a:rPr>
              <a:t>or on notice)</a:t>
            </a:r>
            <a:endParaRPr dirty="0" sz="3733"/>
          </a:p>
          <a:p>
            <a:pPr indent="-457189" marL="457189">
              <a:spcBef>
                <a:spcPts val="933"/>
              </a:spcBef>
              <a:buClr>
                <a:schemeClr val="dk1"/>
              </a:buClr>
              <a:buSzPts val="3500"/>
            </a:pPr>
            <a:r>
              <a:rPr dirty="0" sz="3733" lang="en">
                <a:latin typeface="Times New Roman"/>
                <a:ea typeface="Times New Roman"/>
                <a:cs typeface="Times New Roman"/>
                <a:sym typeface="Times New Roman"/>
              </a:rPr>
              <a:t>The order/ rule or law under which the application is brought.  </a:t>
            </a:r>
            <a:r>
              <a:rPr b="1" dirty="0" sz="3733" lang="en">
                <a:latin typeface="Times New Roman"/>
                <a:ea typeface="Times New Roman"/>
                <a:cs typeface="Times New Roman"/>
                <a:sym typeface="Times New Roman"/>
              </a:rPr>
              <a:t>O. 43 R1 Lag, </a:t>
            </a:r>
            <a:r>
              <a:rPr b="1" dirty="0" sz="3733" lang="en">
                <a:solidFill>
                  <a:srgbClr val="FF0000"/>
                </a:solidFill>
                <a:latin typeface="Times New Roman"/>
                <a:ea typeface="Times New Roman"/>
                <a:cs typeface="Times New Roman"/>
                <a:sym typeface="Times New Roman"/>
              </a:rPr>
              <a:t>O. 30 R 1 Abuja</a:t>
            </a:r>
            <a:r>
              <a:rPr b="1" dirty="0" sz="3733" lang="en">
                <a:latin typeface="Times New Roman"/>
                <a:ea typeface="Times New Roman"/>
                <a:cs typeface="Times New Roman"/>
                <a:sym typeface="Times New Roman"/>
              </a:rPr>
              <a:t>, FALOBI V FALOBI (1979) 1 NMLR 169 UCHENDU V OGBONI (1999) 4 SCNJ 64, MAJA V SAMOURIS ( 2002) 7 NWLR (PT 765) 78</a:t>
            </a:r>
            <a:endParaRPr dirty="0" sz="3733"/>
          </a:p>
          <a:p>
            <a:pPr indent="-160863" marL="457189">
              <a:spcBef>
                <a:spcPts val="933"/>
              </a:spcBef>
              <a:buClr>
                <a:schemeClr val="dk1"/>
              </a:buClr>
              <a:buSzPts val="3500"/>
              <a:buNone/>
            </a:pPr>
            <a:endParaRPr dirty="0" sz="3733">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66" name="Shape 255"/>
        <p:cNvGrpSpPr/>
        <p:nvPr/>
      </p:nvGrpSpPr>
      <p:grpSpPr>
        <a:xfrm>
          <a:off x="0" y="0"/>
          <a:ext cx="0" cy="0"/>
          <a:chOff x="0" y="0"/>
          <a:chExt cx="0" cy="0"/>
        </a:xfrm>
      </p:grpSpPr>
      <p:sp>
        <p:nvSpPr>
          <p:cNvPr id="1048676" name="Google Shape;256;p46"/>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dirty="0" lang="en"/>
              <a:t> </a:t>
            </a:r>
            <a:endParaRPr dirty="0"/>
          </a:p>
        </p:txBody>
      </p:sp>
      <p:sp>
        <p:nvSpPr>
          <p:cNvPr id="1048677" name="Google Shape;257;p46"/>
          <p:cNvSpPr txBox="1">
            <a:spLocks noGrp="1"/>
          </p:cNvSpPr>
          <p:nvPr>
            <p:ph idx="1"/>
          </p:nvPr>
        </p:nvSpPr>
        <p:spPr>
          <a:xfrm>
            <a:off x="609600" y="914400"/>
            <a:ext cx="10972800" cy="50592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300"/>
            </a:pPr>
            <a:r>
              <a:rPr dirty="0" sz="3200" lang="en">
                <a:latin typeface="Times New Roman"/>
                <a:ea typeface="Times New Roman"/>
                <a:cs typeface="Times New Roman"/>
                <a:sym typeface="Times New Roman"/>
              </a:rPr>
              <a:t>The notice itself.( </a:t>
            </a:r>
            <a:r>
              <a:rPr b="1" dirty="0" sz="3200" lang="en">
                <a:latin typeface="Times New Roman"/>
                <a:ea typeface="Times New Roman"/>
                <a:cs typeface="Times New Roman"/>
                <a:sym typeface="Times New Roman"/>
              </a:rPr>
              <a:t>TAKE NOTICE </a:t>
            </a:r>
            <a:r>
              <a:rPr dirty="0" sz="3200" lang="en">
                <a:latin typeface="Times New Roman"/>
                <a:ea typeface="Times New Roman"/>
                <a:cs typeface="Times New Roman"/>
                <a:sym typeface="Times New Roman"/>
              </a:rPr>
              <a:t>that….)</a:t>
            </a:r>
            <a:endParaRPr dirty="0" sz="3200"/>
          </a:p>
          <a:p>
            <a:pPr indent="-457189" marL="457189">
              <a:spcBef>
                <a:spcPts val="880"/>
              </a:spcBef>
              <a:buClr>
                <a:schemeClr val="dk1"/>
              </a:buClr>
              <a:buSzPts val="3300"/>
            </a:pPr>
            <a:r>
              <a:rPr dirty="0" sz="3200" lang="en">
                <a:latin typeface="Times New Roman"/>
                <a:ea typeface="Times New Roman"/>
                <a:cs typeface="Times New Roman"/>
                <a:sym typeface="Times New Roman"/>
              </a:rPr>
              <a:t>The order or relief sought</a:t>
            </a:r>
            <a:endParaRPr dirty="0" sz="3200"/>
          </a:p>
          <a:p>
            <a:pPr indent="-457189" marL="457189">
              <a:spcBef>
                <a:spcPts val="880"/>
              </a:spcBef>
              <a:buClr>
                <a:schemeClr val="dk1"/>
              </a:buClr>
              <a:buSzPts val="3300"/>
            </a:pPr>
            <a:r>
              <a:rPr dirty="0" sz="3200" lang="en">
                <a:latin typeface="Times New Roman"/>
                <a:ea typeface="Times New Roman"/>
                <a:cs typeface="Times New Roman"/>
                <a:sym typeface="Times New Roman"/>
              </a:rPr>
              <a:t>Date of the application</a:t>
            </a:r>
            <a:endParaRPr dirty="0" sz="3200"/>
          </a:p>
          <a:p>
            <a:pPr indent="-457189" marL="457189">
              <a:spcBef>
                <a:spcPts val="880"/>
              </a:spcBef>
              <a:buClr>
                <a:schemeClr val="dk1"/>
              </a:buClr>
              <a:buSzPts val="3300"/>
            </a:pPr>
            <a:r>
              <a:rPr dirty="0" sz="3200" lang="en">
                <a:latin typeface="Times New Roman"/>
                <a:ea typeface="Times New Roman"/>
                <a:cs typeface="Times New Roman"/>
                <a:sym typeface="Times New Roman"/>
              </a:rPr>
              <a:t>Name, signature of counsel. It cannot be signed by a law firm see the case of </a:t>
            </a:r>
            <a:r>
              <a:rPr b="1" dirty="0" sz="3200" lang="en">
                <a:latin typeface="Times New Roman"/>
                <a:ea typeface="Times New Roman"/>
                <a:cs typeface="Times New Roman"/>
                <a:sym typeface="Times New Roman"/>
              </a:rPr>
              <a:t>OKAFOR V NWEKE</a:t>
            </a:r>
            <a:r>
              <a:rPr dirty="0" sz="3200" lang="en">
                <a:latin typeface="Times New Roman"/>
                <a:ea typeface="Times New Roman"/>
                <a:cs typeface="Times New Roman"/>
                <a:sym typeface="Times New Roman"/>
              </a:rPr>
              <a:t> </a:t>
            </a:r>
            <a:r>
              <a:rPr b="1" dirty="0" sz="3200" lang="en">
                <a:latin typeface="Times New Roman"/>
                <a:ea typeface="Times New Roman"/>
                <a:cs typeface="Times New Roman"/>
                <a:sym typeface="Times New Roman"/>
              </a:rPr>
              <a:t>(2007) ALL FWLR (Pt. 368) 1016</a:t>
            </a:r>
            <a:endParaRPr dirty="0" sz="3200">
              <a:latin typeface="Times New Roman"/>
              <a:ea typeface="Times New Roman"/>
              <a:cs typeface="Times New Roman"/>
              <a:sym typeface="Times New Roman"/>
            </a:endParaRPr>
          </a:p>
          <a:p>
            <a:pPr indent="-457189" marL="457189">
              <a:spcBef>
                <a:spcPts val="880"/>
              </a:spcBef>
              <a:buClr>
                <a:schemeClr val="dk1"/>
              </a:buClr>
              <a:buSzPts val="3300"/>
            </a:pPr>
            <a:r>
              <a:rPr dirty="0" sz="3200" lang="en">
                <a:latin typeface="Times New Roman"/>
                <a:ea typeface="Times New Roman"/>
                <a:cs typeface="Times New Roman"/>
                <a:sym typeface="Times New Roman"/>
              </a:rPr>
              <a:t>The address of applicant’s counsel</a:t>
            </a:r>
            <a:endParaRPr dirty="0" sz="3200"/>
          </a:p>
          <a:p>
            <a:pPr indent="-457189" marL="457189">
              <a:spcBef>
                <a:spcPts val="880"/>
              </a:spcBef>
              <a:buClr>
                <a:schemeClr val="dk1"/>
              </a:buClr>
              <a:buSzPts val="3300"/>
            </a:pPr>
            <a:r>
              <a:rPr dirty="0" sz="3200" lang="en">
                <a:latin typeface="Times New Roman"/>
                <a:ea typeface="Times New Roman"/>
                <a:cs typeface="Times New Roman"/>
                <a:sym typeface="Times New Roman"/>
              </a:rPr>
              <a:t>The name and address for service on the respondent or his counsel</a:t>
            </a:r>
            <a:endParaRPr dirty="0" sz="3200"/>
          </a:p>
          <a:p>
            <a:pPr indent="-177796" marL="457189">
              <a:spcBef>
                <a:spcPts val="880"/>
              </a:spcBef>
              <a:buClr>
                <a:schemeClr val="dk1"/>
              </a:buClr>
              <a:buSzPts val="3300"/>
              <a:buNone/>
            </a:pPr>
            <a:endParaRPr dirty="0" sz="3200">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69" name="Shape 261"/>
        <p:cNvGrpSpPr/>
        <p:nvPr/>
      </p:nvGrpSpPr>
      <p:grpSpPr>
        <a:xfrm>
          <a:off x="0" y="0"/>
          <a:ext cx="0" cy="0"/>
          <a:chOff x="0" y="0"/>
          <a:chExt cx="0" cy="0"/>
        </a:xfrm>
      </p:grpSpPr>
      <p:sp>
        <p:nvSpPr>
          <p:cNvPr id="1048680" name="Google Shape;262;p47"/>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Hearing of Motion</a:t>
            </a:r>
            <a:endParaRPr b="1" dirty="0">
              <a:latin typeface="Times New Roman"/>
              <a:ea typeface="Times New Roman"/>
              <a:cs typeface="Times New Roman"/>
              <a:sym typeface="Times New Roman"/>
            </a:endParaRPr>
          </a:p>
        </p:txBody>
      </p:sp>
      <p:sp>
        <p:nvSpPr>
          <p:cNvPr id="1048681" name="Google Shape;263;p47"/>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0" marL="0">
              <a:spcBef>
                <a:spcPts val="1067"/>
              </a:spcBef>
              <a:buClr>
                <a:schemeClr val="dk1"/>
              </a:buClr>
              <a:buSzPts val="4000"/>
              <a:buNone/>
            </a:pPr>
            <a:r>
              <a:rPr b="1" dirty="0" sz="3733" lang="en">
                <a:latin typeface="Times New Roman"/>
                <a:ea typeface="Times New Roman"/>
                <a:cs typeface="Times New Roman"/>
                <a:sym typeface="Times New Roman"/>
              </a:rPr>
              <a:t>The venue </a:t>
            </a:r>
          </a:p>
          <a:p>
            <a:pPr indent="-457189" marL="457189">
              <a:spcBef>
                <a:spcPts val="1067"/>
              </a:spcBef>
              <a:buClr>
                <a:schemeClr val="dk1"/>
              </a:buClr>
              <a:buSzPts val="4000"/>
            </a:pPr>
            <a:r>
              <a:rPr dirty="0" sz="3733" lang="en">
                <a:latin typeface="Times New Roman"/>
                <a:ea typeface="Times New Roman"/>
                <a:cs typeface="Times New Roman"/>
                <a:sym typeface="Times New Roman"/>
              </a:rPr>
              <a:t>The venue for hearing a motion is either in court or in chambers</a:t>
            </a:r>
            <a:endParaRPr dirty="0" sz="3733"/>
          </a:p>
          <a:p>
            <a:pPr indent="-457189" marL="457189">
              <a:spcBef>
                <a:spcPts val="1067"/>
              </a:spcBef>
              <a:buClr>
                <a:schemeClr val="dk1"/>
              </a:buClr>
              <a:buSzPts val="4000"/>
            </a:pPr>
            <a:r>
              <a:rPr dirty="0" sz="3733" lang="en">
                <a:latin typeface="Times New Roman"/>
                <a:ea typeface="Times New Roman"/>
                <a:cs typeface="Times New Roman"/>
                <a:sym typeface="Times New Roman"/>
              </a:rPr>
              <a:t>Contentious applications are heard in open court while non contentious may be heard in chambers.</a:t>
            </a:r>
            <a:endParaRPr dirty="0" sz="3733"/>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72" name="Shape 302"/>
        <p:cNvGrpSpPr/>
        <p:nvPr/>
      </p:nvGrpSpPr>
      <p:grpSpPr>
        <a:xfrm>
          <a:off x="0" y="0"/>
          <a:ext cx="0" cy="0"/>
          <a:chOff x="0" y="0"/>
          <a:chExt cx="0" cy="0"/>
        </a:xfrm>
      </p:grpSpPr>
      <p:sp>
        <p:nvSpPr>
          <p:cNvPr id="1048684" name="Google Shape;303;p54"/>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b="1" dirty="0" lang="en">
                <a:latin typeface="Times New Roman"/>
                <a:ea typeface="Times New Roman"/>
                <a:cs typeface="Times New Roman"/>
                <a:sym typeface="Times New Roman"/>
              </a:rPr>
              <a:t>Obligation to hear every Motion</a:t>
            </a:r>
            <a:endParaRPr b="1" dirty="0">
              <a:latin typeface="Times New Roman"/>
              <a:ea typeface="Times New Roman"/>
              <a:cs typeface="Times New Roman"/>
              <a:sym typeface="Times New Roman"/>
            </a:endParaRPr>
          </a:p>
        </p:txBody>
      </p:sp>
      <p:sp>
        <p:nvSpPr>
          <p:cNvPr id="1048685" name="Google Shape;304;p54"/>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pPr>
            <a:r>
              <a:rPr dirty="0" sz="3733" lang="en">
                <a:latin typeface="Times New Roman"/>
                <a:ea typeface="Times New Roman"/>
                <a:cs typeface="Times New Roman"/>
                <a:sym typeface="Times New Roman"/>
              </a:rPr>
              <a:t>Once an application has been filed except it is withdrawn, the court is duty bound to  hear the application and make pronouncement. </a:t>
            </a:r>
            <a:r>
              <a:rPr b="1" dirty="0" sz="3733" lang="en">
                <a:latin typeface="Times New Roman"/>
                <a:ea typeface="Times New Roman"/>
                <a:cs typeface="Times New Roman"/>
                <a:sym typeface="Times New Roman"/>
              </a:rPr>
              <a:t>See DANDUME LGC V YARO (2011) 11 NWLR(PT1257)159 </a:t>
            </a:r>
            <a:r>
              <a:rPr dirty="0" sz="3733" lang="en">
                <a:latin typeface="Times New Roman"/>
                <a:ea typeface="Times New Roman"/>
                <a:cs typeface="Times New Roman"/>
                <a:sym typeface="Times New Roman"/>
              </a:rPr>
              <a:t>Where a motion for extension of time to file </a:t>
            </a:r>
            <a:r>
              <a:rPr dirty="0" sz="3733" lang="en" err="1">
                <a:latin typeface="Times New Roman"/>
                <a:ea typeface="Times New Roman"/>
                <a:cs typeface="Times New Roman"/>
                <a:sym typeface="Times New Roman"/>
              </a:rPr>
              <a:t>defence</a:t>
            </a:r>
            <a:r>
              <a:rPr dirty="0" sz="3733" lang="en">
                <a:latin typeface="Times New Roman"/>
                <a:ea typeface="Times New Roman"/>
                <a:cs typeface="Times New Roman"/>
                <a:sym typeface="Times New Roman"/>
              </a:rPr>
              <a:t> was not heard and judgment was delivered. It was set aside on appeal.</a:t>
            </a:r>
            <a:endParaRPr dirty="0" sz="3733">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75" name="Shape 308"/>
        <p:cNvGrpSpPr/>
        <p:nvPr/>
      </p:nvGrpSpPr>
      <p:grpSpPr>
        <a:xfrm>
          <a:off x="0" y="0"/>
          <a:ext cx="0" cy="0"/>
          <a:chOff x="0" y="0"/>
          <a:chExt cx="0" cy="0"/>
        </a:xfrm>
      </p:grpSpPr>
      <p:sp>
        <p:nvSpPr>
          <p:cNvPr id="1048688" name="Google Shape;309;p55"/>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b="1" dirty="0" lang="en">
                <a:latin typeface="Times New Roman"/>
                <a:ea typeface="Times New Roman"/>
                <a:cs typeface="Times New Roman"/>
                <a:sym typeface="Times New Roman"/>
              </a:rPr>
              <a:t>Order of Hearing Motions</a:t>
            </a:r>
            <a:endParaRPr b="1" dirty="0">
              <a:latin typeface="Times New Roman"/>
              <a:ea typeface="Times New Roman"/>
              <a:cs typeface="Times New Roman"/>
              <a:sym typeface="Times New Roman"/>
            </a:endParaRPr>
          </a:p>
        </p:txBody>
      </p:sp>
      <p:sp>
        <p:nvSpPr>
          <p:cNvPr id="1048689" name="Google Shape;310;p55"/>
          <p:cNvSpPr txBox="1">
            <a:spLocks noGrp="1"/>
          </p:cNvSpPr>
          <p:nvPr>
            <p:ph idx="1"/>
          </p:nvPr>
        </p:nvSpPr>
        <p:spPr>
          <a:xfrm>
            <a:off x="508000" y="1752600"/>
            <a:ext cx="10972800" cy="4526000"/>
          </a:xfrm>
          <a:prstGeom prst="rect"/>
          <a:noFill/>
          <a:ln>
            <a:noFill/>
          </a:ln>
        </p:spPr>
        <p:txBody>
          <a:bodyPr anchor="t" anchorCtr="0" bIns="60933" lIns="121900" rIns="121900" rtlCol="0" spcFirstLastPara="1" tIns="60933" vert="horz" wrap="square">
            <a:noAutofit/>
          </a:bodyPr>
          <a:p>
            <a:pPr indent="-457189" marL="457189">
              <a:lnSpc>
                <a:spcPct val="80000"/>
              </a:lnSpc>
              <a:spcBef>
                <a:spcPts val="0"/>
              </a:spcBef>
              <a:buClr>
                <a:schemeClr val="dk1"/>
              </a:buClr>
              <a:buSzPts val="3409"/>
            </a:pPr>
            <a:r>
              <a:rPr dirty="0" sz="3733" lang="en">
                <a:latin typeface="Times New Roman"/>
                <a:ea typeface="Times New Roman"/>
                <a:cs typeface="Times New Roman"/>
                <a:sym typeface="Times New Roman"/>
              </a:rPr>
              <a:t>The order of hearing a motion is at the discretion of the court.</a:t>
            </a:r>
            <a:endParaRPr dirty="0" sz="3733"/>
          </a:p>
          <a:p>
            <a:pPr indent="-457189" marL="457189">
              <a:lnSpc>
                <a:spcPct val="80000"/>
              </a:lnSpc>
              <a:spcBef>
                <a:spcPts val="909"/>
              </a:spcBef>
              <a:buClr>
                <a:schemeClr val="dk1"/>
              </a:buClr>
              <a:buSzPts val="3409"/>
            </a:pPr>
            <a:r>
              <a:rPr dirty="0" sz="3733" lang="en">
                <a:latin typeface="Times New Roman"/>
                <a:ea typeface="Times New Roman"/>
                <a:cs typeface="Times New Roman"/>
                <a:sym typeface="Times New Roman"/>
              </a:rPr>
              <a:t>It is usually taken in the order in which they are filed.</a:t>
            </a:r>
            <a:endParaRPr dirty="0" sz="3733"/>
          </a:p>
          <a:p>
            <a:pPr indent="-457189" marL="457189">
              <a:lnSpc>
                <a:spcPct val="80000"/>
              </a:lnSpc>
              <a:spcBef>
                <a:spcPts val="909"/>
              </a:spcBef>
              <a:buClr>
                <a:schemeClr val="dk1"/>
              </a:buClr>
              <a:buSzPts val="3409"/>
            </a:pPr>
            <a:r>
              <a:rPr dirty="0" sz="3733" lang="en">
                <a:latin typeface="Times New Roman"/>
                <a:ea typeface="Times New Roman"/>
                <a:cs typeface="Times New Roman"/>
                <a:sym typeface="Times New Roman"/>
              </a:rPr>
              <a:t>However, where there are two pending motions, one seeking to destroy and the other seeking to save the suit,( constructive or destructive motions) the one seeking to save the suit  will be heard first. See </a:t>
            </a:r>
            <a:r>
              <a:rPr b="1" dirty="0" sz="3733" lang="en">
                <a:latin typeface="Times New Roman"/>
                <a:ea typeface="Times New Roman"/>
                <a:cs typeface="Times New Roman"/>
                <a:sym typeface="Times New Roman"/>
              </a:rPr>
              <a:t>AG FED V. AIC LTD (1995) 2 NWLR 378.</a:t>
            </a:r>
            <a:endParaRPr b="1" dirty="0" sz="3733">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78" name=""/>
        <p:cNvGrpSpPr/>
        <p:nvPr/>
      </p:nvGrpSpPr>
      <p:grpSpPr>
        <a:xfrm>
          <a:off x="0" y="0"/>
          <a:ext cx="0" cy="0"/>
          <a:chOff x="0" y="0"/>
          <a:chExt cx="0" cy="0"/>
        </a:xfrm>
      </p:grpSpPr>
      <p:sp>
        <p:nvSpPr>
          <p:cNvPr id="1048692" name="Title 1"/>
          <p:cNvSpPr>
            <a:spLocks noGrp="1"/>
          </p:cNvSpPr>
          <p:nvPr>
            <p:ph type="title"/>
          </p:nvPr>
        </p:nvSpPr>
        <p:spPr/>
        <p:txBody>
          <a:bodyPr>
            <a:normAutofit/>
          </a:bodyPr>
          <a:p>
            <a:pPr algn="ctr"/>
            <a:r>
              <a:rPr b="1" dirty="0" sz="5400" lang="en-GB"/>
              <a:t>Moving of Motion</a:t>
            </a:r>
            <a:endParaRPr b="1" dirty="0" sz="5400" lang="en-US"/>
          </a:p>
        </p:txBody>
      </p:sp>
      <p:sp>
        <p:nvSpPr>
          <p:cNvPr id="1048693" name="Content Placeholder 2"/>
          <p:cNvSpPr>
            <a:spLocks noGrp="1"/>
          </p:cNvSpPr>
          <p:nvPr>
            <p:ph idx="1"/>
          </p:nvPr>
        </p:nvSpPr>
        <p:spPr/>
        <p:txBody>
          <a:bodyPr/>
          <a:p>
            <a:pPr indent="-457189" marL="457189">
              <a:spcBef>
                <a:spcPts val="0"/>
              </a:spcBef>
              <a:buClr>
                <a:schemeClr val="dk1"/>
              </a:buClr>
              <a:buSzPts val="3200"/>
            </a:pPr>
            <a:r>
              <a:rPr dirty="0" lang="en-US">
                <a:latin typeface="Times New Roman"/>
                <a:ea typeface="Times New Roman"/>
                <a:cs typeface="Times New Roman"/>
                <a:sym typeface="Times New Roman"/>
              </a:rPr>
              <a:t>Identify the application</a:t>
            </a:r>
            <a:endParaRPr dirty="0" lang="en-US"/>
          </a:p>
          <a:p>
            <a:pPr indent="-457189" marL="457189">
              <a:spcBef>
                <a:spcPts val="853"/>
              </a:spcBef>
              <a:buClr>
                <a:schemeClr val="dk1"/>
              </a:buClr>
              <a:buSzPts val="3200"/>
            </a:pPr>
            <a:r>
              <a:rPr dirty="0" lang="en-US">
                <a:latin typeface="Times New Roman"/>
                <a:ea typeface="Times New Roman"/>
                <a:cs typeface="Times New Roman"/>
                <a:sym typeface="Times New Roman"/>
              </a:rPr>
              <a:t>State the rule or law under which the application is brought</a:t>
            </a:r>
            <a:endParaRPr dirty="0" lang="en-US"/>
          </a:p>
          <a:p>
            <a:pPr indent="-457189" marL="457189">
              <a:spcBef>
                <a:spcPts val="853"/>
              </a:spcBef>
              <a:buClr>
                <a:schemeClr val="dk1"/>
              </a:buClr>
              <a:buSzPts val="3200"/>
            </a:pPr>
            <a:r>
              <a:rPr dirty="0" lang="en-US">
                <a:latin typeface="Times New Roman"/>
                <a:ea typeface="Times New Roman"/>
                <a:cs typeface="Times New Roman"/>
                <a:sym typeface="Times New Roman"/>
              </a:rPr>
              <a:t>State the prayers being sought on the motion paper</a:t>
            </a:r>
            <a:endParaRPr dirty="0" lang="en-US"/>
          </a:p>
          <a:p>
            <a:pPr indent="-457189" marL="457189">
              <a:spcBef>
                <a:spcPts val="853"/>
              </a:spcBef>
              <a:buClr>
                <a:schemeClr val="dk1"/>
              </a:buClr>
              <a:buSzPts val="3200"/>
            </a:pPr>
            <a:r>
              <a:rPr dirty="0" lang="en-US">
                <a:latin typeface="Times New Roman"/>
                <a:ea typeface="Times New Roman"/>
                <a:cs typeface="Times New Roman"/>
                <a:sym typeface="Times New Roman"/>
              </a:rPr>
              <a:t>Draw the attention of the court to the affidavit in support of the application including further affidavit if any.</a:t>
            </a:r>
            <a:endParaRPr dirty="0" lang="en-US"/>
          </a:p>
          <a:p>
            <a:endParaRPr dirty="0"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79" name=""/>
        <p:cNvGrpSpPr/>
        <p:nvPr/>
      </p:nvGrpSpPr>
      <p:grpSpPr>
        <a:xfrm>
          <a:off x="0" y="0"/>
          <a:ext cx="0" cy="0"/>
          <a:chOff x="0" y="0"/>
          <a:chExt cx="0" cy="0"/>
        </a:xfrm>
      </p:grpSpPr>
      <p:sp>
        <p:nvSpPr>
          <p:cNvPr id="1048694" name="Title 1"/>
          <p:cNvSpPr>
            <a:spLocks noGrp="1"/>
          </p:cNvSpPr>
          <p:nvPr>
            <p:ph type="title"/>
          </p:nvPr>
        </p:nvSpPr>
        <p:spPr/>
        <p:txBody>
          <a:bodyPr/>
          <a:p>
            <a:endParaRPr lang="en-US"/>
          </a:p>
        </p:txBody>
      </p:sp>
      <p:sp>
        <p:nvSpPr>
          <p:cNvPr id="1048695" name="Content Placeholder 2"/>
          <p:cNvSpPr>
            <a:spLocks noGrp="1"/>
          </p:cNvSpPr>
          <p:nvPr>
            <p:ph idx="1"/>
          </p:nvPr>
        </p:nvSpPr>
        <p:spPr/>
        <p:txBody>
          <a:bodyPr/>
          <a:p>
            <a:pPr indent="-457189" marL="457189">
              <a:spcBef>
                <a:spcPts val="0"/>
              </a:spcBef>
              <a:buClr>
                <a:schemeClr val="dk1"/>
              </a:buClr>
              <a:buSzPts val="3200"/>
            </a:pPr>
            <a:r>
              <a:rPr dirty="0" lang="en-US">
                <a:latin typeface="Times New Roman"/>
                <a:ea typeface="Times New Roman"/>
                <a:cs typeface="Times New Roman"/>
                <a:sym typeface="Times New Roman"/>
              </a:rPr>
              <a:t>Make references to any exhibit attached if any.</a:t>
            </a:r>
            <a:endParaRPr dirty="0" lang="en-US"/>
          </a:p>
          <a:p>
            <a:pPr indent="-457189" marL="457189">
              <a:spcBef>
                <a:spcPts val="853"/>
              </a:spcBef>
              <a:buClr>
                <a:schemeClr val="dk1"/>
              </a:buClr>
              <a:buSzPts val="3200"/>
            </a:pPr>
            <a:r>
              <a:rPr dirty="0" lang="en-US">
                <a:latin typeface="Times New Roman"/>
                <a:ea typeface="Times New Roman"/>
                <a:cs typeface="Times New Roman"/>
                <a:sym typeface="Times New Roman"/>
              </a:rPr>
              <a:t>Draw the court’s attention to the written address and adopt same.</a:t>
            </a:r>
            <a:endParaRPr dirty="0" lang="en-US"/>
          </a:p>
          <a:p>
            <a:pPr indent="-457189" marL="457189">
              <a:spcBef>
                <a:spcPts val="853"/>
              </a:spcBef>
              <a:buClr>
                <a:schemeClr val="dk1"/>
              </a:buClr>
              <a:buSzPts val="3200"/>
            </a:pPr>
            <a:r>
              <a:rPr dirty="0" lang="en-US">
                <a:latin typeface="Times New Roman"/>
                <a:ea typeface="Times New Roman"/>
                <a:cs typeface="Times New Roman"/>
                <a:sym typeface="Times New Roman"/>
              </a:rPr>
              <a:t>Where the respondent has filed a counter affidavit, respond to it.</a:t>
            </a:r>
            <a:endParaRPr dirty="0" lang="en-US"/>
          </a:p>
          <a:p>
            <a:pPr indent="-457189" marL="457189">
              <a:spcBef>
                <a:spcPts val="853"/>
              </a:spcBef>
              <a:buClr>
                <a:schemeClr val="dk1"/>
              </a:buClr>
              <a:buSzPts val="3200"/>
            </a:pPr>
            <a:r>
              <a:rPr dirty="0" lang="en-US">
                <a:latin typeface="Times New Roman"/>
                <a:ea typeface="Times New Roman"/>
                <a:cs typeface="Times New Roman"/>
                <a:sym typeface="Times New Roman"/>
              </a:rPr>
              <a:t>Urge the court to grant the application</a:t>
            </a:r>
            <a:endParaRPr dirty="0" lang="en-US"/>
          </a:p>
          <a:p>
            <a:endParaRPr dirty="0"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80" name=""/>
        <p:cNvGrpSpPr/>
        <p:nvPr/>
      </p:nvGrpSpPr>
      <p:grpSpPr>
        <a:xfrm>
          <a:off x="0" y="0"/>
          <a:ext cx="0" cy="0"/>
          <a:chOff x="0" y="0"/>
          <a:chExt cx="0" cy="0"/>
        </a:xfrm>
      </p:grpSpPr>
      <p:sp>
        <p:nvSpPr>
          <p:cNvPr id="1048696" name="Title 1"/>
          <p:cNvSpPr>
            <a:spLocks noGrp="1"/>
          </p:cNvSpPr>
          <p:nvPr>
            <p:ph type="title"/>
          </p:nvPr>
        </p:nvSpPr>
        <p:spPr/>
        <p:txBody>
          <a:bodyPr/>
          <a:p>
            <a:endParaRPr lang="en-US"/>
          </a:p>
        </p:txBody>
      </p:sp>
      <p:sp>
        <p:nvSpPr>
          <p:cNvPr id="1048697" name="Content Placeholder 2"/>
          <p:cNvSpPr>
            <a:spLocks noGrp="1"/>
          </p:cNvSpPr>
          <p:nvPr>
            <p:ph idx="1"/>
          </p:nvPr>
        </p:nvSpPr>
        <p:spPr/>
        <p:txBody>
          <a:bodyPr/>
          <a:p>
            <a:pPr indent="-457189" marL="457189">
              <a:spcBef>
                <a:spcPts val="0"/>
              </a:spcBef>
              <a:buClr>
                <a:schemeClr val="dk1"/>
              </a:buClr>
              <a:buSzPts val="3200"/>
            </a:pPr>
            <a:r>
              <a:rPr dirty="0" lang="en-US">
                <a:latin typeface="Times New Roman"/>
                <a:ea typeface="Times New Roman"/>
                <a:cs typeface="Times New Roman"/>
                <a:sym typeface="Times New Roman"/>
              </a:rPr>
              <a:t>Where the respondent is opposing the application by way of a counter affidavit he will indicate and refer the court to his counter affidavit, adopt his written address and urge the court not to grant it.</a:t>
            </a:r>
            <a:endParaRPr dirty="0" lang="en-US"/>
          </a:p>
          <a:p>
            <a:pPr indent="-457189" marL="457189">
              <a:spcBef>
                <a:spcPts val="853"/>
              </a:spcBef>
              <a:buClr>
                <a:schemeClr val="dk1"/>
              </a:buClr>
              <a:buSzPts val="3200"/>
            </a:pPr>
            <a:r>
              <a:rPr dirty="0" lang="en-US">
                <a:latin typeface="Times New Roman"/>
                <a:ea typeface="Times New Roman"/>
                <a:cs typeface="Times New Roman"/>
                <a:sym typeface="Times New Roman"/>
              </a:rPr>
              <a:t>The court will deliver a bench ruling, stand down for ruling or adjourned for ruling as the case may be.</a:t>
            </a:r>
            <a:endParaRPr dirty="0" lang="en-US"/>
          </a:p>
          <a:p>
            <a:pPr indent="-457189" marL="457189">
              <a:spcBef>
                <a:spcPts val="853"/>
              </a:spcBef>
              <a:buClr>
                <a:schemeClr val="dk1"/>
              </a:buClr>
              <a:buSzPts val="3200"/>
            </a:pPr>
            <a:r>
              <a:rPr dirty="0" lang="en-US">
                <a:latin typeface="Times New Roman"/>
                <a:ea typeface="Times New Roman"/>
                <a:cs typeface="Times New Roman"/>
                <a:sym typeface="Times New Roman"/>
              </a:rPr>
              <a:t>Where the respondent has no objection and did not file any counter he may indicate he has no objection and he may ask for cost.</a:t>
            </a:r>
          </a:p>
          <a:p>
            <a:endParaRPr dirty="0" lang="en-US"/>
          </a:p>
          <a:p>
            <a:pPr indent="-457189" marL="457189">
              <a:spcBef>
                <a:spcPts val="853"/>
              </a:spcBef>
              <a:buClr>
                <a:schemeClr val="dk1"/>
              </a:buClr>
              <a:buSzPts val="3200"/>
            </a:pPr>
            <a:endParaRPr dirty="0" lang="en-US">
              <a:latin typeface="Times New Roman"/>
              <a:ea typeface="Times New Roman"/>
              <a:cs typeface="Times New Roman"/>
              <a:sym typeface="Times New Roman"/>
            </a:endParaRPr>
          </a:p>
          <a:p>
            <a:endParaRPr dirty="0"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81" name=""/>
        <p:cNvGrpSpPr/>
        <p:nvPr/>
      </p:nvGrpSpPr>
      <p:grpSpPr>
        <a:xfrm>
          <a:off x="0" y="0"/>
          <a:ext cx="0" cy="0"/>
          <a:chOff x="0" y="0"/>
          <a:chExt cx="0" cy="0"/>
        </a:xfrm>
      </p:grpSpPr>
      <p:sp>
        <p:nvSpPr>
          <p:cNvPr id="1048698" name="Title 1"/>
          <p:cNvSpPr>
            <a:spLocks noGrp="1"/>
          </p:cNvSpPr>
          <p:nvPr>
            <p:ph type="title"/>
          </p:nvPr>
        </p:nvSpPr>
        <p:spPr/>
        <p:txBody>
          <a:bodyPr/>
          <a:p>
            <a:endParaRPr lang="en-US"/>
          </a:p>
        </p:txBody>
      </p:sp>
      <p:sp>
        <p:nvSpPr>
          <p:cNvPr id="1048699" name="Content Placeholder 2"/>
          <p:cNvSpPr>
            <a:spLocks noGrp="1"/>
          </p:cNvSpPr>
          <p:nvPr>
            <p:ph idx="1"/>
          </p:nvPr>
        </p:nvSpPr>
        <p:spPr/>
        <p:txBody>
          <a:bodyPr/>
          <a:p>
            <a:r>
              <a:rPr b="1" dirty="0" lang="en-US">
                <a:latin typeface="Times New Roman"/>
                <a:ea typeface="Times New Roman"/>
                <a:cs typeface="Times New Roman"/>
                <a:sym typeface="Times New Roman"/>
              </a:rPr>
              <a:t>In Abuja</a:t>
            </a:r>
            <a:r>
              <a:rPr dirty="0" lang="en-US">
                <a:latin typeface="Times New Roman"/>
                <a:ea typeface="Times New Roman"/>
                <a:cs typeface="Times New Roman"/>
                <a:sym typeface="Times New Roman"/>
              </a:rPr>
              <a:t>, motion </a:t>
            </a:r>
            <a:r>
              <a:rPr dirty="0" i="1" lang="en-US">
                <a:latin typeface="Times New Roman"/>
                <a:ea typeface="Times New Roman"/>
                <a:cs typeface="Times New Roman"/>
                <a:sym typeface="Times New Roman"/>
              </a:rPr>
              <a:t>ex parte </a:t>
            </a:r>
            <a:r>
              <a:rPr dirty="0" lang="en-US">
                <a:latin typeface="Times New Roman"/>
                <a:ea typeface="Times New Roman"/>
                <a:cs typeface="Times New Roman"/>
                <a:sym typeface="Times New Roman"/>
              </a:rPr>
              <a:t>may be deemed moved and the written address adopted without actually moving same </a:t>
            </a:r>
            <a:r>
              <a:rPr b="1" dirty="0" lang="en-US">
                <a:latin typeface="Times New Roman"/>
                <a:ea typeface="Times New Roman"/>
                <a:cs typeface="Times New Roman"/>
                <a:sym typeface="Times New Roman"/>
              </a:rPr>
              <a:t>See </a:t>
            </a:r>
            <a:r>
              <a:rPr b="1" dirty="0" lang="en-US">
                <a:solidFill>
                  <a:srgbClr val="FF0000"/>
                </a:solidFill>
                <a:latin typeface="Times New Roman"/>
                <a:ea typeface="Times New Roman"/>
                <a:cs typeface="Times New Roman"/>
                <a:sym typeface="Times New Roman"/>
              </a:rPr>
              <a:t>O. 30 R4 Abuja</a:t>
            </a:r>
          </a:p>
          <a:p>
            <a:endParaRPr dirty="0"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82" name=""/>
        <p:cNvGrpSpPr/>
        <p:nvPr/>
      </p:nvGrpSpPr>
      <p:grpSpPr>
        <a:xfrm>
          <a:off x="0" y="0"/>
          <a:ext cx="0" cy="0"/>
          <a:chOff x="0" y="0"/>
          <a:chExt cx="0" cy="0"/>
        </a:xfrm>
      </p:grpSpPr>
      <p:sp>
        <p:nvSpPr>
          <p:cNvPr id="1048700" name="Title 1"/>
          <p:cNvSpPr>
            <a:spLocks noGrp="1"/>
          </p:cNvSpPr>
          <p:nvPr>
            <p:ph type="title"/>
          </p:nvPr>
        </p:nvSpPr>
        <p:spPr/>
        <p:txBody>
          <a:bodyPr/>
          <a:p>
            <a:pPr algn="ctr"/>
            <a:r>
              <a:rPr b="1" dirty="0" lang="en">
                <a:latin typeface="Times New Roman"/>
                <a:ea typeface="Times New Roman"/>
                <a:cs typeface="Times New Roman"/>
                <a:sym typeface="Times New Roman"/>
              </a:rPr>
              <a:t>AFFIDAVITS</a:t>
            </a:r>
            <a:endParaRPr dirty="0" lang="en-US"/>
          </a:p>
        </p:txBody>
      </p:sp>
      <p:sp>
        <p:nvSpPr>
          <p:cNvPr id="1048701" name="Content Placeholder 2"/>
          <p:cNvSpPr>
            <a:spLocks noGrp="1"/>
          </p:cNvSpPr>
          <p:nvPr>
            <p:ph idx="1"/>
          </p:nvPr>
        </p:nvSpPr>
        <p:spPr/>
        <p:txBody>
          <a:bodyPr/>
          <a:p>
            <a:endParaRPr dirty="0"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83" name="Shape 314"/>
        <p:cNvGrpSpPr/>
        <p:nvPr/>
      </p:nvGrpSpPr>
      <p:grpSpPr>
        <a:xfrm>
          <a:off x="0" y="0"/>
          <a:ext cx="0" cy="0"/>
          <a:chOff x="0" y="0"/>
          <a:chExt cx="0" cy="0"/>
        </a:xfrm>
      </p:grpSpPr>
      <p:sp>
        <p:nvSpPr>
          <p:cNvPr id="1048702" name="Google Shape;315;p56"/>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Meaning and Use of Affidavits in Motions</a:t>
            </a:r>
            <a:endParaRPr b="1" dirty="0">
              <a:latin typeface="Times New Roman"/>
              <a:ea typeface="Times New Roman"/>
              <a:cs typeface="Times New Roman"/>
              <a:sym typeface="Times New Roman"/>
            </a:endParaRPr>
          </a:p>
        </p:txBody>
      </p:sp>
      <p:sp>
        <p:nvSpPr>
          <p:cNvPr id="1048703" name="Google Shape;316;p56"/>
          <p:cNvSpPr txBox="1">
            <a:spLocks noGrp="1"/>
          </p:cNvSpPr>
          <p:nvPr>
            <p:ph idx="1"/>
          </p:nvPr>
        </p:nvSpPr>
        <p:spPr>
          <a:xfrm>
            <a:off x="609600" y="1219200"/>
            <a:ext cx="10972800" cy="4906800"/>
          </a:xfrm>
          <a:prstGeom prst="rect"/>
          <a:noFill/>
          <a:ln>
            <a:noFill/>
          </a:ln>
        </p:spPr>
        <p:txBody>
          <a:bodyPr anchor="t" anchorCtr="0" bIns="60933" lIns="121900" rIns="121900" rtlCol="0" spcFirstLastPara="1" tIns="60933" vert="horz" wrap="square">
            <a:noAutofit/>
          </a:bodyPr>
          <a:p>
            <a:pPr indent="-457189" marL="457189">
              <a:spcBef>
                <a:spcPts val="827"/>
              </a:spcBef>
              <a:buClr>
                <a:schemeClr val="dk1"/>
              </a:buClr>
              <a:buSzPts val="3100"/>
            </a:pPr>
            <a:r>
              <a:rPr dirty="0" sz="3733" lang="en-US">
                <a:latin typeface="Times New Roman"/>
                <a:ea typeface="Times New Roman"/>
                <a:cs typeface="Times New Roman"/>
                <a:sym typeface="Times New Roman"/>
              </a:rPr>
              <a:t>It is a written statement of facts made by the maker under oath.</a:t>
            </a:r>
            <a:endParaRPr dirty="0" sz="3733" lang="en-US"/>
          </a:p>
          <a:p>
            <a:pPr indent="-457189" marL="457189">
              <a:spcBef>
                <a:spcPts val="827"/>
              </a:spcBef>
              <a:buClr>
                <a:schemeClr val="dk1"/>
              </a:buClr>
              <a:buSzPts val="3100"/>
            </a:pPr>
            <a:r>
              <a:rPr dirty="0" sz="3733" lang="en-US">
                <a:latin typeface="Times New Roman"/>
                <a:ea typeface="Times New Roman"/>
                <a:cs typeface="Times New Roman"/>
                <a:sym typeface="Times New Roman"/>
              </a:rPr>
              <a:t>The maker is referred to as the deponent.</a:t>
            </a:r>
            <a:endParaRPr dirty="0" sz="3733" lang="en-US"/>
          </a:p>
          <a:p>
            <a:pPr indent="-457189" marL="457189">
              <a:spcBef>
                <a:spcPts val="0"/>
              </a:spcBef>
              <a:buClr>
                <a:schemeClr val="dk1"/>
              </a:buClr>
              <a:buSzPts val="3100"/>
            </a:pPr>
            <a:r>
              <a:rPr dirty="0" sz="3733" lang="en">
                <a:latin typeface="Times New Roman"/>
                <a:ea typeface="Times New Roman"/>
                <a:cs typeface="Times New Roman"/>
                <a:sym typeface="Times New Roman"/>
              </a:rPr>
              <a:t>Every motion shall be supported by an affidavit. See </a:t>
            </a:r>
            <a:r>
              <a:rPr b="1" dirty="0" sz="3733" lang="en">
                <a:solidFill>
                  <a:srgbClr val="FF0000"/>
                </a:solidFill>
                <a:latin typeface="Times New Roman"/>
                <a:ea typeface="Times New Roman"/>
                <a:cs typeface="Times New Roman"/>
                <a:sym typeface="Times New Roman"/>
              </a:rPr>
              <a:t>O 31 R 1 Abuja</a:t>
            </a:r>
            <a:r>
              <a:rPr b="1" dirty="0" sz="3733" lang="en">
                <a:latin typeface="Times New Roman"/>
                <a:ea typeface="Times New Roman"/>
                <a:cs typeface="Times New Roman"/>
                <a:sym typeface="Times New Roman"/>
              </a:rPr>
              <a:t>, O 43 R1(1</a:t>
            </a:r>
            <a:r>
              <a:rPr dirty="0" sz="3733" lang="en">
                <a:latin typeface="Times New Roman"/>
                <a:ea typeface="Times New Roman"/>
                <a:cs typeface="Times New Roman"/>
                <a:sym typeface="Times New Roman"/>
              </a:rPr>
              <a:t>) </a:t>
            </a:r>
            <a:r>
              <a:rPr b="1" dirty="0" sz="3733" lang="en">
                <a:latin typeface="Times New Roman"/>
                <a:ea typeface="Times New Roman"/>
                <a:cs typeface="Times New Roman"/>
                <a:sym typeface="Times New Roman"/>
              </a:rPr>
              <a:t>Lagos.</a:t>
            </a:r>
            <a:endParaRPr dirty="0" sz="3733"/>
          </a:p>
          <a:p>
            <a:pPr indent="-457189" marL="457189">
              <a:spcBef>
                <a:spcPts val="827"/>
              </a:spcBef>
              <a:buClr>
                <a:schemeClr val="dk1"/>
              </a:buClr>
              <a:buSzPts val="3100"/>
            </a:pPr>
            <a:r>
              <a:rPr dirty="0" sz="3733" lang="en">
                <a:latin typeface="Times New Roman"/>
                <a:ea typeface="Times New Roman"/>
                <a:cs typeface="Times New Roman"/>
                <a:sym typeface="Times New Roman"/>
              </a:rPr>
              <a:t>Where the application is one brought on point of law there  is no need for an affidavit see </a:t>
            </a:r>
            <a:r>
              <a:rPr b="1" dirty="0" sz="3733" lang="en">
                <a:latin typeface="Times New Roman"/>
                <a:ea typeface="Times New Roman"/>
                <a:cs typeface="Times New Roman"/>
                <a:sym typeface="Times New Roman"/>
              </a:rPr>
              <a:t>EREJUWA II V. DEDUWA (1970) MSNLR15</a:t>
            </a:r>
            <a:endParaRPr dirty="0" sz="3733"/>
          </a:p>
          <a:p>
            <a:pPr indent="-457189" marL="457189">
              <a:spcBef>
                <a:spcPts val="827"/>
              </a:spcBef>
              <a:buClr>
                <a:schemeClr val="dk1"/>
              </a:buClr>
              <a:buSzPts val="3100"/>
            </a:pPr>
            <a:r>
              <a:rPr dirty="0" sz="3733" lang="en">
                <a:latin typeface="Times New Roman"/>
                <a:ea typeface="Times New Roman"/>
                <a:cs typeface="Times New Roman"/>
                <a:sym typeface="Times New Roman"/>
              </a:rPr>
              <a:t> </a:t>
            </a:r>
            <a:endParaRPr dirty="0" sz="3733">
              <a:latin typeface="Times New Roman"/>
              <a:ea typeface="Times New Roman"/>
              <a:cs typeface="Times New Roman"/>
              <a:sym typeface="Times New Roman"/>
            </a:endParaRPr>
          </a:p>
          <a:p>
            <a:pPr indent="-194728" marL="457189">
              <a:spcBef>
                <a:spcPts val="827"/>
              </a:spcBef>
              <a:buClr>
                <a:schemeClr val="dk1"/>
              </a:buClr>
              <a:buSzPts val="3100"/>
              <a:buNone/>
            </a:pPr>
            <a:endParaRPr b="1" dirty="0" sz="3733">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86" name="Shape 320"/>
        <p:cNvGrpSpPr/>
        <p:nvPr/>
      </p:nvGrpSpPr>
      <p:grpSpPr>
        <a:xfrm>
          <a:off x="0" y="0"/>
          <a:ext cx="0" cy="0"/>
          <a:chOff x="0" y="0"/>
          <a:chExt cx="0" cy="0"/>
        </a:xfrm>
      </p:grpSpPr>
      <p:sp>
        <p:nvSpPr>
          <p:cNvPr id="1048706" name="Google Shape;321;p57"/>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Form, contents, and drafting  of Affidavit</a:t>
            </a:r>
            <a:endParaRPr b="1" dirty="0">
              <a:latin typeface="Times New Roman" panose="02020603050405020304" pitchFamily="18" charset="0"/>
              <a:cs typeface="Times New Roman" panose="02020603050405020304" pitchFamily="18" charset="0"/>
            </a:endParaRPr>
          </a:p>
        </p:txBody>
      </p:sp>
      <p:sp>
        <p:nvSpPr>
          <p:cNvPr id="1048707" name="Google Shape;322;p57"/>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200"/>
            </a:pPr>
            <a:r>
              <a:rPr dirty="0" sz="3200" lang="en">
                <a:latin typeface="Times New Roman"/>
                <a:ea typeface="Times New Roman"/>
                <a:cs typeface="Times New Roman"/>
                <a:sym typeface="Times New Roman"/>
              </a:rPr>
              <a:t>Every affidavit must comply with the provisions of section </a:t>
            </a:r>
            <a:r>
              <a:rPr b="1" dirty="0" sz="3200" lang="en">
                <a:latin typeface="Times New Roman"/>
                <a:ea typeface="Times New Roman"/>
                <a:cs typeface="Times New Roman"/>
                <a:sym typeface="Times New Roman"/>
              </a:rPr>
              <a:t>115</a:t>
            </a:r>
            <a:r>
              <a:rPr dirty="0" sz="3200" lang="en">
                <a:latin typeface="Times New Roman"/>
                <a:ea typeface="Times New Roman"/>
                <a:cs typeface="Times New Roman"/>
                <a:sym typeface="Times New Roman"/>
              </a:rPr>
              <a:t> of the </a:t>
            </a:r>
            <a:r>
              <a:rPr b="1" dirty="0" sz="3200" lang="en">
                <a:latin typeface="Times New Roman"/>
                <a:ea typeface="Times New Roman"/>
                <a:cs typeface="Times New Roman"/>
                <a:sym typeface="Times New Roman"/>
              </a:rPr>
              <a:t>Evidence Act.</a:t>
            </a:r>
            <a:endParaRPr dirty="0" sz="3200"/>
          </a:p>
          <a:p>
            <a:pPr indent="-457189" marL="457189">
              <a:spcBef>
                <a:spcPts val="853"/>
              </a:spcBef>
              <a:buClr>
                <a:schemeClr val="dk1"/>
              </a:buClr>
              <a:buSzPts val="3200"/>
            </a:pPr>
            <a:r>
              <a:rPr dirty="0" sz="3200" lang="en">
                <a:latin typeface="Times New Roman"/>
                <a:ea typeface="Times New Roman"/>
                <a:cs typeface="Times New Roman"/>
                <a:sym typeface="Times New Roman"/>
              </a:rPr>
              <a:t>If the deponent deposed to the affidavit in a language other than the language of the court, ( English language) the affidavit must be translated to the language of the court and both the English version and the other language must be presented to court. It must also have a jurat See </a:t>
            </a:r>
            <a:r>
              <a:rPr b="1" dirty="0" sz="3200" lang="en">
                <a:latin typeface="Times New Roman"/>
                <a:ea typeface="Times New Roman"/>
                <a:cs typeface="Times New Roman"/>
                <a:sym typeface="Times New Roman"/>
              </a:rPr>
              <a:t>GUNDIRI V NYAKO (2014)2 NWLR (PT 1391)211</a:t>
            </a:r>
            <a:endParaRPr dirty="0" sz="32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89" name="Shape 326"/>
        <p:cNvGrpSpPr/>
        <p:nvPr/>
      </p:nvGrpSpPr>
      <p:grpSpPr>
        <a:xfrm>
          <a:off x="0" y="0"/>
          <a:ext cx="0" cy="0"/>
          <a:chOff x="0" y="0"/>
          <a:chExt cx="0" cy="0"/>
        </a:xfrm>
      </p:grpSpPr>
      <p:sp>
        <p:nvSpPr>
          <p:cNvPr id="1048710" name="Google Shape;327;p58"/>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Contents of Affidavit</a:t>
            </a:r>
            <a:endParaRPr b="1" dirty="0">
              <a:latin typeface="Times New Roman"/>
              <a:ea typeface="Times New Roman"/>
              <a:cs typeface="Times New Roman"/>
              <a:sym typeface="Times New Roman"/>
            </a:endParaRPr>
          </a:p>
        </p:txBody>
      </p:sp>
      <p:sp>
        <p:nvSpPr>
          <p:cNvPr id="1048711" name="Google Shape;328;p58"/>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000"/>
            </a:pPr>
            <a:r>
              <a:rPr dirty="0" sz="3200" lang="en">
                <a:latin typeface="Times New Roman"/>
                <a:ea typeface="Times New Roman"/>
                <a:cs typeface="Times New Roman"/>
                <a:sym typeface="Times New Roman"/>
              </a:rPr>
              <a:t>Heading of court before which the oath is sworn</a:t>
            </a:r>
            <a:endParaRPr dirty="0" sz="3200"/>
          </a:p>
          <a:p>
            <a:pPr indent="-457189" marL="457189">
              <a:spcBef>
                <a:spcPts val="1067"/>
              </a:spcBef>
              <a:buClr>
                <a:schemeClr val="dk1"/>
              </a:buClr>
              <a:buSzPts val="4000"/>
            </a:pPr>
            <a:r>
              <a:rPr dirty="0" sz="3200" lang="en">
                <a:latin typeface="Times New Roman"/>
                <a:ea typeface="Times New Roman"/>
                <a:cs typeface="Times New Roman"/>
                <a:sym typeface="Times New Roman"/>
              </a:rPr>
              <a:t>The suit number where it has been given</a:t>
            </a:r>
            <a:endParaRPr dirty="0" sz="3200"/>
          </a:p>
          <a:p>
            <a:pPr indent="-457189" marL="457189">
              <a:spcBef>
                <a:spcPts val="1067"/>
              </a:spcBef>
              <a:buClr>
                <a:schemeClr val="dk1"/>
              </a:buClr>
              <a:buSzPts val="4000"/>
            </a:pPr>
            <a:r>
              <a:rPr dirty="0" sz="3200" lang="en">
                <a:latin typeface="Times New Roman"/>
                <a:ea typeface="Times New Roman"/>
                <a:cs typeface="Times New Roman"/>
                <a:sym typeface="Times New Roman"/>
              </a:rPr>
              <a:t>The names of parties</a:t>
            </a:r>
            <a:endParaRPr dirty="0" sz="3200"/>
          </a:p>
          <a:p>
            <a:pPr indent="-457189" marL="457189">
              <a:spcBef>
                <a:spcPts val="1067"/>
              </a:spcBef>
              <a:buClr>
                <a:schemeClr val="dk1"/>
              </a:buClr>
              <a:buSzPts val="4000"/>
            </a:pPr>
            <a:r>
              <a:rPr dirty="0" sz="3200" lang="en">
                <a:latin typeface="Times New Roman"/>
                <a:ea typeface="Times New Roman"/>
                <a:cs typeface="Times New Roman"/>
                <a:sym typeface="Times New Roman"/>
              </a:rPr>
              <a:t>The application which the affidavit supports. E.g. affidavit in support of motion on notice</a:t>
            </a:r>
            <a:endParaRPr dirty="0" sz="32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92" name="Shape 332"/>
        <p:cNvGrpSpPr/>
        <p:nvPr/>
      </p:nvGrpSpPr>
      <p:grpSpPr>
        <a:xfrm>
          <a:off x="0" y="0"/>
          <a:ext cx="0" cy="0"/>
          <a:chOff x="0" y="0"/>
          <a:chExt cx="0" cy="0"/>
        </a:xfrm>
      </p:grpSpPr>
      <p:sp>
        <p:nvSpPr>
          <p:cNvPr id="1048714" name="Google Shape;333;p59"/>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endParaRPr dirty="0"/>
          </a:p>
        </p:txBody>
      </p:sp>
      <p:sp>
        <p:nvSpPr>
          <p:cNvPr id="1048715" name="Google Shape;334;p59"/>
          <p:cNvSpPr txBox="1">
            <a:spLocks noGrp="1"/>
          </p:cNvSpPr>
          <p:nvPr>
            <p:ph idx="1"/>
          </p:nvPr>
        </p:nvSpPr>
        <p:spPr>
          <a:xfrm>
            <a:off x="609600" y="1417637"/>
            <a:ext cx="10972800" cy="47084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300"/>
            </a:pPr>
            <a:r>
              <a:rPr dirty="0" sz="3200" lang="en">
                <a:latin typeface="Times New Roman"/>
                <a:ea typeface="Times New Roman"/>
                <a:cs typeface="Times New Roman"/>
                <a:sym typeface="Times New Roman"/>
              </a:rPr>
              <a:t>Name, nationality, religion profession and address of deponent</a:t>
            </a:r>
            <a:endParaRPr dirty="0" sz="3200"/>
          </a:p>
          <a:p>
            <a:pPr indent="-457189" marL="457189">
              <a:spcBef>
                <a:spcPts val="880"/>
              </a:spcBef>
              <a:buClr>
                <a:schemeClr val="dk1"/>
              </a:buClr>
              <a:buSzPts val="3300"/>
            </a:pPr>
            <a:r>
              <a:rPr dirty="0" sz="3200" lang="en">
                <a:latin typeface="Times New Roman"/>
                <a:ea typeface="Times New Roman"/>
                <a:cs typeface="Times New Roman"/>
                <a:sym typeface="Times New Roman"/>
              </a:rPr>
              <a:t>Where deponent is not a party, the person by whose authority he deposes</a:t>
            </a:r>
            <a:endParaRPr dirty="0" sz="3200"/>
          </a:p>
          <a:p>
            <a:pPr indent="-457189" marL="457189">
              <a:spcBef>
                <a:spcPts val="880"/>
              </a:spcBef>
              <a:buClr>
                <a:schemeClr val="dk1"/>
              </a:buClr>
              <a:buSzPts val="3300"/>
            </a:pPr>
            <a:r>
              <a:rPr dirty="0" sz="3200" lang="en">
                <a:latin typeface="Times New Roman"/>
                <a:ea typeface="Times New Roman"/>
                <a:cs typeface="Times New Roman"/>
                <a:sym typeface="Times New Roman"/>
              </a:rPr>
              <a:t>Where the facts are not within his knowledge, the source of his knowledge or information must be stated</a:t>
            </a:r>
            <a:endParaRPr dirty="0" sz="3200">
              <a:latin typeface="Times New Roman"/>
              <a:ea typeface="Times New Roman"/>
              <a:cs typeface="Times New Roman"/>
              <a:sym typeface="Times New Roman"/>
            </a:endParaRPr>
          </a:p>
          <a:p>
            <a:pPr indent="-457189" marL="457189">
              <a:spcBef>
                <a:spcPts val="880"/>
              </a:spcBef>
              <a:buClr>
                <a:schemeClr val="dk1"/>
              </a:buClr>
              <a:buSzPts val="3300"/>
            </a:pPr>
            <a:r>
              <a:rPr dirty="0" sz="3200" lang="en">
                <a:latin typeface="Times New Roman"/>
                <a:ea typeface="Times New Roman"/>
                <a:cs typeface="Times New Roman"/>
                <a:sym typeface="Times New Roman"/>
              </a:rPr>
              <a:t>The oath’s clause.</a:t>
            </a:r>
            <a:endParaRPr dirty="0" sz="3200">
              <a:latin typeface="Times New Roman"/>
              <a:ea typeface="Times New Roman"/>
              <a:cs typeface="Times New Roman"/>
              <a:sym typeface="Times New Roman"/>
            </a:endParaRPr>
          </a:p>
          <a:p>
            <a:pPr indent="-457189" marL="457189">
              <a:spcBef>
                <a:spcPts val="880"/>
              </a:spcBef>
              <a:buClr>
                <a:schemeClr val="dk1"/>
              </a:buClr>
              <a:buSzPts val="3300"/>
            </a:pPr>
            <a:r>
              <a:rPr dirty="0" sz="3200" lang="en">
                <a:latin typeface="Times New Roman"/>
                <a:ea typeface="Times New Roman"/>
                <a:cs typeface="Times New Roman"/>
                <a:sym typeface="Times New Roman"/>
              </a:rPr>
              <a:t>Signature and official stamp of commissioner for oaths</a:t>
            </a:r>
            <a:endParaRPr dirty="0" sz="3200">
              <a:latin typeface="Times New Roman"/>
              <a:ea typeface="Times New Roman"/>
              <a:cs typeface="Times New Roman"/>
              <a:sym typeface="Times New Roman"/>
            </a:endParaRPr>
          </a:p>
          <a:p>
            <a:pPr indent="-177796" marL="457189">
              <a:spcBef>
                <a:spcPts val="880"/>
              </a:spcBef>
              <a:buClr>
                <a:schemeClr val="dk1"/>
              </a:buClr>
              <a:buSzPts val="3300"/>
              <a:buNone/>
            </a:pPr>
            <a:endParaRPr dirty="0" sz="3200">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95" name="Shape 338"/>
        <p:cNvGrpSpPr/>
        <p:nvPr/>
      </p:nvGrpSpPr>
      <p:grpSpPr>
        <a:xfrm>
          <a:off x="0" y="0"/>
          <a:ext cx="0" cy="0"/>
          <a:chOff x="0" y="0"/>
          <a:chExt cx="0" cy="0"/>
        </a:xfrm>
      </p:grpSpPr>
      <p:sp>
        <p:nvSpPr>
          <p:cNvPr id="1048718" name="Google Shape;339;p60"/>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200"/>
            </a:pPr>
            <a:r>
              <a:rPr b="1" dirty="0" sz="4267" lang="en">
                <a:latin typeface="Times New Roman"/>
                <a:ea typeface="Times New Roman"/>
                <a:cs typeface="Times New Roman"/>
                <a:sym typeface="Times New Roman"/>
              </a:rPr>
              <a:t>Principles relating to Affidavit</a:t>
            </a:r>
            <a:endParaRPr b="1" dirty="0" sz="4267">
              <a:latin typeface="Times New Roman"/>
              <a:ea typeface="Times New Roman"/>
              <a:cs typeface="Times New Roman"/>
              <a:sym typeface="Times New Roman"/>
            </a:endParaRPr>
          </a:p>
        </p:txBody>
      </p:sp>
      <p:sp>
        <p:nvSpPr>
          <p:cNvPr id="1048719" name="Google Shape;340;p60"/>
          <p:cNvSpPr txBox="1">
            <a:spLocks noGrp="1"/>
          </p:cNvSpPr>
          <p:nvPr>
            <p:ph idx="1"/>
          </p:nvPr>
        </p:nvSpPr>
        <p:spPr>
          <a:xfrm>
            <a:off x="609600" y="1600200"/>
            <a:ext cx="10972800" cy="46484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000"/>
            </a:pPr>
            <a:r>
              <a:rPr dirty="0" sz="3200" lang="en">
                <a:latin typeface="Times New Roman"/>
                <a:ea typeface="Times New Roman"/>
                <a:cs typeface="Times New Roman"/>
                <a:sym typeface="Times New Roman"/>
              </a:rPr>
              <a:t>A court may in civil proceedings order proof of facts by affidavit evidence. See section 107  of EA</a:t>
            </a:r>
            <a:endParaRPr dirty="0" sz="3200"/>
          </a:p>
          <a:p>
            <a:pPr indent="-457189" marL="457189">
              <a:spcBef>
                <a:spcPts val="800"/>
              </a:spcBef>
              <a:buClr>
                <a:schemeClr val="dk1"/>
              </a:buClr>
              <a:buSzPts val="3000"/>
            </a:pPr>
            <a:r>
              <a:rPr dirty="0" sz="3200" lang="en">
                <a:latin typeface="Times New Roman"/>
                <a:ea typeface="Times New Roman"/>
                <a:cs typeface="Times New Roman"/>
                <a:sym typeface="Times New Roman"/>
              </a:rPr>
              <a:t>An affidavit must not contain any extraneous matter.</a:t>
            </a:r>
            <a:endParaRPr dirty="0" sz="3200"/>
          </a:p>
          <a:p>
            <a:pPr indent="-457189" marL="457189">
              <a:spcBef>
                <a:spcPts val="800"/>
              </a:spcBef>
              <a:buClr>
                <a:schemeClr val="dk1"/>
              </a:buClr>
              <a:buSzPts val="3000"/>
            </a:pPr>
            <a:r>
              <a:rPr dirty="0" sz="3200" lang="en">
                <a:latin typeface="Times New Roman"/>
                <a:ea typeface="Times New Roman"/>
                <a:cs typeface="Times New Roman"/>
                <a:sym typeface="Times New Roman"/>
              </a:rPr>
              <a:t>An affidavit shall not contain objection.</a:t>
            </a:r>
            <a:endParaRPr dirty="0" sz="3200"/>
          </a:p>
          <a:p>
            <a:pPr indent="-457189" marL="457189">
              <a:spcBef>
                <a:spcPts val="800"/>
              </a:spcBef>
              <a:buClr>
                <a:schemeClr val="dk1"/>
              </a:buClr>
              <a:buSzPts val="3000"/>
            </a:pPr>
            <a:r>
              <a:rPr dirty="0" sz="3200" lang="en">
                <a:latin typeface="Times New Roman"/>
                <a:ea typeface="Times New Roman"/>
                <a:cs typeface="Times New Roman"/>
                <a:sym typeface="Times New Roman"/>
              </a:rPr>
              <a:t>An affidavit shall not contain prayers (reliefs). </a:t>
            </a:r>
            <a:endParaRPr dirty="0" sz="3200">
              <a:latin typeface="Times New Roman"/>
              <a:ea typeface="Times New Roman"/>
              <a:cs typeface="Times New Roman"/>
              <a:sym typeface="Times New Roman"/>
            </a:endParaRPr>
          </a:p>
          <a:p>
            <a:pPr indent="-457189" marL="457189">
              <a:spcBef>
                <a:spcPts val="800"/>
              </a:spcBef>
              <a:buClr>
                <a:schemeClr val="dk1"/>
              </a:buClr>
              <a:buSzPts val="3000"/>
            </a:pPr>
            <a:r>
              <a:rPr dirty="0" sz="3200" lang="en">
                <a:latin typeface="Times New Roman"/>
                <a:ea typeface="Times New Roman"/>
                <a:cs typeface="Times New Roman"/>
                <a:sym typeface="Times New Roman"/>
              </a:rPr>
              <a:t>An affidavit shall not contain legal arguments. See Section 115(2) Evidence Act.</a:t>
            </a:r>
            <a:endParaRPr dirty="0" sz="3200"/>
          </a:p>
          <a:p>
            <a:pPr indent="-203195" marL="457189">
              <a:spcBef>
                <a:spcPts val="800"/>
              </a:spcBef>
              <a:buClr>
                <a:schemeClr val="dk1"/>
              </a:buClr>
              <a:buSzPts val="3000"/>
              <a:buNone/>
            </a:pPr>
            <a:endParaRPr dirty="0" sz="3200">
              <a:latin typeface="Times New Roman"/>
              <a:ea typeface="Times New Roman"/>
              <a:cs typeface="Times New Roman"/>
              <a:sym typeface="Times New Roman"/>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98" name="Shape 344"/>
        <p:cNvGrpSpPr/>
        <p:nvPr/>
      </p:nvGrpSpPr>
      <p:grpSpPr>
        <a:xfrm>
          <a:off x="0" y="0"/>
          <a:ext cx="0" cy="0"/>
          <a:chOff x="0" y="0"/>
          <a:chExt cx="0" cy="0"/>
        </a:xfrm>
      </p:grpSpPr>
      <p:sp>
        <p:nvSpPr>
          <p:cNvPr id="1048722" name="Google Shape;345;p61"/>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endParaRPr dirty="0"/>
          </a:p>
        </p:txBody>
      </p:sp>
      <p:sp>
        <p:nvSpPr>
          <p:cNvPr id="1048723" name="Google Shape;346;p61"/>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200"/>
            </a:pPr>
            <a:r>
              <a:rPr dirty="0" lang="en">
                <a:latin typeface="Times New Roman"/>
                <a:ea typeface="Times New Roman"/>
                <a:cs typeface="Times New Roman"/>
                <a:sym typeface="Times New Roman"/>
              </a:rPr>
              <a:t>An affidavit shall not draw conclusions whether of facts or law. Section 115(2) Evidence Act.</a:t>
            </a:r>
            <a:endParaRPr dirty="0"/>
          </a:p>
          <a:p>
            <a:pPr indent="-457189" marL="457189">
              <a:spcBef>
                <a:spcPts val="853"/>
              </a:spcBef>
              <a:buClr>
                <a:schemeClr val="dk1"/>
              </a:buClr>
              <a:buSzPts val="3200"/>
            </a:pPr>
            <a:r>
              <a:rPr dirty="0" lang="en">
                <a:latin typeface="Times New Roman"/>
                <a:ea typeface="Times New Roman"/>
                <a:cs typeface="Times New Roman"/>
                <a:sym typeface="Times New Roman"/>
              </a:rPr>
              <a:t>An affidavit shall contain statement of facts only. Section 115(1) Evidence Act</a:t>
            </a:r>
            <a:endParaRPr dirty="0"/>
          </a:p>
          <a:p>
            <a:pPr indent="-186262" marL="457189">
              <a:spcBef>
                <a:spcPts val="853"/>
              </a:spcBef>
              <a:buClr>
                <a:schemeClr val="dk1"/>
              </a:buClr>
              <a:buSzPts val="3200"/>
              <a:buNone/>
            </a:pPr>
            <a:endParaRPr dirty="0">
              <a:latin typeface="Times New Roman"/>
              <a:ea typeface="Times New Roman"/>
              <a:cs typeface="Times New Roman"/>
              <a:sym typeface="Times New Roman"/>
            </a:endParaRPr>
          </a:p>
          <a:p>
            <a:pPr indent="-186262" marL="457189">
              <a:spcBef>
                <a:spcPts val="853"/>
              </a:spcBef>
              <a:buClr>
                <a:schemeClr val="dk1"/>
              </a:buClr>
              <a:buSzPts val="3200"/>
              <a:buNone/>
            </a:pP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201" name="Shape 350"/>
        <p:cNvGrpSpPr/>
        <p:nvPr/>
      </p:nvGrpSpPr>
      <p:grpSpPr>
        <a:xfrm>
          <a:off x="0" y="0"/>
          <a:ext cx="0" cy="0"/>
          <a:chOff x="0" y="0"/>
          <a:chExt cx="0" cy="0"/>
        </a:xfrm>
      </p:grpSpPr>
      <p:sp>
        <p:nvSpPr>
          <p:cNvPr id="1048726" name="Google Shape;351;p62"/>
          <p:cNvSpPr txBox="1">
            <a:spLocks noGrp="1"/>
          </p:cNvSpPr>
          <p:nvPr>
            <p:ph type="title"/>
          </p:nvPr>
        </p:nvSpPr>
        <p:spPr>
          <a:xfrm>
            <a:off x="609600" y="0"/>
            <a:ext cx="10972800" cy="1143200"/>
          </a:xfrm>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endParaRPr dirty="0"/>
          </a:p>
        </p:txBody>
      </p:sp>
      <p:sp>
        <p:nvSpPr>
          <p:cNvPr id="1048727" name="Google Shape;352;p62"/>
          <p:cNvSpPr txBox="1">
            <a:spLocks noGrp="1"/>
          </p:cNvSpPr>
          <p:nvPr>
            <p:ph idx="1"/>
          </p:nvPr>
        </p:nvSpPr>
        <p:spPr>
          <a:xfrm>
            <a:off x="609600" y="1295400"/>
            <a:ext cx="10972800" cy="48308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200"/>
            </a:pPr>
            <a:r>
              <a:rPr dirty="0" lang="en">
                <a:latin typeface="Times New Roman"/>
                <a:ea typeface="Times New Roman"/>
                <a:cs typeface="Times New Roman"/>
                <a:sym typeface="Times New Roman"/>
              </a:rPr>
              <a:t>If the deponent is making the affidavit on the ground of his belief derived from other sources  (not being his personal knowledge), he must state the facts and circumstances forming the ground of his belief. Section 115(3) Evidence Act.</a:t>
            </a:r>
            <a:endParaRPr dirty="0"/>
          </a:p>
          <a:p>
            <a:pPr indent="0" marL="0">
              <a:spcBef>
                <a:spcPts val="853"/>
              </a:spcBef>
              <a:buClr>
                <a:schemeClr val="dk1"/>
              </a:buClr>
              <a:buSzPts val="3200"/>
              <a:buNone/>
            </a:pPr>
            <a:endParaRPr dirty="0">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204" name="Shape 356"/>
        <p:cNvGrpSpPr/>
        <p:nvPr/>
      </p:nvGrpSpPr>
      <p:grpSpPr>
        <a:xfrm>
          <a:off x="0" y="0"/>
          <a:ext cx="0" cy="0"/>
          <a:chOff x="0" y="0"/>
          <a:chExt cx="0" cy="0"/>
        </a:xfrm>
      </p:grpSpPr>
      <p:sp>
        <p:nvSpPr>
          <p:cNvPr id="1048730" name="Google Shape;357;p63"/>
          <p:cNvSpPr txBox="1">
            <a:spLocks noGrp="1"/>
          </p:cNvSpPr>
          <p:nvPr>
            <p:ph type="title"/>
          </p:nvPr>
        </p:nvSpPr>
        <p:spPr>
          <a:xfrm>
            <a:off x="609600" y="274637"/>
            <a:ext cx="10972800" cy="639600"/>
          </a:xfrm>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60"/>
            </a:pPr>
            <a:endParaRPr dirty="0" sz="5279"/>
          </a:p>
        </p:txBody>
      </p:sp>
      <p:sp>
        <p:nvSpPr>
          <p:cNvPr id="1048731" name="Google Shape;358;p63"/>
          <p:cNvSpPr txBox="1">
            <a:spLocks noGrp="1"/>
          </p:cNvSpPr>
          <p:nvPr>
            <p:ph idx="1"/>
          </p:nvPr>
        </p:nvSpPr>
        <p:spPr>
          <a:xfrm>
            <a:off x="609600" y="914400"/>
            <a:ext cx="10972800" cy="52116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200"/>
            </a:pPr>
            <a:r>
              <a:rPr dirty="0" sz="3200" lang="en">
                <a:latin typeface="Times New Roman"/>
                <a:ea typeface="Times New Roman"/>
                <a:cs typeface="Times New Roman"/>
                <a:sym typeface="Times New Roman"/>
              </a:rPr>
              <a:t>If the deponent derived his information from another person rather than his personal knowledge, he shall state the name of his informant and also furnish reasonable particulars of the time, place and circumstance of the information. Section 115(4) Evidence Act.</a:t>
            </a:r>
            <a:endParaRPr dirty="0" sz="3200"/>
          </a:p>
          <a:p>
            <a:pPr indent="-457189" marL="457189">
              <a:spcBef>
                <a:spcPts val="853"/>
              </a:spcBef>
              <a:buClr>
                <a:schemeClr val="dk1"/>
              </a:buClr>
              <a:buSzPts val="3200"/>
            </a:pPr>
            <a:r>
              <a:rPr dirty="0" sz="3200" lang="en"/>
              <a:t>A deponent shall not swear to an affidavit before himself. So if a person is a commissioner for oaths or Notary public, he is disqualified to attest to the affidavit that he is a deponent. See section 112 Evidence Act</a:t>
            </a:r>
            <a:endParaRPr dirty="0" sz="32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207" name="Shape 362"/>
        <p:cNvGrpSpPr/>
        <p:nvPr/>
      </p:nvGrpSpPr>
      <p:grpSpPr>
        <a:xfrm>
          <a:off x="0" y="0"/>
          <a:ext cx="0" cy="0"/>
          <a:chOff x="0" y="0"/>
          <a:chExt cx="0" cy="0"/>
        </a:xfrm>
      </p:grpSpPr>
      <p:sp>
        <p:nvSpPr>
          <p:cNvPr id="1048734" name="Google Shape;363;p64"/>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endParaRPr dirty="0"/>
          </a:p>
        </p:txBody>
      </p:sp>
      <p:sp>
        <p:nvSpPr>
          <p:cNvPr id="1048735" name="Google Shape;364;p64"/>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200"/>
            </a:pPr>
            <a:r>
              <a:rPr dirty="0" sz="3200" lang="en">
                <a:latin typeface="Times New Roman"/>
                <a:ea typeface="Times New Roman"/>
                <a:cs typeface="Times New Roman"/>
                <a:sym typeface="Times New Roman"/>
              </a:rPr>
              <a:t>A deponent shall not swear to an affidavit before his legal practitioner. </a:t>
            </a:r>
            <a:endParaRPr dirty="0" sz="3200"/>
          </a:p>
          <a:p>
            <a:pPr indent="-457189" marL="457189">
              <a:spcBef>
                <a:spcPts val="853"/>
              </a:spcBef>
              <a:buClr>
                <a:schemeClr val="dk1"/>
              </a:buClr>
              <a:buSzPts val="3200"/>
            </a:pPr>
            <a:r>
              <a:rPr dirty="0" sz="3200" lang="en">
                <a:latin typeface="Times New Roman"/>
                <a:ea typeface="Times New Roman"/>
                <a:cs typeface="Times New Roman"/>
                <a:sym typeface="Times New Roman"/>
              </a:rPr>
              <a:t>A deponent shall not swear to an affidavit before a clerk of his legal practitioner.</a:t>
            </a:r>
            <a:endParaRPr dirty="0" sz="3200"/>
          </a:p>
          <a:p>
            <a:pPr indent="-457189" marL="457189">
              <a:spcBef>
                <a:spcPts val="853"/>
              </a:spcBef>
              <a:buClr>
                <a:schemeClr val="dk1"/>
              </a:buClr>
              <a:buSzPts val="3200"/>
            </a:pPr>
            <a:r>
              <a:rPr dirty="0" sz="3200" lang="en">
                <a:latin typeface="Times New Roman"/>
                <a:ea typeface="Times New Roman"/>
                <a:cs typeface="Times New Roman"/>
                <a:sym typeface="Times New Roman"/>
              </a:rPr>
              <a:t>A deponent shall not swear to an affidavit before his partner.</a:t>
            </a:r>
            <a:endParaRPr dirty="0" sz="3200"/>
          </a:p>
          <a:p>
            <a:pPr indent="-457189" marL="457189">
              <a:spcBef>
                <a:spcPts val="853"/>
              </a:spcBef>
              <a:buClr>
                <a:schemeClr val="dk1"/>
              </a:buClr>
              <a:buSzPts val="3200"/>
            </a:pPr>
            <a:r>
              <a:rPr dirty="0" sz="3200" lang="en">
                <a:latin typeface="Times New Roman"/>
                <a:ea typeface="Times New Roman"/>
                <a:cs typeface="Times New Roman"/>
                <a:sym typeface="Times New Roman"/>
              </a:rPr>
              <a:t>A defective or erroneous affidavit may be amended and re-sworn by leave of court, on terms as the court may deem reasonable. See section 114 Evidence Act.</a:t>
            </a:r>
            <a:endParaRPr dirty="0" sz="3200">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210" name="Shape 368"/>
        <p:cNvGrpSpPr/>
        <p:nvPr/>
      </p:nvGrpSpPr>
      <p:grpSpPr>
        <a:xfrm>
          <a:off x="0" y="0"/>
          <a:ext cx="0" cy="0"/>
          <a:chOff x="0" y="0"/>
          <a:chExt cx="0" cy="0"/>
        </a:xfrm>
      </p:grpSpPr>
      <p:sp>
        <p:nvSpPr>
          <p:cNvPr id="1048738" name="Google Shape;369;p65"/>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Counter Affidavit</a:t>
            </a:r>
            <a:endParaRPr b="1" dirty="0">
              <a:latin typeface="Times New Roman"/>
              <a:ea typeface="Times New Roman"/>
              <a:cs typeface="Times New Roman"/>
              <a:sym typeface="Times New Roman"/>
            </a:endParaRPr>
          </a:p>
        </p:txBody>
      </p:sp>
      <p:sp>
        <p:nvSpPr>
          <p:cNvPr id="1048739" name="Google Shape;370;p65"/>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200"/>
            </a:pPr>
            <a:r>
              <a:rPr dirty="0" sz="2667" lang="en">
                <a:latin typeface="Times New Roman"/>
                <a:ea typeface="Times New Roman"/>
                <a:cs typeface="Times New Roman"/>
                <a:sym typeface="Times New Roman"/>
              </a:rPr>
              <a:t>A party who intends to oppose an application is required to file a counter affidavit in opposition.</a:t>
            </a:r>
            <a:endParaRPr dirty="0" sz="2667"/>
          </a:p>
          <a:p>
            <a:pPr indent="-457189" marL="457189">
              <a:spcBef>
                <a:spcPts val="853"/>
              </a:spcBef>
              <a:buClr>
                <a:schemeClr val="dk1"/>
              </a:buClr>
              <a:buSzPts val="3200"/>
            </a:pPr>
            <a:r>
              <a:rPr dirty="0" sz="2667" lang="en">
                <a:latin typeface="Times New Roman"/>
                <a:ea typeface="Times New Roman"/>
                <a:cs typeface="Times New Roman"/>
                <a:sym typeface="Times New Roman"/>
              </a:rPr>
              <a:t>Where a respondent fails to file a counter affidavit the facts deposed to in the affidavit are deemed true. See </a:t>
            </a:r>
            <a:r>
              <a:rPr b="1" dirty="0" sz="2667" lang="en">
                <a:latin typeface="Times New Roman"/>
                <a:ea typeface="Times New Roman"/>
                <a:cs typeface="Times New Roman"/>
                <a:sym typeface="Times New Roman"/>
              </a:rPr>
              <a:t>MATO V HEMBER (2018) ALL FWLR (PT 925) 146 @ 190.</a:t>
            </a:r>
            <a:endParaRPr dirty="0" sz="2667"/>
          </a:p>
          <a:p>
            <a:pPr indent="-457189" marL="457189">
              <a:spcBef>
                <a:spcPts val="853"/>
              </a:spcBef>
              <a:buClr>
                <a:schemeClr val="dk1"/>
              </a:buClr>
              <a:buSzPts val="3200"/>
            </a:pPr>
            <a:r>
              <a:rPr dirty="0" sz="2667" lang="en">
                <a:latin typeface="Times New Roman"/>
                <a:ea typeface="Times New Roman"/>
                <a:cs typeface="Times New Roman"/>
                <a:sym typeface="Times New Roman"/>
              </a:rPr>
              <a:t>An effective rebuttal in a counter affidavit must be specific, clear and unambiguous.</a:t>
            </a:r>
            <a:endParaRPr dirty="0" sz="2667"/>
          </a:p>
          <a:p>
            <a:pPr indent="-186262" marL="457189">
              <a:spcBef>
                <a:spcPts val="853"/>
              </a:spcBef>
              <a:buClr>
                <a:schemeClr val="dk1"/>
              </a:buClr>
              <a:buSzPts val="3200"/>
              <a:buNone/>
            </a:pPr>
            <a:endParaRPr b="1" dirty="0" sz="2667">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213" name="Shape 374"/>
        <p:cNvGrpSpPr/>
        <p:nvPr/>
      </p:nvGrpSpPr>
      <p:grpSpPr>
        <a:xfrm>
          <a:off x="0" y="0"/>
          <a:ext cx="0" cy="0"/>
          <a:chOff x="0" y="0"/>
          <a:chExt cx="0" cy="0"/>
        </a:xfrm>
      </p:grpSpPr>
      <p:sp>
        <p:nvSpPr>
          <p:cNvPr id="1048742" name="Google Shape;375;p66"/>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endParaRPr dirty="0"/>
          </a:p>
        </p:txBody>
      </p:sp>
      <p:sp>
        <p:nvSpPr>
          <p:cNvPr id="1048743" name="Google Shape;376;p66"/>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200"/>
            </a:pPr>
            <a:r>
              <a:rPr dirty="0" sz="3200" lang="en">
                <a:latin typeface="Times New Roman"/>
                <a:ea typeface="Times New Roman"/>
                <a:cs typeface="Times New Roman"/>
                <a:sym typeface="Times New Roman"/>
              </a:rPr>
              <a:t>General denials in a counter affidavit will not be sufficient rebuttal of facts alleged in the affidavit of the adverse party. See </a:t>
            </a:r>
            <a:r>
              <a:rPr b="1" dirty="0" sz="3200" lang="en">
                <a:latin typeface="Times New Roman"/>
                <a:ea typeface="Times New Roman"/>
                <a:cs typeface="Times New Roman"/>
                <a:sym typeface="Times New Roman"/>
              </a:rPr>
              <a:t>OKEREKE V EJIOFOR (1996) 3NWLR (PT 434) 90.</a:t>
            </a:r>
            <a:endParaRPr dirty="0" sz="3200"/>
          </a:p>
          <a:p>
            <a:pPr indent="-457189" marL="457189">
              <a:spcBef>
                <a:spcPts val="853"/>
              </a:spcBef>
              <a:buClr>
                <a:schemeClr val="dk1"/>
              </a:buClr>
              <a:buSzPts val="3200"/>
            </a:pPr>
            <a:r>
              <a:rPr dirty="0" sz="3200" lang="en">
                <a:latin typeface="Times New Roman"/>
                <a:ea typeface="Times New Roman"/>
                <a:cs typeface="Times New Roman"/>
                <a:sym typeface="Times New Roman"/>
              </a:rPr>
              <a:t>Where the respondent intends to rely on points of law alone, he needs not file a counter affidavit. See </a:t>
            </a:r>
            <a:r>
              <a:rPr b="1" dirty="0" sz="3200" lang="en">
                <a:latin typeface="Times New Roman"/>
                <a:ea typeface="Times New Roman"/>
                <a:cs typeface="Times New Roman"/>
                <a:sym typeface="Times New Roman"/>
              </a:rPr>
              <a:t>BADEJO V.  MINISTER OF EDUCATION (1996) 9-10 SCNJ 51</a:t>
            </a:r>
            <a:endParaRPr b="1" dirty="0" sz="3200">
              <a:latin typeface="Times New Roman"/>
              <a:ea typeface="Times New Roman"/>
              <a:cs typeface="Times New Roman"/>
              <a:sym typeface="Times New Roman"/>
            </a:endParaRPr>
          </a:p>
          <a:p>
            <a:pPr indent="0" marL="0">
              <a:spcBef>
                <a:spcPts val="853"/>
              </a:spcBef>
              <a:buClr>
                <a:schemeClr val="dk1"/>
              </a:buClr>
              <a:buSzPts val="3200"/>
              <a:buNone/>
            </a:pPr>
            <a:endParaRPr b="1" dirty="0" sz="3200">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216" name="Shape 380"/>
        <p:cNvGrpSpPr/>
        <p:nvPr/>
      </p:nvGrpSpPr>
      <p:grpSpPr>
        <a:xfrm>
          <a:off x="0" y="0"/>
          <a:ext cx="0" cy="0"/>
          <a:chOff x="0" y="0"/>
          <a:chExt cx="0" cy="0"/>
        </a:xfrm>
      </p:grpSpPr>
      <p:sp>
        <p:nvSpPr>
          <p:cNvPr id="1048746" name="Google Shape;381;p67"/>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Further Affidavit</a:t>
            </a:r>
            <a:endParaRPr b="1" dirty="0">
              <a:latin typeface="Times New Roman"/>
              <a:ea typeface="Times New Roman"/>
              <a:cs typeface="Times New Roman"/>
              <a:sym typeface="Times New Roman"/>
            </a:endParaRPr>
          </a:p>
        </p:txBody>
      </p:sp>
      <p:sp>
        <p:nvSpPr>
          <p:cNvPr id="1048747" name="Google Shape;382;p67"/>
          <p:cNvSpPr txBox="1">
            <a:spLocks noGrp="1"/>
          </p:cNvSpPr>
          <p:nvPr>
            <p:ph idx="1"/>
          </p:nvPr>
        </p:nvSpPr>
        <p:spPr>
          <a:xfrm>
            <a:off x="609600" y="1646237"/>
            <a:ext cx="10972800" cy="45260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400"/>
            </a:pPr>
            <a:r>
              <a:rPr dirty="0" sz="3733" lang="en">
                <a:latin typeface="Times New Roman"/>
                <a:ea typeface="Times New Roman"/>
                <a:cs typeface="Times New Roman"/>
                <a:sym typeface="Times New Roman"/>
              </a:rPr>
              <a:t>If the applicant, upon being served with the counter affidavit, sees the need to oppose the facts deposed to in the counter affidavit, he is expected to file a further affidavit it.</a:t>
            </a:r>
            <a:endParaRPr dirty="0" sz="3733">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219" name="Shape 386"/>
        <p:cNvGrpSpPr/>
        <p:nvPr/>
      </p:nvGrpSpPr>
      <p:grpSpPr>
        <a:xfrm>
          <a:off x="0" y="0"/>
          <a:ext cx="0" cy="0"/>
          <a:chOff x="0" y="0"/>
          <a:chExt cx="0" cy="0"/>
        </a:xfrm>
      </p:grpSpPr>
      <p:sp>
        <p:nvSpPr>
          <p:cNvPr id="1048750" name="Google Shape;387;p68"/>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Conflict in Affidavits</a:t>
            </a:r>
            <a:endParaRPr b="1" dirty="0">
              <a:latin typeface="Times New Roman"/>
              <a:ea typeface="Times New Roman"/>
              <a:cs typeface="Times New Roman"/>
              <a:sym typeface="Times New Roman"/>
            </a:endParaRPr>
          </a:p>
        </p:txBody>
      </p:sp>
      <p:sp>
        <p:nvSpPr>
          <p:cNvPr id="1048751" name="Google Shape;388;p68"/>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400"/>
            </a:pPr>
            <a:r>
              <a:rPr dirty="0" sz="3733" lang="en">
                <a:latin typeface="Times New Roman"/>
                <a:ea typeface="Times New Roman"/>
                <a:cs typeface="Times New Roman"/>
                <a:sym typeface="Times New Roman"/>
              </a:rPr>
              <a:t>Where there is a conflict in affidavits of parties the court has a duty to resolve the differences by calling oral evidence. See </a:t>
            </a:r>
            <a:r>
              <a:rPr b="1" dirty="0" sz="3733" lang="en">
                <a:latin typeface="Times New Roman"/>
                <a:ea typeface="Times New Roman"/>
                <a:cs typeface="Times New Roman"/>
                <a:sym typeface="Times New Roman"/>
              </a:rPr>
              <a:t>FALOBI V. FALOBI Supra </a:t>
            </a:r>
            <a:r>
              <a:rPr dirty="0" sz="3733" lang="en">
                <a:latin typeface="Times New Roman"/>
                <a:ea typeface="Times New Roman"/>
                <a:cs typeface="Times New Roman"/>
                <a:sym typeface="Times New Roman"/>
              </a:rPr>
              <a:t>and section </a:t>
            </a:r>
            <a:r>
              <a:rPr b="1" dirty="0" sz="3733" lang="en">
                <a:latin typeface="Times New Roman"/>
                <a:ea typeface="Times New Roman"/>
                <a:cs typeface="Times New Roman"/>
                <a:sym typeface="Times New Roman"/>
              </a:rPr>
              <a:t>116 Evidence Act</a:t>
            </a:r>
            <a:endParaRPr dirty="0" sz="3733">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222" name=""/>
        <p:cNvGrpSpPr/>
        <p:nvPr/>
      </p:nvGrpSpPr>
      <p:grpSpPr>
        <a:xfrm>
          <a:off x="0" y="0"/>
          <a:ext cx="0" cy="0"/>
          <a:chOff x="0" y="0"/>
          <a:chExt cx="0" cy="0"/>
        </a:xfrm>
      </p:grpSpPr>
      <p:sp>
        <p:nvSpPr>
          <p:cNvPr id="1048754" name="Title 1"/>
          <p:cNvSpPr>
            <a:spLocks noGrp="1"/>
          </p:cNvSpPr>
          <p:nvPr>
            <p:ph type="title"/>
          </p:nvPr>
        </p:nvSpPr>
        <p:spPr/>
        <p:txBody>
          <a:bodyPr/>
          <a:p>
            <a:pPr algn="ctr"/>
            <a:r>
              <a:rPr b="1" dirty="0" lang="en">
                <a:latin typeface="Times New Roman"/>
                <a:ea typeface="Times New Roman"/>
                <a:cs typeface="Times New Roman"/>
                <a:sym typeface="Times New Roman"/>
              </a:rPr>
              <a:t>WRITTEN ADDRESS</a:t>
            </a:r>
            <a:endParaRPr dirty="0" lang="en-US"/>
          </a:p>
        </p:txBody>
      </p:sp>
      <p:sp>
        <p:nvSpPr>
          <p:cNvPr id="1048755" name="Content Placeholder 2"/>
          <p:cNvSpPr>
            <a:spLocks noGrp="1"/>
          </p:cNvSpPr>
          <p:nvPr>
            <p:ph idx="1"/>
          </p:nvPr>
        </p:nvSpPr>
        <p:spPr/>
        <p:txBody>
          <a:bodyPr/>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223" name="Shape 398"/>
        <p:cNvGrpSpPr/>
        <p:nvPr/>
      </p:nvGrpSpPr>
      <p:grpSpPr>
        <a:xfrm>
          <a:off x="0" y="0"/>
          <a:ext cx="0" cy="0"/>
          <a:chOff x="0" y="0"/>
          <a:chExt cx="0" cy="0"/>
        </a:xfrm>
      </p:grpSpPr>
      <p:sp>
        <p:nvSpPr>
          <p:cNvPr id="1048756" name="Google Shape;399;p70"/>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Use of Written Address in Interlocutory Applications</a:t>
            </a:r>
            <a:endParaRPr dirty="0"/>
          </a:p>
        </p:txBody>
      </p:sp>
      <p:sp>
        <p:nvSpPr>
          <p:cNvPr id="1048757" name="Google Shape;400;p70"/>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pPr>
            <a:r>
              <a:rPr dirty="0" sz="4800" lang="en">
                <a:latin typeface="Times New Roman"/>
                <a:ea typeface="Times New Roman"/>
                <a:cs typeface="Times New Roman"/>
                <a:sym typeface="Times New Roman"/>
              </a:rPr>
              <a:t>Under the Abuja and Lagos rules, interlocutory applications are to be accompanied by written address. </a:t>
            </a:r>
            <a:r>
              <a:rPr b="1" dirty="0" sz="4800" lang="en">
                <a:latin typeface="Times New Roman"/>
                <a:ea typeface="Times New Roman"/>
                <a:cs typeface="Times New Roman"/>
                <a:sym typeface="Times New Roman"/>
              </a:rPr>
              <a:t>See </a:t>
            </a:r>
            <a:r>
              <a:rPr b="1" dirty="0" sz="4800" lang="en">
                <a:solidFill>
                  <a:srgbClr val="FF0000"/>
                </a:solidFill>
                <a:latin typeface="Times New Roman"/>
                <a:ea typeface="Times New Roman"/>
                <a:cs typeface="Times New Roman"/>
                <a:sym typeface="Times New Roman"/>
              </a:rPr>
              <a:t>O. 30 R 1(2) Abuja </a:t>
            </a:r>
            <a:r>
              <a:rPr b="1" dirty="0" sz="4800" lang="en">
                <a:latin typeface="Times New Roman"/>
                <a:ea typeface="Times New Roman"/>
                <a:cs typeface="Times New Roman"/>
                <a:sym typeface="Times New Roman"/>
              </a:rPr>
              <a:t>and O 43 R1(20 Lagos.</a:t>
            </a:r>
            <a:endParaRPr dirty="0"/>
          </a:p>
          <a:p>
            <a:pPr indent="-152396" marL="457189">
              <a:spcBef>
                <a:spcPts val="960"/>
              </a:spcBef>
              <a:buClr>
                <a:schemeClr val="dk1"/>
              </a:buClr>
              <a:buSzPts val="3600"/>
              <a:buNone/>
            </a:pPr>
            <a:endParaRPr b="1" dirty="0" sz="4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226" name="Shape 404"/>
        <p:cNvGrpSpPr/>
        <p:nvPr/>
      </p:nvGrpSpPr>
      <p:grpSpPr>
        <a:xfrm>
          <a:off x="0" y="0"/>
          <a:ext cx="0" cy="0"/>
          <a:chOff x="0" y="0"/>
          <a:chExt cx="0" cy="0"/>
        </a:xfrm>
      </p:grpSpPr>
      <p:sp>
        <p:nvSpPr>
          <p:cNvPr id="1048760" name="Google Shape;405;p71"/>
          <p:cNvSpPr txBox="1">
            <a:spLocks noGrp="1"/>
          </p:cNvSpPr>
          <p:nvPr>
            <p:ph type="title"/>
          </p:nvPr>
        </p:nvSpPr>
        <p:spPr>
          <a:xfrm>
            <a:off x="838200" y="203076"/>
            <a:ext cx="10515600" cy="572426"/>
          </a:xfrm>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b="1" dirty="0" lang="en">
                <a:latin typeface="Times New Roman"/>
                <a:ea typeface="Times New Roman"/>
                <a:cs typeface="Times New Roman"/>
                <a:sym typeface="Times New Roman"/>
              </a:rPr>
              <a:t>Contents and Drafting of Written Address</a:t>
            </a:r>
            <a:endParaRPr dirty="0"/>
          </a:p>
        </p:txBody>
      </p:sp>
      <p:sp>
        <p:nvSpPr>
          <p:cNvPr id="1048761" name="Google Shape;406;p71"/>
          <p:cNvSpPr txBox="1">
            <a:spLocks noGrp="1"/>
          </p:cNvSpPr>
          <p:nvPr>
            <p:ph idx="1"/>
          </p:nvPr>
        </p:nvSpPr>
        <p:spPr>
          <a:xfrm>
            <a:off x="609600" y="868102"/>
            <a:ext cx="10972800" cy="5825094"/>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200"/>
            </a:pPr>
            <a:r>
              <a:rPr b="1" dirty="0" sz="3400" lang="en">
                <a:latin typeface="Times New Roman" panose="02020603050405020304" pitchFamily="18" charset="0"/>
                <a:ea typeface="Times New Roman"/>
                <a:cs typeface="Times New Roman" panose="02020603050405020304" pitchFamily="18" charset="0"/>
                <a:sym typeface="Times New Roman"/>
              </a:rPr>
              <a:t>See </a:t>
            </a:r>
            <a:r>
              <a:rPr b="1" dirty="0" sz="3400" lang="en">
                <a:solidFill>
                  <a:srgbClr val="FF0000"/>
                </a:solidFill>
                <a:latin typeface="Times New Roman" panose="02020603050405020304" pitchFamily="18" charset="0"/>
                <a:ea typeface="Times New Roman"/>
                <a:cs typeface="Times New Roman" panose="02020603050405020304" pitchFamily="18" charset="0"/>
                <a:sym typeface="Times New Roman"/>
              </a:rPr>
              <a:t>O. 39 R 1, 2 &amp; 3 ABJ </a:t>
            </a:r>
            <a:r>
              <a:rPr b="1" dirty="0" sz="3400" lang="en">
                <a:latin typeface="Times New Roman" panose="02020603050405020304" pitchFamily="18" charset="0"/>
                <a:ea typeface="Times New Roman"/>
                <a:cs typeface="Times New Roman" panose="02020603050405020304" pitchFamily="18" charset="0"/>
                <a:sym typeface="Times New Roman"/>
              </a:rPr>
              <a:t>&amp; O 35 R 2 &amp; 3(1) &amp; (2) LAG</a:t>
            </a:r>
            <a:endParaRPr dirty="0" sz="3400">
              <a:latin typeface="Times New Roman" panose="02020603050405020304" pitchFamily="18" charset="0"/>
              <a:cs typeface="Times New Roman" panose="02020603050405020304" pitchFamily="18" charset="0"/>
            </a:endParaRPr>
          </a:p>
          <a:p>
            <a:pPr indent="-457189" marL="457189">
              <a:spcBef>
                <a:spcPts val="853"/>
              </a:spcBef>
              <a:buClr>
                <a:schemeClr val="dk1"/>
              </a:buClr>
              <a:buSzPts val="3200"/>
            </a:pPr>
            <a:r>
              <a:rPr dirty="0" sz="3400" lang="en">
                <a:latin typeface="Times New Roman" panose="02020603050405020304" pitchFamily="18" charset="0"/>
                <a:ea typeface="Times New Roman"/>
                <a:cs typeface="Times New Roman" panose="02020603050405020304" pitchFamily="18" charset="0"/>
                <a:sym typeface="Times New Roman"/>
              </a:rPr>
              <a:t>The claim upon which the application is based</a:t>
            </a:r>
            <a:endParaRPr dirty="0" sz="3400">
              <a:latin typeface="Times New Roman" panose="02020603050405020304" pitchFamily="18" charset="0"/>
              <a:cs typeface="Times New Roman" panose="02020603050405020304" pitchFamily="18" charset="0"/>
            </a:endParaRPr>
          </a:p>
          <a:p>
            <a:pPr indent="-457189" marL="457189">
              <a:spcBef>
                <a:spcPts val="853"/>
              </a:spcBef>
              <a:buClr>
                <a:schemeClr val="dk1"/>
              </a:buClr>
              <a:buSzPts val="3200"/>
            </a:pPr>
            <a:r>
              <a:rPr dirty="0" sz="3400" lang="en">
                <a:latin typeface="Times New Roman" panose="02020603050405020304" pitchFamily="18" charset="0"/>
                <a:ea typeface="Times New Roman"/>
                <a:cs typeface="Times New Roman" panose="02020603050405020304" pitchFamily="18" charset="0"/>
                <a:sym typeface="Times New Roman"/>
              </a:rPr>
              <a:t>Brief statement of facts with references to exhibit(s) attached</a:t>
            </a:r>
            <a:endParaRPr dirty="0" sz="3400">
              <a:latin typeface="Times New Roman" panose="02020603050405020304" pitchFamily="18" charset="0"/>
              <a:cs typeface="Times New Roman" panose="02020603050405020304" pitchFamily="18" charset="0"/>
            </a:endParaRPr>
          </a:p>
          <a:p>
            <a:pPr indent="-457189" marL="457189">
              <a:spcBef>
                <a:spcPts val="853"/>
              </a:spcBef>
              <a:buClr>
                <a:schemeClr val="dk1"/>
              </a:buClr>
              <a:buSzPts val="3200"/>
            </a:pPr>
            <a:r>
              <a:rPr dirty="0" sz="3400" lang="en">
                <a:latin typeface="Times New Roman" panose="02020603050405020304" pitchFamily="18" charset="0"/>
                <a:ea typeface="Times New Roman"/>
                <a:cs typeface="Times New Roman" panose="02020603050405020304" pitchFamily="18" charset="0"/>
                <a:sym typeface="Times New Roman"/>
              </a:rPr>
              <a:t>Issues for determination</a:t>
            </a:r>
            <a:endParaRPr dirty="0" sz="3400">
              <a:latin typeface="Times New Roman" panose="02020603050405020304" pitchFamily="18" charset="0"/>
              <a:cs typeface="Times New Roman" panose="02020603050405020304" pitchFamily="18" charset="0"/>
            </a:endParaRPr>
          </a:p>
          <a:p>
            <a:pPr indent="-457189" marL="457189">
              <a:spcBef>
                <a:spcPts val="853"/>
              </a:spcBef>
              <a:buClr>
                <a:schemeClr val="dk1"/>
              </a:buClr>
              <a:buSzPts val="3200"/>
            </a:pPr>
            <a:r>
              <a:rPr dirty="0" sz="3400" lang="en">
                <a:latin typeface="Times New Roman" panose="02020603050405020304" pitchFamily="18" charset="0"/>
                <a:ea typeface="Times New Roman"/>
                <a:cs typeface="Times New Roman" panose="02020603050405020304" pitchFamily="18" charset="0"/>
                <a:sym typeface="Times New Roman"/>
              </a:rPr>
              <a:t>Legal arguments incorporating the authorities cited</a:t>
            </a:r>
            <a:endParaRPr dirty="0" sz="3400">
              <a:latin typeface="Times New Roman" panose="02020603050405020304" pitchFamily="18" charset="0"/>
              <a:cs typeface="Times New Roman" panose="02020603050405020304" pitchFamily="18" charset="0"/>
            </a:endParaRPr>
          </a:p>
          <a:p>
            <a:pPr indent="-457189" marL="457189">
              <a:spcBef>
                <a:spcPts val="853"/>
              </a:spcBef>
              <a:buClr>
                <a:schemeClr val="dk1"/>
              </a:buClr>
              <a:buSzPts val="3200"/>
            </a:pPr>
            <a:r>
              <a:rPr dirty="0" sz="3400" lang="en">
                <a:latin typeface="Times New Roman" panose="02020603050405020304" pitchFamily="18" charset="0"/>
                <a:ea typeface="Times New Roman"/>
                <a:cs typeface="Times New Roman" panose="02020603050405020304" pitchFamily="18" charset="0"/>
                <a:sym typeface="Times New Roman"/>
              </a:rPr>
              <a:t>Conclusion containing numbered summary of points raised.</a:t>
            </a:r>
          </a:p>
          <a:p>
            <a:pPr indent="-457189" marL="457189">
              <a:spcBef>
                <a:spcPts val="853"/>
              </a:spcBef>
              <a:buClr>
                <a:schemeClr val="dk1"/>
              </a:buClr>
              <a:buSzPts val="3200"/>
            </a:pPr>
            <a:r>
              <a:rPr dirty="0" sz="3400" lang="en-US">
                <a:latin typeface="Times New Roman" panose="02020603050405020304" pitchFamily="18" charset="0"/>
                <a:cs typeface="Times New Roman" panose="02020603050405020304" pitchFamily="18" charset="0"/>
              </a:rPr>
              <a:t>List of cited authorities</a:t>
            </a:r>
          </a:p>
          <a:p>
            <a:pPr indent="-457189" marL="457189">
              <a:spcBef>
                <a:spcPts val="853"/>
              </a:spcBef>
              <a:buClr>
                <a:schemeClr val="dk1"/>
              </a:buClr>
              <a:buSzPts val="3200"/>
            </a:pPr>
            <a:r>
              <a:rPr dirty="0" sz="3400" lang="en-US">
                <a:latin typeface="Times New Roman" panose="02020603050405020304" pitchFamily="18" charset="0"/>
                <a:cs typeface="Times New Roman" panose="02020603050405020304" pitchFamily="18" charset="0"/>
              </a:rPr>
              <a:t>Certified true copies of unreported decisions.</a:t>
            </a:r>
            <a:endParaRPr dirty="0" sz="3400">
              <a:latin typeface="Times New Roman" panose="02020603050405020304" pitchFamily="18" charset="0"/>
              <a:ea typeface="Times New Roman"/>
              <a:cs typeface="Times New Roman" panose="02020603050405020304" pitchFamily="18" charset="0"/>
              <a:sym typeface="Times New Roman"/>
            </a:endParaRPr>
          </a:p>
          <a:p>
            <a:pPr indent="-186262" marL="457189">
              <a:spcBef>
                <a:spcPts val="853"/>
              </a:spcBef>
              <a:buClr>
                <a:schemeClr val="dk1"/>
              </a:buClr>
              <a:buSzPts val="3200"/>
              <a:buNone/>
            </a:pPr>
            <a:endParaRPr dirty="0" sz="3400">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229" name="Shape 416"/>
        <p:cNvGrpSpPr/>
        <p:nvPr/>
      </p:nvGrpSpPr>
      <p:grpSpPr>
        <a:xfrm>
          <a:off x="0" y="0"/>
          <a:ext cx="0" cy="0"/>
          <a:chOff x="0" y="0"/>
          <a:chExt cx="0" cy="0"/>
        </a:xfrm>
      </p:grpSpPr>
      <p:sp>
        <p:nvSpPr>
          <p:cNvPr id="1048764" name="Google Shape;417;p73"/>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b="1" dirty="0" sz="3200" lang="en">
                <a:latin typeface="Times New Roman"/>
                <a:ea typeface="Times New Roman"/>
                <a:cs typeface="Times New Roman"/>
                <a:sym typeface="Times New Roman"/>
              </a:rPr>
              <a:t>SOME SPECIFIC INTERLOCUTORY ORDERS AND APPLICATIONS</a:t>
            </a:r>
            <a:endParaRPr b="1" dirty="0" sz="3200">
              <a:latin typeface="Times New Roman"/>
              <a:ea typeface="Times New Roman"/>
              <a:cs typeface="Times New Roman"/>
              <a:sym typeface="Times New Roman"/>
            </a:endParaRPr>
          </a:p>
        </p:txBody>
      </p:sp>
      <p:sp>
        <p:nvSpPr>
          <p:cNvPr id="1048765" name="Google Shape;418;p73"/>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000"/>
            </a:pPr>
            <a:endParaRPr dirty="0" sz="3200"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232" name=""/>
        <p:cNvGrpSpPr/>
        <p:nvPr/>
      </p:nvGrpSpPr>
      <p:grpSpPr>
        <a:xfrm>
          <a:off x="0" y="0"/>
          <a:ext cx="0" cy="0"/>
          <a:chOff x="0" y="0"/>
          <a:chExt cx="0" cy="0"/>
        </a:xfrm>
      </p:grpSpPr>
      <p:sp>
        <p:nvSpPr>
          <p:cNvPr id="1048768" name="Title 1"/>
          <p:cNvSpPr>
            <a:spLocks noGrp="1"/>
          </p:cNvSpPr>
          <p:nvPr>
            <p:ph type="title"/>
          </p:nvPr>
        </p:nvSpPr>
        <p:spPr/>
        <p:txBody>
          <a:bodyPr/>
          <a:p>
            <a:endParaRPr lang="en-US"/>
          </a:p>
        </p:txBody>
      </p:sp>
      <p:sp>
        <p:nvSpPr>
          <p:cNvPr id="1048769" name="Content Placeholder 2"/>
          <p:cNvSpPr>
            <a:spLocks noGrp="1"/>
          </p:cNvSpPr>
          <p:nvPr>
            <p:ph idx="1"/>
          </p:nvPr>
        </p:nvSpPr>
        <p:spPr/>
        <p:txBody>
          <a:bodyPr/>
          <a:p>
            <a:pPr indent="-457189" marL="457189">
              <a:spcBef>
                <a:spcPts val="0"/>
              </a:spcBef>
              <a:buClr>
                <a:schemeClr val="dk1"/>
              </a:buClr>
              <a:buSzPts val="4000"/>
            </a:pPr>
            <a:r>
              <a:rPr dirty="0" lang="en-US"/>
              <a:t>Interim injunction</a:t>
            </a:r>
          </a:p>
          <a:p>
            <a:pPr indent="-457189" marL="457189">
              <a:spcBef>
                <a:spcPts val="0"/>
              </a:spcBef>
              <a:buClr>
                <a:schemeClr val="dk1"/>
              </a:buClr>
              <a:buSzPts val="4000"/>
            </a:pPr>
            <a:r>
              <a:rPr dirty="0" lang="en-US"/>
              <a:t>Interlocutory injunction</a:t>
            </a:r>
          </a:p>
          <a:p>
            <a:pPr indent="-457189" marL="457189">
              <a:spcBef>
                <a:spcPts val="0"/>
              </a:spcBef>
              <a:buClr>
                <a:schemeClr val="dk1"/>
              </a:buClr>
              <a:buSzPts val="4000"/>
            </a:pPr>
            <a:r>
              <a:rPr dirty="0" lang="en-US" err="1"/>
              <a:t>Mareva</a:t>
            </a:r>
            <a:r>
              <a:rPr dirty="0" lang="en-US"/>
              <a:t> injunction</a:t>
            </a:r>
          </a:p>
          <a:p>
            <a:pPr indent="-457189" marL="457189">
              <a:spcBef>
                <a:spcPts val="0"/>
              </a:spcBef>
              <a:buClr>
                <a:schemeClr val="dk1"/>
              </a:buClr>
              <a:buSzPts val="4000"/>
            </a:pPr>
            <a:r>
              <a:rPr dirty="0" lang="en-US"/>
              <a:t>Anton </a:t>
            </a:r>
            <a:r>
              <a:rPr dirty="0" lang="en-US" err="1"/>
              <a:t>piller</a:t>
            </a:r>
            <a:r>
              <a:rPr dirty="0" lang="en-US"/>
              <a:t> injunction</a:t>
            </a:r>
          </a:p>
          <a:p>
            <a:pPr indent="-457189" marL="457189">
              <a:spcBef>
                <a:spcPts val="0"/>
              </a:spcBef>
              <a:buClr>
                <a:schemeClr val="dk1"/>
              </a:buClr>
              <a:buSzPts val="4000"/>
            </a:pPr>
            <a:r>
              <a:rPr dirty="0" lang="en-GB"/>
              <a:t>Interpleader </a:t>
            </a:r>
            <a:endParaRPr dirty="0" lang="en-US"/>
          </a:p>
          <a:p>
            <a:endParaRPr dirty="0"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233" name="Shape 422"/>
        <p:cNvGrpSpPr/>
        <p:nvPr/>
      </p:nvGrpSpPr>
      <p:grpSpPr>
        <a:xfrm>
          <a:off x="0" y="0"/>
          <a:ext cx="0" cy="0"/>
          <a:chOff x="0" y="0"/>
          <a:chExt cx="0" cy="0"/>
        </a:xfrm>
      </p:grpSpPr>
      <p:sp>
        <p:nvSpPr>
          <p:cNvPr id="1048770" name="Google Shape;423;p74"/>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b="1" dirty="0" sz="5279" lang="en">
                <a:latin typeface="Times New Roman"/>
                <a:ea typeface="Times New Roman"/>
                <a:cs typeface="Times New Roman"/>
                <a:sym typeface="Times New Roman"/>
              </a:rPr>
              <a:t>Injunction</a:t>
            </a:r>
            <a:endParaRPr b="1" dirty="0" sz="5279">
              <a:latin typeface="Times New Roman"/>
              <a:ea typeface="Times New Roman"/>
              <a:cs typeface="Times New Roman"/>
              <a:sym typeface="Times New Roman"/>
            </a:endParaRPr>
          </a:p>
        </p:txBody>
      </p:sp>
      <p:sp>
        <p:nvSpPr>
          <p:cNvPr id="1048771" name="Google Shape;424;p74"/>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000"/>
            </a:pPr>
            <a:r>
              <a:rPr dirty="0" sz="3200" lang="en">
                <a:latin typeface="Times New Roman"/>
                <a:ea typeface="Times New Roman"/>
                <a:cs typeface="Times New Roman"/>
                <a:sym typeface="Times New Roman"/>
              </a:rPr>
              <a:t>An injunction is a court order commanding an action, preventing or forbidding an action. See </a:t>
            </a:r>
            <a:r>
              <a:rPr b="1" dirty="0" sz="3200" lang="en">
                <a:latin typeface="Times New Roman"/>
                <a:ea typeface="Times New Roman"/>
                <a:cs typeface="Times New Roman"/>
                <a:sym typeface="Times New Roman"/>
              </a:rPr>
              <a:t>O 42 R 8 Lagos, </a:t>
            </a:r>
            <a:r>
              <a:rPr b="1" dirty="0" sz="3200" lang="en">
                <a:solidFill>
                  <a:srgbClr val="FF0000"/>
                </a:solidFill>
                <a:latin typeface="Times New Roman"/>
                <a:ea typeface="Times New Roman"/>
                <a:cs typeface="Times New Roman"/>
                <a:sym typeface="Times New Roman"/>
              </a:rPr>
              <a:t>O 32 R8 Abuja</a:t>
            </a:r>
            <a:endParaRPr dirty="0" sz="3200">
              <a:solidFill>
                <a:srgbClr val="FF0000"/>
              </a:solidFill>
            </a:endParaRPr>
          </a:p>
          <a:p>
            <a:pPr indent="-457189" marL="457189">
              <a:spcBef>
                <a:spcPts val="1067"/>
              </a:spcBef>
              <a:buClr>
                <a:schemeClr val="dk1"/>
              </a:buClr>
              <a:buSzPts val="4000"/>
            </a:pPr>
            <a:r>
              <a:rPr dirty="0" sz="3200" lang="en">
                <a:latin typeface="Times New Roman"/>
                <a:ea typeface="Times New Roman"/>
                <a:cs typeface="Times New Roman"/>
                <a:sym typeface="Times New Roman"/>
              </a:rPr>
              <a:t>There are two types:</a:t>
            </a:r>
            <a:endParaRPr dirty="0" sz="3200"/>
          </a:p>
          <a:p>
            <a:pPr indent="0" marL="0">
              <a:spcBef>
                <a:spcPts val="1067"/>
              </a:spcBef>
              <a:buClr>
                <a:schemeClr val="dk1"/>
              </a:buClr>
              <a:buSzPts val="4000"/>
              <a:buNone/>
            </a:pPr>
            <a:r>
              <a:rPr dirty="0" sz="3200" lang="en">
                <a:latin typeface="Times New Roman"/>
                <a:ea typeface="Times New Roman"/>
                <a:cs typeface="Times New Roman"/>
                <a:sym typeface="Times New Roman"/>
              </a:rPr>
              <a:t>- Interim injunction</a:t>
            </a:r>
            <a:endParaRPr dirty="0" sz="3200"/>
          </a:p>
          <a:p>
            <a:pPr indent="0" marL="0">
              <a:spcBef>
                <a:spcPts val="1067"/>
              </a:spcBef>
              <a:buClr>
                <a:schemeClr val="dk1"/>
              </a:buClr>
              <a:buSzPts val="4000"/>
              <a:buNone/>
            </a:pPr>
            <a:r>
              <a:rPr dirty="0" sz="3200" lang="en">
                <a:latin typeface="Times New Roman"/>
                <a:ea typeface="Times New Roman"/>
                <a:cs typeface="Times New Roman"/>
                <a:sym typeface="Times New Roman"/>
              </a:rPr>
              <a:t>- Interlocutory injunction</a:t>
            </a:r>
            <a:endParaRPr dirty="0" sz="3200"/>
          </a:p>
          <a:p>
            <a:pPr indent="0" marL="0">
              <a:spcBef>
                <a:spcPts val="1067"/>
              </a:spcBef>
              <a:buClr>
                <a:schemeClr val="dk1"/>
              </a:buClr>
              <a:buSzPts val="4000"/>
              <a:buNone/>
            </a:pPr>
            <a:endParaRPr dirty="0" sz="3200">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236" name="Shape 428"/>
        <p:cNvGrpSpPr/>
        <p:nvPr/>
      </p:nvGrpSpPr>
      <p:grpSpPr>
        <a:xfrm>
          <a:off x="0" y="0"/>
          <a:ext cx="0" cy="0"/>
          <a:chOff x="0" y="0"/>
          <a:chExt cx="0" cy="0"/>
        </a:xfrm>
      </p:grpSpPr>
      <p:sp>
        <p:nvSpPr>
          <p:cNvPr id="1048774" name="Google Shape;429;p75"/>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Interim Injunction</a:t>
            </a:r>
            <a:endParaRPr b="1" dirty="0">
              <a:latin typeface="Times New Roman"/>
              <a:ea typeface="Times New Roman"/>
              <a:cs typeface="Times New Roman"/>
              <a:sym typeface="Times New Roman"/>
            </a:endParaRPr>
          </a:p>
        </p:txBody>
      </p:sp>
      <p:sp>
        <p:nvSpPr>
          <p:cNvPr id="1048775" name="Google Shape;430;p75"/>
          <p:cNvSpPr txBox="1">
            <a:spLocks noGrp="1"/>
          </p:cNvSpPr>
          <p:nvPr>
            <p:ph idx="1"/>
          </p:nvPr>
        </p:nvSpPr>
        <p:spPr>
          <a:xfrm>
            <a:off x="369330" y="1513703"/>
            <a:ext cx="11176000" cy="49832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300"/>
            </a:pPr>
            <a:r>
              <a:rPr dirty="0" sz="3200" lang="en">
                <a:latin typeface="Times New Roman"/>
                <a:ea typeface="Times New Roman"/>
                <a:cs typeface="Times New Roman"/>
                <a:sym typeface="Times New Roman"/>
              </a:rPr>
              <a:t>It is a temporary order of court granted to preserve the res until a named date or hearing of the motion on notice</a:t>
            </a:r>
            <a:endParaRPr dirty="0" sz="3200"/>
          </a:p>
          <a:p>
            <a:pPr indent="-457189" marL="457189">
              <a:spcBef>
                <a:spcPts val="880"/>
              </a:spcBef>
              <a:buClr>
                <a:schemeClr val="dk1"/>
              </a:buClr>
              <a:buSzPts val="3300"/>
            </a:pPr>
            <a:r>
              <a:rPr dirty="0" sz="3200" lang="en">
                <a:latin typeface="Times New Roman"/>
                <a:ea typeface="Times New Roman"/>
                <a:cs typeface="Times New Roman"/>
                <a:sym typeface="Times New Roman"/>
              </a:rPr>
              <a:t>It is granted in urgent situation</a:t>
            </a:r>
            <a:endParaRPr dirty="0" sz="3200"/>
          </a:p>
          <a:p>
            <a:pPr indent="-457189" marL="457189">
              <a:spcBef>
                <a:spcPts val="880"/>
              </a:spcBef>
              <a:buClr>
                <a:schemeClr val="dk1"/>
              </a:buClr>
              <a:buSzPts val="3300"/>
            </a:pPr>
            <a:r>
              <a:rPr dirty="0" sz="3200" lang="en">
                <a:latin typeface="Times New Roman"/>
                <a:ea typeface="Times New Roman"/>
                <a:cs typeface="Times New Roman"/>
                <a:sym typeface="Times New Roman"/>
              </a:rPr>
              <a:t>It is normally </a:t>
            </a:r>
            <a:r>
              <a:rPr dirty="0" sz="3200" i="1" lang="en">
                <a:latin typeface="Times New Roman"/>
                <a:ea typeface="Times New Roman"/>
                <a:cs typeface="Times New Roman"/>
                <a:sym typeface="Times New Roman"/>
              </a:rPr>
              <a:t>ex </a:t>
            </a:r>
            <a:r>
              <a:rPr dirty="0" sz="3200" i="1" lang="en" err="1">
                <a:latin typeface="Times New Roman"/>
                <a:ea typeface="Times New Roman"/>
                <a:cs typeface="Times New Roman"/>
                <a:sym typeface="Times New Roman"/>
              </a:rPr>
              <a:t>parte</a:t>
            </a:r>
            <a:r>
              <a:rPr dirty="0" sz="3200" i="1" lang="en">
                <a:latin typeface="Times New Roman"/>
                <a:ea typeface="Times New Roman"/>
                <a:cs typeface="Times New Roman"/>
                <a:sym typeface="Times New Roman"/>
              </a:rPr>
              <a:t> </a:t>
            </a:r>
            <a:endParaRPr dirty="0" sz="3200"/>
          </a:p>
          <a:p>
            <a:pPr indent="-457189" marL="457189">
              <a:spcBef>
                <a:spcPts val="880"/>
              </a:spcBef>
              <a:buClr>
                <a:schemeClr val="dk1"/>
              </a:buClr>
              <a:buSzPts val="3300"/>
            </a:pPr>
            <a:r>
              <a:rPr dirty="0" sz="3200" lang="en">
                <a:latin typeface="Times New Roman"/>
                <a:ea typeface="Times New Roman"/>
                <a:cs typeface="Times New Roman"/>
                <a:sym typeface="Times New Roman"/>
              </a:rPr>
              <a:t>It has a short life span</a:t>
            </a:r>
            <a:endParaRPr dirty="0" sz="3200"/>
          </a:p>
          <a:p>
            <a:pPr indent="-457189" marL="457189">
              <a:spcBef>
                <a:spcPts val="880"/>
              </a:spcBef>
              <a:buClr>
                <a:schemeClr val="dk1"/>
              </a:buClr>
              <a:buSzPts val="3300"/>
            </a:pPr>
            <a:r>
              <a:rPr dirty="0" sz="3200" lang="en">
                <a:latin typeface="Times New Roman"/>
                <a:ea typeface="Times New Roman"/>
                <a:cs typeface="Times New Roman"/>
                <a:sym typeface="Times New Roman"/>
              </a:rPr>
              <a:t>It last pending the determination of motion on notice.</a:t>
            </a:r>
            <a:endParaRPr dirty="0" sz="3200"/>
          </a:p>
          <a:p>
            <a:pPr indent="-457189" marL="457189">
              <a:spcBef>
                <a:spcPts val="880"/>
              </a:spcBef>
              <a:buClr>
                <a:schemeClr val="dk1"/>
              </a:buClr>
              <a:buSzPts val="3300"/>
            </a:pPr>
            <a:r>
              <a:rPr dirty="0" sz="3200" lang="en">
                <a:latin typeface="Times New Roman"/>
                <a:ea typeface="Times New Roman"/>
                <a:cs typeface="Times New Roman"/>
                <a:sym typeface="Times New Roman"/>
              </a:rPr>
              <a:t>See </a:t>
            </a:r>
            <a:r>
              <a:rPr b="1" dirty="0" sz="3200" lang="en">
                <a:latin typeface="Times New Roman"/>
                <a:ea typeface="Times New Roman"/>
                <a:cs typeface="Times New Roman"/>
                <a:sym typeface="Times New Roman"/>
              </a:rPr>
              <a:t>KOTOYE V. CBN (1998) 1 NWLR (PT 98) 419, O 43 R1(2) Lag, O 30 R1(2) Abuja</a:t>
            </a:r>
            <a:endParaRPr b="1" dirty="0" sz="3200">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239" name="Shape 434"/>
        <p:cNvGrpSpPr/>
        <p:nvPr/>
      </p:nvGrpSpPr>
      <p:grpSpPr>
        <a:xfrm>
          <a:off x="0" y="0"/>
          <a:ext cx="0" cy="0"/>
          <a:chOff x="0" y="0"/>
          <a:chExt cx="0" cy="0"/>
        </a:xfrm>
      </p:grpSpPr>
      <p:sp>
        <p:nvSpPr>
          <p:cNvPr id="1048778" name="Google Shape;435;p76"/>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b="1" dirty="0" sz="5279" lang="en">
                <a:latin typeface="Times New Roman"/>
                <a:ea typeface="Times New Roman"/>
                <a:cs typeface="Times New Roman"/>
                <a:sym typeface="Times New Roman"/>
              </a:rPr>
              <a:t>Interlocutory Injunction</a:t>
            </a:r>
            <a:endParaRPr b="1" dirty="0" sz="5279">
              <a:latin typeface="Times New Roman"/>
              <a:ea typeface="Times New Roman"/>
              <a:cs typeface="Times New Roman"/>
              <a:sym typeface="Times New Roman"/>
            </a:endParaRPr>
          </a:p>
        </p:txBody>
      </p:sp>
      <p:sp>
        <p:nvSpPr>
          <p:cNvPr id="1048779" name="Google Shape;436;p76"/>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lnSpc>
                <a:spcPct val="80000"/>
              </a:lnSpc>
              <a:spcBef>
                <a:spcPts val="0"/>
              </a:spcBef>
              <a:buClr>
                <a:schemeClr val="dk1"/>
              </a:buClr>
              <a:buSzPts val="3740"/>
            </a:pPr>
            <a:r>
              <a:rPr dirty="0" sz="3200" lang="en">
                <a:latin typeface="Times New Roman"/>
                <a:ea typeface="Times New Roman"/>
                <a:cs typeface="Times New Roman"/>
                <a:sym typeface="Times New Roman"/>
              </a:rPr>
              <a:t>It is granted after both parties have been heard.</a:t>
            </a:r>
            <a:endParaRPr dirty="0" sz="3200"/>
          </a:p>
          <a:p>
            <a:pPr indent="-457189" marL="457189">
              <a:lnSpc>
                <a:spcPct val="80000"/>
              </a:lnSpc>
              <a:spcBef>
                <a:spcPts val="997"/>
              </a:spcBef>
              <a:buClr>
                <a:schemeClr val="dk1"/>
              </a:buClr>
              <a:buSzPts val="3740"/>
            </a:pPr>
            <a:r>
              <a:rPr dirty="0" sz="3200" lang="en">
                <a:latin typeface="Times New Roman"/>
                <a:ea typeface="Times New Roman"/>
                <a:cs typeface="Times New Roman"/>
                <a:sym typeface="Times New Roman"/>
              </a:rPr>
              <a:t>It is to last during the  pendency of the suit. </a:t>
            </a:r>
            <a:endParaRPr dirty="0" sz="3200"/>
          </a:p>
          <a:p>
            <a:pPr indent="-457189" marL="457189">
              <a:lnSpc>
                <a:spcPct val="80000"/>
              </a:lnSpc>
              <a:spcBef>
                <a:spcPts val="997"/>
              </a:spcBef>
              <a:buClr>
                <a:schemeClr val="dk1"/>
              </a:buClr>
              <a:buSzPts val="3740"/>
            </a:pPr>
            <a:r>
              <a:rPr dirty="0" sz="3200" lang="en">
                <a:latin typeface="Times New Roman"/>
                <a:ea typeface="Times New Roman"/>
                <a:cs typeface="Times New Roman"/>
                <a:sym typeface="Times New Roman"/>
              </a:rPr>
              <a:t>It is through motion on notice. See </a:t>
            </a:r>
            <a:r>
              <a:rPr b="1" dirty="0" sz="3200" lang="en">
                <a:latin typeface="Times New Roman"/>
                <a:ea typeface="Times New Roman"/>
                <a:cs typeface="Times New Roman"/>
                <a:sym typeface="Times New Roman"/>
              </a:rPr>
              <a:t>KOTOYE V CBN Supra</a:t>
            </a:r>
            <a:endParaRPr dirty="0" sz="3200"/>
          </a:p>
          <a:p>
            <a:pPr indent="-457189" marL="457189">
              <a:lnSpc>
                <a:spcPct val="80000"/>
              </a:lnSpc>
              <a:spcBef>
                <a:spcPts val="997"/>
              </a:spcBef>
              <a:buClr>
                <a:schemeClr val="dk1"/>
              </a:buClr>
              <a:buSzPts val="3740"/>
            </a:pPr>
            <a:r>
              <a:rPr dirty="0" sz="3200" lang="en">
                <a:latin typeface="Times New Roman"/>
                <a:ea typeface="Times New Roman"/>
                <a:cs typeface="Times New Roman"/>
                <a:sym typeface="Times New Roman"/>
              </a:rPr>
              <a:t>It is not granted in respect of a completed act. See </a:t>
            </a:r>
            <a:r>
              <a:rPr b="1" dirty="0" sz="3200" lang="en">
                <a:latin typeface="Times New Roman"/>
                <a:ea typeface="Times New Roman"/>
                <a:cs typeface="Times New Roman"/>
                <a:sym typeface="Times New Roman"/>
              </a:rPr>
              <a:t>OKAFOR V AG ANAMBRA (1992) 2SCNJ 219</a:t>
            </a:r>
            <a:endParaRPr b="1" dirty="0" sz="3200">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242" name="Shape 440"/>
        <p:cNvGrpSpPr/>
        <p:nvPr/>
      </p:nvGrpSpPr>
      <p:grpSpPr>
        <a:xfrm>
          <a:off x="0" y="0"/>
          <a:ext cx="0" cy="0"/>
          <a:chOff x="0" y="0"/>
          <a:chExt cx="0" cy="0"/>
        </a:xfrm>
      </p:grpSpPr>
      <p:sp>
        <p:nvSpPr>
          <p:cNvPr id="1048782" name="Google Shape;441;p77"/>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b="1" dirty="0" sz="3200" lang="en">
                <a:latin typeface="Times New Roman"/>
                <a:ea typeface="Times New Roman"/>
                <a:cs typeface="Times New Roman"/>
                <a:sym typeface="Times New Roman"/>
              </a:rPr>
              <a:t>Conditions for grant of Interlocutory Injunction</a:t>
            </a:r>
            <a:endParaRPr b="1" dirty="0" sz="3200">
              <a:latin typeface="Times New Roman"/>
              <a:ea typeface="Times New Roman"/>
              <a:cs typeface="Times New Roman"/>
              <a:sym typeface="Times New Roman"/>
            </a:endParaRPr>
          </a:p>
        </p:txBody>
      </p:sp>
      <p:sp>
        <p:nvSpPr>
          <p:cNvPr id="1048783" name="Google Shape;442;p77"/>
          <p:cNvSpPr txBox="1">
            <a:spLocks noGrp="1"/>
          </p:cNvSpPr>
          <p:nvPr>
            <p:ph idx="1"/>
          </p:nvPr>
        </p:nvSpPr>
        <p:spPr>
          <a:xfrm>
            <a:off x="609600" y="1837767"/>
            <a:ext cx="10972800" cy="47084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200"/>
            </a:pPr>
            <a:r>
              <a:rPr dirty="0" sz="3200" lang="en">
                <a:latin typeface="Times New Roman"/>
                <a:ea typeface="Times New Roman"/>
                <a:cs typeface="Times New Roman"/>
                <a:sym typeface="Times New Roman"/>
              </a:rPr>
              <a:t>Existence of legal or equitable right</a:t>
            </a:r>
            <a:endParaRPr dirty="0" sz="3200"/>
          </a:p>
          <a:p>
            <a:pPr indent="-457189" marL="457189">
              <a:spcBef>
                <a:spcPts val="853"/>
              </a:spcBef>
              <a:buClr>
                <a:schemeClr val="dk1"/>
              </a:buClr>
              <a:buSzPts val="3200"/>
            </a:pPr>
            <a:r>
              <a:rPr dirty="0" sz="3200" lang="en">
                <a:latin typeface="Times New Roman"/>
                <a:ea typeface="Times New Roman"/>
                <a:cs typeface="Times New Roman"/>
                <a:sym typeface="Times New Roman"/>
              </a:rPr>
              <a:t>Existence of substantial issue to be tried</a:t>
            </a:r>
            <a:endParaRPr dirty="0" sz="3200"/>
          </a:p>
          <a:p>
            <a:pPr indent="-457189" marL="457189">
              <a:spcBef>
                <a:spcPts val="853"/>
              </a:spcBef>
              <a:buClr>
                <a:schemeClr val="dk1"/>
              </a:buClr>
              <a:buSzPts val="3200"/>
            </a:pPr>
            <a:r>
              <a:rPr dirty="0" sz="3200" lang="en">
                <a:latin typeface="Times New Roman"/>
                <a:ea typeface="Times New Roman"/>
                <a:cs typeface="Times New Roman"/>
                <a:sym typeface="Times New Roman"/>
              </a:rPr>
              <a:t>Balance of convenience</a:t>
            </a:r>
            <a:endParaRPr dirty="0" sz="3200"/>
          </a:p>
          <a:p>
            <a:pPr indent="-457189" marL="457189">
              <a:spcBef>
                <a:spcPts val="853"/>
              </a:spcBef>
              <a:buClr>
                <a:schemeClr val="dk1"/>
              </a:buClr>
              <a:buSzPts val="3200"/>
            </a:pPr>
            <a:r>
              <a:rPr dirty="0" sz="3200" lang="en">
                <a:latin typeface="Times New Roman"/>
                <a:ea typeface="Times New Roman"/>
                <a:cs typeface="Times New Roman"/>
                <a:sym typeface="Times New Roman"/>
              </a:rPr>
              <a:t>Irreparable damage or injury</a:t>
            </a:r>
            <a:endParaRPr dirty="0" sz="3200"/>
          </a:p>
          <a:p>
            <a:pPr indent="-457189" marL="457189">
              <a:spcBef>
                <a:spcPts val="853"/>
              </a:spcBef>
              <a:buClr>
                <a:schemeClr val="dk1"/>
              </a:buClr>
              <a:buSzPts val="3200"/>
            </a:pPr>
            <a:r>
              <a:rPr dirty="0" sz="3200" lang="en">
                <a:latin typeface="Times New Roman"/>
                <a:ea typeface="Times New Roman"/>
                <a:cs typeface="Times New Roman"/>
                <a:sym typeface="Times New Roman"/>
              </a:rPr>
              <a:t>Conduct of the parties( i.e. behaviors of the parties before and during the time of the application)</a:t>
            </a:r>
            <a:endParaRPr dirty="0" sz="3200"/>
          </a:p>
          <a:p>
            <a:pPr indent="-457189" marL="457189">
              <a:spcBef>
                <a:spcPts val="853"/>
              </a:spcBef>
              <a:buClr>
                <a:schemeClr val="dk1"/>
              </a:buClr>
              <a:buSzPts val="3200"/>
            </a:pPr>
            <a:r>
              <a:rPr dirty="0" sz="3200" lang="en">
                <a:latin typeface="Times New Roman"/>
                <a:ea typeface="Times New Roman"/>
                <a:cs typeface="Times New Roman"/>
                <a:sym typeface="Times New Roman"/>
              </a:rPr>
              <a:t>Undertaking as to damages</a:t>
            </a:r>
            <a:endParaRPr dirty="0" sz="3200"/>
          </a:p>
          <a:p>
            <a:pPr indent="0" marL="0">
              <a:spcBef>
                <a:spcPts val="853"/>
              </a:spcBef>
              <a:buClr>
                <a:schemeClr val="dk1"/>
              </a:buClr>
              <a:buSzPts val="3200"/>
              <a:buNone/>
            </a:pPr>
            <a:r>
              <a:rPr dirty="0" sz="3200" lang="en">
                <a:latin typeface="Times New Roman"/>
                <a:ea typeface="Times New Roman"/>
                <a:cs typeface="Times New Roman"/>
                <a:sym typeface="Times New Roman"/>
              </a:rPr>
              <a:t>See </a:t>
            </a:r>
            <a:r>
              <a:rPr b="1" dirty="0" sz="3200" lang="en">
                <a:latin typeface="Times New Roman"/>
                <a:ea typeface="Times New Roman"/>
                <a:cs typeface="Times New Roman"/>
                <a:sym typeface="Times New Roman"/>
              </a:rPr>
              <a:t>OBEYA MEMORIAL HOSPITAL V AG FEDERATION ( 1987) 7SCNJ 42</a:t>
            </a:r>
            <a:endParaRPr b="1" dirty="0" sz="3200">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245" name="Shape 446"/>
        <p:cNvGrpSpPr/>
        <p:nvPr/>
      </p:nvGrpSpPr>
      <p:grpSpPr>
        <a:xfrm>
          <a:off x="0" y="0"/>
          <a:ext cx="0" cy="0"/>
          <a:chOff x="0" y="0"/>
          <a:chExt cx="0" cy="0"/>
        </a:xfrm>
      </p:grpSpPr>
      <p:sp>
        <p:nvSpPr>
          <p:cNvPr id="1048786" name="Google Shape;447;p78"/>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Mandatory Injunction</a:t>
            </a:r>
            <a:endParaRPr b="1" dirty="0">
              <a:latin typeface="Times New Roman"/>
              <a:ea typeface="Times New Roman"/>
              <a:cs typeface="Times New Roman"/>
              <a:sym typeface="Times New Roman"/>
            </a:endParaRPr>
          </a:p>
        </p:txBody>
      </p:sp>
      <p:sp>
        <p:nvSpPr>
          <p:cNvPr id="1048787" name="Google Shape;448;p78"/>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740"/>
            </a:pPr>
            <a:r>
              <a:rPr dirty="0" sz="3200" lang="en">
                <a:latin typeface="Times New Roman"/>
                <a:ea typeface="Times New Roman"/>
                <a:cs typeface="Times New Roman"/>
                <a:sym typeface="Times New Roman"/>
              </a:rPr>
              <a:t>It is an order compelling a party to do an act in some cases ( e.g. to forestall executive lawlessness).</a:t>
            </a:r>
            <a:endParaRPr dirty="0" sz="3200"/>
          </a:p>
          <a:p>
            <a:pPr indent="-457189" marL="457189">
              <a:spcBef>
                <a:spcPts val="997"/>
              </a:spcBef>
              <a:buClr>
                <a:schemeClr val="dk1"/>
              </a:buClr>
              <a:buSzPts val="3740"/>
            </a:pPr>
            <a:r>
              <a:rPr dirty="0" sz="3200" lang="en">
                <a:latin typeface="Times New Roman"/>
                <a:ea typeface="Times New Roman"/>
                <a:cs typeface="Times New Roman"/>
                <a:sym typeface="Times New Roman"/>
              </a:rPr>
              <a:t>It is to compel a Respondent to retrace his steps and to restore the  parties to the </a:t>
            </a:r>
            <a:r>
              <a:rPr b="1" dirty="0" sz="3200" i="1" lang="en">
                <a:latin typeface="Times New Roman"/>
                <a:ea typeface="Times New Roman"/>
                <a:cs typeface="Times New Roman"/>
                <a:sym typeface="Times New Roman"/>
              </a:rPr>
              <a:t>status quo ante bellum. </a:t>
            </a:r>
            <a:r>
              <a:rPr dirty="0" sz="3200" lang="en">
                <a:latin typeface="Times New Roman"/>
                <a:ea typeface="Times New Roman"/>
                <a:cs typeface="Times New Roman"/>
                <a:sym typeface="Times New Roman"/>
              </a:rPr>
              <a:t>See </a:t>
            </a:r>
            <a:r>
              <a:rPr b="1" dirty="0" sz="3200" lang="en">
                <a:latin typeface="Times New Roman"/>
                <a:ea typeface="Times New Roman"/>
                <a:cs typeface="Times New Roman"/>
                <a:sym typeface="Times New Roman"/>
              </a:rPr>
              <a:t>SULU GAMBARI V BUKOLA (2004) 1NWLR (PT853)122 @ 140-141</a:t>
            </a:r>
            <a:endParaRPr b="1" dirty="0" sz="3200" i="1">
              <a:latin typeface="Times New Roman"/>
              <a:ea typeface="Times New Roman"/>
              <a:cs typeface="Times New Roman"/>
              <a:sym typeface="Times New Roma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248" name="Shape 452"/>
        <p:cNvGrpSpPr/>
        <p:nvPr/>
      </p:nvGrpSpPr>
      <p:grpSpPr>
        <a:xfrm>
          <a:off x="0" y="0"/>
          <a:ext cx="0" cy="0"/>
          <a:chOff x="0" y="0"/>
          <a:chExt cx="0" cy="0"/>
        </a:xfrm>
      </p:grpSpPr>
      <p:sp>
        <p:nvSpPr>
          <p:cNvPr id="1048790" name="Google Shape;453;p79"/>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sz="3200" lang="en">
                <a:latin typeface="Times New Roman"/>
                <a:ea typeface="Times New Roman"/>
                <a:cs typeface="Times New Roman"/>
                <a:sym typeface="Times New Roman"/>
              </a:rPr>
              <a:t>Anton Piller Injunction</a:t>
            </a:r>
            <a:endParaRPr b="1" dirty="0" sz="3200">
              <a:latin typeface="Times New Roman"/>
              <a:ea typeface="Times New Roman"/>
              <a:cs typeface="Times New Roman"/>
              <a:sym typeface="Times New Roman"/>
            </a:endParaRPr>
          </a:p>
        </p:txBody>
      </p:sp>
      <p:sp>
        <p:nvSpPr>
          <p:cNvPr id="1048791" name="Google Shape;454;p79"/>
          <p:cNvSpPr txBox="1">
            <a:spLocks noGrp="1"/>
          </p:cNvSpPr>
          <p:nvPr>
            <p:ph idx="1"/>
          </p:nvPr>
        </p:nvSpPr>
        <p:spPr>
          <a:xfrm>
            <a:off x="812800" y="1600163"/>
            <a:ext cx="10769600" cy="49832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pPr>
            <a:r>
              <a:rPr dirty="0" sz="2667" lang="en">
                <a:latin typeface="Times New Roman"/>
                <a:ea typeface="Times New Roman"/>
                <a:cs typeface="Times New Roman"/>
                <a:sym typeface="Times New Roman"/>
              </a:rPr>
              <a:t>It is an </a:t>
            </a:r>
            <a:r>
              <a:rPr dirty="0" sz="2667" i="1" lang="en">
                <a:latin typeface="Times New Roman"/>
                <a:ea typeface="Times New Roman"/>
                <a:cs typeface="Times New Roman"/>
                <a:sym typeface="Times New Roman"/>
              </a:rPr>
              <a:t>ex </a:t>
            </a:r>
            <a:r>
              <a:rPr dirty="0" sz="2667" i="1" lang="en" err="1">
                <a:latin typeface="Times New Roman"/>
                <a:ea typeface="Times New Roman"/>
                <a:cs typeface="Times New Roman"/>
                <a:sym typeface="Times New Roman"/>
              </a:rPr>
              <a:t>parte</a:t>
            </a:r>
            <a:r>
              <a:rPr dirty="0" sz="2667" i="1" lang="en">
                <a:latin typeface="Times New Roman"/>
                <a:ea typeface="Times New Roman"/>
                <a:cs typeface="Times New Roman"/>
                <a:sym typeface="Times New Roman"/>
              </a:rPr>
              <a:t> </a:t>
            </a:r>
            <a:r>
              <a:rPr dirty="0" sz="2667" lang="en">
                <a:latin typeface="Times New Roman"/>
                <a:ea typeface="Times New Roman"/>
                <a:cs typeface="Times New Roman"/>
                <a:sym typeface="Times New Roman"/>
              </a:rPr>
              <a:t>order permitting the applicant to enter into the respondent premises to seize, detain and preserve goods or articles in possession of the respondent</a:t>
            </a:r>
            <a:endParaRPr dirty="0" sz="2667"/>
          </a:p>
          <a:p>
            <a:pPr indent="-457189" marL="457189">
              <a:spcBef>
                <a:spcPts val="960"/>
              </a:spcBef>
              <a:buClr>
                <a:schemeClr val="dk1"/>
              </a:buClr>
              <a:buSzPts val="3600"/>
            </a:pPr>
            <a:r>
              <a:rPr dirty="0" sz="2667" lang="en">
                <a:latin typeface="Times New Roman"/>
                <a:ea typeface="Times New Roman"/>
                <a:cs typeface="Times New Roman"/>
                <a:sym typeface="Times New Roman"/>
              </a:rPr>
              <a:t>It is granted in case of infringement of copy right, trademark, patent</a:t>
            </a:r>
            <a:endParaRPr dirty="0" sz="2667"/>
          </a:p>
          <a:p>
            <a:pPr indent="-457189" marL="457189">
              <a:spcBef>
                <a:spcPts val="960"/>
              </a:spcBef>
              <a:buClr>
                <a:schemeClr val="dk1"/>
              </a:buClr>
              <a:buSzPts val="3600"/>
            </a:pPr>
            <a:r>
              <a:rPr dirty="0" sz="2667" lang="en">
                <a:latin typeface="Times New Roman"/>
                <a:ea typeface="Times New Roman"/>
                <a:cs typeface="Times New Roman"/>
                <a:sym typeface="Times New Roman"/>
              </a:rPr>
              <a:t>See </a:t>
            </a:r>
            <a:r>
              <a:rPr b="1" dirty="0" sz="2667" lang="en">
                <a:latin typeface="Times New Roman"/>
                <a:ea typeface="Times New Roman"/>
                <a:cs typeface="Times New Roman"/>
                <a:sym typeface="Times New Roman"/>
              </a:rPr>
              <a:t>ANTON PILLER K,G V. MANUFACTURING PROCESSES LTD &amp; ORS (1976) 1 ALL ER 779</a:t>
            </a:r>
            <a:endParaRPr b="1" dirty="0" sz="2667">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251" name="Shape 458"/>
        <p:cNvGrpSpPr/>
        <p:nvPr/>
      </p:nvGrpSpPr>
      <p:grpSpPr>
        <a:xfrm>
          <a:off x="0" y="0"/>
          <a:ext cx="0" cy="0"/>
          <a:chOff x="0" y="0"/>
          <a:chExt cx="0" cy="0"/>
        </a:xfrm>
      </p:grpSpPr>
      <p:sp>
        <p:nvSpPr>
          <p:cNvPr id="1048794" name="Google Shape;459;p80"/>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600"/>
            </a:pPr>
            <a:r>
              <a:rPr b="1" dirty="0" sz="3600" lang="en">
                <a:latin typeface="Times New Roman"/>
                <a:ea typeface="Times New Roman"/>
                <a:cs typeface="Times New Roman"/>
                <a:sym typeface="Times New Roman"/>
              </a:rPr>
              <a:t>Principles Guiding the grant of Anton Piller Injunction</a:t>
            </a:r>
            <a:endParaRPr b="1" dirty="0" sz="3600">
              <a:latin typeface="Times New Roman"/>
              <a:ea typeface="Times New Roman"/>
              <a:cs typeface="Times New Roman"/>
              <a:sym typeface="Times New Roman"/>
            </a:endParaRPr>
          </a:p>
        </p:txBody>
      </p:sp>
      <p:sp>
        <p:nvSpPr>
          <p:cNvPr id="1048795" name="Google Shape;460;p80"/>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500"/>
            </a:pPr>
            <a:r>
              <a:rPr dirty="0" sz="3200" lang="en">
                <a:latin typeface="Times New Roman"/>
                <a:ea typeface="Times New Roman"/>
                <a:cs typeface="Times New Roman"/>
                <a:sym typeface="Times New Roman"/>
              </a:rPr>
              <a:t>The guiding principles was laid in </a:t>
            </a:r>
            <a:r>
              <a:rPr b="1" dirty="0" sz="3200" lang="en">
                <a:latin typeface="Times New Roman"/>
                <a:ea typeface="Times New Roman"/>
                <a:cs typeface="Times New Roman"/>
                <a:sym typeface="Times New Roman"/>
              </a:rPr>
              <a:t>FERDO LTD V UNIBRO STORES ( 1980) Fleet Street Report 489</a:t>
            </a:r>
            <a:r>
              <a:rPr dirty="0" sz="3200" lang="en">
                <a:latin typeface="Times New Roman"/>
                <a:ea typeface="Times New Roman"/>
                <a:cs typeface="Times New Roman"/>
                <a:sym typeface="Times New Roman"/>
              </a:rPr>
              <a:t> as follows:</a:t>
            </a:r>
            <a:endParaRPr dirty="0" sz="3200"/>
          </a:p>
          <a:p>
            <a:pPr indent="-457189" marL="457189">
              <a:spcBef>
                <a:spcPts val="933"/>
              </a:spcBef>
              <a:buClr>
                <a:schemeClr val="dk1"/>
              </a:buClr>
              <a:buSzPts val="3500"/>
              <a:buFont typeface="Noto Sans Symbols"/>
              <a:buChar char="✔"/>
            </a:pPr>
            <a:r>
              <a:rPr dirty="0" sz="3200" lang="en">
                <a:latin typeface="Times New Roman"/>
                <a:ea typeface="Times New Roman"/>
                <a:cs typeface="Times New Roman"/>
                <a:sym typeface="Times New Roman"/>
              </a:rPr>
              <a:t>The Applicant must show that there is an  infringement against his trade marks, copy right, patent right or designs.</a:t>
            </a:r>
            <a:endParaRPr dirty="0" sz="3200"/>
          </a:p>
          <a:p>
            <a:pPr indent="-457189" marL="457189">
              <a:spcBef>
                <a:spcPts val="933"/>
              </a:spcBef>
              <a:buClr>
                <a:schemeClr val="dk1"/>
              </a:buClr>
              <a:buSzPts val="3500"/>
              <a:buFont typeface="Noto Sans Symbols"/>
              <a:buChar char="✔"/>
            </a:pPr>
            <a:r>
              <a:rPr dirty="0" sz="3200" lang="en">
                <a:latin typeface="Times New Roman"/>
                <a:ea typeface="Times New Roman"/>
                <a:cs typeface="Times New Roman"/>
                <a:sym typeface="Times New Roman"/>
              </a:rPr>
              <a:t>The Applicant must show that the infringing property is in the possession of the Respondent.</a:t>
            </a:r>
            <a:endParaRPr dirty="0" sz="32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254" name="Shape 464"/>
        <p:cNvGrpSpPr/>
        <p:nvPr/>
      </p:nvGrpSpPr>
      <p:grpSpPr>
        <a:xfrm>
          <a:off x="0" y="0"/>
          <a:ext cx="0" cy="0"/>
          <a:chOff x="0" y="0"/>
          <a:chExt cx="0" cy="0"/>
        </a:xfrm>
      </p:grpSpPr>
      <p:sp>
        <p:nvSpPr>
          <p:cNvPr id="1048798" name="Google Shape;466;p81"/>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buFont typeface="Noto Sans Symbols"/>
              <a:buChar char="✔"/>
            </a:pPr>
            <a:r>
              <a:rPr dirty="0" sz="2667" lang="en">
                <a:latin typeface="Times New Roman"/>
                <a:ea typeface="Times New Roman"/>
                <a:cs typeface="Times New Roman"/>
                <a:sym typeface="Times New Roman"/>
              </a:rPr>
              <a:t>The Applicant must show that if an application is made on notice , the Respondent is likely to destroy or hide the property away.</a:t>
            </a:r>
            <a:endParaRPr dirty="0" sz="2667"/>
          </a:p>
          <a:p>
            <a:pPr indent="-457189" marL="457189">
              <a:spcBef>
                <a:spcPts val="960"/>
              </a:spcBef>
              <a:buClr>
                <a:schemeClr val="dk1"/>
              </a:buClr>
              <a:buSzPts val="3600"/>
              <a:buFont typeface="Noto Sans Symbols"/>
              <a:buChar char="✔"/>
            </a:pPr>
            <a:r>
              <a:rPr dirty="0" sz="2667" lang="en">
                <a:latin typeface="Times New Roman"/>
                <a:ea typeface="Times New Roman"/>
                <a:cs typeface="Times New Roman"/>
                <a:sym typeface="Times New Roman"/>
              </a:rPr>
              <a:t>The Applicant must further show that his case would be seriously frustrated if the court refuses to make the order for Anton </a:t>
            </a:r>
            <a:r>
              <a:rPr dirty="0" sz="2667" lang="en" err="1">
                <a:latin typeface="Times New Roman"/>
                <a:ea typeface="Times New Roman"/>
                <a:cs typeface="Times New Roman"/>
                <a:sym typeface="Times New Roman"/>
              </a:rPr>
              <a:t>piller</a:t>
            </a:r>
            <a:r>
              <a:rPr dirty="0" sz="2667" lang="en">
                <a:latin typeface="Times New Roman"/>
                <a:ea typeface="Times New Roman"/>
                <a:cs typeface="Times New Roman"/>
                <a:sym typeface="Times New Roman"/>
              </a:rPr>
              <a:t> injunction against the Respondent.</a:t>
            </a:r>
            <a:endParaRPr dirty="0" sz="2667"/>
          </a:p>
          <a:p>
            <a:pPr indent="-152396" marL="457189">
              <a:spcBef>
                <a:spcPts val="960"/>
              </a:spcBef>
              <a:buClr>
                <a:schemeClr val="dk1"/>
              </a:buClr>
              <a:buSzPts val="3600"/>
              <a:buNone/>
            </a:pPr>
            <a:endParaRPr dirty="0" sz="2667"/>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257" name="Shape 470"/>
        <p:cNvGrpSpPr/>
        <p:nvPr/>
      </p:nvGrpSpPr>
      <p:grpSpPr>
        <a:xfrm>
          <a:off x="0" y="0"/>
          <a:ext cx="0" cy="0"/>
          <a:chOff x="0" y="0"/>
          <a:chExt cx="0" cy="0"/>
        </a:xfrm>
      </p:grpSpPr>
      <p:sp>
        <p:nvSpPr>
          <p:cNvPr id="1048801" name="Google Shape;471;p82"/>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Mareva Injunction</a:t>
            </a:r>
            <a:endParaRPr b="1" dirty="0">
              <a:latin typeface="Times New Roman"/>
              <a:ea typeface="Times New Roman"/>
              <a:cs typeface="Times New Roman"/>
              <a:sym typeface="Times New Roman"/>
            </a:endParaRPr>
          </a:p>
        </p:txBody>
      </p:sp>
      <p:sp>
        <p:nvSpPr>
          <p:cNvPr id="1048802" name="Google Shape;472;p82"/>
          <p:cNvSpPr txBox="1">
            <a:spLocks noGrp="1"/>
          </p:cNvSpPr>
          <p:nvPr>
            <p:ph idx="1"/>
          </p:nvPr>
        </p:nvSpPr>
        <p:spPr>
          <a:xfrm>
            <a:off x="609600" y="1690688"/>
            <a:ext cx="10972800" cy="47544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000"/>
            </a:pPr>
            <a:r>
              <a:rPr dirty="0" sz="3200" lang="en">
                <a:latin typeface="Times New Roman"/>
                <a:ea typeface="Times New Roman"/>
                <a:cs typeface="Times New Roman"/>
                <a:sym typeface="Times New Roman"/>
              </a:rPr>
              <a:t>This is an order restraining a defendant from removing his assets within jurisdiction so as to render a judgment nugatory.</a:t>
            </a:r>
            <a:endParaRPr dirty="0" sz="3200"/>
          </a:p>
          <a:p>
            <a:pPr indent="-457189" marL="457189">
              <a:spcBef>
                <a:spcPts val="1067"/>
              </a:spcBef>
              <a:buClr>
                <a:schemeClr val="dk1"/>
              </a:buClr>
              <a:buSzPts val="4000"/>
            </a:pPr>
            <a:r>
              <a:rPr dirty="0" sz="3200" lang="en">
                <a:latin typeface="Times New Roman"/>
                <a:ea typeface="Times New Roman"/>
                <a:cs typeface="Times New Roman"/>
                <a:sym typeface="Times New Roman"/>
              </a:rPr>
              <a:t>See </a:t>
            </a:r>
            <a:r>
              <a:rPr b="1" dirty="0" sz="3200" lang="en">
                <a:latin typeface="Times New Roman"/>
                <a:ea typeface="Times New Roman"/>
                <a:cs typeface="Times New Roman"/>
                <a:sym typeface="Times New Roman"/>
              </a:rPr>
              <a:t>MAREVA COMPANIA NAVIERA V INTERNATIONAL BULK CARRIER LTD (1975) </a:t>
            </a:r>
            <a:r>
              <a:rPr b="1" dirty="0" sz="3200" lang="en" err="1">
                <a:latin typeface="Times New Roman"/>
                <a:ea typeface="Times New Roman"/>
                <a:cs typeface="Times New Roman"/>
                <a:sym typeface="Times New Roman"/>
              </a:rPr>
              <a:t>Lyod’s</a:t>
            </a:r>
            <a:r>
              <a:rPr b="1" dirty="0" sz="3200" lang="en">
                <a:latin typeface="Times New Roman"/>
                <a:ea typeface="Times New Roman"/>
                <a:cs typeface="Times New Roman"/>
                <a:sym typeface="Times New Roman"/>
              </a:rPr>
              <a:t> Rep. 509</a:t>
            </a:r>
            <a:endParaRPr b="1" dirty="0" sz="3200">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260" name="Shape 476"/>
        <p:cNvGrpSpPr/>
        <p:nvPr/>
      </p:nvGrpSpPr>
      <p:grpSpPr>
        <a:xfrm>
          <a:off x="0" y="0"/>
          <a:ext cx="0" cy="0"/>
          <a:chOff x="0" y="0"/>
          <a:chExt cx="0" cy="0"/>
        </a:xfrm>
      </p:grpSpPr>
      <p:sp>
        <p:nvSpPr>
          <p:cNvPr id="1048805" name="Google Shape;477;p83"/>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600"/>
            </a:pPr>
            <a:r>
              <a:rPr b="1" dirty="0" sz="4800" lang="en">
                <a:latin typeface="Times New Roman"/>
                <a:ea typeface="Times New Roman"/>
                <a:cs typeface="Times New Roman"/>
                <a:sym typeface="Times New Roman"/>
              </a:rPr>
              <a:t>Guiding Principless for the grant of Mareva Injunction</a:t>
            </a:r>
            <a:endParaRPr b="1" dirty="0" sz="4800">
              <a:latin typeface="Times New Roman"/>
              <a:ea typeface="Times New Roman"/>
              <a:cs typeface="Times New Roman"/>
              <a:sym typeface="Times New Roman"/>
            </a:endParaRPr>
          </a:p>
        </p:txBody>
      </p:sp>
      <p:sp>
        <p:nvSpPr>
          <p:cNvPr id="1048806" name="Google Shape;478;p83"/>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100"/>
            </a:pPr>
            <a:r>
              <a:rPr dirty="0" sz="3200" lang="en">
                <a:latin typeface="Times New Roman"/>
                <a:ea typeface="Times New Roman"/>
                <a:cs typeface="Times New Roman"/>
                <a:sym typeface="Times New Roman"/>
              </a:rPr>
              <a:t>The guiding principles are laid in </a:t>
            </a:r>
            <a:r>
              <a:rPr b="1" dirty="0" sz="3200" lang="en">
                <a:latin typeface="Times New Roman"/>
                <a:ea typeface="Times New Roman"/>
                <a:cs typeface="Times New Roman"/>
                <a:sym typeface="Times New Roman"/>
              </a:rPr>
              <a:t>SOTIMINU V OCEAN STEAMSHIP NIG LTD ( 1992) 5 SCNJ 1 </a:t>
            </a:r>
            <a:r>
              <a:rPr dirty="0" sz="3200" lang="en">
                <a:latin typeface="Times New Roman"/>
                <a:ea typeface="Times New Roman"/>
                <a:cs typeface="Times New Roman"/>
                <a:sym typeface="Times New Roman"/>
              </a:rPr>
              <a:t>as follows:</a:t>
            </a:r>
            <a:endParaRPr dirty="0" sz="3200"/>
          </a:p>
          <a:p>
            <a:pPr indent="-457189" marL="457189">
              <a:spcBef>
                <a:spcPts val="827"/>
              </a:spcBef>
              <a:buClr>
                <a:schemeClr val="dk1"/>
              </a:buClr>
              <a:buSzPts val="3100"/>
              <a:buFont typeface="Noto Sans Symbols"/>
              <a:buChar char="✔"/>
            </a:pPr>
            <a:r>
              <a:rPr dirty="0" sz="3200" lang="en">
                <a:latin typeface="Times New Roman"/>
                <a:ea typeface="Times New Roman"/>
                <a:cs typeface="Times New Roman"/>
                <a:sym typeface="Times New Roman"/>
              </a:rPr>
              <a:t>That he has a cause of action which is justifiable</a:t>
            </a:r>
            <a:endParaRPr dirty="0" sz="3200"/>
          </a:p>
          <a:p>
            <a:pPr indent="-457189" marL="457189">
              <a:spcBef>
                <a:spcPts val="827"/>
              </a:spcBef>
              <a:buClr>
                <a:schemeClr val="dk1"/>
              </a:buClr>
              <a:buSzPts val="3100"/>
              <a:buFont typeface="Noto Sans Symbols"/>
              <a:buChar char="✔"/>
            </a:pPr>
            <a:r>
              <a:rPr dirty="0" sz="3200" lang="en">
                <a:latin typeface="Times New Roman"/>
                <a:ea typeface="Times New Roman"/>
                <a:cs typeface="Times New Roman"/>
                <a:sym typeface="Times New Roman"/>
              </a:rPr>
              <a:t>That there is real and imminent risk of the Defendant removing his assets from jurisdiction and thereby rendering nugatory any judgment which the plaintiff may obtain</a:t>
            </a:r>
            <a:endParaRPr dirty="0" sz="3200"/>
          </a:p>
          <a:p>
            <a:pPr indent="-457189" marL="457189">
              <a:spcBef>
                <a:spcPts val="827"/>
              </a:spcBef>
              <a:buClr>
                <a:schemeClr val="dk1"/>
              </a:buClr>
              <a:buSzPts val="3100"/>
              <a:buFont typeface="Noto Sans Symbols"/>
              <a:buChar char="✔"/>
            </a:pPr>
            <a:r>
              <a:rPr dirty="0" sz="3200" lang="en">
                <a:latin typeface="Times New Roman"/>
                <a:ea typeface="Times New Roman"/>
                <a:cs typeface="Times New Roman"/>
                <a:sym typeface="Times New Roman"/>
              </a:rPr>
              <a:t>That the applicant has made a full disclosure of all material facts relevant in the application</a:t>
            </a:r>
            <a:endParaRPr dirty="0" sz="3200"/>
          </a:p>
          <a:p>
            <a:pPr indent="0" marL="0">
              <a:spcBef>
                <a:spcPts val="827"/>
              </a:spcBef>
              <a:buClr>
                <a:schemeClr val="dk1"/>
              </a:buClr>
              <a:buSzPts val="3100"/>
              <a:buNone/>
            </a:pPr>
            <a:endParaRPr dirty="0" sz="3200">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263" name="Shape 482"/>
        <p:cNvGrpSpPr/>
        <p:nvPr/>
      </p:nvGrpSpPr>
      <p:grpSpPr>
        <a:xfrm>
          <a:off x="0" y="0"/>
          <a:ext cx="0" cy="0"/>
          <a:chOff x="0" y="0"/>
          <a:chExt cx="0" cy="0"/>
        </a:xfrm>
      </p:grpSpPr>
      <p:sp>
        <p:nvSpPr>
          <p:cNvPr id="1048809" name="Google Shape;483;p84"/>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endParaRPr dirty="0"/>
          </a:p>
        </p:txBody>
      </p:sp>
      <p:sp>
        <p:nvSpPr>
          <p:cNvPr id="1048810" name="Google Shape;484;p84"/>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buFont typeface="Noto Sans Symbols"/>
              <a:buChar char="✔"/>
            </a:pPr>
            <a:r>
              <a:rPr dirty="0" sz="3200" lang="en">
                <a:latin typeface="Times New Roman"/>
                <a:ea typeface="Times New Roman"/>
                <a:cs typeface="Times New Roman"/>
                <a:sym typeface="Times New Roman"/>
              </a:rPr>
              <a:t>That he has given full particulars of the Defendant’s assets within the jurisdiction</a:t>
            </a:r>
            <a:endParaRPr dirty="0" sz="3200"/>
          </a:p>
          <a:p>
            <a:pPr indent="-457189" marL="457189">
              <a:spcBef>
                <a:spcPts val="960"/>
              </a:spcBef>
              <a:buClr>
                <a:schemeClr val="dk1"/>
              </a:buClr>
              <a:buSzPts val="3600"/>
              <a:buFont typeface="Noto Sans Symbols"/>
              <a:buChar char="✔"/>
            </a:pPr>
            <a:r>
              <a:rPr dirty="0" sz="3200" lang="en">
                <a:latin typeface="Times New Roman"/>
                <a:ea typeface="Times New Roman"/>
                <a:cs typeface="Times New Roman"/>
                <a:sym typeface="Times New Roman"/>
              </a:rPr>
              <a:t>That the balance of convenience is on the side of the applicant</a:t>
            </a:r>
            <a:endParaRPr dirty="0" sz="3200"/>
          </a:p>
          <a:p>
            <a:pPr indent="-457189" marL="457189">
              <a:spcBef>
                <a:spcPts val="960"/>
              </a:spcBef>
              <a:buClr>
                <a:schemeClr val="dk1"/>
              </a:buClr>
              <a:buSzPts val="3600"/>
              <a:buFont typeface="Noto Sans Symbols"/>
              <a:buChar char="✔"/>
            </a:pPr>
            <a:r>
              <a:rPr dirty="0" sz="3200" lang="en">
                <a:latin typeface="Times New Roman"/>
                <a:ea typeface="Times New Roman"/>
                <a:cs typeface="Times New Roman"/>
                <a:sym typeface="Times New Roman"/>
              </a:rPr>
              <a:t>That he is prepared to make undertakings as to damages.</a:t>
            </a:r>
            <a:endParaRPr dirty="0" sz="3200">
              <a:latin typeface="Times New Roman"/>
              <a:ea typeface="Times New Roman"/>
              <a:cs typeface="Times New Roman"/>
              <a:sym typeface="Times New Roman"/>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266" name="Shape 488"/>
        <p:cNvGrpSpPr/>
        <p:nvPr/>
      </p:nvGrpSpPr>
      <p:grpSpPr>
        <a:xfrm>
          <a:off x="0" y="0"/>
          <a:ext cx="0" cy="0"/>
          <a:chOff x="0" y="0"/>
          <a:chExt cx="0" cy="0"/>
        </a:xfrm>
      </p:grpSpPr>
      <p:sp>
        <p:nvSpPr>
          <p:cNvPr id="1048813" name="Google Shape;489;p85"/>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Interpleader </a:t>
            </a:r>
            <a:endParaRPr b="1" dirty="0">
              <a:latin typeface="Times New Roman"/>
              <a:ea typeface="Times New Roman"/>
              <a:cs typeface="Times New Roman"/>
              <a:sym typeface="Times New Roman"/>
            </a:endParaRPr>
          </a:p>
        </p:txBody>
      </p:sp>
      <p:sp>
        <p:nvSpPr>
          <p:cNvPr id="1048814" name="Google Shape;490;p85"/>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000"/>
            </a:pPr>
            <a:r>
              <a:rPr dirty="0" sz="3200" lang="en">
                <a:latin typeface="Times New Roman"/>
                <a:ea typeface="Times New Roman"/>
                <a:cs typeface="Times New Roman"/>
                <a:sym typeface="Times New Roman"/>
              </a:rPr>
              <a:t>People often find themselves in possession of property or money claimed by two or more persons. The person in possession becomes confused as to who is the right owner</a:t>
            </a:r>
            <a:endParaRPr dirty="0" sz="3200"/>
          </a:p>
          <a:p>
            <a:pPr indent="-457189" marL="457189">
              <a:spcBef>
                <a:spcPts val="1067"/>
              </a:spcBef>
              <a:buClr>
                <a:schemeClr val="dk1"/>
              </a:buClr>
              <a:buSzPts val="4000"/>
            </a:pPr>
            <a:r>
              <a:rPr dirty="0" sz="3200" lang="en">
                <a:latin typeface="Times New Roman"/>
                <a:ea typeface="Times New Roman"/>
                <a:cs typeface="Times New Roman"/>
                <a:sym typeface="Times New Roman"/>
              </a:rPr>
              <a:t>Delivery to one person may result to a suit against him by the other</a:t>
            </a:r>
            <a:endParaRPr dirty="0" sz="3200"/>
          </a:p>
          <a:p>
            <a:pPr indent="0" marL="0">
              <a:spcBef>
                <a:spcPts val="1067"/>
              </a:spcBef>
              <a:buClr>
                <a:schemeClr val="dk1"/>
              </a:buClr>
              <a:buSzPts val="4000"/>
              <a:buNone/>
            </a:pPr>
            <a:endParaRPr dirty="0" sz="3200">
              <a:latin typeface="Times New Roman"/>
              <a:ea typeface="Times New Roman"/>
              <a:cs typeface="Times New Roman"/>
              <a:sym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269" name="Shape 495"/>
        <p:cNvGrpSpPr/>
        <p:nvPr/>
      </p:nvGrpSpPr>
      <p:grpSpPr>
        <a:xfrm>
          <a:off x="0" y="0"/>
          <a:ext cx="0" cy="0"/>
          <a:chOff x="0" y="0"/>
          <a:chExt cx="0" cy="0"/>
        </a:xfrm>
      </p:grpSpPr>
      <p:sp>
        <p:nvSpPr>
          <p:cNvPr id="1048817" name="Google Shape;497;p86"/>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000"/>
            </a:pPr>
            <a:r>
              <a:rPr dirty="0" sz="3733" lang="en">
                <a:latin typeface="Times New Roman"/>
                <a:ea typeface="Times New Roman"/>
                <a:cs typeface="Times New Roman"/>
                <a:sym typeface="Times New Roman"/>
              </a:rPr>
              <a:t>To avoid this the party in possession applies to court by way of interpleader to compel the claimants to interplead (take proceedings between themselves to determine who is entitled to the subject matter</a:t>
            </a:r>
            <a:endParaRPr dirty="0" sz="3733"/>
          </a:p>
          <a:p>
            <a:pPr indent="-118530" marL="457189">
              <a:spcBef>
                <a:spcPts val="1067"/>
              </a:spcBef>
              <a:buClr>
                <a:schemeClr val="dk1"/>
              </a:buClr>
              <a:buSzPts val="4000"/>
              <a:buNone/>
            </a:pPr>
            <a:endParaRPr dirty="0" sz="3733">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272" name="Shape 501"/>
        <p:cNvGrpSpPr/>
        <p:nvPr/>
      </p:nvGrpSpPr>
      <p:grpSpPr>
        <a:xfrm>
          <a:off x="0" y="0"/>
          <a:ext cx="0" cy="0"/>
          <a:chOff x="0" y="0"/>
          <a:chExt cx="0" cy="0"/>
        </a:xfrm>
      </p:grpSpPr>
      <p:sp>
        <p:nvSpPr>
          <p:cNvPr id="1048821" name="Google Shape;502;p87"/>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Types of Interpleader</a:t>
            </a:r>
            <a:endParaRPr b="1" dirty="0">
              <a:latin typeface="Times New Roman"/>
              <a:ea typeface="Times New Roman"/>
              <a:cs typeface="Times New Roman"/>
              <a:sym typeface="Times New Roman"/>
            </a:endParaRPr>
          </a:p>
        </p:txBody>
      </p:sp>
      <p:sp>
        <p:nvSpPr>
          <p:cNvPr id="1048822" name="Google Shape;503;p87"/>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000"/>
            </a:pPr>
            <a:r>
              <a:rPr dirty="0" sz="3200" lang="en">
                <a:latin typeface="Times New Roman"/>
                <a:ea typeface="Times New Roman"/>
                <a:cs typeface="Times New Roman"/>
                <a:sym typeface="Times New Roman"/>
              </a:rPr>
              <a:t>Sheriff interpleader. See section 34 of the Sheriff &amp; Civil process Act.</a:t>
            </a:r>
            <a:endParaRPr dirty="0" sz="3200"/>
          </a:p>
          <a:p>
            <a:pPr indent="-457189" marL="457189">
              <a:spcBef>
                <a:spcPts val="1067"/>
              </a:spcBef>
              <a:buClr>
                <a:schemeClr val="dk1"/>
              </a:buClr>
              <a:buSzPts val="4000"/>
            </a:pPr>
            <a:r>
              <a:rPr dirty="0" sz="3200" lang="en">
                <a:latin typeface="Times New Roman"/>
                <a:ea typeface="Times New Roman"/>
                <a:cs typeface="Times New Roman"/>
                <a:sym typeface="Times New Roman"/>
              </a:rPr>
              <a:t>Stakeholder interpleader. See </a:t>
            </a:r>
            <a:r>
              <a:rPr b="1" dirty="0" sz="3200" lang="en">
                <a:solidFill>
                  <a:srgbClr val="FF0000"/>
                </a:solidFill>
                <a:latin typeface="Times New Roman"/>
                <a:ea typeface="Times New Roman"/>
                <a:cs typeface="Times New Roman"/>
                <a:sym typeface="Times New Roman"/>
              </a:rPr>
              <a:t>O. 26 R 1 </a:t>
            </a:r>
            <a:r>
              <a:rPr dirty="0" sz="3200" lang="en">
                <a:solidFill>
                  <a:srgbClr val="FF0000"/>
                </a:solidFill>
                <a:latin typeface="Times New Roman"/>
                <a:ea typeface="Times New Roman"/>
                <a:cs typeface="Times New Roman"/>
                <a:sym typeface="Times New Roman"/>
              </a:rPr>
              <a:t>Abuja</a:t>
            </a:r>
            <a:r>
              <a:rPr dirty="0" sz="3200" lang="en">
                <a:latin typeface="Times New Roman"/>
                <a:ea typeface="Times New Roman"/>
                <a:cs typeface="Times New Roman"/>
                <a:sym typeface="Times New Roman"/>
              </a:rPr>
              <a:t>, </a:t>
            </a:r>
            <a:r>
              <a:rPr b="1" dirty="0" sz="3200" lang="en">
                <a:latin typeface="Times New Roman"/>
                <a:ea typeface="Times New Roman"/>
                <a:cs typeface="Times New Roman"/>
                <a:sym typeface="Times New Roman"/>
              </a:rPr>
              <a:t>O 47 R1</a:t>
            </a:r>
            <a:r>
              <a:rPr dirty="0" sz="3200" lang="en">
                <a:latin typeface="Times New Roman"/>
                <a:ea typeface="Times New Roman"/>
                <a:cs typeface="Times New Roman"/>
                <a:sym typeface="Times New Roman"/>
              </a:rPr>
              <a:t> Lag , </a:t>
            </a:r>
            <a:r>
              <a:rPr b="1" dirty="0" sz="3200" lang="en">
                <a:latin typeface="Times New Roman"/>
                <a:ea typeface="Times New Roman"/>
                <a:cs typeface="Times New Roman"/>
                <a:sym typeface="Times New Roman"/>
              </a:rPr>
              <a:t>NWEKESON V ONUIGBO (1991) 3 NWLR (PT.178) 125</a:t>
            </a:r>
            <a:endParaRPr b="1" dirty="0" sz="3200">
              <a:latin typeface="Times New Roman"/>
              <a:ea typeface="Times New Roman"/>
              <a:cs typeface="Times New Roman"/>
              <a:sym typeface="Times New Roman"/>
            </a:endParaRPr>
          </a:p>
          <a:p>
            <a:pPr indent="-118530" marL="457189">
              <a:spcBef>
                <a:spcPts val="1067"/>
              </a:spcBef>
              <a:buClr>
                <a:schemeClr val="dk1"/>
              </a:buClr>
              <a:buSzPts val="4000"/>
              <a:buNone/>
            </a:pPr>
            <a:endParaRPr dirty="0" sz="3200">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275" name="Shape 507"/>
        <p:cNvGrpSpPr/>
        <p:nvPr/>
      </p:nvGrpSpPr>
      <p:grpSpPr>
        <a:xfrm>
          <a:off x="0" y="0"/>
          <a:ext cx="0" cy="0"/>
          <a:chOff x="0" y="0"/>
          <a:chExt cx="0" cy="0"/>
        </a:xfrm>
      </p:grpSpPr>
      <p:sp>
        <p:nvSpPr>
          <p:cNvPr id="1048825" name="Google Shape;508;p88"/>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b="1" dirty="0" sz="5279" lang="en">
                <a:latin typeface="Times New Roman"/>
                <a:ea typeface="Times New Roman"/>
                <a:cs typeface="Times New Roman"/>
                <a:sym typeface="Times New Roman"/>
              </a:rPr>
              <a:t>Procedure for Interpleader</a:t>
            </a:r>
            <a:endParaRPr b="1" dirty="0" sz="5279">
              <a:latin typeface="Times New Roman"/>
              <a:ea typeface="Times New Roman"/>
              <a:cs typeface="Times New Roman"/>
              <a:sym typeface="Times New Roman"/>
            </a:endParaRPr>
          </a:p>
        </p:txBody>
      </p:sp>
      <p:sp>
        <p:nvSpPr>
          <p:cNvPr id="1048826" name="Google Shape;509;p88"/>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000"/>
              <a:buFont typeface="Noto Sans Symbols"/>
              <a:buChar char="⮚"/>
            </a:pPr>
            <a:r>
              <a:rPr dirty="0" sz="3200" lang="en">
                <a:latin typeface="Times New Roman"/>
                <a:ea typeface="Times New Roman"/>
                <a:cs typeface="Times New Roman"/>
                <a:sym typeface="Times New Roman"/>
              </a:rPr>
              <a:t>By way of originating summons</a:t>
            </a:r>
            <a:endParaRPr dirty="0" sz="3200"/>
          </a:p>
          <a:p>
            <a:pPr indent="-457189" marL="457189">
              <a:spcBef>
                <a:spcPts val="1067"/>
              </a:spcBef>
              <a:buClr>
                <a:schemeClr val="dk1"/>
              </a:buClr>
              <a:buSzPts val="4000"/>
              <a:buFont typeface="Noto Sans Symbols"/>
              <a:buChar char="⮚"/>
            </a:pPr>
            <a:r>
              <a:rPr dirty="0" sz="3200" lang="en">
                <a:latin typeface="Times New Roman"/>
                <a:ea typeface="Times New Roman"/>
                <a:cs typeface="Times New Roman"/>
                <a:sym typeface="Times New Roman"/>
              </a:rPr>
              <a:t>Where a suit is pending it will  be by way of  ordinary interlocutory summons</a:t>
            </a:r>
            <a:endParaRPr dirty="0" sz="3200"/>
          </a:p>
          <a:p>
            <a:pPr indent="-457189" marL="457189">
              <a:spcBef>
                <a:spcPts val="1067"/>
              </a:spcBef>
              <a:buClr>
                <a:schemeClr val="dk1"/>
              </a:buClr>
              <a:buSzPts val="4000"/>
            </a:pPr>
            <a:r>
              <a:rPr b="1" dirty="0" sz="3200" lang="en">
                <a:latin typeface="Times New Roman"/>
                <a:ea typeface="Times New Roman"/>
                <a:cs typeface="Times New Roman"/>
                <a:sym typeface="Times New Roman"/>
              </a:rPr>
              <a:t>See O 26 R 2(1) and </a:t>
            </a:r>
            <a:r>
              <a:rPr b="1" dirty="0" sz="3200" lang="en">
                <a:solidFill>
                  <a:srgbClr val="FF0000"/>
                </a:solidFill>
                <a:latin typeface="Times New Roman"/>
                <a:ea typeface="Times New Roman"/>
                <a:cs typeface="Times New Roman"/>
                <a:sym typeface="Times New Roman"/>
              </a:rPr>
              <a:t>O 48 R 5 Abuja</a:t>
            </a:r>
            <a:endParaRPr b="1" dirty="0" sz="3200">
              <a:solidFill>
                <a:srgbClr val="FF0000"/>
              </a:solidFill>
              <a:latin typeface="Times New Roman"/>
              <a:ea typeface="Times New Roman"/>
              <a:cs typeface="Times New Roman"/>
              <a:sym typeface="Times New Roman"/>
            </a:endParaRPr>
          </a:p>
          <a:p>
            <a:pPr indent="0" marL="0">
              <a:spcBef>
                <a:spcPts val="1067"/>
              </a:spcBef>
              <a:buClr>
                <a:schemeClr val="dk1"/>
              </a:buClr>
              <a:buSzPts val="4000"/>
              <a:buNone/>
            </a:pPr>
            <a:endParaRPr b="1" dirty="0" sz="3200">
              <a:latin typeface="Times New Roman"/>
              <a:ea typeface="Times New Roman"/>
              <a:cs typeface="Times New Roman"/>
              <a:sym typeface="Times New Roman"/>
            </a:endParaRPr>
          </a:p>
          <a:p>
            <a:pPr indent="0" marL="0">
              <a:spcBef>
                <a:spcPts val="1067"/>
              </a:spcBef>
              <a:buClr>
                <a:schemeClr val="dk1"/>
              </a:buClr>
              <a:buSzPts val="4000"/>
              <a:buNone/>
            </a:pPr>
            <a:endParaRPr dirty="0" sz="3200">
              <a:latin typeface="Times New Roman"/>
              <a:ea typeface="Times New Roman"/>
              <a:cs typeface="Times New Roman"/>
              <a:sym typeface="Times New Roman"/>
            </a:endParaRPr>
          </a:p>
          <a:p>
            <a:pPr indent="-118530" marL="457189">
              <a:spcBef>
                <a:spcPts val="1067"/>
              </a:spcBef>
              <a:buClr>
                <a:schemeClr val="dk1"/>
              </a:buClr>
              <a:buSzPts val="4000"/>
              <a:buNone/>
            </a:pPr>
            <a:endParaRPr dirty="0" sz="3200">
              <a:latin typeface="Times New Roman"/>
              <a:ea typeface="Times New Roman"/>
              <a:cs typeface="Times New Roman"/>
              <a:sym typeface="Times New Roman"/>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278" name="Shape 513"/>
        <p:cNvGrpSpPr/>
        <p:nvPr/>
      </p:nvGrpSpPr>
      <p:grpSpPr>
        <a:xfrm>
          <a:off x="0" y="0"/>
          <a:ext cx="0" cy="0"/>
          <a:chOff x="0" y="0"/>
          <a:chExt cx="0" cy="0"/>
        </a:xfrm>
      </p:grpSpPr>
      <p:sp>
        <p:nvSpPr>
          <p:cNvPr id="1048829" name="Google Shape;514;p89"/>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b="1" dirty="0" sz="2667" lang="en">
                <a:latin typeface="Times New Roman"/>
                <a:ea typeface="Times New Roman"/>
                <a:cs typeface="Times New Roman"/>
                <a:sym typeface="Times New Roman"/>
              </a:rPr>
              <a:t>Content of Affidavit for Interpleader </a:t>
            </a:r>
            <a:endParaRPr b="1" dirty="0" sz="2667">
              <a:latin typeface="Times New Roman"/>
              <a:ea typeface="Times New Roman"/>
              <a:cs typeface="Times New Roman"/>
              <a:sym typeface="Times New Roman"/>
            </a:endParaRPr>
          </a:p>
        </p:txBody>
      </p:sp>
      <p:sp>
        <p:nvSpPr>
          <p:cNvPr id="1048830" name="Google Shape;515;p89"/>
          <p:cNvSpPr txBox="1">
            <a:spLocks noGrp="1"/>
          </p:cNvSpPr>
          <p:nvPr>
            <p:ph idx="1"/>
          </p:nvPr>
        </p:nvSpPr>
        <p:spPr>
          <a:xfrm>
            <a:off x="609600" y="1752600"/>
            <a:ext cx="10972800" cy="43736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000"/>
            </a:pPr>
            <a:r>
              <a:rPr dirty="0" sz="3200" lang="en">
                <a:latin typeface="Times New Roman"/>
                <a:ea typeface="Times New Roman"/>
                <a:cs typeface="Times New Roman"/>
                <a:sym typeface="Times New Roman"/>
              </a:rPr>
              <a:t>That the applicant has no interest in the subject matter</a:t>
            </a:r>
            <a:endParaRPr dirty="0" sz="3200"/>
          </a:p>
          <a:p>
            <a:pPr indent="-457189" marL="457189">
              <a:spcBef>
                <a:spcPts val="1067"/>
              </a:spcBef>
              <a:buClr>
                <a:schemeClr val="dk1"/>
              </a:buClr>
              <a:buSzPts val="4000"/>
            </a:pPr>
            <a:r>
              <a:rPr dirty="0" sz="3200" lang="en">
                <a:latin typeface="Times New Roman"/>
                <a:ea typeface="Times New Roman"/>
                <a:cs typeface="Times New Roman"/>
                <a:sym typeface="Times New Roman"/>
              </a:rPr>
              <a:t>That the applicant has not colluded with any of the claimants.</a:t>
            </a:r>
            <a:endParaRPr dirty="0" sz="3200"/>
          </a:p>
          <a:p>
            <a:pPr indent="-457189" marL="457189">
              <a:spcBef>
                <a:spcPts val="1067"/>
              </a:spcBef>
              <a:buClr>
                <a:schemeClr val="dk1"/>
              </a:buClr>
              <a:buSzPts val="4000"/>
            </a:pPr>
            <a:r>
              <a:rPr dirty="0" sz="3200" lang="en">
                <a:latin typeface="Times New Roman"/>
                <a:ea typeface="Times New Roman"/>
                <a:cs typeface="Times New Roman"/>
                <a:sym typeface="Times New Roman"/>
              </a:rPr>
              <a:t>That the applicant is wiling to transfer or dispose of as the court may direct</a:t>
            </a:r>
            <a:endParaRPr dirty="0" sz="3200">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281" name="Shape 519"/>
        <p:cNvGrpSpPr/>
        <p:nvPr/>
      </p:nvGrpSpPr>
      <p:grpSpPr>
        <a:xfrm>
          <a:off x="0" y="0"/>
          <a:ext cx="0" cy="0"/>
          <a:chOff x="0" y="0"/>
          <a:chExt cx="0" cy="0"/>
        </a:xfrm>
      </p:grpSpPr>
      <p:sp>
        <p:nvSpPr>
          <p:cNvPr id="1048833" name="Google Shape;520;p90"/>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Sheriffs Interpleader</a:t>
            </a:r>
            <a:endParaRPr b="1" dirty="0">
              <a:latin typeface="Times New Roman"/>
              <a:ea typeface="Times New Roman"/>
              <a:cs typeface="Times New Roman"/>
              <a:sym typeface="Times New Roman"/>
            </a:endParaRPr>
          </a:p>
        </p:txBody>
      </p:sp>
      <p:sp>
        <p:nvSpPr>
          <p:cNvPr id="1048834" name="Google Shape;521;p90"/>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pPr>
            <a:r>
              <a:rPr dirty="0" sz="3200" lang="en">
                <a:latin typeface="Times New Roman"/>
                <a:ea typeface="Times New Roman"/>
                <a:cs typeface="Times New Roman"/>
                <a:sym typeface="Times New Roman"/>
              </a:rPr>
              <a:t>Where a sheriff  carries out attachment pursuant to a judgment and a third party is laying claim to the property to be attached.</a:t>
            </a:r>
            <a:endParaRPr dirty="0" sz="3200"/>
          </a:p>
          <a:p>
            <a:pPr indent="-457189" marL="457189">
              <a:spcBef>
                <a:spcPts val="960"/>
              </a:spcBef>
              <a:buClr>
                <a:schemeClr val="dk1"/>
              </a:buClr>
              <a:buSzPts val="3600"/>
            </a:pPr>
            <a:r>
              <a:rPr dirty="0" sz="3200" lang="en">
                <a:latin typeface="Times New Roman"/>
                <a:ea typeface="Times New Roman"/>
                <a:cs typeface="Times New Roman"/>
                <a:sym typeface="Times New Roman"/>
              </a:rPr>
              <a:t>It is applicable when the goods or chattel of a person who is not named in the  writ of </a:t>
            </a:r>
            <a:r>
              <a:rPr dirty="0" sz="3200" i="1" lang="en">
                <a:latin typeface="Times New Roman"/>
                <a:ea typeface="Times New Roman"/>
                <a:cs typeface="Times New Roman"/>
                <a:sym typeface="Times New Roman"/>
              </a:rPr>
              <a:t>fi fa </a:t>
            </a:r>
            <a:r>
              <a:rPr dirty="0" sz="3200" lang="en">
                <a:latin typeface="Times New Roman"/>
                <a:ea typeface="Times New Roman"/>
                <a:cs typeface="Times New Roman"/>
                <a:sym typeface="Times New Roman"/>
              </a:rPr>
              <a:t>is attached. See </a:t>
            </a:r>
            <a:r>
              <a:rPr b="1" dirty="0" sz="3200" lang="en">
                <a:latin typeface="Times New Roman"/>
                <a:ea typeface="Times New Roman"/>
                <a:cs typeface="Times New Roman"/>
                <a:sym typeface="Times New Roman"/>
              </a:rPr>
              <a:t>KEY STONE BANK LTD V M &amp;M LTD (2018) ALL FWLR (PT 918) 143</a:t>
            </a:r>
            <a:endParaRPr dirty="0" sz="32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284" name="Shape 525"/>
        <p:cNvGrpSpPr/>
        <p:nvPr/>
      </p:nvGrpSpPr>
      <p:grpSpPr>
        <a:xfrm>
          <a:off x="0" y="0"/>
          <a:ext cx="0" cy="0"/>
          <a:chOff x="0" y="0"/>
          <a:chExt cx="0" cy="0"/>
        </a:xfrm>
      </p:grpSpPr>
      <p:sp>
        <p:nvSpPr>
          <p:cNvPr id="1048837" name="Google Shape;526;p91"/>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endParaRPr dirty="0"/>
          </a:p>
        </p:txBody>
      </p:sp>
      <p:sp>
        <p:nvSpPr>
          <p:cNvPr id="1048838" name="Google Shape;527;p91"/>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000"/>
            </a:pPr>
            <a:r>
              <a:rPr dirty="0" sz="3200" lang="en">
                <a:latin typeface="Times New Roman"/>
                <a:ea typeface="Times New Roman"/>
                <a:cs typeface="Times New Roman"/>
                <a:sym typeface="Times New Roman"/>
              </a:rPr>
              <a:t>The third party and the judgment creditor are called upon to substantiate the claim.</a:t>
            </a:r>
            <a:endParaRPr dirty="0" sz="3200"/>
          </a:p>
          <a:p>
            <a:pPr indent="-457189" marL="457189">
              <a:spcBef>
                <a:spcPts val="1067"/>
              </a:spcBef>
              <a:buClr>
                <a:schemeClr val="dk1"/>
              </a:buClr>
              <a:buSzPts val="4000"/>
            </a:pPr>
            <a:r>
              <a:rPr dirty="0" sz="3200" lang="en">
                <a:latin typeface="Times New Roman"/>
                <a:ea typeface="Times New Roman"/>
                <a:cs typeface="Times New Roman"/>
                <a:sym typeface="Times New Roman"/>
              </a:rPr>
              <a:t>It operates as a stay pending the determination  of the matter. See </a:t>
            </a:r>
            <a:r>
              <a:rPr b="1" dirty="0" sz="3200" lang="en">
                <a:latin typeface="Times New Roman"/>
                <a:ea typeface="Times New Roman"/>
                <a:cs typeface="Times New Roman"/>
                <a:sym typeface="Times New Roman"/>
              </a:rPr>
              <a:t>SHELLE V OSHUN 11 NLR 43</a:t>
            </a:r>
            <a:endParaRPr b="1" dirty="0" sz="3200">
              <a:latin typeface="Times New Roman"/>
              <a:ea typeface="Times New Roman"/>
              <a:cs typeface="Times New Roman"/>
              <a:sym typeface="Times New Roman"/>
            </a:endParaRPr>
          </a:p>
          <a:p>
            <a:pPr indent="-118530" marL="457189">
              <a:spcBef>
                <a:spcPts val="1067"/>
              </a:spcBef>
              <a:buClr>
                <a:schemeClr val="dk1"/>
              </a:buClr>
              <a:buSzPts val="4000"/>
              <a:buNone/>
            </a:pPr>
            <a:endParaRPr dirty="0" sz="3200">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287" name="Shape 531"/>
        <p:cNvGrpSpPr/>
        <p:nvPr/>
      </p:nvGrpSpPr>
      <p:grpSpPr>
        <a:xfrm>
          <a:off x="0" y="0"/>
          <a:ext cx="0" cy="0"/>
          <a:chOff x="0" y="0"/>
          <a:chExt cx="0" cy="0"/>
        </a:xfrm>
      </p:grpSpPr>
      <p:sp>
        <p:nvSpPr>
          <p:cNvPr id="1048841" name="Google Shape;532;p92"/>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b="1" dirty="0" sz="5279" lang="en">
                <a:latin typeface="Times New Roman"/>
                <a:ea typeface="Times New Roman"/>
                <a:cs typeface="Times New Roman"/>
                <a:sym typeface="Times New Roman"/>
              </a:rPr>
              <a:t>Time for bringing Interpleader</a:t>
            </a:r>
            <a:endParaRPr b="1" dirty="0" sz="5279">
              <a:latin typeface="Times New Roman"/>
              <a:ea typeface="Times New Roman"/>
              <a:cs typeface="Times New Roman"/>
              <a:sym typeface="Times New Roman"/>
            </a:endParaRPr>
          </a:p>
        </p:txBody>
      </p:sp>
      <p:sp>
        <p:nvSpPr>
          <p:cNvPr id="1048842" name="Google Shape;533;p92"/>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pPr>
            <a:r>
              <a:rPr dirty="0" sz="4800" lang="en">
                <a:latin typeface="Times New Roman"/>
                <a:ea typeface="Times New Roman"/>
                <a:cs typeface="Times New Roman"/>
                <a:sym typeface="Times New Roman"/>
              </a:rPr>
              <a:t>No time frame but it must t be brought before the sale of the property attached.</a:t>
            </a:r>
            <a:endParaRPr dirty="0" sz="4800">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290" name=""/>
        <p:cNvGrpSpPr/>
        <p:nvPr/>
      </p:nvGrpSpPr>
      <p:grpSpPr>
        <a:xfrm>
          <a:off x="0" y="0"/>
          <a:ext cx="0" cy="0"/>
          <a:chOff x="0" y="0"/>
          <a:chExt cx="0" cy="0"/>
        </a:xfrm>
      </p:grpSpPr>
      <p:sp>
        <p:nvSpPr>
          <p:cNvPr id="1048845" name="Title 1"/>
          <p:cNvSpPr>
            <a:spLocks noGrp="1"/>
          </p:cNvSpPr>
          <p:nvPr>
            <p:ph type="title"/>
          </p:nvPr>
        </p:nvSpPr>
        <p:spPr/>
        <p:txBody>
          <a:bodyPr>
            <a:normAutofit/>
          </a:bodyPr>
          <a:p>
            <a:pPr algn="ctr"/>
            <a:r>
              <a:rPr b="1" dirty="0" lang="en-GB">
                <a:latin typeface="Times New Roman" panose="02020603050405020304" pitchFamily="18" charset="0"/>
                <a:cs typeface="Times New Roman" panose="02020603050405020304" pitchFamily="18" charset="0"/>
              </a:rPr>
              <a:t>ETHICAL ISSUES RELATING TO INTERLOCUTORY APPLICATIONS </a:t>
            </a:r>
            <a:endParaRPr b="1" dirty="0" lang="en-US">
              <a:latin typeface="Times New Roman" panose="02020603050405020304" pitchFamily="18" charset="0"/>
              <a:cs typeface="Times New Roman" panose="02020603050405020304" pitchFamily="18" charset="0"/>
            </a:endParaRPr>
          </a:p>
        </p:txBody>
      </p:sp>
      <p:sp>
        <p:nvSpPr>
          <p:cNvPr id="1048846" name="Content Placeholder 2"/>
          <p:cNvSpPr>
            <a:spLocks noGrp="1"/>
          </p:cNvSpPr>
          <p:nvPr>
            <p:ph idx="1"/>
          </p:nvPr>
        </p:nvSpPr>
        <p:spPr/>
        <p:txBody>
          <a:bodyPr/>
          <a:p>
            <a:endParaRPr dirty="0"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291" name=""/>
        <p:cNvGrpSpPr/>
        <p:nvPr/>
      </p:nvGrpSpPr>
      <p:grpSpPr>
        <a:xfrm>
          <a:off x="0" y="0"/>
          <a:ext cx="0" cy="0"/>
          <a:chOff x="0" y="0"/>
          <a:chExt cx="0" cy="0"/>
        </a:xfrm>
      </p:grpSpPr>
      <p:sp>
        <p:nvSpPr>
          <p:cNvPr id="1048847" name="Title 1"/>
          <p:cNvSpPr>
            <a:spLocks noGrp="1"/>
          </p:cNvSpPr>
          <p:nvPr>
            <p:ph type="title"/>
          </p:nvPr>
        </p:nvSpPr>
        <p:spPr/>
        <p:txBody>
          <a:bodyPr/>
          <a:p>
            <a:endParaRPr lang="en-US"/>
          </a:p>
        </p:txBody>
      </p:sp>
      <p:sp>
        <p:nvSpPr>
          <p:cNvPr id="1048848" name="Content Placeholder 2"/>
          <p:cNvSpPr>
            <a:spLocks noGrp="1"/>
          </p:cNvSpPr>
          <p:nvPr>
            <p:ph idx="1"/>
          </p:nvPr>
        </p:nvSpPr>
        <p:spPr/>
        <p:txBody>
          <a:bodyPr/>
          <a:p>
            <a:pPr lvl="1"/>
            <a:r>
              <a:rPr dirty="0" lang="en-US"/>
              <a:t>Abuse of ex-parte injunctions</a:t>
            </a:r>
            <a:endParaRPr dirty="0" sz="2000" lang="en-US"/>
          </a:p>
          <a:p>
            <a:pPr lvl="1"/>
            <a:r>
              <a:rPr dirty="0" lang="en-US"/>
              <a:t>Suppression of facts in ex parte applications (duty of counsel to verify facts relied on)</a:t>
            </a:r>
            <a:endParaRPr dirty="0" sz="2000" lang="en-US"/>
          </a:p>
          <a:p>
            <a:pPr lvl="1"/>
            <a:r>
              <a:rPr dirty="0" lang="en-US"/>
              <a:t>Falsification or misrepresentation of facts in affidavit(duty of counsel to verify facts relied on in affidavit)</a:t>
            </a:r>
            <a:endParaRPr dirty="0" sz="2000" lang="en-US"/>
          </a:p>
          <a:p>
            <a:pPr lvl="1"/>
            <a:r>
              <a:rPr dirty="0" lang="en-US"/>
              <a:t>Deposing to affidavit by counsel</a:t>
            </a:r>
            <a:endParaRPr dirty="0" sz="2000" lang="en-US"/>
          </a:p>
          <a:p>
            <a:pPr lvl="1"/>
            <a:r>
              <a:rPr dirty="0" lang="en-US"/>
              <a:t>Late filing of motions and affidavits </a:t>
            </a:r>
            <a:endParaRPr dirty="0" sz="2000" lang="en-US"/>
          </a:p>
          <a:p>
            <a:endParaRPr dirty="0" lang="en-US"/>
          </a:p>
          <a:p>
            <a:endParaRPr dirty="0"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292" name="Shape 537"/>
        <p:cNvGrpSpPr/>
        <p:nvPr/>
      </p:nvGrpSpPr>
      <p:grpSpPr>
        <a:xfrm>
          <a:off x="0" y="0"/>
          <a:ext cx="0" cy="0"/>
          <a:chOff x="0" y="0"/>
          <a:chExt cx="0" cy="0"/>
        </a:xfrm>
      </p:grpSpPr>
      <p:sp>
        <p:nvSpPr>
          <p:cNvPr id="1048849" name="Google Shape;538;p93"/>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r>
              <a:rPr b="1" dirty="0" sz="5279" lang="en">
                <a:latin typeface="Times New Roman"/>
                <a:ea typeface="Times New Roman"/>
                <a:cs typeface="Times New Roman"/>
                <a:sym typeface="Times New Roman"/>
              </a:rPr>
              <a:t>1. Abuse of Ex parte Injunctions</a:t>
            </a:r>
            <a:endParaRPr b="1" dirty="0" sz="5279">
              <a:latin typeface="Times New Roman"/>
              <a:ea typeface="Times New Roman"/>
              <a:cs typeface="Times New Roman"/>
              <a:sym typeface="Times New Roman"/>
            </a:endParaRPr>
          </a:p>
        </p:txBody>
      </p:sp>
      <p:sp>
        <p:nvSpPr>
          <p:cNvPr id="1048850" name="Google Shape;539;p93"/>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pPr>
            <a:r>
              <a:rPr dirty="0" sz="3733" lang="en">
                <a:latin typeface="Times New Roman"/>
                <a:ea typeface="Times New Roman"/>
                <a:cs typeface="Times New Roman"/>
                <a:sym typeface="Times New Roman"/>
              </a:rPr>
              <a:t>The whole purpose is to ensure that the subject matter is not irreversibly altered before the motion on notice is heard.</a:t>
            </a:r>
            <a:endParaRPr dirty="0" sz="3733"/>
          </a:p>
          <a:p>
            <a:pPr indent="-457189" marL="457189">
              <a:spcBef>
                <a:spcPts val="960"/>
              </a:spcBef>
              <a:buClr>
                <a:schemeClr val="dk1"/>
              </a:buClr>
              <a:buSzPts val="3600"/>
            </a:pPr>
            <a:r>
              <a:rPr dirty="0" sz="3733" lang="en">
                <a:latin typeface="Times New Roman"/>
                <a:ea typeface="Times New Roman"/>
                <a:cs typeface="Times New Roman"/>
                <a:sym typeface="Times New Roman"/>
              </a:rPr>
              <a:t>In recent past there had been cases of abuse and misuse of </a:t>
            </a:r>
            <a:r>
              <a:rPr dirty="0" sz="3733" i="1" lang="en">
                <a:latin typeface="Times New Roman"/>
                <a:ea typeface="Times New Roman"/>
                <a:cs typeface="Times New Roman"/>
                <a:sym typeface="Times New Roman"/>
              </a:rPr>
              <a:t>ex </a:t>
            </a:r>
            <a:r>
              <a:rPr dirty="0" sz="3733" i="1" lang="en" err="1">
                <a:latin typeface="Times New Roman"/>
                <a:ea typeface="Times New Roman"/>
                <a:cs typeface="Times New Roman"/>
                <a:sym typeface="Times New Roman"/>
              </a:rPr>
              <a:t>parte</a:t>
            </a:r>
            <a:r>
              <a:rPr dirty="0" sz="3733" lang="en">
                <a:latin typeface="Times New Roman"/>
                <a:ea typeface="Times New Roman"/>
                <a:cs typeface="Times New Roman"/>
                <a:sym typeface="Times New Roman"/>
              </a:rPr>
              <a:t> injunction. </a:t>
            </a:r>
            <a:endParaRPr dirty="0" sz="3733"/>
          </a:p>
          <a:p>
            <a:pPr indent="-457189" marL="457189">
              <a:spcBef>
                <a:spcPts val="960"/>
              </a:spcBef>
              <a:buClr>
                <a:schemeClr val="dk1"/>
              </a:buClr>
              <a:buSzPts val="3600"/>
            </a:pPr>
            <a:r>
              <a:rPr dirty="0" sz="3733" i="1" lang="en">
                <a:latin typeface="Times New Roman"/>
                <a:ea typeface="Times New Roman"/>
                <a:cs typeface="Times New Roman"/>
                <a:sym typeface="Times New Roman"/>
              </a:rPr>
              <a:t>Ex </a:t>
            </a:r>
            <a:r>
              <a:rPr dirty="0" sz="3733" i="1" lang="en" err="1">
                <a:latin typeface="Times New Roman"/>
                <a:ea typeface="Times New Roman"/>
                <a:cs typeface="Times New Roman"/>
                <a:sym typeface="Times New Roman"/>
              </a:rPr>
              <a:t>parte</a:t>
            </a:r>
            <a:r>
              <a:rPr dirty="0" sz="3733" lang="en">
                <a:latin typeface="Times New Roman"/>
                <a:ea typeface="Times New Roman"/>
                <a:cs typeface="Times New Roman"/>
                <a:sym typeface="Times New Roman"/>
              </a:rPr>
              <a:t> injunctions are being abused by Judges and Lawyers.</a:t>
            </a:r>
            <a:endParaRPr dirty="0" sz="3733"/>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295" name="Shape 543"/>
        <p:cNvGrpSpPr/>
        <p:nvPr/>
      </p:nvGrpSpPr>
      <p:grpSpPr>
        <a:xfrm>
          <a:off x="0" y="0"/>
          <a:ext cx="0" cy="0"/>
          <a:chOff x="0" y="0"/>
          <a:chExt cx="0" cy="0"/>
        </a:xfrm>
      </p:grpSpPr>
      <p:sp>
        <p:nvSpPr>
          <p:cNvPr id="1048853" name="Google Shape;544;p94"/>
          <p:cNvSpPr txBox="1">
            <a:spLocks noGrp="1"/>
          </p:cNvSpPr>
          <p:nvPr>
            <p:ph type="title"/>
          </p:nvPr>
        </p:nvSpPr>
        <p:spPr>
          <a:xfrm>
            <a:off x="609600" y="-152400"/>
            <a:ext cx="10972800" cy="1143200"/>
          </a:xfrm>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endParaRPr dirty="0"/>
          </a:p>
        </p:txBody>
      </p:sp>
      <p:sp>
        <p:nvSpPr>
          <p:cNvPr id="1048854" name="Google Shape;545;p94"/>
          <p:cNvSpPr txBox="1">
            <a:spLocks noGrp="1"/>
          </p:cNvSpPr>
          <p:nvPr>
            <p:ph idx="1"/>
          </p:nvPr>
        </p:nvSpPr>
        <p:spPr>
          <a:xfrm>
            <a:off x="508000" y="1295400"/>
            <a:ext cx="11074400" cy="48308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pPr>
            <a:r>
              <a:rPr dirty="0" sz="3733" lang="en">
                <a:latin typeface="Times New Roman"/>
                <a:ea typeface="Times New Roman"/>
                <a:cs typeface="Times New Roman"/>
                <a:sym typeface="Times New Roman"/>
              </a:rPr>
              <a:t>Examples of such abuse are:</a:t>
            </a:r>
            <a:endParaRPr dirty="0" sz="3733"/>
          </a:p>
          <a:p>
            <a:pPr indent="-457189" marL="457189">
              <a:spcBef>
                <a:spcPts val="960"/>
              </a:spcBef>
              <a:buClr>
                <a:schemeClr val="dk1"/>
              </a:buClr>
              <a:buSzPts val="3600"/>
              <a:buFont typeface="Noto Sans Symbols"/>
              <a:buChar char="✔"/>
            </a:pPr>
            <a:r>
              <a:rPr dirty="0" sz="3733" lang="en">
                <a:latin typeface="Times New Roman"/>
                <a:ea typeface="Times New Roman"/>
                <a:cs typeface="Times New Roman"/>
                <a:sym typeface="Times New Roman"/>
              </a:rPr>
              <a:t>Where a court in one state refused to grant </a:t>
            </a:r>
            <a:r>
              <a:rPr dirty="0" sz="3733" i="1" lang="en">
                <a:latin typeface="Times New Roman"/>
                <a:ea typeface="Times New Roman"/>
                <a:cs typeface="Times New Roman"/>
                <a:sym typeface="Times New Roman"/>
              </a:rPr>
              <a:t>ex </a:t>
            </a:r>
            <a:r>
              <a:rPr dirty="0" sz="3733" i="1" lang="en" err="1">
                <a:latin typeface="Times New Roman"/>
                <a:ea typeface="Times New Roman"/>
                <a:cs typeface="Times New Roman"/>
                <a:sym typeface="Times New Roman"/>
              </a:rPr>
              <a:t>parte</a:t>
            </a:r>
            <a:r>
              <a:rPr dirty="0" sz="3733" lang="en">
                <a:latin typeface="Times New Roman"/>
                <a:ea typeface="Times New Roman"/>
                <a:cs typeface="Times New Roman"/>
                <a:sym typeface="Times New Roman"/>
              </a:rPr>
              <a:t> injunction and the applicant rushed to another state and filed a similar suit with an </a:t>
            </a:r>
            <a:r>
              <a:rPr dirty="0" sz="3733" i="1" lang="en">
                <a:latin typeface="Times New Roman"/>
                <a:ea typeface="Times New Roman"/>
                <a:cs typeface="Times New Roman"/>
                <a:sym typeface="Times New Roman"/>
              </a:rPr>
              <a:t>ex </a:t>
            </a:r>
            <a:r>
              <a:rPr dirty="0" sz="3733" i="1" lang="en" err="1">
                <a:latin typeface="Times New Roman"/>
                <a:ea typeface="Times New Roman"/>
                <a:cs typeface="Times New Roman"/>
                <a:sym typeface="Times New Roman"/>
              </a:rPr>
              <a:t>parte</a:t>
            </a:r>
            <a:r>
              <a:rPr dirty="0" sz="3733" lang="en">
                <a:latin typeface="Times New Roman"/>
                <a:ea typeface="Times New Roman"/>
                <a:cs typeface="Times New Roman"/>
                <a:sym typeface="Times New Roman"/>
              </a:rPr>
              <a:t> application for injunction without disclosing the previous application to the court. </a:t>
            </a:r>
            <a:r>
              <a:rPr b="1" dirty="0" sz="3733" lang="en">
                <a:latin typeface="Times New Roman"/>
                <a:ea typeface="Times New Roman"/>
                <a:cs typeface="Times New Roman"/>
                <a:sym typeface="Times New Roman"/>
              </a:rPr>
              <a:t>NATIONAL BANK OF NIG LTD V YINKA COMM. ENT. LTD see Interlocutory Applications by </a:t>
            </a:r>
            <a:r>
              <a:rPr b="1" dirty="0" sz="3733" lang="en" err="1">
                <a:latin typeface="Times New Roman"/>
                <a:ea typeface="Times New Roman"/>
                <a:cs typeface="Times New Roman"/>
                <a:sym typeface="Times New Roman"/>
              </a:rPr>
              <a:t>Afe</a:t>
            </a:r>
            <a:r>
              <a:rPr b="1" dirty="0" sz="3733" lang="en">
                <a:latin typeface="Times New Roman"/>
                <a:ea typeface="Times New Roman"/>
                <a:cs typeface="Times New Roman"/>
                <a:sym typeface="Times New Roman"/>
              </a:rPr>
              <a:t> Babalola page 38</a:t>
            </a:r>
            <a:endParaRPr b="1" dirty="0" sz="3733">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298" name="Shape 549"/>
        <p:cNvGrpSpPr/>
        <p:nvPr/>
      </p:nvGrpSpPr>
      <p:grpSpPr>
        <a:xfrm>
          <a:off x="0" y="0"/>
          <a:ext cx="0" cy="0"/>
          <a:chOff x="0" y="0"/>
          <a:chExt cx="0" cy="0"/>
        </a:xfrm>
      </p:grpSpPr>
      <p:sp>
        <p:nvSpPr>
          <p:cNvPr id="1048857" name="Google Shape;551;p95"/>
          <p:cNvSpPr txBox="1">
            <a:spLocks noGrp="1"/>
          </p:cNvSpPr>
          <p:nvPr>
            <p:ph idx="1"/>
          </p:nvPr>
        </p:nvSpPr>
        <p:spPr>
          <a:xfrm>
            <a:off x="508000" y="762000"/>
            <a:ext cx="11074400" cy="53640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buFont typeface="Noto Sans Symbols"/>
              <a:buChar char="✔"/>
            </a:pPr>
            <a:r>
              <a:rPr dirty="0" sz="3733" lang="en">
                <a:latin typeface="Times New Roman"/>
                <a:ea typeface="Times New Roman"/>
                <a:cs typeface="Times New Roman"/>
                <a:sym typeface="Times New Roman"/>
              </a:rPr>
              <a:t>A court granted </a:t>
            </a:r>
            <a:r>
              <a:rPr dirty="0" sz="3733" i="1" lang="en">
                <a:latin typeface="Times New Roman"/>
                <a:ea typeface="Times New Roman"/>
                <a:cs typeface="Times New Roman"/>
                <a:sym typeface="Times New Roman"/>
              </a:rPr>
              <a:t>ex </a:t>
            </a:r>
            <a:r>
              <a:rPr dirty="0" sz="3733" i="1" lang="en" err="1">
                <a:latin typeface="Times New Roman"/>
                <a:ea typeface="Times New Roman"/>
                <a:cs typeface="Times New Roman"/>
                <a:sym typeface="Times New Roman"/>
              </a:rPr>
              <a:t>parte</a:t>
            </a:r>
            <a:r>
              <a:rPr dirty="0" sz="3733" lang="en">
                <a:latin typeface="Times New Roman"/>
                <a:ea typeface="Times New Roman"/>
                <a:cs typeface="Times New Roman"/>
                <a:sym typeface="Times New Roman"/>
              </a:rPr>
              <a:t> order of interim injunction in favor of a Claimant. The defendant served. Counsel for the defendant went ahead to file a similar suit and obtained an </a:t>
            </a:r>
            <a:r>
              <a:rPr dirty="0" sz="3733" i="1" lang="en">
                <a:latin typeface="Times New Roman"/>
                <a:ea typeface="Times New Roman"/>
                <a:cs typeface="Times New Roman"/>
                <a:sym typeface="Times New Roman"/>
              </a:rPr>
              <a:t>ex </a:t>
            </a:r>
            <a:r>
              <a:rPr dirty="0" sz="3733" i="1" lang="en" err="1">
                <a:latin typeface="Times New Roman"/>
                <a:ea typeface="Times New Roman"/>
                <a:cs typeface="Times New Roman"/>
                <a:sym typeface="Times New Roman"/>
              </a:rPr>
              <a:t>parte</a:t>
            </a:r>
            <a:r>
              <a:rPr dirty="0" sz="3733" lang="en">
                <a:latin typeface="Times New Roman"/>
                <a:ea typeface="Times New Roman"/>
                <a:cs typeface="Times New Roman"/>
                <a:sym typeface="Times New Roman"/>
              </a:rPr>
              <a:t> order of injunction against the claimant on the same subject matter. </a:t>
            </a:r>
            <a:r>
              <a:rPr b="1" dirty="0" sz="3733" lang="en">
                <a:latin typeface="Times New Roman"/>
                <a:ea typeface="Times New Roman"/>
                <a:cs typeface="Times New Roman"/>
                <a:sym typeface="Times New Roman"/>
              </a:rPr>
              <a:t>PANAF INVESTMENT LTD V TEMPLE &amp; GOLDERS LTD see Interlocutory Applications by </a:t>
            </a:r>
            <a:r>
              <a:rPr b="1" dirty="0" sz="3733" lang="en" err="1">
                <a:latin typeface="Times New Roman"/>
                <a:ea typeface="Times New Roman"/>
                <a:cs typeface="Times New Roman"/>
                <a:sym typeface="Times New Roman"/>
              </a:rPr>
              <a:t>Afe</a:t>
            </a:r>
            <a:r>
              <a:rPr b="1" dirty="0" sz="3733" lang="en">
                <a:latin typeface="Times New Roman"/>
                <a:ea typeface="Times New Roman"/>
                <a:cs typeface="Times New Roman"/>
                <a:sym typeface="Times New Roman"/>
              </a:rPr>
              <a:t> Babalola page 38</a:t>
            </a:r>
            <a:endParaRPr dirty="0" sz="3733"/>
          </a:p>
          <a:p>
            <a:pPr indent="-152396" marL="457189">
              <a:spcBef>
                <a:spcPts val="960"/>
              </a:spcBef>
              <a:buClr>
                <a:schemeClr val="dk1"/>
              </a:buClr>
              <a:buSzPts val="3600"/>
              <a:buNone/>
            </a:pPr>
            <a:endParaRPr b="1" dirty="0" sz="4800">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301" name="Shape 555"/>
        <p:cNvGrpSpPr/>
        <p:nvPr/>
      </p:nvGrpSpPr>
      <p:grpSpPr>
        <a:xfrm>
          <a:off x="0" y="0"/>
          <a:ext cx="0" cy="0"/>
          <a:chOff x="0" y="0"/>
          <a:chExt cx="0" cy="0"/>
        </a:xfrm>
      </p:grpSpPr>
      <p:sp>
        <p:nvSpPr>
          <p:cNvPr id="1048860" name="Google Shape;556;p96"/>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endParaRPr dirty="0"/>
          </a:p>
        </p:txBody>
      </p:sp>
      <p:sp>
        <p:nvSpPr>
          <p:cNvPr id="1048861" name="Google Shape;557;p96"/>
          <p:cNvSpPr txBox="1">
            <a:spLocks noGrp="1"/>
          </p:cNvSpPr>
          <p:nvPr>
            <p:ph idx="1"/>
          </p:nvPr>
        </p:nvSpPr>
        <p:spPr>
          <a:xfrm>
            <a:off x="609600" y="1447800"/>
            <a:ext cx="10972800" cy="46784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3600"/>
              <a:buFont typeface="Noto Sans Symbols"/>
              <a:buChar char="✔"/>
            </a:pPr>
            <a:r>
              <a:rPr dirty="0" sz="3733" lang="en">
                <a:latin typeface="Times New Roman"/>
                <a:ea typeface="Times New Roman"/>
                <a:cs typeface="Times New Roman"/>
                <a:sym typeface="Times New Roman"/>
              </a:rPr>
              <a:t>A case where a Judge  adjourned the hearing of an </a:t>
            </a:r>
            <a:r>
              <a:rPr dirty="0" sz="3733" i="1" lang="en">
                <a:latin typeface="Times New Roman"/>
                <a:ea typeface="Times New Roman"/>
                <a:cs typeface="Times New Roman"/>
                <a:sym typeface="Times New Roman"/>
              </a:rPr>
              <a:t>ex </a:t>
            </a:r>
            <a:r>
              <a:rPr dirty="0" sz="3733" i="1" lang="en" err="1">
                <a:latin typeface="Times New Roman"/>
                <a:ea typeface="Times New Roman"/>
                <a:cs typeface="Times New Roman"/>
                <a:sym typeface="Times New Roman"/>
              </a:rPr>
              <a:t>parte</a:t>
            </a:r>
            <a:r>
              <a:rPr dirty="0" sz="3733" lang="en">
                <a:latin typeface="Times New Roman"/>
                <a:ea typeface="Times New Roman"/>
                <a:cs typeface="Times New Roman"/>
                <a:sym typeface="Times New Roman"/>
              </a:rPr>
              <a:t> application for interim injunction, for two weeks. After hearing, ruling adjourned for another one week. </a:t>
            </a:r>
            <a:r>
              <a:rPr b="1" dirty="0" sz="3733" lang="en">
                <a:latin typeface="Times New Roman"/>
                <a:ea typeface="Times New Roman"/>
                <a:cs typeface="Times New Roman"/>
                <a:sym typeface="Times New Roman"/>
              </a:rPr>
              <a:t>MORGAN AIRLINES LTD V TRANSNET LTD &amp; ORS see Interlocutory Applications by </a:t>
            </a:r>
            <a:r>
              <a:rPr b="1" dirty="0" sz="3733" lang="en" err="1">
                <a:latin typeface="Times New Roman"/>
                <a:ea typeface="Times New Roman"/>
                <a:cs typeface="Times New Roman"/>
                <a:sym typeface="Times New Roman"/>
              </a:rPr>
              <a:t>Afe</a:t>
            </a:r>
            <a:r>
              <a:rPr b="1" dirty="0" sz="3733" lang="en">
                <a:latin typeface="Times New Roman"/>
                <a:ea typeface="Times New Roman"/>
                <a:cs typeface="Times New Roman"/>
                <a:sym typeface="Times New Roman"/>
              </a:rPr>
              <a:t> Babalola page 40</a:t>
            </a:r>
            <a:endParaRPr b="1" dirty="0" sz="3733">
              <a:latin typeface="Times New Roman"/>
              <a:ea typeface="Times New Roman"/>
              <a:cs typeface="Times New Roman"/>
              <a:sym typeface="Times New Roman"/>
            </a:endParaRPr>
          </a:p>
          <a:p>
            <a:pPr indent="-152396" marL="457189">
              <a:spcBef>
                <a:spcPts val="960"/>
              </a:spcBef>
              <a:buClr>
                <a:schemeClr val="dk1"/>
              </a:buClr>
              <a:buSzPts val="3600"/>
              <a:buNone/>
            </a:pPr>
            <a:endParaRPr b="1" dirty="0" sz="3733">
              <a:latin typeface="Times New Roman"/>
              <a:ea typeface="Times New Roman"/>
              <a:cs typeface="Times New Roman"/>
              <a:sym typeface="Times New Roman"/>
            </a:endParaRPr>
          </a:p>
          <a:p>
            <a:pPr indent="0" marL="0">
              <a:spcBef>
                <a:spcPts val="960"/>
              </a:spcBef>
              <a:buClr>
                <a:schemeClr val="dk1"/>
              </a:buClr>
              <a:buSzPts val="3600"/>
              <a:buNone/>
            </a:pPr>
            <a:endParaRPr b="1" dirty="0" sz="3733">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304" name="Shape 561"/>
        <p:cNvGrpSpPr/>
        <p:nvPr/>
      </p:nvGrpSpPr>
      <p:grpSpPr>
        <a:xfrm>
          <a:off x="0" y="0"/>
          <a:ext cx="0" cy="0"/>
          <a:chOff x="0" y="0"/>
          <a:chExt cx="0" cy="0"/>
        </a:xfrm>
      </p:grpSpPr>
      <p:sp>
        <p:nvSpPr>
          <p:cNvPr id="1048864" name="Google Shape;563;p97"/>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000"/>
              <a:buFont typeface="Noto Sans Symbols"/>
              <a:buChar char="✔"/>
            </a:pPr>
            <a:r>
              <a:rPr dirty="0" sz="3733" lang="en">
                <a:latin typeface="Times New Roman"/>
                <a:ea typeface="Times New Roman"/>
                <a:cs typeface="Times New Roman"/>
                <a:sym typeface="Times New Roman"/>
              </a:rPr>
              <a:t>Where a ruling for </a:t>
            </a:r>
            <a:r>
              <a:rPr dirty="0" sz="3733" i="1" lang="en">
                <a:latin typeface="Times New Roman"/>
                <a:ea typeface="Times New Roman"/>
                <a:cs typeface="Times New Roman"/>
                <a:sym typeface="Times New Roman"/>
              </a:rPr>
              <a:t>ex </a:t>
            </a:r>
            <a:r>
              <a:rPr dirty="0" sz="3733" i="1" lang="en" err="1">
                <a:latin typeface="Times New Roman"/>
                <a:ea typeface="Times New Roman"/>
                <a:cs typeface="Times New Roman"/>
                <a:sym typeface="Times New Roman"/>
              </a:rPr>
              <a:t>parte</a:t>
            </a:r>
            <a:r>
              <a:rPr dirty="0" sz="3733" i="1" lang="en">
                <a:latin typeface="Times New Roman"/>
                <a:ea typeface="Times New Roman"/>
                <a:cs typeface="Times New Roman"/>
                <a:sym typeface="Times New Roman"/>
              </a:rPr>
              <a:t> </a:t>
            </a:r>
            <a:r>
              <a:rPr dirty="0" sz="3733" lang="en">
                <a:latin typeface="Times New Roman"/>
                <a:ea typeface="Times New Roman"/>
                <a:cs typeface="Times New Roman"/>
                <a:sym typeface="Times New Roman"/>
              </a:rPr>
              <a:t>application for interim injunction  was adjourned sine die because the defendant who had notice that the judge had adjourned for ruling, filed a motion arresting the ruling. </a:t>
            </a:r>
            <a:r>
              <a:rPr b="1" dirty="0" sz="3733" lang="en">
                <a:latin typeface="Times New Roman"/>
                <a:ea typeface="Times New Roman"/>
                <a:cs typeface="Times New Roman"/>
                <a:sym typeface="Times New Roman"/>
              </a:rPr>
              <a:t>MORGAN AIRLINE V TRANSNET LTD.</a:t>
            </a:r>
            <a:endParaRPr b="1" dirty="0" sz="3733">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307" name="Shape 567"/>
        <p:cNvGrpSpPr/>
        <p:nvPr/>
      </p:nvGrpSpPr>
      <p:grpSpPr>
        <a:xfrm>
          <a:off x="0" y="0"/>
          <a:ext cx="0" cy="0"/>
          <a:chOff x="0" y="0"/>
          <a:chExt cx="0" cy="0"/>
        </a:xfrm>
      </p:grpSpPr>
      <p:sp>
        <p:nvSpPr>
          <p:cNvPr id="1048867" name="Google Shape;568;p98"/>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endParaRPr dirty="0"/>
          </a:p>
        </p:txBody>
      </p:sp>
      <p:sp>
        <p:nvSpPr>
          <p:cNvPr id="1048868" name="Google Shape;569;p98"/>
          <p:cNvSpPr txBox="1">
            <a:spLocks noGrp="1"/>
          </p:cNvSpPr>
          <p:nvPr>
            <p:ph idx="1"/>
          </p:nvPr>
        </p:nvSpPr>
        <p:spPr>
          <a:xfrm>
            <a:off x="609600" y="1865870"/>
            <a:ext cx="10972800" cy="4526000"/>
          </a:xfrm>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800"/>
            </a:pPr>
            <a:r>
              <a:rPr b="1" dirty="0" sz="3733" lang="en">
                <a:latin typeface="Times New Roman"/>
                <a:ea typeface="Times New Roman"/>
                <a:cs typeface="Times New Roman"/>
                <a:sym typeface="Times New Roman"/>
              </a:rPr>
              <a:t>Hon Justice Mohammed Bello</a:t>
            </a:r>
            <a:r>
              <a:rPr dirty="0" sz="3733" lang="en">
                <a:latin typeface="Times New Roman"/>
                <a:ea typeface="Times New Roman"/>
                <a:cs typeface="Times New Roman"/>
                <a:sym typeface="Times New Roman"/>
              </a:rPr>
              <a:t>, </a:t>
            </a:r>
            <a:r>
              <a:rPr b="1" dirty="0" sz="3733" lang="en">
                <a:latin typeface="Times New Roman"/>
                <a:ea typeface="Times New Roman"/>
                <a:cs typeface="Times New Roman"/>
                <a:sym typeface="Times New Roman"/>
              </a:rPr>
              <a:t>CJN</a:t>
            </a:r>
            <a:r>
              <a:rPr dirty="0" sz="3733" lang="en">
                <a:latin typeface="Times New Roman"/>
                <a:ea typeface="Times New Roman"/>
                <a:cs typeface="Times New Roman"/>
                <a:sym typeface="Times New Roman"/>
              </a:rPr>
              <a:t> as he then was admonished Judges and practitioners at the </a:t>
            </a:r>
            <a:r>
              <a:rPr b="1" dirty="0" sz="3733" lang="en">
                <a:latin typeface="Times New Roman"/>
                <a:ea typeface="Times New Roman"/>
                <a:cs typeface="Times New Roman"/>
                <a:sym typeface="Times New Roman"/>
              </a:rPr>
              <a:t>All Nigerian Judges Conference held in Abuja</a:t>
            </a:r>
            <a:r>
              <a:rPr dirty="0" sz="3733" lang="en">
                <a:latin typeface="Times New Roman"/>
                <a:ea typeface="Times New Roman"/>
                <a:cs typeface="Times New Roman"/>
                <a:sym typeface="Times New Roman"/>
              </a:rPr>
              <a:t> in 1985 in the following words:</a:t>
            </a:r>
            <a:endParaRPr dirty="0" sz="3733"/>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310" name="Shape 573"/>
        <p:cNvGrpSpPr/>
        <p:nvPr/>
      </p:nvGrpSpPr>
      <p:grpSpPr>
        <a:xfrm>
          <a:off x="0" y="0"/>
          <a:ext cx="0" cy="0"/>
          <a:chOff x="0" y="0"/>
          <a:chExt cx="0" cy="0"/>
        </a:xfrm>
      </p:grpSpPr>
      <p:sp>
        <p:nvSpPr>
          <p:cNvPr id="1048871" name="Google Shape;574;p99"/>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endParaRPr dirty="0"/>
          </a:p>
        </p:txBody>
      </p:sp>
      <p:sp>
        <p:nvSpPr>
          <p:cNvPr id="1048872" name="Google Shape;575;p99"/>
          <p:cNvSpPr txBox="1">
            <a:spLocks noGrp="1"/>
          </p:cNvSpPr>
          <p:nvPr>
            <p:ph idx="1"/>
          </p:nvPr>
        </p:nvSpPr>
        <p:spPr>
          <a:xfrm>
            <a:off x="937054" y="1862696"/>
            <a:ext cx="10515600" cy="4351338"/>
          </a:xfrm>
          <a:prstGeom prst="rect"/>
          <a:noFill/>
          <a:ln>
            <a:noFill/>
          </a:ln>
        </p:spPr>
        <p:txBody>
          <a:bodyPr anchor="t" anchorCtr="0" bIns="60933" lIns="121900" rIns="121900" rtlCol="0" spcFirstLastPara="1" tIns="60933" vert="horz" wrap="square">
            <a:noAutofit/>
          </a:bodyPr>
          <a:p>
            <a:pPr indent="0" marL="0">
              <a:spcBef>
                <a:spcPts val="0"/>
              </a:spcBef>
              <a:buClr>
                <a:schemeClr val="dk1"/>
              </a:buClr>
              <a:buSzPts val="4400"/>
              <a:buNone/>
            </a:pPr>
            <a:r>
              <a:rPr dirty="0" sz="3200" lang="en">
                <a:latin typeface="Times New Roman"/>
                <a:ea typeface="Times New Roman"/>
                <a:cs typeface="Times New Roman"/>
                <a:sym typeface="Times New Roman"/>
              </a:rPr>
              <a:t>“</a:t>
            </a:r>
            <a:r>
              <a:rPr dirty="0" sz="3200" i="1" lang="en">
                <a:latin typeface="Times New Roman"/>
                <a:ea typeface="Times New Roman"/>
                <a:cs typeface="Times New Roman"/>
                <a:sym typeface="Times New Roman"/>
              </a:rPr>
              <a:t>the decision of some of our courts on ex </a:t>
            </a:r>
            <a:r>
              <a:rPr dirty="0" sz="3200" i="1" lang="en" err="1">
                <a:latin typeface="Times New Roman"/>
                <a:ea typeface="Times New Roman"/>
                <a:cs typeface="Times New Roman"/>
                <a:sym typeface="Times New Roman"/>
              </a:rPr>
              <a:t>parte</a:t>
            </a:r>
            <a:r>
              <a:rPr dirty="0" sz="3200" i="1" lang="en">
                <a:latin typeface="Times New Roman"/>
                <a:ea typeface="Times New Roman"/>
                <a:cs typeface="Times New Roman"/>
                <a:sym typeface="Times New Roman"/>
              </a:rPr>
              <a:t> injunction seem to put individual interest over national interest in Nigeria. Public functionaries have been restrained without given a hearing  from performing </a:t>
            </a:r>
            <a:r>
              <a:rPr dirty="0" sz="3200" i="1" lang="en-US">
                <a:latin typeface="Times New Roman"/>
                <a:ea typeface="Times New Roman"/>
                <a:cs typeface="Times New Roman"/>
                <a:sym typeface="Times New Roman"/>
              </a:rPr>
              <a:t>their constitutional and statutory duties at the instance of exuberant individual. I had of occasion to point out early this year that it was only in Nigeria that a court of law would restrain a university by order of an ex parte injunction from holding convocation to award degrees to over a thousand students, who had passed their examinations. </a:t>
            </a:r>
          </a:p>
          <a:p>
            <a:pPr indent="0" marL="0">
              <a:spcBef>
                <a:spcPts val="0"/>
              </a:spcBef>
              <a:buClr>
                <a:schemeClr val="dk1"/>
              </a:buClr>
              <a:buSzPts val="4400"/>
              <a:buNone/>
            </a:pPr>
            <a:endParaRPr dirty="0" sz="3200"/>
          </a:p>
          <a:p>
            <a:pPr indent="0" marL="0">
              <a:spcBef>
                <a:spcPts val="1173"/>
              </a:spcBef>
              <a:buClr>
                <a:schemeClr val="dk1"/>
              </a:buClr>
              <a:buSzPts val="4400"/>
              <a:buNone/>
            </a:pPr>
            <a:endParaRPr dirty="0" sz="32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313" name=""/>
        <p:cNvGrpSpPr/>
        <p:nvPr/>
      </p:nvGrpSpPr>
      <p:grpSpPr>
        <a:xfrm>
          <a:off x="0" y="0"/>
          <a:ext cx="0" cy="0"/>
          <a:chOff x="0" y="0"/>
          <a:chExt cx="0" cy="0"/>
        </a:xfrm>
      </p:grpSpPr>
      <p:sp>
        <p:nvSpPr>
          <p:cNvPr id="1048875" name="Title 1"/>
          <p:cNvSpPr>
            <a:spLocks noGrp="1"/>
          </p:cNvSpPr>
          <p:nvPr>
            <p:ph type="title"/>
          </p:nvPr>
        </p:nvSpPr>
        <p:spPr/>
        <p:txBody>
          <a:bodyPr/>
          <a:p>
            <a:endParaRPr lang="en-US"/>
          </a:p>
        </p:txBody>
      </p:sp>
      <p:sp>
        <p:nvSpPr>
          <p:cNvPr id="1048876" name="Content Placeholder 2"/>
          <p:cNvSpPr>
            <a:spLocks noGrp="1"/>
          </p:cNvSpPr>
          <p:nvPr>
            <p:ph idx="1"/>
          </p:nvPr>
        </p:nvSpPr>
        <p:spPr/>
        <p:txBody>
          <a:bodyPr>
            <a:normAutofit lnSpcReduction="10000"/>
          </a:bodyPr>
          <a:p>
            <a:r>
              <a:rPr dirty="0" sz="3600" i="1" lang="en">
                <a:latin typeface="Times New Roman"/>
                <a:ea typeface="Times New Roman"/>
                <a:cs typeface="Times New Roman"/>
                <a:sym typeface="Times New Roman"/>
              </a:rPr>
              <a:t>A court of law denied the deserving students their degrees because two students who had failed the examinations had applied to the court for a declaration that they too were entitled to be awarded degrees…. Indeed, there is urgent need among some of us, the Judges, to appreciate that ex parte injunction which was devised as a vehicle for the carriage of instant justice in proper cases should not be  </a:t>
            </a:r>
            <a:r>
              <a:rPr dirty="0" sz="3600" i="1" lang="en-US">
                <a:latin typeface="Times New Roman"/>
                <a:ea typeface="Times New Roman"/>
                <a:cs typeface="Times New Roman"/>
                <a:sym typeface="Times New Roman"/>
              </a:rPr>
              <a:t>converted into bulldozer for demolition of substantial justice…”</a:t>
            </a:r>
          </a:p>
          <a:p>
            <a:endParaRPr dirty="0"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314" name="Shape 603"/>
        <p:cNvGrpSpPr/>
        <p:nvPr/>
      </p:nvGrpSpPr>
      <p:grpSpPr>
        <a:xfrm>
          <a:off x="0" y="0"/>
          <a:ext cx="0" cy="0"/>
          <a:chOff x="0" y="0"/>
          <a:chExt cx="0" cy="0"/>
        </a:xfrm>
      </p:grpSpPr>
      <p:sp>
        <p:nvSpPr>
          <p:cNvPr id="1048877" name="Google Shape;604;p104"/>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3959"/>
            </a:pPr>
            <a:endParaRPr b="1" dirty="0" sz="5279">
              <a:latin typeface="Times New Roman"/>
              <a:ea typeface="Times New Roman"/>
              <a:cs typeface="Times New Roman"/>
              <a:sym typeface="Times New Roman"/>
            </a:endParaRPr>
          </a:p>
        </p:txBody>
      </p:sp>
      <p:sp>
        <p:nvSpPr>
          <p:cNvPr id="1048878" name="Google Shape;605;p104"/>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800"/>
            </a:pPr>
            <a:r>
              <a:rPr dirty="0" sz="3733" lang="en">
                <a:latin typeface="Times New Roman"/>
                <a:ea typeface="Times New Roman"/>
                <a:cs typeface="Times New Roman"/>
                <a:sym typeface="Times New Roman"/>
              </a:rPr>
              <a:t>See Rule 2(2) Code of Conduct for Judicial Officers.</a:t>
            </a:r>
            <a:endParaRPr dirty="0" sz="3733"/>
          </a:p>
          <a:p>
            <a:pPr indent="-457189" marL="457189">
              <a:spcBef>
                <a:spcPts val="1280"/>
              </a:spcBef>
              <a:buClr>
                <a:schemeClr val="dk1"/>
              </a:buClr>
              <a:buSzPts val="4800"/>
            </a:pPr>
            <a:r>
              <a:rPr dirty="0" sz="3733" lang="en">
                <a:latin typeface="Times New Roman"/>
                <a:ea typeface="Times New Roman"/>
                <a:cs typeface="Times New Roman"/>
                <a:sym typeface="Times New Roman"/>
              </a:rPr>
              <a:t>A Judicial officer must avoid the abuse of the power of issuing interim injunctions, </a:t>
            </a:r>
            <a:r>
              <a:rPr dirty="0" sz="3733" i="1" lang="en">
                <a:latin typeface="Times New Roman"/>
                <a:ea typeface="Times New Roman"/>
                <a:cs typeface="Times New Roman"/>
                <a:sym typeface="Times New Roman"/>
              </a:rPr>
              <a:t>ex </a:t>
            </a:r>
            <a:r>
              <a:rPr dirty="0" sz="3733" i="1" lang="en" err="1">
                <a:latin typeface="Times New Roman"/>
                <a:ea typeface="Times New Roman"/>
                <a:cs typeface="Times New Roman"/>
                <a:sym typeface="Times New Roman"/>
              </a:rPr>
              <a:t>parte</a:t>
            </a:r>
            <a:r>
              <a:rPr dirty="0" sz="3733" i="1" lang="en">
                <a:latin typeface="Times New Roman"/>
                <a:ea typeface="Times New Roman"/>
                <a:cs typeface="Times New Roman"/>
                <a:sym typeface="Times New Roman"/>
              </a:rPr>
              <a:t>.</a:t>
            </a:r>
            <a:endParaRPr dirty="0" sz="3733" i="1">
              <a:latin typeface="Times New Roman"/>
              <a:ea typeface="Times New Roman"/>
              <a:cs typeface="Times New Roman"/>
              <a:sym typeface="Times New Roma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317" name="Shape 615"/>
        <p:cNvGrpSpPr/>
        <p:nvPr/>
      </p:nvGrpSpPr>
      <p:grpSpPr>
        <a:xfrm>
          <a:off x="0" y="0"/>
          <a:ext cx="0" cy="0"/>
          <a:chOff x="0" y="0"/>
          <a:chExt cx="0" cy="0"/>
        </a:xfrm>
      </p:grpSpPr>
      <p:sp>
        <p:nvSpPr>
          <p:cNvPr id="1048881" name="Google Shape;616;p106"/>
          <p:cNvSpPr txBox="1">
            <a:spLocks noGrp="1"/>
          </p:cNvSpPr>
          <p:nvPr>
            <p:ph type="title"/>
          </p:nvPr>
        </p:nvSpPr>
        <p:spPr>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GB">
                <a:latin typeface="Times New Roman" panose="02020603050405020304" pitchFamily="18" charset="0"/>
                <a:cs typeface="Times New Roman" panose="02020603050405020304" pitchFamily="18" charset="0"/>
              </a:rPr>
              <a:t>2. Suppression of facts in ex parte application</a:t>
            </a:r>
            <a:endParaRPr b="1" dirty="0">
              <a:latin typeface="Times New Roman" panose="02020603050405020304" pitchFamily="18" charset="0"/>
              <a:cs typeface="Times New Roman" panose="02020603050405020304" pitchFamily="18" charset="0"/>
            </a:endParaRPr>
          </a:p>
        </p:txBody>
      </p:sp>
      <p:sp>
        <p:nvSpPr>
          <p:cNvPr id="1048882" name="Google Shape;617;p106"/>
          <p:cNvSpPr txBox="1">
            <a:spLocks noGrp="1"/>
          </p:cNvSpPr>
          <p:nvPr>
            <p:ph idx="1"/>
          </p:nvPr>
        </p:nvSpPr>
        <p:spPr>
          <a:prstGeom prst="rect"/>
          <a:noFill/>
          <a:ln>
            <a:noFill/>
          </a:ln>
        </p:spPr>
        <p:txBody>
          <a:bodyPr anchor="t" anchorCtr="0" bIns="60933" lIns="121900" rIns="121900" rtlCol="0" spcFirstLastPara="1" tIns="60933" vert="horz" wrap="square">
            <a:noAutofit/>
          </a:bodyPr>
          <a:p>
            <a:pPr indent="-457189" marL="457189">
              <a:spcBef>
                <a:spcPts val="0"/>
              </a:spcBef>
              <a:buClr>
                <a:schemeClr val="dk1"/>
              </a:buClr>
              <a:buSzPts val="4800"/>
            </a:pPr>
            <a:r>
              <a:rPr dirty="0" lang="en">
                <a:latin typeface="Times New Roman"/>
                <a:ea typeface="Times New Roman"/>
                <a:cs typeface="Times New Roman"/>
                <a:sym typeface="Times New Roman"/>
              </a:rPr>
              <a:t>Suppression of facts in </a:t>
            </a:r>
            <a:r>
              <a:rPr dirty="0" i="1" lang="en">
                <a:latin typeface="Times New Roman"/>
                <a:ea typeface="Times New Roman"/>
                <a:cs typeface="Times New Roman"/>
                <a:sym typeface="Times New Roman"/>
              </a:rPr>
              <a:t>ex </a:t>
            </a:r>
            <a:r>
              <a:rPr dirty="0" i="1" lang="en" err="1">
                <a:latin typeface="Times New Roman"/>
                <a:ea typeface="Times New Roman"/>
                <a:cs typeface="Times New Roman"/>
                <a:sym typeface="Times New Roman"/>
              </a:rPr>
              <a:t>parte</a:t>
            </a:r>
            <a:r>
              <a:rPr dirty="0" lang="en">
                <a:latin typeface="Times New Roman"/>
                <a:ea typeface="Times New Roman"/>
                <a:cs typeface="Times New Roman"/>
                <a:sym typeface="Times New Roman"/>
              </a:rPr>
              <a:t> application. </a:t>
            </a:r>
            <a:r>
              <a:rPr dirty="0" lang="en">
                <a:solidFill>
                  <a:srgbClr val="FF0000"/>
                </a:solidFill>
                <a:latin typeface="Times New Roman"/>
                <a:ea typeface="Times New Roman"/>
                <a:cs typeface="Times New Roman"/>
                <a:sym typeface="Times New Roman"/>
              </a:rPr>
              <a:t>Rule </a:t>
            </a:r>
            <a:r>
              <a:rPr b="1" dirty="0" lang="en">
                <a:solidFill>
                  <a:srgbClr val="FF0000"/>
                </a:solidFill>
                <a:latin typeface="Times New Roman"/>
                <a:ea typeface="Times New Roman"/>
                <a:cs typeface="Times New Roman"/>
                <a:sym typeface="Times New Roman"/>
              </a:rPr>
              <a:t>32 RPC 2023</a:t>
            </a:r>
            <a:endParaRPr dirty="0">
              <a:solidFill>
                <a:srgbClr val="FF0000"/>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320" name=""/>
        <p:cNvGrpSpPr/>
        <p:nvPr/>
      </p:nvGrpSpPr>
      <p:grpSpPr>
        <a:xfrm>
          <a:off x="0" y="0"/>
          <a:ext cx="0" cy="0"/>
          <a:chOff x="0" y="0"/>
          <a:chExt cx="0" cy="0"/>
        </a:xfrm>
      </p:grpSpPr>
      <p:sp>
        <p:nvSpPr>
          <p:cNvPr id="1048885" name="Title 1"/>
          <p:cNvSpPr>
            <a:spLocks noGrp="1"/>
          </p:cNvSpPr>
          <p:nvPr>
            <p:ph type="title"/>
          </p:nvPr>
        </p:nvSpPr>
        <p:spPr/>
        <p:txBody>
          <a:bodyPr/>
          <a:p>
            <a:pPr algn="ctr"/>
            <a:r>
              <a:rPr b="1" dirty="0" lang="en-GB">
                <a:latin typeface="Times New Roman" panose="02020603050405020304" pitchFamily="18" charset="0"/>
                <a:cs typeface="Times New Roman" panose="02020603050405020304" pitchFamily="18" charset="0"/>
              </a:rPr>
              <a:t>3. Falsification and misrepresentation of facts in affidavit</a:t>
            </a:r>
            <a:endParaRPr b="1" dirty="0" lang="en-US">
              <a:latin typeface="Times New Roman" panose="02020603050405020304" pitchFamily="18" charset="0"/>
              <a:cs typeface="Times New Roman" panose="02020603050405020304" pitchFamily="18" charset="0"/>
            </a:endParaRPr>
          </a:p>
        </p:txBody>
      </p:sp>
      <p:sp>
        <p:nvSpPr>
          <p:cNvPr id="1048886" name="Content Placeholder 2"/>
          <p:cNvSpPr>
            <a:spLocks noGrp="1"/>
          </p:cNvSpPr>
          <p:nvPr>
            <p:ph idx="1"/>
          </p:nvPr>
        </p:nvSpPr>
        <p:spPr/>
        <p:txBody>
          <a:bodyPr/>
          <a:p>
            <a:r>
              <a:rPr dirty="0" lang="en-GB"/>
              <a:t>Counsel must not rely on any affidavit which he knows to contain false or misrepresented fact. </a:t>
            </a:r>
            <a:r>
              <a:rPr dirty="0" lang="en">
                <a:solidFill>
                  <a:srgbClr val="FF0000"/>
                </a:solidFill>
                <a:latin typeface="Times New Roman"/>
                <a:ea typeface="Times New Roman"/>
                <a:cs typeface="Times New Roman"/>
                <a:sym typeface="Times New Roman"/>
              </a:rPr>
              <a:t>Rule </a:t>
            </a:r>
            <a:r>
              <a:rPr b="1" dirty="0" lang="en">
                <a:solidFill>
                  <a:srgbClr val="FF0000"/>
                </a:solidFill>
                <a:latin typeface="Times New Roman"/>
                <a:ea typeface="Times New Roman"/>
                <a:cs typeface="Times New Roman"/>
                <a:sym typeface="Times New Roman"/>
              </a:rPr>
              <a:t>32 RPC 2023</a:t>
            </a:r>
            <a:r>
              <a:rPr dirty="0" lang="en-GB"/>
              <a:t> </a:t>
            </a:r>
            <a:endParaRPr dirty="0"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321" name="Shape 609"/>
        <p:cNvGrpSpPr/>
        <p:nvPr/>
      </p:nvGrpSpPr>
      <p:grpSpPr>
        <a:xfrm>
          <a:off x="0" y="0"/>
          <a:ext cx="0" cy="0"/>
          <a:chOff x="0" y="0"/>
          <a:chExt cx="0" cy="0"/>
        </a:xfrm>
      </p:grpSpPr>
      <p:sp>
        <p:nvSpPr>
          <p:cNvPr id="1048887" name="Google Shape;610;p105"/>
          <p:cNvSpPr txBox="1">
            <a:spLocks noGrp="1"/>
          </p:cNvSpPr>
          <p:nvPr>
            <p:ph type="title"/>
          </p:nvPr>
        </p:nvSpPr>
        <p:spPr>
          <a:xfrm>
            <a:off x="508000" y="274637"/>
            <a:ext cx="11074400" cy="868400"/>
          </a:xfrm>
          <a:prstGeom prst="rect"/>
          <a:noFill/>
          <a:ln>
            <a:noFill/>
          </a:ln>
        </p:spPr>
        <p:txBody>
          <a:bodyPr anchor="ctr" anchorCtr="0" bIns="60933" lIns="121900" rIns="121900" rtlCol="0" spcFirstLastPara="1" tIns="60933" vert="horz" wrap="square">
            <a:noAutofit/>
          </a:bodyPr>
          <a:p>
            <a:pPr algn="ctr">
              <a:spcBef>
                <a:spcPts val="0"/>
              </a:spcBef>
              <a:buClr>
                <a:schemeClr val="dk1"/>
              </a:buClr>
              <a:buSzPts val="4400"/>
            </a:pPr>
            <a:r>
              <a:rPr b="1" dirty="0" lang="en">
                <a:latin typeface="Times New Roman"/>
                <a:ea typeface="Times New Roman"/>
                <a:cs typeface="Times New Roman"/>
                <a:sym typeface="Times New Roman"/>
              </a:rPr>
              <a:t>4. Deposing to Affidavit by Counsel </a:t>
            </a:r>
            <a:endParaRPr b="1" dirty="0">
              <a:latin typeface="Times New Roman"/>
              <a:ea typeface="Times New Roman"/>
              <a:cs typeface="Times New Roman"/>
              <a:sym typeface="Times New Roman"/>
            </a:endParaRPr>
          </a:p>
        </p:txBody>
      </p:sp>
      <p:sp>
        <p:nvSpPr>
          <p:cNvPr id="1048888" name="Google Shape;611;p105"/>
          <p:cNvSpPr txBox="1">
            <a:spLocks noGrp="1"/>
          </p:cNvSpPr>
          <p:nvPr>
            <p:ph idx="1"/>
          </p:nvPr>
        </p:nvSpPr>
        <p:spPr>
          <a:xfrm>
            <a:off x="508000" y="1371600"/>
            <a:ext cx="10972800" cy="4526000"/>
          </a:xfrm>
          <a:prstGeom prst="rect"/>
          <a:noFill/>
          <a:ln>
            <a:noFill/>
          </a:ln>
        </p:spPr>
        <p:txBody>
          <a:bodyPr anchor="t" anchorCtr="0" bIns="60933" lIns="121900" rIns="121900" rtlCol="0" spcFirstLastPara="1" tIns="60933" vert="horz" wrap="square">
            <a:noAutofit/>
          </a:bodyPr>
          <a:p>
            <a:pPr indent="-457189" marL="457189">
              <a:spcBef>
                <a:spcPts val="1013"/>
              </a:spcBef>
              <a:buClr>
                <a:schemeClr val="dk1"/>
              </a:buClr>
              <a:buSzPts val="3800"/>
            </a:pPr>
            <a:r>
              <a:rPr dirty="0" sz="4000" lang="en-US">
                <a:latin typeface="Times New Roman"/>
                <a:ea typeface="Times New Roman"/>
                <a:cs typeface="Times New Roman"/>
                <a:sym typeface="Times New Roman"/>
              </a:rPr>
              <a:t>Counsel must  avoid the habit of deposing to an affidavit on behalf of client. In the event of conflicts he will be required to enter the witness box and be subjected to the </a:t>
            </a:r>
            <a:r>
              <a:rPr dirty="0" sz="4000" lang="en-US" err="1">
                <a:latin typeface="Times New Roman"/>
                <a:ea typeface="Times New Roman"/>
                <a:cs typeface="Times New Roman"/>
                <a:sym typeface="Times New Roman"/>
              </a:rPr>
              <a:t>rigours</a:t>
            </a:r>
            <a:r>
              <a:rPr dirty="0" sz="4000" lang="en-US">
                <a:latin typeface="Times New Roman"/>
                <a:ea typeface="Times New Roman"/>
                <a:cs typeface="Times New Roman"/>
                <a:sym typeface="Times New Roman"/>
              </a:rPr>
              <a:t> of cross examination. See </a:t>
            </a:r>
            <a:r>
              <a:rPr b="1" dirty="0" sz="4000" lang="en-US">
                <a:latin typeface="Times New Roman"/>
                <a:ea typeface="Times New Roman"/>
                <a:cs typeface="Times New Roman"/>
                <a:sym typeface="Times New Roman"/>
              </a:rPr>
              <a:t>UKPABIO V. NIGERIAN FILMS &amp; CENSORS BOARD (2008) 9 NWLR (PT 1092) 219</a:t>
            </a:r>
          </a:p>
          <a:p>
            <a:pPr indent="-457189" marL="457189">
              <a:spcBef>
                <a:spcPts val="1013"/>
              </a:spcBef>
              <a:buClr>
                <a:schemeClr val="dk1"/>
              </a:buClr>
              <a:buSzPts val="3800"/>
            </a:pPr>
            <a:r>
              <a:rPr b="1" dirty="0" sz="3733" lang="en">
                <a:solidFill>
                  <a:srgbClr val="FF0000"/>
                </a:solidFill>
                <a:latin typeface="Times New Roman"/>
                <a:ea typeface="Times New Roman"/>
                <a:cs typeface="Times New Roman"/>
                <a:sym typeface="Times New Roman"/>
              </a:rPr>
              <a:t>Rule 20 RPC 2023</a:t>
            </a:r>
            <a:endParaRPr b="1" dirty="0" sz="3733">
              <a:latin typeface="Times New Roman"/>
              <a:ea typeface="Times New Roman"/>
              <a:cs typeface="Times New Roman"/>
              <a:sym typeface="Times New Roman"/>
            </a:endParaRPr>
          </a:p>
          <a:p>
            <a:pPr indent="-135463" marL="457189">
              <a:spcBef>
                <a:spcPts val="1013"/>
              </a:spcBef>
              <a:buClr>
                <a:schemeClr val="dk1"/>
              </a:buClr>
              <a:buSzPts val="3800"/>
              <a:buNone/>
            </a:pPr>
            <a:endParaRPr b="1" dirty="0" sz="3733">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324" name=""/>
        <p:cNvGrpSpPr/>
        <p:nvPr/>
      </p:nvGrpSpPr>
      <p:grpSpPr>
        <a:xfrm>
          <a:off x="0" y="0"/>
          <a:ext cx="0" cy="0"/>
          <a:chOff x="0" y="0"/>
          <a:chExt cx="0" cy="0"/>
        </a:xfrm>
      </p:grpSpPr>
      <p:sp>
        <p:nvSpPr>
          <p:cNvPr id="1048891" name="Title 1"/>
          <p:cNvSpPr>
            <a:spLocks noGrp="1"/>
          </p:cNvSpPr>
          <p:nvPr>
            <p:ph type="title"/>
          </p:nvPr>
        </p:nvSpPr>
        <p:spPr/>
        <p:txBody>
          <a:bodyPr/>
          <a:p>
            <a:pPr algn="ctr"/>
            <a:r>
              <a:rPr b="1" dirty="0" lang="en-GB">
                <a:latin typeface="Times New Roman" panose="02020603050405020304" pitchFamily="18" charset="0"/>
                <a:cs typeface="Times New Roman" panose="02020603050405020304" pitchFamily="18" charset="0"/>
              </a:rPr>
              <a:t>5. Late filing of motions and affidavits </a:t>
            </a:r>
            <a:endParaRPr b="1" dirty="0" lang="en-US">
              <a:latin typeface="Times New Roman" panose="02020603050405020304" pitchFamily="18" charset="0"/>
              <a:cs typeface="Times New Roman" panose="02020603050405020304" pitchFamily="18" charset="0"/>
            </a:endParaRPr>
          </a:p>
        </p:txBody>
      </p:sp>
      <p:sp>
        <p:nvSpPr>
          <p:cNvPr id="1048892" name="Content Placeholder 2"/>
          <p:cNvSpPr>
            <a:spLocks noGrp="1"/>
          </p:cNvSpPr>
          <p:nvPr>
            <p:ph idx="1"/>
          </p:nvPr>
        </p:nvSpPr>
        <p:spPr/>
        <p:txBody>
          <a:bodyPr/>
          <a:p>
            <a:r>
              <a:rPr dirty="0" lang="en-US">
                <a:latin typeface="Times New Roman"/>
                <a:ea typeface="Times New Roman"/>
                <a:cs typeface="Times New Roman"/>
                <a:sym typeface="Times New Roman"/>
              </a:rPr>
              <a:t>Late filing of motions and counter affidavits with a view to delay proceedings. </a:t>
            </a:r>
            <a:r>
              <a:rPr dirty="0" lang="en-US">
                <a:solidFill>
                  <a:srgbClr val="FF0000"/>
                </a:solidFill>
                <a:latin typeface="Times New Roman"/>
                <a:ea typeface="Times New Roman"/>
                <a:cs typeface="Times New Roman"/>
                <a:sym typeface="Times New Roman"/>
              </a:rPr>
              <a:t>Rule </a:t>
            </a:r>
            <a:r>
              <a:rPr b="1" dirty="0" lang="en-US">
                <a:solidFill>
                  <a:srgbClr val="FF0000"/>
                </a:solidFill>
                <a:latin typeface="Times New Roman"/>
                <a:ea typeface="Times New Roman"/>
                <a:cs typeface="Times New Roman"/>
                <a:sym typeface="Times New Roman"/>
              </a:rPr>
              <a:t>30(5) RPC 2023</a:t>
            </a:r>
          </a:p>
          <a:p>
            <a:endParaRPr dirty="0"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325" name=""/>
        <p:cNvGrpSpPr/>
        <p:nvPr/>
      </p:nvGrpSpPr>
      <p:grpSpPr>
        <a:xfrm>
          <a:off x="0" y="0"/>
          <a:ext cx="0" cy="0"/>
          <a:chOff x="0" y="0"/>
          <a:chExt cx="0" cy="0"/>
        </a:xfrm>
      </p:grpSpPr>
      <p:sp>
        <p:nvSpPr>
          <p:cNvPr id="1048893" name="Title 1"/>
          <p:cNvSpPr>
            <a:spLocks noGrp="1"/>
          </p:cNvSpPr>
          <p:nvPr>
            <p:ph type="title"/>
          </p:nvPr>
        </p:nvSpPr>
        <p:spPr/>
        <p:txBody>
          <a:bodyPr/>
          <a:p>
            <a:endParaRPr lang="en-US"/>
          </a:p>
        </p:txBody>
      </p:sp>
      <p:sp>
        <p:nvSpPr>
          <p:cNvPr id="1048894" name="Content Placeholder 2"/>
          <p:cNvSpPr>
            <a:spLocks noGrp="1"/>
          </p:cNvSpPr>
          <p:nvPr>
            <p:ph idx="1"/>
          </p:nvPr>
        </p:nvSpPr>
        <p:spPr/>
        <p:txBody>
          <a:bodyPr/>
          <a:p>
            <a:pPr indent="-457189" marL="457189">
              <a:spcBef>
                <a:spcPts val="0"/>
              </a:spcBef>
              <a:buClr>
                <a:schemeClr val="dk1"/>
              </a:buClr>
              <a:buSzPts val="3800"/>
            </a:pPr>
            <a:r>
              <a:rPr dirty="0" lang="en-GB">
                <a:solidFill>
                  <a:srgbClr val="FF0000"/>
                </a:solidFill>
                <a:latin typeface="Times New Roman"/>
                <a:ea typeface="Times New Roman"/>
                <a:cs typeface="Times New Roman"/>
                <a:sym typeface="Times New Roman"/>
              </a:rPr>
              <a:t>See generally the following rules:</a:t>
            </a:r>
            <a:endParaRPr dirty="0" lang="en-US">
              <a:solidFill>
                <a:srgbClr val="FF0000"/>
              </a:solidFill>
              <a:latin typeface="Times New Roman"/>
              <a:ea typeface="Times New Roman"/>
              <a:cs typeface="Times New Roman"/>
              <a:sym typeface="Times New Roman"/>
            </a:endParaRPr>
          </a:p>
          <a:p>
            <a:pPr indent="-457189" marL="457189">
              <a:spcBef>
                <a:spcPts val="0"/>
              </a:spcBef>
              <a:buClr>
                <a:schemeClr val="dk1"/>
              </a:buClr>
              <a:buSzPts val="3800"/>
            </a:pPr>
            <a:r>
              <a:rPr dirty="0" lang="en-US">
                <a:solidFill>
                  <a:srgbClr val="FF0000"/>
                </a:solidFill>
                <a:latin typeface="Times New Roman"/>
                <a:ea typeface="Times New Roman"/>
                <a:cs typeface="Times New Roman"/>
                <a:sym typeface="Times New Roman"/>
              </a:rPr>
              <a:t>Rule </a:t>
            </a:r>
            <a:r>
              <a:rPr b="1" dirty="0" lang="en-US">
                <a:solidFill>
                  <a:srgbClr val="FF0000"/>
                </a:solidFill>
                <a:latin typeface="Times New Roman"/>
                <a:ea typeface="Times New Roman"/>
                <a:cs typeface="Times New Roman"/>
                <a:sym typeface="Times New Roman"/>
              </a:rPr>
              <a:t>32 RPC 2023</a:t>
            </a:r>
            <a:r>
              <a:rPr dirty="0" lang="en-US">
                <a:solidFill>
                  <a:srgbClr val="FF0000"/>
                </a:solidFill>
                <a:latin typeface="Times New Roman"/>
                <a:ea typeface="Times New Roman"/>
                <a:cs typeface="Times New Roman"/>
                <a:sym typeface="Times New Roman"/>
              </a:rPr>
              <a:t>.</a:t>
            </a:r>
            <a:r>
              <a:rPr dirty="0" lang="en-US">
                <a:latin typeface="Times New Roman"/>
                <a:ea typeface="Times New Roman"/>
                <a:cs typeface="Times New Roman"/>
                <a:sym typeface="Times New Roman"/>
              </a:rPr>
              <a:t> A lawyer shall deal candidly and fairly with the court.</a:t>
            </a:r>
            <a:endParaRPr dirty="0" lang="en-US"/>
          </a:p>
          <a:p>
            <a:pPr indent="-457189" marL="457189">
              <a:spcBef>
                <a:spcPts val="1013"/>
              </a:spcBef>
              <a:buClr>
                <a:schemeClr val="dk1"/>
              </a:buClr>
              <a:buSzPts val="3800"/>
            </a:pPr>
            <a:r>
              <a:rPr dirty="0" lang="en-US">
                <a:solidFill>
                  <a:srgbClr val="FF0000"/>
                </a:solidFill>
                <a:latin typeface="Times New Roman"/>
                <a:ea typeface="Times New Roman"/>
                <a:cs typeface="Times New Roman"/>
                <a:sym typeface="Times New Roman"/>
              </a:rPr>
              <a:t>Rule </a:t>
            </a:r>
            <a:r>
              <a:rPr b="1" dirty="0" lang="en-US">
                <a:solidFill>
                  <a:srgbClr val="FF0000"/>
                </a:solidFill>
                <a:latin typeface="Times New Roman"/>
                <a:ea typeface="Times New Roman"/>
                <a:cs typeface="Times New Roman"/>
                <a:sym typeface="Times New Roman"/>
              </a:rPr>
              <a:t>27 RPC 2023</a:t>
            </a:r>
            <a:r>
              <a:rPr dirty="0" lang="en-US">
                <a:latin typeface="Times New Roman"/>
                <a:ea typeface="Times New Roman"/>
                <a:cs typeface="Times New Roman"/>
                <a:sym typeface="Times New Roman"/>
              </a:rPr>
              <a:t>. A lawyer shall not take undue advantage of opposing lawyer.</a:t>
            </a:r>
            <a:endParaRPr dirty="0" lang="en-US"/>
          </a:p>
          <a:p>
            <a:endParaRPr dirty="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Company>HP</Company>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CIVIL LITIGATION  WEEK 7</dc:title>
  <dc:creator>COMMENT</dc:creator>
  <cp:lastModifiedBy>Chibueze Okorie</cp:lastModifiedBy>
  <dcterms:created xsi:type="dcterms:W3CDTF">2025-03-30T17:51:38Z</dcterms:created>
  <dcterms:modified xsi:type="dcterms:W3CDTF">2025-05-24T06:00:19Z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f6b05f6ebcf84c8880654410ade67673</vt:lpwstr>
  </property>
</Properties>
</file>