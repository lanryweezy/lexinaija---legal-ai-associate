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75" r:id="rId12"/>
    <p:sldId id="276" r:id="rId13"/>
    <p:sldId id="277" r:id="rId14"/>
    <p:sldId id="266" r:id="rId15"/>
    <p:sldId id="278" r:id="rId16"/>
    <p:sldId id="267" r:id="rId17"/>
    <p:sldId id="279" r:id="rId18"/>
    <p:sldId id="268" r:id="rId19"/>
    <p:sldId id="273" r:id="rId20"/>
    <p:sldId id="269" r:id="rId21"/>
    <p:sldId id="270" r:id="rId22"/>
    <p:sldId id="271" r:id="rId23"/>
    <p:sldId id="282" r:id="rId24"/>
    <p:sldId id="284" r:id="rId25"/>
    <p:sldId id="283" r:id="rId26"/>
    <p:sldId id="274" r:id="rId27"/>
    <p:sldId id="272" r:id="rId28"/>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7" d="100"/>
          <a:sy n="77" d="100"/>
        </p:scale>
        <p:origin x="340"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4F89CF29-F3FC-4D2E-994F-D3EB93953C87}" type="datetimeFigureOut">
              <a:rPr lang="en-US" smtClean="0"/>
              <a:pPr/>
              <a:t>5/20/2025</a:t>
            </a:fld>
            <a:endParaRPr lang="en-US"/>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5180013" y="6513513"/>
            <a:ext cx="3962400" cy="342900"/>
          </a:xfrm>
          <a:prstGeom prst="rect">
            <a:avLst/>
          </a:prstGeom>
        </p:spPr>
        <p:txBody>
          <a:bodyPr vert="horz" lIns="91440" tIns="45720" rIns="91440" bIns="45720" rtlCol="0" anchor="b"/>
          <a:lstStyle>
            <a:lvl1pPr algn="r">
              <a:defRPr sz="1200"/>
            </a:lvl1pPr>
          </a:lstStyle>
          <a:p>
            <a:fld id="{6E3AB7D7-FC5B-4EF5-BA64-ABDCB1681C6A}" type="slidenum">
              <a:rPr lang="en-US" smtClean="0"/>
              <a:pPr/>
              <a:t>‹#›</a:t>
            </a:fld>
            <a:endParaRPr lang="en-US"/>
          </a:p>
        </p:txBody>
      </p:sp>
    </p:spTree>
    <p:extLst>
      <p:ext uri="{BB962C8B-B14F-4D97-AF65-F5344CB8AC3E}">
        <p14:creationId xmlns:p14="http://schemas.microsoft.com/office/powerpoint/2010/main" val="1845410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 4 </a:t>
            </a:r>
            <a:r>
              <a:rPr lang="en-US" dirty="0" err="1" smtClean="0"/>
              <a:t>SoF</a:t>
            </a:r>
            <a:r>
              <a:rPr lang="en-US" dirty="0" smtClean="0"/>
              <a:t> – enforceability of certain contracts unless they in writing &amp;</a:t>
            </a:r>
            <a:r>
              <a:rPr lang="en-US" baseline="0" dirty="0" smtClean="0"/>
              <a:t> signed by the party to be charged. </a:t>
            </a:r>
            <a:r>
              <a:rPr lang="en-US" baseline="0" dirty="0" err="1" smtClean="0"/>
              <a:t>Eg</a:t>
            </a:r>
            <a:r>
              <a:rPr lang="en-US" baseline="0" dirty="0" smtClean="0"/>
              <a:t> agreement concerning land, guarantees and contract not to be performed within a year.</a:t>
            </a:r>
          </a:p>
          <a:p>
            <a:r>
              <a:rPr lang="en-US" baseline="0" dirty="0" smtClean="0"/>
              <a:t>S. 4 </a:t>
            </a:r>
            <a:r>
              <a:rPr lang="en-US" baseline="0" dirty="0" err="1" smtClean="0"/>
              <a:t>SoF</a:t>
            </a:r>
            <a:r>
              <a:rPr lang="en-US" baseline="0" dirty="0" smtClean="0"/>
              <a:t> </a:t>
            </a:r>
            <a:r>
              <a:rPr lang="en-US" b="1" baseline="0" dirty="0" smtClean="0"/>
              <a:t>covers </a:t>
            </a:r>
            <a:r>
              <a:rPr lang="en-US" b="0" baseline="0" dirty="0" smtClean="0"/>
              <a:t>– (a) Promises to pay another’s debt (Guarantees), (b) Contract for the sale of land, (c) Agreements not to be performed within one year.</a:t>
            </a:r>
          </a:p>
          <a:p>
            <a:r>
              <a:rPr lang="en-US" b="1" baseline="0" dirty="0" smtClean="0"/>
              <a:t>ESSENCE</a:t>
            </a:r>
            <a:r>
              <a:rPr lang="en-US" b="0" baseline="0" dirty="0" smtClean="0"/>
              <a:t>: (a) Preventing fraud, (b) Ensuring clarity &amp; certainty.</a:t>
            </a:r>
          </a:p>
          <a:p>
            <a:r>
              <a:rPr lang="en-US" b="1" baseline="0" dirty="0" smtClean="0"/>
              <a:t>KEYPOINTS</a:t>
            </a:r>
            <a:r>
              <a:rPr lang="en-US" b="0" baseline="0" dirty="0" smtClean="0"/>
              <a:t>: (a) Signed agreement, (b) Memorandum or Note</a:t>
            </a:r>
          </a:p>
          <a:p>
            <a:r>
              <a:rPr lang="en-US" b="1" baseline="0" dirty="0" smtClean="0"/>
              <a:t>EXCEPTIONS</a:t>
            </a:r>
            <a:r>
              <a:rPr lang="en-US" b="0" baseline="0" dirty="0" smtClean="0"/>
              <a:t>: (a) When one party has already performed their part of the agreement (b) Admission of oral agreement under oath by the other party.</a:t>
            </a:r>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8</a:t>
            </a:fld>
            <a:endParaRPr lang="en-US"/>
          </a:p>
        </p:txBody>
      </p:sp>
    </p:spTree>
    <p:extLst>
      <p:ext uri="{BB962C8B-B14F-4D97-AF65-F5344CB8AC3E}">
        <p14:creationId xmlns:p14="http://schemas.microsoft.com/office/powerpoint/2010/main" val="14465754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2400" kern="1200" dirty="0" smtClean="0">
                <a:solidFill>
                  <a:schemeClr val="tx1"/>
                </a:solidFill>
                <a:effectLst/>
                <a:latin typeface="+mn-lt"/>
                <a:ea typeface="+mn-ea"/>
                <a:cs typeface="+mn-cs"/>
              </a:rPr>
              <a:t>It must take effect in possession.</a:t>
            </a:r>
          </a:p>
          <a:p>
            <a:r>
              <a:rPr lang="en-US" sz="2400" kern="1200" dirty="0" smtClean="0">
                <a:solidFill>
                  <a:schemeClr val="tx1"/>
                </a:solidFill>
                <a:effectLst/>
                <a:latin typeface="+mn-lt"/>
                <a:ea typeface="+mn-ea"/>
                <a:cs typeface="+mn-cs"/>
              </a:rPr>
              <a:t>b.	It must reserve the best rent (not premium or rack rent i.e. the rent must not be paid in advance or in lump sum).</a:t>
            </a:r>
          </a:p>
          <a:p>
            <a:r>
              <a:rPr lang="en-US" sz="2400" kern="1200" dirty="0" smtClean="0">
                <a:solidFill>
                  <a:schemeClr val="tx1"/>
                </a:solidFill>
                <a:effectLst/>
                <a:latin typeface="+mn-lt"/>
                <a:ea typeface="+mn-ea"/>
                <a:cs typeface="+mn-cs"/>
              </a:rPr>
              <a:t>c.	It must be for a period not exceeding 3 years.</a:t>
            </a:r>
          </a:p>
          <a:p>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9</a:t>
            </a:fld>
            <a:endParaRPr lang="en-US"/>
          </a:p>
        </p:txBody>
      </p:sp>
    </p:spTree>
    <p:extLst>
      <p:ext uri="{BB962C8B-B14F-4D97-AF65-F5344CB8AC3E}">
        <p14:creationId xmlns:p14="http://schemas.microsoft.com/office/powerpoint/2010/main" val="23087965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Section 77(1) PCL states that</a:t>
            </a:r>
            <a:r>
              <a:rPr lang="en-US" baseline="0" dirty="0" smtClean="0"/>
              <a:t> “all conveyances of land or of any interest therein are void for the purpose of conveying or creating a legal estate unless made by </a:t>
            </a:r>
            <a:r>
              <a:rPr lang="en-US" sz="1800" baseline="0" dirty="0" smtClean="0"/>
              <a:t>deed</a:t>
            </a:r>
            <a:r>
              <a:rPr lang="en-US" baseline="0" dirty="0" smtClean="0"/>
              <a:t>”.</a:t>
            </a:r>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10</a:t>
            </a:fld>
            <a:endParaRPr lang="en-US"/>
          </a:p>
        </p:txBody>
      </p:sp>
    </p:spTree>
    <p:extLst>
      <p:ext uri="{BB962C8B-B14F-4D97-AF65-F5344CB8AC3E}">
        <p14:creationId xmlns:p14="http://schemas.microsoft.com/office/powerpoint/2010/main" val="14277919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i="1" dirty="0" smtClean="0"/>
              <a:t>UBA </a:t>
            </a:r>
            <a:r>
              <a:rPr lang="en-US" i="1" dirty="0" err="1" smtClean="0"/>
              <a:t>vs</a:t>
            </a:r>
            <a:r>
              <a:rPr lang="en-US" i="1" baseline="0" dirty="0" smtClean="0"/>
              <a:t> </a:t>
            </a:r>
            <a:r>
              <a:rPr lang="en-US" i="1" baseline="0" dirty="0" err="1" smtClean="0"/>
              <a:t>Tejumola</a:t>
            </a:r>
            <a:r>
              <a:rPr lang="en-US" i="1" baseline="0" dirty="0" smtClean="0"/>
              <a:t> – </a:t>
            </a:r>
            <a:r>
              <a:rPr lang="en-US" i="0" baseline="0" dirty="0" smtClean="0"/>
              <a:t>Commencement date of a lease must be specified or be capable of </a:t>
            </a:r>
            <a:r>
              <a:rPr lang="en-US" i="0" baseline="0" dirty="0" err="1" smtClean="0"/>
              <a:t>ascertainment.s</a:t>
            </a:r>
            <a:endParaRPr lang="en-US" i="1" dirty="0" smtClean="0"/>
          </a:p>
          <a:p>
            <a:pPr algn="just"/>
            <a:r>
              <a:rPr lang="en-US" i="1" dirty="0" smtClean="0"/>
              <a:t>Lace v </a:t>
            </a:r>
            <a:r>
              <a:rPr lang="en-US" i="1" dirty="0" err="1" smtClean="0"/>
              <a:t>Chantler</a:t>
            </a:r>
            <a:r>
              <a:rPr lang="en-US" dirty="0" smtClean="0"/>
              <a:t> – a lease ‘for the duration of the war or cessation of hostilities’ was held to fail</a:t>
            </a:r>
            <a:r>
              <a:rPr lang="en-US" baseline="0" dirty="0" smtClean="0"/>
              <a:t> for uncertainty.</a:t>
            </a:r>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14</a:t>
            </a:fld>
            <a:endParaRPr lang="en-US"/>
          </a:p>
        </p:txBody>
      </p:sp>
    </p:spTree>
    <p:extLst>
      <p:ext uri="{BB962C8B-B14F-4D97-AF65-F5344CB8AC3E}">
        <p14:creationId xmlns:p14="http://schemas.microsoft.com/office/powerpoint/2010/main" val="22562820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S. 4 </a:t>
            </a:r>
            <a:r>
              <a:rPr lang="en-US" dirty="0" err="1" smtClean="0"/>
              <a:t>SoF</a:t>
            </a:r>
            <a:r>
              <a:rPr lang="en-US" dirty="0" smtClean="0"/>
              <a:t> – enforceability of certain contract unless</a:t>
            </a:r>
            <a:r>
              <a:rPr lang="en-US" baseline="0" dirty="0" smtClean="0"/>
              <a:t> they are in writing and signed by the parties. Without a written &amp; signed agreement (or a memorandum or note thereof) the contract may not be enforceable in court.</a:t>
            </a:r>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16</a:t>
            </a:fld>
            <a:endParaRPr lang="en-US"/>
          </a:p>
        </p:txBody>
      </p:sp>
    </p:spTree>
    <p:extLst>
      <p:ext uri="{BB962C8B-B14F-4D97-AF65-F5344CB8AC3E}">
        <p14:creationId xmlns:p14="http://schemas.microsoft.com/office/powerpoint/2010/main" val="10994093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1"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GB" sz="1200" b="1" kern="1200" dirty="0" smtClean="0">
                <a:solidFill>
                  <a:schemeClr val="tx1"/>
                </a:solidFill>
                <a:effectLst/>
                <a:latin typeface="+mn-lt"/>
                <a:ea typeface="+mn-ea"/>
                <a:cs typeface="+mn-cs"/>
              </a:rPr>
              <a:t>S/N</a:t>
            </a:r>
            <a:endParaRPr lang="en-US" sz="1200" kern="1200" dirty="0" smtClean="0">
              <a:solidFill>
                <a:schemeClr val="tx1"/>
              </a:solidFill>
              <a:effectLst/>
              <a:latin typeface="+mn-lt"/>
              <a:ea typeface="+mn-ea"/>
              <a:cs typeface="+mn-cs"/>
            </a:endParaRPr>
          </a:p>
          <a:p>
            <a:r>
              <a:rPr lang="en-GB" sz="1200" b="1" kern="1200" dirty="0" smtClean="0">
                <a:solidFill>
                  <a:schemeClr val="tx1"/>
                </a:solidFill>
                <a:effectLst/>
                <a:latin typeface="+mn-lt"/>
                <a:ea typeface="+mn-ea"/>
                <a:cs typeface="+mn-cs"/>
              </a:rPr>
              <a:t>SALE OF LAND</a:t>
            </a:r>
            <a:endParaRPr lang="en-US" sz="1200" kern="1200" dirty="0" smtClean="0">
              <a:solidFill>
                <a:schemeClr val="tx1"/>
              </a:solidFill>
              <a:effectLst/>
              <a:latin typeface="+mn-lt"/>
              <a:ea typeface="+mn-ea"/>
              <a:cs typeface="+mn-cs"/>
            </a:endParaRPr>
          </a:p>
          <a:p>
            <a:r>
              <a:rPr lang="en-GB" sz="1200" b="1" kern="1200" dirty="0" smtClean="0">
                <a:solidFill>
                  <a:schemeClr val="tx1"/>
                </a:solidFill>
                <a:effectLst/>
                <a:latin typeface="+mn-lt"/>
                <a:ea typeface="+mn-ea"/>
                <a:cs typeface="+mn-cs"/>
              </a:rPr>
              <a:t>LEASE</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An assignment must always be by deed.</a:t>
            </a:r>
          </a:p>
          <a:p>
            <a:r>
              <a:rPr lang="en-US" sz="1200" kern="1200" dirty="0" smtClean="0">
                <a:solidFill>
                  <a:schemeClr val="tx1"/>
                </a:solidFill>
                <a:effectLst/>
                <a:latin typeface="+mn-lt"/>
                <a:ea typeface="+mn-ea"/>
                <a:cs typeface="+mn-cs"/>
              </a:rPr>
              <a:t>Only leases above three years need to be created by deed. Leases three years and below need not be by deed. </a:t>
            </a:r>
          </a:p>
          <a:p>
            <a:r>
              <a:rPr lang="en-GB" sz="1200"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Proprietary interest in the property is assigned.</a:t>
            </a:r>
          </a:p>
          <a:p>
            <a:r>
              <a:rPr lang="en-US" sz="1200" kern="1200" dirty="0" smtClean="0">
                <a:solidFill>
                  <a:schemeClr val="tx1"/>
                </a:solidFill>
                <a:effectLst/>
                <a:latin typeface="+mn-lt"/>
                <a:ea typeface="+mn-ea"/>
                <a:cs typeface="+mn-cs"/>
              </a:rPr>
              <a:t>Only a right of occupation and use is passed.</a:t>
            </a:r>
          </a:p>
          <a:p>
            <a:r>
              <a:rPr lang="en-GB" sz="1200" kern="1200" dirty="0" smtClean="0">
                <a:solidFill>
                  <a:schemeClr val="tx1"/>
                </a:solidFill>
                <a:effectLst/>
                <a:latin typeface="+mn-lt"/>
                <a:ea typeface="+mn-ea"/>
                <a:cs typeface="+mn-cs"/>
              </a:rPr>
              <a:t>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In an assignment, there is no reversionary interest retained by grantor. The entire interest in the property is assigned.</a:t>
            </a:r>
          </a:p>
          <a:p>
            <a:r>
              <a:rPr lang="en-US" sz="1200" kern="1200" dirty="0" smtClean="0">
                <a:solidFill>
                  <a:schemeClr val="tx1"/>
                </a:solidFill>
                <a:effectLst/>
                <a:latin typeface="+mn-lt"/>
                <a:ea typeface="+mn-ea"/>
                <a:cs typeface="+mn-cs"/>
              </a:rPr>
              <a:t>Note: An assignment is the grant of the remainder of the term in a lease </a:t>
            </a:r>
            <a:r>
              <a:rPr lang="en-US" sz="1200" b="1" i="1" kern="1200" dirty="0" err="1" smtClean="0">
                <a:solidFill>
                  <a:schemeClr val="tx1"/>
                </a:solidFill>
                <a:effectLst/>
                <a:latin typeface="+mn-lt"/>
                <a:ea typeface="+mn-ea"/>
                <a:cs typeface="+mn-cs"/>
              </a:rPr>
              <a:t>Nwanpa</a:t>
            </a:r>
            <a:r>
              <a:rPr lang="en-US" sz="1200" b="1" i="1" kern="1200" dirty="0" smtClean="0">
                <a:solidFill>
                  <a:schemeClr val="tx1"/>
                </a:solidFill>
                <a:effectLst/>
                <a:latin typeface="+mn-lt"/>
                <a:ea typeface="+mn-ea"/>
                <a:cs typeface="+mn-cs"/>
              </a:rPr>
              <a:t> v. </a:t>
            </a:r>
            <a:r>
              <a:rPr lang="en-US" sz="1200" b="1" i="1" kern="1200" dirty="0" err="1" smtClean="0">
                <a:solidFill>
                  <a:schemeClr val="tx1"/>
                </a:solidFill>
                <a:effectLst/>
                <a:latin typeface="+mn-lt"/>
                <a:ea typeface="+mn-ea"/>
                <a:cs typeface="+mn-cs"/>
              </a:rPr>
              <a:t>Nwogu</a:t>
            </a:r>
            <a:r>
              <a:rPr lang="en-US" sz="1200" kern="1200" dirty="0" smtClean="0">
                <a:solidFill>
                  <a:schemeClr val="tx1"/>
                </a:solidFill>
                <a:effectLst/>
                <a:latin typeface="+mn-lt"/>
                <a:ea typeface="+mn-ea"/>
                <a:cs typeface="+mn-cs"/>
              </a:rPr>
              <a:t> (2006) 2 NWLR </a:t>
            </a:r>
            <a:r>
              <a:rPr lang="en-US" sz="1200" kern="1200" dirty="0" err="1" smtClean="0">
                <a:solidFill>
                  <a:schemeClr val="tx1"/>
                </a:solidFill>
                <a:effectLst/>
                <a:latin typeface="+mn-lt"/>
                <a:ea typeface="+mn-ea"/>
                <a:cs typeface="+mn-cs"/>
              </a:rPr>
              <a:t>Pt</a:t>
            </a:r>
            <a:r>
              <a:rPr lang="en-US" sz="1200" kern="1200" dirty="0" smtClean="0">
                <a:solidFill>
                  <a:schemeClr val="tx1"/>
                </a:solidFill>
                <a:effectLst/>
                <a:latin typeface="+mn-lt"/>
                <a:ea typeface="+mn-ea"/>
                <a:cs typeface="+mn-cs"/>
              </a:rPr>
              <a:t> 964).</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In a lease, grantor has to retain a reversionary interest even if for one day.</a:t>
            </a:r>
          </a:p>
          <a:p>
            <a:r>
              <a:rPr lang="en-US" sz="1200" kern="1200" dirty="0" smtClean="0">
                <a:solidFill>
                  <a:schemeClr val="tx1"/>
                </a:solidFill>
                <a:effectLst/>
                <a:latin typeface="+mn-lt"/>
                <a:ea typeface="+mn-ea"/>
                <a:cs typeface="+mn-cs"/>
              </a:rPr>
              <a:t>Difference in document created.  In a contract of sale of land, a formal contract of Sale of Land agreement is created at the contract stage while a Deed of Assignment is created at the completion stage.</a:t>
            </a:r>
          </a:p>
          <a:p>
            <a:r>
              <a:rPr lang="en-US" sz="1200" kern="1200" dirty="0" smtClean="0">
                <a:solidFill>
                  <a:schemeClr val="tx1"/>
                </a:solidFill>
                <a:effectLst/>
                <a:latin typeface="+mn-lt"/>
                <a:ea typeface="+mn-ea"/>
                <a:cs typeface="+mn-cs"/>
              </a:rPr>
              <a:t>In leases above three years, a Deed of Lease is created while in Leases three years and below, a Tenancy agreement is created.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 </a:t>
            </a:r>
          </a:p>
          <a:p>
            <a:r>
              <a:rPr lang="en-US" sz="1200" kern="1200" dirty="0" smtClean="0">
                <a:solidFill>
                  <a:schemeClr val="tx1"/>
                </a:solidFill>
                <a:effectLst/>
                <a:latin typeface="+mn-lt"/>
                <a:ea typeface="+mn-ea"/>
                <a:cs typeface="+mn-cs"/>
              </a:rPr>
              <a:t>Investigation is compulsory,</a:t>
            </a:r>
          </a:p>
          <a:p>
            <a:r>
              <a:rPr lang="en-US" sz="1200" kern="1200" dirty="0" smtClean="0">
                <a:solidFill>
                  <a:schemeClr val="tx1"/>
                </a:solidFill>
                <a:effectLst/>
                <a:latin typeface="+mn-lt"/>
                <a:ea typeface="+mn-ea"/>
                <a:cs typeface="+mn-cs"/>
              </a:rPr>
              <a:t>Very important to investigate title of the assignor.</a:t>
            </a:r>
          </a:p>
          <a:p>
            <a:r>
              <a:rPr lang="en-US" sz="1200" kern="1200" dirty="0" smtClean="0">
                <a:solidFill>
                  <a:schemeClr val="tx1"/>
                </a:solidFill>
                <a:effectLst/>
                <a:latin typeface="+mn-lt"/>
                <a:ea typeface="+mn-ea"/>
                <a:cs typeface="+mn-cs"/>
              </a:rPr>
              <a:t>Investigation is not  necessary</a:t>
            </a:r>
          </a:p>
          <a:p>
            <a:r>
              <a:rPr lang="en-US" sz="1200" kern="1200" dirty="0" smtClean="0">
                <a:solidFill>
                  <a:schemeClr val="tx1"/>
                </a:solidFill>
                <a:effectLst/>
                <a:latin typeface="+mn-lt"/>
                <a:ea typeface="+mn-ea"/>
                <a:cs typeface="+mn-cs"/>
              </a:rPr>
              <a:t>Difference in covenants that binds the parties. Only covenants that touch and concern the land in the head lease will bind the assignee.</a:t>
            </a:r>
          </a:p>
          <a:p>
            <a:r>
              <a:rPr lang="en-US" sz="1200" kern="1200" dirty="0" smtClean="0">
                <a:solidFill>
                  <a:schemeClr val="tx1"/>
                </a:solidFill>
                <a:effectLst/>
                <a:latin typeface="+mn-lt"/>
                <a:ea typeface="+mn-ea"/>
                <a:cs typeface="+mn-cs"/>
              </a:rPr>
              <a:t>Covenants can be introduced to protect the interest of the parties as agreed by the parties. Even where no express covenant is agreed by the parties, they may still be subject of implied or usual covenants by virtue of their transaction or as provided by some written law.  </a:t>
            </a:r>
          </a:p>
          <a:p>
            <a:r>
              <a:rPr lang="en-US" sz="1200" kern="1200" dirty="0" smtClean="0">
                <a:solidFill>
                  <a:schemeClr val="tx1"/>
                </a:solidFill>
                <a:effectLst/>
                <a:latin typeface="+mn-lt"/>
                <a:ea typeface="+mn-ea"/>
                <a:cs typeface="+mn-cs"/>
              </a:rPr>
              <a:t>Perfection of title is compulsory</a:t>
            </a:r>
          </a:p>
          <a:p>
            <a:r>
              <a:rPr lang="en-US" sz="1200" kern="1200" dirty="0" smtClean="0">
                <a:solidFill>
                  <a:schemeClr val="tx1"/>
                </a:solidFill>
                <a:effectLst/>
                <a:latin typeface="+mn-lt"/>
                <a:ea typeface="+mn-ea"/>
                <a:cs typeface="+mn-cs"/>
              </a:rPr>
              <a:t>Perfection of title is compulsory</a:t>
            </a:r>
          </a:p>
          <a:p>
            <a:r>
              <a:rPr lang="en-US" sz="1200" kern="1200" dirty="0" smtClean="0">
                <a:solidFill>
                  <a:schemeClr val="tx1"/>
                </a:solidFill>
                <a:effectLst/>
                <a:latin typeface="+mn-lt"/>
                <a:ea typeface="+mn-ea"/>
                <a:cs typeface="+mn-cs"/>
              </a:rPr>
              <a:t>Consideration is mandatory</a:t>
            </a:r>
          </a:p>
          <a:p>
            <a:r>
              <a:rPr lang="en-US" sz="1200" kern="1200" dirty="0" smtClean="0">
                <a:solidFill>
                  <a:schemeClr val="tx1"/>
                </a:solidFill>
                <a:effectLst/>
                <a:latin typeface="+mn-lt"/>
                <a:ea typeface="+mn-ea"/>
                <a:cs typeface="+mn-cs"/>
              </a:rPr>
              <a:t>Rent is not compulsory</a:t>
            </a:r>
          </a:p>
          <a:p>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18</a:t>
            </a:fld>
            <a:endParaRPr lang="en-US"/>
          </a:p>
        </p:txBody>
      </p:sp>
    </p:spTree>
    <p:extLst>
      <p:ext uri="{BB962C8B-B14F-4D97-AF65-F5344CB8AC3E}">
        <p14:creationId xmlns:p14="http://schemas.microsoft.com/office/powerpoint/2010/main" val="4677107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lang="en-GB" sz="1200" b="1" kern="1200" dirty="0" smtClean="0">
                <a:solidFill>
                  <a:schemeClr val="tx1"/>
                </a:solidFill>
                <a:effectLst/>
                <a:latin typeface="+mn-lt"/>
                <a:ea typeface="+mn-ea"/>
                <a:cs typeface="+mn-cs"/>
              </a:rPr>
              <a:t>LEASE</a:t>
            </a:r>
            <a:endParaRPr lang="en-US" sz="1200" kern="1200" dirty="0" smtClean="0">
              <a:solidFill>
                <a:schemeClr val="tx1"/>
              </a:solidFill>
              <a:effectLst/>
              <a:latin typeface="+mn-lt"/>
              <a:ea typeface="+mn-ea"/>
              <a:cs typeface="+mn-cs"/>
            </a:endParaRPr>
          </a:p>
          <a:p>
            <a:r>
              <a:rPr lang="en-GB" sz="1200" b="1" kern="1200" dirty="0" smtClean="0">
                <a:solidFill>
                  <a:schemeClr val="tx1"/>
                </a:solidFill>
                <a:effectLst/>
                <a:latin typeface="+mn-lt"/>
                <a:ea typeface="+mn-ea"/>
                <a:cs typeface="+mn-cs"/>
              </a:rPr>
              <a:t>LICENCE</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Transfer of interest in property.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There is no transfer of interest License</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Exclusive possession is essential for a valid Lessee.</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A Licensee has no	exclusive possessory interest transferable.</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The demised estate can survive the death of the lessor. </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The death of the licensor terminates the relationship</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Lessee can maintain an action in trespass against 3rd parties including Lessor.	</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A licensee cannot maintain an action in trespass</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A lessee is entitled to the statutory notices.	</a:t>
            </a:r>
            <a:endParaRPr lang="en-US" sz="1200" kern="1200" dirty="0" smtClean="0">
              <a:solidFill>
                <a:schemeClr val="tx1"/>
              </a:solidFill>
              <a:effectLst/>
              <a:latin typeface="+mn-lt"/>
              <a:ea typeface="+mn-ea"/>
              <a:cs typeface="+mn-cs"/>
            </a:endParaRPr>
          </a:p>
          <a:p>
            <a:r>
              <a:rPr lang="en-US" sz="1200" kern="1200" dirty="0" smtClean="0">
                <a:solidFill>
                  <a:schemeClr val="tx1"/>
                </a:solidFill>
                <a:effectLst/>
                <a:latin typeface="+mn-lt"/>
                <a:ea typeface="+mn-ea"/>
                <a:cs typeface="+mn-cs"/>
              </a:rPr>
              <a:t> </a:t>
            </a:r>
          </a:p>
          <a:p>
            <a:r>
              <a:rPr lang="en-GB" sz="1200" kern="1200" dirty="0" smtClean="0">
                <a:solidFill>
                  <a:schemeClr val="tx1"/>
                </a:solidFill>
                <a:effectLst/>
                <a:latin typeface="+mn-lt"/>
                <a:ea typeface="+mn-ea"/>
                <a:cs typeface="+mn-cs"/>
              </a:rPr>
              <a:t>A licensee is not so entitled</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Some covenants are implied	</a:t>
            </a:r>
            <a:endParaRPr lang="en-US" sz="1200" kern="1200" dirty="0" smtClean="0">
              <a:solidFill>
                <a:schemeClr val="tx1"/>
              </a:solidFill>
              <a:effectLst/>
              <a:latin typeface="+mn-lt"/>
              <a:ea typeface="+mn-ea"/>
              <a:cs typeface="+mn-cs"/>
            </a:endParaRPr>
          </a:p>
          <a:p>
            <a:r>
              <a:rPr lang="en-GB" sz="1200" kern="1200" dirty="0" smtClean="0">
                <a:solidFill>
                  <a:schemeClr val="tx1"/>
                </a:solidFill>
                <a:effectLst/>
                <a:latin typeface="+mn-lt"/>
                <a:ea typeface="+mn-ea"/>
                <a:cs typeface="+mn-cs"/>
              </a:rPr>
              <a:t>Implied terms or covenant do not exist.</a:t>
            </a:r>
            <a:endParaRPr lang="en-US" sz="1200" kern="1200" dirty="0" smtClean="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19</a:t>
            </a:fld>
            <a:endParaRPr lang="en-US"/>
          </a:p>
        </p:txBody>
      </p:sp>
    </p:spTree>
    <p:extLst>
      <p:ext uri="{BB962C8B-B14F-4D97-AF65-F5344CB8AC3E}">
        <p14:creationId xmlns:p14="http://schemas.microsoft.com/office/powerpoint/2010/main" val="6243074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smtClean="0">
                <a:solidFill>
                  <a:schemeClr val="tx1"/>
                </a:solidFill>
                <a:effectLst/>
                <a:latin typeface="+mn-lt"/>
                <a:ea typeface="+mn-ea"/>
                <a:cs typeface="+mn-cs"/>
              </a:rPr>
              <a:t>Rent is the consideration paid by the Tenant/Lessee for the use and enjoyment of the demised property. Rent may be money or money's worth. Rent where agreed must be certain or ascertainable. Rent is not mandatory in leases. The main feature of a lease is lawful occupation by the tenant. Whether the pays regular rent, subsidized rent or no rent at all is immaterial </a:t>
            </a:r>
            <a:r>
              <a:rPr lang="en-US" sz="1200" b="1" i="1" kern="1200" dirty="0" smtClean="0">
                <a:solidFill>
                  <a:schemeClr val="tx1"/>
                </a:solidFill>
                <a:effectLst/>
                <a:latin typeface="+mn-lt"/>
                <a:ea typeface="+mn-ea"/>
                <a:cs typeface="+mn-cs"/>
              </a:rPr>
              <a:t>African Petroleum Ltd v. </a:t>
            </a:r>
            <a:r>
              <a:rPr lang="en-US" sz="1200" b="1" i="1" kern="1200" dirty="0" err="1" smtClean="0">
                <a:solidFill>
                  <a:schemeClr val="tx1"/>
                </a:solidFill>
                <a:effectLst/>
                <a:latin typeface="+mn-lt"/>
                <a:ea typeface="+mn-ea"/>
                <a:cs typeface="+mn-cs"/>
              </a:rPr>
              <a:t>Owodunni</a:t>
            </a:r>
            <a:r>
              <a:rPr lang="en-US" sz="1200" b="1" i="1" kern="1200" dirty="0" smtClean="0">
                <a:solidFill>
                  <a:schemeClr val="tx1"/>
                </a:solidFill>
                <a:effectLst/>
                <a:latin typeface="+mn-lt"/>
                <a:ea typeface="+mn-ea"/>
                <a:cs typeface="+mn-cs"/>
              </a:rPr>
              <a:t> </a:t>
            </a:r>
            <a:r>
              <a:rPr lang="en-US" sz="1200" kern="1200" dirty="0" smtClean="0">
                <a:solidFill>
                  <a:schemeClr val="tx1"/>
                </a:solidFill>
                <a:effectLst/>
                <a:latin typeface="+mn-lt"/>
                <a:ea typeface="+mn-ea"/>
                <a:cs typeface="+mn-cs"/>
              </a:rPr>
              <a:t>(1991)1-12SC I. Note that unless the parties agree otherwise, rent is payable in arrears.</a:t>
            </a:r>
          </a:p>
          <a:p>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20</a:t>
            </a:fld>
            <a:endParaRPr lang="en-US"/>
          </a:p>
        </p:txBody>
      </p:sp>
    </p:spTree>
    <p:extLst>
      <p:ext uri="{BB962C8B-B14F-4D97-AF65-F5344CB8AC3E}">
        <p14:creationId xmlns:p14="http://schemas.microsoft.com/office/powerpoint/2010/main" val="427745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smtClean="0">
                <a:solidFill>
                  <a:schemeClr val="tx1"/>
                </a:solidFill>
                <a:effectLst/>
                <a:latin typeface="+mn-lt"/>
                <a:ea typeface="+mn-ea"/>
                <a:cs typeface="+mn-cs"/>
              </a:rPr>
              <a:t>a. Inflation:</a:t>
            </a:r>
            <a:r>
              <a:rPr lang="en-US" sz="1200" kern="1200" dirty="0" smtClean="0">
                <a:solidFill>
                  <a:schemeClr val="tx1"/>
                </a:solidFill>
                <a:effectLst/>
                <a:latin typeface="+mn-lt"/>
                <a:ea typeface="+mn-ea"/>
                <a:cs typeface="+mn-cs"/>
              </a:rPr>
              <a:t> A lessor who collected many years rent in advance may turn out to be at a disadvantage as the value of the money can depreciate as a result of inflation.</a:t>
            </a:r>
          </a:p>
          <a:p>
            <a:r>
              <a:rPr lang="en-US" sz="1200" b="1" kern="1200" dirty="0" smtClean="0">
                <a:solidFill>
                  <a:schemeClr val="tx1"/>
                </a:solidFill>
                <a:effectLst/>
                <a:latin typeface="+mn-lt"/>
                <a:ea typeface="+mn-ea"/>
                <a:cs typeface="+mn-cs"/>
              </a:rPr>
              <a:t>b. Tax implications:</a:t>
            </a:r>
            <a:r>
              <a:rPr lang="en-US" sz="1200" kern="1200" dirty="0" smtClean="0">
                <a:solidFill>
                  <a:schemeClr val="tx1"/>
                </a:solidFill>
                <a:effectLst/>
                <a:latin typeface="+mn-lt"/>
                <a:ea typeface="+mn-ea"/>
                <a:cs typeface="+mn-cs"/>
              </a:rPr>
              <a:t> Rent collected in advance for more than 5 years is subject to tax as a national income-S.4(2)( c) Income Management Act; S.3(3) Personal Income Tax Act.</a:t>
            </a:r>
          </a:p>
          <a:p>
            <a:r>
              <a:rPr lang="en-US" sz="1200" kern="1200" dirty="0" smtClean="0">
                <a:solidFill>
                  <a:schemeClr val="tx1"/>
                </a:solidFill>
                <a:effectLst/>
                <a:latin typeface="+mn-lt"/>
                <a:ea typeface="+mn-ea"/>
                <a:cs typeface="+mn-cs"/>
              </a:rPr>
              <a:t>Legislative restrictions:</a:t>
            </a:r>
            <a:r>
              <a:rPr lang="en-US" sz="1200" kern="1200" baseline="0" dirty="0" smtClean="0">
                <a:solidFill>
                  <a:schemeClr val="tx1"/>
                </a:solidFill>
                <a:effectLst/>
                <a:latin typeface="+mn-lt"/>
                <a:ea typeface="+mn-ea"/>
                <a:cs typeface="+mn-cs"/>
              </a:rPr>
              <a:t> period for demanding rent &amp; regulate amount of rent. Sec 4(1) &amp; (2) LSTL </a:t>
            </a:r>
            <a:endParaRPr lang="en-US" sz="1200" kern="1200" dirty="0" smtClean="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6E3AB7D7-FC5B-4EF5-BA64-ABDCB1681C6A}" type="slidenum">
              <a:rPr lang="en-US" smtClean="0"/>
              <a:pPr/>
              <a:t>21</a:t>
            </a:fld>
            <a:endParaRPr lang="en-US"/>
          </a:p>
        </p:txBody>
      </p:sp>
    </p:spTree>
    <p:extLst>
      <p:ext uri="{BB962C8B-B14F-4D97-AF65-F5344CB8AC3E}">
        <p14:creationId xmlns:p14="http://schemas.microsoft.com/office/powerpoint/2010/main" val="3579018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E3AB7D7-FC5B-4EF5-BA64-ABDCB1681C6A}" type="slidenum">
              <a:rPr lang="en-US" smtClean="0"/>
              <a:pPr/>
              <a:t>22</a:t>
            </a:fld>
            <a:endParaRPr lang="en-US"/>
          </a:p>
        </p:txBody>
      </p:sp>
    </p:spTree>
    <p:extLst>
      <p:ext uri="{BB962C8B-B14F-4D97-AF65-F5344CB8AC3E}">
        <p14:creationId xmlns:p14="http://schemas.microsoft.com/office/powerpoint/2010/main" val="9776340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976130" y="431672"/>
            <a:ext cx="3191739" cy="695960"/>
          </a:xfrm>
          <a:prstGeom prst="rect">
            <a:avLst/>
          </a:prstGeom>
        </p:spPr>
        <p:txBody>
          <a:bodyPr wrap="square" lIns="0" tIns="0" rIns="0" bIns="0">
            <a:spAutoFit/>
          </a:bodyPr>
          <a:lstStyle>
            <a:lvl1pPr>
              <a:defRPr sz="4400" b="1" i="0">
                <a:solidFill>
                  <a:schemeClr val="bg1"/>
                </a:solidFill>
                <a:latin typeface="Arial"/>
                <a:cs typeface="Arial"/>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Arial"/>
                <a:cs typeface="Arial"/>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800" b="1" i="0">
                <a:solidFill>
                  <a:schemeClr val="bg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rPr/>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13" Type="http://schemas.openxmlformats.org/officeDocument/2006/relationships/image" Target="../media/image7.png"/><Relationship Id="rId18" Type="http://schemas.openxmlformats.org/officeDocument/2006/relationships/image" Target="../media/image12.png"/><Relationship Id="rId26" Type="http://schemas.openxmlformats.org/officeDocument/2006/relationships/image" Target="../media/image20.png"/><Relationship Id="rId39" Type="http://schemas.openxmlformats.org/officeDocument/2006/relationships/image" Target="../media/image33.png"/><Relationship Id="rId3" Type="http://schemas.openxmlformats.org/officeDocument/2006/relationships/slideLayout" Target="../slideLayouts/slideLayout3.xml"/><Relationship Id="rId21" Type="http://schemas.openxmlformats.org/officeDocument/2006/relationships/image" Target="../media/image15.png"/><Relationship Id="rId34" Type="http://schemas.openxmlformats.org/officeDocument/2006/relationships/image" Target="../media/image28.png"/><Relationship Id="rId7" Type="http://schemas.openxmlformats.org/officeDocument/2006/relationships/image" Target="../media/image1.png"/><Relationship Id="rId12" Type="http://schemas.openxmlformats.org/officeDocument/2006/relationships/image" Target="../media/image6.png"/><Relationship Id="rId17" Type="http://schemas.openxmlformats.org/officeDocument/2006/relationships/image" Target="../media/image11.png"/><Relationship Id="rId25" Type="http://schemas.openxmlformats.org/officeDocument/2006/relationships/image" Target="../media/image19.png"/><Relationship Id="rId33" Type="http://schemas.openxmlformats.org/officeDocument/2006/relationships/image" Target="../media/image27.png"/><Relationship Id="rId38" Type="http://schemas.openxmlformats.org/officeDocument/2006/relationships/image" Target="../media/image32.png"/><Relationship Id="rId2" Type="http://schemas.openxmlformats.org/officeDocument/2006/relationships/slideLayout" Target="../slideLayouts/slideLayout2.xml"/><Relationship Id="rId16" Type="http://schemas.openxmlformats.org/officeDocument/2006/relationships/image" Target="../media/image10.png"/><Relationship Id="rId20" Type="http://schemas.openxmlformats.org/officeDocument/2006/relationships/image" Target="../media/image14.png"/><Relationship Id="rId29" Type="http://schemas.openxmlformats.org/officeDocument/2006/relationships/image" Target="../media/image23.png"/><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24" Type="http://schemas.openxmlformats.org/officeDocument/2006/relationships/image" Target="../media/image18.png"/><Relationship Id="rId32" Type="http://schemas.openxmlformats.org/officeDocument/2006/relationships/image" Target="../media/image26.png"/><Relationship Id="rId37" Type="http://schemas.openxmlformats.org/officeDocument/2006/relationships/image" Target="../media/image31.png"/><Relationship Id="rId40" Type="http://schemas.openxmlformats.org/officeDocument/2006/relationships/image" Target="../media/image34.png"/><Relationship Id="rId5" Type="http://schemas.openxmlformats.org/officeDocument/2006/relationships/slideLayout" Target="../slideLayouts/slideLayout5.xml"/><Relationship Id="rId15" Type="http://schemas.openxmlformats.org/officeDocument/2006/relationships/image" Target="../media/image9.png"/><Relationship Id="rId23" Type="http://schemas.openxmlformats.org/officeDocument/2006/relationships/image" Target="../media/image17.png"/><Relationship Id="rId28" Type="http://schemas.openxmlformats.org/officeDocument/2006/relationships/image" Target="../media/image22.png"/><Relationship Id="rId36" Type="http://schemas.openxmlformats.org/officeDocument/2006/relationships/image" Target="../media/image30.png"/><Relationship Id="rId10" Type="http://schemas.openxmlformats.org/officeDocument/2006/relationships/image" Target="../media/image4.png"/><Relationship Id="rId19" Type="http://schemas.openxmlformats.org/officeDocument/2006/relationships/image" Target="../media/image13.png"/><Relationship Id="rId31" Type="http://schemas.openxmlformats.org/officeDocument/2006/relationships/image" Target="../media/image25.png"/><Relationship Id="rId4" Type="http://schemas.openxmlformats.org/officeDocument/2006/relationships/slideLayout" Target="../slideLayouts/slideLayout4.xml"/><Relationship Id="rId9" Type="http://schemas.openxmlformats.org/officeDocument/2006/relationships/image" Target="../media/image3.png"/><Relationship Id="rId14" Type="http://schemas.openxmlformats.org/officeDocument/2006/relationships/image" Target="../media/image8.png"/><Relationship Id="rId22" Type="http://schemas.openxmlformats.org/officeDocument/2006/relationships/image" Target="../media/image16.png"/><Relationship Id="rId27" Type="http://schemas.openxmlformats.org/officeDocument/2006/relationships/image" Target="../media/image21.png"/><Relationship Id="rId30" Type="http://schemas.openxmlformats.org/officeDocument/2006/relationships/image" Target="../media/image24.png"/><Relationship Id="rId35" Type="http://schemas.openxmlformats.org/officeDocument/2006/relationships/image" Target="../media/image29.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6858000"/>
          </a:xfrm>
          <a:custGeom>
            <a:avLst/>
            <a:gdLst/>
            <a:ahLst/>
            <a:cxnLst/>
            <a:rect l="l" t="t" r="r" b="b"/>
            <a:pathLst>
              <a:path w="9144000" h="6858000">
                <a:moveTo>
                  <a:pt x="9143999" y="6857999"/>
                </a:moveTo>
                <a:lnTo>
                  <a:pt x="0" y="6857999"/>
                </a:lnTo>
                <a:lnTo>
                  <a:pt x="0" y="0"/>
                </a:lnTo>
                <a:lnTo>
                  <a:pt x="9143999" y="0"/>
                </a:lnTo>
                <a:lnTo>
                  <a:pt x="9143999" y="6857999"/>
                </a:lnTo>
                <a:close/>
              </a:path>
            </a:pathLst>
          </a:custGeom>
          <a:solidFill>
            <a:srgbClr val="660000"/>
          </a:solidFill>
        </p:spPr>
        <p:txBody>
          <a:bodyPr wrap="square" lIns="0" tIns="0" rIns="0" bIns="0" rtlCol="0"/>
          <a:lstStyle/>
          <a:p>
            <a:endParaRPr/>
          </a:p>
        </p:txBody>
      </p:sp>
      <p:pic>
        <p:nvPicPr>
          <p:cNvPr id="17" name="bg object 17"/>
          <p:cNvPicPr/>
          <p:nvPr/>
        </p:nvPicPr>
        <p:blipFill>
          <a:blip r:embed="rId7" cstate="print"/>
          <a:stretch>
            <a:fillRect/>
          </a:stretch>
        </p:blipFill>
        <p:spPr>
          <a:xfrm>
            <a:off x="6715386" y="2166936"/>
            <a:ext cx="312765" cy="161924"/>
          </a:xfrm>
          <a:prstGeom prst="rect">
            <a:avLst/>
          </a:prstGeom>
        </p:spPr>
      </p:pic>
      <p:pic>
        <p:nvPicPr>
          <p:cNvPr id="18" name="bg object 18"/>
          <p:cNvPicPr/>
          <p:nvPr/>
        </p:nvPicPr>
        <p:blipFill>
          <a:blip r:embed="rId8" cstate="print"/>
          <a:stretch>
            <a:fillRect/>
          </a:stretch>
        </p:blipFill>
        <p:spPr>
          <a:xfrm>
            <a:off x="6824933" y="1881186"/>
            <a:ext cx="74618" cy="74612"/>
          </a:xfrm>
          <a:prstGeom prst="rect">
            <a:avLst/>
          </a:prstGeom>
        </p:spPr>
      </p:pic>
      <p:pic>
        <p:nvPicPr>
          <p:cNvPr id="19" name="bg object 19"/>
          <p:cNvPicPr/>
          <p:nvPr/>
        </p:nvPicPr>
        <p:blipFill>
          <a:blip r:embed="rId9" cstate="print"/>
          <a:stretch>
            <a:fillRect/>
          </a:stretch>
        </p:blipFill>
        <p:spPr>
          <a:xfrm>
            <a:off x="7809934" y="2435740"/>
            <a:ext cx="916329" cy="3166029"/>
          </a:xfrm>
          <a:prstGeom prst="rect">
            <a:avLst/>
          </a:prstGeom>
        </p:spPr>
      </p:pic>
      <p:pic>
        <p:nvPicPr>
          <p:cNvPr id="20" name="bg object 20"/>
          <p:cNvPicPr/>
          <p:nvPr/>
        </p:nvPicPr>
        <p:blipFill>
          <a:blip r:embed="rId10" cstate="print"/>
          <a:stretch>
            <a:fillRect/>
          </a:stretch>
        </p:blipFill>
        <p:spPr>
          <a:xfrm>
            <a:off x="7733064" y="5568949"/>
            <a:ext cx="104784" cy="152399"/>
          </a:xfrm>
          <a:prstGeom prst="rect">
            <a:avLst/>
          </a:prstGeom>
        </p:spPr>
      </p:pic>
      <p:pic>
        <p:nvPicPr>
          <p:cNvPr id="21" name="bg object 21"/>
          <p:cNvPicPr/>
          <p:nvPr/>
        </p:nvPicPr>
        <p:blipFill>
          <a:blip r:embed="rId11" cstate="print"/>
          <a:stretch>
            <a:fillRect/>
          </a:stretch>
        </p:blipFill>
        <p:spPr>
          <a:xfrm>
            <a:off x="8683372" y="2436970"/>
            <a:ext cx="64884" cy="3171507"/>
          </a:xfrm>
          <a:prstGeom prst="rect">
            <a:avLst/>
          </a:prstGeom>
        </p:spPr>
      </p:pic>
      <p:pic>
        <p:nvPicPr>
          <p:cNvPr id="22" name="bg object 22"/>
          <p:cNvPicPr/>
          <p:nvPr/>
        </p:nvPicPr>
        <p:blipFill>
          <a:blip r:embed="rId12" cstate="print"/>
          <a:stretch>
            <a:fillRect/>
          </a:stretch>
        </p:blipFill>
        <p:spPr>
          <a:xfrm>
            <a:off x="8761377" y="2440363"/>
            <a:ext cx="382622" cy="1336868"/>
          </a:xfrm>
          <a:prstGeom prst="rect">
            <a:avLst/>
          </a:prstGeom>
        </p:spPr>
      </p:pic>
      <p:pic>
        <p:nvPicPr>
          <p:cNvPr id="23" name="bg object 23"/>
          <p:cNvPicPr/>
          <p:nvPr/>
        </p:nvPicPr>
        <p:blipFill>
          <a:blip r:embed="rId13" cstate="print"/>
          <a:stretch>
            <a:fillRect/>
          </a:stretch>
        </p:blipFill>
        <p:spPr>
          <a:xfrm>
            <a:off x="7560011" y="5700711"/>
            <a:ext cx="1581291" cy="200024"/>
          </a:xfrm>
          <a:prstGeom prst="rect">
            <a:avLst/>
          </a:prstGeom>
        </p:spPr>
      </p:pic>
      <p:pic>
        <p:nvPicPr>
          <p:cNvPr id="24" name="bg object 24"/>
          <p:cNvPicPr/>
          <p:nvPr/>
        </p:nvPicPr>
        <p:blipFill>
          <a:blip r:embed="rId14" cstate="print"/>
          <a:stretch>
            <a:fillRect/>
          </a:stretch>
        </p:blipFill>
        <p:spPr>
          <a:xfrm>
            <a:off x="7598114" y="5786436"/>
            <a:ext cx="1543187" cy="388937"/>
          </a:xfrm>
          <a:prstGeom prst="rect">
            <a:avLst/>
          </a:prstGeom>
        </p:spPr>
      </p:pic>
      <p:pic>
        <p:nvPicPr>
          <p:cNvPr id="25" name="bg object 25"/>
          <p:cNvPicPr/>
          <p:nvPr/>
        </p:nvPicPr>
        <p:blipFill>
          <a:blip r:embed="rId15" cstate="print"/>
          <a:stretch>
            <a:fillRect/>
          </a:stretch>
        </p:blipFill>
        <p:spPr>
          <a:xfrm>
            <a:off x="7626693" y="5700711"/>
            <a:ext cx="1514609" cy="142874"/>
          </a:xfrm>
          <a:prstGeom prst="rect">
            <a:avLst/>
          </a:prstGeom>
        </p:spPr>
      </p:pic>
      <p:pic>
        <p:nvPicPr>
          <p:cNvPr id="26" name="bg object 26"/>
          <p:cNvPicPr/>
          <p:nvPr/>
        </p:nvPicPr>
        <p:blipFill>
          <a:blip r:embed="rId16" cstate="print"/>
          <a:stretch>
            <a:fillRect/>
          </a:stretch>
        </p:blipFill>
        <p:spPr>
          <a:xfrm>
            <a:off x="8684062" y="1912936"/>
            <a:ext cx="161938" cy="247649"/>
          </a:xfrm>
          <a:prstGeom prst="rect">
            <a:avLst/>
          </a:prstGeom>
        </p:spPr>
      </p:pic>
      <p:pic>
        <p:nvPicPr>
          <p:cNvPr id="27" name="bg object 27"/>
          <p:cNvPicPr/>
          <p:nvPr/>
        </p:nvPicPr>
        <p:blipFill>
          <a:blip r:embed="rId17" cstate="print"/>
          <a:stretch>
            <a:fillRect/>
          </a:stretch>
        </p:blipFill>
        <p:spPr>
          <a:xfrm>
            <a:off x="8693588" y="2141536"/>
            <a:ext cx="133361" cy="152399"/>
          </a:xfrm>
          <a:prstGeom prst="rect">
            <a:avLst/>
          </a:prstGeom>
        </p:spPr>
      </p:pic>
      <p:pic>
        <p:nvPicPr>
          <p:cNvPr id="28" name="bg object 28"/>
          <p:cNvPicPr/>
          <p:nvPr/>
        </p:nvPicPr>
        <p:blipFill>
          <a:blip r:embed="rId18" cstate="print"/>
          <a:stretch>
            <a:fillRect/>
          </a:stretch>
        </p:blipFill>
        <p:spPr>
          <a:xfrm>
            <a:off x="8684062" y="2274886"/>
            <a:ext cx="142887" cy="171449"/>
          </a:xfrm>
          <a:prstGeom prst="rect">
            <a:avLst/>
          </a:prstGeom>
        </p:spPr>
      </p:pic>
      <p:pic>
        <p:nvPicPr>
          <p:cNvPr id="29" name="bg object 29"/>
          <p:cNvPicPr/>
          <p:nvPr/>
        </p:nvPicPr>
        <p:blipFill>
          <a:blip r:embed="rId19" cstate="print"/>
          <a:stretch>
            <a:fillRect/>
          </a:stretch>
        </p:blipFill>
        <p:spPr>
          <a:xfrm>
            <a:off x="8617381" y="5595936"/>
            <a:ext cx="104784" cy="152399"/>
          </a:xfrm>
          <a:prstGeom prst="rect">
            <a:avLst/>
          </a:prstGeom>
        </p:spPr>
      </p:pic>
      <p:pic>
        <p:nvPicPr>
          <p:cNvPr id="30" name="bg object 30"/>
          <p:cNvPicPr/>
          <p:nvPr/>
        </p:nvPicPr>
        <p:blipFill>
          <a:blip r:embed="rId20" cstate="print"/>
          <a:stretch>
            <a:fillRect/>
          </a:stretch>
        </p:blipFill>
        <p:spPr>
          <a:xfrm>
            <a:off x="4915821" y="2978587"/>
            <a:ext cx="1112881" cy="3036009"/>
          </a:xfrm>
          <a:prstGeom prst="rect">
            <a:avLst/>
          </a:prstGeom>
        </p:spPr>
      </p:pic>
      <p:pic>
        <p:nvPicPr>
          <p:cNvPr id="31" name="bg object 31"/>
          <p:cNvPicPr/>
          <p:nvPr/>
        </p:nvPicPr>
        <p:blipFill>
          <a:blip r:embed="rId21" cstate="print"/>
          <a:stretch>
            <a:fillRect/>
          </a:stretch>
        </p:blipFill>
        <p:spPr>
          <a:xfrm>
            <a:off x="3857222" y="2971685"/>
            <a:ext cx="1048659" cy="3202213"/>
          </a:xfrm>
          <a:prstGeom prst="rect">
            <a:avLst/>
          </a:prstGeom>
        </p:spPr>
      </p:pic>
      <p:pic>
        <p:nvPicPr>
          <p:cNvPr id="32" name="bg object 32"/>
          <p:cNvPicPr/>
          <p:nvPr/>
        </p:nvPicPr>
        <p:blipFill>
          <a:blip r:embed="rId22" cstate="print"/>
          <a:stretch>
            <a:fillRect/>
          </a:stretch>
        </p:blipFill>
        <p:spPr>
          <a:xfrm>
            <a:off x="4712622" y="2971977"/>
            <a:ext cx="220588" cy="3019068"/>
          </a:xfrm>
          <a:prstGeom prst="rect">
            <a:avLst/>
          </a:prstGeom>
        </p:spPr>
      </p:pic>
      <p:pic>
        <p:nvPicPr>
          <p:cNvPr id="33" name="bg object 33"/>
          <p:cNvPicPr/>
          <p:nvPr/>
        </p:nvPicPr>
        <p:blipFill>
          <a:blip r:embed="rId23" cstate="print"/>
          <a:stretch>
            <a:fillRect/>
          </a:stretch>
        </p:blipFill>
        <p:spPr>
          <a:xfrm>
            <a:off x="4856256" y="2446336"/>
            <a:ext cx="161939" cy="246062"/>
          </a:xfrm>
          <a:prstGeom prst="rect">
            <a:avLst/>
          </a:prstGeom>
        </p:spPr>
      </p:pic>
      <p:pic>
        <p:nvPicPr>
          <p:cNvPr id="34" name="bg object 34"/>
          <p:cNvPicPr/>
          <p:nvPr/>
        </p:nvPicPr>
        <p:blipFill>
          <a:blip r:embed="rId24" cstate="print"/>
          <a:stretch>
            <a:fillRect/>
          </a:stretch>
        </p:blipFill>
        <p:spPr>
          <a:xfrm>
            <a:off x="4856256" y="2682874"/>
            <a:ext cx="142887" cy="152399"/>
          </a:xfrm>
          <a:prstGeom prst="rect">
            <a:avLst/>
          </a:prstGeom>
        </p:spPr>
      </p:pic>
      <p:pic>
        <p:nvPicPr>
          <p:cNvPr id="35" name="bg object 35"/>
          <p:cNvPicPr/>
          <p:nvPr/>
        </p:nvPicPr>
        <p:blipFill>
          <a:blip r:embed="rId25" cstate="print"/>
          <a:stretch>
            <a:fillRect/>
          </a:stretch>
        </p:blipFill>
        <p:spPr>
          <a:xfrm>
            <a:off x="4856256" y="2806699"/>
            <a:ext cx="142887" cy="171449"/>
          </a:xfrm>
          <a:prstGeom prst="rect">
            <a:avLst/>
          </a:prstGeom>
        </p:spPr>
      </p:pic>
      <p:pic>
        <p:nvPicPr>
          <p:cNvPr id="36" name="bg object 36"/>
          <p:cNvPicPr/>
          <p:nvPr/>
        </p:nvPicPr>
        <p:blipFill>
          <a:blip r:embed="rId26" cstate="print"/>
          <a:stretch>
            <a:fillRect/>
          </a:stretch>
        </p:blipFill>
        <p:spPr>
          <a:xfrm>
            <a:off x="4789576" y="1789111"/>
            <a:ext cx="4132632" cy="704849"/>
          </a:xfrm>
          <a:prstGeom prst="rect">
            <a:avLst/>
          </a:prstGeom>
        </p:spPr>
      </p:pic>
      <p:pic>
        <p:nvPicPr>
          <p:cNvPr id="37" name="bg object 37"/>
          <p:cNvPicPr/>
          <p:nvPr/>
        </p:nvPicPr>
        <p:blipFill>
          <a:blip r:embed="rId27" cstate="print"/>
          <a:stretch>
            <a:fillRect/>
          </a:stretch>
        </p:blipFill>
        <p:spPr>
          <a:xfrm>
            <a:off x="4657802" y="5989636"/>
            <a:ext cx="133361" cy="150812"/>
          </a:xfrm>
          <a:prstGeom prst="rect">
            <a:avLst/>
          </a:prstGeom>
        </p:spPr>
      </p:pic>
      <p:pic>
        <p:nvPicPr>
          <p:cNvPr id="38" name="bg object 38"/>
          <p:cNvPicPr/>
          <p:nvPr/>
        </p:nvPicPr>
        <p:blipFill>
          <a:blip r:embed="rId28" cstate="print"/>
          <a:stretch>
            <a:fillRect/>
          </a:stretch>
        </p:blipFill>
        <p:spPr>
          <a:xfrm>
            <a:off x="5999359" y="6146799"/>
            <a:ext cx="142887" cy="171449"/>
          </a:xfrm>
          <a:prstGeom prst="rect">
            <a:avLst/>
          </a:prstGeom>
        </p:spPr>
      </p:pic>
      <p:pic>
        <p:nvPicPr>
          <p:cNvPr id="39" name="bg object 39"/>
          <p:cNvPicPr/>
          <p:nvPr/>
        </p:nvPicPr>
        <p:blipFill>
          <a:blip r:embed="rId29" cstate="print"/>
          <a:stretch>
            <a:fillRect/>
          </a:stretch>
        </p:blipFill>
        <p:spPr>
          <a:xfrm>
            <a:off x="3810000" y="6146799"/>
            <a:ext cx="114310" cy="142874"/>
          </a:xfrm>
          <a:prstGeom prst="rect">
            <a:avLst/>
          </a:prstGeom>
        </p:spPr>
      </p:pic>
      <p:pic>
        <p:nvPicPr>
          <p:cNvPr id="40" name="bg object 40"/>
          <p:cNvPicPr/>
          <p:nvPr/>
        </p:nvPicPr>
        <p:blipFill>
          <a:blip r:embed="rId30" cstate="print"/>
          <a:stretch>
            <a:fillRect/>
          </a:stretch>
        </p:blipFill>
        <p:spPr>
          <a:xfrm>
            <a:off x="3879857" y="6092824"/>
            <a:ext cx="2190945" cy="617537"/>
          </a:xfrm>
          <a:prstGeom prst="rect">
            <a:avLst/>
          </a:prstGeom>
        </p:spPr>
      </p:pic>
      <p:pic>
        <p:nvPicPr>
          <p:cNvPr id="41" name="bg object 41"/>
          <p:cNvPicPr/>
          <p:nvPr/>
        </p:nvPicPr>
        <p:blipFill>
          <a:blip r:embed="rId31" cstate="print"/>
          <a:stretch>
            <a:fillRect/>
          </a:stretch>
        </p:blipFill>
        <p:spPr>
          <a:xfrm>
            <a:off x="3800475" y="6086474"/>
            <a:ext cx="2384638" cy="457199"/>
          </a:xfrm>
          <a:prstGeom prst="rect">
            <a:avLst/>
          </a:prstGeom>
        </p:spPr>
      </p:pic>
      <p:pic>
        <p:nvPicPr>
          <p:cNvPr id="42" name="bg object 42"/>
          <p:cNvPicPr/>
          <p:nvPr/>
        </p:nvPicPr>
        <p:blipFill>
          <a:blip r:embed="rId32" cstate="print"/>
          <a:stretch>
            <a:fillRect/>
          </a:stretch>
        </p:blipFill>
        <p:spPr>
          <a:xfrm>
            <a:off x="3875094" y="6127749"/>
            <a:ext cx="2262390" cy="349249"/>
          </a:xfrm>
          <a:prstGeom prst="rect">
            <a:avLst/>
          </a:prstGeom>
        </p:spPr>
      </p:pic>
      <p:pic>
        <p:nvPicPr>
          <p:cNvPr id="43" name="bg object 43"/>
          <p:cNvPicPr/>
          <p:nvPr/>
        </p:nvPicPr>
        <p:blipFill>
          <a:blip r:embed="rId33" cstate="print"/>
          <a:stretch>
            <a:fillRect/>
          </a:stretch>
        </p:blipFill>
        <p:spPr>
          <a:xfrm>
            <a:off x="5942204" y="6013449"/>
            <a:ext cx="142887" cy="152399"/>
          </a:xfrm>
          <a:prstGeom prst="rect">
            <a:avLst/>
          </a:prstGeom>
        </p:spPr>
      </p:pic>
      <p:pic>
        <p:nvPicPr>
          <p:cNvPr id="44" name="bg object 44"/>
          <p:cNvPicPr/>
          <p:nvPr/>
        </p:nvPicPr>
        <p:blipFill>
          <a:blip r:embed="rId34" cstate="print"/>
          <a:stretch>
            <a:fillRect/>
          </a:stretch>
        </p:blipFill>
        <p:spPr>
          <a:xfrm>
            <a:off x="8607855" y="5719761"/>
            <a:ext cx="114309" cy="171449"/>
          </a:xfrm>
          <a:prstGeom prst="rect">
            <a:avLst/>
          </a:prstGeom>
        </p:spPr>
      </p:pic>
      <p:pic>
        <p:nvPicPr>
          <p:cNvPr id="45" name="bg object 45"/>
          <p:cNvPicPr/>
          <p:nvPr/>
        </p:nvPicPr>
        <p:blipFill>
          <a:blip r:embed="rId35" cstate="print"/>
          <a:stretch>
            <a:fillRect/>
          </a:stretch>
        </p:blipFill>
        <p:spPr>
          <a:xfrm>
            <a:off x="6361341" y="4795836"/>
            <a:ext cx="989101" cy="247649"/>
          </a:xfrm>
          <a:prstGeom prst="rect">
            <a:avLst/>
          </a:prstGeom>
        </p:spPr>
      </p:pic>
      <p:pic>
        <p:nvPicPr>
          <p:cNvPr id="46" name="bg object 46"/>
          <p:cNvPicPr/>
          <p:nvPr/>
        </p:nvPicPr>
        <p:blipFill>
          <a:blip r:embed="rId36" cstate="print"/>
          <a:stretch>
            <a:fillRect/>
          </a:stretch>
        </p:blipFill>
        <p:spPr>
          <a:xfrm>
            <a:off x="6728087" y="2814636"/>
            <a:ext cx="274661" cy="4030662"/>
          </a:xfrm>
          <a:prstGeom prst="rect">
            <a:avLst/>
          </a:prstGeom>
        </p:spPr>
      </p:pic>
      <p:pic>
        <p:nvPicPr>
          <p:cNvPr id="47" name="bg object 47"/>
          <p:cNvPicPr/>
          <p:nvPr/>
        </p:nvPicPr>
        <p:blipFill>
          <a:blip r:embed="rId37" cstate="print"/>
          <a:stretch>
            <a:fillRect/>
          </a:stretch>
        </p:blipFill>
        <p:spPr>
          <a:xfrm>
            <a:off x="6807469" y="2452686"/>
            <a:ext cx="120660" cy="380999"/>
          </a:xfrm>
          <a:prstGeom prst="rect">
            <a:avLst/>
          </a:prstGeom>
        </p:spPr>
      </p:pic>
      <p:pic>
        <p:nvPicPr>
          <p:cNvPr id="48" name="bg object 48"/>
          <p:cNvPicPr/>
          <p:nvPr/>
        </p:nvPicPr>
        <p:blipFill>
          <a:blip r:embed="rId38" cstate="print"/>
          <a:stretch>
            <a:fillRect/>
          </a:stretch>
        </p:blipFill>
        <p:spPr>
          <a:xfrm>
            <a:off x="6699509" y="2767011"/>
            <a:ext cx="325466" cy="82549"/>
          </a:xfrm>
          <a:prstGeom prst="rect">
            <a:avLst/>
          </a:prstGeom>
        </p:spPr>
      </p:pic>
      <p:pic>
        <p:nvPicPr>
          <p:cNvPr id="49" name="bg object 49"/>
          <p:cNvPicPr/>
          <p:nvPr/>
        </p:nvPicPr>
        <p:blipFill>
          <a:blip r:embed="rId39" cstate="print"/>
          <a:stretch>
            <a:fillRect/>
          </a:stretch>
        </p:blipFill>
        <p:spPr>
          <a:xfrm>
            <a:off x="6836046" y="2427286"/>
            <a:ext cx="400085" cy="2501899"/>
          </a:xfrm>
          <a:prstGeom prst="rect">
            <a:avLst/>
          </a:prstGeom>
        </p:spPr>
      </p:pic>
      <p:pic>
        <p:nvPicPr>
          <p:cNvPr id="50" name="bg object 50"/>
          <p:cNvPicPr/>
          <p:nvPr/>
        </p:nvPicPr>
        <p:blipFill>
          <a:blip r:embed="rId40" cstate="print"/>
          <a:stretch>
            <a:fillRect/>
          </a:stretch>
        </p:blipFill>
        <p:spPr>
          <a:xfrm>
            <a:off x="6618540" y="2255836"/>
            <a:ext cx="503282" cy="219074"/>
          </a:xfrm>
          <a:prstGeom prst="rect">
            <a:avLst/>
          </a:prstGeom>
        </p:spPr>
      </p:pic>
      <p:sp>
        <p:nvSpPr>
          <p:cNvPr id="2" name="Holder 2"/>
          <p:cNvSpPr>
            <a:spLocks noGrp="1"/>
          </p:cNvSpPr>
          <p:nvPr>
            <p:ph type="title"/>
          </p:nvPr>
        </p:nvSpPr>
        <p:spPr>
          <a:xfrm>
            <a:off x="1011237" y="15303"/>
            <a:ext cx="5737225" cy="756920"/>
          </a:xfrm>
          <a:prstGeom prst="rect">
            <a:avLst/>
          </a:prstGeom>
        </p:spPr>
        <p:txBody>
          <a:bodyPr wrap="square" lIns="0" tIns="0" rIns="0" bIns="0">
            <a:spAutoFit/>
          </a:bodyPr>
          <a:lstStyle>
            <a:lvl1pPr>
              <a:defRPr sz="4800" b="1" i="0">
                <a:solidFill>
                  <a:schemeClr val="bg1"/>
                </a:solidFill>
                <a:latin typeface="Arial"/>
                <a:cs typeface="Arial"/>
              </a:defRPr>
            </a:lvl1pPr>
          </a:lstStyle>
          <a:p>
            <a:endParaRPr/>
          </a:p>
        </p:txBody>
      </p:sp>
      <p:sp>
        <p:nvSpPr>
          <p:cNvPr id="3" name="Holder 3"/>
          <p:cNvSpPr>
            <a:spLocks noGrp="1"/>
          </p:cNvSpPr>
          <p:nvPr>
            <p:ph type="body" idx="1"/>
          </p:nvPr>
        </p:nvSpPr>
        <p:spPr>
          <a:xfrm>
            <a:off x="457200" y="1577340"/>
            <a:ext cx="822960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pPr/>
              <a:t>5/20/2025</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rPr/>
              <a:pPr/>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0" y="0"/>
            <a:ext cx="9143999" cy="6857999"/>
          </a:xfrm>
          <a:prstGeom prst="rect">
            <a:avLst/>
          </a:prstGeom>
        </p:spPr>
      </p:pic>
      <p:sp>
        <p:nvSpPr>
          <p:cNvPr id="3" name="object 3"/>
          <p:cNvSpPr txBox="1"/>
          <p:nvPr/>
        </p:nvSpPr>
        <p:spPr>
          <a:xfrm>
            <a:off x="411757" y="4344416"/>
            <a:ext cx="8199120" cy="2223770"/>
          </a:xfrm>
          <a:prstGeom prst="rect">
            <a:avLst/>
          </a:prstGeom>
        </p:spPr>
        <p:txBody>
          <a:bodyPr vert="horz" wrap="square" lIns="0" tIns="12700" rIns="0" bIns="0" rtlCol="0">
            <a:spAutoFit/>
          </a:bodyPr>
          <a:lstStyle/>
          <a:p>
            <a:pPr marL="12700">
              <a:lnSpc>
                <a:spcPct val="100000"/>
              </a:lnSpc>
              <a:spcBef>
                <a:spcPts val="100"/>
              </a:spcBef>
            </a:pPr>
            <a:r>
              <a:rPr sz="4800" b="1" spc="-5" dirty="0">
                <a:solidFill>
                  <a:srgbClr val="800000"/>
                </a:solidFill>
                <a:latin typeface="Tahoma"/>
                <a:cs typeface="Tahoma"/>
              </a:rPr>
              <a:t>PROPERTY</a:t>
            </a:r>
            <a:r>
              <a:rPr sz="4800" b="1" spc="-55" dirty="0">
                <a:solidFill>
                  <a:srgbClr val="800000"/>
                </a:solidFill>
                <a:latin typeface="Tahoma"/>
                <a:cs typeface="Tahoma"/>
              </a:rPr>
              <a:t> </a:t>
            </a:r>
            <a:r>
              <a:rPr sz="4800" b="1" spc="-5" dirty="0">
                <a:solidFill>
                  <a:srgbClr val="800000"/>
                </a:solidFill>
                <a:latin typeface="Tahoma"/>
                <a:cs typeface="Tahoma"/>
              </a:rPr>
              <a:t>LAW</a:t>
            </a:r>
            <a:r>
              <a:rPr sz="4800" b="1" spc="-55" dirty="0">
                <a:solidFill>
                  <a:srgbClr val="800000"/>
                </a:solidFill>
                <a:latin typeface="Tahoma"/>
                <a:cs typeface="Tahoma"/>
              </a:rPr>
              <a:t> </a:t>
            </a:r>
            <a:r>
              <a:rPr sz="4800" b="1" spc="-5" dirty="0">
                <a:solidFill>
                  <a:srgbClr val="800000"/>
                </a:solidFill>
                <a:latin typeface="Tahoma"/>
                <a:cs typeface="Tahoma"/>
              </a:rPr>
              <a:t>PRACTICE</a:t>
            </a:r>
            <a:endParaRPr sz="4800">
              <a:latin typeface="Tahoma"/>
              <a:cs typeface="Tahoma"/>
            </a:endParaRPr>
          </a:p>
          <a:p>
            <a:pPr>
              <a:lnSpc>
                <a:spcPct val="100000"/>
              </a:lnSpc>
              <a:spcBef>
                <a:spcPts val="55"/>
              </a:spcBef>
            </a:pPr>
            <a:endParaRPr sz="4750">
              <a:latin typeface="Tahoma"/>
              <a:cs typeface="Tahoma"/>
            </a:endParaRPr>
          </a:p>
          <a:p>
            <a:pPr marL="1401445">
              <a:lnSpc>
                <a:spcPct val="100000"/>
              </a:lnSpc>
            </a:pPr>
            <a:r>
              <a:rPr sz="4800" b="1" spc="-5" dirty="0">
                <a:solidFill>
                  <a:srgbClr val="800000"/>
                </a:solidFill>
                <a:latin typeface="Tahoma"/>
                <a:cs typeface="Tahoma"/>
              </a:rPr>
              <a:t>LEASES</a:t>
            </a:r>
            <a:r>
              <a:rPr sz="4800" b="1" spc="-55" dirty="0">
                <a:solidFill>
                  <a:srgbClr val="800000"/>
                </a:solidFill>
                <a:latin typeface="Tahoma"/>
                <a:cs typeface="Tahoma"/>
              </a:rPr>
              <a:t> </a:t>
            </a:r>
            <a:r>
              <a:rPr sz="4800" b="1" dirty="0">
                <a:solidFill>
                  <a:srgbClr val="800000"/>
                </a:solidFill>
                <a:latin typeface="Tahoma"/>
                <a:cs typeface="Tahoma"/>
              </a:rPr>
              <a:t>1</a:t>
            </a:r>
            <a:endParaRPr sz="4800">
              <a:latin typeface="Tahoma"/>
              <a:cs typeface="Tahom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2700" rIns="0" bIns="0" rtlCol="0">
            <a:spAutoFit/>
          </a:bodyPr>
          <a:lstStyle/>
          <a:p>
            <a:pPr marL="12700">
              <a:lnSpc>
                <a:spcPct val="100000"/>
              </a:lnSpc>
              <a:spcBef>
                <a:spcPts val="100"/>
              </a:spcBef>
            </a:pPr>
            <a:r>
              <a:rPr spc="-10" dirty="0"/>
              <a:t>Learning</a:t>
            </a:r>
            <a:r>
              <a:rPr spc="-100" dirty="0"/>
              <a:t> </a:t>
            </a:r>
            <a:r>
              <a:rPr spc="-5" dirty="0"/>
              <a:t>Outcomes</a:t>
            </a:r>
          </a:p>
        </p:txBody>
      </p:sp>
      <p:sp>
        <p:nvSpPr>
          <p:cNvPr id="3" name="object 3"/>
          <p:cNvSpPr txBox="1"/>
          <p:nvPr/>
        </p:nvSpPr>
        <p:spPr>
          <a:xfrm>
            <a:off x="304800" y="914400"/>
            <a:ext cx="8382000" cy="5992794"/>
          </a:xfrm>
          <a:prstGeom prst="rect">
            <a:avLst/>
          </a:prstGeom>
        </p:spPr>
        <p:txBody>
          <a:bodyPr vert="horz" wrap="square" lIns="0" tIns="90805" rIns="0" bIns="0" rtlCol="0">
            <a:spAutoFit/>
          </a:bodyPr>
          <a:lstStyle/>
          <a:p>
            <a:pPr marL="745490" marR="5080" indent="-609600">
              <a:lnSpc>
                <a:spcPts val="4730"/>
              </a:lnSpc>
              <a:spcBef>
                <a:spcPts val="715"/>
              </a:spcBef>
            </a:pPr>
            <a:r>
              <a:rPr sz="4400" spc="-5" dirty="0">
                <a:solidFill>
                  <a:srgbClr val="FFFFFF"/>
                </a:solidFill>
                <a:latin typeface="Tahoma"/>
                <a:cs typeface="Tahoma"/>
              </a:rPr>
              <a:t>At</a:t>
            </a:r>
            <a:r>
              <a:rPr sz="4400" spc="-25" dirty="0">
                <a:solidFill>
                  <a:srgbClr val="FFFFFF"/>
                </a:solidFill>
                <a:latin typeface="Tahoma"/>
                <a:cs typeface="Tahoma"/>
              </a:rPr>
              <a:t> </a:t>
            </a:r>
            <a:r>
              <a:rPr sz="4400" spc="-5" dirty="0">
                <a:solidFill>
                  <a:srgbClr val="FFFFFF"/>
                </a:solidFill>
                <a:latin typeface="Tahoma"/>
                <a:cs typeface="Tahoma"/>
              </a:rPr>
              <a:t>the</a:t>
            </a:r>
            <a:r>
              <a:rPr sz="4400" spc="-25" dirty="0">
                <a:solidFill>
                  <a:srgbClr val="FFFFFF"/>
                </a:solidFill>
                <a:latin typeface="Tahoma"/>
                <a:cs typeface="Tahoma"/>
              </a:rPr>
              <a:t> </a:t>
            </a:r>
            <a:r>
              <a:rPr sz="4400" spc="-5" dirty="0">
                <a:solidFill>
                  <a:srgbClr val="FFFFFF"/>
                </a:solidFill>
                <a:latin typeface="Tahoma"/>
                <a:cs typeface="Tahoma"/>
              </a:rPr>
              <a:t>end</a:t>
            </a:r>
            <a:r>
              <a:rPr sz="4400" spc="-20" dirty="0">
                <a:solidFill>
                  <a:srgbClr val="FFFFFF"/>
                </a:solidFill>
                <a:latin typeface="Tahoma"/>
                <a:cs typeface="Tahoma"/>
              </a:rPr>
              <a:t> </a:t>
            </a:r>
            <a:r>
              <a:rPr sz="4400" spc="-5" dirty="0">
                <a:solidFill>
                  <a:srgbClr val="FFFFFF"/>
                </a:solidFill>
                <a:latin typeface="Tahoma"/>
                <a:cs typeface="Tahoma"/>
              </a:rPr>
              <a:t>of</a:t>
            </a:r>
            <a:r>
              <a:rPr sz="4400" spc="-30" dirty="0">
                <a:solidFill>
                  <a:srgbClr val="FFFFFF"/>
                </a:solidFill>
                <a:latin typeface="Tahoma"/>
                <a:cs typeface="Tahoma"/>
              </a:rPr>
              <a:t> </a:t>
            </a:r>
            <a:r>
              <a:rPr sz="4400" spc="-5" dirty="0">
                <a:solidFill>
                  <a:srgbClr val="FFFFFF"/>
                </a:solidFill>
                <a:latin typeface="Tahoma"/>
                <a:cs typeface="Tahoma"/>
              </a:rPr>
              <a:t>this</a:t>
            </a:r>
            <a:r>
              <a:rPr sz="4400" spc="-25" dirty="0">
                <a:solidFill>
                  <a:srgbClr val="FFFFFF"/>
                </a:solidFill>
                <a:latin typeface="Tahoma"/>
                <a:cs typeface="Tahoma"/>
              </a:rPr>
              <a:t> </a:t>
            </a:r>
            <a:r>
              <a:rPr sz="4400" spc="-5" dirty="0">
                <a:solidFill>
                  <a:srgbClr val="FFFFFF"/>
                </a:solidFill>
                <a:latin typeface="Tahoma"/>
                <a:cs typeface="Tahoma"/>
              </a:rPr>
              <a:t>lesson,</a:t>
            </a:r>
            <a:r>
              <a:rPr sz="4400" spc="-20" dirty="0">
                <a:solidFill>
                  <a:srgbClr val="FFFFFF"/>
                </a:solidFill>
                <a:latin typeface="Tahoma"/>
                <a:cs typeface="Tahoma"/>
              </a:rPr>
              <a:t> </a:t>
            </a:r>
            <a:r>
              <a:rPr sz="4400" spc="-5" dirty="0">
                <a:solidFill>
                  <a:srgbClr val="FFFFFF"/>
                </a:solidFill>
                <a:latin typeface="Tahoma"/>
                <a:cs typeface="Tahoma"/>
              </a:rPr>
              <a:t>students </a:t>
            </a:r>
            <a:r>
              <a:rPr sz="4400" spc="-1360" dirty="0">
                <a:solidFill>
                  <a:srgbClr val="FFFFFF"/>
                </a:solidFill>
                <a:latin typeface="Tahoma"/>
                <a:cs typeface="Tahoma"/>
              </a:rPr>
              <a:t> </a:t>
            </a:r>
            <a:r>
              <a:rPr sz="4400" spc="-5" dirty="0">
                <a:solidFill>
                  <a:srgbClr val="FFFFFF"/>
                </a:solidFill>
                <a:latin typeface="Tahoma"/>
                <a:cs typeface="Tahoma"/>
              </a:rPr>
              <a:t>will</a:t>
            </a:r>
            <a:r>
              <a:rPr sz="4400" spc="-10" dirty="0">
                <a:solidFill>
                  <a:srgbClr val="FFFFFF"/>
                </a:solidFill>
                <a:latin typeface="Tahoma"/>
                <a:cs typeface="Tahoma"/>
              </a:rPr>
              <a:t> </a:t>
            </a:r>
            <a:r>
              <a:rPr sz="4400" spc="-5" dirty="0">
                <a:solidFill>
                  <a:srgbClr val="FFFFFF"/>
                </a:solidFill>
                <a:latin typeface="Tahoma"/>
                <a:cs typeface="Tahoma"/>
              </a:rPr>
              <a:t>be</a:t>
            </a:r>
            <a:r>
              <a:rPr sz="4400" spc="-15" dirty="0">
                <a:solidFill>
                  <a:srgbClr val="FFFFFF"/>
                </a:solidFill>
                <a:latin typeface="Tahoma"/>
                <a:cs typeface="Tahoma"/>
              </a:rPr>
              <a:t> </a:t>
            </a:r>
            <a:r>
              <a:rPr sz="4400" spc="-10" dirty="0">
                <a:solidFill>
                  <a:srgbClr val="FFFFFF"/>
                </a:solidFill>
                <a:latin typeface="Tahoma"/>
                <a:cs typeface="Tahoma"/>
              </a:rPr>
              <a:t>able</a:t>
            </a:r>
            <a:r>
              <a:rPr sz="4400" spc="-15" dirty="0">
                <a:solidFill>
                  <a:srgbClr val="FFFFFF"/>
                </a:solidFill>
                <a:latin typeface="Tahoma"/>
                <a:cs typeface="Tahoma"/>
              </a:rPr>
              <a:t> </a:t>
            </a:r>
            <a:r>
              <a:rPr sz="4400" spc="-5" dirty="0">
                <a:solidFill>
                  <a:srgbClr val="FFFFFF"/>
                </a:solidFill>
                <a:latin typeface="Tahoma"/>
                <a:cs typeface="Tahoma"/>
              </a:rPr>
              <a:t>to:</a:t>
            </a:r>
            <a:endParaRPr sz="4400" dirty="0">
              <a:latin typeface="Tahoma"/>
              <a:cs typeface="Tahoma"/>
            </a:endParaRPr>
          </a:p>
          <a:p>
            <a:pPr marL="745490" indent="-733425">
              <a:lnSpc>
                <a:spcPct val="100000"/>
              </a:lnSpc>
              <a:spcBef>
                <a:spcPts val="254"/>
              </a:spcBef>
              <a:buClr>
                <a:srgbClr val="FFFF99"/>
              </a:buClr>
              <a:buSzPct val="64772"/>
              <a:buFont typeface="Microsoft Sans Serif"/>
              <a:buAutoNum type="arabicPeriod"/>
              <a:tabLst>
                <a:tab pos="745490" algn="l"/>
                <a:tab pos="746125" algn="l"/>
              </a:tabLst>
            </a:pPr>
            <a:r>
              <a:rPr sz="4400" spc="-5" dirty="0">
                <a:solidFill>
                  <a:srgbClr val="FFFFFF"/>
                </a:solidFill>
                <a:latin typeface="Tahoma"/>
                <a:cs typeface="Tahoma"/>
              </a:rPr>
              <a:t>Define</a:t>
            </a:r>
            <a:r>
              <a:rPr sz="4400" spc="-40" dirty="0">
                <a:solidFill>
                  <a:srgbClr val="FFFFFF"/>
                </a:solidFill>
                <a:latin typeface="Tahoma"/>
                <a:cs typeface="Tahoma"/>
              </a:rPr>
              <a:t> </a:t>
            </a:r>
            <a:r>
              <a:rPr sz="4400" dirty="0">
                <a:solidFill>
                  <a:srgbClr val="FFFFFF"/>
                </a:solidFill>
                <a:latin typeface="Tahoma"/>
                <a:cs typeface="Tahoma"/>
              </a:rPr>
              <a:t>a</a:t>
            </a:r>
            <a:r>
              <a:rPr sz="4400" spc="-45" dirty="0">
                <a:solidFill>
                  <a:srgbClr val="FFFFFF"/>
                </a:solidFill>
                <a:latin typeface="Tahoma"/>
                <a:cs typeface="Tahoma"/>
              </a:rPr>
              <a:t> </a:t>
            </a:r>
            <a:r>
              <a:rPr sz="4400" spc="-5" dirty="0">
                <a:solidFill>
                  <a:srgbClr val="FFFFFF"/>
                </a:solidFill>
                <a:latin typeface="Tahoma"/>
                <a:cs typeface="Tahoma"/>
              </a:rPr>
              <a:t>lease.</a:t>
            </a:r>
            <a:endParaRPr sz="4400" dirty="0">
              <a:latin typeface="Tahoma"/>
              <a:cs typeface="Tahoma"/>
            </a:endParaRPr>
          </a:p>
          <a:p>
            <a:pPr marL="745490" indent="-733425">
              <a:lnSpc>
                <a:spcPct val="100000"/>
              </a:lnSpc>
              <a:spcBef>
                <a:spcPts val="345"/>
              </a:spcBef>
              <a:buClr>
                <a:srgbClr val="FFFF99"/>
              </a:buClr>
              <a:buSzPct val="64772"/>
              <a:buFont typeface="Microsoft Sans Serif"/>
              <a:buAutoNum type="arabicPeriod"/>
              <a:tabLst>
                <a:tab pos="745490" algn="l"/>
                <a:tab pos="746125" algn="l"/>
              </a:tabLst>
            </a:pPr>
            <a:r>
              <a:rPr sz="4400" spc="-5" dirty="0">
                <a:solidFill>
                  <a:srgbClr val="FFFFFF"/>
                </a:solidFill>
                <a:latin typeface="Tahoma"/>
                <a:cs typeface="Tahoma"/>
              </a:rPr>
              <a:t>Identify</a:t>
            </a:r>
            <a:r>
              <a:rPr sz="4400" spc="-25" dirty="0">
                <a:solidFill>
                  <a:srgbClr val="FFFFFF"/>
                </a:solidFill>
                <a:latin typeface="Tahoma"/>
                <a:cs typeface="Tahoma"/>
              </a:rPr>
              <a:t> </a:t>
            </a:r>
            <a:r>
              <a:rPr sz="4400" spc="-10" dirty="0">
                <a:solidFill>
                  <a:srgbClr val="FFFFFF"/>
                </a:solidFill>
                <a:latin typeface="Tahoma"/>
                <a:cs typeface="Tahoma"/>
              </a:rPr>
              <a:t>parties</a:t>
            </a:r>
            <a:r>
              <a:rPr sz="4400" spc="-25" dirty="0">
                <a:solidFill>
                  <a:srgbClr val="FFFFFF"/>
                </a:solidFill>
                <a:latin typeface="Tahoma"/>
                <a:cs typeface="Tahoma"/>
              </a:rPr>
              <a:t> </a:t>
            </a:r>
            <a:r>
              <a:rPr sz="4400" spc="-5" dirty="0">
                <a:solidFill>
                  <a:srgbClr val="FFFFFF"/>
                </a:solidFill>
                <a:latin typeface="Tahoma"/>
                <a:cs typeface="Tahoma"/>
              </a:rPr>
              <a:t>to</a:t>
            </a:r>
            <a:r>
              <a:rPr sz="4400" spc="-25" dirty="0">
                <a:solidFill>
                  <a:srgbClr val="FFFFFF"/>
                </a:solidFill>
                <a:latin typeface="Tahoma"/>
                <a:cs typeface="Tahoma"/>
              </a:rPr>
              <a:t> </a:t>
            </a:r>
            <a:r>
              <a:rPr sz="4400" dirty="0">
                <a:solidFill>
                  <a:srgbClr val="FFFFFF"/>
                </a:solidFill>
                <a:latin typeface="Tahoma"/>
                <a:cs typeface="Tahoma"/>
              </a:rPr>
              <a:t>a</a:t>
            </a:r>
            <a:r>
              <a:rPr sz="4400" spc="-30" dirty="0">
                <a:solidFill>
                  <a:srgbClr val="FFFFFF"/>
                </a:solidFill>
                <a:latin typeface="Tahoma"/>
                <a:cs typeface="Tahoma"/>
              </a:rPr>
              <a:t> </a:t>
            </a:r>
            <a:r>
              <a:rPr sz="4400" spc="-5" dirty="0">
                <a:solidFill>
                  <a:srgbClr val="FFFFFF"/>
                </a:solidFill>
                <a:latin typeface="Tahoma"/>
                <a:cs typeface="Tahoma"/>
              </a:rPr>
              <a:t>lease.</a:t>
            </a:r>
            <a:endParaRPr sz="4400" dirty="0">
              <a:latin typeface="Tahoma"/>
              <a:cs typeface="Tahoma"/>
            </a:endParaRPr>
          </a:p>
          <a:p>
            <a:pPr marL="745490" marR="767080" indent="-733425">
              <a:lnSpc>
                <a:spcPts val="4740"/>
              </a:lnSpc>
              <a:spcBef>
                <a:spcPts val="950"/>
              </a:spcBef>
              <a:buClr>
                <a:srgbClr val="FFFF99"/>
              </a:buClr>
              <a:buSzPct val="64772"/>
              <a:buFont typeface="Microsoft Sans Serif"/>
              <a:buAutoNum type="arabicPeriod"/>
              <a:tabLst>
                <a:tab pos="745490" algn="l"/>
                <a:tab pos="746125" algn="l"/>
              </a:tabLst>
            </a:pPr>
            <a:r>
              <a:rPr sz="4400" spc="-5" dirty="0">
                <a:solidFill>
                  <a:srgbClr val="FFFFFF"/>
                </a:solidFill>
                <a:latin typeface="Tahoma"/>
                <a:cs typeface="Tahoma"/>
              </a:rPr>
              <a:t>List</a:t>
            </a:r>
            <a:r>
              <a:rPr sz="4400" spc="-30" dirty="0">
                <a:solidFill>
                  <a:srgbClr val="FFFFFF"/>
                </a:solidFill>
                <a:latin typeface="Tahoma"/>
                <a:cs typeface="Tahoma"/>
              </a:rPr>
              <a:t> </a:t>
            </a:r>
            <a:r>
              <a:rPr sz="4400" spc="-10" dirty="0">
                <a:solidFill>
                  <a:srgbClr val="FFFFFF"/>
                </a:solidFill>
                <a:latin typeface="Tahoma"/>
                <a:cs typeface="Tahoma"/>
              </a:rPr>
              <a:t>and</a:t>
            </a:r>
            <a:r>
              <a:rPr sz="4400" spc="-35" dirty="0">
                <a:solidFill>
                  <a:srgbClr val="FFFFFF"/>
                </a:solidFill>
                <a:latin typeface="Tahoma"/>
                <a:cs typeface="Tahoma"/>
              </a:rPr>
              <a:t> </a:t>
            </a:r>
            <a:r>
              <a:rPr sz="4400" spc="-5" dirty="0">
                <a:solidFill>
                  <a:srgbClr val="FFFFFF"/>
                </a:solidFill>
                <a:latin typeface="Tahoma"/>
                <a:cs typeface="Tahoma"/>
              </a:rPr>
              <a:t>explain</a:t>
            </a:r>
            <a:r>
              <a:rPr sz="4400" spc="-30" dirty="0">
                <a:solidFill>
                  <a:srgbClr val="FFFFFF"/>
                </a:solidFill>
                <a:latin typeface="Tahoma"/>
                <a:cs typeface="Tahoma"/>
              </a:rPr>
              <a:t> </a:t>
            </a:r>
            <a:r>
              <a:rPr sz="4400" spc="-5" dirty="0">
                <a:solidFill>
                  <a:srgbClr val="FFFFFF"/>
                </a:solidFill>
                <a:latin typeface="Tahoma"/>
                <a:cs typeface="Tahoma"/>
              </a:rPr>
              <a:t>the</a:t>
            </a:r>
            <a:r>
              <a:rPr sz="4400" spc="-25" dirty="0">
                <a:solidFill>
                  <a:srgbClr val="FFFFFF"/>
                </a:solidFill>
                <a:latin typeface="Tahoma"/>
                <a:cs typeface="Tahoma"/>
              </a:rPr>
              <a:t> </a:t>
            </a:r>
            <a:r>
              <a:rPr sz="4400" spc="-10" dirty="0">
                <a:solidFill>
                  <a:srgbClr val="FFFFFF"/>
                </a:solidFill>
                <a:latin typeface="Tahoma"/>
                <a:cs typeface="Tahoma"/>
              </a:rPr>
              <a:t>different </a:t>
            </a:r>
            <a:r>
              <a:rPr sz="4400" spc="-1360" dirty="0">
                <a:solidFill>
                  <a:srgbClr val="FFFFFF"/>
                </a:solidFill>
                <a:latin typeface="Tahoma"/>
                <a:cs typeface="Tahoma"/>
              </a:rPr>
              <a:t> </a:t>
            </a:r>
            <a:r>
              <a:rPr sz="4400" spc="-5" dirty="0">
                <a:solidFill>
                  <a:srgbClr val="FFFFFF"/>
                </a:solidFill>
                <a:latin typeface="Tahoma"/>
                <a:cs typeface="Tahoma"/>
              </a:rPr>
              <a:t>types</a:t>
            </a:r>
            <a:r>
              <a:rPr sz="4400" spc="-15" dirty="0">
                <a:solidFill>
                  <a:srgbClr val="FFFFFF"/>
                </a:solidFill>
                <a:latin typeface="Tahoma"/>
                <a:cs typeface="Tahoma"/>
              </a:rPr>
              <a:t> </a:t>
            </a:r>
            <a:r>
              <a:rPr sz="4400" spc="-5" dirty="0">
                <a:solidFill>
                  <a:srgbClr val="FFFFFF"/>
                </a:solidFill>
                <a:latin typeface="Tahoma"/>
                <a:cs typeface="Tahoma"/>
              </a:rPr>
              <a:t>of</a:t>
            </a:r>
            <a:r>
              <a:rPr sz="4400" spc="-20" dirty="0">
                <a:solidFill>
                  <a:srgbClr val="FFFFFF"/>
                </a:solidFill>
                <a:latin typeface="Tahoma"/>
                <a:cs typeface="Tahoma"/>
              </a:rPr>
              <a:t> </a:t>
            </a:r>
            <a:r>
              <a:rPr sz="4400" spc="-5" dirty="0">
                <a:solidFill>
                  <a:srgbClr val="FFFFFF"/>
                </a:solidFill>
                <a:latin typeface="Tahoma"/>
                <a:cs typeface="Tahoma"/>
              </a:rPr>
              <a:t>leases.</a:t>
            </a:r>
            <a:endParaRPr sz="4400" dirty="0">
              <a:latin typeface="Tahoma"/>
              <a:cs typeface="Tahoma"/>
            </a:endParaRPr>
          </a:p>
          <a:p>
            <a:pPr marL="745490" marR="178435" indent="-733425" algn="just">
              <a:lnSpc>
                <a:spcPct val="89700"/>
              </a:lnSpc>
              <a:spcBef>
                <a:spcPts val="805"/>
              </a:spcBef>
              <a:buClr>
                <a:srgbClr val="FFFF99"/>
              </a:buClr>
              <a:buSzPct val="64772"/>
              <a:buFont typeface="Microsoft Sans Serif"/>
              <a:buAutoNum type="arabicPeriod"/>
              <a:tabLst>
                <a:tab pos="746125" algn="l"/>
              </a:tabLst>
            </a:pPr>
            <a:r>
              <a:rPr sz="4400" spc="-5" dirty="0">
                <a:solidFill>
                  <a:srgbClr val="FFFFFF"/>
                </a:solidFill>
                <a:latin typeface="Tahoma"/>
                <a:cs typeface="Tahoma"/>
              </a:rPr>
              <a:t>State the </a:t>
            </a:r>
            <a:r>
              <a:rPr sz="4400" spc="-10" dirty="0">
                <a:solidFill>
                  <a:srgbClr val="FFFFFF"/>
                </a:solidFill>
                <a:latin typeface="Tahoma"/>
                <a:cs typeface="Tahoma"/>
              </a:rPr>
              <a:t>difference between </a:t>
            </a:r>
            <a:r>
              <a:rPr sz="4400" dirty="0">
                <a:solidFill>
                  <a:srgbClr val="FFFFFF"/>
                </a:solidFill>
                <a:latin typeface="Tahoma"/>
                <a:cs typeface="Tahoma"/>
              </a:rPr>
              <a:t>a </a:t>
            </a:r>
            <a:r>
              <a:rPr sz="4400" spc="-1360" dirty="0">
                <a:solidFill>
                  <a:srgbClr val="FFFFFF"/>
                </a:solidFill>
                <a:latin typeface="Tahoma"/>
                <a:cs typeface="Tahoma"/>
              </a:rPr>
              <a:t> </a:t>
            </a:r>
            <a:r>
              <a:rPr sz="4400" spc="-5" dirty="0">
                <a:solidFill>
                  <a:srgbClr val="FFFFFF"/>
                </a:solidFill>
                <a:latin typeface="Tahoma"/>
                <a:cs typeface="Tahoma"/>
              </a:rPr>
              <a:t>lease</a:t>
            </a:r>
            <a:r>
              <a:rPr sz="4400" spc="-25" dirty="0">
                <a:solidFill>
                  <a:srgbClr val="FFFFFF"/>
                </a:solidFill>
                <a:latin typeface="Tahoma"/>
                <a:cs typeface="Tahoma"/>
              </a:rPr>
              <a:t> </a:t>
            </a:r>
            <a:r>
              <a:rPr sz="4400" spc="-10" dirty="0">
                <a:solidFill>
                  <a:srgbClr val="FFFFFF"/>
                </a:solidFill>
                <a:latin typeface="Tahoma"/>
                <a:cs typeface="Tahoma"/>
              </a:rPr>
              <a:t>and</a:t>
            </a:r>
            <a:r>
              <a:rPr sz="4400" spc="-30" dirty="0">
                <a:solidFill>
                  <a:srgbClr val="FFFFFF"/>
                </a:solidFill>
                <a:latin typeface="Tahoma"/>
                <a:cs typeface="Tahoma"/>
              </a:rPr>
              <a:t> </a:t>
            </a:r>
            <a:r>
              <a:rPr sz="4400" spc="-5" dirty="0">
                <a:solidFill>
                  <a:srgbClr val="FFFFFF"/>
                </a:solidFill>
                <a:latin typeface="Tahoma"/>
                <a:cs typeface="Tahoma"/>
              </a:rPr>
              <a:t>an</a:t>
            </a:r>
            <a:r>
              <a:rPr sz="4400" spc="-25" dirty="0">
                <a:solidFill>
                  <a:srgbClr val="FFFFFF"/>
                </a:solidFill>
                <a:latin typeface="Tahoma"/>
                <a:cs typeface="Tahoma"/>
              </a:rPr>
              <a:t> </a:t>
            </a:r>
            <a:r>
              <a:rPr sz="4400" spc="-10" dirty="0">
                <a:solidFill>
                  <a:srgbClr val="FFFFFF"/>
                </a:solidFill>
                <a:latin typeface="Tahoma"/>
                <a:cs typeface="Tahoma"/>
              </a:rPr>
              <a:t>assignment</a:t>
            </a:r>
            <a:r>
              <a:rPr sz="4400" spc="-30" dirty="0">
                <a:solidFill>
                  <a:srgbClr val="FFFFFF"/>
                </a:solidFill>
                <a:latin typeface="Tahoma"/>
                <a:cs typeface="Tahoma"/>
              </a:rPr>
              <a:t> </a:t>
            </a:r>
            <a:r>
              <a:rPr sz="4400" spc="-10" dirty="0">
                <a:solidFill>
                  <a:srgbClr val="FFFFFF"/>
                </a:solidFill>
                <a:latin typeface="Tahoma"/>
                <a:cs typeface="Tahoma"/>
              </a:rPr>
              <a:t>and</a:t>
            </a:r>
            <a:r>
              <a:rPr sz="4400" spc="-25" dirty="0">
                <a:solidFill>
                  <a:srgbClr val="FFFFFF"/>
                </a:solidFill>
                <a:latin typeface="Tahoma"/>
                <a:cs typeface="Tahoma"/>
              </a:rPr>
              <a:t> </a:t>
            </a:r>
            <a:r>
              <a:rPr sz="4400" dirty="0">
                <a:solidFill>
                  <a:srgbClr val="FFFFFF"/>
                </a:solidFill>
                <a:latin typeface="Tahoma"/>
                <a:cs typeface="Tahoma"/>
              </a:rPr>
              <a:t>a </a:t>
            </a:r>
            <a:r>
              <a:rPr sz="4400" spc="-1365" dirty="0">
                <a:solidFill>
                  <a:srgbClr val="FFFFFF"/>
                </a:solidFill>
                <a:latin typeface="Tahoma"/>
                <a:cs typeface="Tahoma"/>
              </a:rPr>
              <a:t> </a:t>
            </a:r>
            <a:r>
              <a:rPr sz="4400" spc="-5" dirty="0">
                <a:solidFill>
                  <a:srgbClr val="FFFFFF"/>
                </a:solidFill>
                <a:latin typeface="Tahoma"/>
                <a:cs typeface="Tahoma"/>
              </a:rPr>
              <a:t>licence.</a:t>
            </a:r>
            <a:endParaRPr sz="4400" dirty="0">
              <a:latin typeface="Tahoma"/>
              <a:cs typeface="Tahoma"/>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4181" y="765047"/>
            <a:ext cx="8460740" cy="4925060"/>
          </a:xfrm>
          <a:prstGeom prst="rect">
            <a:avLst/>
          </a:prstGeom>
        </p:spPr>
        <p:txBody>
          <a:bodyPr vert="horz" wrap="square" lIns="0" tIns="38100" rIns="0" bIns="0" rtlCol="0">
            <a:spAutoFit/>
          </a:bodyPr>
          <a:lstStyle/>
          <a:p>
            <a:pPr marL="876300" marR="354330" indent="-864235" algn="just">
              <a:lnSpc>
                <a:spcPts val="5250"/>
              </a:lnSpc>
              <a:spcBef>
                <a:spcPts val="300"/>
              </a:spcBef>
              <a:buClr>
                <a:srgbClr val="FFFF99"/>
              </a:buClr>
              <a:buSzPct val="64772"/>
              <a:buFont typeface="Arial MT"/>
              <a:buAutoNum type="arabicPeriod" startAt="5"/>
              <a:tabLst>
                <a:tab pos="876935" algn="l"/>
              </a:tabLst>
            </a:pPr>
            <a:r>
              <a:rPr sz="4400" spc="-5" dirty="0">
                <a:solidFill>
                  <a:srgbClr val="FFFFFF"/>
                </a:solidFill>
                <a:latin typeface="Tahoma"/>
                <a:cs typeface="Tahoma"/>
              </a:rPr>
              <a:t>State</a:t>
            </a:r>
            <a:r>
              <a:rPr sz="4400" spc="-25" dirty="0">
                <a:solidFill>
                  <a:srgbClr val="FFFFFF"/>
                </a:solidFill>
                <a:latin typeface="Tahoma"/>
                <a:cs typeface="Tahoma"/>
              </a:rPr>
              <a:t> </a:t>
            </a:r>
            <a:r>
              <a:rPr sz="4400" spc="-5" dirty="0">
                <a:solidFill>
                  <a:srgbClr val="FFFFFF"/>
                </a:solidFill>
                <a:latin typeface="Tahoma"/>
                <a:cs typeface="Tahoma"/>
              </a:rPr>
              <a:t>the</a:t>
            </a:r>
            <a:r>
              <a:rPr sz="4400" spc="-25" dirty="0">
                <a:solidFill>
                  <a:srgbClr val="FFFFFF"/>
                </a:solidFill>
                <a:latin typeface="Tahoma"/>
                <a:cs typeface="Tahoma"/>
              </a:rPr>
              <a:t> </a:t>
            </a:r>
            <a:r>
              <a:rPr sz="4400" spc="-5" dirty="0">
                <a:solidFill>
                  <a:srgbClr val="FFFFFF"/>
                </a:solidFill>
                <a:latin typeface="Tahoma"/>
                <a:cs typeface="Tahoma"/>
              </a:rPr>
              <a:t>essentials</a:t>
            </a:r>
            <a:r>
              <a:rPr sz="4400" spc="-30" dirty="0">
                <a:solidFill>
                  <a:srgbClr val="FFFFFF"/>
                </a:solidFill>
                <a:latin typeface="Tahoma"/>
                <a:cs typeface="Tahoma"/>
              </a:rPr>
              <a:t> </a:t>
            </a:r>
            <a:r>
              <a:rPr sz="4400" spc="-5" dirty="0">
                <a:solidFill>
                  <a:srgbClr val="FFFFFF"/>
                </a:solidFill>
                <a:latin typeface="Tahoma"/>
                <a:cs typeface="Tahoma"/>
              </a:rPr>
              <a:t>of</a:t>
            </a:r>
            <a:r>
              <a:rPr sz="4400" spc="-30" dirty="0">
                <a:solidFill>
                  <a:srgbClr val="FFFFFF"/>
                </a:solidFill>
                <a:latin typeface="Tahoma"/>
                <a:cs typeface="Tahoma"/>
              </a:rPr>
              <a:t> </a:t>
            </a:r>
            <a:r>
              <a:rPr sz="4400" dirty="0">
                <a:solidFill>
                  <a:srgbClr val="FFFFFF"/>
                </a:solidFill>
                <a:latin typeface="Tahoma"/>
                <a:cs typeface="Tahoma"/>
              </a:rPr>
              <a:t>a</a:t>
            </a:r>
            <a:r>
              <a:rPr sz="4400" spc="-30" dirty="0">
                <a:solidFill>
                  <a:srgbClr val="FFFFFF"/>
                </a:solidFill>
                <a:latin typeface="Tahoma"/>
                <a:cs typeface="Tahoma"/>
              </a:rPr>
              <a:t> </a:t>
            </a:r>
            <a:r>
              <a:rPr sz="4400" spc="-5" dirty="0">
                <a:solidFill>
                  <a:srgbClr val="FFFFFF"/>
                </a:solidFill>
                <a:latin typeface="Tahoma"/>
                <a:cs typeface="Tahoma"/>
              </a:rPr>
              <a:t>valid </a:t>
            </a:r>
            <a:r>
              <a:rPr sz="4400" spc="-1365" dirty="0">
                <a:solidFill>
                  <a:srgbClr val="FFFFFF"/>
                </a:solidFill>
                <a:latin typeface="Tahoma"/>
                <a:cs typeface="Tahoma"/>
              </a:rPr>
              <a:t> </a:t>
            </a:r>
            <a:r>
              <a:rPr sz="4400" spc="-5" dirty="0">
                <a:solidFill>
                  <a:srgbClr val="FFFFFF"/>
                </a:solidFill>
                <a:latin typeface="Tahoma"/>
                <a:cs typeface="Tahoma"/>
              </a:rPr>
              <a:t>lease.</a:t>
            </a:r>
            <a:endParaRPr sz="4400" dirty="0">
              <a:latin typeface="Tahoma"/>
              <a:cs typeface="Tahoma"/>
            </a:endParaRPr>
          </a:p>
          <a:p>
            <a:pPr marL="876300" marR="57785" indent="-864235" algn="just">
              <a:lnSpc>
                <a:spcPct val="100000"/>
              </a:lnSpc>
              <a:spcBef>
                <a:spcPts val="680"/>
              </a:spcBef>
              <a:buClr>
                <a:srgbClr val="FFFF99"/>
              </a:buClr>
              <a:buSzPct val="64772"/>
              <a:buFont typeface="Arial MT"/>
              <a:buAutoNum type="arabicPeriod" startAt="5"/>
              <a:tabLst>
                <a:tab pos="876935" algn="l"/>
              </a:tabLst>
            </a:pPr>
            <a:r>
              <a:rPr sz="4400" spc="-10" dirty="0">
                <a:solidFill>
                  <a:srgbClr val="FFFFFF"/>
                </a:solidFill>
                <a:latin typeface="Tahoma"/>
                <a:cs typeface="Tahoma"/>
              </a:rPr>
              <a:t>Apply</a:t>
            </a:r>
            <a:r>
              <a:rPr sz="4400" spc="-25" dirty="0">
                <a:solidFill>
                  <a:srgbClr val="FFFFFF"/>
                </a:solidFill>
                <a:latin typeface="Tahoma"/>
                <a:cs typeface="Tahoma"/>
              </a:rPr>
              <a:t> </a:t>
            </a:r>
            <a:r>
              <a:rPr sz="4400" spc="-10" dirty="0">
                <a:solidFill>
                  <a:srgbClr val="FFFFFF"/>
                </a:solidFill>
                <a:latin typeface="Tahoma"/>
                <a:cs typeface="Tahoma"/>
              </a:rPr>
              <a:t>principles</a:t>
            </a:r>
            <a:r>
              <a:rPr sz="4400" spc="-20" dirty="0">
                <a:solidFill>
                  <a:srgbClr val="FFFFFF"/>
                </a:solidFill>
                <a:latin typeface="Tahoma"/>
                <a:cs typeface="Tahoma"/>
              </a:rPr>
              <a:t> </a:t>
            </a:r>
            <a:r>
              <a:rPr sz="4400" spc="-5" dirty="0">
                <a:solidFill>
                  <a:srgbClr val="FFFFFF"/>
                </a:solidFill>
                <a:latin typeface="Tahoma"/>
                <a:cs typeface="Tahoma"/>
              </a:rPr>
              <a:t>of</a:t>
            </a:r>
            <a:r>
              <a:rPr sz="4400" spc="-25" dirty="0">
                <a:solidFill>
                  <a:srgbClr val="FFFFFF"/>
                </a:solidFill>
                <a:latin typeface="Tahoma"/>
                <a:cs typeface="Tahoma"/>
              </a:rPr>
              <a:t> </a:t>
            </a:r>
            <a:r>
              <a:rPr sz="4400" dirty="0">
                <a:solidFill>
                  <a:srgbClr val="FFFFFF"/>
                </a:solidFill>
                <a:latin typeface="Tahoma"/>
                <a:cs typeface="Tahoma"/>
              </a:rPr>
              <a:t>a</a:t>
            </a:r>
            <a:r>
              <a:rPr sz="4400" spc="-30" dirty="0">
                <a:solidFill>
                  <a:srgbClr val="FFFFFF"/>
                </a:solidFill>
                <a:latin typeface="Tahoma"/>
                <a:cs typeface="Tahoma"/>
              </a:rPr>
              <a:t> </a:t>
            </a:r>
            <a:r>
              <a:rPr sz="4400" spc="-5" dirty="0">
                <a:solidFill>
                  <a:srgbClr val="FFFFFF"/>
                </a:solidFill>
                <a:latin typeface="Tahoma"/>
                <a:cs typeface="Tahoma"/>
              </a:rPr>
              <a:t>lease</a:t>
            </a:r>
            <a:r>
              <a:rPr sz="4400" spc="-20" dirty="0">
                <a:solidFill>
                  <a:srgbClr val="FFFFFF"/>
                </a:solidFill>
                <a:latin typeface="Tahoma"/>
                <a:cs typeface="Tahoma"/>
              </a:rPr>
              <a:t> </a:t>
            </a:r>
            <a:r>
              <a:rPr sz="4400" spc="-5" dirty="0">
                <a:solidFill>
                  <a:srgbClr val="FFFFFF"/>
                </a:solidFill>
                <a:latin typeface="Tahoma"/>
                <a:cs typeface="Tahoma"/>
              </a:rPr>
              <a:t>to</a:t>
            </a:r>
            <a:r>
              <a:rPr sz="4400" spc="-20" dirty="0">
                <a:solidFill>
                  <a:srgbClr val="FFFFFF"/>
                </a:solidFill>
                <a:latin typeface="Tahoma"/>
                <a:cs typeface="Tahoma"/>
              </a:rPr>
              <a:t> </a:t>
            </a:r>
            <a:r>
              <a:rPr sz="4400" dirty="0">
                <a:solidFill>
                  <a:srgbClr val="FFFFFF"/>
                </a:solidFill>
                <a:latin typeface="Tahoma"/>
                <a:cs typeface="Tahoma"/>
              </a:rPr>
              <a:t>a </a:t>
            </a:r>
            <a:r>
              <a:rPr sz="4400" spc="-1365" dirty="0">
                <a:solidFill>
                  <a:srgbClr val="FFFFFF"/>
                </a:solidFill>
                <a:latin typeface="Tahoma"/>
                <a:cs typeface="Tahoma"/>
              </a:rPr>
              <a:t> </a:t>
            </a:r>
            <a:r>
              <a:rPr sz="4400" spc="-10" dirty="0">
                <a:solidFill>
                  <a:srgbClr val="FFFFFF"/>
                </a:solidFill>
                <a:latin typeface="Tahoma"/>
                <a:cs typeface="Tahoma"/>
              </a:rPr>
              <a:t>given</a:t>
            </a:r>
            <a:r>
              <a:rPr sz="4400" spc="-15" dirty="0">
                <a:solidFill>
                  <a:srgbClr val="FFFFFF"/>
                </a:solidFill>
                <a:latin typeface="Tahoma"/>
                <a:cs typeface="Tahoma"/>
              </a:rPr>
              <a:t> </a:t>
            </a:r>
            <a:r>
              <a:rPr sz="4400" spc="-5" dirty="0">
                <a:solidFill>
                  <a:srgbClr val="FFFFFF"/>
                </a:solidFill>
                <a:latin typeface="Tahoma"/>
                <a:cs typeface="Tahoma"/>
              </a:rPr>
              <a:t>case.</a:t>
            </a:r>
            <a:endParaRPr sz="4400" dirty="0">
              <a:latin typeface="Tahoma"/>
              <a:cs typeface="Tahoma"/>
            </a:endParaRPr>
          </a:p>
          <a:p>
            <a:pPr marL="876300" marR="5080" indent="-864235" algn="just">
              <a:lnSpc>
                <a:spcPct val="99600"/>
              </a:lnSpc>
              <a:spcBef>
                <a:spcPts val="860"/>
              </a:spcBef>
              <a:buClr>
                <a:srgbClr val="FFFF99"/>
              </a:buClr>
              <a:buSzPct val="64772"/>
              <a:buFont typeface="Arial MT"/>
              <a:buAutoNum type="arabicPeriod" startAt="5"/>
              <a:tabLst>
                <a:tab pos="876935" algn="l"/>
              </a:tabLst>
            </a:pPr>
            <a:r>
              <a:rPr sz="4400" spc="-5" dirty="0">
                <a:solidFill>
                  <a:srgbClr val="FFFFFF"/>
                </a:solidFill>
                <a:latin typeface="Tahoma"/>
                <a:cs typeface="Tahoma"/>
              </a:rPr>
              <a:t>Mention</a:t>
            </a:r>
            <a:r>
              <a:rPr sz="4400" spc="-25" dirty="0">
                <a:solidFill>
                  <a:srgbClr val="FFFFFF"/>
                </a:solidFill>
                <a:latin typeface="Tahoma"/>
                <a:cs typeface="Tahoma"/>
              </a:rPr>
              <a:t> </a:t>
            </a:r>
            <a:r>
              <a:rPr sz="4400" spc="-5" dirty="0">
                <a:solidFill>
                  <a:srgbClr val="FFFFFF"/>
                </a:solidFill>
                <a:latin typeface="Tahoma"/>
                <a:cs typeface="Tahoma"/>
              </a:rPr>
              <a:t>types</a:t>
            </a:r>
            <a:r>
              <a:rPr sz="4400" spc="-25" dirty="0">
                <a:solidFill>
                  <a:srgbClr val="FFFFFF"/>
                </a:solidFill>
                <a:latin typeface="Tahoma"/>
                <a:cs typeface="Tahoma"/>
              </a:rPr>
              <a:t> </a:t>
            </a:r>
            <a:r>
              <a:rPr sz="4400" spc="-5" dirty="0">
                <a:solidFill>
                  <a:srgbClr val="FFFFFF"/>
                </a:solidFill>
                <a:latin typeface="Tahoma"/>
                <a:cs typeface="Tahoma"/>
              </a:rPr>
              <a:t>of</a:t>
            </a:r>
            <a:r>
              <a:rPr sz="4400" spc="-30" dirty="0">
                <a:solidFill>
                  <a:srgbClr val="FFFFFF"/>
                </a:solidFill>
                <a:latin typeface="Tahoma"/>
                <a:cs typeface="Tahoma"/>
              </a:rPr>
              <a:t> </a:t>
            </a:r>
            <a:r>
              <a:rPr sz="4400" spc="-5" dirty="0">
                <a:solidFill>
                  <a:srgbClr val="FFFFFF"/>
                </a:solidFill>
                <a:latin typeface="Tahoma"/>
                <a:cs typeface="Tahoma"/>
              </a:rPr>
              <a:t>rents</a:t>
            </a:r>
            <a:r>
              <a:rPr sz="4400" spc="-25" dirty="0">
                <a:solidFill>
                  <a:srgbClr val="FFFFFF"/>
                </a:solidFill>
                <a:latin typeface="Tahoma"/>
                <a:cs typeface="Tahoma"/>
              </a:rPr>
              <a:t> </a:t>
            </a:r>
            <a:r>
              <a:rPr sz="4400" spc="-10" dirty="0">
                <a:solidFill>
                  <a:srgbClr val="FFFFFF"/>
                </a:solidFill>
                <a:latin typeface="Tahoma"/>
                <a:cs typeface="Tahoma"/>
              </a:rPr>
              <a:t>and</a:t>
            </a:r>
            <a:r>
              <a:rPr sz="4400" spc="-30" dirty="0">
                <a:solidFill>
                  <a:srgbClr val="FFFFFF"/>
                </a:solidFill>
                <a:latin typeface="Tahoma"/>
                <a:cs typeface="Tahoma"/>
              </a:rPr>
              <a:t> </a:t>
            </a:r>
            <a:r>
              <a:rPr sz="4400" spc="-5" dirty="0">
                <a:solidFill>
                  <a:srgbClr val="FFFFFF"/>
                </a:solidFill>
                <a:latin typeface="Tahoma"/>
                <a:cs typeface="Tahoma"/>
              </a:rPr>
              <a:t>the </a:t>
            </a:r>
            <a:r>
              <a:rPr sz="4400" spc="-1365" dirty="0">
                <a:solidFill>
                  <a:srgbClr val="FFFFFF"/>
                </a:solidFill>
                <a:latin typeface="Tahoma"/>
                <a:cs typeface="Tahoma"/>
              </a:rPr>
              <a:t> </a:t>
            </a:r>
            <a:r>
              <a:rPr sz="4400" spc="-5" dirty="0">
                <a:solidFill>
                  <a:srgbClr val="FFFFFF"/>
                </a:solidFill>
                <a:latin typeface="Tahoma"/>
                <a:cs typeface="Tahoma"/>
              </a:rPr>
              <a:t>factors to consider when fixing </a:t>
            </a:r>
            <a:r>
              <a:rPr sz="4400" spc="-1360" dirty="0">
                <a:solidFill>
                  <a:srgbClr val="FFFFFF"/>
                </a:solidFill>
                <a:latin typeface="Tahoma"/>
                <a:cs typeface="Tahoma"/>
              </a:rPr>
              <a:t> </a:t>
            </a:r>
            <a:r>
              <a:rPr sz="4400" spc="-5" dirty="0">
                <a:solidFill>
                  <a:srgbClr val="FFFFFF"/>
                </a:solidFill>
                <a:latin typeface="Tahoma"/>
                <a:cs typeface="Tahoma"/>
              </a:rPr>
              <a:t>rent.</a:t>
            </a:r>
            <a:endParaRPr sz="4400" dirty="0">
              <a:latin typeface="Tahoma"/>
              <a:cs typeface="Tahom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04181" y="917447"/>
            <a:ext cx="7937500" cy="1362710"/>
          </a:xfrm>
          <a:prstGeom prst="rect">
            <a:avLst/>
          </a:prstGeom>
        </p:spPr>
        <p:txBody>
          <a:bodyPr vert="horz" wrap="square" lIns="0" tIns="29209" rIns="0" bIns="0" rtlCol="0">
            <a:spAutoFit/>
          </a:bodyPr>
          <a:lstStyle/>
          <a:p>
            <a:pPr marL="876300" marR="5080" indent="-864235">
              <a:lnSpc>
                <a:spcPts val="5250"/>
              </a:lnSpc>
              <a:spcBef>
                <a:spcPts val="229"/>
              </a:spcBef>
              <a:tabLst>
                <a:tab pos="876300" algn="l"/>
              </a:tabLst>
            </a:pPr>
            <a:r>
              <a:rPr sz="2850" dirty="0">
                <a:solidFill>
                  <a:srgbClr val="FFFFCC"/>
                </a:solidFill>
                <a:latin typeface="Arial MT"/>
                <a:cs typeface="Arial MT"/>
              </a:rPr>
              <a:t>8.	</a:t>
            </a:r>
            <a:r>
              <a:rPr sz="4400" spc="-5" dirty="0">
                <a:solidFill>
                  <a:srgbClr val="FFFFFF"/>
                </a:solidFill>
                <a:latin typeface="Tahoma"/>
                <a:cs typeface="Tahoma"/>
              </a:rPr>
              <a:t>State</a:t>
            </a:r>
            <a:r>
              <a:rPr sz="4400" spc="-25" dirty="0">
                <a:solidFill>
                  <a:srgbClr val="FFFFFF"/>
                </a:solidFill>
                <a:latin typeface="Tahoma"/>
                <a:cs typeface="Tahoma"/>
              </a:rPr>
              <a:t> </a:t>
            </a:r>
            <a:r>
              <a:rPr sz="4400" spc="-5" dirty="0">
                <a:solidFill>
                  <a:srgbClr val="FFFFFF"/>
                </a:solidFill>
                <a:latin typeface="Tahoma"/>
                <a:cs typeface="Tahoma"/>
              </a:rPr>
              <a:t>the</a:t>
            </a:r>
            <a:r>
              <a:rPr sz="4400" spc="-25" dirty="0">
                <a:solidFill>
                  <a:srgbClr val="FFFFFF"/>
                </a:solidFill>
                <a:latin typeface="Tahoma"/>
                <a:cs typeface="Tahoma"/>
              </a:rPr>
              <a:t> </a:t>
            </a:r>
            <a:r>
              <a:rPr sz="4400" spc="-5" dirty="0">
                <a:solidFill>
                  <a:srgbClr val="FFFFFF"/>
                </a:solidFill>
                <a:latin typeface="Tahoma"/>
                <a:cs typeface="Tahoma"/>
              </a:rPr>
              <a:t>relevance</a:t>
            </a:r>
            <a:r>
              <a:rPr sz="4400" spc="-30" dirty="0">
                <a:solidFill>
                  <a:srgbClr val="FFFFFF"/>
                </a:solidFill>
                <a:latin typeface="Tahoma"/>
                <a:cs typeface="Tahoma"/>
              </a:rPr>
              <a:t> </a:t>
            </a:r>
            <a:r>
              <a:rPr sz="4400" spc="-5" dirty="0">
                <a:solidFill>
                  <a:srgbClr val="FFFFFF"/>
                </a:solidFill>
                <a:latin typeface="Tahoma"/>
                <a:cs typeface="Tahoma"/>
              </a:rPr>
              <a:t>of</a:t>
            </a:r>
            <a:r>
              <a:rPr sz="4400" spc="-30" dirty="0">
                <a:solidFill>
                  <a:srgbClr val="FFFFFF"/>
                </a:solidFill>
                <a:latin typeface="Tahoma"/>
                <a:cs typeface="Tahoma"/>
              </a:rPr>
              <a:t> </a:t>
            </a:r>
            <a:r>
              <a:rPr sz="4400" dirty="0">
                <a:solidFill>
                  <a:srgbClr val="FFFFFF"/>
                </a:solidFill>
                <a:latin typeface="Tahoma"/>
                <a:cs typeface="Tahoma"/>
              </a:rPr>
              <a:t>a</a:t>
            </a:r>
            <a:r>
              <a:rPr sz="4400" spc="-30" dirty="0">
                <a:solidFill>
                  <a:srgbClr val="FFFFFF"/>
                </a:solidFill>
                <a:latin typeface="Tahoma"/>
                <a:cs typeface="Tahoma"/>
              </a:rPr>
              <a:t> </a:t>
            </a:r>
            <a:r>
              <a:rPr sz="4400" spc="-5" dirty="0">
                <a:solidFill>
                  <a:srgbClr val="FFFFFF"/>
                </a:solidFill>
                <a:latin typeface="Tahoma"/>
                <a:cs typeface="Tahoma"/>
              </a:rPr>
              <a:t>rent </a:t>
            </a:r>
            <a:r>
              <a:rPr sz="4400" spc="-1360" dirty="0">
                <a:solidFill>
                  <a:srgbClr val="FFFFFF"/>
                </a:solidFill>
                <a:latin typeface="Tahoma"/>
                <a:cs typeface="Tahoma"/>
              </a:rPr>
              <a:t> </a:t>
            </a:r>
            <a:r>
              <a:rPr sz="4400" spc="-5" dirty="0">
                <a:solidFill>
                  <a:srgbClr val="FFFFFF"/>
                </a:solidFill>
                <a:latin typeface="Tahoma"/>
                <a:cs typeface="Tahoma"/>
              </a:rPr>
              <a:t>review</a:t>
            </a:r>
            <a:r>
              <a:rPr sz="4400" spc="-15" dirty="0">
                <a:solidFill>
                  <a:srgbClr val="FFFFFF"/>
                </a:solidFill>
                <a:latin typeface="Tahoma"/>
                <a:cs typeface="Tahoma"/>
              </a:rPr>
              <a:t> </a:t>
            </a:r>
            <a:r>
              <a:rPr sz="4400" spc="-5" dirty="0">
                <a:solidFill>
                  <a:srgbClr val="FFFFFF"/>
                </a:solidFill>
                <a:latin typeface="Tahoma"/>
                <a:cs typeface="Tahoma"/>
              </a:rPr>
              <a:t>clause.</a:t>
            </a:r>
            <a:endParaRPr sz="4400" dirty="0">
              <a:latin typeface="Tahoma"/>
              <a:cs typeface="Tahoma"/>
            </a:endParaRPr>
          </a:p>
        </p:txBody>
      </p:sp>
      <p:sp>
        <p:nvSpPr>
          <p:cNvPr id="3" name="object 3"/>
          <p:cNvSpPr txBox="1"/>
          <p:nvPr/>
        </p:nvSpPr>
        <p:spPr>
          <a:xfrm>
            <a:off x="104181" y="2362708"/>
            <a:ext cx="7249795" cy="695960"/>
          </a:xfrm>
          <a:prstGeom prst="rect">
            <a:avLst/>
          </a:prstGeom>
        </p:spPr>
        <p:txBody>
          <a:bodyPr vert="horz" wrap="square" lIns="0" tIns="12700" rIns="0" bIns="0" rtlCol="0">
            <a:spAutoFit/>
          </a:bodyPr>
          <a:lstStyle/>
          <a:p>
            <a:pPr marL="12700">
              <a:lnSpc>
                <a:spcPct val="100000"/>
              </a:lnSpc>
              <a:spcBef>
                <a:spcPts val="100"/>
              </a:spcBef>
              <a:tabLst>
                <a:tab pos="876300" algn="l"/>
              </a:tabLst>
            </a:pPr>
            <a:r>
              <a:rPr sz="2850" dirty="0">
                <a:solidFill>
                  <a:srgbClr val="FFFFCC"/>
                </a:solidFill>
                <a:latin typeface="Arial MT"/>
                <a:cs typeface="Arial MT"/>
              </a:rPr>
              <a:t>9.	</a:t>
            </a:r>
            <a:r>
              <a:rPr sz="4400" spc="-5" dirty="0">
                <a:solidFill>
                  <a:srgbClr val="FFFFFF"/>
                </a:solidFill>
                <a:latin typeface="Tahoma"/>
                <a:cs typeface="Tahoma"/>
              </a:rPr>
              <a:t>Draft</a:t>
            </a:r>
            <a:r>
              <a:rPr sz="4400" spc="-30" dirty="0">
                <a:solidFill>
                  <a:srgbClr val="FFFFFF"/>
                </a:solidFill>
                <a:latin typeface="Tahoma"/>
                <a:cs typeface="Tahoma"/>
              </a:rPr>
              <a:t> </a:t>
            </a:r>
            <a:r>
              <a:rPr sz="4400" dirty="0">
                <a:solidFill>
                  <a:srgbClr val="FFFFFF"/>
                </a:solidFill>
                <a:latin typeface="Tahoma"/>
                <a:cs typeface="Tahoma"/>
              </a:rPr>
              <a:t>a</a:t>
            </a:r>
            <a:r>
              <a:rPr sz="4400" spc="-35" dirty="0">
                <a:solidFill>
                  <a:srgbClr val="FFFFFF"/>
                </a:solidFill>
                <a:latin typeface="Tahoma"/>
                <a:cs typeface="Tahoma"/>
              </a:rPr>
              <a:t> </a:t>
            </a:r>
            <a:r>
              <a:rPr sz="4400" spc="-5" dirty="0">
                <a:solidFill>
                  <a:srgbClr val="FFFFFF"/>
                </a:solidFill>
                <a:latin typeface="Tahoma"/>
                <a:cs typeface="Tahoma"/>
              </a:rPr>
              <a:t>rent</a:t>
            </a:r>
            <a:r>
              <a:rPr sz="4400" spc="-30" dirty="0">
                <a:solidFill>
                  <a:srgbClr val="FFFFFF"/>
                </a:solidFill>
                <a:latin typeface="Tahoma"/>
                <a:cs typeface="Tahoma"/>
              </a:rPr>
              <a:t> </a:t>
            </a:r>
            <a:r>
              <a:rPr sz="4400" spc="-5" dirty="0">
                <a:solidFill>
                  <a:srgbClr val="FFFFFF"/>
                </a:solidFill>
                <a:latin typeface="Tahoma"/>
                <a:cs typeface="Tahoma"/>
              </a:rPr>
              <a:t>review</a:t>
            </a:r>
            <a:r>
              <a:rPr sz="4400" spc="-30" dirty="0">
                <a:solidFill>
                  <a:srgbClr val="FFFFFF"/>
                </a:solidFill>
                <a:latin typeface="Tahoma"/>
                <a:cs typeface="Tahoma"/>
              </a:rPr>
              <a:t> </a:t>
            </a:r>
            <a:r>
              <a:rPr sz="4400" spc="-5" dirty="0">
                <a:solidFill>
                  <a:srgbClr val="FFFFFF"/>
                </a:solidFill>
                <a:latin typeface="Tahoma"/>
                <a:cs typeface="Tahoma"/>
              </a:rPr>
              <a:t>clause</a:t>
            </a:r>
            <a:endParaRPr sz="4400" dirty="0">
              <a:latin typeface="Tahoma"/>
              <a:cs typeface="Tahom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ctrTitle"/>
          </p:nvPr>
        </p:nvSpPr>
        <p:spPr>
          <a:xfrm>
            <a:off x="2895600" y="228600"/>
            <a:ext cx="3191739" cy="695960"/>
          </a:xfrm>
          <a:prstGeom prst="rect">
            <a:avLst/>
          </a:prstGeom>
        </p:spPr>
        <p:txBody>
          <a:bodyPr vert="horz" wrap="square" lIns="0" tIns="12700" rIns="0" bIns="0" rtlCol="0">
            <a:spAutoFit/>
          </a:bodyPr>
          <a:lstStyle/>
          <a:p>
            <a:pPr marL="12700">
              <a:lnSpc>
                <a:spcPct val="100000"/>
              </a:lnSpc>
              <a:spcBef>
                <a:spcPts val="100"/>
              </a:spcBef>
            </a:pPr>
            <a:r>
              <a:rPr spc="-5" dirty="0"/>
              <a:t>DEFINITION</a:t>
            </a:r>
          </a:p>
        </p:txBody>
      </p:sp>
      <p:sp>
        <p:nvSpPr>
          <p:cNvPr id="3" name="object 3"/>
          <p:cNvSpPr txBox="1"/>
          <p:nvPr/>
        </p:nvSpPr>
        <p:spPr>
          <a:xfrm>
            <a:off x="390524" y="1066800"/>
            <a:ext cx="8372475" cy="6232475"/>
          </a:xfrm>
          <a:prstGeom prst="rect">
            <a:avLst/>
          </a:prstGeom>
        </p:spPr>
        <p:txBody>
          <a:bodyPr vert="horz" wrap="square" lIns="0" tIns="12700" rIns="0" bIns="0" rtlCol="0">
            <a:spAutoFit/>
          </a:bodyPr>
          <a:lstStyle/>
          <a:p>
            <a:pPr marL="12700">
              <a:lnSpc>
                <a:spcPct val="100000"/>
              </a:lnSpc>
              <a:spcBef>
                <a:spcPts val="100"/>
              </a:spcBef>
              <a:buFont typeface="Wingdings" pitchFamily="2" charset="2"/>
              <a:buChar char="Ø"/>
            </a:pPr>
            <a:r>
              <a:rPr lang="en-US" sz="4000" spc="-5" dirty="0" smtClean="0">
                <a:solidFill>
                  <a:srgbClr val="FFFFFF"/>
                </a:solidFill>
                <a:latin typeface="Tahoma"/>
                <a:cs typeface="Tahoma"/>
              </a:rPr>
              <a:t> It is a contract for exclusive possession and profit of land for some definite period.</a:t>
            </a:r>
          </a:p>
          <a:p>
            <a:pPr marL="12700">
              <a:lnSpc>
                <a:spcPct val="100000"/>
              </a:lnSpc>
              <a:spcBef>
                <a:spcPts val="100"/>
              </a:spcBef>
              <a:buFont typeface="Wingdings" pitchFamily="2" charset="2"/>
              <a:buChar char="Ø"/>
            </a:pPr>
            <a:r>
              <a:rPr lang="en-US" sz="4000" spc="-5" dirty="0" smtClean="0">
                <a:solidFill>
                  <a:srgbClr val="FFFFFF"/>
                </a:solidFill>
                <a:latin typeface="Tahoma"/>
                <a:cs typeface="Tahoma"/>
              </a:rPr>
              <a:t>Exclusive possession but reversionary interest remains with the </a:t>
            </a:r>
            <a:r>
              <a:rPr lang="en-US" sz="4000" spc="-5" dirty="0" err="1" smtClean="0">
                <a:solidFill>
                  <a:srgbClr val="FFFFFF"/>
                </a:solidFill>
                <a:latin typeface="Tahoma"/>
                <a:cs typeface="Tahoma"/>
              </a:rPr>
              <a:t>Lessor</a:t>
            </a:r>
            <a:r>
              <a:rPr lang="en-US" sz="4000" spc="-5" dirty="0" smtClean="0">
                <a:solidFill>
                  <a:srgbClr val="FFFFFF"/>
                </a:solidFill>
                <a:latin typeface="Tahoma"/>
                <a:cs typeface="Tahoma"/>
              </a:rPr>
              <a:t>.</a:t>
            </a:r>
          </a:p>
          <a:p>
            <a:pPr marL="12700">
              <a:lnSpc>
                <a:spcPct val="100000"/>
              </a:lnSpc>
              <a:spcBef>
                <a:spcPts val="100"/>
              </a:spcBef>
              <a:buFont typeface="Wingdings" pitchFamily="2" charset="2"/>
              <a:buChar char="Ø"/>
            </a:pPr>
            <a:r>
              <a:rPr lang="en-US" sz="4000" spc="-5" dirty="0" smtClean="0">
                <a:solidFill>
                  <a:srgbClr val="FFFFFF"/>
                </a:solidFill>
                <a:latin typeface="Tahoma"/>
                <a:cs typeface="Tahoma"/>
              </a:rPr>
              <a:t>Fixed term. </a:t>
            </a:r>
          </a:p>
          <a:p>
            <a:pPr marL="12700">
              <a:lnSpc>
                <a:spcPct val="100000"/>
              </a:lnSpc>
              <a:spcBef>
                <a:spcPts val="100"/>
              </a:spcBef>
              <a:buFont typeface="Wingdings" pitchFamily="2" charset="2"/>
              <a:buChar char="Ø"/>
            </a:pPr>
            <a:r>
              <a:rPr lang="en-US" sz="4000" spc="-5" dirty="0" smtClean="0">
                <a:solidFill>
                  <a:srgbClr val="FFFFFF"/>
                </a:solidFill>
                <a:latin typeface="Tahoma"/>
                <a:cs typeface="Tahoma"/>
              </a:rPr>
              <a:t>Tenancy if &lt; 3 years</a:t>
            </a:r>
          </a:p>
          <a:p>
            <a:pPr marL="12700">
              <a:lnSpc>
                <a:spcPct val="100000"/>
              </a:lnSpc>
              <a:spcBef>
                <a:spcPts val="100"/>
              </a:spcBef>
              <a:buFont typeface="Wingdings" pitchFamily="2" charset="2"/>
              <a:buChar char="Ø"/>
            </a:pPr>
            <a:endParaRPr lang="en-US" sz="4000" spc="-5" dirty="0" smtClean="0">
              <a:solidFill>
                <a:srgbClr val="FFFFFF"/>
              </a:solidFill>
              <a:latin typeface="Tahoma"/>
              <a:cs typeface="Tahoma"/>
            </a:endParaRPr>
          </a:p>
          <a:p>
            <a:pPr marL="12700">
              <a:lnSpc>
                <a:spcPct val="100000"/>
              </a:lnSpc>
              <a:spcBef>
                <a:spcPts val="100"/>
              </a:spcBef>
            </a:pPr>
            <a:endParaRPr sz="4000" dirty="0">
              <a:latin typeface="Tahoma"/>
              <a:cs typeface="Tahom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24" y="55879"/>
            <a:ext cx="8148955" cy="2774950"/>
          </a:xfrm>
          <a:prstGeom prst="rect">
            <a:avLst/>
          </a:prstGeom>
        </p:spPr>
        <p:txBody>
          <a:bodyPr vert="horz" wrap="square" lIns="0" tIns="114300" rIns="0" bIns="0" rtlCol="0">
            <a:spAutoFit/>
          </a:bodyPr>
          <a:lstStyle/>
          <a:p>
            <a:pPr marL="177165">
              <a:lnSpc>
                <a:spcPct val="100000"/>
              </a:lnSpc>
              <a:spcBef>
                <a:spcPts val="900"/>
              </a:spcBef>
            </a:pPr>
            <a:r>
              <a:rPr sz="4000" dirty="0">
                <a:solidFill>
                  <a:srgbClr val="FFFFFF"/>
                </a:solidFill>
                <a:latin typeface="Tahoma"/>
                <a:cs typeface="Tahoma"/>
              </a:rPr>
              <a:t>A</a:t>
            </a:r>
            <a:r>
              <a:rPr sz="4000" spc="-35" dirty="0">
                <a:solidFill>
                  <a:srgbClr val="FFFFFF"/>
                </a:solidFill>
                <a:latin typeface="Tahoma"/>
                <a:cs typeface="Tahoma"/>
              </a:rPr>
              <a:t> </a:t>
            </a:r>
            <a:r>
              <a:rPr sz="4000" spc="-5" dirty="0">
                <a:solidFill>
                  <a:srgbClr val="FFFFFF"/>
                </a:solidFill>
                <a:latin typeface="Tahoma"/>
                <a:cs typeface="Tahoma"/>
              </a:rPr>
              <a:t>LEASE</a:t>
            </a:r>
            <a:r>
              <a:rPr sz="4000" spc="-30" dirty="0">
                <a:solidFill>
                  <a:srgbClr val="FFFFFF"/>
                </a:solidFill>
                <a:latin typeface="Tahoma"/>
                <a:cs typeface="Tahoma"/>
              </a:rPr>
              <a:t> </a:t>
            </a:r>
            <a:r>
              <a:rPr sz="4000" spc="-5" dirty="0">
                <a:solidFill>
                  <a:srgbClr val="FFFFFF"/>
                </a:solidFill>
                <a:latin typeface="Tahoma"/>
                <a:cs typeface="Tahoma"/>
              </a:rPr>
              <a:t>refers</a:t>
            </a:r>
            <a:r>
              <a:rPr sz="4000" spc="-30" dirty="0">
                <a:solidFill>
                  <a:srgbClr val="FFFFFF"/>
                </a:solidFill>
                <a:latin typeface="Tahoma"/>
                <a:cs typeface="Tahoma"/>
              </a:rPr>
              <a:t> </a:t>
            </a:r>
            <a:r>
              <a:rPr sz="4000" spc="-5" dirty="0">
                <a:solidFill>
                  <a:srgbClr val="FFFFFF"/>
                </a:solidFill>
                <a:latin typeface="Tahoma"/>
                <a:cs typeface="Tahoma"/>
              </a:rPr>
              <a:t>to:</a:t>
            </a:r>
            <a:endParaRPr sz="4000">
              <a:latin typeface="Tahoma"/>
              <a:cs typeface="Tahoma"/>
            </a:endParaRPr>
          </a:p>
          <a:p>
            <a:pPr marL="343535" indent="-330835">
              <a:lnSpc>
                <a:spcPct val="100000"/>
              </a:lnSpc>
              <a:spcBef>
                <a:spcPts val="800"/>
              </a:spcBef>
              <a:buClr>
                <a:srgbClr val="FFFF99"/>
              </a:buClr>
              <a:buSzPct val="62500"/>
              <a:buFont typeface="MS UI Gothic"/>
              <a:buChar char="◆"/>
              <a:tabLst>
                <a:tab pos="343535" algn="l"/>
              </a:tabLst>
            </a:pPr>
            <a:r>
              <a:rPr sz="4000" spc="-5" dirty="0">
                <a:solidFill>
                  <a:srgbClr val="FFFFFF"/>
                </a:solidFill>
                <a:latin typeface="Tahoma"/>
                <a:cs typeface="Tahoma"/>
              </a:rPr>
              <a:t>the</a:t>
            </a:r>
            <a:r>
              <a:rPr sz="4000" spc="-25" dirty="0">
                <a:solidFill>
                  <a:srgbClr val="FFFFFF"/>
                </a:solidFill>
                <a:latin typeface="Tahoma"/>
                <a:cs typeface="Tahoma"/>
              </a:rPr>
              <a:t> </a:t>
            </a:r>
            <a:r>
              <a:rPr sz="4000" u="heavy" spc="-10" dirty="0">
                <a:solidFill>
                  <a:srgbClr val="FFFFFF"/>
                </a:solidFill>
                <a:uFill>
                  <a:solidFill>
                    <a:srgbClr val="FFFFFF"/>
                  </a:solidFill>
                </a:uFill>
                <a:latin typeface="Tahoma"/>
                <a:cs typeface="Tahoma"/>
              </a:rPr>
              <a:t>Term</a:t>
            </a:r>
            <a:r>
              <a:rPr sz="4000" u="heavy" spc="-20" dirty="0">
                <a:solidFill>
                  <a:srgbClr val="FFFFFF"/>
                </a:solidFill>
                <a:uFill>
                  <a:solidFill>
                    <a:srgbClr val="FFFFFF"/>
                  </a:solidFill>
                </a:uFill>
                <a:latin typeface="Tahoma"/>
                <a:cs typeface="Tahoma"/>
              </a:rPr>
              <a:t> </a:t>
            </a:r>
            <a:r>
              <a:rPr sz="4000" u="heavy" spc="-5" dirty="0">
                <a:solidFill>
                  <a:srgbClr val="FFFFFF"/>
                </a:solidFill>
                <a:uFill>
                  <a:solidFill>
                    <a:srgbClr val="FFFFFF"/>
                  </a:solidFill>
                </a:uFill>
                <a:latin typeface="Tahoma"/>
                <a:cs typeface="Tahoma"/>
              </a:rPr>
              <a:t>of</a:t>
            </a:r>
            <a:r>
              <a:rPr sz="4000" u="heavy" spc="-25" dirty="0">
                <a:solidFill>
                  <a:srgbClr val="FFFFFF"/>
                </a:solidFill>
                <a:uFill>
                  <a:solidFill>
                    <a:srgbClr val="FFFFFF"/>
                  </a:solidFill>
                </a:uFill>
                <a:latin typeface="Tahoma"/>
                <a:cs typeface="Tahoma"/>
              </a:rPr>
              <a:t> </a:t>
            </a:r>
            <a:r>
              <a:rPr sz="4000" u="heavy" spc="-5" dirty="0">
                <a:solidFill>
                  <a:srgbClr val="FFFFFF"/>
                </a:solidFill>
                <a:uFill>
                  <a:solidFill>
                    <a:srgbClr val="FFFFFF"/>
                  </a:solidFill>
                </a:uFill>
                <a:latin typeface="Tahoma"/>
                <a:cs typeface="Tahoma"/>
              </a:rPr>
              <a:t>Years</a:t>
            </a:r>
            <a:r>
              <a:rPr sz="4000" u="heavy" spc="-15" dirty="0">
                <a:solidFill>
                  <a:srgbClr val="FFFFFF"/>
                </a:solidFill>
                <a:uFill>
                  <a:solidFill>
                    <a:srgbClr val="FFFFFF"/>
                  </a:solidFill>
                </a:uFill>
                <a:latin typeface="Tahoma"/>
                <a:cs typeface="Tahoma"/>
              </a:rPr>
              <a:t> </a:t>
            </a:r>
            <a:r>
              <a:rPr sz="4000" u="heavy" spc="-5" dirty="0">
                <a:solidFill>
                  <a:srgbClr val="FFFFFF"/>
                </a:solidFill>
                <a:uFill>
                  <a:solidFill>
                    <a:srgbClr val="FFFFFF"/>
                  </a:solidFill>
                </a:uFill>
                <a:latin typeface="Tahoma"/>
                <a:cs typeface="Tahoma"/>
              </a:rPr>
              <a:t>created</a:t>
            </a:r>
            <a:r>
              <a:rPr sz="4000" spc="-5" dirty="0">
                <a:solidFill>
                  <a:srgbClr val="FFFFFF"/>
                </a:solidFill>
                <a:latin typeface="Tahoma"/>
                <a:cs typeface="Tahoma"/>
              </a:rPr>
              <a:t>,</a:t>
            </a:r>
            <a:r>
              <a:rPr sz="4000" spc="-25" dirty="0">
                <a:solidFill>
                  <a:srgbClr val="FFFFFF"/>
                </a:solidFill>
                <a:latin typeface="Tahoma"/>
                <a:cs typeface="Tahoma"/>
              </a:rPr>
              <a:t> </a:t>
            </a:r>
            <a:r>
              <a:rPr sz="4000" spc="-10" dirty="0">
                <a:solidFill>
                  <a:srgbClr val="FFFFFF"/>
                </a:solidFill>
                <a:latin typeface="Tahoma"/>
                <a:cs typeface="Tahoma"/>
              </a:rPr>
              <a:t>and</a:t>
            </a:r>
            <a:endParaRPr sz="4000">
              <a:latin typeface="Tahoma"/>
              <a:cs typeface="Tahoma"/>
            </a:endParaRPr>
          </a:p>
          <a:p>
            <a:pPr marL="177165" marR="5080" indent="-165100">
              <a:lnSpc>
                <a:spcPct val="100499"/>
              </a:lnSpc>
              <a:spcBef>
                <a:spcPts val="800"/>
              </a:spcBef>
              <a:buClr>
                <a:srgbClr val="FFFF99"/>
              </a:buClr>
              <a:buSzPct val="62500"/>
              <a:buFont typeface="MS UI Gothic"/>
              <a:buChar char="◆"/>
              <a:tabLst>
                <a:tab pos="343535" algn="l"/>
              </a:tabLst>
            </a:pPr>
            <a:r>
              <a:rPr sz="4000" spc="-5" dirty="0">
                <a:solidFill>
                  <a:srgbClr val="FFFFFF"/>
                </a:solidFill>
                <a:latin typeface="Tahoma"/>
                <a:cs typeface="Tahoma"/>
              </a:rPr>
              <a:t>the</a:t>
            </a:r>
            <a:r>
              <a:rPr sz="4000" spc="-25" dirty="0">
                <a:solidFill>
                  <a:srgbClr val="FFFFFF"/>
                </a:solidFill>
                <a:latin typeface="Tahoma"/>
                <a:cs typeface="Tahoma"/>
              </a:rPr>
              <a:t> </a:t>
            </a:r>
            <a:r>
              <a:rPr sz="4000" u="heavy" spc="-5" dirty="0">
                <a:solidFill>
                  <a:srgbClr val="FFFFFF"/>
                </a:solidFill>
                <a:uFill>
                  <a:solidFill>
                    <a:srgbClr val="FFFFFF"/>
                  </a:solidFill>
                </a:uFill>
                <a:latin typeface="Tahoma"/>
                <a:cs typeface="Tahoma"/>
              </a:rPr>
              <a:t>Document</a:t>
            </a:r>
            <a:r>
              <a:rPr sz="4000" spc="-20" dirty="0">
                <a:solidFill>
                  <a:srgbClr val="FFFFFF"/>
                </a:solidFill>
                <a:latin typeface="Tahoma"/>
                <a:cs typeface="Tahoma"/>
              </a:rPr>
              <a:t> </a:t>
            </a:r>
            <a:r>
              <a:rPr sz="4000" spc="-5" dirty="0">
                <a:solidFill>
                  <a:srgbClr val="FFFFFF"/>
                </a:solidFill>
                <a:latin typeface="Tahoma"/>
                <a:cs typeface="Tahoma"/>
              </a:rPr>
              <a:t>creating</a:t>
            </a:r>
            <a:r>
              <a:rPr sz="4000" spc="-25" dirty="0">
                <a:solidFill>
                  <a:srgbClr val="FFFFFF"/>
                </a:solidFill>
                <a:latin typeface="Tahoma"/>
                <a:cs typeface="Tahoma"/>
              </a:rPr>
              <a:t> </a:t>
            </a:r>
            <a:r>
              <a:rPr sz="4000" spc="-5" dirty="0">
                <a:solidFill>
                  <a:srgbClr val="FFFFFF"/>
                </a:solidFill>
                <a:latin typeface="Tahoma"/>
                <a:cs typeface="Tahoma"/>
              </a:rPr>
              <a:t>the</a:t>
            </a:r>
            <a:r>
              <a:rPr sz="4000" spc="-25" dirty="0">
                <a:solidFill>
                  <a:srgbClr val="FFFFFF"/>
                </a:solidFill>
                <a:latin typeface="Tahoma"/>
                <a:cs typeface="Tahoma"/>
              </a:rPr>
              <a:t> </a:t>
            </a:r>
            <a:r>
              <a:rPr sz="4000" spc="-5" dirty="0">
                <a:solidFill>
                  <a:srgbClr val="FFFFFF"/>
                </a:solidFill>
                <a:latin typeface="Tahoma"/>
                <a:cs typeface="Tahoma"/>
              </a:rPr>
              <a:t>term</a:t>
            </a:r>
            <a:r>
              <a:rPr sz="4000" spc="-25" dirty="0">
                <a:solidFill>
                  <a:srgbClr val="FFFFFF"/>
                </a:solidFill>
                <a:latin typeface="Tahoma"/>
                <a:cs typeface="Tahoma"/>
              </a:rPr>
              <a:t> </a:t>
            </a:r>
            <a:r>
              <a:rPr sz="4000" spc="-10" dirty="0">
                <a:solidFill>
                  <a:srgbClr val="FFFFFF"/>
                </a:solidFill>
                <a:latin typeface="Tahoma"/>
                <a:cs typeface="Tahoma"/>
              </a:rPr>
              <a:t>of </a:t>
            </a:r>
            <a:r>
              <a:rPr sz="4000" spc="-1235" dirty="0">
                <a:solidFill>
                  <a:srgbClr val="FFFFFF"/>
                </a:solidFill>
                <a:latin typeface="Tahoma"/>
                <a:cs typeface="Tahoma"/>
              </a:rPr>
              <a:t> </a:t>
            </a:r>
            <a:r>
              <a:rPr sz="4000" spc="-5" dirty="0">
                <a:solidFill>
                  <a:srgbClr val="FFFFFF"/>
                </a:solidFill>
                <a:latin typeface="Tahoma"/>
                <a:cs typeface="Tahoma"/>
              </a:rPr>
              <a:t>years</a:t>
            </a:r>
            <a:endParaRPr sz="4000">
              <a:latin typeface="Tahoma"/>
              <a:cs typeface="Tahoma"/>
            </a:endParaRPr>
          </a:p>
        </p:txBody>
      </p:sp>
      <p:sp>
        <p:nvSpPr>
          <p:cNvPr id="3" name="object 3"/>
          <p:cNvSpPr txBox="1"/>
          <p:nvPr/>
        </p:nvSpPr>
        <p:spPr>
          <a:xfrm>
            <a:off x="60424" y="3516629"/>
            <a:ext cx="3128010" cy="2170466"/>
          </a:xfrm>
          <a:prstGeom prst="rect">
            <a:avLst/>
          </a:prstGeom>
        </p:spPr>
        <p:txBody>
          <a:bodyPr vert="horz" wrap="square" lIns="0" tIns="117475" rIns="0" bIns="0" rtlCol="0">
            <a:spAutoFit/>
          </a:bodyPr>
          <a:lstStyle/>
          <a:p>
            <a:pPr marL="177165">
              <a:lnSpc>
                <a:spcPct val="100000"/>
              </a:lnSpc>
              <a:spcBef>
                <a:spcPts val="925"/>
              </a:spcBef>
            </a:pPr>
            <a:r>
              <a:rPr sz="4000" b="1" spc="-5" dirty="0">
                <a:solidFill>
                  <a:srgbClr val="FFFFFF"/>
                </a:solidFill>
                <a:latin typeface="Arial"/>
                <a:cs typeface="Arial"/>
              </a:rPr>
              <a:t>PARTIES</a:t>
            </a:r>
            <a:endParaRPr sz="4000">
              <a:latin typeface="Arial"/>
              <a:cs typeface="Arial"/>
            </a:endParaRPr>
          </a:p>
          <a:p>
            <a:pPr marL="343535" indent="-330835">
              <a:lnSpc>
                <a:spcPct val="100000"/>
              </a:lnSpc>
              <a:spcBef>
                <a:spcPts val="825"/>
              </a:spcBef>
              <a:buClr>
                <a:srgbClr val="FFFF99"/>
              </a:buClr>
              <a:buSzPct val="62500"/>
              <a:buFont typeface="MS UI Gothic"/>
              <a:buChar char="◆"/>
              <a:tabLst>
                <a:tab pos="343535" algn="l"/>
              </a:tabLst>
            </a:pPr>
            <a:r>
              <a:rPr sz="4000" spc="-5" smtClean="0">
                <a:solidFill>
                  <a:srgbClr val="FFFFFF"/>
                </a:solidFill>
                <a:latin typeface="Tahoma"/>
                <a:cs typeface="Tahoma"/>
              </a:rPr>
              <a:t>LESSOR</a:t>
            </a:r>
            <a:endParaRPr lang="en-US" sz="4000" spc="-5" dirty="0" smtClean="0">
              <a:solidFill>
                <a:srgbClr val="FFFFFF"/>
              </a:solidFill>
              <a:latin typeface="Tahoma"/>
              <a:cs typeface="Tahoma"/>
            </a:endParaRPr>
          </a:p>
          <a:p>
            <a:pPr marL="343535" indent="-330835">
              <a:lnSpc>
                <a:spcPct val="100000"/>
              </a:lnSpc>
              <a:spcBef>
                <a:spcPts val="825"/>
              </a:spcBef>
              <a:buClr>
                <a:srgbClr val="FFFF99"/>
              </a:buClr>
              <a:buSzPct val="62500"/>
              <a:buFont typeface="MS UI Gothic"/>
              <a:buChar char="◆"/>
              <a:tabLst>
                <a:tab pos="343535" algn="l"/>
              </a:tabLst>
            </a:pPr>
            <a:r>
              <a:rPr sz="4000" spc="-5" smtClean="0">
                <a:solidFill>
                  <a:srgbClr val="FFFFFF"/>
                </a:solidFill>
                <a:latin typeface="Tahoma"/>
                <a:cs typeface="Tahoma"/>
              </a:rPr>
              <a:t>LANDLOR</a:t>
            </a:r>
            <a:r>
              <a:rPr sz="4000" smtClean="0">
                <a:solidFill>
                  <a:srgbClr val="FFFFFF"/>
                </a:solidFill>
                <a:latin typeface="Tahoma"/>
                <a:cs typeface="Tahoma"/>
              </a:rPr>
              <a:t>D</a:t>
            </a:r>
            <a:r>
              <a:rPr sz="4000" spc="-725" smtClean="0">
                <a:solidFill>
                  <a:srgbClr val="FFFFFF"/>
                </a:solidFill>
                <a:latin typeface="Tahoma"/>
                <a:cs typeface="Tahoma"/>
              </a:rPr>
              <a:t> </a:t>
            </a:r>
            <a:r>
              <a:rPr sz="4000" smtClean="0">
                <a:solidFill>
                  <a:srgbClr val="FFFFFF"/>
                </a:solidFill>
                <a:latin typeface="Tahoma"/>
                <a:cs typeface="Tahoma"/>
              </a:rPr>
              <a:t>/</a:t>
            </a:r>
            <a:endParaRPr sz="4000">
              <a:latin typeface="Tahoma"/>
              <a:cs typeface="Tahoma"/>
            </a:endParaRPr>
          </a:p>
        </p:txBody>
      </p:sp>
      <p:sp>
        <p:nvSpPr>
          <p:cNvPr id="4" name="object 4"/>
          <p:cNvSpPr txBox="1"/>
          <p:nvPr/>
        </p:nvSpPr>
        <p:spPr>
          <a:xfrm>
            <a:off x="3592079" y="4231004"/>
            <a:ext cx="2903220" cy="1454150"/>
          </a:xfrm>
          <a:prstGeom prst="rect">
            <a:avLst/>
          </a:prstGeom>
        </p:spPr>
        <p:txBody>
          <a:bodyPr vert="horz" wrap="square" lIns="0" tIns="12700" rIns="0" bIns="0" rtlCol="0">
            <a:spAutoFit/>
          </a:bodyPr>
          <a:lstStyle/>
          <a:p>
            <a:pPr marL="303530" marR="5080" indent="-291465">
              <a:lnSpc>
                <a:spcPct val="117200"/>
              </a:lnSpc>
              <a:spcBef>
                <a:spcPts val="100"/>
              </a:spcBef>
              <a:tabLst>
                <a:tab pos="1217930" algn="l"/>
              </a:tabLst>
            </a:pPr>
            <a:r>
              <a:rPr sz="4000" smtClean="0">
                <a:solidFill>
                  <a:srgbClr val="FFFFFF"/>
                </a:solidFill>
                <a:latin typeface="Tahoma"/>
                <a:cs typeface="Tahoma"/>
              </a:rPr>
              <a:t>/</a:t>
            </a:r>
            <a:r>
              <a:rPr sz="4000" dirty="0">
                <a:solidFill>
                  <a:srgbClr val="FFFFFF"/>
                </a:solidFill>
                <a:latin typeface="Tahoma"/>
                <a:cs typeface="Tahoma"/>
              </a:rPr>
              <a:t>	</a:t>
            </a:r>
            <a:r>
              <a:rPr sz="4000" spc="-5" dirty="0">
                <a:solidFill>
                  <a:srgbClr val="FFFFFF"/>
                </a:solidFill>
                <a:latin typeface="Tahoma"/>
                <a:cs typeface="Tahoma"/>
              </a:rPr>
              <a:t>LESSEE  TENANT</a:t>
            </a:r>
            <a:endParaRPr sz="4000">
              <a:latin typeface="Tahoma"/>
              <a:cs typeface="Tahom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5425" y="157479"/>
            <a:ext cx="8503920" cy="5826125"/>
          </a:xfrm>
          <a:prstGeom prst="rect">
            <a:avLst/>
          </a:prstGeom>
        </p:spPr>
        <p:txBody>
          <a:bodyPr vert="horz" wrap="square" lIns="0" tIns="12700" rIns="0" bIns="0" rtlCol="0">
            <a:spAutoFit/>
          </a:bodyPr>
          <a:lstStyle/>
          <a:p>
            <a:pPr marL="755650" marR="97155" indent="-320040">
              <a:lnSpc>
                <a:spcPct val="100000"/>
              </a:lnSpc>
              <a:spcBef>
                <a:spcPts val="100"/>
              </a:spcBef>
              <a:buClr>
                <a:srgbClr val="FFFFFF"/>
              </a:buClr>
              <a:buSzPct val="65000"/>
              <a:buFont typeface="Arial MT"/>
              <a:buChar char="■"/>
              <a:tabLst>
                <a:tab pos="913765" algn="l"/>
                <a:tab pos="914400" algn="l"/>
              </a:tabLst>
            </a:pPr>
            <a:r>
              <a:rPr dirty="0"/>
              <a:t>	</a:t>
            </a:r>
            <a:r>
              <a:rPr sz="4000" spc="-5" dirty="0" smtClean="0">
                <a:solidFill>
                  <a:srgbClr val="FFFFFF"/>
                </a:solidFill>
                <a:latin typeface="Tahoma"/>
                <a:cs typeface="Tahoma"/>
              </a:rPr>
              <a:t>A, </a:t>
            </a:r>
            <a:r>
              <a:rPr sz="4000" spc="-10" dirty="0">
                <a:solidFill>
                  <a:srgbClr val="FFFFFF"/>
                </a:solidFill>
                <a:latin typeface="Tahoma"/>
                <a:cs typeface="Tahoma"/>
              </a:rPr>
              <a:t>gives </a:t>
            </a:r>
            <a:r>
              <a:rPr sz="4000" spc="-5" dirty="0">
                <a:solidFill>
                  <a:srgbClr val="FFFFFF"/>
                </a:solidFill>
                <a:latin typeface="Tahoma"/>
                <a:cs typeface="Tahoma"/>
              </a:rPr>
              <a:t>Plot 12 Abi Close, Apo, </a:t>
            </a:r>
            <a:r>
              <a:rPr sz="4000" dirty="0">
                <a:solidFill>
                  <a:srgbClr val="FFFFFF"/>
                </a:solidFill>
                <a:latin typeface="Tahoma"/>
                <a:cs typeface="Tahoma"/>
              </a:rPr>
              <a:t> </a:t>
            </a:r>
            <a:r>
              <a:rPr sz="4000" spc="-5" dirty="0">
                <a:solidFill>
                  <a:srgbClr val="FFFFFF"/>
                </a:solidFill>
                <a:latin typeface="Tahoma"/>
                <a:cs typeface="Tahoma"/>
              </a:rPr>
              <a:t>Abuja</a:t>
            </a:r>
            <a:r>
              <a:rPr sz="4000" spc="-20" dirty="0">
                <a:solidFill>
                  <a:srgbClr val="FFFFFF"/>
                </a:solidFill>
                <a:latin typeface="Tahoma"/>
                <a:cs typeface="Tahoma"/>
              </a:rPr>
              <a:t> </a:t>
            </a:r>
            <a:r>
              <a:rPr sz="4000" spc="-5" dirty="0">
                <a:solidFill>
                  <a:srgbClr val="FFFFFF"/>
                </a:solidFill>
                <a:latin typeface="Tahoma"/>
                <a:cs typeface="Tahoma"/>
              </a:rPr>
              <a:t>to</a:t>
            </a:r>
            <a:r>
              <a:rPr sz="4000" spc="-20" dirty="0">
                <a:solidFill>
                  <a:srgbClr val="FFFFFF"/>
                </a:solidFill>
                <a:latin typeface="Tahoma"/>
                <a:cs typeface="Tahoma"/>
              </a:rPr>
              <a:t> </a:t>
            </a:r>
            <a:r>
              <a:rPr sz="4000" spc="-5" dirty="0">
                <a:solidFill>
                  <a:srgbClr val="FFFFFF"/>
                </a:solidFill>
                <a:latin typeface="Tahoma"/>
                <a:cs typeface="Tahoma"/>
              </a:rPr>
              <a:t>B,</a:t>
            </a:r>
            <a:r>
              <a:rPr sz="4000" spc="-15" dirty="0">
                <a:solidFill>
                  <a:srgbClr val="FFFFFF"/>
                </a:solidFill>
                <a:latin typeface="Tahoma"/>
                <a:cs typeface="Tahoma"/>
              </a:rPr>
              <a:t> </a:t>
            </a:r>
            <a:r>
              <a:rPr sz="4000" spc="-5" dirty="0">
                <a:solidFill>
                  <a:srgbClr val="FFFFFF"/>
                </a:solidFill>
                <a:latin typeface="Tahoma"/>
                <a:cs typeface="Tahoma"/>
              </a:rPr>
              <a:t>for</a:t>
            </a:r>
            <a:r>
              <a:rPr sz="4000" spc="-15" dirty="0">
                <a:solidFill>
                  <a:srgbClr val="FFFFFF"/>
                </a:solidFill>
                <a:latin typeface="Tahoma"/>
                <a:cs typeface="Tahoma"/>
              </a:rPr>
              <a:t> </a:t>
            </a:r>
            <a:r>
              <a:rPr sz="4000" spc="-5" dirty="0">
                <a:solidFill>
                  <a:srgbClr val="FFFFFF"/>
                </a:solidFill>
                <a:latin typeface="Tahoma"/>
                <a:cs typeface="Tahoma"/>
              </a:rPr>
              <a:t>3½</a:t>
            </a:r>
            <a:r>
              <a:rPr sz="4000" spc="-20" dirty="0">
                <a:solidFill>
                  <a:srgbClr val="FFFFFF"/>
                </a:solidFill>
                <a:latin typeface="Tahoma"/>
                <a:cs typeface="Tahoma"/>
              </a:rPr>
              <a:t> </a:t>
            </a:r>
            <a:r>
              <a:rPr sz="4000" spc="-5" dirty="0">
                <a:solidFill>
                  <a:srgbClr val="FFFFFF"/>
                </a:solidFill>
                <a:latin typeface="Tahoma"/>
                <a:cs typeface="Tahoma"/>
              </a:rPr>
              <a:t>years</a:t>
            </a:r>
            <a:r>
              <a:rPr sz="4000" spc="-15" dirty="0">
                <a:solidFill>
                  <a:srgbClr val="FFFFFF"/>
                </a:solidFill>
                <a:latin typeface="Tahoma"/>
                <a:cs typeface="Tahoma"/>
              </a:rPr>
              <a:t> </a:t>
            </a:r>
            <a:r>
              <a:rPr sz="4000" spc="-5" dirty="0">
                <a:solidFill>
                  <a:srgbClr val="FFFFFF"/>
                </a:solidFill>
                <a:latin typeface="Tahoma"/>
                <a:cs typeface="Tahoma"/>
              </a:rPr>
              <a:t>at</a:t>
            </a:r>
            <a:r>
              <a:rPr sz="4000" spc="-20" dirty="0">
                <a:solidFill>
                  <a:srgbClr val="FFFFFF"/>
                </a:solidFill>
                <a:latin typeface="Tahoma"/>
                <a:cs typeface="Tahoma"/>
              </a:rPr>
              <a:t> </a:t>
            </a:r>
            <a:r>
              <a:rPr sz="4000" dirty="0">
                <a:solidFill>
                  <a:srgbClr val="FFFFFF"/>
                </a:solidFill>
                <a:latin typeface="Tahoma"/>
                <a:cs typeface="Tahoma"/>
              </a:rPr>
              <a:t>a</a:t>
            </a:r>
            <a:r>
              <a:rPr sz="4000" spc="-15" dirty="0">
                <a:solidFill>
                  <a:srgbClr val="FFFFFF"/>
                </a:solidFill>
                <a:latin typeface="Tahoma"/>
                <a:cs typeface="Tahoma"/>
              </a:rPr>
              <a:t> </a:t>
            </a:r>
            <a:r>
              <a:rPr sz="4000" spc="-5" dirty="0">
                <a:solidFill>
                  <a:srgbClr val="FFFFFF"/>
                </a:solidFill>
                <a:latin typeface="Tahoma"/>
                <a:cs typeface="Tahoma"/>
              </a:rPr>
              <a:t>rent </a:t>
            </a:r>
            <a:r>
              <a:rPr sz="4000" spc="-1235" dirty="0">
                <a:solidFill>
                  <a:srgbClr val="FFFFFF"/>
                </a:solidFill>
                <a:latin typeface="Tahoma"/>
                <a:cs typeface="Tahoma"/>
              </a:rPr>
              <a:t> </a:t>
            </a:r>
            <a:r>
              <a:rPr sz="4000" spc="-5" dirty="0">
                <a:solidFill>
                  <a:srgbClr val="FFFFFF"/>
                </a:solidFill>
                <a:latin typeface="Tahoma"/>
                <a:cs typeface="Tahoma"/>
              </a:rPr>
              <a:t>of</a:t>
            </a:r>
            <a:r>
              <a:rPr sz="4000" spc="-20" dirty="0">
                <a:solidFill>
                  <a:srgbClr val="FFFFFF"/>
                </a:solidFill>
                <a:latin typeface="Tahoma"/>
                <a:cs typeface="Tahoma"/>
              </a:rPr>
              <a:t> </a:t>
            </a:r>
            <a:r>
              <a:rPr sz="4000" spc="-5" dirty="0" smtClean="0">
                <a:solidFill>
                  <a:srgbClr val="FFFFFF"/>
                </a:solidFill>
                <a:latin typeface="Tahoma"/>
                <a:cs typeface="Tahoma"/>
              </a:rPr>
              <a:t>N1,</a:t>
            </a:r>
            <a:r>
              <a:rPr sz="4000" spc="-10" dirty="0" smtClean="0">
                <a:solidFill>
                  <a:srgbClr val="FFFFFF"/>
                </a:solidFill>
                <a:latin typeface="Tahoma"/>
                <a:cs typeface="Tahoma"/>
              </a:rPr>
              <a:t>000,000</a:t>
            </a:r>
            <a:r>
              <a:rPr sz="4000" spc="-20" dirty="0" smtClean="0">
                <a:solidFill>
                  <a:srgbClr val="FFFFFF"/>
                </a:solidFill>
                <a:latin typeface="Tahoma"/>
                <a:cs typeface="Tahoma"/>
              </a:rPr>
              <a:t> </a:t>
            </a:r>
            <a:r>
              <a:rPr sz="4000" spc="-10" dirty="0">
                <a:solidFill>
                  <a:srgbClr val="FFFFFF"/>
                </a:solidFill>
                <a:latin typeface="Tahoma"/>
                <a:cs typeface="Tahoma"/>
              </a:rPr>
              <a:t>per</a:t>
            </a:r>
            <a:r>
              <a:rPr sz="4000" spc="-15" dirty="0">
                <a:solidFill>
                  <a:srgbClr val="FFFFFF"/>
                </a:solidFill>
                <a:latin typeface="Tahoma"/>
                <a:cs typeface="Tahoma"/>
              </a:rPr>
              <a:t> </a:t>
            </a:r>
            <a:r>
              <a:rPr sz="4000" spc="-10" dirty="0">
                <a:solidFill>
                  <a:srgbClr val="FFFFFF"/>
                </a:solidFill>
                <a:latin typeface="Tahoma"/>
                <a:cs typeface="Tahoma"/>
              </a:rPr>
              <a:t>annum,</a:t>
            </a:r>
            <a:r>
              <a:rPr sz="4000" spc="-20" dirty="0">
                <a:solidFill>
                  <a:srgbClr val="FFFFFF"/>
                </a:solidFill>
                <a:latin typeface="Tahoma"/>
                <a:cs typeface="Tahoma"/>
              </a:rPr>
              <a:t> </a:t>
            </a:r>
            <a:r>
              <a:rPr sz="4000" spc="-5" dirty="0">
                <a:solidFill>
                  <a:srgbClr val="FFFFFF"/>
                </a:solidFill>
                <a:latin typeface="Tahoma"/>
                <a:cs typeface="Tahoma"/>
              </a:rPr>
              <a:t>and</a:t>
            </a:r>
            <a:endParaRPr sz="4000" dirty="0">
              <a:latin typeface="Tahoma"/>
              <a:cs typeface="Tahoma"/>
            </a:endParaRPr>
          </a:p>
          <a:p>
            <a:pPr marL="755650" marR="5080" indent="-320040">
              <a:lnSpc>
                <a:spcPct val="100299"/>
              </a:lnSpc>
              <a:spcBef>
                <a:spcPts val="785"/>
              </a:spcBef>
              <a:buClr>
                <a:srgbClr val="FFFFFF"/>
              </a:buClr>
              <a:buSzPct val="65000"/>
              <a:buFont typeface="Arial MT"/>
              <a:buChar char="■"/>
              <a:tabLst>
                <a:tab pos="913765" algn="l"/>
                <a:tab pos="914400" algn="l"/>
              </a:tabLst>
            </a:pPr>
            <a:r>
              <a:rPr dirty="0"/>
              <a:t>	</a:t>
            </a:r>
            <a:r>
              <a:rPr sz="4000" spc="-5" dirty="0">
                <a:solidFill>
                  <a:srgbClr val="FFFFFF"/>
                </a:solidFill>
                <a:latin typeface="Tahoma"/>
                <a:cs typeface="Tahoma"/>
              </a:rPr>
              <a:t>A, </a:t>
            </a:r>
            <a:r>
              <a:rPr sz="4000" spc="-10" dirty="0">
                <a:solidFill>
                  <a:srgbClr val="FFFFFF"/>
                </a:solidFill>
                <a:latin typeface="Tahoma"/>
                <a:cs typeface="Tahoma"/>
              </a:rPr>
              <a:t>gives </a:t>
            </a:r>
            <a:r>
              <a:rPr sz="4000" spc="-5" dirty="0">
                <a:solidFill>
                  <a:srgbClr val="FFFFFF"/>
                </a:solidFill>
                <a:latin typeface="Tahoma"/>
                <a:cs typeface="Tahoma"/>
              </a:rPr>
              <a:t>Plot 13 Abi Close, Apo, </a:t>
            </a:r>
            <a:r>
              <a:rPr sz="4000" dirty="0">
                <a:solidFill>
                  <a:srgbClr val="FFFFFF"/>
                </a:solidFill>
                <a:latin typeface="Tahoma"/>
                <a:cs typeface="Tahoma"/>
              </a:rPr>
              <a:t> </a:t>
            </a:r>
            <a:r>
              <a:rPr sz="4000" spc="-5" dirty="0">
                <a:solidFill>
                  <a:srgbClr val="FFFFFF"/>
                </a:solidFill>
                <a:latin typeface="Tahoma"/>
                <a:cs typeface="Tahoma"/>
              </a:rPr>
              <a:t>Abuja</a:t>
            </a:r>
            <a:r>
              <a:rPr sz="4000" spc="-20" dirty="0">
                <a:solidFill>
                  <a:srgbClr val="FFFFFF"/>
                </a:solidFill>
                <a:latin typeface="Tahoma"/>
                <a:cs typeface="Tahoma"/>
              </a:rPr>
              <a:t> </a:t>
            </a:r>
            <a:r>
              <a:rPr sz="4000" spc="-5" dirty="0">
                <a:solidFill>
                  <a:srgbClr val="FFFFFF"/>
                </a:solidFill>
                <a:latin typeface="Tahoma"/>
                <a:cs typeface="Tahoma"/>
              </a:rPr>
              <a:t>to</a:t>
            </a:r>
            <a:r>
              <a:rPr sz="4000" spc="-20" dirty="0">
                <a:solidFill>
                  <a:srgbClr val="FFFFFF"/>
                </a:solidFill>
                <a:latin typeface="Tahoma"/>
                <a:cs typeface="Tahoma"/>
              </a:rPr>
              <a:t> </a:t>
            </a:r>
            <a:r>
              <a:rPr sz="4000" spc="-5" dirty="0">
                <a:solidFill>
                  <a:srgbClr val="FFFFFF"/>
                </a:solidFill>
                <a:latin typeface="Tahoma"/>
                <a:cs typeface="Tahoma"/>
              </a:rPr>
              <a:t>C,</a:t>
            </a:r>
            <a:r>
              <a:rPr sz="4000" spc="-15" dirty="0">
                <a:solidFill>
                  <a:srgbClr val="FFFFFF"/>
                </a:solidFill>
                <a:latin typeface="Tahoma"/>
                <a:cs typeface="Tahoma"/>
              </a:rPr>
              <a:t> </a:t>
            </a:r>
            <a:r>
              <a:rPr sz="4000" spc="-5" dirty="0">
                <a:solidFill>
                  <a:srgbClr val="FFFFFF"/>
                </a:solidFill>
                <a:latin typeface="Tahoma"/>
                <a:cs typeface="Tahoma"/>
              </a:rPr>
              <a:t>for</a:t>
            </a:r>
            <a:r>
              <a:rPr sz="4000" spc="-15" dirty="0">
                <a:solidFill>
                  <a:srgbClr val="FFFFFF"/>
                </a:solidFill>
                <a:latin typeface="Tahoma"/>
                <a:cs typeface="Tahoma"/>
              </a:rPr>
              <a:t> </a:t>
            </a:r>
            <a:r>
              <a:rPr sz="4000" dirty="0">
                <a:solidFill>
                  <a:srgbClr val="FFFFFF"/>
                </a:solidFill>
                <a:latin typeface="Tahoma"/>
                <a:cs typeface="Tahoma"/>
              </a:rPr>
              <a:t>3</a:t>
            </a:r>
            <a:r>
              <a:rPr sz="4000" spc="-15" dirty="0">
                <a:solidFill>
                  <a:srgbClr val="FFFFFF"/>
                </a:solidFill>
                <a:latin typeface="Tahoma"/>
                <a:cs typeface="Tahoma"/>
              </a:rPr>
              <a:t> </a:t>
            </a:r>
            <a:r>
              <a:rPr sz="4000" spc="-5" dirty="0">
                <a:solidFill>
                  <a:srgbClr val="FFFFFF"/>
                </a:solidFill>
                <a:latin typeface="Tahoma"/>
                <a:cs typeface="Tahoma"/>
              </a:rPr>
              <a:t>years</a:t>
            </a:r>
            <a:r>
              <a:rPr sz="4000" spc="-15" dirty="0">
                <a:solidFill>
                  <a:srgbClr val="FFFFFF"/>
                </a:solidFill>
                <a:latin typeface="Tahoma"/>
                <a:cs typeface="Tahoma"/>
              </a:rPr>
              <a:t> </a:t>
            </a:r>
            <a:r>
              <a:rPr sz="4000" spc="-5" dirty="0">
                <a:solidFill>
                  <a:srgbClr val="FFFFFF"/>
                </a:solidFill>
                <a:latin typeface="Tahoma"/>
                <a:cs typeface="Tahoma"/>
              </a:rPr>
              <a:t>at</a:t>
            </a:r>
            <a:r>
              <a:rPr sz="4000" spc="-15" dirty="0">
                <a:solidFill>
                  <a:srgbClr val="FFFFFF"/>
                </a:solidFill>
                <a:latin typeface="Tahoma"/>
                <a:cs typeface="Tahoma"/>
              </a:rPr>
              <a:t> </a:t>
            </a:r>
            <a:r>
              <a:rPr sz="4000" dirty="0">
                <a:solidFill>
                  <a:srgbClr val="FFFFFF"/>
                </a:solidFill>
                <a:latin typeface="Tahoma"/>
                <a:cs typeface="Tahoma"/>
              </a:rPr>
              <a:t>a</a:t>
            </a:r>
            <a:r>
              <a:rPr sz="4000" spc="-20" dirty="0">
                <a:solidFill>
                  <a:srgbClr val="FFFFFF"/>
                </a:solidFill>
                <a:latin typeface="Tahoma"/>
                <a:cs typeface="Tahoma"/>
              </a:rPr>
              <a:t> </a:t>
            </a:r>
            <a:r>
              <a:rPr sz="4000" spc="-5" dirty="0">
                <a:solidFill>
                  <a:srgbClr val="FFFFFF"/>
                </a:solidFill>
                <a:latin typeface="Tahoma"/>
                <a:cs typeface="Tahoma"/>
              </a:rPr>
              <a:t>rent</a:t>
            </a:r>
            <a:r>
              <a:rPr sz="4000" spc="-10" dirty="0">
                <a:solidFill>
                  <a:srgbClr val="FFFFFF"/>
                </a:solidFill>
                <a:latin typeface="Tahoma"/>
                <a:cs typeface="Tahoma"/>
              </a:rPr>
              <a:t> of </a:t>
            </a:r>
            <a:r>
              <a:rPr sz="4000" spc="-1235" dirty="0">
                <a:solidFill>
                  <a:srgbClr val="FFFFFF"/>
                </a:solidFill>
                <a:latin typeface="Tahoma"/>
                <a:cs typeface="Tahoma"/>
              </a:rPr>
              <a:t> </a:t>
            </a:r>
            <a:r>
              <a:rPr sz="4000" spc="-5" dirty="0" smtClean="0">
                <a:solidFill>
                  <a:srgbClr val="FFFFFF"/>
                </a:solidFill>
                <a:latin typeface="Tahoma"/>
                <a:cs typeface="Tahoma"/>
              </a:rPr>
              <a:t>N1,</a:t>
            </a:r>
            <a:r>
              <a:rPr sz="4000" spc="-10" dirty="0" smtClean="0">
                <a:solidFill>
                  <a:srgbClr val="FFFFFF"/>
                </a:solidFill>
                <a:latin typeface="Tahoma"/>
                <a:cs typeface="Tahoma"/>
              </a:rPr>
              <a:t>000,000</a:t>
            </a:r>
            <a:r>
              <a:rPr sz="4000" spc="-15" dirty="0" smtClean="0">
                <a:solidFill>
                  <a:srgbClr val="FFFFFF"/>
                </a:solidFill>
                <a:latin typeface="Tahoma"/>
                <a:cs typeface="Tahoma"/>
              </a:rPr>
              <a:t> </a:t>
            </a:r>
            <a:r>
              <a:rPr sz="4000" spc="-10" dirty="0">
                <a:solidFill>
                  <a:srgbClr val="FFFFFF"/>
                </a:solidFill>
                <a:latin typeface="Tahoma"/>
                <a:cs typeface="Tahoma"/>
              </a:rPr>
              <a:t>per</a:t>
            </a:r>
            <a:r>
              <a:rPr sz="4000" spc="-15" dirty="0">
                <a:solidFill>
                  <a:srgbClr val="FFFFFF"/>
                </a:solidFill>
                <a:latin typeface="Tahoma"/>
                <a:cs typeface="Tahoma"/>
              </a:rPr>
              <a:t> </a:t>
            </a:r>
            <a:r>
              <a:rPr sz="4000" spc="-5" dirty="0">
                <a:solidFill>
                  <a:srgbClr val="FFFFFF"/>
                </a:solidFill>
                <a:latin typeface="Tahoma"/>
                <a:cs typeface="Tahoma"/>
              </a:rPr>
              <a:t>annum</a:t>
            </a:r>
            <a:endParaRPr sz="4000" dirty="0">
              <a:latin typeface="Tahoma"/>
              <a:cs typeface="Tahoma"/>
            </a:endParaRPr>
          </a:p>
          <a:p>
            <a:pPr>
              <a:lnSpc>
                <a:spcPct val="100000"/>
              </a:lnSpc>
            </a:pPr>
            <a:endParaRPr sz="5300" dirty="0">
              <a:latin typeface="Tahoma"/>
              <a:cs typeface="Tahoma"/>
            </a:endParaRPr>
          </a:p>
          <a:p>
            <a:pPr marL="12700" marR="153670">
              <a:lnSpc>
                <a:spcPct val="100499"/>
              </a:lnSpc>
              <a:spcBef>
                <a:spcPts val="5"/>
              </a:spcBef>
            </a:pPr>
            <a:r>
              <a:rPr sz="4000" spc="-5" dirty="0">
                <a:solidFill>
                  <a:srgbClr val="FFFFFF"/>
                </a:solidFill>
                <a:latin typeface="Tahoma"/>
                <a:cs typeface="Tahoma"/>
              </a:rPr>
              <a:t>Are</a:t>
            </a:r>
            <a:r>
              <a:rPr sz="4000" spc="-25" dirty="0">
                <a:solidFill>
                  <a:srgbClr val="FFFFFF"/>
                </a:solidFill>
                <a:latin typeface="Tahoma"/>
                <a:cs typeface="Tahoma"/>
              </a:rPr>
              <a:t> </a:t>
            </a:r>
            <a:r>
              <a:rPr sz="4000" spc="-5" dirty="0">
                <a:solidFill>
                  <a:srgbClr val="FFFFFF"/>
                </a:solidFill>
                <a:latin typeface="Tahoma"/>
                <a:cs typeface="Tahoma"/>
              </a:rPr>
              <a:t>the</a:t>
            </a:r>
            <a:r>
              <a:rPr sz="4000" spc="-25" dirty="0">
                <a:solidFill>
                  <a:srgbClr val="FFFFFF"/>
                </a:solidFill>
                <a:latin typeface="Tahoma"/>
                <a:cs typeface="Tahoma"/>
              </a:rPr>
              <a:t> </a:t>
            </a:r>
            <a:r>
              <a:rPr sz="4000" spc="-5" dirty="0">
                <a:solidFill>
                  <a:srgbClr val="FFFFFF"/>
                </a:solidFill>
                <a:latin typeface="Tahoma"/>
                <a:cs typeface="Tahoma"/>
              </a:rPr>
              <a:t>legal</a:t>
            </a:r>
            <a:r>
              <a:rPr sz="4000" spc="-25" dirty="0">
                <a:solidFill>
                  <a:srgbClr val="FFFFFF"/>
                </a:solidFill>
                <a:latin typeface="Tahoma"/>
                <a:cs typeface="Tahoma"/>
              </a:rPr>
              <a:t> </a:t>
            </a:r>
            <a:r>
              <a:rPr sz="4000" spc="-5" dirty="0">
                <a:solidFill>
                  <a:srgbClr val="FFFFFF"/>
                </a:solidFill>
                <a:latin typeface="Tahoma"/>
                <a:cs typeface="Tahoma"/>
              </a:rPr>
              <a:t>relationships</a:t>
            </a:r>
            <a:r>
              <a:rPr sz="4000" spc="-20" dirty="0">
                <a:solidFill>
                  <a:srgbClr val="FFFFFF"/>
                </a:solidFill>
                <a:latin typeface="Tahoma"/>
                <a:cs typeface="Tahoma"/>
              </a:rPr>
              <a:t> </a:t>
            </a:r>
            <a:r>
              <a:rPr sz="4000" spc="-10" dirty="0">
                <a:solidFill>
                  <a:srgbClr val="FFFFFF"/>
                </a:solidFill>
                <a:latin typeface="Tahoma"/>
                <a:cs typeface="Tahoma"/>
              </a:rPr>
              <a:t>between</a:t>
            </a:r>
            <a:r>
              <a:rPr sz="4000" spc="-20" dirty="0">
                <a:solidFill>
                  <a:srgbClr val="FFFFFF"/>
                </a:solidFill>
                <a:latin typeface="Tahoma"/>
                <a:cs typeface="Tahoma"/>
              </a:rPr>
              <a:t> </a:t>
            </a:r>
            <a:r>
              <a:rPr sz="4000" dirty="0">
                <a:solidFill>
                  <a:srgbClr val="FFFFFF"/>
                </a:solidFill>
                <a:latin typeface="Tahoma"/>
                <a:cs typeface="Tahoma"/>
              </a:rPr>
              <a:t>A </a:t>
            </a:r>
            <a:r>
              <a:rPr sz="4000" spc="-1235" dirty="0">
                <a:solidFill>
                  <a:srgbClr val="FFFFFF"/>
                </a:solidFill>
                <a:latin typeface="Tahoma"/>
                <a:cs typeface="Tahoma"/>
              </a:rPr>
              <a:t> </a:t>
            </a:r>
            <a:r>
              <a:rPr sz="4000" spc="-5" dirty="0">
                <a:solidFill>
                  <a:srgbClr val="FFFFFF"/>
                </a:solidFill>
                <a:latin typeface="Tahoma"/>
                <a:cs typeface="Tahoma"/>
              </a:rPr>
              <a:t>vis</a:t>
            </a:r>
            <a:r>
              <a:rPr sz="4000" spc="-10" dirty="0">
                <a:solidFill>
                  <a:srgbClr val="FFFFFF"/>
                </a:solidFill>
                <a:latin typeface="Tahoma"/>
                <a:cs typeface="Tahoma"/>
              </a:rPr>
              <a:t> </a:t>
            </a:r>
            <a:r>
              <a:rPr sz="4000" dirty="0">
                <a:solidFill>
                  <a:srgbClr val="FFFFFF"/>
                </a:solidFill>
                <a:latin typeface="Tahoma"/>
                <a:cs typeface="Tahoma"/>
              </a:rPr>
              <a:t>B</a:t>
            </a:r>
            <a:r>
              <a:rPr sz="4000" spc="-10" dirty="0">
                <a:solidFill>
                  <a:srgbClr val="FFFFFF"/>
                </a:solidFill>
                <a:latin typeface="Tahoma"/>
                <a:cs typeface="Tahoma"/>
              </a:rPr>
              <a:t> </a:t>
            </a:r>
            <a:r>
              <a:rPr sz="4000" dirty="0">
                <a:solidFill>
                  <a:srgbClr val="FFFFFF"/>
                </a:solidFill>
                <a:latin typeface="Tahoma"/>
                <a:cs typeface="Tahoma"/>
              </a:rPr>
              <a:t>&amp;</a:t>
            </a:r>
            <a:r>
              <a:rPr sz="4000" spc="-10" dirty="0">
                <a:solidFill>
                  <a:srgbClr val="FFFFFF"/>
                </a:solidFill>
                <a:latin typeface="Tahoma"/>
                <a:cs typeface="Tahoma"/>
              </a:rPr>
              <a:t> </a:t>
            </a:r>
            <a:r>
              <a:rPr sz="4000" dirty="0">
                <a:solidFill>
                  <a:srgbClr val="FFFFFF"/>
                </a:solidFill>
                <a:latin typeface="Tahoma"/>
                <a:cs typeface="Tahoma"/>
              </a:rPr>
              <a:t>C</a:t>
            </a:r>
            <a:r>
              <a:rPr sz="4000" spc="-15" dirty="0">
                <a:solidFill>
                  <a:srgbClr val="FFFFFF"/>
                </a:solidFill>
                <a:latin typeface="Tahoma"/>
                <a:cs typeface="Tahoma"/>
              </a:rPr>
              <a:t> </a:t>
            </a:r>
            <a:r>
              <a:rPr sz="4000" spc="-5" dirty="0">
                <a:solidFill>
                  <a:srgbClr val="FFFFFF"/>
                </a:solidFill>
                <a:latin typeface="Tahoma"/>
                <a:cs typeface="Tahoma"/>
              </a:rPr>
              <a:t>the</a:t>
            </a:r>
            <a:r>
              <a:rPr sz="4000" spc="-15" dirty="0">
                <a:solidFill>
                  <a:srgbClr val="FFFFFF"/>
                </a:solidFill>
                <a:latin typeface="Tahoma"/>
                <a:cs typeface="Tahoma"/>
              </a:rPr>
              <a:t> </a:t>
            </a:r>
            <a:r>
              <a:rPr sz="4000" spc="-5" dirty="0">
                <a:solidFill>
                  <a:srgbClr val="FFFFFF"/>
                </a:solidFill>
                <a:latin typeface="Tahoma"/>
                <a:cs typeface="Tahoma"/>
              </a:rPr>
              <a:t>same?</a:t>
            </a:r>
            <a:endParaRPr sz="4000" dirty="0">
              <a:latin typeface="Tahoma"/>
              <a:cs typeface="Tahoma"/>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933674" y="243903"/>
            <a:ext cx="5269230" cy="751488"/>
          </a:xfrm>
          <a:prstGeom prst="rect">
            <a:avLst/>
          </a:prstGeom>
        </p:spPr>
        <p:txBody>
          <a:bodyPr vert="horz" wrap="square" lIns="0" tIns="12700" rIns="0" bIns="0" rtlCol="0">
            <a:spAutoFit/>
          </a:bodyPr>
          <a:lstStyle/>
          <a:p>
            <a:pPr marL="12700">
              <a:lnSpc>
                <a:spcPct val="100000"/>
              </a:lnSpc>
              <a:spcBef>
                <a:spcPts val="100"/>
              </a:spcBef>
            </a:pPr>
            <a:r>
              <a:rPr spc="-5" smtClean="0">
                <a:solidFill>
                  <a:srgbClr val="FFFFCC"/>
                </a:solidFill>
              </a:rPr>
              <a:t>Creation</a:t>
            </a:r>
            <a:r>
              <a:rPr spc="-60" smtClean="0">
                <a:solidFill>
                  <a:srgbClr val="FFFFCC"/>
                </a:solidFill>
              </a:rPr>
              <a:t> </a:t>
            </a:r>
            <a:r>
              <a:rPr spc="-5" dirty="0">
                <a:solidFill>
                  <a:srgbClr val="FFFFCC"/>
                </a:solidFill>
              </a:rPr>
              <a:t>of</a:t>
            </a:r>
            <a:r>
              <a:rPr spc="-60" dirty="0">
                <a:solidFill>
                  <a:srgbClr val="FFFFCC"/>
                </a:solidFill>
              </a:rPr>
              <a:t> </a:t>
            </a:r>
            <a:r>
              <a:rPr spc="-5" dirty="0">
                <a:solidFill>
                  <a:srgbClr val="FFFFCC"/>
                </a:solidFill>
              </a:rPr>
              <a:t>leases</a:t>
            </a:r>
          </a:p>
        </p:txBody>
      </p:sp>
      <p:sp>
        <p:nvSpPr>
          <p:cNvPr id="3" name="object 3"/>
          <p:cNvSpPr txBox="1"/>
          <p:nvPr/>
        </p:nvSpPr>
        <p:spPr>
          <a:xfrm>
            <a:off x="114942" y="1198879"/>
            <a:ext cx="8154034" cy="5422900"/>
          </a:xfrm>
          <a:prstGeom prst="rect">
            <a:avLst/>
          </a:prstGeom>
        </p:spPr>
        <p:txBody>
          <a:bodyPr vert="horz" wrap="square" lIns="0" tIns="114300" rIns="0" bIns="0" rtlCol="0">
            <a:spAutoFit/>
          </a:bodyPr>
          <a:lstStyle/>
          <a:p>
            <a:pPr marL="389255" indent="-377190" algn="just">
              <a:lnSpc>
                <a:spcPct val="100000"/>
              </a:lnSpc>
              <a:spcBef>
                <a:spcPts val="900"/>
              </a:spcBef>
              <a:buClr>
                <a:srgbClr val="FFFF99"/>
              </a:buClr>
              <a:buSzPct val="65000"/>
              <a:buFont typeface="Arial"/>
              <a:buChar char="■"/>
              <a:tabLst>
                <a:tab pos="389890" algn="l"/>
              </a:tabLst>
            </a:pPr>
            <a:r>
              <a:rPr sz="4000" b="1" spc="-10" dirty="0">
                <a:solidFill>
                  <a:srgbClr val="FFFFFF"/>
                </a:solidFill>
                <a:latin typeface="Tahoma"/>
                <a:cs typeface="Tahoma"/>
              </a:rPr>
              <a:t>Written</a:t>
            </a:r>
            <a:r>
              <a:rPr sz="4000" b="1" spc="-60" dirty="0">
                <a:solidFill>
                  <a:srgbClr val="FFFFFF"/>
                </a:solidFill>
                <a:latin typeface="Tahoma"/>
                <a:cs typeface="Tahoma"/>
              </a:rPr>
              <a:t> </a:t>
            </a:r>
            <a:r>
              <a:rPr sz="4000" b="1" spc="-5" dirty="0">
                <a:solidFill>
                  <a:srgbClr val="FFFFFF"/>
                </a:solidFill>
                <a:latin typeface="Tahoma"/>
                <a:cs typeface="Tahoma"/>
              </a:rPr>
              <a:t>Lease:</a:t>
            </a:r>
            <a:endParaRPr sz="4000">
              <a:latin typeface="Tahoma"/>
              <a:cs typeface="Tahoma"/>
            </a:endParaRPr>
          </a:p>
          <a:p>
            <a:pPr marL="389255" indent="-284480" algn="just">
              <a:lnSpc>
                <a:spcPct val="100000"/>
              </a:lnSpc>
              <a:spcBef>
                <a:spcPts val="800"/>
              </a:spcBef>
              <a:buClr>
                <a:srgbClr val="FFFF99"/>
              </a:buClr>
              <a:buSzPct val="65000"/>
              <a:buFont typeface="Microsoft Sans Serif"/>
              <a:buChar char="-"/>
              <a:tabLst>
                <a:tab pos="389890" algn="l"/>
              </a:tabLst>
            </a:pPr>
            <a:r>
              <a:rPr lang="en-US" sz="4000" dirty="0" smtClean="0">
                <a:solidFill>
                  <a:srgbClr val="FFFFFF"/>
                </a:solidFill>
                <a:latin typeface="Tahoma"/>
                <a:cs typeface="Tahoma"/>
              </a:rPr>
              <a:t>A</a:t>
            </a:r>
            <a:r>
              <a:rPr sz="4000" spc="-25" smtClean="0">
                <a:solidFill>
                  <a:srgbClr val="FFFFFF"/>
                </a:solidFill>
                <a:latin typeface="Tahoma"/>
                <a:cs typeface="Tahoma"/>
              </a:rPr>
              <a:t> </a:t>
            </a:r>
            <a:r>
              <a:rPr sz="4000" spc="-5" dirty="0">
                <a:solidFill>
                  <a:srgbClr val="FFFFFF"/>
                </a:solidFill>
                <a:latin typeface="Tahoma"/>
                <a:cs typeface="Tahoma"/>
              </a:rPr>
              <a:t>term</a:t>
            </a:r>
            <a:r>
              <a:rPr sz="4000" spc="-25" dirty="0">
                <a:solidFill>
                  <a:srgbClr val="FFFFFF"/>
                </a:solidFill>
                <a:latin typeface="Tahoma"/>
                <a:cs typeface="Tahoma"/>
              </a:rPr>
              <a:t> </a:t>
            </a:r>
            <a:r>
              <a:rPr sz="4000" spc="-5" dirty="0">
                <a:solidFill>
                  <a:srgbClr val="FFFFFF"/>
                </a:solidFill>
                <a:latin typeface="Tahoma"/>
                <a:cs typeface="Tahoma"/>
              </a:rPr>
              <a:t>not</a:t>
            </a:r>
            <a:r>
              <a:rPr sz="4000" spc="-25" dirty="0">
                <a:solidFill>
                  <a:srgbClr val="FFFFFF"/>
                </a:solidFill>
                <a:latin typeface="Tahoma"/>
                <a:cs typeface="Tahoma"/>
              </a:rPr>
              <a:t> </a:t>
            </a:r>
            <a:r>
              <a:rPr sz="4000" spc="-5" dirty="0">
                <a:solidFill>
                  <a:srgbClr val="FFFFFF"/>
                </a:solidFill>
                <a:latin typeface="Tahoma"/>
                <a:cs typeface="Tahoma"/>
              </a:rPr>
              <a:t>exceeding</a:t>
            </a:r>
            <a:r>
              <a:rPr sz="4000" spc="-20" dirty="0">
                <a:solidFill>
                  <a:srgbClr val="FFFFFF"/>
                </a:solidFill>
                <a:latin typeface="Tahoma"/>
                <a:cs typeface="Tahoma"/>
              </a:rPr>
              <a:t> </a:t>
            </a:r>
            <a:r>
              <a:rPr sz="4000" dirty="0">
                <a:solidFill>
                  <a:srgbClr val="FFFFFF"/>
                </a:solidFill>
                <a:latin typeface="Tahoma"/>
                <a:cs typeface="Tahoma"/>
              </a:rPr>
              <a:t>3</a:t>
            </a:r>
            <a:r>
              <a:rPr sz="4000" spc="-20" dirty="0">
                <a:solidFill>
                  <a:srgbClr val="FFFFFF"/>
                </a:solidFill>
                <a:latin typeface="Tahoma"/>
                <a:cs typeface="Tahoma"/>
              </a:rPr>
              <a:t> </a:t>
            </a:r>
            <a:r>
              <a:rPr sz="4000" spc="-5" dirty="0">
                <a:solidFill>
                  <a:srgbClr val="FFFFFF"/>
                </a:solidFill>
                <a:latin typeface="Tahoma"/>
                <a:cs typeface="Tahoma"/>
              </a:rPr>
              <a:t>years</a:t>
            </a:r>
            <a:endParaRPr sz="4000">
              <a:latin typeface="Tahoma"/>
              <a:cs typeface="Tahoma"/>
            </a:endParaRPr>
          </a:p>
          <a:p>
            <a:pPr marL="389255" marR="5080" indent="-26034" algn="just">
              <a:lnSpc>
                <a:spcPct val="100299"/>
              </a:lnSpc>
              <a:spcBef>
                <a:spcPts val="810"/>
              </a:spcBef>
            </a:pPr>
            <a:r>
              <a:rPr sz="4000" spc="-5" dirty="0">
                <a:solidFill>
                  <a:srgbClr val="FFFFFF"/>
                </a:solidFill>
                <a:latin typeface="Tahoma"/>
                <a:cs typeface="Tahoma"/>
              </a:rPr>
              <a:t>S. </a:t>
            </a:r>
            <a:r>
              <a:rPr sz="4000" dirty="0">
                <a:solidFill>
                  <a:srgbClr val="FFFFFF"/>
                </a:solidFill>
                <a:latin typeface="Tahoma"/>
                <a:cs typeface="Tahoma"/>
              </a:rPr>
              <a:t>4 </a:t>
            </a:r>
            <a:r>
              <a:rPr sz="4000" spc="-5" dirty="0">
                <a:solidFill>
                  <a:srgbClr val="FFFFFF"/>
                </a:solidFill>
                <a:latin typeface="Tahoma"/>
                <a:cs typeface="Tahoma"/>
              </a:rPr>
              <a:t>Statute of Frauds </a:t>
            </a:r>
            <a:r>
              <a:rPr sz="4000" spc="-10" dirty="0">
                <a:solidFill>
                  <a:srgbClr val="FFFFFF"/>
                </a:solidFill>
                <a:latin typeface="Tahoma"/>
                <a:cs typeface="Tahoma"/>
              </a:rPr>
              <a:t>(1677); </a:t>
            </a:r>
            <a:r>
              <a:rPr sz="4000" spc="-5" dirty="0">
                <a:solidFill>
                  <a:srgbClr val="FFFFFF"/>
                </a:solidFill>
                <a:latin typeface="Tahoma"/>
                <a:cs typeface="Tahoma"/>
              </a:rPr>
              <a:t>S. </a:t>
            </a:r>
            <a:r>
              <a:rPr sz="4000" dirty="0">
                <a:solidFill>
                  <a:srgbClr val="FFFFFF"/>
                </a:solidFill>
                <a:latin typeface="Tahoma"/>
                <a:cs typeface="Tahoma"/>
              </a:rPr>
              <a:t>5 </a:t>
            </a:r>
            <a:r>
              <a:rPr sz="4000" spc="-1235" dirty="0">
                <a:solidFill>
                  <a:srgbClr val="FFFFFF"/>
                </a:solidFill>
                <a:latin typeface="Tahoma"/>
                <a:cs typeface="Tahoma"/>
              </a:rPr>
              <a:t> </a:t>
            </a:r>
            <a:r>
              <a:rPr sz="4000" spc="-5" dirty="0">
                <a:solidFill>
                  <a:srgbClr val="FFFFFF"/>
                </a:solidFill>
                <a:latin typeface="Tahoma"/>
                <a:cs typeface="Tahoma"/>
              </a:rPr>
              <a:t>Law</a:t>
            </a:r>
            <a:r>
              <a:rPr sz="4000" spc="-25" dirty="0">
                <a:solidFill>
                  <a:srgbClr val="FFFFFF"/>
                </a:solidFill>
                <a:latin typeface="Tahoma"/>
                <a:cs typeface="Tahoma"/>
              </a:rPr>
              <a:t> </a:t>
            </a:r>
            <a:r>
              <a:rPr sz="4000" spc="-5" dirty="0">
                <a:solidFill>
                  <a:srgbClr val="FFFFFF"/>
                </a:solidFill>
                <a:latin typeface="Tahoma"/>
                <a:cs typeface="Tahoma"/>
              </a:rPr>
              <a:t>Reform</a:t>
            </a:r>
            <a:r>
              <a:rPr sz="4000" spc="-25" dirty="0">
                <a:solidFill>
                  <a:srgbClr val="FFFFFF"/>
                </a:solidFill>
                <a:latin typeface="Tahoma"/>
                <a:cs typeface="Tahoma"/>
              </a:rPr>
              <a:t> </a:t>
            </a:r>
            <a:r>
              <a:rPr sz="4000" spc="-10" dirty="0">
                <a:solidFill>
                  <a:srgbClr val="FFFFFF"/>
                </a:solidFill>
                <a:latin typeface="Tahoma"/>
                <a:cs typeface="Tahoma"/>
              </a:rPr>
              <a:t>(Contracts)</a:t>
            </a:r>
            <a:r>
              <a:rPr sz="4000" spc="-25" dirty="0">
                <a:solidFill>
                  <a:srgbClr val="FFFFFF"/>
                </a:solidFill>
                <a:latin typeface="Tahoma"/>
                <a:cs typeface="Tahoma"/>
              </a:rPr>
              <a:t> </a:t>
            </a:r>
            <a:r>
              <a:rPr sz="4000" spc="-5" dirty="0">
                <a:solidFill>
                  <a:srgbClr val="FFFFFF"/>
                </a:solidFill>
                <a:latin typeface="Tahoma"/>
                <a:cs typeface="Tahoma"/>
              </a:rPr>
              <a:t>Act</a:t>
            </a:r>
            <a:r>
              <a:rPr sz="4000" spc="-25" dirty="0">
                <a:solidFill>
                  <a:srgbClr val="FFFFFF"/>
                </a:solidFill>
                <a:latin typeface="Tahoma"/>
                <a:cs typeface="Tahoma"/>
              </a:rPr>
              <a:t> </a:t>
            </a:r>
            <a:r>
              <a:rPr sz="4000" dirty="0">
                <a:solidFill>
                  <a:srgbClr val="FFFFFF"/>
                </a:solidFill>
                <a:latin typeface="Tahoma"/>
                <a:cs typeface="Tahoma"/>
              </a:rPr>
              <a:t>&amp;</a:t>
            </a:r>
            <a:r>
              <a:rPr sz="4000" spc="-25" dirty="0">
                <a:solidFill>
                  <a:srgbClr val="FFFFFF"/>
                </a:solidFill>
                <a:latin typeface="Tahoma"/>
                <a:cs typeface="Tahoma"/>
              </a:rPr>
              <a:t> </a:t>
            </a:r>
            <a:r>
              <a:rPr sz="4000" spc="-5" dirty="0">
                <a:solidFill>
                  <a:srgbClr val="FFFFFF"/>
                </a:solidFill>
                <a:latin typeface="Tahoma"/>
                <a:cs typeface="Tahoma"/>
              </a:rPr>
              <a:t>Law </a:t>
            </a:r>
            <a:r>
              <a:rPr sz="4000" spc="-1240" dirty="0">
                <a:solidFill>
                  <a:srgbClr val="FFFFFF"/>
                </a:solidFill>
                <a:latin typeface="Tahoma"/>
                <a:cs typeface="Tahoma"/>
              </a:rPr>
              <a:t> </a:t>
            </a:r>
            <a:r>
              <a:rPr sz="4000" spc="-5" dirty="0">
                <a:solidFill>
                  <a:srgbClr val="FFFFFF"/>
                </a:solidFill>
                <a:latin typeface="Tahoma"/>
                <a:cs typeface="Tahoma"/>
              </a:rPr>
              <a:t>of</a:t>
            </a:r>
            <a:r>
              <a:rPr sz="4000" spc="-15" dirty="0">
                <a:solidFill>
                  <a:srgbClr val="FFFFFF"/>
                </a:solidFill>
                <a:latin typeface="Tahoma"/>
                <a:cs typeface="Tahoma"/>
              </a:rPr>
              <a:t> </a:t>
            </a:r>
            <a:r>
              <a:rPr sz="4000" spc="-5" dirty="0">
                <a:solidFill>
                  <a:srgbClr val="FFFFFF"/>
                </a:solidFill>
                <a:latin typeface="Tahoma"/>
                <a:cs typeface="Tahoma"/>
              </a:rPr>
              <a:t>Lagos</a:t>
            </a:r>
            <a:r>
              <a:rPr sz="4000" spc="-15" dirty="0">
                <a:solidFill>
                  <a:srgbClr val="FFFFFF"/>
                </a:solidFill>
                <a:latin typeface="Tahoma"/>
                <a:cs typeface="Tahoma"/>
              </a:rPr>
              <a:t> </a:t>
            </a:r>
            <a:r>
              <a:rPr sz="4000" spc="-5" dirty="0">
                <a:solidFill>
                  <a:srgbClr val="FFFFFF"/>
                </a:solidFill>
                <a:latin typeface="Tahoma"/>
                <a:cs typeface="Tahoma"/>
              </a:rPr>
              <a:t>State</a:t>
            </a:r>
            <a:endParaRPr sz="4000">
              <a:latin typeface="Tahoma"/>
              <a:cs typeface="Tahoma"/>
            </a:endParaRPr>
          </a:p>
          <a:p>
            <a:pPr marL="389255" indent="-284480" algn="just">
              <a:lnSpc>
                <a:spcPct val="100000"/>
              </a:lnSpc>
              <a:spcBef>
                <a:spcPts val="800"/>
              </a:spcBef>
              <a:buClr>
                <a:srgbClr val="FFFF99"/>
              </a:buClr>
              <a:buSzPct val="65000"/>
              <a:buFont typeface="Microsoft Sans Serif"/>
              <a:buChar char="-"/>
              <a:tabLst>
                <a:tab pos="389890" algn="l"/>
              </a:tabLst>
            </a:pPr>
            <a:r>
              <a:rPr lang="en-US" sz="4000" spc="-5" dirty="0" smtClean="0">
                <a:solidFill>
                  <a:srgbClr val="FFFFFF"/>
                </a:solidFill>
                <a:latin typeface="Tahoma"/>
                <a:cs typeface="Tahoma"/>
              </a:rPr>
              <a:t>Simple</a:t>
            </a:r>
            <a:r>
              <a:rPr lang="en-US" sz="4000" spc="-35" dirty="0" smtClean="0">
                <a:solidFill>
                  <a:srgbClr val="FFFFFF"/>
                </a:solidFill>
                <a:latin typeface="Tahoma"/>
                <a:cs typeface="Tahoma"/>
              </a:rPr>
              <a:t> </a:t>
            </a:r>
            <a:r>
              <a:rPr sz="4000" spc="-5" smtClean="0">
                <a:solidFill>
                  <a:srgbClr val="FFFFFF"/>
                </a:solidFill>
                <a:latin typeface="Tahoma"/>
                <a:cs typeface="Tahoma"/>
              </a:rPr>
              <a:t>tenancy</a:t>
            </a:r>
            <a:r>
              <a:rPr sz="4000" spc="-40" smtClean="0">
                <a:solidFill>
                  <a:srgbClr val="FFFFFF"/>
                </a:solidFill>
                <a:latin typeface="Tahoma"/>
                <a:cs typeface="Tahoma"/>
              </a:rPr>
              <a:t> </a:t>
            </a:r>
            <a:r>
              <a:rPr sz="4000" spc="-10" smtClean="0">
                <a:solidFill>
                  <a:srgbClr val="FFFFFF"/>
                </a:solidFill>
                <a:latin typeface="Tahoma"/>
                <a:cs typeface="Tahoma"/>
              </a:rPr>
              <a:t>agreement</a:t>
            </a:r>
            <a:r>
              <a:rPr lang="en-US" sz="4000" spc="-10" dirty="0" smtClean="0">
                <a:solidFill>
                  <a:srgbClr val="FFFFFF"/>
                </a:solidFill>
                <a:latin typeface="Tahoma"/>
                <a:cs typeface="Tahoma"/>
              </a:rPr>
              <a:t> suffices</a:t>
            </a:r>
            <a:endParaRPr sz="4000">
              <a:latin typeface="Tahoma"/>
              <a:cs typeface="Tahoma"/>
            </a:endParaRPr>
          </a:p>
          <a:p>
            <a:pPr marL="389255" marR="649605" indent="-284480" algn="just">
              <a:lnSpc>
                <a:spcPct val="100499"/>
              </a:lnSpc>
              <a:spcBef>
                <a:spcPts val="800"/>
              </a:spcBef>
              <a:buClr>
                <a:srgbClr val="FFFF99"/>
              </a:buClr>
              <a:buSzPct val="65000"/>
              <a:buFont typeface="Microsoft Sans Serif"/>
              <a:buChar char="-"/>
              <a:tabLst>
                <a:tab pos="389890" algn="l"/>
              </a:tabLst>
            </a:pPr>
            <a:r>
              <a:rPr lang="en-US" sz="4000" spc="-10" dirty="0" smtClean="0">
                <a:solidFill>
                  <a:srgbClr val="FFFFFF"/>
                </a:solidFill>
                <a:latin typeface="Tahoma"/>
                <a:cs typeface="Tahoma"/>
              </a:rPr>
              <a:t>May </a:t>
            </a:r>
            <a:r>
              <a:rPr sz="4000" spc="-5" smtClean="0">
                <a:solidFill>
                  <a:srgbClr val="FFFFFF"/>
                </a:solidFill>
                <a:latin typeface="Tahoma"/>
                <a:cs typeface="Tahoma"/>
              </a:rPr>
              <a:t>be </a:t>
            </a:r>
            <a:r>
              <a:rPr sz="4000" b="1" spc="-5" dirty="0">
                <a:solidFill>
                  <a:srgbClr val="FFFFFF"/>
                </a:solidFill>
                <a:latin typeface="Tahoma"/>
                <a:cs typeface="Tahoma"/>
              </a:rPr>
              <a:t>periodic </a:t>
            </a:r>
            <a:r>
              <a:rPr sz="4000" spc="-5" dirty="0">
                <a:solidFill>
                  <a:srgbClr val="FFFFFF"/>
                </a:solidFill>
                <a:latin typeface="Tahoma"/>
                <a:cs typeface="Tahoma"/>
              </a:rPr>
              <a:t>or for </a:t>
            </a:r>
            <a:r>
              <a:rPr sz="4000" dirty="0">
                <a:solidFill>
                  <a:srgbClr val="FFFFFF"/>
                </a:solidFill>
                <a:latin typeface="Tahoma"/>
                <a:cs typeface="Tahoma"/>
              </a:rPr>
              <a:t>a </a:t>
            </a:r>
            <a:r>
              <a:rPr sz="4000" b="1" spc="-5" dirty="0">
                <a:solidFill>
                  <a:srgbClr val="FFFFFF"/>
                </a:solidFill>
                <a:latin typeface="Tahoma"/>
                <a:cs typeface="Tahoma"/>
              </a:rPr>
              <a:t>fixed </a:t>
            </a:r>
            <a:r>
              <a:rPr sz="4000" b="1" spc="-1160" dirty="0">
                <a:solidFill>
                  <a:srgbClr val="FFFFFF"/>
                </a:solidFill>
                <a:latin typeface="Tahoma"/>
                <a:cs typeface="Tahoma"/>
              </a:rPr>
              <a:t> </a:t>
            </a:r>
            <a:r>
              <a:rPr sz="4000" b="1" spc="-5" dirty="0">
                <a:solidFill>
                  <a:srgbClr val="FFFFFF"/>
                </a:solidFill>
                <a:latin typeface="Tahoma"/>
                <a:cs typeface="Tahoma"/>
              </a:rPr>
              <a:t>period</a:t>
            </a:r>
            <a:endParaRPr sz="4000">
              <a:latin typeface="Tahoma"/>
              <a:cs typeface="Tahoma"/>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91142" y="157479"/>
            <a:ext cx="8703945" cy="6140450"/>
          </a:xfrm>
          <a:prstGeom prst="rect">
            <a:avLst/>
          </a:prstGeom>
        </p:spPr>
        <p:txBody>
          <a:bodyPr vert="horz" wrap="square" lIns="0" tIns="12700" rIns="0" bIns="0" rtlCol="0">
            <a:spAutoFit/>
          </a:bodyPr>
          <a:lstStyle/>
          <a:p>
            <a:pPr marL="46355" marR="5080" indent="148590">
              <a:lnSpc>
                <a:spcPct val="100000"/>
              </a:lnSpc>
              <a:spcBef>
                <a:spcPts val="100"/>
              </a:spcBef>
              <a:tabLst>
                <a:tab pos="7327265" algn="l"/>
              </a:tabLst>
            </a:pPr>
            <a:r>
              <a:rPr sz="4000" spc="-5" dirty="0">
                <a:solidFill>
                  <a:srgbClr val="FFFFFF"/>
                </a:solidFill>
                <a:latin typeface="Tahoma"/>
                <a:cs typeface="Tahoma"/>
              </a:rPr>
              <a:t>A.P</a:t>
            </a:r>
            <a:r>
              <a:rPr sz="4000" dirty="0">
                <a:solidFill>
                  <a:srgbClr val="FFFFFF"/>
                </a:solidFill>
                <a:latin typeface="Tahoma"/>
                <a:cs typeface="Tahoma"/>
              </a:rPr>
              <a:t>.</a:t>
            </a:r>
            <a:r>
              <a:rPr sz="4000" spc="-10" dirty="0">
                <a:solidFill>
                  <a:srgbClr val="FFFFFF"/>
                </a:solidFill>
                <a:latin typeface="Tahoma"/>
                <a:cs typeface="Tahoma"/>
              </a:rPr>
              <a:t> </a:t>
            </a:r>
            <a:r>
              <a:rPr sz="4000" spc="-5" dirty="0">
                <a:solidFill>
                  <a:srgbClr val="FFFFFF"/>
                </a:solidFill>
                <a:latin typeface="Tahoma"/>
                <a:cs typeface="Tahoma"/>
              </a:rPr>
              <a:t>Ltd</a:t>
            </a:r>
            <a:r>
              <a:rPr sz="4000" dirty="0">
                <a:solidFill>
                  <a:srgbClr val="FFFFFF"/>
                </a:solidFill>
                <a:latin typeface="Tahoma"/>
                <a:cs typeface="Tahoma"/>
              </a:rPr>
              <a:t>.</a:t>
            </a:r>
            <a:r>
              <a:rPr sz="4000" spc="-10" dirty="0">
                <a:solidFill>
                  <a:srgbClr val="FFFFFF"/>
                </a:solidFill>
                <a:latin typeface="Tahoma"/>
                <a:cs typeface="Tahoma"/>
              </a:rPr>
              <a:t> </a:t>
            </a:r>
            <a:r>
              <a:rPr sz="4000" dirty="0">
                <a:solidFill>
                  <a:srgbClr val="FFFFFF"/>
                </a:solidFill>
                <a:latin typeface="Tahoma"/>
                <a:cs typeface="Tahoma"/>
              </a:rPr>
              <a:t>v</a:t>
            </a:r>
            <a:r>
              <a:rPr sz="4000" spc="-5" dirty="0">
                <a:solidFill>
                  <a:srgbClr val="FFFFFF"/>
                </a:solidFill>
                <a:latin typeface="Tahoma"/>
                <a:cs typeface="Tahoma"/>
              </a:rPr>
              <a:t> Owodunn</a:t>
            </a:r>
            <a:r>
              <a:rPr sz="4000" dirty="0">
                <a:solidFill>
                  <a:srgbClr val="FFFFFF"/>
                </a:solidFill>
                <a:latin typeface="Tahoma"/>
                <a:cs typeface="Tahoma"/>
              </a:rPr>
              <a:t>i</a:t>
            </a:r>
            <a:r>
              <a:rPr sz="4000" spc="-10" dirty="0">
                <a:solidFill>
                  <a:srgbClr val="FFFFFF"/>
                </a:solidFill>
                <a:latin typeface="Tahoma"/>
                <a:cs typeface="Tahoma"/>
              </a:rPr>
              <a:t> (1991</a:t>
            </a:r>
            <a:r>
              <a:rPr sz="4000" dirty="0">
                <a:solidFill>
                  <a:srgbClr val="FFFFFF"/>
                </a:solidFill>
                <a:latin typeface="Tahoma"/>
                <a:cs typeface="Tahoma"/>
              </a:rPr>
              <a:t>)</a:t>
            </a:r>
            <a:r>
              <a:rPr sz="4000" spc="-10" dirty="0">
                <a:solidFill>
                  <a:srgbClr val="FFFFFF"/>
                </a:solidFill>
                <a:latin typeface="Tahoma"/>
                <a:cs typeface="Tahoma"/>
              </a:rPr>
              <a:t> </a:t>
            </a:r>
            <a:r>
              <a:rPr sz="4000" dirty="0">
                <a:solidFill>
                  <a:srgbClr val="FFFFFF"/>
                </a:solidFill>
                <a:latin typeface="Tahoma"/>
                <a:cs typeface="Tahoma"/>
              </a:rPr>
              <a:t>8	</a:t>
            </a:r>
            <a:r>
              <a:rPr sz="4000" spc="-5" dirty="0">
                <a:solidFill>
                  <a:srgbClr val="FFFFFF"/>
                </a:solidFill>
                <a:latin typeface="Tahoma"/>
                <a:cs typeface="Tahoma"/>
              </a:rPr>
              <a:t>NWLR  </a:t>
            </a:r>
            <a:r>
              <a:rPr sz="4000" spc="-10" dirty="0">
                <a:solidFill>
                  <a:srgbClr val="FFFFFF"/>
                </a:solidFill>
                <a:latin typeface="Tahoma"/>
                <a:cs typeface="Tahoma"/>
              </a:rPr>
              <a:t>(Pt.</a:t>
            </a:r>
            <a:r>
              <a:rPr sz="4000" spc="-15" dirty="0">
                <a:solidFill>
                  <a:srgbClr val="FFFFFF"/>
                </a:solidFill>
                <a:latin typeface="Tahoma"/>
                <a:cs typeface="Tahoma"/>
              </a:rPr>
              <a:t> </a:t>
            </a:r>
            <a:r>
              <a:rPr sz="4000" spc="-10" dirty="0">
                <a:solidFill>
                  <a:srgbClr val="FFFFFF"/>
                </a:solidFill>
                <a:latin typeface="Tahoma"/>
                <a:cs typeface="Tahoma"/>
              </a:rPr>
              <a:t>210) 391.</a:t>
            </a:r>
            <a:endParaRPr sz="4000" dirty="0">
              <a:latin typeface="Tahoma"/>
              <a:cs typeface="Tahoma"/>
            </a:endParaRPr>
          </a:p>
          <a:p>
            <a:pPr>
              <a:lnSpc>
                <a:spcPct val="100000"/>
              </a:lnSpc>
              <a:spcBef>
                <a:spcPts val="25"/>
              </a:spcBef>
            </a:pPr>
            <a:endParaRPr sz="5300" dirty="0">
              <a:latin typeface="Tahoma"/>
              <a:cs typeface="Tahoma"/>
            </a:endParaRPr>
          </a:p>
          <a:p>
            <a:pPr marL="212725" indent="-200660">
              <a:lnSpc>
                <a:spcPct val="100000"/>
              </a:lnSpc>
              <a:buClr>
                <a:srgbClr val="FFFF99"/>
              </a:buClr>
              <a:buSzPct val="62500"/>
              <a:buFont typeface="Arial"/>
              <a:buChar char="■"/>
              <a:tabLst>
                <a:tab pos="213360" algn="l"/>
              </a:tabLst>
            </a:pPr>
            <a:r>
              <a:rPr sz="4000" b="1" spc="-5" dirty="0">
                <a:solidFill>
                  <a:srgbClr val="FFFFFF"/>
                </a:solidFill>
                <a:latin typeface="Tahoma"/>
                <a:cs typeface="Tahoma"/>
              </a:rPr>
              <a:t>Parole/Oral</a:t>
            </a:r>
            <a:r>
              <a:rPr sz="4000" b="1" spc="-40" dirty="0">
                <a:solidFill>
                  <a:srgbClr val="FFFFFF"/>
                </a:solidFill>
                <a:latin typeface="Tahoma"/>
                <a:cs typeface="Tahoma"/>
              </a:rPr>
              <a:t> </a:t>
            </a:r>
            <a:r>
              <a:rPr sz="4000" b="1" spc="-5" dirty="0" smtClean="0">
                <a:solidFill>
                  <a:srgbClr val="FFFFFF"/>
                </a:solidFill>
                <a:latin typeface="Tahoma"/>
                <a:cs typeface="Tahoma"/>
              </a:rPr>
              <a:t>Lease</a:t>
            </a:r>
            <a:r>
              <a:rPr sz="4000" dirty="0" smtClean="0">
                <a:solidFill>
                  <a:srgbClr val="FFFFFF"/>
                </a:solidFill>
                <a:latin typeface="Tahoma"/>
                <a:cs typeface="Tahoma"/>
              </a:rPr>
              <a:t>:</a:t>
            </a:r>
            <a:endParaRPr sz="4000" dirty="0">
              <a:latin typeface="Tahoma"/>
              <a:cs typeface="Tahoma"/>
            </a:endParaRPr>
          </a:p>
          <a:p>
            <a:pPr marL="105410">
              <a:lnSpc>
                <a:spcPct val="100000"/>
              </a:lnSpc>
              <a:spcBef>
                <a:spcPts val="825"/>
              </a:spcBef>
            </a:pPr>
            <a:r>
              <a:rPr sz="2600" spc="-20" dirty="0">
                <a:solidFill>
                  <a:srgbClr val="FFFF99"/>
                </a:solidFill>
                <a:latin typeface="Microsoft Sans Serif"/>
                <a:cs typeface="Microsoft Sans Serif"/>
              </a:rPr>
              <a:t>-</a:t>
            </a:r>
            <a:r>
              <a:rPr sz="4000" spc="-20" dirty="0">
                <a:solidFill>
                  <a:srgbClr val="FFFFFF"/>
                </a:solidFill>
                <a:latin typeface="Tahoma"/>
                <a:cs typeface="Tahoma"/>
              </a:rPr>
              <a:t>a</a:t>
            </a:r>
            <a:r>
              <a:rPr sz="4000" spc="-25" dirty="0">
                <a:solidFill>
                  <a:srgbClr val="FFFFFF"/>
                </a:solidFill>
                <a:latin typeface="Tahoma"/>
                <a:cs typeface="Tahoma"/>
              </a:rPr>
              <a:t> </a:t>
            </a:r>
            <a:r>
              <a:rPr sz="4000" spc="-5" dirty="0">
                <a:solidFill>
                  <a:srgbClr val="FFFFFF"/>
                </a:solidFill>
                <a:latin typeface="Tahoma"/>
                <a:cs typeface="Tahoma"/>
              </a:rPr>
              <a:t>term</a:t>
            </a:r>
            <a:r>
              <a:rPr sz="4000" spc="-20" dirty="0">
                <a:solidFill>
                  <a:srgbClr val="FFFFFF"/>
                </a:solidFill>
                <a:latin typeface="Tahoma"/>
                <a:cs typeface="Tahoma"/>
              </a:rPr>
              <a:t> </a:t>
            </a:r>
            <a:r>
              <a:rPr sz="4000" spc="-5" dirty="0">
                <a:solidFill>
                  <a:srgbClr val="FFFFFF"/>
                </a:solidFill>
                <a:latin typeface="Tahoma"/>
                <a:cs typeface="Tahoma"/>
              </a:rPr>
              <a:t>not</a:t>
            </a:r>
            <a:r>
              <a:rPr sz="4000" spc="-20" dirty="0">
                <a:solidFill>
                  <a:srgbClr val="FFFFFF"/>
                </a:solidFill>
                <a:latin typeface="Tahoma"/>
                <a:cs typeface="Tahoma"/>
              </a:rPr>
              <a:t> </a:t>
            </a:r>
            <a:r>
              <a:rPr sz="4000" spc="-10" dirty="0">
                <a:solidFill>
                  <a:srgbClr val="FFFFFF"/>
                </a:solidFill>
                <a:latin typeface="Tahoma"/>
                <a:cs typeface="Tahoma"/>
              </a:rPr>
              <a:t>more</a:t>
            </a:r>
            <a:r>
              <a:rPr sz="4000" spc="-20" dirty="0">
                <a:solidFill>
                  <a:srgbClr val="FFFFFF"/>
                </a:solidFill>
                <a:latin typeface="Tahoma"/>
                <a:cs typeface="Tahoma"/>
              </a:rPr>
              <a:t> </a:t>
            </a:r>
            <a:r>
              <a:rPr sz="4000" spc="-5" dirty="0">
                <a:solidFill>
                  <a:srgbClr val="FFFFFF"/>
                </a:solidFill>
                <a:latin typeface="Tahoma"/>
                <a:cs typeface="Tahoma"/>
              </a:rPr>
              <a:t>than</a:t>
            </a:r>
            <a:r>
              <a:rPr sz="4000" spc="-20" dirty="0">
                <a:solidFill>
                  <a:srgbClr val="FFFFFF"/>
                </a:solidFill>
                <a:latin typeface="Tahoma"/>
                <a:cs typeface="Tahoma"/>
              </a:rPr>
              <a:t> </a:t>
            </a:r>
            <a:r>
              <a:rPr sz="4000" dirty="0">
                <a:solidFill>
                  <a:srgbClr val="FFFFFF"/>
                </a:solidFill>
                <a:latin typeface="Tahoma"/>
                <a:cs typeface="Tahoma"/>
              </a:rPr>
              <a:t>3</a:t>
            </a:r>
            <a:r>
              <a:rPr sz="4000" spc="-20" dirty="0">
                <a:solidFill>
                  <a:srgbClr val="FFFFFF"/>
                </a:solidFill>
                <a:latin typeface="Tahoma"/>
                <a:cs typeface="Tahoma"/>
              </a:rPr>
              <a:t> </a:t>
            </a:r>
            <a:r>
              <a:rPr sz="4000" spc="-5" dirty="0">
                <a:solidFill>
                  <a:srgbClr val="FFFFFF"/>
                </a:solidFill>
                <a:latin typeface="Tahoma"/>
                <a:cs typeface="Tahoma"/>
              </a:rPr>
              <a:t>years</a:t>
            </a:r>
            <a:endParaRPr sz="4000" dirty="0">
              <a:latin typeface="Tahoma"/>
              <a:cs typeface="Tahoma"/>
            </a:endParaRPr>
          </a:p>
          <a:p>
            <a:pPr marL="105410">
              <a:lnSpc>
                <a:spcPct val="100000"/>
              </a:lnSpc>
              <a:spcBef>
                <a:spcPts val="825"/>
              </a:spcBef>
            </a:pPr>
            <a:r>
              <a:rPr sz="2600" spc="-15" dirty="0">
                <a:solidFill>
                  <a:srgbClr val="FFFF99"/>
                </a:solidFill>
                <a:latin typeface="Microsoft Sans Serif"/>
                <a:cs typeface="Microsoft Sans Serif"/>
              </a:rPr>
              <a:t>-</a:t>
            </a:r>
            <a:r>
              <a:rPr sz="4000" spc="-15" dirty="0">
                <a:solidFill>
                  <a:srgbClr val="FFFFFF"/>
                </a:solidFill>
                <a:latin typeface="Tahoma"/>
                <a:cs typeface="Tahoma"/>
              </a:rPr>
              <a:t>best</a:t>
            </a:r>
            <a:r>
              <a:rPr sz="4000" spc="-45" dirty="0">
                <a:solidFill>
                  <a:srgbClr val="FFFFFF"/>
                </a:solidFill>
                <a:latin typeface="Tahoma"/>
                <a:cs typeface="Tahoma"/>
              </a:rPr>
              <a:t> </a:t>
            </a:r>
            <a:r>
              <a:rPr sz="4000" spc="-5" dirty="0">
                <a:solidFill>
                  <a:srgbClr val="FFFFFF"/>
                </a:solidFill>
                <a:latin typeface="Tahoma"/>
                <a:cs typeface="Tahoma"/>
              </a:rPr>
              <a:t>rent</a:t>
            </a:r>
            <a:r>
              <a:rPr sz="4000" spc="-35" dirty="0">
                <a:solidFill>
                  <a:srgbClr val="FFFFFF"/>
                </a:solidFill>
                <a:latin typeface="Tahoma"/>
                <a:cs typeface="Tahoma"/>
              </a:rPr>
              <a:t> </a:t>
            </a:r>
            <a:r>
              <a:rPr sz="4000" spc="-5" dirty="0">
                <a:solidFill>
                  <a:srgbClr val="FFFFFF"/>
                </a:solidFill>
                <a:latin typeface="Tahoma"/>
                <a:cs typeface="Tahoma"/>
              </a:rPr>
              <a:t>reserved</a:t>
            </a:r>
            <a:endParaRPr sz="4000" dirty="0">
              <a:latin typeface="Tahoma"/>
              <a:cs typeface="Tahoma"/>
            </a:endParaRPr>
          </a:p>
          <a:p>
            <a:pPr marL="105410">
              <a:lnSpc>
                <a:spcPct val="100000"/>
              </a:lnSpc>
              <a:spcBef>
                <a:spcPts val="825"/>
              </a:spcBef>
            </a:pPr>
            <a:r>
              <a:rPr sz="2600" spc="-10" dirty="0">
                <a:solidFill>
                  <a:srgbClr val="FFFF99"/>
                </a:solidFill>
                <a:latin typeface="Microsoft Sans Serif"/>
                <a:cs typeface="Microsoft Sans Serif"/>
              </a:rPr>
              <a:t>-</a:t>
            </a:r>
            <a:r>
              <a:rPr sz="4000" spc="-10" dirty="0">
                <a:solidFill>
                  <a:srgbClr val="FFFFFF"/>
                </a:solidFill>
                <a:latin typeface="Tahoma"/>
                <a:cs typeface="Tahoma"/>
              </a:rPr>
              <a:t>lessee</a:t>
            </a:r>
            <a:r>
              <a:rPr sz="4000" spc="-45" dirty="0">
                <a:solidFill>
                  <a:srgbClr val="FFFFFF"/>
                </a:solidFill>
                <a:latin typeface="Tahoma"/>
                <a:cs typeface="Tahoma"/>
              </a:rPr>
              <a:t> </a:t>
            </a:r>
            <a:r>
              <a:rPr lang="en-US" sz="4000" spc="-45" dirty="0" smtClean="0">
                <a:solidFill>
                  <a:srgbClr val="FFFFFF"/>
                </a:solidFill>
                <a:latin typeface="Tahoma"/>
                <a:cs typeface="Tahoma"/>
              </a:rPr>
              <a:t>conferred exclusive</a:t>
            </a:r>
            <a:r>
              <a:rPr sz="4000" spc="-40" dirty="0" smtClean="0">
                <a:solidFill>
                  <a:srgbClr val="FFFFFF"/>
                </a:solidFill>
                <a:latin typeface="Tahoma"/>
                <a:cs typeface="Tahoma"/>
              </a:rPr>
              <a:t> </a:t>
            </a:r>
            <a:r>
              <a:rPr sz="4000" spc="-5" dirty="0">
                <a:solidFill>
                  <a:srgbClr val="FFFFFF"/>
                </a:solidFill>
                <a:latin typeface="Tahoma"/>
                <a:cs typeface="Tahoma"/>
              </a:rPr>
              <a:t>possession</a:t>
            </a:r>
            <a:endParaRPr sz="4000" dirty="0">
              <a:latin typeface="Tahoma"/>
              <a:cs typeface="Tahoma"/>
            </a:endParaRPr>
          </a:p>
          <a:p>
            <a:pPr marL="46355" marR="271780">
              <a:lnSpc>
                <a:spcPct val="100499"/>
              </a:lnSpc>
              <a:spcBef>
                <a:spcPts val="800"/>
              </a:spcBef>
            </a:pPr>
            <a:r>
              <a:rPr sz="4000" spc="-5" dirty="0">
                <a:solidFill>
                  <a:srgbClr val="FFFFFF"/>
                </a:solidFill>
                <a:latin typeface="Tahoma"/>
                <a:cs typeface="Tahoma"/>
              </a:rPr>
              <a:t>S.</a:t>
            </a:r>
            <a:r>
              <a:rPr sz="4000" spc="-15" dirty="0">
                <a:solidFill>
                  <a:srgbClr val="FFFFFF"/>
                </a:solidFill>
                <a:latin typeface="Tahoma"/>
                <a:cs typeface="Tahoma"/>
              </a:rPr>
              <a:t> </a:t>
            </a:r>
            <a:r>
              <a:rPr sz="4000" dirty="0">
                <a:solidFill>
                  <a:srgbClr val="FFFFFF"/>
                </a:solidFill>
                <a:latin typeface="Tahoma"/>
                <a:cs typeface="Tahoma"/>
              </a:rPr>
              <a:t>3</a:t>
            </a:r>
            <a:r>
              <a:rPr sz="4000" spc="-20" dirty="0">
                <a:solidFill>
                  <a:srgbClr val="FFFFFF"/>
                </a:solidFill>
                <a:latin typeface="Tahoma"/>
                <a:cs typeface="Tahoma"/>
              </a:rPr>
              <a:t> </a:t>
            </a:r>
            <a:r>
              <a:rPr sz="4000" spc="-5" dirty="0">
                <a:solidFill>
                  <a:srgbClr val="FFFFFF"/>
                </a:solidFill>
                <a:latin typeface="Tahoma"/>
                <a:cs typeface="Tahoma"/>
              </a:rPr>
              <a:t>Statute</a:t>
            </a:r>
            <a:r>
              <a:rPr sz="4000" spc="-15" dirty="0">
                <a:solidFill>
                  <a:srgbClr val="FFFFFF"/>
                </a:solidFill>
                <a:latin typeface="Tahoma"/>
                <a:cs typeface="Tahoma"/>
              </a:rPr>
              <a:t> </a:t>
            </a:r>
            <a:r>
              <a:rPr sz="4000" spc="-5" dirty="0">
                <a:solidFill>
                  <a:srgbClr val="FFFFFF"/>
                </a:solidFill>
                <a:latin typeface="Tahoma"/>
                <a:cs typeface="Tahoma"/>
              </a:rPr>
              <a:t>of</a:t>
            </a:r>
            <a:r>
              <a:rPr sz="4000" spc="-15" dirty="0">
                <a:solidFill>
                  <a:srgbClr val="FFFFFF"/>
                </a:solidFill>
                <a:latin typeface="Tahoma"/>
                <a:cs typeface="Tahoma"/>
              </a:rPr>
              <a:t> </a:t>
            </a:r>
            <a:r>
              <a:rPr sz="4000" spc="-5" dirty="0">
                <a:solidFill>
                  <a:srgbClr val="FFFFFF"/>
                </a:solidFill>
                <a:latin typeface="Tahoma"/>
                <a:cs typeface="Tahoma"/>
              </a:rPr>
              <a:t>Frauds;</a:t>
            </a:r>
            <a:r>
              <a:rPr sz="4000" spc="-20" dirty="0">
                <a:solidFill>
                  <a:srgbClr val="FFFFFF"/>
                </a:solidFill>
                <a:latin typeface="Tahoma"/>
                <a:cs typeface="Tahoma"/>
              </a:rPr>
              <a:t> </a:t>
            </a:r>
            <a:r>
              <a:rPr sz="4000" spc="-5" dirty="0">
                <a:solidFill>
                  <a:srgbClr val="FFFFFF"/>
                </a:solidFill>
                <a:latin typeface="Tahoma"/>
                <a:cs typeface="Tahoma"/>
              </a:rPr>
              <a:t>S.</a:t>
            </a:r>
            <a:r>
              <a:rPr sz="4000" spc="-15" dirty="0">
                <a:solidFill>
                  <a:srgbClr val="FFFFFF"/>
                </a:solidFill>
                <a:latin typeface="Tahoma"/>
                <a:cs typeface="Tahoma"/>
              </a:rPr>
              <a:t> </a:t>
            </a:r>
            <a:r>
              <a:rPr sz="4000" spc="-5" dirty="0">
                <a:solidFill>
                  <a:srgbClr val="FFFFFF"/>
                </a:solidFill>
                <a:latin typeface="Tahoma"/>
                <a:cs typeface="Tahoma"/>
              </a:rPr>
              <a:t>79</a:t>
            </a:r>
            <a:r>
              <a:rPr sz="4000" spc="-20" dirty="0">
                <a:solidFill>
                  <a:srgbClr val="FFFFFF"/>
                </a:solidFill>
                <a:latin typeface="Tahoma"/>
                <a:cs typeface="Tahoma"/>
              </a:rPr>
              <a:t> </a:t>
            </a:r>
            <a:r>
              <a:rPr sz="4000" spc="-10" dirty="0">
                <a:solidFill>
                  <a:srgbClr val="FFFFFF"/>
                </a:solidFill>
                <a:latin typeface="Tahoma"/>
                <a:cs typeface="Tahoma"/>
              </a:rPr>
              <a:t>(2)</a:t>
            </a:r>
            <a:r>
              <a:rPr sz="4000" spc="-15" dirty="0">
                <a:solidFill>
                  <a:srgbClr val="FFFFFF"/>
                </a:solidFill>
                <a:latin typeface="Tahoma"/>
                <a:cs typeface="Tahoma"/>
              </a:rPr>
              <a:t> </a:t>
            </a:r>
            <a:r>
              <a:rPr sz="4000" spc="-5" dirty="0">
                <a:solidFill>
                  <a:srgbClr val="FFFFFF"/>
                </a:solidFill>
                <a:latin typeface="Tahoma"/>
                <a:cs typeface="Tahoma"/>
              </a:rPr>
              <a:t>PCL; </a:t>
            </a:r>
            <a:r>
              <a:rPr sz="4000" spc="-1235" dirty="0">
                <a:solidFill>
                  <a:srgbClr val="FFFFFF"/>
                </a:solidFill>
                <a:latin typeface="Tahoma"/>
                <a:cs typeface="Tahoma"/>
              </a:rPr>
              <a:t> </a:t>
            </a:r>
            <a:r>
              <a:rPr sz="4000" spc="-5" dirty="0">
                <a:solidFill>
                  <a:srgbClr val="FFFFFF"/>
                </a:solidFill>
                <a:latin typeface="Tahoma"/>
                <a:cs typeface="Tahoma"/>
              </a:rPr>
              <a:t>Foster</a:t>
            </a:r>
            <a:r>
              <a:rPr sz="4000" spc="-20" dirty="0">
                <a:solidFill>
                  <a:srgbClr val="FFFFFF"/>
                </a:solidFill>
                <a:latin typeface="Tahoma"/>
                <a:cs typeface="Tahoma"/>
              </a:rPr>
              <a:t> </a:t>
            </a:r>
            <a:r>
              <a:rPr sz="4000" dirty="0">
                <a:solidFill>
                  <a:srgbClr val="FFFFFF"/>
                </a:solidFill>
                <a:latin typeface="Tahoma"/>
                <a:cs typeface="Tahoma"/>
              </a:rPr>
              <a:t>v</a:t>
            </a:r>
            <a:r>
              <a:rPr sz="4000" spc="-15" dirty="0">
                <a:solidFill>
                  <a:srgbClr val="FFFFFF"/>
                </a:solidFill>
                <a:latin typeface="Tahoma"/>
                <a:cs typeface="Tahoma"/>
              </a:rPr>
              <a:t> </a:t>
            </a:r>
            <a:r>
              <a:rPr sz="4000" spc="-5" dirty="0">
                <a:solidFill>
                  <a:srgbClr val="FFFFFF"/>
                </a:solidFill>
                <a:latin typeface="Tahoma"/>
                <a:cs typeface="Tahoma"/>
              </a:rPr>
              <a:t>Reeves</a:t>
            </a:r>
            <a:r>
              <a:rPr sz="4000" spc="-15" dirty="0">
                <a:solidFill>
                  <a:srgbClr val="FFFFFF"/>
                </a:solidFill>
                <a:latin typeface="Tahoma"/>
                <a:cs typeface="Tahoma"/>
              </a:rPr>
              <a:t> </a:t>
            </a:r>
            <a:r>
              <a:rPr sz="4000" spc="-10" dirty="0">
                <a:solidFill>
                  <a:srgbClr val="FFFFFF"/>
                </a:solidFill>
                <a:latin typeface="Tahoma"/>
                <a:cs typeface="Tahoma"/>
              </a:rPr>
              <a:t>(1892)</a:t>
            </a:r>
            <a:r>
              <a:rPr sz="4000" spc="-20" dirty="0">
                <a:solidFill>
                  <a:srgbClr val="FFFFFF"/>
                </a:solidFill>
                <a:latin typeface="Tahoma"/>
                <a:cs typeface="Tahoma"/>
              </a:rPr>
              <a:t> </a:t>
            </a:r>
            <a:r>
              <a:rPr sz="4000" dirty="0">
                <a:solidFill>
                  <a:srgbClr val="FFFFFF"/>
                </a:solidFill>
                <a:latin typeface="Tahoma"/>
                <a:cs typeface="Tahoma"/>
              </a:rPr>
              <a:t>2</a:t>
            </a:r>
            <a:r>
              <a:rPr sz="4000" spc="-20" dirty="0">
                <a:solidFill>
                  <a:srgbClr val="FFFFFF"/>
                </a:solidFill>
                <a:latin typeface="Tahoma"/>
                <a:cs typeface="Tahoma"/>
              </a:rPr>
              <a:t> </a:t>
            </a:r>
            <a:r>
              <a:rPr sz="4000" spc="-5" dirty="0">
                <a:solidFill>
                  <a:srgbClr val="FFFFFF"/>
                </a:solidFill>
                <a:latin typeface="Tahoma"/>
                <a:cs typeface="Tahoma"/>
              </a:rPr>
              <a:t>Q.B.</a:t>
            </a:r>
            <a:r>
              <a:rPr sz="4000" spc="-15" dirty="0">
                <a:solidFill>
                  <a:srgbClr val="FFFFFF"/>
                </a:solidFill>
                <a:latin typeface="Tahoma"/>
                <a:cs typeface="Tahoma"/>
              </a:rPr>
              <a:t> </a:t>
            </a:r>
            <a:r>
              <a:rPr sz="4000" spc="-10" dirty="0">
                <a:solidFill>
                  <a:srgbClr val="FFFFFF"/>
                </a:solidFill>
                <a:latin typeface="Tahoma"/>
                <a:cs typeface="Tahoma"/>
              </a:rPr>
              <a:t>255,</a:t>
            </a:r>
            <a:endParaRPr sz="4000" dirty="0">
              <a:latin typeface="Tahoma"/>
              <a:cs typeface="Tahoma"/>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28600" y="0"/>
            <a:ext cx="8169175" cy="6783908"/>
          </a:xfrm>
          <a:prstGeom prst="rect">
            <a:avLst/>
          </a:prstGeom>
        </p:spPr>
        <p:txBody>
          <a:bodyPr vert="horz" wrap="square" lIns="0" tIns="114300" rIns="0" bIns="0" rtlCol="0">
            <a:spAutoFit/>
          </a:bodyPr>
          <a:lstStyle/>
          <a:p>
            <a:pPr marL="177165">
              <a:lnSpc>
                <a:spcPct val="100000"/>
              </a:lnSpc>
              <a:spcBef>
                <a:spcPts val="900"/>
              </a:spcBef>
            </a:pPr>
            <a:r>
              <a:rPr sz="4000" spc="-5" dirty="0">
                <a:solidFill>
                  <a:srgbClr val="FFFFFF"/>
                </a:solidFill>
                <a:latin typeface="Tahoma"/>
                <a:cs typeface="Tahoma"/>
              </a:rPr>
              <a:t>257</a:t>
            </a:r>
            <a:endParaRPr sz="4000" dirty="0">
              <a:latin typeface="Tahoma"/>
              <a:cs typeface="Tahoma"/>
            </a:endParaRPr>
          </a:p>
          <a:p>
            <a:pPr marL="343535" indent="-330835">
              <a:lnSpc>
                <a:spcPct val="100000"/>
              </a:lnSpc>
              <a:spcBef>
                <a:spcPts val="800"/>
              </a:spcBef>
              <a:buClr>
                <a:srgbClr val="FFFF99"/>
              </a:buClr>
              <a:buSzPct val="62500"/>
              <a:buFont typeface="MS UI Gothic"/>
              <a:buChar char="◆"/>
              <a:tabLst>
                <a:tab pos="343535" algn="l"/>
              </a:tabLst>
            </a:pPr>
            <a:r>
              <a:rPr sz="4000" b="1" spc="-5" dirty="0">
                <a:solidFill>
                  <a:srgbClr val="FFFFFF"/>
                </a:solidFill>
                <a:latin typeface="Tahoma"/>
                <a:cs typeface="Tahoma"/>
              </a:rPr>
              <a:t>LEASE</a:t>
            </a:r>
            <a:r>
              <a:rPr sz="4000" b="1" spc="-40" dirty="0">
                <a:solidFill>
                  <a:srgbClr val="FFFFFF"/>
                </a:solidFill>
                <a:latin typeface="Tahoma"/>
                <a:cs typeface="Tahoma"/>
              </a:rPr>
              <a:t> </a:t>
            </a:r>
            <a:r>
              <a:rPr sz="4000" b="1" spc="-5" dirty="0">
                <a:solidFill>
                  <a:srgbClr val="FFFFFF"/>
                </a:solidFill>
                <a:latin typeface="Tahoma"/>
                <a:cs typeface="Tahoma"/>
              </a:rPr>
              <a:t>BY</a:t>
            </a:r>
            <a:r>
              <a:rPr sz="4000" b="1" spc="-35" dirty="0">
                <a:solidFill>
                  <a:srgbClr val="FFFFFF"/>
                </a:solidFill>
                <a:latin typeface="Tahoma"/>
                <a:cs typeface="Tahoma"/>
              </a:rPr>
              <a:t> </a:t>
            </a:r>
            <a:r>
              <a:rPr sz="4000" b="1" spc="-5" dirty="0">
                <a:solidFill>
                  <a:srgbClr val="FFFFFF"/>
                </a:solidFill>
                <a:latin typeface="Tahoma"/>
                <a:cs typeface="Tahoma"/>
              </a:rPr>
              <a:t>DEED:</a:t>
            </a:r>
            <a:endParaRPr sz="4000" dirty="0">
              <a:latin typeface="Tahoma"/>
              <a:cs typeface="Tahoma"/>
            </a:endParaRPr>
          </a:p>
          <a:p>
            <a:pPr marL="236220">
              <a:lnSpc>
                <a:spcPct val="100000"/>
              </a:lnSpc>
              <a:spcBef>
                <a:spcPts val="825"/>
              </a:spcBef>
            </a:pPr>
            <a:r>
              <a:rPr sz="2600" spc="-10" dirty="0" smtClean="0">
                <a:solidFill>
                  <a:srgbClr val="FFFF99"/>
                </a:solidFill>
                <a:latin typeface="Microsoft Sans Serif"/>
                <a:cs typeface="Microsoft Sans Serif"/>
              </a:rPr>
              <a:t>-</a:t>
            </a:r>
            <a:r>
              <a:rPr lang="en-US" sz="4000" spc="-10" dirty="0" smtClean="0">
                <a:solidFill>
                  <a:srgbClr val="FFFFFF"/>
                </a:solidFill>
                <a:latin typeface="Tahoma"/>
                <a:cs typeface="Tahoma"/>
              </a:rPr>
              <a:t>Formal</a:t>
            </a:r>
            <a:r>
              <a:rPr lang="en-US" sz="4000" spc="-35" dirty="0" smtClean="0">
                <a:solidFill>
                  <a:srgbClr val="FFFFFF"/>
                </a:solidFill>
                <a:latin typeface="Tahoma"/>
                <a:cs typeface="Tahoma"/>
              </a:rPr>
              <a:t> </a:t>
            </a:r>
            <a:r>
              <a:rPr sz="4000" spc="-5" dirty="0" smtClean="0">
                <a:solidFill>
                  <a:srgbClr val="FFFFFF"/>
                </a:solidFill>
                <a:latin typeface="Tahoma"/>
                <a:cs typeface="Tahoma"/>
              </a:rPr>
              <a:t>lease</a:t>
            </a:r>
            <a:r>
              <a:rPr sz="4000" spc="-35" dirty="0" smtClean="0">
                <a:solidFill>
                  <a:srgbClr val="FFFFFF"/>
                </a:solidFill>
                <a:latin typeface="Tahoma"/>
                <a:cs typeface="Tahoma"/>
              </a:rPr>
              <a:t> </a:t>
            </a:r>
            <a:r>
              <a:rPr sz="4000" spc="-5" dirty="0">
                <a:solidFill>
                  <a:srgbClr val="FFFFFF"/>
                </a:solidFill>
                <a:latin typeface="Tahoma"/>
                <a:cs typeface="Tahoma"/>
              </a:rPr>
              <a:t>under</a:t>
            </a:r>
            <a:r>
              <a:rPr sz="4000" spc="-35" dirty="0">
                <a:solidFill>
                  <a:srgbClr val="FFFFFF"/>
                </a:solidFill>
                <a:latin typeface="Tahoma"/>
                <a:cs typeface="Tahoma"/>
              </a:rPr>
              <a:t> </a:t>
            </a:r>
            <a:r>
              <a:rPr sz="4000" spc="-5" dirty="0">
                <a:solidFill>
                  <a:srgbClr val="FFFFFF"/>
                </a:solidFill>
                <a:latin typeface="Tahoma"/>
                <a:cs typeface="Tahoma"/>
              </a:rPr>
              <a:t>seal</a:t>
            </a:r>
            <a:endParaRPr sz="4000" dirty="0">
              <a:latin typeface="Tahoma"/>
              <a:cs typeface="Tahoma"/>
            </a:endParaRPr>
          </a:p>
          <a:p>
            <a:pPr marL="236220">
              <a:lnSpc>
                <a:spcPct val="100000"/>
              </a:lnSpc>
              <a:spcBef>
                <a:spcPts val="825"/>
              </a:spcBef>
            </a:pPr>
            <a:r>
              <a:rPr sz="2600" spc="-10" dirty="0" smtClean="0">
                <a:solidFill>
                  <a:srgbClr val="FFFF99"/>
                </a:solidFill>
                <a:latin typeface="Microsoft Sans Serif"/>
                <a:cs typeface="Microsoft Sans Serif"/>
              </a:rPr>
              <a:t>-</a:t>
            </a:r>
            <a:r>
              <a:rPr lang="en-US" sz="4000" spc="-10" dirty="0" smtClean="0">
                <a:solidFill>
                  <a:srgbClr val="FFFFFF"/>
                </a:solidFill>
                <a:latin typeface="Tahoma"/>
                <a:cs typeface="Tahoma"/>
              </a:rPr>
              <a:t>T</a:t>
            </a:r>
            <a:r>
              <a:rPr sz="4000" spc="-10" dirty="0" smtClean="0">
                <a:solidFill>
                  <a:srgbClr val="FFFFFF"/>
                </a:solidFill>
                <a:latin typeface="Tahoma"/>
                <a:cs typeface="Tahoma"/>
              </a:rPr>
              <a:t>erm</a:t>
            </a:r>
            <a:r>
              <a:rPr sz="4000" spc="-35" dirty="0" smtClean="0">
                <a:solidFill>
                  <a:srgbClr val="FFFFFF"/>
                </a:solidFill>
                <a:latin typeface="Tahoma"/>
                <a:cs typeface="Tahoma"/>
              </a:rPr>
              <a:t> </a:t>
            </a:r>
            <a:r>
              <a:rPr lang="en-US" sz="4000" spc="-35" dirty="0" smtClean="0">
                <a:solidFill>
                  <a:srgbClr val="FFFFFF"/>
                </a:solidFill>
                <a:latin typeface="Tahoma"/>
                <a:cs typeface="Tahoma"/>
              </a:rPr>
              <a:t>exceed</a:t>
            </a:r>
            <a:r>
              <a:rPr lang="en-US" sz="4000" spc="-10" dirty="0" smtClean="0">
                <a:solidFill>
                  <a:srgbClr val="FFFFFF"/>
                </a:solidFill>
                <a:latin typeface="Tahoma"/>
                <a:cs typeface="Tahoma"/>
              </a:rPr>
              <a:t>ing</a:t>
            </a:r>
            <a:r>
              <a:rPr sz="4000" spc="-35" dirty="0" smtClean="0">
                <a:solidFill>
                  <a:srgbClr val="FFFFFF"/>
                </a:solidFill>
                <a:latin typeface="Tahoma"/>
                <a:cs typeface="Tahoma"/>
              </a:rPr>
              <a:t> </a:t>
            </a:r>
            <a:r>
              <a:rPr sz="4000" dirty="0">
                <a:solidFill>
                  <a:srgbClr val="FFFFFF"/>
                </a:solidFill>
                <a:latin typeface="Tahoma"/>
                <a:cs typeface="Tahoma"/>
              </a:rPr>
              <a:t>3</a:t>
            </a:r>
            <a:r>
              <a:rPr sz="4000" spc="-35" dirty="0">
                <a:solidFill>
                  <a:srgbClr val="FFFFFF"/>
                </a:solidFill>
                <a:latin typeface="Tahoma"/>
                <a:cs typeface="Tahoma"/>
              </a:rPr>
              <a:t> </a:t>
            </a:r>
            <a:r>
              <a:rPr sz="4000" spc="-5" dirty="0" smtClean="0">
                <a:solidFill>
                  <a:srgbClr val="FFFFFF"/>
                </a:solidFill>
                <a:latin typeface="Tahoma"/>
                <a:cs typeface="Tahoma"/>
              </a:rPr>
              <a:t>years</a:t>
            </a:r>
            <a:endParaRPr lang="en-US" sz="4000" spc="-5" dirty="0" smtClean="0">
              <a:solidFill>
                <a:srgbClr val="FFFFFF"/>
              </a:solidFill>
              <a:latin typeface="Tahoma"/>
              <a:cs typeface="Tahoma"/>
            </a:endParaRPr>
          </a:p>
          <a:p>
            <a:pPr marL="236220">
              <a:lnSpc>
                <a:spcPct val="100000"/>
              </a:lnSpc>
              <a:spcBef>
                <a:spcPts val="825"/>
              </a:spcBef>
            </a:pPr>
            <a:r>
              <a:rPr lang="en-US" sz="4000" spc="-5" dirty="0" smtClean="0">
                <a:solidFill>
                  <a:srgbClr val="FFFFFF"/>
                </a:solidFill>
                <a:latin typeface="Tahoma"/>
                <a:cs typeface="Tahoma"/>
              </a:rPr>
              <a:t>Lease above 3 years created orally or under hand is void for conveying or creating interest in land. S. 77 PCL. </a:t>
            </a:r>
            <a:r>
              <a:rPr lang="en-US" sz="4000" i="1" spc="-5" dirty="0" smtClean="0">
                <a:solidFill>
                  <a:srgbClr val="FFFFFF"/>
                </a:solidFill>
                <a:latin typeface="Tahoma"/>
                <a:cs typeface="Tahoma"/>
              </a:rPr>
              <a:t>Walsh</a:t>
            </a:r>
            <a:r>
              <a:rPr lang="en-US" sz="4000" spc="-5" dirty="0" smtClean="0">
                <a:solidFill>
                  <a:srgbClr val="FFFFFF"/>
                </a:solidFill>
                <a:latin typeface="Tahoma"/>
                <a:cs typeface="Tahoma"/>
              </a:rPr>
              <a:t> v. </a:t>
            </a:r>
            <a:r>
              <a:rPr lang="en-US" sz="4000" i="1" spc="-5" dirty="0" smtClean="0">
                <a:solidFill>
                  <a:srgbClr val="FFFFFF"/>
                </a:solidFill>
                <a:latin typeface="Tahoma"/>
                <a:cs typeface="Tahoma"/>
              </a:rPr>
              <a:t>Lonsdale – treated as agreement to create a lease</a:t>
            </a:r>
            <a:r>
              <a:rPr lang="en-US" sz="4000" spc="-5" dirty="0" smtClean="0">
                <a:solidFill>
                  <a:srgbClr val="FFFFFF"/>
                </a:solidFill>
                <a:latin typeface="Tahoma"/>
                <a:cs typeface="Tahoma"/>
              </a:rPr>
              <a:t> </a:t>
            </a:r>
          </a:p>
          <a:p>
            <a:pPr marL="236220">
              <a:lnSpc>
                <a:spcPct val="100000"/>
              </a:lnSpc>
              <a:spcBef>
                <a:spcPts val="825"/>
              </a:spcBef>
            </a:pPr>
            <a:r>
              <a:rPr lang="en-US" sz="4000" dirty="0" smtClean="0">
                <a:latin typeface="Tahoma"/>
                <a:cs typeface="Tahoma"/>
              </a:rPr>
              <a:t>l</a:t>
            </a:r>
            <a:endParaRPr sz="4000" dirty="0">
              <a:latin typeface="Tahoma"/>
              <a:cs typeface="Tahoma"/>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381000"/>
            <a:ext cx="8382000" cy="5509200"/>
          </a:xfrm>
          <a:prstGeom prst="rect">
            <a:avLst/>
          </a:prstGeom>
        </p:spPr>
        <p:txBody>
          <a:bodyPr wrap="square">
            <a:spAutoFit/>
          </a:bodyPr>
          <a:lstStyle/>
          <a:p>
            <a:r>
              <a:rPr lang="en-US" sz="4400" spc="-10" dirty="0" smtClean="0">
                <a:solidFill>
                  <a:srgbClr val="FFFFFF"/>
                </a:solidFill>
                <a:latin typeface="Tahoma"/>
                <a:cs typeface="Tahoma"/>
              </a:rPr>
              <a:t>INFERENCE OF TENANCY: S. 3 of LSTL, 2011 Tenancy agreement shall be deemed to exist where premises are granted by the landlord to a person for value whether or not it is express or implied, oral or written or for a fixed period.</a:t>
            </a:r>
          </a:p>
        </p:txBody>
      </p:sp>
    </p:spTree>
    <p:extLst>
      <p:ext uri="{BB962C8B-B14F-4D97-AF65-F5344CB8AC3E}">
        <p14:creationId xmlns:p14="http://schemas.microsoft.com/office/powerpoint/2010/main" val="1144976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762000"/>
            <a:ext cx="8610600" cy="5078313"/>
          </a:xfrm>
          <a:prstGeom prst="rect">
            <a:avLst/>
          </a:prstGeom>
        </p:spPr>
        <p:txBody>
          <a:bodyPr wrap="square">
            <a:spAutoFit/>
          </a:bodyPr>
          <a:lstStyle/>
          <a:p>
            <a:r>
              <a:rPr lang="en-US" sz="3600" spc="-10" dirty="0">
                <a:solidFill>
                  <a:srgbClr val="FFFFFF"/>
                </a:solidFill>
                <a:latin typeface="Tahoma"/>
                <a:cs typeface="Tahoma"/>
              </a:rPr>
              <a:t>APPLICATION: LSTL is applicable to all premises within Lagos including business and residential </a:t>
            </a:r>
            <a:r>
              <a:rPr lang="en-US" sz="3600" spc="-10" dirty="0" smtClean="0">
                <a:solidFill>
                  <a:srgbClr val="FFFFFF"/>
                </a:solidFill>
                <a:latin typeface="Tahoma"/>
                <a:cs typeface="Tahoma"/>
              </a:rPr>
              <a:t>premises</a:t>
            </a:r>
          </a:p>
          <a:p>
            <a:r>
              <a:rPr lang="en-US" sz="3600" spc="-10" dirty="0" smtClean="0">
                <a:solidFill>
                  <a:srgbClr val="FFFFFF"/>
                </a:solidFill>
                <a:latin typeface="Tahoma"/>
                <a:cs typeface="Tahoma"/>
              </a:rPr>
              <a:t>Exception: </a:t>
            </a:r>
          </a:p>
          <a:p>
            <a:pPr marL="857250" indent="-857250">
              <a:buAutoNum type="romanLcPeriod"/>
            </a:pPr>
            <a:r>
              <a:rPr lang="en-US" sz="3600" spc="-10" dirty="0" smtClean="0">
                <a:solidFill>
                  <a:srgbClr val="FFFFFF"/>
                </a:solidFill>
                <a:latin typeface="Tahoma"/>
                <a:cs typeface="Tahoma"/>
              </a:rPr>
              <a:t>Residential premises owned or operated by educational institution for staff and students</a:t>
            </a:r>
          </a:p>
          <a:p>
            <a:pPr marL="857250" indent="-857250">
              <a:buAutoNum type="romanLcPeriod"/>
            </a:pPr>
            <a:r>
              <a:rPr lang="en-US" sz="3600" spc="-10" dirty="0" smtClean="0">
                <a:solidFill>
                  <a:srgbClr val="FFFFFF"/>
                </a:solidFill>
                <a:latin typeface="Tahoma"/>
                <a:cs typeface="Tahoma"/>
              </a:rPr>
              <a:t>Residential premises provided for emergency shelter</a:t>
            </a:r>
          </a:p>
        </p:txBody>
      </p:sp>
    </p:spTree>
    <p:extLst>
      <p:ext uri="{BB962C8B-B14F-4D97-AF65-F5344CB8AC3E}">
        <p14:creationId xmlns:p14="http://schemas.microsoft.com/office/powerpoint/2010/main" val="3479745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57200" y="762000"/>
            <a:ext cx="8382000" cy="5078313"/>
          </a:xfrm>
          <a:prstGeom prst="rect">
            <a:avLst/>
          </a:prstGeom>
        </p:spPr>
        <p:txBody>
          <a:bodyPr wrap="square">
            <a:spAutoFit/>
          </a:bodyPr>
          <a:lstStyle/>
          <a:p>
            <a:pPr algn="just"/>
            <a:r>
              <a:rPr lang="en-US" sz="3600" spc="-10" dirty="0" smtClean="0">
                <a:solidFill>
                  <a:srgbClr val="FFFFFF"/>
                </a:solidFill>
                <a:latin typeface="Tahoma"/>
                <a:cs typeface="Tahoma"/>
              </a:rPr>
              <a:t>iii. Residential </a:t>
            </a:r>
            <a:r>
              <a:rPr lang="en-US" sz="3600" spc="-10" dirty="0">
                <a:solidFill>
                  <a:srgbClr val="FFFFFF"/>
                </a:solidFill>
                <a:latin typeface="Tahoma"/>
                <a:cs typeface="Tahoma"/>
              </a:rPr>
              <a:t>premises in a Care or </a:t>
            </a:r>
            <a:r>
              <a:rPr lang="en-US" sz="3600" spc="-10" dirty="0" err="1">
                <a:solidFill>
                  <a:srgbClr val="FFFFFF"/>
                </a:solidFill>
                <a:latin typeface="Tahoma"/>
                <a:cs typeface="Tahoma"/>
              </a:rPr>
              <a:t>Houspice</a:t>
            </a:r>
            <a:r>
              <a:rPr lang="en-US" sz="3600" spc="-10" dirty="0">
                <a:solidFill>
                  <a:srgbClr val="FFFFFF"/>
                </a:solidFill>
                <a:latin typeface="Tahoma"/>
                <a:cs typeface="Tahoma"/>
              </a:rPr>
              <a:t> facility or made available in the course of providing </a:t>
            </a:r>
            <a:r>
              <a:rPr lang="en-US" sz="3600" spc="-10" dirty="0" err="1">
                <a:solidFill>
                  <a:srgbClr val="FFFFFF"/>
                </a:solidFill>
                <a:latin typeface="Tahoma"/>
                <a:cs typeface="Tahoma"/>
              </a:rPr>
              <a:t>rehalbilitative</a:t>
            </a:r>
            <a:r>
              <a:rPr lang="en-US" sz="3600" spc="-10" dirty="0">
                <a:solidFill>
                  <a:srgbClr val="FFFFFF"/>
                </a:solidFill>
                <a:latin typeface="Tahoma"/>
                <a:cs typeface="Tahoma"/>
              </a:rPr>
              <a:t> or therapeutic treatment, </a:t>
            </a:r>
            <a:r>
              <a:rPr lang="en-US" sz="3600" spc="-10" dirty="0" smtClean="0">
                <a:solidFill>
                  <a:srgbClr val="FFFFFF"/>
                </a:solidFill>
                <a:latin typeface="Tahoma"/>
                <a:cs typeface="Tahoma"/>
              </a:rPr>
              <a:t>or</a:t>
            </a:r>
          </a:p>
          <a:p>
            <a:endParaRPr lang="en-US" sz="3600" spc="-10" dirty="0">
              <a:solidFill>
                <a:srgbClr val="FFFFFF"/>
              </a:solidFill>
              <a:latin typeface="Tahoma"/>
              <a:cs typeface="Tahoma"/>
            </a:endParaRPr>
          </a:p>
          <a:p>
            <a:pPr algn="just"/>
            <a:r>
              <a:rPr lang="en-US" sz="3600" spc="-10" dirty="0" smtClean="0">
                <a:solidFill>
                  <a:srgbClr val="FFFFFF"/>
                </a:solidFill>
                <a:latin typeface="Tahoma"/>
                <a:cs typeface="Tahoma"/>
              </a:rPr>
              <a:t>iv. Premises </a:t>
            </a:r>
            <a:r>
              <a:rPr lang="en-US" sz="3600" spc="-10" dirty="0">
                <a:solidFill>
                  <a:srgbClr val="FFFFFF"/>
                </a:solidFill>
                <a:latin typeface="Tahoma"/>
                <a:cs typeface="Tahoma"/>
              </a:rPr>
              <a:t>located in </a:t>
            </a:r>
            <a:r>
              <a:rPr lang="en-US" sz="3600" spc="-10" dirty="0" err="1">
                <a:solidFill>
                  <a:srgbClr val="FFFFFF"/>
                </a:solidFill>
                <a:latin typeface="Tahoma"/>
                <a:cs typeface="Tahoma"/>
              </a:rPr>
              <a:t>Ikeja</a:t>
            </a:r>
            <a:r>
              <a:rPr lang="en-US" sz="3600" spc="-10" dirty="0">
                <a:solidFill>
                  <a:srgbClr val="FFFFFF"/>
                </a:solidFill>
                <a:latin typeface="Tahoma"/>
                <a:cs typeface="Tahoma"/>
              </a:rPr>
              <a:t> GRA, </a:t>
            </a:r>
            <a:r>
              <a:rPr lang="en-US" sz="3600" spc="-10" dirty="0" err="1">
                <a:solidFill>
                  <a:srgbClr val="FFFFFF"/>
                </a:solidFill>
                <a:latin typeface="Tahoma"/>
                <a:cs typeface="Tahoma"/>
              </a:rPr>
              <a:t>Apapa</a:t>
            </a:r>
            <a:r>
              <a:rPr lang="en-US" sz="3600" spc="-10" dirty="0">
                <a:solidFill>
                  <a:srgbClr val="FFFFFF"/>
                </a:solidFill>
                <a:latin typeface="Tahoma"/>
                <a:cs typeface="Tahoma"/>
              </a:rPr>
              <a:t>, Victoria </a:t>
            </a:r>
            <a:r>
              <a:rPr lang="en-US" sz="3600" spc="-10" dirty="0" smtClean="0">
                <a:solidFill>
                  <a:srgbClr val="FFFFFF"/>
                </a:solidFill>
                <a:latin typeface="Tahoma"/>
                <a:cs typeface="Tahoma"/>
              </a:rPr>
              <a:t>Island and any other area that may exempted by the Governor.</a:t>
            </a:r>
            <a:endParaRPr lang="en-US" sz="3600" dirty="0"/>
          </a:p>
        </p:txBody>
      </p:sp>
    </p:spTree>
    <p:extLst>
      <p:ext uri="{BB962C8B-B14F-4D97-AF65-F5344CB8AC3E}">
        <p14:creationId xmlns:p14="http://schemas.microsoft.com/office/powerpoint/2010/main" val="3672619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068559" y="136397"/>
            <a:ext cx="6835775" cy="1362710"/>
          </a:xfrm>
          <a:prstGeom prst="rect">
            <a:avLst/>
          </a:prstGeom>
        </p:spPr>
        <p:txBody>
          <a:bodyPr vert="horz" wrap="square" lIns="0" tIns="29209" rIns="0" bIns="0" rtlCol="0">
            <a:spAutoFit/>
          </a:bodyPr>
          <a:lstStyle/>
          <a:p>
            <a:pPr marL="2495550" marR="5080" indent="-2483485">
              <a:lnSpc>
                <a:spcPts val="5250"/>
              </a:lnSpc>
              <a:spcBef>
                <a:spcPts val="229"/>
              </a:spcBef>
            </a:pPr>
            <a:r>
              <a:rPr sz="4400" spc="-10" dirty="0">
                <a:solidFill>
                  <a:srgbClr val="FFFFCC"/>
                </a:solidFill>
              </a:rPr>
              <a:t>ESSENTIALS</a:t>
            </a:r>
            <a:r>
              <a:rPr sz="4400" spc="-45" dirty="0">
                <a:solidFill>
                  <a:srgbClr val="FFFFCC"/>
                </a:solidFill>
              </a:rPr>
              <a:t> </a:t>
            </a:r>
            <a:r>
              <a:rPr sz="4400" spc="-5" dirty="0">
                <a:solidFill>
                  <a:srgbClr val="FFFFCC"/>
                </a:solidFill>
              </a:rPr>
              <a:t>OF</a:t>
            </a:r>
            <a:r>
              <a:rPr sz="4400" spc="-45" dirty="0">
                <a:solidFill>
                  <a:srgbClr val="FFFFCC"/>
                </a:solidFill>
              </a:rPr>
              <a:t> </a:t>
            </a:r>
            <a:r>
              <a:rPr sz="4400" dirty="0">
                <a:solidFill>
                  <a:srgbClr val="FFFFCC"/>
                </a:solidFill>
              </a:rPr>
              <a:t>A</a:t>
            </a:r>
            <a:r>
              <a:rPr sz="4400" spc="-40" dirty="0">
                <a:solidFill>
                  <a:srgbClr val="FFFFCC"/>
                </a:solidFill>
              </a:rPr>
              <a:t> </a:t>
            </a:r>
            <a:r>
              <a:rPr sz="4400" spc="-10" dirty="0">
                <a:solidFill>
                  <a:srgbClr val="FFFFCC"/>
                </a:solidFill>
              </a:rPr>
              <a:t>VALID </a:t>
            </a:r>
            <a:r>
              <a:rPr sz="4400" spc="-1210" dirty="0">
                <a:solidFill>
                  <a:srgbClr val="FFFFCC"/>
                </a:solidFill>
              </a:rPr>
              <a:t> </a:t>
            </a:r>
            <a:r>
              <a:rPr sz="4400" spc="-5" dirty="0">
                <a:solidFill>
                  <a:srgbClr val="FFFFCC"/>
                </a:solidFill>
              </a:rPr>
              <a:t>LEASE</a:t>
            </a:r>
            <a:endParaRPr sz="4400" dirty="0"/>
          </a:p>
        </p:txBody>
      </p:sp>
      <p:sp>
        <p:nvSpPr>
          <p:cNvPr id="3" name="object 3"/>
          <p:cNvSpPr txBox="1"/>
          <p:nvPr/>
        </p:nvSpPr>
        <p:spPr>
          <a:xfrm>
            <a:off x="191142" y="1656079"/>
            <a:ext cx="8524875" cy="4810125"/>
          </a:xfrm>
          <a:prstGeom prst="rect">
            <a:avLst/>
          </a:prstGeom>
        </p:spPr>
        <p:txBody>
          <a:bodyPr vert="horz" wrap="square" lIns="0" tIns="114300" rIns="0" bIns="0" rtlCol="0">
            <a:spAutoFit/>
          </a:bodyPr>
          <a:lstStyle/>
          <a:p>
            <a:pPr marL="389255" indent="-377190">
              <a:lnSpc>
                <a:spcPct val="100000"/>
              </a:lnSpc>
              <a:spcBef>
                <a:spcPts val="900"/>
              </a:spcBef>
              <a:buClr>
                <a:srgbClr val="FFFF99"/>
              </a:buClr>
              <a:buSzPct val="65000"/>
              <a:buFont typeface="Arial"/>
              <a:buChar char="■"/>
              <a:tabLst>
                <a:tab pos="389255" algn="l"/>
                <a:tab pos="389890" algn="l"/>
              </a:tabLst>
            </a:pPr>
            <a:r>
              <a:rPr sz="4000" b="1" spc="-5" dirty="0">
                <a:solidFill>
                  <a:srgbClr val="FFFFFF"/>
                </a:solidFill>
                <a:latin typeface="Tahoma"/>
                <a:cs typeface="Tahoma"/>
              </a:rPr>
              <a:t>Certainty</a:t>
            </a:r>
            <a:r>
              <a:rPr sz="4000" b="1" spc="-40" dirty="0">
                <a:solidFill>
                  <a:srgbClr val="FFFFFF"/>
                </a:solidFill>
                <a:latin typeface="Tahoma"/>
                <a:cs typeface="Tahoma"/>
              </a:rPr>
              <a:t> </a:t>
            </a:r>
            <a:r>
              <a:rPr sz="4000" b="1" spc="-5" dirty="0">
                <a:solidFill>
                  <a:srgbClr val="FFFFFF"/>
                </a:solidFill>
                <a:latin typeface="Tahoma"/>
                <a:cs typeface="Tahoma"/>
              </a:rPr>
              <a:t>of</a:t>
            </a:r>
            <a:r>
              <a:rPr sz="4000" b="1" spc="-40" dirty="0">
                <a:solidFill>
                  <a:srgbClr val="FFFFFF"/>
                </a:solidFill>
                <a:latin typeface="Tahoma"/>
                <a:cs typeface="Tahoma"/>
              </a:rPr>
              <a:t> </a:t>
            </a:r>
            <a:r>
              <a:rPr sz="4000" b="1" spc="-5" dirty="0">
                <a:solidFill>
                  <a:srgbClr val="FFFFFF"/>
                </a:solidFill>
                <a:latin typeface="Tahoma"/>
                <a:cs typeface="Tahoma"/>
              </a:rPr>
              <a:t>term</a:t>
            </a:r>
            <a:endParaRPr sz="4000">
              <a:latin typeface="Tahoma"/>
              <a:cs typeface="Tahoma"/>
            </a:endParaRPr>
          </a:p>
          <a:p>
            <a:pPr marL="389255" marR="810895" indent="101600">
              <a:lnSpc>
                <a:spcPct val="100499"/>
              </a:lnSpc>
              <a:spcBef>
                <a:spcPts val="775"/>
              </a:spcBef>
              <a:tabLst>
                <a:tab pos="960755" algn="l"/>
              </a:tabLst>
            </a:pPr>
            <a:r>
              <a:rPr sz="4000" b="1" dirty="0">
                <a:solidFill>
                  <a:srgbClr val="FFFFFF"/>
                </a:solidFill>
                <a:latin typeface="Tahoma"/>
                <a:cs typeface="Tahoma"/>
              </a:rPr>
              <a:t>-	</a:t>
            </a:r>
            <a:r>
              <a:rPr sz="4000" spc="-5" dirty="0">
                <a:solidFill>
                  <a:srgbClr val="FFFFFF"/>
                </a:solidFill>
                <a:latin typeface="Tahoma"/>
                <a:cs typeface="Tahoma"/>
              </a:rPr>
              <a:t>Duration</a:t>
            </a:r>
            <a:r>
              <a:rPr sz="4000" spc="-50" dirty="0">
                <a:solidFill>
                  <a:srgbClr val="FFFFFF"/>
                </a:solidFill>
                <a:latin typeface="Tahoma"/>
                <a:cs typeface="Tahoma"/>
              </a:rPr>
              <a:t> </a:t>
            </a:r>
            <a:r>
              <a:rPr sz="4000" spc="-5" dirty="0">
                <a:solidFill>
                  <a:srgbClr val="FFFFFF"/>
                </a:solidFill>
                <a:latin typeface="Tahoma"/>
                <a:cs typeface="Tahoma"/>
              </a:rPr>
              <a:t>i.e.</a:t>
            </a:r>
            <a:r>
              <a:rPr sz="4000" spc="-55" dirty="0">
                <a:solidFill>
                  <a:srgbClr val="FFFFFF"/>
                </a:solidFill>
                <a:latin typeface="Tahoma"/>
                <a:cs typeface="Tahoma"/>
              </a:rPr>
              <a:t> </a:t>
            </a:r>
            <a:r>
              <a:rPr sz="4000" spc="-10" dirty="0">
                <a:solidFill>
                  <a:srgbClr val="FFFFFF"/>
                </a:solidFill>
                <a:latin typeface="Tahoma"/>
                <a:cs typeface="Tahoma"/>
              </a:rPr>
              <a:t>(Commencement </a:t>
            </a:r>
            <a:r>
              <a:rPr sz="4000" spc="-1235" dirty="0">
                <a:solidFill>
                  <a:srgbClr val="FFFFFF"/>
                </a:solidFill>
                <a:latin typeface="Tahoma"/>
                <a:cs typeface="Tahoma"/>
              </a:rPr>
              <a:t> </a:t>
            </a:r>
            <a:r>
              <a:rPr sz="4000" spc="-10" dirty="0">
                <a:solidFill>
                  <a:srgbClr val="FFFFFF"/>
                </a:solidFill>
                <a:latin typeface="Tahoma"/>
                <a:cs typeface="Tahoma"/>
              </a:rPr>
              <a:t>and</a:t>
            </a:r>
            <a:r>
              <a:rPr sz="4000" spc="-15" dirty="0">
                <a:solidFill>
                  <a:srgbClr val="FFFFFF"/>
                </a:solidFill>
                <a:latin typeface="Tahoma"/>
                <a:cs typeface="Tahoma"/>
              </a:rPr>
              <a:t> </a:t>
            </a:r>
            <a:r>
              <a:rPr sz="4000" spc="-5" dirty="0">
                <a:solidFill>
                  <a:srgbClr val="FFFFFF"/>
                </a:solidFill>
                <a:latin typeface="Tahoma"/>
                <a:cs typeface="Tahoma"/>
              </a:rPr>
              <a:t>ending</a:t>
            </a:r>
            <a:r>
              <a:rPr sz="4000" spc="-10" dirty="0">
                <a:solidFill>
                  <a:srgbClr val="FFFFFF"/>
                </a:solidFill>
                <a:latin typeface="Tahoma"/>
                <a:cs typeface="Tahoma"/>
              </a:rPr>
              <a:t> </a:t>
            </a:r>
            <a:r>
              <a:rPr sz="4000" spc="-5" dirty="0">
                <a:solidFill>
                  <a:srgbClr val="FFFFFF"/>
                </a:solidFill>
                <a:latin typeface="Tahoma"/>
                <a:cs typeface="Tahoma"/>
              </a:rPr>
              <a:t>dates)</a:t>
            </a:r>
            <a:endParaRPr sz="4000">
              <a:latin typeface="Tahoma"/>
              <a:cs typeface="Tahoma"/>
            </a:endParaRPr>
          </a:p>
          <a:p>
            <a:pPr marL="389255">
              <a:lnSpc>
                <a:spcPct val="100000"/>
              </a:lnSpc>
              <a:spcBef>
                <a:spcPts val="800"/>
              </a:spcBef>
            </a:pPr>
            <a:r>
              <a:rPr sz="4000" spc="-10" dirty="0">
                <a:solidFill>
                  <a:srgbClr val="FFFFFF"/>
                </a:solidFill>
                <a:latin typeface="Tahoma"/>
                <a:cs typeface="Tahoma"/>
              </a:rPr>
              <a:t>UBA</a:t>
            </a:r>
            <a:r>
              <a:rPr sz="4000" spc="-25" dirty="0">
                <a:solidFill>
                  <a:srgbClr val="FFFFFF"/>
                </a:solidFill>
                <a:latin typeface="Tahoma"/>
                <a:cs typeface="Tahoma"/>
              </a:rPr>
              <a:t> </a:t>
            </a:r>
            <a:r>
              <a:rPr sz="4000" dirty="0">
                <a:solidFill>
                  <a:srgbClr val="FFFFFF"/>
                </a:solidFill>
                <a:latin typeface="Tahoma"/>
                <a:cs typeface="Tahoma"/>
              </a:rPr>
              <a:t>v</a:t>
            </a:r>
            <a:r>
              <a:rPr sz="4000" spc="-15" dirty="0">
                <a:solidFill>
                  <a:srgbClr val="FFFFFF"/>
                </a:solidFill>
                <a:latin typeface="Tahoma"/>
                <a:cs typeface="Tahoma"/>
              </a:rPr>
              <a:t> </a:t>
            </a:r>
            <a:r>
              <a:rPr sz="4000" spc="-10" dirty="0">
                <a:solidFill>
                  <a:srgbClr val="FFFFFF"/>
                </a:solidFill>
                <a:latin typeface="Tahoma"/>
                <a:cs typeface="Tahoma"/>
              </a:rPr>
              <a:t>Tejumola</a:t>
            </a:r>
            <a:r>
              <a:rPr sz="4000" spc="-20" dirty="0">
                <a:solidFill>
                  <a:srgbClr val="FFFFFF"/>
                </a:solidFill>
                <a:latin typeface="Tahoma"/>
                <a:cs typeface="Tahoma"/>
              </a:rPr>
              <a:t> </a:t>
            </a:r>
            <a:r>
              <a:rPr sz="4000" spc="-10" dirty="0">
                <a:solidFill>
                  <a:srgbClr val="FFFFFF"/>
                </a:solidFill>
                <a:latin typeface="Tahoma"/>
                <a:cs typeface="Tahoma"/>
              </a:rPr>
              <a:t>(1988)</a:t>
            </a:r>
            <a:r>
              <a:rPr sz="4000" spc="-20" dirty="0">
                <a:solidFill>
                  <a:srgbClr val="FFFFFF"/>
                </a:solidFill>
                <a:latin typeface="Tahoma"/>
                <a:cs typeface="Tahoma"/>
              </a:rPr>
              <a:t> </a:t>
            </a:r>
            <a:r>
              <a:rPr sz="4000" dirty="0">
                <a:solidFill>
                  <a:srgbClr val="FFFFFF"/>
                </a:solidFill>
                <a:latin typeface="Tahoma"/>
                <a:cs typeface="Tahoma"/>
              </a:rPr>
              <a:t>5</a:t>
            </a:r>
            <a:r>
              <a:rPr sz="4000" spc="-20" dirty="0">
                <a:solidFill>
                  <a:srgbClr val="FFFFFF"/>
                </a:solidFill>
                <a:latin typeface="Tahoma"/>
                <a:cs typeface="Tahoma"/>
              </a:rPr>
              <a:t> </a:t>
            </a:r>
            <a:r>
              <a:rPr sz="4000" spc="-5" dirty="0">
                <a:solidFill>
                  <a:srgbClr val="FFFFFF"/>
                </a:solidFill>
                <a:latin typeface="Tahoma"/>
                <a:cs typeface="Tahoma"/>
              </a:rPr>
              <a:t>SCNJ</a:t>
            </a:r>
            <a:r>
              <a:rPr sz="4000" spc="-15" dirty="0">
                <a:solidFill>
                  <a:srgbClr val="FFFFFF"/>
                </a:solidFill>
                <a:latin typeface="Tahoma"/>
                <a:cs typeface="Tahoma"/>
              </a:rPr>
              <a:t> </a:t>
            </a:r>
            <a:r>
              <a:rPr sz="4000" spc="-10" dirty="0">
                <a:solidFill>
                  <a:srgbClr val="FFFFFF"/>
                </a:solidFill>
                <a:latin typeface="Tahoma"/>
                <a:cs typeface="Tahoma"/>
              </a:rPr>
              <a:t>173;</a:t>
            </a:r>
            <a:endParaRPr sz="4000">
              <a:latin typeface="Tahoma"/>
              <a:cs typeface="Tahoma"/>
            </a:endParaRPr>
          </a:p>
          <a:p>
            <a:pPr marL="389255">
              <a:lnSpc>
                <a:spcPct val="100000"/>
              </a:lnSpc>
              <a:spcBef>
                <a:spcPts val="25"/>
              </a:spcBef>
            </a:pPr>
            <a:r>
              <a:rPr sz="4000" spc="-5" dirty="0">
                <a:solidFill>
                  <a:srgbClr val="FFFFFF"/>
                </a:solidFill>
                <a:latin typeface="Tahoma"/>
                <a:cs typeface="Tahoma"/>
              </a:rPr>
              <a:t>Lace</a:t>
            </a:r>
            <a:r>
              <a:rPr sz="4000" spc="-25" dirty="0">
                <a:solidFill>
                  <a:srgbClr val="FFFFFF"/>
                </a:solidFill>
                <a:latin typeface="Tahoma"/>
                <a:cs typeface="Tahoma"/>
              </a:rPr>
              <a:t> </a:t>
            </a:r>
            <a:r>
              <a:rPr sz="4000" dirty="0">
                <a:solidFill>
                  <a:srgbClr val="FFFFFF"/>
                </a:solidFill>
                <a:latin typeface="Tahoma"/>
                <a:cs typeface="Tahoma"/>
              </a:rPr>
              <a:t>v</a:t>
            </a:r>
            <a:r>
              <a:rPr sz="4000" spc="-15" dirty="0">
                <a:solidFill>
                  <a:srgbClr val="FFFFFF"/>
                </a:solidFill>
                <a:latin typeface="Tahoma"/>
                <a:cs typeface="Tahoma"/>
              </a:rPr>
              <a:t> </a:t>
            </a:r>
            <a:r>
              <a:rPr sz="4000" spc="-5" dirty="0">
                <a:solidFill>
                  <a:srgbClr val="FFFFFF"/>
                </a:solidFill>
                <a:latin typeface="Tahoma"/>
                <a:cs typeface="Tahoma"/>
              </a:rPr>
              <a:t>Chantler</a:t>
            </a:r>
            <a:r>
              <a:rPr sz="4000" spc="-20" dirty="0">
                <a:solidFill>
                  <a:srgbClr val="FFFFFF"/>
                </a:solidFill>
                <a:latin typeface="Tahoma"/>
                <a:cs typeface="Tahoma"/>
              </a:rPr>
              <a:t> </a:t>
            </a:r>
            <a:r>
              <a:rPr sz="4000" spc="-10" dirty="0">
                <a:solidFill>
                  <a:srgbClr val="FFFFFF"/>
                </a:solidFill>
                <a:latin typeface="Tahoma"/>
                <a:cs typeface="Tahoma"/>
              </a:rPr>
              <a:t>(1944)</a:t>
            </a:r>
            <a:r>
              <a:rPr sz="4000" spc="-25" dirty="0">
                <a:solidFill>
                  <a:srgbClr val="FFFFFF"/>
                </a:solidFill>
                <a:latin typeface="Tahoma"/>
                <a:cs typeface="Tahoma"/>
              </a:rPr>
              <a:t> </a:t>
            </a:r>
            <a:r>
              <a:rPr sz="4000" dirty="0">
                <a:solidFill>
                  <a:srgbClr val="FFFFFF"/>
                </a:solidFill>
                <a:latin typeface="Tahoma"/>
                <a:cs typeface="Tahoma"/>
              </a:rPr>
              <a:t>1</a:t>
            </a:r>
            <a:r>
              <a:rPr sz="4000" spc="-20" dirty="0">
                <a:solidFill>
                  <a:srgbClr val="FFFFFF"/>
                </a:solidFill>
                <a:latin typeface="Tahoma"/>
                <a:cs typeface="Tahoma"/>
              </a:rPr>
              <a:t> </a:t>
            </a:r>
            <a:r>
              <a:rPr sz="4000" spc="-5" dirty="0">
                <a:solidFill>
                  <a:srgbClr val="FFFFFF"/>
                </a:solidFill>
                <a:latin typeface="Tahoma"/>
                <a:cs typeface="Tahoma"/>
              </a:rPr>
              <a:t>KB</a:t>
            </a:r>
            <a:r>
              <a:rPr sz="4000" spc="-20" dirty="0">
                <a:solidFill>
                  <a:srgbClr val="FFFFFF"/>
                </a:solidFill>
                <a:latin typeface="Tahoma"/>
                <a:cs typeface="Tahoma"/>
              </a:rPr>
              <a:t> </a:t>
            </a:r>
            <a:r>
              <a:rPr sz="4000" spc="-5" dirty="0">
                <a:solidFill>
                  <a:srgbClr val="FFFFFF"/>
                </a:solidFill>
                <a:latin typeface="Tahoma"/>
                <a:cs typeface="Tahoma"/>
              </a:rPr>
              <a:t>363;</a:t>
            </a:r>
            <a:endParaRPr sz="4000">
              <a:latin typeface="Tahoma"/>
              <a:cs typeface="Tahoma"/>
            </a:endParaRPr>
          </a:p>
          <a:p>
            <a:pPr marL="389255">
              <a:lnSpc>
                <a:spcPct val="100000"/>
              </a:lnSpc>
              <a:spcBef>
                <a:spcPts val="800"/>
              </a:spcBef>
            </a:pPr>
            <a:r>
              <a:rPr sz="4000" spc="-5" dirty="0">
                <a:solidFill>
                  <a:srgbClr val="FFFFFF"/>
                </a:solidFill>
                <a:latin typeface="Tahoma"/>
                <a:cs typeface="Tahoma"/>
              </a:rPr>
              <a:t>Aminu</a:t>
            </a:r>
            <a:r>
              <a:rPr sz="4000" spc="-45" dirty="0">
                <a:solidFill>
                  <a:srgbClr val="FFFFFF"/>
                </a:solidFill>
                <a:latin typeface="Tahoma"/>
                <a:cs typeface="Tahoma"/>
              </a:rPr>
              <a:t> </a:t>
            </a:r>
            <a:r>
              <a:rPr sz="4000" dirty="0">
                <a:solidFill>
                  <a:srgbClr val="FFFFFF"/>
                </a:solidFill>
                <a:latin typeface="Tahoma"/>
                <a:cs typeface="Tahoma"/>
              </a:rPr>
              <a:t>v</a:t>
            </a:r>
            <a:r>
              <a:rPr sz="4000" spc="-35" dirty="0">
                <a:solidFill>
                  <a:srgbClr val="FFFFFF"/>
                </a:solidFill>
                <a:latin typeface="Tahoma"/>
                <a:cs typeface="Tahoma"/>
              </a:rPr>
              <a:t> </a:t>
            </a:r>
            <a:r>
              <a:rPr sz="4000" spc="-5" dirty="0">
                <a:solidFill>
                  <a:srgbClr val="FFFFFF"/>
                </a:solidFill>
                <a:latin typeface="Tahoma"/>
                <a:cs typeface="Tahoma"/>
              </a:rPr>
              <a:t>Nzeribe</a:t>
            </a:r>
            <a:endParaRPr sz="4000">
              <a:latin typeface="Tahoma"/>
              <a:cs typeface="Tahoma"/>
            </a:endParaRPr>
          </a:p>
          <a:p>
            <a:pPr marL="389255">
              <a:lnSpc>
                <a:spcPct val="100000"/>
              </a:lnSpc>
              <a:spcBef>
                <a:spcPts val="825"/>
              </a:spcBef>
              <a:tabLst>
                <a:tab pos="960755" algn="l"/>
              </a:tabLst>
            </a:pPr>
            <a:r>
              <a:rPr sz="4000" dirty="0">
                <a:solidFill>
                  <a:srgbClr val="FFFFFF"/>
                </a:solidFill>
                <a:latin typeface="Tahoma"/>
                <a:cs typeface="Tahoma"/>
              </a:rPr>
              <a:t>-	</a:t>
            </a:r>
            <a:r>
              <a:rPr sz="4000" spc="-5" dirty="0">
                <a:solidFill>
                  <a:srgbClr val="FFFFFF"/>
                </a:solidFill>
                <a:latin typeface="Tahoma"/>
                <a:cs typeface="Tahoma"/>
              </a:rPr>
              <a:t>Lease</a:t>
            </a:r>
            <a:r>
              <a:rPr sz="4000" spc="-30" dirty="0">
                <a:solidFill>
                  <a:srgbClr val="FFFFFF"/>
                </a:solidFill>
                <a:latin typeface="Tahoma"/>
                <a:cs typeface="Tahoma"/>
              </a:rPr>
              <a:t> </a:t>
            </a:r>
            <a:r>
              <a:rPr sz="4000" spc="-5" dirty="0">
                <a:solidFill>
                  <a:srgbClr val="FFFFFF"/>
                </a:solidFill>
                <a:latin typeface="Tahoma"/>
                <a:cs typeface="Tahoma"/>
              </a:rPr>
              <a:t>cannot</a:t>
            </a:r>
            <a:r>
              <a:rPr sz="4000" spc="-25" dirty="0">
                <a:solidFill>
                  <a:srgbClr val="FFFFFF"/>
                </a:solidFill>
                <a:latin typeface="Tahoma"/>
                <a:cs typeface="Tahoma"/>
              </a:rPr>
              <a:t> </a:t>
            </a:r>
            <a:r>
              <a:rPr sz="4000" spc="-5" dirty="0">
                <a:solidFill>
                  <a:srgbClr val="FFFFFF"/>
                </a:solidFill>
                <a:latin typeface="Tahoma"/>
                <a:cs typeface="Tahoma"/>
              </a:rPr>
              <a:t>be</a:t>
            </a:r>
            <a:r>
              <a:rPr sz="4000" spc="-30" dirty="0">
                <a:solidFill>
                  <a:srgbClr val="FFFFFF"/>
                </a:solidFill>
                <a:latin typeface="Tahoma"/>
                <a:cs typeface="Tahoma"/>
              </a:rPr>
              <a:t> </a:t>
            </a:r>
            <a:r>
              <a:rPr sz="4000" spc="-5" dirty="0">
                <a:solidFill>
                  <a:srgbClr val="FFFFFF"/>
                </a:solidFill>
                <a:latin typeface="Tahoma"/>
                <a:cs typeface="Tahoma"/>
              </a:rPr>
              <a:t>in</a:t>
            </a:r>
            <a:r>
              <a:rPr sz="4000" spc="-25" dirty="0">
                <a:solidFill>
                  <a:srgbClr val="FFFFFF"/>
                </a:solidFill>
                <a:latin typeface="Tahoma"/>
                <a:cs typeface="Tahoma"/>
              </a:rPr>
              <a:t> </a:t>
            </a:r>
            <a:r>
              <a:rPr sz="4000" spc="-5" dirty="0">
                <a:solidFill>
                  <a:srgbClr val="FFFFFF"/>
                </a:solidFill>
                <a:latin typeface="Tahoma"/>
                <a:cs typeface="Tahoma"/>
              </a:rPr>
              <a:t>perpetuity</a:t>
            </a:r>
            <a:endParaRPr sz="4000">
              <a:latin typeface="Tahoma"/>
              <a:cs typeface="Tahoma"/>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1237" y="15303"/>
            <a:ext cx="5694363" cy="518097"/>
          </a:xfrm>
        </p:spPr>
        <p:txBody>
          <a:bodyPr/>
          <a:lstStyle/>
          <a:p>
            <a:endParaRPr lang="en-US" dirty="0"/>
          </a:p>
        </p:txBody>
      </p:sp>
      <p:sp>
        <p:nvSpPr>
          <p:cNvPr id="3" name="Text Placeholder 2"/>
          <p:cNvSpPr>
            <a:spLocks noGrp="1"/>
          </p:cNvSpPr>
          <p:nvPr>
            <p:ph type="body" idx="1"/>
          </p:nvPr>
        </p:nvSpPr>
        <p:spPr>
          <a:xfrm>
            <a:off x="228600" y="609600"/>
            <a:ext cx="8458200" cy="6474976"/>
          </a:xfrm>
        </p:spPr>
        <p:txBody>
          <a:bodyPr/>
          <a:lstStyle/>
          <a:p>
            <a:r>
              <a:rPr lang="en-US" sz="4400" dirty="0" smtClean="0">
                <a:solidFill>
                  <a:schemeClr val="bg1"/>
                </a:solidFill>
              </a:rPr>
              <a:t>Commencement tied to a future happening or contingency can only be valid upon the happening of the event or the contingency. </a:t>
            </a:r>
            <a:r>
              <a:rPr lang="en-US" sz="4400" b="1" i="1" dirty="0" err="1" smtClean="0">
                <a:solidFill>
                  <a:schemeClr val="bg1"/>
                </a:solidFill>
              </a:rPr>
              <a:t>Okechukwu</a:t>
            </a:r>
            <a:r>
              <a:rPr lang="en-US" sz="4400" b="1" i="1" dirty="0" smtClean="0">
                <a:solidFill>
                  <a:schemeClr val="bg1"/>
                </a:solidFill>
              </a:rPr>
              <a:t> </a:t>
            </a:r>
            <a:r>
              <a:rPr lang="en-US" sz="4400" b="1" i="1" dirty="0" err="1" smtClean="0">
                <a:solidFill>
                  <a:schemeClr val="bg1"/>
                </a:solidFill>
              </a:rPr>
              <a:t>vs</a:t>
            </a:r>
            <a:r>
              <a:rPr lang="en-US" sz="4400" b="1" i="1" dirty="0" smtClean="0">
                <a:solidFill>
                  <a:schemeClr val="bg1"/>
                </a:solidFill>
              </a:rPr>
              <a:t> </a:t>
            </a:r>
            <a:r>
              <a:rPr lang="en-US" sz="4400" b="1" i="1" dirty="0" err="1" smtClean="0">
                <a:solidFill>
                  <a:schemeClr val="bg1"/>
                </a:solidFill>
              </a:rPr>
              <a:t>Onuorah</a:t>
            </a:r>
            <a:r>
              <a:rPr lang="en-US" sz="4400" b="1" i="1" dirty="0" smtClean="0">
                <a:solidFill>
                  <a:schemeClr val="bg1"/>
                </a:solidFill>
              </a:rPr>
              <a:t> &amp; </a:t>
            </a:r>
            <a:r>
              <a:rPr lang="en-US" sz="4400" b="1" i="1" dirty="0" err="1" smtClean="0">
                <a:solidFill>
                  <a:schemeClr val="bg1"/>
                </a:solidFill>
              </a:rPr>
              <a:t>Bosah</a:t>
            </a:r>
            <a:r>
              <a:rPr lang="en-US" sz="4400" b="1" i="1" dirty="0" smtClean="0">
                <a:solidFill>
                  <a:schemeClr val="bg1"/>
                </a:solidFill>
              </a:rPr>
              <a:t> </a:t>
            </a:r>
            <a:r>
              <a:rPr lang="en-US" sz="4400" b="1" i="1" dirty="0" err="1" smtClean="0">
                <a:solidFill>
                  <a:schemeClr val="bg1"/>
                </a:solidFill>
              </a:rPr>
              <a:t>vs</a:t>
            </a:r>
            <a:r>
              <a:rPr lang="en-US" sz="4400" b="1" i="1" dirty="0" smtClean="0">
                <a:solidFill>
                  <a:schemeClr val="bg1"/>
                </a:solidFill>
              </a:rPr>
              <a:t> </a:t>
            </a:r>
            <a:r>
              <a:rPr lang="en-US" sz="4400" b="1" i="1" dirty="0" err="1" smtClean="0">
                <a:solidFill>
                  <a:schemeClr val="bg1"/>
                </a:solidFill>
              </a:rPr>
              <a:t>oji</a:t>
            </a:r>
            <a:r>
              <a:rPr lang="en-US" sz="4400" b="1" dirty="0" smtClean="0">
                <a:solidFill>
                  <a:schemeClr val="bg1"/>
                </a:solidFill>
              </a:rPr>
              <a:t> – hinged on the issuance of C/O by Onitsha LGC – contingency ascertainable &amp; occurred, the lease were valid.</a:t>
            </a:r>
            <a:endParaRPr lang="en-US" sz="4400" b="1" dirty="0">
              <a:solidFill>
                <a:schemeClr val="bg1"/>
              </a:solidFill>
            </a:endParaRPr>
          </a:p>
        </p:txBody>
      </p:sp>
    </p:spTree>
    <p:extLst>
      <p:ext uri="{BB962C8B-B14F-4D97-AF65-F5344CB8AC3E}">
        <p14:creationId xmlns:p14="http://schemas.microsoft.com/office/powerpoint/2010/main" val="26956422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24" y="55879"/>
            <a:ext cx="8675370" cy="6270947"/>
          </a:xfrm>
          <a:prstGeom prst="rect">
            <a:avLst/>
          </a:prstGeom>
        </p:spPr>
        <p:txBody>
          <a:bodyPr vert="horz" wrap="square" lIns="0" tIns="114300" rIns="0" bIns="0" rtlCol="0">
            <a:spAutoFit/>
          </a:bodyPr>
          <a:lstStyle/>
          <a:p>
            <a:pPr marL="520065" indent="-377825">
              <a:lnSpc>
                <a:spcPct val="100000"/>
              </a:lnSpc>
              <a:spcBef>
                <a:spcPts val="900"/>
              </a:spcBef>
              <a:buClr>
                <a:srgbClr val="FFFF99"/>
              </a:buClr>
              <a:buSzPct val="65000"/>
              <a:buFont typeface="Arial"/>
              <a:buChar char="■"/>
              <a:tabLst>
                <a:tab pos="520065" algn="l"/>
                <a:tab pos="520700" algn="l"/>
              </a:tabLst>
            </a:pPr>
            <a:r>
              <a:rPr sz="3600" b="1" spc="-5" dirty="0">
                <a:solidFill>
                  <a:srgbClr val="FFFFFF"/>
                </a:solidFill>
                <a:latin typeface="Tahoma"/>
                <a:cs typeface="Tahoma"/>
              </a:rPr>
              <a:t>Proper</a:t>
            </a:r>
            <a:r>
              <a:rPr sz="3600" b="1" spc="-35" dirty="0">
                <a:solidFill>
                  <a:srgbClr val="FFFFFF"/>
                </a:solidFill>
                <a:latin typeface="Tahoma"/>
                <a:cs typeface="Tahoma"/>
              </a:rPr>
              <a:t> </a:t>
            </a:r>
            <a:r>
              <a:rPr sz="3600" b="1" spc="-5" dirty="0">
                <a:solidFill>
                  <a:srgbClr val="FFFFFF"/>
                </a:solidFill>
                <a:latin typeface="Tahoma"/>
                <a:cs typeface="Tahoma"/>
              </a:rPr>
              <a:t>Mode</a:t>
            </a:r>
            <a:r>
              <a:rPr sz="3600" b="1" spc="-25" dirty="0">
                <a:solidFill>
                  <a:srgbClr val="FFFFFF"/>
                </a:solidFill>
                <a:latin typeface="Tahoma"/>
                <a:cs typeface="Tahoma"/>
              </a:rPr>
              <a:t> </a:t>
            </a:r>
            <a:r>
              <a:rPr sz="3600" b="1" spc="-5" dirty="0">
                <a:solidFill>
                  <a:srgbClr val="FFFFFF"/>
                </a:solidFill>
                <a:latin typeface="Tahoma"/>
                <a:cs typeface="Tahoma"/>
              </a:rPr>
              <a:t>Of</a:t>
            </a:r>
            <a:r>
              <a:rPr sz="3600" b="1" spc="-25" dirty="0">
                <a:solidFill>
                  <a:srgbClr val="FFFFFF"/>
                </a:solidFill>
                <a:latin typeface="Tahoma"/>
                <a:cs typeface="Tahoma"/>
              </a:rPr>
              <a:t> </a:t>
            </a:r>
            <a:r>
              <a:rPr sz="3600" b="1" spc="-5" dirty="0">
                <a:solidFill>
                  <a:srgbClr val="FFFFFF"/>
                </a:solidFill>
                <a:latin typeface="Tahoma"/>
                <a:cs typeface="Tahoma"/>
              </a:rPr>
              <a:t>Creation</a:t>
            </a:r>
            <a:endParaRPr sz="3600" dirty="0">
              <a:latin typeface="Tahoma"/>
              <a:cs typeface="Tahoma"/>
            </a:endParaRPr>
          </a:p>
          <a:p>
            <a:pPr marL="1366520" lvl="1" indent="-872490">
              <a:lnSpc>
                <a:spcPct val="100000"/>
              </a:lnSpc>
              <a:spcBef>
                <a:spcPts val="800"/>
              </a:spcBef>
              <a:buAutoNum type="arabicPeriod" startAt="4"/>
              <a:tabLst>
                <a:tab pos="1367155" algn="l"/>
              </a:tabLst>
            </a:pPr>
            <a:r>
              <a:rPr sz="3600" spc="-5" dirty="0">
                <a:solidFill>
                  <a:srgbClr val="FFFFFF"/>
                </a:solidFill>
                <a:latin typeface="Tahoma"/>
                <a:cs typeface="Tahoma"/>
              </a:rPr>
              <a:t>Statute</a:t>
            </a:r>
            <a:r>
              <a:rPr sz="3600" spc="-20" dirty="0">
                <a:solidFill>
                  <a:srgbClr val="FFFFFF"/>
                </a:solidFill>
                <a:latin typeface="Tahoma"/>
                <a:cs typeface="Tahoma"/>
              </a:rPr>
              <a:t> </a:t>
            </a:r>
            <a:r>
              <a:rPr sz="3600" spc="-5" dirty="0">
                <a:solidFill>
                  <a:srgbClr val="FFFFFF"/>
                </a:solidFill>
                <a:latin typeface="Tahoma"/>
                <a:cs typeface="Tahoma"/>
              </a:rPr>
              <a:t>of</a:t>
            </a:r>
            <a:r>
              <a:rPr sz="3600" spc="-20" dirty="0">
                <a:solidFill>
                  <a:srgbClr val="FFFFFF"/>
                </a:solidFill>
                <a:latin typeface="Tahoma"/>
                <a:cs typeface="Tahoma"/>
              </a:rPr>
              <a:t> </a:t>
            </a:r>
            <a:r>
              <a:rPr sz="3600" spc="-5" dirty="0">
                <a:solidFill>
                  <a:srgbClr val="FFFFFF"/>
                </a:solidFill>
                <a:latin typeface="Tahoma"/>
                <a:cs typeface="Tahoma"/>
              </a:rPr>
              <a:t>Frauds,</a:t>
            </a:r>
            <a:r>
              <a:rPr sz="3600" spc="-25" dirty="0">
                <a:solidFill>
                  <a:srgbClr val="FFFFFF"/>
                </a:solidFill>
                <a:latin typeface="Tahoma"/>
                <a:cs typeface="Tahoma"/>
              </a:rPr>
              <a:t> </a:t>
            </a:r>
            <a:r>
              <a:rPr sz="3600" spc="-5" dirty="0">
                <a:solidFill>
                  <a:srgbClr val="FFFFFF"/>
                </a:solidFill>
                <a:latin typeface="Tahoma"/>
                <a:cs typeface="Tahoma"/>
              </a:rPr>
              <a:t>S.</a:t>
            </a:r>
            <a:r>
              <a:rPr sz="3600" spc="-15" dirty="0">
                <a:solidFill>
                  <a:srgbClr val="FFFFFF"/>
                </a:solidFill>
                <a:latin typeface="Tahoma"/>
                <a:cs typeface="Tahoma"/>
              </a:rPr>
              <a:t> </a:t>
            </a:r>
            <a:r>
              <a:rPr sz="3600" spc="-5" dirty="0">
                <a:solidFill>
                  <a:srgbClr val="FFFFFF"/>
                </a:solidFill>
                <a:latin typeface="Tahoma"/>
                <a:cs typeface="Tahoma"/>
              </a:rPr>
              <a:t>67</a:t>
            </a:r>
            <a:r>
              <a:rPr sz="3600" spc="-25" dirty="0">
                <a:solidFill>
                  <a:srgbClr val="FFFFFF"/>
                </a:solidFill>
                <a:latin typeface="Tahoma"/>
                <a:cs typeface="Tahoma"/>
              </a:rPr>
              <a:t> </a:t>
            </a:r>
            <a:r>
              <a:rPr sz="3600" spc="-10" dirty="0">
                <a:solidFill>
                  <a:srgbClr val="FFFFFF"/>
                </a:solidFill>
                <a:latin typeface="Tahoma"/>
                <a:cs typeface="Tahoma"/>
              </a:rPr>
              <a:t>(1)</a:t>
            </a:r>
            <a:r>
              <a:rPr sz="3600" spc="-20" dirty="0">
                <a:solidFill>
                  <a:srgbClr val="FFFFFF"/>
                </a:solidFill>
                <a:latin typeface="Tahoma"/>
                <a:cs typeface="Tahoma"/>
              </a:rPr>
              <a:t> </a:t>
            </a:r>
            <a:r>
              <a:rPr sz="3600" spc="-5" dirty="0">
                <a:solidFill>
                  <a:srgbClr val="FFFFFF"/>
                </a:solidFill>
                <a:latin typeface="Tahoma"/>
                <a:cs typeface="Tahoma"/>
              </a:rPr>
              <a:t>PCL,</a:t>
            </a:r>
            <a:endParaRPr sz="3600" dirty="0">
              <a:latin typeface="Tahoma"/>
              <a:cs typeface="Tahoma"/>
            </a:endParaRPr>
          </a:p>
          <a:p>
            <a:pPr marL="520065" marR="575310" lvl="1">
              <a:lnSpc>
                <a:spcPct val="100000"/>
              </a:lnSpc>
              <a:spcBef>
                <a:spcPts val="25"/>
              </a:spcBef>
              <a:buAutoNum type="arabicPeriod" startAt="4"/>
              <a:tabLst>
                <a:tab pos="1393190" algn="l"/>
              </a:tabLst>
            </a:pPr>
            <a:r>
              <a:rPr lang="en-US" sz="3600" spc="-5" dirty="0" smtClean="0">
                <a:solidFill>
                  <a:srgbClr val="FFFFFF"/>
                </a:solidFill>
                <a:latin typeface="Tahoma"/>
                <a:cs typeface="Tahoma"/>
              </a:rPr>
              <a:t> </a:t>
            </a:r>
            <a:r>
              <a:rPr sz="3600" spc="-5" dirty="0" smtClean="0">
                <a:solidFill>
                  <a:srgbClr val="FFFFFF"/>
                </a:solidFill>
                <a:latin typeface="Tahoma"/>
                <a:cs typeface="Tahoma"/>
              </a:rPr>
              <a:t>Law</a:t>
            </a:r>
            <a:r>
              <a:rPr sz="3600" spc="-30" dirty="0" smtClean="0">
                <a:solidFill>
                  <a:srgbClr val="FFFFFF"/>
                </a:solidFill>
                <a:latin typeface="Tahoma"/>
                <a:cs typeface="Tahoma"/>
              </a:rPr>
              <a:t> </a:t>
            </a:r>
            <a:r>
              <a:rPr sz="3600" spc="-5" dirty="0">
                <a:solidFill>
                  <a:srgbClr val="FFFFFF"/>
                </a:solidFill>
                <a:latin typeface="Tahoma"/>
                <a:cs typeface="Tahoma"/>
              </a:rPr>
              <a:t>Reform</a:t>
            </a:r>
            <a:r>
              <a:rPr sz="3600" spc="-30" dirty="0">
                <a:solidFill>
                  <a:srgbClr val="FFFFFF"/>
                </a:solidFill>
                <a:latin typeface="Tahoma"/>
                <a:cs typeface="Tahoma"/>
              </a:rPr>
              <a:t> </a:t>
            </a:r>
            <a:r>
              <a:rPr sz="3600" spc="-10" dirty="0">
                <a:solidFill>
                  <a:srgbClr val="FFFFFF"/>
                </a:solidFill>
                <a:latin typeface="Tahoma"/>
                <a:cs typeface="Tahoma"/>
              </a:rPr>
              <a:t>(Contracts)</a:t>
            </a:r>
            <a:r>
              <a:rPr sz="3600" spc="-30" dirty="0">
                <a:solidFill>
                  <a:srgbClr val="FFFFFF"/>
                </a:solidFill>
                <a:latin typeface="Tahoma"/>
                <a:cs typeface="Tahoma"/>
              </a:rPr>
              <a:t> </a:t>
            </a:r>
            <a:r>
              <a:rPr sz="3600" spc="-5" dirty="0">
                <a:solidFill>
                  <a:srgbClr val="FFFFFF"/>
                </a:solidFill>
                <a:latin typeface="Tahoma"/>
                <a:cs typeface="Tahoma"/>
              </a:rPr>
              <a:t>Act</a:t>
            </a:r>
            <a:r>
              <a:rPr sz="3600" spc="-25" dirty="0">
                <a:solidFill>
                  <a:srgbClr val="FFFFFF"/>
                </a:solidFill>
                <a:latin typeface="Tahoma"/>
                <a:cs typeface="Tahoma"/>
              </a:rPr>
              <a:t> </a:t>
            </a:r>
            <a:r>
              <a:rPr sz="3600" dirty="0">
                <a:solidFill>
                  <a:srgbClr val="FFFFFF"/>
                </a:solidFill>
                <a:latin typeface="Tahoma"/>
                <a:cs typeface="Tahoma"/>
              </a:rPr>
              <a:t>&amp; </a:t>
            </a:r>
            <a:r>
              <a:rPr sz="3600" spc="-1235" dirty="0">
                <a:solidFill>
                  <a:srgbClr val="FFFFFF"/>
                </a:solidFill>
                <a:latin typeface="Tahoma"/>
                <a:cs typeface="Tahoma"/>
              </a:rPr>
              <a:t> </a:t>
            </a:r>
            <a:r>
              <a:rPr sz="3600" spc="-5" dirty="0">
                <a:solidFill>
                  <a:srgbClr val="FFFFFF"/>
                </a:solidFill>
                <a:latin typeface="Tahoma"/>
                <a:cs typeface="Tahoma"/>
              </a:rPr>
              <a:t>Law</a:t>
            </a:r>
            <a:r>
              <a:rPr sz="3600" spc="-15" dirty="0">
                <a:solidFill>
                  <a:srgbClr val="FFFFFF"/>
                </a:solidFill>
                <a:latin typeface="Tahoma"/>
                <a:cs typeface="Tahoma"/>
              </a:rPr>
              <a:t> </a:t>
            </a:r>
            <a:r>
              <a:rPr sz="3600" spc="-5" dirty="0">
                <a:solidFill>
                  <a:srgbClr val="FFFFFF"/>
                </a:solidFill>
                <a:latin typeface="Tahoma"/>
                <a:cs typeface="Tahoma"/>
              </a:rPr>
              <a:t>of</a:t>
            </a:r>
            <a:r>
              <a:rPr sz="3600" spc="-15" dirty="0">
                <a:solidFill>
                  <a:srgbClr val="FFFFFF"/>
                </a:solidFill>
                <a:latin typeface="Tahoma"/>
                <a:cs typeface="Tahoma"/>
              </a:rPr>
              <a:t> </a:t>
            </a:r>
            <a:r>
              <a:rPr sz="3600" spc="-5" dirty="0">
                <a:solidFill>
                  <a:srgbClr val="FFFFFF"/>
                </a:solidFill>
                <a:latin typeface="Tahoma"/>
                <a:cs typeface="Tahoma"/>
              </a:rPr>
              <a:t>Lagos</a:t>
            </a:r>
            <a:r>
              <a:rPr sz="3600" spc="-15" dirty="0">
                <a:solidFill>
                  <a:srgbClr val="FFFFFF"/>
                </a:solidFill>
                <a:latin typeface="Tahoma"/>
                <a:cs typeface="Tahoma"/>
              </a:rPr>
              <a:t> </a:t>
            </a:r>
            <a:r>
              <a:rPr sz="3600" spc="-5" dirty="0" smtClean="0">
                <a:solidFill>
                  <a:srgbClr val="FFFFFF"/>
                </a:solidFill>
                <a:latin typeface="Tahoma"/>
                <a:cs typeface="Tahoma"/>
              </a:rPr>
              <a:t>State</a:t>
            </a:r>
            <a:r>
              <a:rPr lang="en-US" sz="3600" spc="-5" dirty="0" smtClean="0">
                <a:solidFill>
                  <a:srgbClr val="FFFFFF"/>
                </a:solidFill>
                <a:latin typeface="Tahoma"/>
                <a:cs typeface="Tahoma"/>
              </a:rPr>
              <a:t>.</a:t>
            </a:r>
          </a:p>
          <a:p>
            <a:pPr marL="520065" marR="575310" lvl="1">
              <a:lnSpc>
                <a:spcPct val="100000"/>
              </a:lnSpc>
              <a:spcBef>
                <a:spcPts val="25"/>
              </a:spcBef>
              <a:tabLst>
                <a:tab pos="1393190" algn="l"/>
              </a:tabLst>
            </a:pPr>
            <a:r>
              <a:rPr lang="en-US" sz="3200" spc="-5" dirty="0" smtClean="0">
                <a:solidFill>
                  <a:srgbClr val="FFFFFF"/>
                </a:solidFill>
                <a:latin typeface="Tahoma"/>
                <a:cs typeface="Tahoma"/>
              </a:rPr>
              <a:t>LSLRL – Lease to be created by the completion of a prescribed form</a:t>
            </a:r>
            <a:r>
              <a:rPr sz="3200" spc="-5" dirty="0" smtClean="0">
                <a:solidFill>
                  <a:srgbClr val="FFFFFF"/>
                </a:solidFill>
                <a:latin typeface="Tahoma"/>
                <a:cs typeface="Tahoma"/>
              </a:rPr>
              <a:t>.</a:t>
            </a:r>
            <a:r>
              <a:rPr lang="en-US" sz="3200" spc="-5" dirty="0" smtClean="0">
                <a:solidFill>
                  <a:srgbClr val="FFFFFF"/>
                </a:solidFill>
                <a:latin typeface="Tahoma"/>
                <a:cs typeface="Tahoma"/>
              </a:rPr>
              <a:t> Registrar may not register </a:t>
            </a:r>
            <a:r>
              <a:rPr lang="en-US" sz="3200" b="1" spc="-5" dirty="0" smtClean="0">
                <a:solidFill>
                  <a:srgbClr val="FFFFFF"/>
                </a:solidFill>
                <a:latin typeface="Tahoma"/>
                <a:cs typeface="Tahoma"/>
              </a:rPr>
              <a:t>S. 74(3) LSLRL – </a:t>
            </a:r>
            <a:r>
              <a:rPr lang="en-US" sz="3200" spc="-5" dirty="0" err="1" smtClean="0">
                <a:solidFill>
                  <a:srgbClr val="FFFFFF"/>
                </a:solidFill>
                <a:latin typeface="Tahoma"/>
                <a:cs typeface="Tahoma"/>
              </a:rPr>
              <a:t>Reg</a:t>
            </a:r>
            <a:r>
              <a:rPr lang="en-US" sz="3200" spc="-5" dirty="0" smtClean="0">
                <a:solidFill>
                  <a:srgbClr val="FFFFFF"/>
                </a:solidFill>
                <a:latin typeface="Tahoma"/>
                <a:cs typeface="Tahoma"/>
              </a:rPr>
              <a:t> of Titles determines form</a:t>
            </a:r>
            <a:endParaRPr sz="3200" dirty="0">
              <a:latin typeface="Tahoma"/>
              <a:cs typeface="Tahoma"/>
            </a:endParaRPr>
          </a:p>
          <a:p>
            <a:pPr marL="520065" indent="-377825">
              <a:lnSpc>
                <a:spcPct val="100000"/>
              </a:lnSpc>
              <a:spcBef>
                <a:spcPts val="800"/>
              </a:spcBef>
              <a:buClr>
                <a:srgbClr val="FFFF99"/>
              </a:buClr>
              <a:buSzPct val="65000"/>
              <a:buFont typeface="Arial"/>
              <a:buChar char="■"/>
              <a:tabLst>
                <a:tab pos="520065" algn="l"/>
                <a:tab pos="520700" algn="l"/>
              </a:tabLst>
            </a:pPr>
            <a:r>
              <a:rPr sz="3600" b="1" spc="-5" dirty="0">
                <a:solidFill>
                  <a:srgbClr val="FFFFFF"/>
                </a:solidFill>
                <a:latin typeface="Tahoma"/>
                <a:cs typeface="Tahoma"/>
              </a:rPr>
              <a:t>Exclusive</a:t>
            </a:r>
            <a:r>
              <a:rPr sz="3600" b="1" spc="-55" dirty="0">
                <a:solidFill>
                  <a:srgbClr val="FFFFFF"/>
                </a:solidFill>
                <a:latin typeface="Tahoma"/>
                <a:cs typeface="Tahoma"/>
              </a:rPr>
              <a:t> </a:t>
            </a:r>
            <a:r>
              <a:rPr sz="3600" b="1" spc="-5" dirty="0">
                <a:solidFill>
                  <a:srgbClr val="FFFFFF"/>
                </a:solidFill>
                <a:latin typeface="Tahoma"/>
                <a:cs typeface="Tahoma"/>
              </a:rPr>
              <a:t>Possession</a:t>
            </a:r>
            <a:endParaRPr sz="3600" dirty="0">
              <a:latin typeface="Tahoma"/>
              <a:cs typeface="Tahoma"/>
            </a:endParaRPr>
          </a:p>
          <a:p>
            <a:pPr marL="177165">
              <a:lnSpc>
                <a:spcPct val="100000"/>
              </a:lnSpc>
              <a:spcBef>
                <a:spcPts val="825"/>
              </a:spcBef>
            </a:pPr>
            <a:r>
              <a:rPr sz="3600" spc="-10" dirty="0">
                <a:solidFill>
                  <a:srgbClr val="FFFFFF"/>
                </a:solidFill>
                <a:latin typeface="Tahoma"/>
                <a:cs typeface="Tahoma"/>
              </a:rPr>
              <a:t>Umezurike</a:t>
            </a:r>
            <a:r>
              <a:rPr sz="3600" spc="-25" dirty="0">
                <a:solidFill>
                  <a:srgbClr val="FFFFFF"/>
                </a:solidFill>
                <a:latin typeface="Tahoma"/>
                <a:cs typeface="Tahoma"/>
              </a:rPr>
              <a:t> </a:t>
            </a:r>
            <a:r>
              <a:rPr sz="3600" dirty="0">
                <a:solidFill>
                  <a:srgbClr val="FFFFFF"/>
                </a:solidFill>
                <a:latin typeface="Tahoma"/>
                <a:cs typeface="Tahoma"/>
              </a:rPr>
              <a:t>v</a:t>
            </a:r>
            <a:r>
              <a:rPr sz="3600" spc="-15" dirty="0">
                <a:solidFill>
                  <a:srgbClr val="FFFFFF"/>
                </a:solidFill>
                <a:latin typeface="Tahoma"/>
                <a:cs typeface="Tahoma"/>
              </a:rPr>
              <a:t> </a:t>
            </a:r>
            <a:r>
              <a:rPr sz="3600" spc="-5" dirty="0">
                <a:solidFill>
                  <a:srgbClr val="FFFFFF"/>
                </a:solidFill>
                <a:latin typeface="Tahoma"/>
                <a:cs typeface="Tahoma"/>
              </a:rPr>
              <a:t>George</a:t>
            </a:r>
            <a:r>
              <a:rPr sz="3600" spc="-25" dirty="0">
                <a:solidFill>
                  <a:srgbClr val="FFFFFF"/>
                </a:solidFill>
                <a:latin typeface="Tahoma"/>
                <a:cs typeface="Tahoma"/>
              </a:rPr>
              <a:t> </a:t>
            </a:r>
            <a:r>
              <a:rPr sz="3600" spc="-10" dirty="0">
                <a:solidFill>
                  <a:srgbClr val="FFFFFF"/>
                </a:solidFill>
                <a:latin typeface="Tahoma"/>
                <a:cs typeface="Tahoma"/>
              </a:rPr>
              <a:t>(1973)</a:t>
            </a:r>
            <a:r>
              <a:rPr sz="3600" spc="-20" dirty="0">
                <a:solidFill>
                  <a:srgbClr val="FFFFFF"/>
                </a:solidFill>
                <a:latin typeface="Tahoma"/>
                <a:cs typeface="Tahoma"/>
              </a:rPr>
              <a:t> </a:t>
            </a:r>
            <a:r>
              <a:rPr sz="3600" dirty="0">
                <a:solidFill>
                  <a:srgbClr val="FFFFFF"/>
                </a:solidFill>
                <a:latin typeface="Tahoma"/>
                <a:cs typeface="Tahoma"/>
              </a:rPr>
              <a:t>3</a:t>
            </a:r>
            <a:r>
              <a:rPr sz="3600" spc="-25" dirty="0">
                <a:solidFill>
                  <a:srgbClr val="FFFFFF"/>
                </a:solidFill>
                <a:latin typeface="Tahoma"/>
                <a:cs typeface="Tahoma"/>
              </a:rPr>
              <a:t> </a:t>
            </a:r>
            <a:r>
              <a:rPr sz="3600" spc="-5" dirty="0">
                <a:solidFill>
                  <a:srgbClr val="FFFFFF"/>
                </a:solidFill>
                <a:latin typeface="Tahoma"/>
                <a:cs typeface="Tahoma"/>
              </a:rPr>
              <a:t>CCHCJ</a:t>
            </a:r>
            <a:endParaRPr sz="3600" dirty="0">
              <a:latin typeface="Tahoma"/>
              <a:cs typeface="Tahoma"/>
            </a:endParaRPr>
          </a:p>
          <a:p>
            <a:pPr marL="520065">
              <a:lnSpc>
                <a:spcPct val="100000"/>
              </a:lnSpc>
              <a:spcBef>
                <a:spcPts val="25"/>
              </a:spcBef>
            </a:pPr>
            <a:r>
              <a:rPr sz="3600" spc="-5" dirty="0" smtClean="0">
                <a:solidFill>
                  <a:srgbClr val="FFFFFF"/>
                </a:solidFill>
                <a:latin typeface="Tahoma"/>
                <a:cs typeface="Tahoma"/>
              </a:rPr>
              <a:t>63</a:t>
            </a:r>
            <a:endParaRPr sz="3600" dirty="0">
              <a:latin typeface="Tahoma"/>
              <a:cs typeface="Tahoma"/>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8839200" cy="6268383"/>
          </a:xfrm>
          <a:prstGeom prst="rect">
            <a:avLst/>
          </a:prstGeom>
        </p:spPr>
        <p:txBody>
          <a:bodyPr wrap="square">
            <a:spAutoFit/>
          </a:bodyPr>
          <a:lstStyle/>
          <a:p>
            <a:pPr marL="520065" indent="-508000">
              <a:lnSpc>
                <a:spcPct val="100000"/>
              </a:lnSpc>
              <a:spcBef>
                <a:spcPts val="800"/>
              </a:spcBef>
              <a:buClr>
                <a:srgbClr val="FFFF99"/>
              </a:buClr>
              <a:buSzPct val="65000"/>
              <a:buFont typeface="MS UI Gothic"/>
              <a:buChar char="❑"/>
              <a:tabLst>
                <a:tab pos="520065" algn="l"/>
                <a:tab pos="520700" algn="l"/>
              </a:tabLst>
            </a:pPr>
            <a:r>
              <a:rPr lang="en-US" sz="4400" b="1" spc="-5" dirty="0">
                <a:solidFill>
                  <a:srgbClr val="FFFFFF"/>
                </a:solidFill>
                <a:latin typeface="Tahoma"/>
                <a:cs typeface="Tahoma"/>
              </a:rPr>
              <a:t>Certainty</a:t>
            </a:r>
            <a:r>
              <a:rPr lang="en-US" sz="4400" b="1" spc="-40" dirty="0">
                <a:solidFill>
                  <a:srgbClr val="FFFFFF"/>
                </a:solidFill>
                <a:latin typeface="Tahoma"/>
                <a:cs typeface="Tahoma"/>
              </a:rPr>
              <a:t> </a:t>
            </a:r>
            <a:r>
              <a:rPr lang="en-US" sz="4400" b="1" spc="-5" dirty="0">
                <a:solidFill>
                  <a:srgbClr val="FFFFFF"/>
                </a:solidFill>
                <a:latin typeface="Tahoma"/>
                <a:cs typeface="Tahoma"/>
              </a:rPr>
              <a:t>of</a:t>
            </a:r>
            <a:r>
              <a:rPr lang="en-US" sz="4400" b="1" spc="-40" dirty="0">
                <a:solidFill>
                  <a:srgbClr val="FFFFFF"/>
                </a:solidFill>
                <a:latin typeface="Tahoma"/>
                <a:cs typeface="Tahoma"/>
              </a:rPr>
              <a:t> </a:t>
            </a:r>
            <a:r>
              <a:rPr lang="en-US" sz="4400" b="1" spc="-5" dirty="0" smtClean="0">
                <a:solidFill>
                  <a:srgbClr val="FFFFFF"/>
                </a:solidFill>
                <a:latin typeface="Tahoma"/>
                <a:cs typeface="Tahoma"/>
              </a:rPr>
              <a:t>parties</a:t>
            </a:r>
          </a:p>
          <a:p>
            <a:pPr marL="12065">
              <a:lnSpc>
                <a:spcPct val="100000"/>
              </a:lnSpc>
              <a:spcBef>
                <a:spcPts val="800"/>
              </a:spcBef>
              <a:buClr>
                <a:srgbClr val="FFFF99"/>
              </a:buClr>
              <a:buSzPct val="65000"/>
              <a:tabLst>
                <a:tab pos="520065" algn="l"/>
                <a:tab pos="520700" algn="l"/>
              </a:tabLst>
            </a:pPr>
            <a:r>
              <a:rPr lang="en-US" sz="4400" spc="-5" dirty="0" smtClean="0">
                <a:solidFill>
                  <a:srgbClr val="FFFFFF"/>
                </a:solidFill>
                <a:latin typeface="Tahoma"/>
                <a:cs typeface="Tahoma"/>
              </a:rPr>
              <a:t>Parties must have the capacity to sue and be sued and the legal capacity to contract. </a:t>
            </a:r>
            <a:r>
              <a:rPr lang="en-US" sz="4400" b="1" i="1" spc="-5" dirty="0" err="1" smtClean="0">
                <a:solidFill>
                  <a:srgbClr val="FFFFFF"/>
                </a:solidFill>
                <a:latin typeface="Tahoma"/>
                <a:cs typeface="Tahoma"/>
              </a:rPr>
              <a:t>Idowu</a:t>
            </a:r>
            <a:r>
              <a:rPr lang="en-US" sz="4400" b="1" i="1" spc="-5" dirty="0" smtClean="0">
                <a:solidFill>
                  <a:srgbClr val="FFFFFF"/>
                </a:solidFill>
                <a:latin typeface="Tahoma"/>
                <a:cs typeface="Tahoma"/>
              </a:rPr>
              <a:t> v Williams </a:t>
            </a:r>
            <a:r>
              <a:rPr lang="en-US" sz="4400" spc="-5" dirty="0" smtClean="0">
                <a:solidFill>
                  <a:srgbClr val="FFFFFF"/>
                </a:solidFill>
                <a:latin typeface="Tahoma"/>
                <a:cs typeface="Tahoma"/>
              </a:rPr>
              <a:t>a lease granted to an unregistered religious </a:t>
            </a:r>
            <a:r>
              <a:rPr lang="en-US" sz="4400" spc="-5" dirty="0" err="1" smtClean="0">
                <a:solidFill>
                  <a:srgbClr val="FFFFFF"/>
                </a:solidFill>
                <a:latin typeface="Tahoma"/>
                <a:cs typeface="Tahoma"/>
              </a:rPr>
              <a:t>oorg</a:t>
            </a:r>
            <a:r>
              <a:rPr lang="en-US" sz="4400" spc="-5" dirty="0" smtClean="0">
                <a:solidFill>
                  <a:srgbClr val="FFFFFF"/>
                </a:solidFill>
                <a:latin typeface="Tahoma"/>
                <a:cs typeface="Tahoma"/>
              </a:rPr>
              <a:t> was held to be invalid </a:t>
            </a:r>
            <a:endParaRPr lang="en-US" sz="4400" dirty="0">
              <a:latin typeface="Tahoma"/>
              <a:cs typeface="Tahoma"/>
            </a:endParaRPr>
          </a:p>
          <a:p>
            <a:pPr marL="668655" indent="-656590">
              <a:lnSpc>
                <a:spcPct val="100000"/>
              </a:lnSpc>
              <a:spcBef>
                <a:spcPts val="825"/>
              </a:spcBef>
              <a:buClr>
                <a:srgbClr val="FFFF99"/>
              </a:buClr>
              <a:buSzPct val="65000"/>
              <a:buFont typeface="MS UI Gothic"/>
              <a:buChar char="❑"/>
              <a:tabLst>
                <a:tab pos="668655" algn="l"/>
                <a:tab pos="669290" algn="l"/>
              </a:tabLst>
            </a:pPr>
            <a:r>
              <a:rPr lang="en-US" sz="4400" b="1" spc="-5" dirty="0">
                <a:solidFill>
                  <a:srgbClr val="FFFFFF"/>
                </a:solidFill>
                <a:latin typeface="Tahoma"/>
                <a:cs typeface="Tahoma"/>
              </a:rPr>
              <a:t>Certainty</a:t>
            </a:r>
            <a:r>
              <a:rPr lang="en-US" sz="4400" b="1" spc="-40" dirty="0">
                <a:solidFill>
                  <a:srgbClr val="FFFFFF"/>
                </a:solidFill>
                <a:latin typeface="Tahoma"/>
                <a:cs typeface="Tahoma"/>
              </a:rPr>
              <a:t> </a:t>
            </a:r>
            <a:r>
              <a:rPr lang="en-US" sz="4400" b="1" spc="-5" dirty="0">
                <a:solidFill>
                  <a:srgbClr val="FFFFFF"/>
                </a:solidFill>
                <a:latin typeface="Tahoma"/>
                <a:cs typeface="Tahoma"/>
              </a:rPr>
              <a:t>of</a:t>
            </a:r>
            <a:r>
              <a:rPr lang="en-US" sz="4400" b="1" spc="-40" dirty="0">
                <a:solidFill>
                  <a:srgbClr val="FFFFFF"/>
                </a:solidFill>
                <a:latin typeface="Tahoma"/>
                <a:cs typeface="Tahoma"/>
              </a:rPr>
              <a:t> </a:t>
            </a:r>
            <a:r>
              <a:rPr lang="en-US" sz="4400" b="1" spc="-5" dirty="0" smtClean="0">
                <a:solidFill>
                  <a:srgbClr val="FFFFFF"/>
                </a:solidFill>
                <a:latin typeface="Tahoma"/>
                <a:cs typeface="Tahoma"/>
              </a:rPr>
              <a:t>property </a:t>
            </a:r>
            <a:r>
              <a:rPr lang="en-US" sz="4400" spc="-5" dirty="0" smtClean="0">
                <a:solidFill>
                  <a:srgbClr val="FFFFFF"/>
                </a:solidFill>
                <a:latin typeface="Tahoma"/>
                <a:cs typeface="Tahoma"/>
              </a:rPr>
              <a:t>– </a:t>
            </a:r>
            <a:r>
              <a:rPr lang="en-US" sz="3600" i="1" spc="-5" dirty="0" err="1" smtClean="0">
                <a:solidFill>
                  <a:srgbClr val="FFFFFF"/>
                </a:solidFill>
                <a:latin typeface="Tahoma"/>
                <a:cs typeface="Tahoma"/>
              </a:rPr>
              <a:t>Yakubu</a:t>
            </a:r>
            <a:r>
              <a:rPr lang="en-US" sz="3600" i="1" spc="-5" dirty="0" smtClean="0">
                <a:solidFill>
                  <a:srgbClr val="FFFFFF"/>
                </a:solidFill>
                <a:latin typeface="Tahoma"/>
                <a:cs typeface="Tahoma"/>
              </a:rPr>
              <a:t> v Kaduna Furniture &amp; Carpets Co. Ltd</a:t>
            </a:r>
            <a:endParaRPr lang="en-US" sz="3600" i="1" dirty="0">
              <a:latin typeface="Tahoma"/>
              <a:cs typeface="Tahoma"/>
            </a:endParaRPr>
          </a:p>
        </p:txBody>
      </p:sp>
    </p:spTree>
    <p:extLst>
      <p:ext uri="{BB962C8B-B14F-4D97-AF65-F5344CB8AC3E}">
        <p14:creationId xmlns:p14="http://schemas.microsoft.com/office/powerpoint/2010/main" val="26278645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4942" y="309879"/>
            <a:ext cx="8696325" cy="2687915"/>
          </a:xfrm>
          <a:prstGeom prst="rect">
            <a:avLst/>
          </a:prstGeom>
        </p:spPr>
        <p:txBody>
          <a:bodyPr vert="horz" wrap="square" lIns="0" tIns="12700" rIns="0" bIns="0" rtlCol="0">
            <a:spAutoFit/>
          </a:bodyPr>
          <a:lstStyle/>
          <a:p>
            <a:pPr marL="389255" marR="145415" indent="-377190">
              <a:lnSpc>
                <a:spcPct val="100000"/>
              </a:lnSpc>
              <a:spcBef>
                <a:spcPts val="100"/>
              </a:spcBef>
              <a:buClr>
                <a:srgbClr val="FFFF99"/>
              </a:buClr>
              <a:buSzPct val="65000"/>
              <a:buFont typeface="Arial MT"/>
              <a:buChar char="■"/>
              <a:tabLst>
                <a:tab pos="389255" algn="l"/>
                <a:tab pos="389890" algn="l"/>
              </a:tabLst>
            </a:pPr>
            <a:endParaRPr lang="en-US" sz="4000" spc="-5" dirty="0" smtClean="0">
              <a:solidFill>
                <a:srgbClr val="FFFFFF"/>
              </a:solidFill>
              <a:latin typeface="Tahoma"/>
              <a:cs typeface="Tahoma"/>
            </a:endParaRPr>
          </a:p>
          <a:p>
            <a:pPr marL="389255" marR="145415" indent="-377190">
              <a:lnSpc>
                <a:spcPct val="100000"/>
              </a:lnSpc>
              <a:spcBef>
                <a:spcPts val="100"/>
              </a:spcBef>
              <a:buClr>
                <a:srgbClr val="FFFF99"/>
              </a:buClr>
              <a:buSzPct val="65000"/>
              <a:buFont typeface="Arial MT"/>
              <a:buChar char="■"/>
              <a:tabLst>
                <a:tab pos="389255" algn="l"/>
                <a:tab pos="389890" algn="l"/>
              </a:tabLst>
            </a:pPr>
            <a:r>
              <a:rPr sz="4000" spc="-5" dirty="0" smtClean="0">
                <a:solidFill>
                  <a:srgbClr val="FFFFFF"/>
                </a:solidFill>
                <a:latin typeface="Tahoma"/>
                <a:cs typeface="Tahoma"/>
              </a:rPr>
              <a:t>Differences</a:t>
            </a:r>
            <a:r>
              <a:rPr sz="4000" spc="-20" dirty="0" smtClean="0">
                <a:solidFill>
                  <a:srgbClr val="FFFFFF"/>
                </a:solidFill>
                <a:latin typeface="Tahoma"/>
                <a:cs typeface="Tahoma"/>
              </a:rPr>
              <a:t> </a:t>
            </a:r>
            <a:r>
              <a:rPr sz="4000" spc="-5" dirty="0">
                <a:solidFill>
                  <a:srgbClr val="FFFFFF"/>
                </a:solidFill>
                <a:latin typeface="Tahoma"/>
                <a:cs typeface="Tahoma"/>
              </a:rPr>
              <a:t>Between</a:t>
            </a:r>
            <a:r>
              <a:rPr sz="4000" spc="-20" dirty="0">
                <a:solidFill>
                  <a:srgbClr val="FFFFFF"/>
                </a:solidFill>
                <a:latin typeface="Tahoma"/>
                <a:cs typeface="Tahoma"/>
              </a:rPr>
              <a:t> </a:t>
            </a:r>
            <a:r>
              <a:rPr sz="4000" dirty="0">
                <a:solidFill>
                  <a:srgbClr val="FFFFFF"/>
                </a:solidFill>
                <a:latin typeface="Tahoma"/>
                <a:cs typeface="Tahoma"/>
              </a:rPr>
              <a:t>a</a:t>
            </a:r>
            <a:r>
              <a:rPr sz="4000" spc="-25" dirty="0">
                <a:solidFill>
                  <a:srgbClr val="FFFFFF"/>
                </a:solidFill>
                <a:latin typeface="Tahoma"/>
                <a:cs typeface="Tahoma"/>
              </a:rPr>
              <a:t> </a:t>
            </a:r>
            <a:r>
              <a:rPr sz="4000" spc="-5" dirty="0">
                <a:solidFill>
                  <a:srgbClr val="FFFFFF"/>
                </a:solidFill>
                <a:latin typeface="Tahoma"/>
                <a:cs typeface="Tahoma"/>
              </a:rPr>
              <a:t>Lease</a:t>
            </a:r>
            <a:r>
              <a:rPr sz="4000" spc="-25" dirty="0">
                <a:solidFill>
                  <a:srgbClr val="FFFFFF"/>
                </a:solidFill>
                <a:latin typeface="Tahoma"/>
                <a:cs typeface="Tahoma"/>
              </a:rPr>
              <a:t> </a:t>
            </a:r>
            <a:r>
              <a:rPr sz="4000" spc="-10" dirty="0">
                <a:solidFill>
                  <a:srgbClr val="FFFFFF"/>
                </a:solidFill>
                <a:latin typeface="Tahoma"/>
                <a:cs typeface="Tahoma"/>
              </a:rPr>
              <a:t>and</a:t>
            </a:r>
            <a:r>
              <a:rPr sz="4000" spc="-25" dirty="0">
                <a:solidFill>
                  <a:srgbClr val="FFFFFF"/>
                </a:solidFill>
                <a:latin typeface="Tahoma"/>
                <a:cs typeface="Tahoma"/>
              </a:rPr>
              <a:t> </a:t>
            </a:r>
            <a:r>
              <a:rPr sz="4000" spc="-10" dirty="0">
                <a:solidFill>
                  <a:srgbClr val="FFFFFF"/>
                </a:solidFill>
                <a:latin typeface="Tahoma"/>
                <a:cs typeface="Tahoma"/>
              </a:rPr>
              <a:t>an </a:t>
            </a:r>
            <a:r>
              <a:rPr sz="4000" spc="-1235" dirty="0">
                <a:solidFill>
                  <a:srgbClr val="FFFFFF"/>
                </a:solidFill>
                <a:latin typeface="Tahoma"/>
                <a:cs typeface="Tahoma"/>
              </a:rPr>
              <a:t> </a:t>
            </a:r>
            <a:r>
              <a:rPr sz="4000" spc="-5" dirty="0">
                <a:solidFill>
                  <a:srgbClr val="FFFFFF"/>
                </a:solidFill>
                <a:latin typeface="Tahoma"/>
                <a:cs typeface="Tahoma"/>
              </a:rPr>
              <a:t>Assignment</a:t>
            </a:r>
            <a:endParaRPr sz="4000" dirty="0">
              <a:latin typeface="Tahoma"/>
              <a:cs typeface="Tahoma"/>
            </a:endParaRPr>
          </a:p>
          <a:p>
            <a:pPr>
              <a:lnSpc>
                <a:spcPct val="100000"/>
              </a:lnSpc>
              <a:buClr>
                <a:srgbClr val="FFFF99"/>
              </a:buClr>
              <a:buFont typeface="Arial MT"/>
              <a:buChar char="■"/>
            </a:pPr>
            <a:endParaRPr sz="5300" dirty="0" smtClean="0">
              <a:latin typeface="Tahoma"/>
              <a:cs typeface="Tahoma"/>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762000" y="990600"/>
            <a:ext cx="7848600" cy="7171194"/>
          </a:xfrm>
          <a:prstGeom prst="rect">
            <a:avLst/>
          </a:prstGeom>
        </p:spPr>
        <p:txBody>
          <a:bodyPr wrap="square">
            <a:spAutoFit/>
          </a:bodyPr>
          <a:lstStyle/>
          <a:p>
            <a:pPr marL="389255" marR="620395" indent="-377190">
              <a:lnSpc>
                <a:spcPct val="100499"/>
              </a:lnSpc>
              <a:buClr>
                <a:srgbClr val="FFFF99"/>
              </a:buClr>
              <a:buSzPct val="65000"/>
              <a:buFont typeface="Arial MT"/>
              <a:buChar char="■"/>
              <a:tabLst>
                <a:tab pos="389255" algn="l"/>
                <a:tab pos="389890" algn="l"/>
              </a:tabLst>
            </a:pPr>
            <a:r>
              <a:rPr lang="en-US" sz="4000" spc="-5" dirty="0">
                <a:solidFill>
                  <a:srgbClr val="FFFFFF"/>
                </a:solidFill>
                <a:latin typeface="Tahoma"/>
                <a:cs typeface="Tahoma"/>
              </a:rPr>
              <a:t>Distinguishing factor(s) </a:t>
            </a:r>
            <a:r>
              <a:rPr lang="en-US" sz="4000" spc="-10" dirty="0">
                <a:solidFill>
                  <a:srgbClr val="FFFFFF"/>
                </a:solidFill>
                <a:latin typeface="Tahoma"/>
                <a:cs typeface="Tahoma"/>
              </a:rPr>
              <a:t>between </a:t>
            </a:r>
            <a:r>
              <a:rPr lang="en-US" sz="4000" dirty="0">
                <a:solidFill>
                  <a:srgbClr val="FFFFFF"/>
                </a:solidFill>
                <a:latin typeface="Tahoma"/>
                <a:cs typeface="Tahoma"/>
              </a:rPr>
              <a:t>a </a:t>
            </a:r>
            <a:r>
              <a:rPr lang="en-US" sz="4000" spc="-1235" dirty="0">
                <a:solidFill>
                  <a:srgbClr val="FFFFFF"/>
                </a:solidFill>
                <a:latin typeface="Tahoma"/>
                <a:cs typeface="Tahoma"/>
              </a:rPr>
              <a:t> </a:t>
            </a:r>
            <a:r>
              <a:rPr lang="en-US" sz="4000" spc="-5" dirty="0">
                <a:solidFill>
                  <a:srgbClr val="FFFFFF"/>
                </a:solidFill>
                <a:latin typeface="Tahoma"/>
                <a:cs typeface="Tahoma"/>
              </a:rPr>
              <a:t>Lease</a:t>
            </a:r>
            <a:r>
              <a:rPr lang="en-US" sz="4000" spc="-15" dirty="0">
                <a:solidFill>
                  <a:srgbClr val="FFFFFF"/>
                </a:solidFill>
                <a:latin typeface="Tahoma"/>
                <a:cs typeface="Tahoma"/>
              </a:rPr>
              <a:t> </a:t>
            </a:r>
            <a:r>
              <a:rPr lang="en-US" sz="4000" spc="-10" dirty="0">
                <a:solidFill>
                  <a:srgbClr val="FFFFFF"/>
                </a:solidFill>
                <a:latin typeface="Tahoma"/>
                <a:cs typeface="Tahoma"/>
              </a:rPr>
              <a:t>and</a:t>
            </a:r>
            <a:r>
              <a:rPr lang="en-US" sz="4000" spc="-15" dirty="0">
                <a:solidFill>
                  <a:srgbClr val="FFFFFF"/>
                </a:solidFill>
                <a:latin typeface="Tahoma"/>
                <a:cs typeface="Tahoma"/>
              </a:rPr>
              <a:t> </a:t>
            </a:r>
            <a:r>
              <a:rPr lang="en-US" sz="4000" dirty="0">
                <a:solidFill>
                  <a:srgbClr val="FFFFFF"/>
                </a:solidFill>
                <a:latin typeface="Tahoma"/>
                <a:cs typeface="Tahoma"/>
              </a:rPr>
              <a:t>a</a:t>
            </a:r>
            <a:r>
              <a:rPr lang="en-US" sz="4000" spc="-15" dirty="0">
                <a:solidFill>
                  <a:srgbClr val="FFFFFF"/>
                </a:solidFill>
                <a:latin typeface="Tahoma"/>
                <a:cs typeface="Tahoma"/>
              </a:rPr>
              <a:t> </a:t>
            </a:r>
            <a:r>
              <a:rPr lang="en-US" sz="4000" spc="-5" dirty="0" err="1">
                <a:solidFill>
                  <a:srgbClr val="FFFFFF"/>
                </a:solidFill>
                <a:latin typeface="Tahoma"/>
                <a:cs typeface="Tahoma"/>
              </a:rPr>
              <a:t>Licence</a:t>
            </a:r>
            <a:endParaRPr lang="en-US" sz="4000" dirty="0">
              <a:latin typeface="Tahoma"/>
              <a:cs typeface="Tahoma"/>
            </a:endParaRPr>
          </a:p>
          <a:p>
            <a:pPr marL="389255" marR="5080">
              <a:lnSpc>
                <a:spcPct val="100499"/>
              </a:lnSpc>
              <a:spcBef>
                <a:spcPts val="780"/>
              </a:spcBef>
              <a:tabLst>
                <a:tab pos="5989955" algn="l"/>
                <a:tab pos="6904355" algn="l"/>
              </a:tabLst>
            </a:pPr>
            <a:r>
              <a:rPr lang="en-US" sz="4000" spc="-5" dirty="0" err="1">
                <a:solidFill>
                  <a:srgbClr val="FFFFFF"/>
                </a:solidFill>
                <a:latin typeface="Tahoma"/>
                <a:cs typeface="Tahoma"/>
              </a:rPr>
              <a:t>Ishol</a:t>
            </a:r>
            <a:r>
              <a:rPr lang="en-US" sz="4000" dirty="0" err="1">
                <a:solidFill>
                  <a:srgbClr val="FFFFFF"/>
                </a:solidFill>
                <a:latin typeface="Tahoma"/>
                <a:cs typeface="Tahoma"/>
              </a:rPr>
              <a:t>a</a:t>
            </a:r>
            <a:r>
              <a:rPr lang="en-US" sz="4000" spc="-5" dirty="0">
                <a:solidFill>
                  <a:srgbClr val="FFFFFF"/>
                </a:solidFill>
                <a:latin typeface="Tahoma"/>
                <a:cs typeface="Tahoma"/>
              </a:rPr>
              <a:t> </a:t>
            </a:r>
            <a:r>
              <a:rPr lang="en-US" sz="4000" spc="-10" dirty="0">
                <a:solidFill>
                  <a:srgbClr val="FFFFFF"/>
                </a:solidFill>
                <a:latin typeface="Tahoma"/>
                <a:cs typeface="Tahoma"/>
              </a:rPr>
              <a:t>William</a:t>
            </a:r>
            <a:r>
              <a:rPr lang="en-US" sz="4000" dirty="0">
                <a:solidFill>
                  <a:srgbClr val="FFFFFF"/>
                </a:solidFill>
                <a:latin typeface="Tahoma"/>
                <a:cs typeface="Tahoma"/>
              </a:rPr>
              <a:t>s</a:t>
            </a:r>
            <a:r>
              <a:rPr lang="en-US" sz="4000" spc="-10" dirty="0">
                <a:solidFill>
                  <a:srgbClr val="FFFFFF"/>
                </a:solidFill>
                <a:latin typeface="Tahoma"/>
                <a:cs typeface="Tahoma"/>
              </a:rPr>
              <a:t> </a:t>
            </a:r>
            <a:r>
              <a:rPr lang="en-US" sz="4000" dirty="0">
                <a:solidFill>
                  <a:srgbClr val="FFFFFF"/>
                </a:solidFill>
                <a:latin typeface="Tahoma"/>
                <a:cs typeface="Tahoma"/>
              </a:rPr>
              <a:t>v</a:t>
            </a:r>
            <a:r>
              <a:rPr lang="en-US" sz="4000" spc="-5" dirty="0">
                <a:solidFill>
                  <a:srgbClr val="FFFFFF"/>
                </a:solidFill>
                <a:latin typeface="Tahoma"/>
                <a:cs typeface="Tahoma"/>
              </a:rPr>
              <a:t> Hammon</a:t>
            </a:r>
            <a:r>
              <a:rPr lang="en-US" sz="4000" dirty="0">
                <a:solidFill>
                  <a:srgbClr val="FFFFFF"/>
                </a:solidFill>
                <a:latin typeface="Tahoma"/>
                <a:cs typeface="Tahoma"/>
              </a:rPr>
              <a:t>d	</a:t>
            </a:r>
            <a:r>
              <a:rPr lang="en-US" sz="4000" spc="-5" dirty="0">
                <a:solidFill>
                  <a:srgbClr val="FFFFFF"/>
                </a:solidFill>
                <a:latin typeface="Tahoma"/>
                <a:cs typeface="Tahoma"/>
              </a:rPr>
              <a:t>Projects  Ltd </a:t>
            </a:r>
            <a:r>
              <a:rPr lang="en-US" sz="4000" spc="-10" dirty="0">
                <a:solidFill>
                  <a:srgbClr val="FFFFFF"/>
                </a:solidFill>
                <a:latin typeface="Tahoma"/>
                <a:cs typeface="Tahoma"/>
              </a:rPr>
              <a:t>(1988)</a:t>
            </a:r>
            <a:r>
              <a:rPr lang="en-US" sz="4000" spc="-5" dirty="0">
                <a:solidFill>
                  <a:srgbClr val="FFFFFF"/>
                </a:solidFill>
                <a:latin typeface="Tahoma"/>
                <a:cs typeface="Tahoma"/>
              </a:rPr>
              <a:t> </a:t>
            </a:r>
            <a:r>
              <a:rPr lang="en-US" sz="4000" dirty="0">
                <a:solidFill>
                  <a:srgbClr val="FFFFFF"/>
                </a:solidFill>
                <a:latin typeface="Tahoma"/>
                <a:cs typeface="Tahoma"/>
              </a:rPr>
              <a:t>1</a:t>
            </a:r>
            <a:r>
              <a:rPr lang="en-US" sz="4000" spc="-5" dirty="0">
                <a:solidFill>
                  <a:srgbClr val="FFFFFF"/>
                </a:solidFill>
                <a:latin typeface="Tahoma"/>
                <a:cs typeface="Tahoma"/>
              </a:rPr>
              <a:t> NWLR </a:t>
            </a:r>
            <a:r>
              <a:rPr lang="en-US" sz="4000" spc="-10" dirty="0">
                <a:solidFill>
                  <a:srgbClr val="FFFFFF"/>
                </a:solidFill>
                <a:latin typeface="Tahoma"/>
                <a:cs typeface="Tahoma"/>
              </a:rPr>
              <a:t>(Pt.	71)</a:t>
            </a:r>
            <a:r>
              <a:rPr lang="en-US" sz="4000" spc="-25" dirty="0">
                <a:solidFill>
                  <a:srgbClr val="FFFFFF"/>
                </a:solidFill>
                <a:latin typeface="Tahoma"/>
                <a:cs typeface="Tahoma"/>
              </a:rPr>
              <a:t> </a:t>
            </a:r>
            <a:r>
              <a:rPr lang="en-US" sz="4000" spc="-5" dirty="0">
                <a:solidFill>
                  <a:srgbClr val="FFFFFF"/>
                </a:solidFill>
                <a:latin typeface="Tahoma"/>
                <a:cs typeface="Tahoma"/>
              </a:rPr>
              <a:t>481</a:t>
            </a:r>
          </a:p>
          <a:p>
            <a:pPr marL="389255" marR="5080">
              <a:lnSpc>
                <a:spcPct val="100499"/>
              </a:lnSpc>
              <a:spcBef>
                <a:spcPts val="780"/>
              </a:spcBef>
              <a:tabLst>
                <a:tab pos="5989955" algn="l"/>
                <a:tab pos="6904355" algn="l"/>
              </a:tabLst>
            </a:pPr>
            <a:r>
              <a:rPr lang="en-US" sz="4000" spc="-5" dirty="0">
                <a:solidFill>
                  <a:srgbClr val="FFFFFF"/>
                </a:solidFill>
                <a:latin typeface="Tahoma"/>
                <a:cs typeface="Tahoma"/>
              </a:rPr>
              <a:t>Proprietary interest is created, </a:t>
            </a:r>
            <a:r>
              <a:rPr lang="en-US" sz="4000" spc="-5" dirty="0" err="1">
                <a:solidFill>
                  <a:srgbClr val="FFFFFF"/>
                </a:solidFill>
                <a:latin typeface="Tahoma"/>
                <a:cs typeface="Tahoma"/>
              </a:rPr>
              <a:t>Licence</a:t>
            </a:r>
            <a:r>
              <a:rPr lang="en-US" sz="4000" spc="-5" dirty="0">
                <a:solidFill>
                  <a:srgbClr val="FFFFFF"/>
                </a:solidFill>
                <a:latin typeface="Tahoma"/>
                <a:cs typeface="Tahoma"/>
              </a:rPr>
              <a:t> not created.</a:t>
            </a:r>
          </a:p>
          <a:p>
            <a:pPr marL="389255" marR="5080">
              <a:lnSpc>
                <a:spcPct val="100499"/>
              </a:lnSpc>
              <a:spcBef>
                <a:spcPts val="780"/>
              </a:spcBef>
              <a:tabLst>
                <a:tab pos="5989955" algn="l"/>
                <a:tab pos="6904355" algn="l"/>
              </a:tabLst>
            </a:pPr>
            <a:r>
              <a:rPr lang="en-US" sz="4000" spc="-5" dirty="0">
                <a:solidFill>
                  <a:srgbClr val="FFFFFF"/>
                </a:solidFill>
                <a:latin typeface="Tahoma"/>
                <a:cs typeface="Tahoma"/>
              </a:rPr>
              <a:t>Certainty of term in Leases not </a:t>
            </a:r>
            <a:r>
              <a:rPr lang="en-US" sz="4000" spc="-5" dirty="0" err="1">
                <a:solidFill>
                  <a:srgbClr val="FFFFFF"/>
                </a:solidFill>
                <a:latin typeface="Tahoma"/>
                <a:cs typeface="Tahoma"/>
              </a:rPr>
              <a:t>Licence</a:t>
            </a:r>
            <a:r>
              <a:rPr lang="en-US" sz="4000" spc="-5" dirty="0">
                <a:solidFill>
                  <a:srgbClr val="FFFFFF"/>
                </a:solidFill>
                <a:latin typeface="Tahoma"/>
                <a:cs typeface="Tahoma"/>
              </a:rPr>
              <a:t> </a:t>
            </a:r>
            <a:endParaRPr lang="en-US" sz="4000" dirty="0">
              <a:latin typeface="Tahoma"/>
              <a:cs typeface="Tahoma"/>
            </a:endParaRPr>
          </a:p>
        </p:txBody>
      </p:sp>
    </p:spTree>
    <p:extLst>
      <p:ext uri="{BB962C8B-B14F-4D97-AF65-F5344CB8AC3E}">
        <p14:creationId xmlns:p14="http://schemas.microsoft.com/office/powerpoint/2010/main" val="31519540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60424" y="55879"/>
            <a:ext cx="7705725" cy="6517169"/>
          </a:xfrm>
          <a:prstGeom prst="rect">
            <a:avLst/>
          </a:prstGeom>
        </p:spPr>
        <p:txBody>
          <a:bodyPr vert="horz" wrap="square" lIns="0" tIns="114300" rIns="0" bIns="0" rtlCol="0">
            <a:spAutoFit/>
          </a:bodyPr>
          <a:lstStyle/>
          <a:p>
            <a:pPr marL="668655" indent="-656590">
              <a:lnSpc>
                <a:spcPct val="100000"/>
              </a:lnSpc>
              <a:spcBef>
                <a:spcPts val="900"/>
              </a:spcBef>
              <a:buClr>
                <a:srgbClr val="FFFF99"/>
              </a:buClr>
              <a:buSzPct val="65000"/>
              <a:buFont typeface="MS UI Gothic"/>
              <a:buChar char="◆"/>
              <a:tabLst>
                <a:tab pos="668655" algn="l"/>
                <a:tab pos="669290" algn="l"/>
              </a:tabLst>
            </a:pPr>
            <a:r>
              <a:rPr sz="4000" b="1" spc="-5" dirty="0">
                <a:solidFill>
                  <a:srgbClr val="FFFFCC"/>
                </a:solidFill>
                <a:latin typeface="Tahoma"/>
                <a:cs typeface="Tahoma"/>
              </a:rPr>
              <a:t>RENT</a:t>
            </a:r>
            <a:endParaRPr sz="4000" dirty="0">
              <a:latin typeface="Tahoma"/>
              <a:cs typeface="Tahoma"/>
            </a:endParaRPr>
          </a:p>
          <a:p>
            <a:pPr marL="1091565" lvl="1" indent="-597535">
              <a:lnSpc>
                <a:spcPct val="100000"/>
              </a:lnSpc>
              <a:spcBef>
                <a:spcPts val="800"/>
              </a:spcBef>
              <a:buChar char="-"/>
              <a:tabLst>
                <a:tab pos="1091565" algn="l"/>
                <a:tab pos="1092200" algn="l"/>
              </a:tabLst>
            </a:pPr>
            <a:r>
              <a:rPr sz="4000" spc="-5" dirty="0">
                <a:solidFill>
                  <a:srgbClr val="FFFFFF"/>
                </a:solidFill>
                <a:latin typeface="Tahoma"/>
                <a:cs typeface="Tahoma"/>
              </a:rPr>
              <a:t>what</a:t>
            </a:r>
            <a:r>
              <a:rPr sz="4000" spc="-35" dirty="0">
                <a:solidFill>
                  <a:srgbClr val="FFFFFF"/>
                </a:solidFill>
                <a:latin typeface="Tahoma"/>
                <a:cs typeface="Tahoma"/>
              </a:rPr>
              <a:t> </a:t>
            </a:r>
            <a:r>
              <a:rPr sz="4000" spc="-5" dirty="0">
                <a:solidFill>
                  <a:srgbClr val="FFFFFF"/>
                </a:solidFill>
                <a:latin typeface="Tahoma"/>
                <a:cs typeface="Tahoma"/>
              </a:rPr>
              <a:t>is</a:t>
            </a:r>
            <a:r>
              <a:rPr sz="4000" spc="-40" dirty="0">
                <a:solidFill>
                  <a:srgbClr val="FFFFFF"/>
                </a:solidFill>
                <a:latin typeface="Tahoma"/>
                <a:cs typeface="Tahoma"/>
              </a:rPr>
              <a:t> </a:t>
            </a:r>
            <a:r>
              <a:rPr sz="4000" spc="-5" dirty="0">
                <a:solidFill>
                  <a:srgbClr val="FFFFFF"/>
                </a:solidFill>
                <a:latin typeface="Tahoma"/>
                <a:cs typeface="Tahoma"/>
              </a:rPr>
              <a:t>Rent</a:t>
            </a:r>
            <a:r>
              <a:rPr sz="4000" spc="-5" dirty="0" smtClean="0">
                <a:solidFill>
                  <a:srgbClr val="FFFFFF"/>
                </a:solidFill>
                <a:latin typeface="Tahoma"/>
                <a:cs typeface="Tahoma"/>
              </a:rPr>
              <a:t>?</a:t>
            </a:r>
            <a:r>
              <a:rPr lang="en-US" sz="4000" spc="-5" dirty="0" smtClean="0">
                <a:solidFill>
                  <a:srgbClr val="FFFFFF"/>
                </a:solidFill>
                <a:latin typeface="Tahoma"/>
                <a:cs typeface="Tahoma"/>
              </a:rPr>
              <a:t> Consideration</a:t>
            </a:r>
            <a:endParaRPr sz="4000" dirty="0">
              <a:latin typeface="Tahoma"/>
              <a:cs typeface="Tahoma"/>
            </a:endParaRPr>
          </a:p>
          <a:p>
            <a:pPr marL="1154430" lvl="1" indent="-660400">
              <a:lnSpc>
                <a:spcPct val="100000"/>
              </a:lnSpc>
              <a:spcBef>
                <a:spcPts val="825"/>
              </a:spcBef>
              <a:buChar char="-"/>
              <a:tabLst>
                <a:tab pos="1153795" algn="l"/>
                <a:tab pos="1155065" algn="l"/>
              </a:tabLst>
            </a:pPr>
            <a:r>
              <a:rPr sz="4000" dirty="0">
                <a:solidFill>
                  <a:srgbClr val="FFFFFF"/>
                </a:solidFill>
                <a:latin typeface="Tahoma"/>
                <a:cs typeface="Tahoma"/>
              </a:rPr>
              <a:t>a</a:t>
            </a:r>
            <a:r>
              <a:rPr sz="4000" spc="-40" dirty="0">
                <a:solidFill>
                  <a:srgbClr val="FFFFFF"/>
                </a:solidFill>
                <a:latin typeface="Tahoma"/>
                <a:cs typeface="Tahoma"/>
              </a:rPr>
              <a:t> </a:t>
            </a:r>
            <a:r>
              <a:rPr sz="4000" spc="-10" dirty="0">
                <a:solidFill>
                  <a:srgbClr val="FFFFFF"/>
                </a:solidFill>
                <a:latin typeface="Tahoma"/>
                <a:cs typeface="Tahoma"/>
              </a:rPr>
              <a:t>mandatory</a:t>
            </a:r>
            <a:r>
              <a:rPr sz="4000" spc="-40" dirty="0">
                <a:solidFill>
                  <a:srgbClr val="FFFFFF"/>
                </a:solidFill>
                <a:latin typeface="Tahoma"/>
                <a:cs typeface="Tahoma"/>
              </a:rPr>
              <a:t> </a:t>
            </a:r>
            <a:r>
              <a:rPr sz="4000" spc="-5" dirty="0">
                <a:solidFill>
                  <a:srgbClr val="FFFFFF"/>
                </a:solidFill>
                <a:latin typeface="Tahoma"/>
                <a:cs typeface="Tahoma"/>
              </a:rPr>
              <a:t>requirement?</a:t>
            </a:r>
            <a:endParaRPr sz="4000" dirty="0">
              <a:latin typeface="Tahoma"/>
              <a:cs typeface="Tahoma"/>
            </a:endParaRPr>
          </a:p>
          <a:p>
            <a:pPr marL="520065" marR="5080" indent="114300">
              <a:lnSpc>
                <a:spcPct val="100299"/>
              </a:lnSpc>
              <a:spcBef>
                <a:spcPts val="810"/>
              </a:spcBef>
            </a:pPr>
            <a:r>
              <a:rPr sz="4000" spc="-5" dirty="0">
                <a:solidFill>
                  <a:srgbClr val="FFFFFF"/>
                </a:solidFill>
                <a:latin typeface="Tahoma"/>
                <a:cs typeface="Tahoma"/>
              </a:rPr>
              <a:t>S.</a:t>
            </a:r>
            <a:r>
              <a:rPr sz="4000" spc="-20" dirty="0">
                <a:solidFill>
                  <a:srgbClr val="FFFFFF"/>
                </a:solidFill>
                <a:latin typeface="Tahoma"/>
                <a:cs typeface="Tahoma"/>
              </a:rPr>
              <a:t> </a:t>
            </a:r>
            <a:r>
              <a:rPr sz="4000" dirty="0">
                <a:solidFill>
                  <a:srgbClr val="FFFFFF"/>
                </a:solidFill>
                <a:latin typeface="Tahoma"/>
                <a:cs typeface="Tahoma"/>
              </a:rPr>
              <a:t>2</a:t>
            </a:r>
            <a:r>
              <a:rPr sz="4000" spc="-20" dirty="0">
                <a:solidFill>
                  <a:srgbClr val="FFFFFF"/>
                </a:solidFill>
                <a:latin typeface="Tahoma"/>
                <a:cs typeface="Tahoma"/>
              </a:rPr>
              <a:t> </a:t>
            </a:r>
            <a:r>
              <a:rPr sz="4000" spc="-5" dirty="0">
                <a:solidFill>
                  <a:srgbClr val="FFFFFF"/>
                </a:solidFill>
                <a:latin typeface="Tahoma"/>
                <a:cs typeface="Tahoma"/>
              </a:rPr>
              <a:t>of</a:t>
            </a:r>
            <a:r>
              <a:rPr sz="4000" spc="-20" dirty="0">
                <a:solidFill>
                  <a:srgbClr val="FFFFFF"/>
                </a:solidFill>
                <a:latin typeface="Tahoma"/>
                <a:cs typeface="Tahoma"/>
              </a:rPr>
              <a:t> </a:t>
            </a:r>
            <a:r>
              <a:rPr sz="4000" spc="-5" dirty="0">
                <a:solidFill>
                  <a:srgbClr val="FFFFFF"/>
                </a:solidFill>
                <a:latin typeface="Tahoma"/>
                <a:cs typeface="Tahoma"/>
              </a:rPr>
              <a:t>the</a:t>
            </a:r>
            <a:r>
              <a:rPr sz="4000" spc="-25" dirty="0">
                <a:solidFill>
                  <a:srgbClr val="FFFFFF"/>
                </a:solidFill>
                <a:latin typeface="Tahoma"/>
                <a:cs typeface="Tahoma"/>
              </a:rPr>
              <a:t> </a:t>
            </a:r>
            <a:r>
              <a:rPr sz="4000" spc="-5" dirty="0">
                <a:solidFill>
                  <a:srgbClr val="FFFFFF"/>
                </a:solidFill>
                <a:latin typeface="Tahoma"/>
                <a:cs typeface="Tahoma"/>
              </a:rPr>
              <a:t>PCL;</a:t>
            </a:r>
            <a:r>
              <a:rPr sz="4000" spc="-15" dirty="0">
                <a:solidFill>
                  <a:srgbClr val="FFFFFF"/>
                </a:solidFill>
                <a:latin typeface="Tahoma"/>
                <a:cs typeface="Tahoma"/>
              </a:rPr>
              <a:t> </a:t>
            </a:r>
            <a:r>
              <a:rPr sz="4000" spc="-5" dirty="0">
                <a:solidFill>
                  <a:srgbClr val="FFFFFF"/>
                </a:solidFill>
                <a:latin typeface="Tahoma"/>
                <a:cs typeface="Tahoma"/>
              </a:rPr>
              <a:t>Osho</a:t>
            </a:r>
            <a:r>
              <a:rPr sz="4000" spc="-20" dirty="0">
                <a:solidFill>
                  <a:srgbClr val="FFFFFF"/>
                </a:solidFill>
                <a:latin typeface="Tahoma"/>
                <a:cs typeface="Tahoma"/>
              </a:rPr>
              <a:t> </a:t>
            </a:r>
            <a:r>
              <a:rPr sz="4000" dirty="0">
                <a:solidFill>
                  <a:srgbClr val="FFFFFF"/>
                </a:solidFill>
                <a:latin typeface="Tahoma"/>
                <a:cs typeface="Tahoma"/>
              </a:rPr>
              <a:t>v</a:t>
            </a:r>
            <a:r>
              <a:rPr sz="4000" spc="-15" dirty="0">
                <a:solidFill>
                  <a:srgbClr val="FFFFFF"/>
                </a:solidFill>
                <a:latin typeface="Tahoma"/>
                <a:cs typeface="Tahoma"/>
              </a:rPr>
              <a:t> </a:t>
            </a:r>
            <a:r>
              <a:rPr sz="4000" spc="-5" dirty="0">
                <a:solidFill>
                  <a:srgbClr val="FFFFFF"/>
                </a:solidFill>
                <a:latin typeface="Tahoma"/>
                <a:cs typeface="Tahoma"/>
              </a:rPr>
              <a:t>Foreign </a:t>
            </a:r>
            <a:r>
              <a:rPr sz="4000" spc="-1235" dirty="0">
                <a:solidFill>
                  <a:srgbClr val="FFFFFF"/>
                </a:solidFill>
                <a:latin typeface="Tahoma"/>
                <a:cs typeface="Tahoma"/>
              </a:rPr>
              <a:t> </a:t>
            </a:r>
            <a:r>
              <a:rPr sz="4000" spc="-5" dirty="0">
                <a:solidFill>
                  <a:srgbClr val="FFFFFF"/>
                </a:solidFill>
                <a:latin typeface="Tahoma"/>
                <a:cs typeface="Tahoma"/>
              </a:rPr>
              <a:t>Finance Corporation </a:t>
            </a:r>
            <a:r>
              <a:rPr sz="4000" spc="-10" dirty="0">
                <a:solidFill>
                  <a:srgbClr val="FFFFFF"/>
                </a:solidFill>
                <a:latin typeface="Tahoma"/>
                <a:cs typeface="Tahoma"/>
              </a:rPr>
              <a:t>(1991) </a:t>
            </a:r>
            <a:r>
              <a:rPr sz="4000" dirty="0">
                <a:solidFill>
                  <a:srgbClr val="FFFFFF"/>
                </a:solidFill>
                <a:latin typeface="Tahoma"/>
                <a:cs typeface="Tahoma"/>
              </a:rPr>
              <a:t>4 </a:t>
            </a:r>
            <a:r>
              <a:rPr sz="4000" spc="5" dirty="0">
                <a:solidFill>
                  <a:srgbClr val="FFFFFF"/>
                </a:solidFill>
                <a:latin typeface="Tahoma"/>
                <a:cs typeface="Tahoma"/>
              </a:rPr>
              <a:t> </a:t>
            </a:r>
            <a:r>
              <a:rPr sz="4000" spc="-5" dirty="0">
                <a:solidFill>
                  <a:srgbClr val="FFFFFF"/>
                </a:solidFill>
                <a:latin typeface="Tahoma"/>
                <a:cs typeface="Tahoma"/>
              </a:rPr>
              <a:t>NWLR</a:t>
            </a:r>
            <a:r>
              <a:rPr sz="4000" spc="-20" dirty="0">
                <a:solidFill>
                  <a:srgbClr val="FFFFFF"/>
                </a:solidFill>
                <a:latin typeface="Tahoma"/>
                <a:cs typeface="Tahoma"/>
              </a:rPr>
              <a:t> </a:t>
            </a:r>
            <a:r>
              <a:rPr sz="4000" spc="-10" dirty="0">
                <a:solidFill>
                  <a:srgbClr val="FFFFFF"/>
                </a:solidFill>
                <a:latin typeface="Tahoma"/>
                <a:cs typeface="Tahoma"/>
              </a:rPr>
              <a:t>(Pt.</a:t>
            </a:r>
            <a:r>
              <a:rPr sz="4000" spc="-15" dirty="0">
                <a:solidFill>
                  <a:srgbClr val="FFFFFF"/>
                </a:solidFill>
                <a:latin typeface="Tahoma"/>
                <a:cs typeface="Tahoma"/>
              </a:rPr>
              <a:t> </a:t>
            </a:r>
            <a:r>
              <a:rPr sz="4000" spc="-10" dirty="0">
                <a:solidFill>
                  <a:srgbClr val="FFFFFF"/>
                </a:solidFill>
                <a:latin typeface="Tahoma"/>
                <a:cs typeface="Tahoma"/>
              </a:rPr>
              <a:t>184)</a:t>
            </a:r>
            <a:r>
              <a:rPr sz="4000" spc="-15" dirty="0">
                <a:solidFill>
                  <a:srgbClr val="FFFFFF"/>
                </a:solidFill>
                <a:latin typeface="Tahoma"/>
                <a:cs typeface="Tahoma"/>
              </a:rPr>
              <a:t> </a:t>
            </a:r>
            <a:r>
              <a:rPr sz="4000" spc="-10" dirty="0">
                <a:solidFill>
                  <a:srgbClr val="FFFFFF"/>
                </a:solidFill>
                <a:latin typeface="Tahoma"/>
                <a:cs typeface="Tahoma"/>
              </a:rPr>
              <a:t>157</a:t>
            </a:r>
            <a:r>
              <a:rPr sz="4000" spc="-15" dirty="0">
                <a:solidFill>
                  <a:srgbClr val="FFFFFF"/>
                </a:solidFill>
                <a:latin typeface="Tahoma"/>
                <a:cs typeface="Tahoma"/>
              </a:rPr>
              <a:t> </a:t>
            </a:r>
            <a:r>
              <a:rPr sz="4000" spc="-5" dirty="0">
                <a:solidFill>
                  <a:srgbClr val="FFFFFF"/>
                </a:solidFill>
                <a:latin typeface="Tahoma"/>
                <a:cs typeface="Tahoma"/>
              </a:rPr>
              <a:t>at</a:t>
            </a:r>
            <a:r>
              <a:rPr sz="4000" spc="-15" dirty="0">
                <a:solidFill>
                  <a:srgbClr val="FFFFFF"/>
                </a:solidFill>
                <a:latin typeface="Tahoma"/>
                <a:cs typeface="Tahoma"/>
              </a:rPr>
              <a:t> </a:t>
            </a:r>
            <a:r>
              <a:rPr sz="4000" spc="-5" dirty="0">
                <a:solidFill>
                  <a:srgbClr val="FFFFFF"/>
                </a:solidFill>
                <a:latin typeface="Tahoma"/>
                <a:cs typeface="Tahoma"/>
              </a:rPr>
              <a:t>168</a:t>
            </a:r>
            <a:endParaRPr sz="4000" dirty="0">
              <a:latin typeface="Tahoma"/>
              <a:cs typeface="Tahoma"/>
            </a:endParaRPr>
          </a:p>
          <a:p>
            <a:pPr>
              <a:lnSpc>
                <a:spcPct val="100000"/>
              </a:lnSpc>
              <a:spcBef>
                <a:spcPts val="35"/>
              </a:spcBef>
            </a:pPr>
            <a:endParaRPr sz="3850" dirty="0">
              <a:latin typeface="Tahoma"/>
              <a:cs typeface="Tahoma"/>
            </a:endParaRPr>
          </a:p>
          <a:p>
            <a:pPr marL="177165">
              <a:lnSpc>
                <a:spcPts val="4725"/>
              </a:lnSpc>
            </a:pPr>
            <a:r>
              <a:rPr sz="4000" b="1" spc="-5" dirty="0">
                <a:solidFill>
                  <a:srgbClr val="FFFFCC"/>
                </a:solidFill>
                <a:latin typeface="Tahoma"/>
                <a:cs typeface="Tahoma"/>
              </a:rPr>
              <a:t>Types</a:t>
            </a:r>
            <a:r>
              <a:rPr sz="4000" b="1" spc="-40" dirty="0">
                <a:solidFill>
                  <a:srgbClr val="FFFFCC"/>
                </a:solidFill>
                <a:latin typeface="Tahoma"/>
                <a:cs typeface="Tahoma"/>
              </a:rPr>
              <a:t> </a:t>
            </a:r>
            <a:r>
              <a:rPr sz="4000" b="1" spc="-5" dirty="0">
                <a:solidFill>
                  <a:srgbClr val="FFFFCC"/>
                </a:solidFill>
                <a:latin typeface="Tahoma"/>
                <a:cs typeface="Tahoma"/>
              </a:rPr>
              <a:t>Of</a:t>
            </a:r>
            <a:r>
              <a:rPr sz="4000" b="1" spc="-35" dirty="0">
                <a:solidFill>
                  <a:srgbClr val="FFFFCC"/>
                </a:solidFill>
                <a:latin typeface="Tahoma"/>
                <a:cs typeface="Tahoma"/>
              </a:rPr>
              <a:t> </a:t>
            </a:r>
            <a:r>
              <a:rPr sz="4000" b="1" spc="-5" dirty="0">
                <a:solidFill>
                  <a:srgbClr val="FFFFCC"/>
                </a:solidFill>
                <a:latin typeface="Tahoma"/>
                <a:cs typeface="Tahoma"/>
              </a:rPr>
              <a:t>Rent</a:t>
            </a:r>
            <a:endParaRPr sz="4000" dirty="0">
              <a:latin typeface="Tahoma"/>
              <a:cs typeface="Tahoma"/>
            </a:endParaRPr>
          </a:p>
          <a:p>
            <a:pPr marL="920115" indent="-319405">
              <a:lnSpc>
                <a:spcPts val="4650"/>
              </a:lnSpc>
              <a:buSzPct val="65000"/>
              <a:buFont typeface="Microsoft Sans Serif"/>
              <a:buChar char="□"/>
              <a:tabLst>
                <a:tab pos="920750" algn="l"/>
              </a:tabLst>
            </a:pPr>
            <a:r>
              <a:rPr sz="4000" spc="-5" dirty="0">
                <a:solidFill>
                  <a:srgbClr val="FFFFFF"/>
                </a:solidFill>
                <a:latin typeface="Tahoma"/>
                <a:cs typeface="Tahoma"/>
              </a:rPr>
              <a:t>Ground</a:t>
            </a:r>
            <a:r>
              <a:rPr sz="4000" spc="-60" dirty="0">
                <a:solidFill>
                  <a:srgbClr val="FFFFFF"/>
                </a:solidFill>
                <a:latin typeface="Tahoma"/>
                <a:cs typeface="Tahoma"/>
              </a:rPr>
              <a:t> </a:t>
            </a:r>
            <a:r>
              <a:rPr sz="4000" spc="-5" dirty="0" smtClean="0">
                <a:solidFill>
                  <a:srgbClr val="FFFFFF"/>
                </a:solidFill>
                <a:latin typeface="Tahoma"/>
                <a:cs typeface="Tahoma"/>
              </a:rPr>
              <a:t>Rent</a:t>
            </a:r>
            <a:r>
              <a:rPr lang="en-US" sz="4000" spc="-5" dirty="0" smtClean="0">
                <a:solidFill>
                  <a:srgbClr val="FFFFFF"/>
                </a:solidFill>
                <a:latin typeface="Tahoma"/>
                <a:cs typeface="Tahoma"/>
              </a:rPr>
              <a:t> – Bare land</a:t>
            </a:r>
            <a:endParaRPr sz="4000" dirty="0">
              <a:latin typeface="Tahoma"/>
              <a:cs typeface="Tahoma"/>
            </a:endParaRPr>
          </a:p>
          <a:p>
            <a:pPr marL="920115" indent="-319405">
              <a:lnSpc>
                <a:spcPts val="4725"/>
              </a:lnSpc>
              <a:buSzPct val="65000"/>
              <a:buFont typeface="Microsoft Sans Serif"/>
              <a:buChar char="□"/>
              <a:tabLst>
                <a:tab pos="920750" algn="l"/>
              </a:tabLst>
            </a:pPr>
            <a:r>
              <a:rPr sz="4000" spc="-5" dirty="0">
                <a:solidFill>
                  <a:srgbClr val="FFFFFF"/>
                </a:solidFill>
                <a:latin typeface="Tahoma"/>
                <a:cs typeface="Tahoma"/>
              </a:rPr>
              <a:t>Rack</a:t>
            </a:r>
            <a:r>
              <a:rPr sz="4000" spc="-60" dirty="0">
                <a:solidFill>
                  <a:srgbClr val="FFFFFF"/>
                </a:solidFill>
                <a:latin typeface="Tahoma"/>
                <a:cs typeface="Tahoma"/>
              </a:rPr>
              <a:t> </a:t>
            </a:r>
            <a:r>
              <a:rPr sz="4000" spc="-5" dirty="0" smtClean="0">
                <a:solidFill>
                  <a:srgbClr val="FFFFFF"/>
                </a:solidFill>
                <a:latin typeface="Tahoma"/>
                <a:cs typeface="Tahoma"/>
              </a:rPr>
              <a:t>Rent</a:t>
            </a:r>
            <a:r>
              <a:rPr lang="en-US" sz="4000" spc="-5" dirty="0" smtClean="0">
                <a:solidFill>
                  <a:srgbClr val="FFFFFF"/>
                </a:solidFill>
                <a:latin typeface="Tahoma"/>
                <a:cs typeface="Tahoma"/>
              </a:rPr>
              <a:t> – Full value</a:t>
            </a:r>
            <a:endParaRPr sz="4000" dirty="0">
              <a:latin typeface="Tahoma"/>
              <a:cs typeface="Tahoma"/>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36624" y="137033"/>
            <a:ext cx="8098790" cy="6603090"/>
          </a:xfrm>
          <a:prstGeom prst="rect">
            <a:avLst/>
          </a:prstGeom>
        </p:spPr>
        <p:txBody>
          <a:bodyPr vert="horz" wrap="square" lIns="0" tIns="87630" rIns="0" bIns="0" rtlCol="0">
            <a:spAutoFit/>
          </a:bodyPr>
          <a:lstStyle/>
          <a:p>
            <a:pPr marL="693420">
              <a:lnSpc>
                <a:spcPct val="100000"/>
              </a:lnSpc>
              <a:spcBef>
                <a:spcPts val="690"/>
              </a:spcBef>
            </a:pPr>
            <a:r>
              <a:rPr sz="2600" spc="-30" dirty="0">
                <a:solidFill>
                  <a:srgbClr val="FFFFFF"/>
                </a:solidFill>
                <a:latin typeface="Microsoft Sans Serif"/>
                <a:cs typeface="Microsoft Sans Serif"/>
              </a:rPr>
              <a:t>-</a:t>
            </a:r>
            <a:r>
              <a:rPr sz="2600" spc="200" dirty="0">
                <a:solidFill>
                  <a:srgbClr val="FFFFFF"/>
                </a:solidFill>
                <a:latin typeface="Microsoft Sans Serif"/>
                <a:cs typeface="Microsoft Sans Serif"/>
              </a:rPr>
              <a:t> </a:t>
            </a:r>
            <a:r>
              <a:rPr sz="4000" spc="-5" dirty="0" smtClean="0">
                <a:solidFill>
                  <a:srgbClr val="FFFFFF"/>
                </a:solidFill>
                <a:latin typeface="Tahoma"/>
                <a:cs typeface="Tahoma"/>
              </a:rPr>
              <a:t>Premium</a:t>
            </a:r>
            <a:r>
              <a:rPr lang="en-US" sz="4000" spc="-5" dirty="0" smtClean="0">
                <a:solidFill>
                  <a:srgbClr val="FFFFFF"/>
                </a:solidFill>
                <a:latin typeface="Tahoma"/>
                <a:cs typeface="Tahoma"/>
              </a:rPr>
              <a:t> – lump sum</a:t>
            </a:r>
            <a:endParaRPr sz="4000" dirty="0">
              <a:latin typeface="Tahoma"/>
              <a:cs typeface="Tahoma"/>
            </a:endParaRPr>
          </a:p>
          <a:p>
            <a:pPr marL="520065" marR="527685" indent="-508000">
              <a:lnSpc>
                <a:spcPct val="100499"/>
              </a:lnSpc>
              <a:spcBef>
                <a:spcPts val="570"/>
              </a:spcBef>
              <a:buClr>
                <a:srgbClr val="FFFF99"/>
              </a:buClr>
              <a:buSzPct val="65000"/>
              <a:buFont typeface="MS UI Gothic"/>
              <a:buChar char="◆"/>
              <a:tabLst>
                <a:tab pos="678815" algn="l"/>
                <a:tab pos="679450" algn="l"/>
              </a:tabLst>
            </a:pPr>
            <a:r>
              <a:rPr dirty="0"/>
              <a:t>	</a:t>
            </a:r>
            <a:r>
              <a:rPr sz="4000" spc="-5" dirty="0">
                <a:solidFill>
                  <a:srgbClr val="FFFFFF"/>
                </a:solidFill>
                <a:latin typeface="Tahoma"/>
                <a:cs typeface="Tahoma"/>
              </a:rPr>
              <a:t>Factors</a:t>
            </a:r>
            <a:r>
              <a:rPr sz="4000" spc="-30" dirty="0">
                <a:solidFill>
                  <a:srgbClr val="FFFFFF"/>
                </a:solidFill>
                <a:latin typeface="Tahoma"/>
                <a:cs typeface="Tahoma"/>
              </a:rPr>
              <a:t> </a:t>
            </a:r>
            <a:r>
              <a:rPr sz="4000" spc="-5" dirty="0">
                <a:solidFill>
                  <a:srgbClr val="FFFFFF"/>
                </a:solidFill>
                <a:latin typeface="Tahoma"/>
                <a:cs typeface="Tahoma"/>
              </a:rPr>
              <a:t>to</a:t>
            </a:r>
            <a:r>
              <a:rPr sz="4000" spc="-30" dirty="0">
                <a:solidFill>
                  <a:srgbClr val="FFFFFF"/>
                </a:solidFill>
                <a:latin typeface="Tahoma"/>
                <a:cs typeface="Tahoma"/>
              </a:rPr>
              <a:t> </a:t>
            </a:r>
            <a:r>
              <a:rPr sz="4000" spc="-5" dirty="0">
                <a:solidFill>
                  <a:srgbClr val="FFFFFF"/>
                </a:solidFill>
                <a:latin typeface="Tahoma"/>
                <a:cs typeface="Tahoma"/>
              </a:rPr>
              <a:t>consider</a:t>
            </a:r>
            <a:r>
              <a:rPr sz="4000" spc="-30" dirty="0">
                <a:solidFill>
                  <a:srgbClr val="FFFFFF"/>
                </a:solidFill>
                <a:latin typeface="Tahoma"/>
                <a:cs typeface="Tahoma"/>
              </a:rPr>
              <a:t> </a:t>
            </a:r>
            <a:r>
              <a:rPr sz="4000" spc="-5" dirty="0">
                <a:solidFill>
                  <a:srgbClr val="FFFFFF"/>
                </a:solidFill>
                <a:latin typeface="Tahoma"/>
                <a:cs typeface="Tahoma"/>
              </a:rPr>
              <a:t>in</a:t>
            </a:r>
            <a:r>
              <a:rPr sz="4000" spc="-30" dirty="0">
                <a:solidFill>
                  <a:srgbClr val="FFFFFF"/>
                </a:solidFill>
                <a:latin typeface="Tahoma"/>
                <a:cs typeface="Tahoma"/>
              </a:rPr>
              <a:t> </a:t>
            </a:r>
            <a:r>
              <a:rPr sz="4000" spc="-5" dirty="0">
                <a:solidFill>
                  <a:srgbClr val="FFFFFF"/>
                </a:solidFill>
                <a:latin typeface="Tahoma"/>
                <a:cs typeface="Tahoma"/>
              </a:rPr>
              <a:t>charging </a:t>
            </a:r>
            <a:r>
              <a:rPr sz="4000" spc="-1235" dirty="0">
                <a:solidFill>
                  <a:srgbClr val="FFFFFF"/>
                </a:solidFill>
                <a:latin typeface="Tahoma"/>
                <a:cs typeface="Tahoma"/>
              </a:rPr>
              <a:t> </a:t>
            </a:r>
            <a:r>
              <a:rPr sz="4000" spc="-5" dirty="0" smtClean="0">
                <a:solidFill>
                  <a:srgbClr val="FFFFFF"/>
                </a:solidFill>
                <a:latin typeface="Tahoma"/>
                <a:cs typeface="Tahoma"/>
              </a:rPr>
              <a:t>rent</a:t>
            </a:r>
            <a:endParaRPr lang="en-US" sz="4000" spc="-5" dirty="0" smtClean="0">
              <a:solidFill>
                <a:srgbClr val="FFFFFF"/>
              </a:solidFill>
              <a:latin typeface="Tahoma"/>
              <a:cs typeface="Tahoma"/>
            </a:endParaRPr>
          </a:p>
          <a:p>
            <a:pPr marL="520065" marR="527685" indent="-508000">
              <a:lnSpc>
                <a:spcPct val="100499"/>
              </a:lnSpc>
              <a:spcBef>
                <a:spcPts val="570"/>
              </a:spcBef>
              <a:buClr>
                <a:srgbClr val="FFFF99"/>
              </a:buClr>
              <a:buSzPct val="65000"/>
              <a:buFont typeface="MS UI Gothic"/>
              <a:buChar char="◆"/>
              <a:tabLst>
                <a:tab pos="678815" algn="l"/>
                <a:tab pos="679450" algn="l"/>
              </a:tabLst>
            </a:pPr>
            <a:r>
              <a:rPr lang="en-US" sz="4000" spc="-5" dirty="0" smtClean="0">
                <a:solidFill>
                  <a:srgbClr val="FFFFFF"/>
                </a:solidFill>
                <a:latin typeface="Tahoma"/>
                <a:cs typeface="Tahoma"/>
              </a:rPr>
              <a:t>Condition, Location, Available amenities</a:t>
            </a:r>
            <a:endParaRPr sz="4000" dirty="0">
              <a:latin typeface="Tahoma"/>
              <a:cs typeface="Tahoma"/>
            </a:endParaRPr>
          </a:p>
          <a:p>
            <a:pPr marL="920115" marR="224790" lvl="1" indent="-450850">
              <a:lnSpc>
                <a:spcPct val="100499"/>
              </a:lnSpc>
              <a:buClr>
                <a:srgbClr val="FFFF99"/>
              </a:buClr>
              <a:buSzPct val="65000"/>
              <a:buFont typeface="MS UI Gothic"/>
              <a:buChar char="◆"/>
              <a:tabLst>
                <a:tab pos="920750" algn="l"/>
              </a:tabLst>
            </a:pPr>
            <a:r>
              <a:rPr sz="4000" spc="-5" dirty="0" smtClean="0">
                <a:solidFill>
                  <a:srgbClr val="FFFFFF"/>
                </a:solidFill>
                <a:latin typeface="Tahoma"/>
                <a:cs typeface="Tahoma"/>
              </a:rPr>
              <a:t>Charging</a:t>
            </a:r>
            <a:r>
              <a:rPr sz="4000" spc="-25" dirty="0" smtClean="0">
                <a:solidFill>
                  <a:srgbClr val="FFFFFF"/>
                </a:solidFill>
                <a:latin typeface="Tahoma"/>
                <a:cs typeface="Tahoma"/>
              </a:rPr>
              <a:t> </a:t>
            </a:r>
            <a:r>
              <a:rPr sz="4000" spc="-5" dirty="0">
                <a:solidFill>
                  <a:srgbClr val="FFFFFF"/>
                </a:solidFill>
                <a:latin typeface="Tahoma"/>
                <a:cs typeface="Tahoma"/>
              </a:rPr>
              <a:t>of</a:t>
            </a:r>
            <a:r>
              <a:rPr sz="4000" spc="-25" dirty="0">
                <a:solidFill>
                  <a:srgbClr val="FFFFFF"/>
                </a:solidFill>
                <a:latin typeface="Tahoma"/>
                <a:cs typeface="Tahoma"/>
              </a:rPr>
              <a:t> </a:t>
            </a:r>
            <a:r>
              <a:rPr sz="4000" spc="-10" dirty="0">
                <a:solidFill>
                  <a:srgbClr val="FFFFFF"/>
                </a:solidFill>
                <a:latin typeface="Tahoma"/>
                <a:cs typeface="Tahoma"/>
              </a:rPr>
              <a:t>many</a:t>
            </a:r>
            <a:r>
              <a:rPr sz="4000" spc="-25" dirty="0">
                <a:solidFill>
                  <a:srgbClr val="FFFFFF"/>
                </a:solidFill>
                <a:latin typeface="Tahoma"/>
                <a:cs typeface="Tahoma"/>
              </a:rPr>
              <a:t> </a:t>
            </a:r>
            <a:r>
              <a:rPr sz="4000" spc="-5" dirty="0">
                <a:solidFill>
                  <a:srgbClr val="FFFFFF"/>
                </a:solidFill>
                <a:latin typeface="Tahoma"/>
                <a:cs typeface="Tahoma"/>
              </a:rPr>
              <a:t>years</a:t>
            </a:r>
            <a:r>
              <a:rPr sz="4000" spc="-20" dirty="0">
                <a:solidFill>
                  <a:srgbClr val="FFFFFF"/>
                </a:solidFill>
                <a:latin typeface="Tahoma"/>
                <a:cs typeface="Tahoma"/>
              </a:rPr>
              <a:t> </a:t>
            </a:r>
            <a:r>
              <a:rPr sz="4000" spc="-5" dirty="0">
                <a:solidFill>
                  <a:srgbClr val="FFFFFF"/>
                </a:solidFill>
                <a:latin typeface="Tahoma"/>
                <a:cs typeface="Tahoma"/>
              </a:rPr>
              <a:t>rent</a:t>
            </a:r>
            <a:r>
              <a:rPr sz="4000" spc="-20" dirty="0">
                <a:solidFill>
                  <a:srgbClr val="FFFFFF"/>
                </a:solidFill>
                <a:latin typeface="Tahoma"/>
                <a:cs typeface="Tahoma"/>
              </a:rPr>
              <a:t> </a:t>
            </a:r>
            <a:r>
              <a:rPr sz="4000" spc="-5" dirty="0">
                <a:solidFill>
                  <a:srgbClr val="FFFFFF"/>
                </a:solidFill>
                <a:latin typeface="Tahoma"/>
                <a:cs typeface="Tahoma"/>
              </a:rPr>
              <a:t>in </a:t>
            </a:r>
            <a:r>
              <a:rPr sz="4000" spc="-1235" dirty="0">
                <a:solidFill>
                  <a:srgbClr val="FFFFFF"/>
                </a:solidFill>
                <a:latin typeface="Tahoma"/>
                <a:cs typeface="Tahoma"/>
              </a:rPr>
              <a:t> </a:t>
            </a:r>
            <a:r>
              <a:rPr sz="4000" spc="-5" dirty="0">
                <a:solidFill>
                  <a:srgbClr val="FFFFFF"/>
                </a:solidFill>
                <a:latin typeface="Tahoma"/>
                <a:cs typeface="Tahoma"/>
              </a:rPr>
              <a:t>advance</a:t>
            </a:r>
            <a:endParaRPr sz="4000" dirty="0">
              <a:latin typeface="Tahoma"/>
              <a:cs typeface="Tahoma"/>
            </a:endParaRPr>
          </a:p>
          <a:p>
            <a:pPr marL="1611630" lvl="2" indent="-343535">
              <a:lnSpc>
                <a:spcPct val="100000"/>
              </a:lnSpc>
              <a:spcBef>
                <a:spcPts val="800"/>
              </a:spcBef>
              <a:buChar char="-"/>
              <a:tabLst>
                <a:tab pos="1612265" algn="l"/>
              </a:tabLst>
            </a:pPr>
            <a:r>
              <a:rPr sz="4000" spc="-5" dirty="0">
                <a:solidFill>
                  <a:srgbClr val="FFFFFF"/>
                </a:solidFill>
                <a:latin typeface="Tahoma"/>
                <a:cs typeface="Tahoma"/>
              </a:rPr>
              <a:t>implications</a:t>
            </a:r>
            <a:endParaRPr sz="4000" dirty="0">
              <a:latin typeface="Tahoma"/>
              <a:cs typeface="Tahoma"/>
            </a:endParaRPr>
          </a:p>
          <a:p>
            <a:pPr marL="920115" marR="5080" lvl="2" indent="347980">
              <a:lnSpc>
                <a:spcPct val="100499"/>
              </a:lnSpc>
              <a:spcBef>
                <a:spcPts val="800"/>
              </a:spcBef>
              <a:buChar char="-"/>
              <a:tabLst>
                <a:tab pos="1612265" algn="l"/>
              </a:tabLst>
            </a:pPr>
            <a:r>
              <a:rPr sz="4000" spc="-5" dirty="0">
                <a:solidFill>
                  <a:srgbClr val="FFFFFF"/>
                </a:solidFill>
                <a:latin typeface="Tahoma"/>
                <a:cs typeface="Tahoma"/>
              </a:rPr>
              <a:t>remedy/solution:</a:t>
            </a:r>
            <a:r>
              <a:rPr sz="4000" spc="-50" dirty="0">
                <a:solidFill>
                  <a:srgbClr val="FFFFFF"/>
                </a:solidFill>
                <a:latin typeface="Tahoma"/>
                <a:cs typeface="Tahoma"/>
              </a:rPr>
              <a:t> </a:t>
            </a:r>
            <a:r>
              <a:rPr sz="4000" spc="-5" dirty="0">
                <a:solidFill>
                  <a:srgbClr val="FFFFFF"/>
                </a:solidFill>
                <a:latin typeface="Tahoma"/>
                <a:cs typeface="Tahoma"/>
              </a:rPr>
              <a:t>rent</a:t>
            </a:r>
            <a:r>
              <a:rPr sz="4000" spc="-50" dirty="0">
                <a:solidFill>
                  <a:srgbClr val="FFFFFF"/>
                </a:solidFill>
                <a:latin typeface="Tahoma"/>
                <a:cs typeface="Tahoma"/>
              </a:rPr>
              <a:t> </a:t>
            </a:r>
            <a:r>
              <a:rPr sz="4000" spc="-5" dirty="0">
                <a:solidFill>
                  <a:srgbClr val="FFFFFF"/>
                </a:solidFill>
                <a:latin typeface="Tahoma"/>
                <a:cs typeface="Tahoma"/>
              </a:rPr>
              <a:t>review </a:t>
            </a:r>
            <a:r>
              <a:rPr sz="4000" spc="-1235" dirty="0">
                <a:solidFill>
                  <a:srgbClr val="FFFFFF"/>
                </a:solidFill>
                <a:latin typeface="Tahoma"/>
                <a:cs typeface="Tahoma"/>
              </a:rPr>
              <a:t> </a:t>
            </a:r>
            <a:r>
              <a:rPr sz="4000" spc="-5" dirty="0">
                <a:solidFill>
                  <a:srgbClr val="FFFFFF"/>
                </a:solidFill>
                <a:latin typeface="Tahoma"/>
                <a:cs typeface="Tahoma"/>
              </a:rPr>
              <a:t>clause</a:t>
            </a:r>
            <a:endParaRPr sz="4000" dirty="0">
              <a:latin typeface="Tahoma"/>
              <a:cs typeface="Tahom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2400" y="152400"/>
            <a:ext cx="8839200" cy="6715941"/>
          </a:xfrm>
          <a:prstGeom prst="rect">
            <a:avLst/>
          </a:prstGeom>
        </p:spPr>
        <p:txBody>
          <a:bodyPr vert="horz" wrap="square" lIns="0" tIns="57150" rIns="0" bIns="0" rtlCol="0">
            <a:spAutoFit/>
          </a:bodyPr>
          <a:lstStyle/>
          <a:p>
            <a:pPr marL="748665" indent="-736600">
              <a:lnSpc>
                <a:spcPct val="100000"/>
              </a:lnSpc>
              <a:spcBef>
                <a:spcPts val="450"/>
              </a:spcBef>
              <a:buClr>
                <a:srgbClr val="FFFF99"/>
              </a:buClr>
              <a:buSzPct val="65000"/>
              <a:buFont typeface="MS UI Gothic"/>
              <a:buChar char="◆"/>
              <a:tabLst>
                <a:tab pos="748665" algn="l"/>
                <a:tab pos="749300" algn="l"/>
              </a:tabLst>
            </a:pPr>
            <a:r>
              <a:rPr sz="4000" b="1" spc="-5" dirty="0">
                <a:solidFill>
                  <a:srgbClr val="FFFFCC"/>
                </a:solidFill>
                <a:latin typeface="Tahoma"/>
                <a:cs typeface="Tahoma"/>
              </a:rPr>
              <a:t>Rent</a:t>
            </a:r>
            <a:r>
              <a:rPr sz="4000" b="1" spc="-50" dirty="0">
                <a:solidFill>
                  <a:srgbClr val="FFFFCC"/>
                </a:solidFill>
                <a:latin typeface="Tahoma"/>
                <a:cs typeface="Tahoma"/>
              </a:rPr>
              <a:t> </a:t>
            </a:r>
            <a:r>
              <a:rPr sz="4000" b="1" spc="-5" dirty="0">
                <a:solidFill>
                  <a:srgbClr val="FFFFCC"/>
                </a:solidFill>
                <a:latin typeface="Tahoma"/>
                <a:cs typeface="Tahoma"/>
              </a:rPr>
              <a:t>Clause</a:t>
            </a:r>
            <a:endParaRPr sz="4000" dirty="0">
              <a:latin typeface="Tahoma"/>
              <a:cs typeface="Tahoma"/>
            </a:endParaRPr>
          </a:p>
          <a:p>
            <a:pPr marL="474980">
              <a:lnSpc>
                <a:spcPct val="100000"/>
              </a:lnSpc>
              <a:spcBef>
                <a:spcPts val="350"/>
              </a:spcBef>
            </a:pPr>
            <a:r>
              <a:rPr sz="4000" dirty="0">
                <a:solidFill>
                  <a:srgbClr val="FFFFFF"/>
                </a:solidFill>
                <a:latin typeface="Tahoma"/>
                <a:cs typeface="Tahoma"/>
              </a:rPr>
              <a:t>-</a:t>
            </a:r>
            <a:r>
              <a:rPr sz="4000" spc="-55" dirty="0">
                <a:solidFill>
                  <a:srgbClr val="FFFFFF"/>
                </a:solidFill>
                <a:latin typeface="Tahoma"/>
                <a:cs typeface="Tahoma"/>
              </a:rPr>
              <a:t> </a:t>
            </a:r>
            <a:r>
              <a:rPr sz="4000" spc="-5" dirty="0" smtClean="0">
                <a:solidFill>
                  <a:srgbClr val="FFFFFF"/>
                </a:solidFill>
                <a:latin typeface="Tahoma"/>
                <a:cs typeface="Tahoma"/>
              </a:rPr>
              <a:t>content</a:t>
            </a:r>
            <a:r>
              <a:rPr lang="en-US" sz="4000" spc="-5" dirty="0" smtClean="0">
                <a:solidFill>
                  <a:srgbClr val="FFFFFF"/>
                </a:solidFill>
                <a:latin typeface="Tahoma"/>
                <a:cs typeface="Tahoma"/>
              </a:rPr>
              <a:t>: amount of rent due, date of payment, period covered by the rent paid</a:t>
            </a:r>
          </a:p>
          <a:p>
            <a:pPr marL="474980">
              <a:lnSpc>
                <a:spcPct val="100000"/>
              </a:lnSpc>
              <a:spcBef>
                <a:spcPts val="350"/>
              </a:spcBef>
            </a:pPr>
            <a:r>
              <a:rPr lang="en-US" sz="4000" b="1" spc="-5" dirty="0" smtClean="0">
                <a:solidFill>
                  <a:srgbClr val="FFFFFF"/>
                </a:solidFill>
                <a:latin typeface="Tahoma"/>
                <a:cs typeface="Tahoma"/>
              </a:rPr>
              <a:t>IMPORTANCE:</a:t>
            </a:r>
          </a:p>
          <a:p>
            <a:pPr marL="1046480" indent="-571500">
              <a:lnSpc>
                <a:spcPct val="100000"/>
              </a:lnSpc>
              <a:spcBef>
                <a:spcPts val="350"/>
              </a:spcBef>
              <a:buFont typeface="Wingdings" panose="05000000000000000000" pitchFamily="2" charset="2"/>
              <a:buChar char="Ø"/>
            </a:pPr>
            <a:r>
              <a:rPr lang="en-US" sz="4000" spc="-5" dirty="0" smtClean="0">
                <a:solidFill>
                  <a:srgbClr val="FFFFFF"/>
                </a:solidFill>
                <a:latin typeface="Tahoma"/>
                <a:cs typeface="Tahoma"/>
              </a:rPr>
              <a:t>Acknowledgement of tenancy relationship</a:t>
            </a:r>
          </a:p>
          <a:p>
            <a:pPr marL="1046480" indent="-571500">
              <a:lnSpc>
                <a:spcPct val="100000"/>
              </a:lnSpc>
              <a:spcBef>
                <a:spcPts val="350"/>
              </a:spcBef>
              <a:buFont typeface="Wingdings" panose="05000000000000000000" pitchFamily="2" charset="2"/>
              <a:buChar char="Ø"/>
            </a:pPr>
            <a:r>
              <a:rPr lang="en-US" sz="4000" spc="-5" dirty="0" smtClean="0">
                <a:solidFill>
                  <a:srgbClr val="FFFFFF"/>
                </a:solidFill>
                <a:latin typeface="Tahoma"/>
                <a:cs typeface="Tahoma"/>
              </a:rPr>
              <a:t>Ascertains rent payable, method &amp; period</a:t>
            </a:r>
          </a:p>
          <a:p>
            <a:pPr marL="1046480" indent="-571500">
              <a:lnSpc>
                <a:spcPct val="100000"/>
              </a:lnSpc>
              <a:spcBef>
                <a:spcPts val="350"/>
              </a:spcBef>
              <a:buFont typeface="Wingdings" panose="05000000000000000000" pitchFamily="2" charset="2"/>
              <a:buChar char="Ø"/>
            </a:pPr>
            <a:r>
              <a:rPr lang="en-US" sz="4000" spc="-5" dirty="0" smtClean="0">
                <a:solidFill>
                  <a:srgbClr val="FFFFFF"/>
                </a:solidFill>
                <a:latin typeface="Tahoma"/>
                <a:cs typeface="Tahoma"/>
              </a:rPr>
              <a:t>Aids enforcement of party’s rights</a:t>
            </a:r>
            <a:endParaRPr sz="4000" dirty="0">
              <a:latin typeface="Tahoma"/>
              <a:cs typeface="Tahoma"/>
            </a:endParaRPr>
          </a:p>
          <a:p>
            <a:pPr>
              <a:lnSpc>
                <a:spcPct val="100000"/>
              </a:lnSpc>
              <a:spcBef>
                <a:spcPts val="25"/>
              </a:spcBef>
            </a:pPr>
            <a:endParaRPr sz="1600" dirty="0">
              <a:latin typeface="Tahoma"/>
              <a:cs typeface="Tahoma"/>
            </a:endParaRP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763000" cy="6553200"/>
          </a:xfrm>
          <a:prstGeom prst="rect">
            <a:avLst/>
          </a:prstGeom>
        </p:spPr>
        <p:txBody>
          <a:bodyPr wrap="square">
            <a:spAutoFit/>
          </a:bodyPr>
          <a:lstStyle/>
          <a:p>
            <a:pPr marL="748665" indent="-736600">
              <a:lnSpc>
                <a:spcPct val="100000"/>
              </a:lnSpc>
              <a:buClr>
                <a:srgbClr val="FFFF99"/>
              </a:buClr>
              <a:buSzPct val="65000"/>
              <a:buFont typeface="MS UI Gothic"/>
              <a:buChar char="◆"/>
              <a:tabLst>
                <a:tab pos="748665" algn="l"/>
                <a:tab pos="749300" algn="l"/>
              </a:tabLst>
            </a:pPr>
            <a:r>
              <a:rPr lang="en-US" sz="4000" b="1" spc="-5" dirty="0">
                <a:solidFill>
                  <a:srgbClr val="FFFFCC"/>
                </a:solidFill>
                <a:latin typeface="Tahoma"/>
                <a:cs typeface="Tahoma"/>
              </a:rPr>
              <a:t>Rent</a:t>
            </a:r>
            <a:r>
              <a:rPr lang="en-US" sz="4000" b="1" spc="-35" dirty="0">
                <a:solidFill>
                  <a:srgbClr val="FFFFCC"/>
                </a:solidFill>
                <a:latin typeface="Tahoma"/>
                <a:cs typeface="Tahoma"/>
              </a:rPr>
              <a:t> </a:t>
            </a:r>
            <a:r>
              <a:rPr lang="en-US" sz="4000" b="1" spc="-5" dirty="0">
                <a:solidFill>
                  <a:srgbClr val="FFFFCC"/>
                </a:solidFill>
                <a:latin typeface="Tahoma"/>
                <a:cs typeface="Tahoma"/>
              </a:rPr>
              <a:t>Review</a:t>
            </a:r>
            <a:r>
              <a:rPr lang="en-US" sz="4000" b="1" spc="-35" dirty="0">
                <a:solidFill>
                  <a:srgbClr val="FFFFCC"/>
                </a:solidFill>
                <a:latin typeface="Tahoma"/>
                <a:cs typeface="Tahoma"/>
              </a:rPr>
              <a:t> </a:t>
            </a:r>
            <a:r>
              <a:rPr lang="en-US" sz="4000" b="1" spc="-5" dirty="0">
                <a:solidFill>
                  <a:srgbClr val="FFFFCC"/>
                </a:solidFill>
                <a:latin typeface="Tahoma"/>
                <a:cs typeface="Tahoma"/>
              </a:rPr>
              <a:t>Clause</a:t>
            </a:r>
            <a:endParaRPr lang="en-US" sz="4000" dirty="0">
              <a:latin typeface="Tahoma"/>
              <a:cs typeface="Tahoma"/>
            </a:endParaRPr>
          </a:p>
          <a:p>
            <a:pPr marL="862965" lvl="1" indent="-343535">
              <a:lnSpc>
                <a:spcPct val="100000"/>
              </a:lnSpc>
              <a:spcBef>
                <a:spcPts val="300"/>
              </a:spcBef>
              <a:buChar char="-"/>
              <a:tabLst>
                <a:tab pos="863600" algn="l"/>
              </a:tabLst>
            </a:pPr>
            <a:r>
              <a:rPr lang="en-US" sz="4000" spc="-10" dirty="0">
                <a:solidFill>
                  <a:srgbClr val="FFFFFF"/>
                </a:solidFill>
                <a:latin typeface="Tahoma"/>
                <a:cs typeface="Tahoma"/>
              </a:rPr>
              <a:t>must</a:t>
            </a:r>
            <a:r>
              <a:rPr lang="en-US" sz="4000" spc="-35" dirty="0">
                <a:solidFill>
                  <a:srgbClr val="FFFFFF"/>
                </a:solidFill>
                <a:latin typeface="Tahoma"/>
                <a:cs typeface="Tahoma"/>
              </a:rPr>
              <a:t> </a:t>
            </a:r>
            <a:r>
              <a:rPr lang="en-US" sz="4000" spc="-5" dirty="0">
                <a:solidFill>
                  <a:srgbClr val="FFFFFF"/>
                </a:solidFill>
                <a:latin typeface="Tahoma"/>
                <a:cs typeface="Tahoma"/>
              </a:rPr>
              <a:t>be</a:t>
            </a:r>
            <a:r>
              <a:rPr lang="en-US" sz="4000" spc="-30" dirty="0">
                <a:solidFill>
                  <a:srgbClr val="FFFFFF"/>
                </a:solidFill>
                <a:latin typeface="Tahoma"/>
                <a:cs typeface="Tahoma"/>
              </a:rPr>
              <a:t> </a:t>
            </a:r>
            <a:r>
              <a:rPr lang="en-US" sz="4000" spc="-5" dirty="0">
                <a:solidFill>
                  <a:srgbClr val="FFFFFF"/>
                </a:solidFill>
                <a:latin typeface="Tahoma"/>
                <a:cs typeface="Tahoma"/>
              </a:rPr>
              <a:t>expressly</a:t>
            </a:r>
            <a:r>
              <a:rPr lang="en-US" sz="4000" spc="-25" dirty="0">
                <a:solidFill>
                  <a:srgbClr val="FFFFFF"/>
                </a:solidFill>
                <a:latin typeface="Tahoma"/>
                <a:cs typeface="Tahoma"/>
              </a:rPr>
              <a:t> </a:t>
            </a:r>
            <a:r>
              <a:rPr lang="en-US" sz="4000" spc="-5" dirty="0">
                <a:solidFill>
                  <a:srgbClr val="FFFFFF"/>
                </a:solidFill>
                <a:latin typeface="Tahoma"/>
                <a:cs typeface="Tahoma"/>
              </a:rPr>
              <a:t>provided</a:t>
            </a:r>
            <a:endParaRPr lang="en-US" sz="4000" dirty="0">
              <a:latin typeface="Tahoma"/>
              <a:cs typeface="Tahoma"/>
            </a:endParaRPr>
          </a:p>
          <a:p>
            <a:pPr marL="862965" lvl="1" indent="-343535">
              <a:lnSpc>
                <a:spcPct val="100000"/>
              </a:lnSpc>
              <a:spcBef>
                <a:spcPts val="300"/>
              </a:spcBef>
              <a:buChar char="-"/>
              <a:tabLst>
                <a:tab pos="863600" algn="l"/>
              </a:tabLst>
            </a:pPr>
            <a:r>
              <a:rPr lang="en-US" sz="3200" b="1" dirty="0" smtClean="0">
                <a:solidFill>
                  <a:schemeClr val="bg1"/>
                </a:solidFill>
                <a:latin typeface="Tahoma" panose="020B0604030504040204" pitchFamily="34" charset="0"/>
                <a:ea typeface="Tahoma" panose="020B0604030504040204" pitchFamily="34" charset="0"/>
                <a:cs typeface="Tahoma" panose="020B0604030504040204" pitchFamily="34" charset="0"/>
              </a:rPr>
              <a:t>Content of Rent Review Clause</a:t>
            </a:r>
            <a:endParaRPr lang="en-US" sz="3200" dirty="0" smtClean="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3200" dirty="0" smtClean="0">
                <a:solidFill>
                  <a:schemeClr val="bg1"/>
                </a:solidFill>
                <a:latin typeface="Tahoma" panose="020B0604030504040204" pitchFamily="34" charset="0"/>
                <a:ea typeface="Tahoma" panose="020B0604030504040204" pitchFamily="34" charset="0"/>
                <a:cs typeface="Tahoma" panose="020B0604030504040204" pitchFamily="34" charset="0"/>
              </a:rPr>
              <a:t>1</a:t>
            </a:r>
            <a:r>
              <a:rPr lang="en-US" sz="3200" dirty="0">
                <a:solidFill>
                  <a:schemeClr val="bg1"/>
                </a:solidFill>
                <a:latin typeface="Tahoma" panose="020B0604030504040204" pitchFamily="34" charset="0"/>
                <a:ea typeface="Tahoma" panose="020B0604030504040204" pitchFamily="34" charset="0"/>
                <a:cs typeface="Tahoma" panose="020B0604030504040204" pitchFamily="34" charset="0"/>
              </a:rPr>
              <a:t>. Method of initiating the review e.g. a notice in writing to be given by the lessor to the lessee and time within which the notice is to be given.</a:t>
            </a:r>
          </a:p>
          <a:p>
            <a:r>
              <a:rPr lang="en-US" sz="3200" dirty="0">
                <a:solidFill>
                  <a:schemeClr val="bg1"/>
                </a:solidFill>
                <a:latin typeface="Tahoma" panose="020B0604030504040204" pitchFamily="34" charset="0"/>
                <a:ea typeface="Tahoma" panose="020B0604030504040204" pitchFamily="34" charset="0"/>
                <a:cs typeface="Tahoma" panose="020B0604030504040204" pitchFamily="34" charset="0"/>
              </a:rPr>
              <a:t>2. The time frame of the review e.g. after every 5 years of the lease and the date in which the new rent will become payable.</a:t>
            </a:r>
          </a:p>
          <a:p>
            <a:r>
              <a:rPr lang="en-US" sz="3200" dirty="0">
                <a:solidFill>
                  <a:schemeClr val="bg1"/>
                </a:solidFill>
                <a:latin typeface="Tahoma" panose="020B0604030504040204" pitchFamily="34" charset="0"/>
                <a:ea typeface="Tahoma" panose="020B0604030504040204" pitchFamily="34" charset="0"/>
                <a:cs typeface="Tahoma" panose="020B0604030504040204" pitchFamily="34" charset="0"/>
              </a:rPr>
              <a:t>3. The method of calculating the new rent e.g. by expert valuation</a:t>
            </a:r>
            <a:r>
              <a:rPr lang="en-US" sz="3200" dirty="0" smtClean="0">
                <a:solidFill>
                  <a:schemeClr val="bg1"/>
                </a:solidFill>
                <a:latin typeface="Tahoma" panose="020B0604030504040204" pitchFamily="34" charset="0"/>
                <a:ea typeface="Tahoma" panose="020B0604030504040204" pitchFamily="34" charset="0"/>
                <a:cs typeface="Tahoma" panose="020B0604030504040204" pitchFamily="34" charset="0"/>
              </a:rPr>
              <a:t>.</a:t>
            </a:r>
            <a:endParaRPr lang="en-US" sz="3200" dirty="0">
              <a:solidFill>
                <a:schemeClr val="bg1"/>
              </a:solidFill>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413091289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686800" cy="5793894"/>
          </a:xfrm>
          <a:prstGeom prst="rect">
            <a:avLst/>
          </a:prstGeom>
        </p:spPr>
        <p:txBody>
          <a:bodyPr wrap="square">
            <a:spAutoFit/>
          </a:bodyPr>
          <a:lstStyle/>
          <a:p>
            <a:r>
              <a:rPr lang="en-US" sz="4400" dirty="0">
                <a:solidFill>
                  <a:schemeClr val="bg1"/>
                </a:solidFill>
                <a:latin typeface="Tahoma" panose="020B0604030504040204" pitchFamily="34" charset="0"/>
                <a:ea typeface="Tahoma" panose="020B0604030504040204" pitchFamily="34" charset="0"/>
                <a:cs typeface="Tahoma" panose="020B0604030504040204" pitchFamily="34" charset="0"/>
              </a:rPr>
              <a:t>4. Procedure for resolving any dispute of the new rent e.g. </a:t>
            </a:r>
            <a:r>
              <a:rPr lang="en-US" sz="4400" dirty="0" smtClean="0">
                <a:solidFill>
                  <a:schemeClr val="bg1"/>
                </a:solidFill>
                <a:latin typeface="Tahoma" panose="020B0604030504040204" pitchFamily="34" charset="0"/>
                <a:ea typeface="Tahoma" panose="020B0604030504040204" pitchFamily="34" charset="0"/>
                <a:cs typeface="Tahoma" panose="020B0604030504040204" pitchFamily="34" charset="0"/>
              </a:rPr>
              <a:t>ADR</a:t>
            </a:r>
          </a:p>
          <a:p>
            <a:endParaRPr lang="en-US" sz="4400" dirty="0">
              <a:solidFill>
                <a:schemeClr val="bg1"/>
              </a:solidFill>
              <a:latin typeface="Tahoma" panose="020B0604030504040204" pitchFamily="34" charset="0"/>
              <a:ea typeface="Tahoma" panose="020B0604030504040204" pitchFamily="34" charset="0"/>
              <a:cs typeface="Tahoma" panose="020B0604030504040204" pitchFamily="34" charset="0"/>
            </a:endParaRPr>
          </a:p>
          <a:p>
            <a:r>
              <a:rPr lang="en-US" sz="4400" dirty="0">
                <a:solidFill>
                  <a:schemeClr val="bg1"/>
                </a:solidFill>
                <a:latin typeface="Tahoma" panose="020B0604030504040204" pitchFamily="34" charset="0"/>
                <a:ea typeface="Tahoma" panose="020B0604030504040204" pitchFamily="34" charset="0"/>
                <a:cs typeface="Tahoma" panose="020B0604030504040204" pitchFamily="34" charset="0"/>
              </a:rPr>
              <a:t>A rent-review clause may be inserted in the reddendum or the reddendum may refer to it in a schedule.</a:t>
            </a:r>
          </a:p>
          <a:p>
            <a:pPr marL="862965" lvl="1" indent="-343535">
              <a:lnSpc>
                <a:spcPct val="100000"/>
              </a:lnSpc>
              <a:spcBef>
                <a:spcPts val="300"/>
              </a:spcBef>
              <a:buChar char="-"/>
              <a:tabLst>
                <a:tab pos="863600" algn="l"/>
              </a:tabLst>
            </a:pPr>
            <a:endParaRPr lang="en-US" sz="6000" dirty="0">
              <a:latin typeface="Tahoma"/>
              <a:cs typeface="Tahoma"/>
            </a:endParaRPr>
          </a:p>
        </p:txBody>
      </p:sp>
    </p:spTree>
    <p:extLst>
      <p:ext uri="{BB962C8B-B14F-4D97-AF65-F5344CB8AC3E}">
        <p14:creationId xmlns:p14="http://schemas.microsoft.com/office/powerpoint/2010/main" val="41470578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09600" y="609600"/>
            <a:ext cx="8305800" cy="5619487"/>
          </a:xfrm>
          <a:prstGeom prst="rect">
            <a:avLst/>
          </a:prstGeom>
        </p:spPr>
        <p:txBody>
          <a:bodyPr wrap="square">
            <a:spAutoFit/>
          </a:bodyPr>
          <a:lstStyle/>
          <a:p>
            <a:pPr marL="862965" lvl="1" indent="-343535">
              <a:lnSpc>
                <a:spcPct val="100000"/>
              </a:lnSpc>
              <a:spcBef>
                <a:spcPts val="300"/>
              </a:spcBef>
              <a:buChar char="-"/>
              <a:tabLst>
                <a:tab pos="863600" algn="l"/>
              </a:tabLst>
            </a:pPr>
            <a:r>
              <a:rPr lang="en-US" sz="4000" b="1" spc="-5" dirty="0" smtClean="0">
                <a:solidFill>
                  <a:srgbClr val="FFFFFF"/>
                </a:solidFill>
                <a:latin typeface="Tahoma"/>
                <a:cs typeface="Tahoma"/>
              </a:rPr>
              <a:t>IMPORTANCE</a:t>
            </a:r>
            <a:endParaRPr lang="en-US" sz="4000" b="1" dirty="0">
              <a:latin typeface="Tahoma"/>
              <a:cs typeface="Tahoma"/>
            </a:endParaRPr>
          </a:p>
          <a:p>
            <a:pPr marL="977265" indent="-457200">
              <a:lnSpc>
                <a:spcPts val="4550"/>
              </a:lnSpc>
              <a:spcBef>
                <a:spcPts val="300"/>
              </a:spcBef>
              <a:buFont typeface="Wingdings" panose="05000000000000000000" pitchFamily="2" charset="2"/>
              <a:buChar char="Ø"/>
              <a:tabLst>
                <a:tab pos="7649845" algn="l"/>
              </a:tabLst>
            </a:pPr>
            <a:r>
              <a:rPr lang="en-US" sz="3200" spc="-5" dirty="0" smtClean="0">
                <a:solidFill>
                  <a:srgbClr val="FFFFFF"/>
                </a:solidFill>
                <a:latin typeface="Tahoma"/>
                <a:cs typeface="Tahoma"/>
              </a:rPr>
              <a:t>It enables the lessor to maximize profits and returns on investment</a:t>
            </a:r>
          </a:p>
          <a:p>
            <a:pPr marL="977265" indent="-457200">
              <a:lnSpc>
                <a:spcPts val="4550"/>
              </a:lnSpc>
              <a:spcBef>
                <a:spcPts val="300"/>
              </a:spcBef>
              <a:buFont typeface="Wingdings" panose="05000000000000000000" pitchFamily="2" charset="2"/>
              <a:buChar char="Ø"/>
              <a:tabLst>
                <a:tab pos="7649845" algn="l"/>
              </a:tabLst>
            </a:pPr>
            <a:r>
              <a:rPr lang="en-US" sz="3200" spc="-5" dirty="0" smtClean="0">
                <a:solidFill>
                  <a:srgbClr val="FFFFFF"/>
                </a:solidFill>
                <a:latin typeface="Tahoma"/>
                <a:cs typeface="Tahoma"/>
              </a:rPr>
              <a:t>It prevents arbitrary increment of rent on the part of the lessor</a:t>
            </a:r>
          </a:p>
          <a:p>
            <a:pPr marL="977265" indent="-457200">
              <a:lnSpc>
                <a:spcPts val="4550"/>
              </a:lnSpc>
              <a:spcBef>
                <a:spcPts val="300"/>
              </a:spcBef>
              <a:buFont typeface="Wingdings" panose="05000000000000000000" pitchFamily="2" charset="2"/>
              <a:buChar char="Ø"/>
              <a:tabLst>
                <a:tab pos="7649845" algn="l"/>
              </a:tabLst>
            </a:pPr>
            <a:r>
              <a:rPr lang="en-US" sz="3200" spc="-5" dirty="0" smtClean="0">
                <a:solidFill>
                  <a:srgbClr val="FFFFFF"/>
                </a:solidFill>
                <a:latin typeface="Tahoma"/>
                <a:cs typeface="Tahoma"/>
              </a:rPr>
              <a:t>Guides against conflict</a:t>
            </a:r>
          </a:p>
          <a:p>
            <a:pPr marL="977265" indent="-457200">
              <a:lnSpc>
                <a:spcPts val="4550"/>
              </a:lnSpc>
              <a:spcBef>
                <a:spcPts val="300"/>
              </a:spcBef>
              <a:buFont typeface="Wingdings" panose="05000000000000000000" pitchFamily="2" charset="2"/>
              <a:buChar char="Ø"/>
              <a:tabLst>
                <a:tab pos="7649845" algn="l"/>
              </a:tabLst>
            </a:pPr>
            <a:r>
              <a:rPr lang="en-US" sz="3200" spc="-5" dirty="0" smtClean="0">
                <a:solidFill>
                  <a:srgbClr val="FFFFFF"/>
                </a:solidFill>
                <a:latin typeface="Tahoma"/>
                <a:cs typeface="Tahoma"/>
              </a:rPr>
              <a:t>Provides for amicable settlement </a:t>
            </a:r>
          </a:p>
          <a:p>
            <a:pPr marL="520065">
              <a:lnSpc>
                <a:spcPts val="4550"/>
              </a:lnSpc>
              <a:spcBef>
                <a:spcPts val="300"/>
              </a:spcBef>
              <a:tabLst>
                <a:tab pos="7649845" algn="l"/>
              </a:tabLst>
            </a:pPr>
            <a:r>
              <a:rPr lang="en-US" sz="3200" spc="-5" dirty="0" err="1" smtClean="0">
                <a:solidFill>
                  <a:srgbClr val="FFFFFF"/>
                </a:solidFill>
                <a:latin typeface="Tahoma"/>
                <a:cs typeface="Tahoma"/>
              </a:rPr>
              <a:t>Olaniya</a:t>
            </a:r>
            <a:r>
              <a:rPr lang="en-US" sz="3200" dirty="0" err="1" smtClean="0">
                <a:solidFill>
                  <a:srgbClr val="FFFFFF"/>
                </a:solidFill>
                <a:latin typeface="Tahoma"/>
                <a:cs typeface="Tahoma"/>
              </a:rPr>
              <a:t>n</a:t>
            </a:r>
            <a:r>
              <a:rPr lang="en-US" sz="3200" spc="-10" dirty="0" smtClean="0">
                <a:solidFill>
                  <a:srgbClr val="FFFFFF"/>
                </a:solidFill>
                <a:latin typeface="Tahoma"/>
                <a:cs typeface="Tahoma"/>
              </a:rPr>
              <a:t> </a:t>
            </a:r>
            <a:r>
              <a:rPr lang="en-US" sz="3200" dirty="0">
                <a:solidFill>
                  <a:srgbClr val="FFFFFF"/>
                </a:solidFill>
                <a:latin typeface="Tahoma"/>
                <a:cs typeface="Tahoma"/>
              </a:rPr>
              <a:t>v</a:t>
            </a:r>
            <a:r>
              <a:rPr lang="en-US" sz="3200" spc="-5" dirty="0">
                <a:solidFill>
                  <a:srgbClr val="FFFFFF"/>
                </a:solidFill>
                <a:latin typeface="Tahoma"/>
                <a:cs typeface="Tahoma"/>
              </a:rPr>
              <a:t> </a:t>
            </a:r>
            <a:r>
              <a:rPr lang="en-US" sz="3200" spc="-5" dirty="0" err="1">
                <a:solidFill>
                  <a:srgbClr val="FFFFFF"/>
                </a:solidFill>
                <a:latin typeface="Tahoma"/>
                <a:cs typeface="Tahoma"/>
              </a:rPr>
              <a:t>Shokunb</a:t>
            </a:r>
            <a:r>
              <a:rPr lang="en-US" sz="3200" dirty="0" err="1">
                <a:solidFill>
                  <a:srgbClr val="FFFFFF"/>
                </a:solidFill>
                <a:latin typeface="Tahoma"/>
                <a:cs typeface="Tahoma"/>
              </a:rPr>
              <a:t>i</a:t>
            </a:r>
            <a:r>
              <a:rPr lang="en-US" sz="3200" spc="-5" dirty="0">
                <a:solidFill>
                  <a:srgbClr val="FFFFFF"/>
                </a:solidFill>
                <a:latin typeface="Tahoma"/>
                <a:cs typeface="Tahoma"/>
              </a:rPr>
              <a:t> </a:t>
            </a:r>
            <a:r>
              <a:rPr lang="en-US" sz="3200" spc="-10" dirty="0">
                <a:solidFill>
                  <a:srgbClr val="FFFFFF"/>
                </a:solidFill>
                <a:latin typeface="Tahoma"/>
                <a:cs typeface="Tahoma"/>
              </a:rPr>
              <a:t>(1997</a:t>
            </a:r>
            <a:r>
              <a:rPr lang="en-US" sz="3200" dirty="0">
                <a:solidFill>
                  <a:srgbClr val="FFFFFF"/>
                </a:solidFill>
                <a:latin typeface="Tahoma"/>
                <a:cs typeface="Tahoma"/>
              </a:rPr>
              <a:t>)</a:t>
            </a:r>
            <a:r>
              <a:rPr lang="en-US" sz="3200" spc="-10" dirty="0">
                <a:solidFill>
                  <a:srgbClr val="FFFFFF"/>
                </a:solidFill>
                <a:latin typeface="Tahoma"/>
                <a:cs typeface="Tahoma"/>
              </a:rPr>
              <a:t> </a:t>
            </a:r>
            <a:r>
              <a:rPr lang="en-US" sz="3200" dirty="0">
                <a:solidFill>
                  <a:srgbClr val="FFFFFF"/>
                </a:solidFill>
                <a:latin typeface="Tahoma"/>
                <a:cs typeface="Tahoma"/>
              </a:rPr>
              <a:t>6 </a:t>
            </a:r>
            <a:r>
              <a:rPr lang="en-US" sz="3200" spc="-5" dirty="0">
                <a:solidFill>
                  <a:srgbClr val="FFFFFF"/>
                </a:solidFill>
                <a:latin typeface="Tahoma"/>
                <a:cs typeface="Tahoma"/>
              </a:rPr>
              <a:t>NWLR</a:t>
            </a:r>
            <a:endParaRPr lang="en-US" sz="3200" dirty="0">
              <a:latin typeface="Tahoma"/>
              <a:cs typeface="Tahoma"/>
            </a:endParaRPr>
          </a:p>
          <a:p>
            <a:pPr marL="520065">
              <a:lnSpc>
                <a:spcPts val="4550"/>
              </a:lnSpc>
            </a:pPr>
            <a:r>
              <a:rPr lang="en-US" sz="3200" spc="-10" dirty="0">
                <a:solidFill>
                  <a:srgbClr val="FFFFFF"/>
                </a:solidFill>
                <a:latin typeface="Tahoma"/>
                <a:cs typeface="Tahoma"/>
              </a:rPr>
              <a:t>(Pt.</a:t>
            </a:r>
            <a:r>
              <a:rPr lang="en-US" sz="3200" spc="-40" dirty="0">
                <a:solidFill>
                  <a:srgbClr val="FFFFFF"/>
                </a:solidFill>
                <a:latin typeface="Tahoma"/>
                <a:cs typeface="Tahoma"/>
              </a:rPr>
              <a:t> </a:t>
            </a:r>
            <a:r>
              <a:rPr lang="en-US" sz="3200" spc="-10" dirty="0">
                <a:solidFill>
                  <a:srgbClr val="FFFFFF"/>
                </a:solidFill>
                <a:latin typeface="Tahoma"/>
                <a:cs typeface="Tahoma"/>
              </a:rPr>
              <a:t>509)</a:t>
            </a:r>
            <a:r>
              <a:rPr lang="en-US" sz="3200" spc="-35" dirty="0">
                <a:solidFill>
                  <a:srgbClr val="FFFFFF"/>
                </a:solidFill>
                <a:latin typeface="Tahoma"/>
                <a:cs typeface="Tahoma"/>
              </a:rPr>
              <a:t> </a:t>
            </a:r>
            <a:r>
              <a:rPr lang="en-US" sz="3200" spc="-5" dirty="0">
                <a:solidFill>
                  <a:srgbClr val="FFFFFF"/>
                </a:solidFill>
                <a:latin typeface="Tahoma"/>
                <a:cs typeface="Tahoma"/>
              </a:rPr>
              <a:t>447</a:t>
            </a:r>
            <a:endParaRPr lang="en-US" sz="3200" dirty="0">
              <a:latin typeface="Tahoma"/>
              <a:cs typeface="Tahoma"/>
            </a:endParaRPr>
          </a:p>
        </p:txBody>
      </p:sp>
    </p:spTree>
    <p:extLst>
      <p:ext uri="{BB962C8B-B14F-4D97-AF65-F5344CB8AC3E}">
        <p14:creationId xmlns:p14="http://schemas.microsoft.com/office/powerpoint/2010/main" val="39001486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04800" y="228600"/>
            <a:ext cx="8534400" cy="6186309"/>
          </a:xfrm>
          <a:prstGeom prst="rect">
            <a:avLst/>
          </a:prstGeom>
        </p:spPr>
        <p:txBody>
          <a:bodyPr wrap="square">
            <a:spAutoFit/>
          </a:bodyPr>
          <a:lstStyle/>
          <a:p>
            <a:pPr algn="just"/>
            <a:r>
              <a:rPr lang="en-US" sz="3600" dirty="0">
                <a:solidFill>
                  <a:schemeClr val="bg1"/>
                </a:solidFill>
              </a:rPr>
              <a:t>The rent reserved in this lease shall be reviewed by the parties every two years during the term granted under the lease or as the parties may agree, provided if the parties fail to reach an agreement on the new rent the rent shall determine by an Estate </a:t>
            </a:r>
            <a:r>
              <a:rPr lang="en-US" sz="3600" dirty="0" err="1">
                <a:solidFill>
                  <a:schemeClr val="bg1"/>
                </a:solidFill>
              </a:rPr>
              <a:t>Valuer</a:t>
            </a:r>
            <a:r>
              <a:rPr lang="en-US" sz="3600" dirty="0">
                <a:solidFill>
                  <a:schemeClr val="bg1"/>
                </a:solidFill>
              </a:rPr>
              <a:t> appointed by both parties putting into consideration the prevailing rate and the incidence of inflation. Any dispute arising in the course of the review shall be referred to the Multi Door court house.</a:t>
            </a:r>
          </a:p>
        </p:txBody>
      </p:sp>
    </p:spTree>
    <p:extLst>
      <p:ext uri="{BB962C8B-B14F-4D97-AF65-F5344CB8AC3E}">
        <p14:creationId xmlns:p14="http://schemas.microsoft.com/office/powerpoint/2010/main" val="1667930251"/>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Ethical Issues</a:t>
            </a:r>
            <a:endParaRPr lang="en-US" dirty="0"/>
          </a:p>
        </p:txBody>
      </p:sp>
      <p:sp>
        <p:nvSpPr>
          <p:cNvPr id="3" name="Text Placeholder 2"/>
          <p:cNvSpPr>
            <a:spLocks noGrp="1"/>
          </p:cNvSpPr>
          <p:nvPr>
            <p:ph type="body" idx="1"/>
          </p:nvPr>
        </p:nvSpPr>
        <p:spPr>
          <a:xfrm>
            <a:off x="457200" y="1577340"/>
            <a:ext cx="8229600" cy="4308872"/>
          </a:xfrm>
        </p:spPr>
        <p:txBody>
          <a:bodyPr/>
          <a:lstStyle/>
          <a:p>
            <a:pPr>
              <a:buFont typeface="Wingdings" pitchFamily="2" charset="2"/>
              <a:buChar char="Ø"/>
            </a:pPr>
            <a:r>
              <a:rPr lang="en-US" sz="4000" dirty="0" smtClean="0">
                <a:solidFill>
                  <a:schemeClr val="bg2"/>
                </a:solidFill>
              </a:rPr>
              <a:t>Dedication and devotion – Rule 14 (1) RPC</a:t>
            </a:r>
          </a:p>
          <a:p>
            <a:pPr>
              <a:buFont typeface="Wingdings" pitchFamily="2" charset="2"/>
              <a:buChar char="Ø"/>
            </a:pPr>
            <a:r>
              <a:rPr lang="en-US" sz="4000" dirty="0" smtClean="0">
                <a:solidFill>
                  <a:schemeClr val="bg2"/>
                </a:solidFill>
              </a:rPr>
              <a:t>Bounds of law – Rule 15 RPC</a:t>
            </a:r>
          </a:p>
          <a:p>
            <a:pPr>
              <a:buFont typeface="Wingdings" pitchFamily="2" charset="2"/>
              <a:buChar char="Ø"/>
            </a:pPr>
            <a:r>
              <a:rPr lang="en-US" sz="4000" dirty="0" smtClean="0">
                <a:solidFill>
                  <a:schemeClr val="bg2"/>
                </a:solidFill>
              </a:rPr>
              <a:t>Competency – Rule 16 RPC</a:t>
            </a:r>
          </a:p>
          <a:p>
            <a:pPr>
              <a:buFont typeface="Wingdings" pitchFamily="2" charset="2"/>
              <a:buChar char="Ø"/>
            </a:pPr>
            <a:r>
              <a:rPr lang="en-US" sz="4000" dirty="0" smtClean="0">
                <a:solidFill>
                  <a:schemeClr val="bg2"/>
                </a:solidFill>
              </a:rPr>
              <a:t>Avoid conflict of interest – Rule 17 RPC</a:t>
            </a:r>
          </a:p>
          <a:p>
            <a:pPr>
              <a:buFont typeface="Wingdings" pitchFamily="2" charset="2"/>
              <a:buChar char="Ø"/>
            </a:pPr>
            <a:r>
              <a:rPr lang="en-US" sz="4000" dirty="0" smtClean="0">
                <a:solidFill>
                  <a:schemeClr val="bg2"/>
                </a:solidFill>
              </a:rPr>
              <a:t>Confidentiality – Rule 19 RPC </a:t>
            </a:r>
            <a:r>
              <a:rPr lang="en-US" dirty="0" smtClean="0">
                <a:solidFill>
                  <a:schemeClr val="bg2"/>
                </a:solidFill>
              </a:rPr>
              <a:t>  </a:t>
            </a:r>
            <a:endParaRPr lang="en-US" dirty="0">
              <a:solidFill>
                <a:schemeClr val="bg2"/>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952</TotalTime>
  <Words>1433</Words>
  <Application>Microsoft Office PowerPoint</Application>
  <PresentationFormat>On-screen Show (4:3)</PresentationFormat>
  <Paragraphs>195</Paragraphs>
  <Slides>27</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27</vt:i4>
      </vt:variant>
    </vt:vector>
  </HeadingPairs>
  <TitlesOfParts>
    <vt:vector size="35" baseType="lpstr">
      <vt:lpstr>MS UI Gothic</vt:lpstr>
      <vt:lpstr>Arial</vt:lpstr>
      <vt:lpstr>Arial MT</vt:lpstr>
      <vt:lpstr>Calibri</vt:lpstr>
      <vt:lpstr>Microsoft Sans Serif</vt:lpstr>
      <vt:lpstr>Tahoma</vt:lpstr>
      <vt:lpstr>Wingdings</vt:lpstr>
      <vt:lpstr>Office Theme</vt:lpstr>
      <vt:lpstr>PowerPoint Presentation</vt:lpstr>
      <vt:lpstr>Learning Outcomes</vt:lpstr>
      <vt:lpstr>PowerPoint Presentation</vt:lpstr>
      <vt:lpstr>PowerPoint Presentation</vt:lpstr>
      <vt:lpstr>DEFINITION</vt:lpstr>
      <vt:lpstr>PowerPoint Presentation</vt:lpstr>
      <vt:lpstr>PowerPoint Presentation</vt:lpstr>
      <vt:lpstr>Creation of leases</vt:lpstr>
      <vt:lpstr>PowerPoint Presentation</vt:lpstr>
      <vt:lpstr>PowerPoint Presentation</vt:lpstr>
      <vt:lpstr>PowerPoint Presentation</vt:lpstr>
      <vt:lpstr>PowerPoint Presentation</vt:lpstr>
      <vt:lpstr>PowerPoint Presentation</vt:lpstr>
      <vt:lpstr>ESSENTIALS OF A VALID  LEASE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Ethical Issues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cp:lastModifiedBy>user</cp:lastModifiedBy>
  <cp:revision>61</cp:revision>
  <dcterms:created xsi:type="dcterms:W3CDTF">2022-10-18T17:23:56Z</dcterms:created>
  <dcterms:modified xsi:type="dcterms:W3CDTF">2025-05-20T07:11:37Z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or">
    <vt:lpwstr>Google</vt:lpwstr>
  </property>
</Properties>
</file>