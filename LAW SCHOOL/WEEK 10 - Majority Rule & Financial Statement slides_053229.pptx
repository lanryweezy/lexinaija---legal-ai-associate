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71" r:id="rId6"/>
    <p:sldId id="315" r:id="rId7"/>
    <p:sldId id="372" r:id="rId8"/>
    <p:sldId id="37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06BE31-BF01-45E2-9C95-776EE3AD3878}">
          <p14:sldIdLst>
            <p14:sldId id="256"/>
            <p14:sldId id="257"/>
            <p14:sldId id="371"/>
            <p14:sldId id="315"/>
            <p14:sldId id="372"/>
            <p14:sldId id="373"/>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37FB6E-B194-4BFA-9DF0-3B3A2DFDC6CA}"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A3BE5-B6A3-4F9E-BDA0-C551662DAA2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00A3BE5-B6A3-4F9E-BDA0-C551662DAA2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00A3BE5-B6A3-4F9E-BDA0-C551662DAA20}"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00A3BE5-B6A3-4F9E-BDA0-C551662DAA20}"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00A3BE5-B6A3-4F9E-BDA0-C551662DAA2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9F9A6BE-8029-4007-9A19-DE67CAF9E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9F9A6BE-8029-4007-9A19-DE67CAF9E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9F9A6BE-8029-4007-9A19-DE67CAF9E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B9F9A6BE-8029-4007-9A19-DE67CAF9E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B9F9A6BE-8029-4007-9A19-DE67CAF9E39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9F9A6BE-8029-4007-9A19-DE67CAF9E39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F9A6BE-8029-4007-9A19-DE67CAF9E39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9F9A6BE-8029-4007-9A19-DE67CAF9E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9F9A6BE-8029-4007-9A19-DE67CAF9E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9F9A6BE-8029-4007-9A19-DE67CAF9E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9F9A6BE-8029-4007-9A19-DE67CAF9E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3BD8B-DD8B-4292-B8EE-63D19A94FA4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F9A6BE-8029-4007-9A19-DE67CAF9E39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F3BD8B-DD8B-4292-B8EE-63D19A94FA4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MAJORITY RULE, MINORITY PROTECTION AND INVESTIGATION OF COMPANIES</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304800"/>
            <a:ext cx="1905000" cy="381000"/>
          </a:xfrm>
        </p:spPr>
        <p:txBody>
          <a:bodyPr>
            <a:normAutofit fontScale="90000"/>
          </a:bodyPr>
          <a:lstStyle/>
          <a:p>
            <a:r>
              <a:rPr lang="en-US" sz="1200" b="1" dirty="0" smtClean="0"/>
              <a:t>PROTECTION OF MINORITIES</a:t>
            </a:r>
            <a:endParaRPr lang="en-US" sz="1200" dirty="0"/>
          </a:p>
        </p:txBody>
      </p:sp>
      <p:sp>
        <p:nvSpPr>
          <p:cNvPr id="3" name="Content Placeholder 2"/>
          <p:cNvSpPr>
            <a:spLocks noGrp="1"/>
          </p:cNvSpPr>
          <p:nvPr>
            <p:ph idx="1"/>
          </p:nvPr>
        </p:nvSpPr>
        <p:spPr>
          <a:xfrm>
            <a:off x="152400" y="533401"/>
            <a:ext cx="8763000" cy="6172200"/>
          </a:xfrm>
        </p:spPr>
        <p:txBody>
          <a:bodyPr>
            <a:noAutofit/>
          </a:bodyPr>
          <a:lstStyle/>
          <a:p>
            <a:pPr algn="just">
              <a:buNone/>
            </a:pPr>
            <a:r>
              <a:rPr lang="en-US" sz="1200" dirty="0" smtClean="0">
                <a:latin typeface="Times New Roman" panose="02020603050405020304" pitchFamily="18" charset="0"/>
                <a:cs typeface="Times New Roman" panose="02020603050405020304" pitchFamily="18" charset="0"/>
              </a:rPr>
              <a:t>	By the provisions of the articles of association of a company, every member of a company is contractually bound to the company and to his fellow members. By implication, a member agrees to be bound by the decisions of the majority as </a:t>
            </a:r>
            <a:r>
              <a:rPr lang="en-US" sz="1200" dirty="0">
                <a:latin typeface="Times New Roman" panose="02020603050405020304" pitchFamily="18" charset="0"/>
                <a:cs typeface="Times New Roman" panose="02020603050405020304" pitchFamily="18" charset="0"/>
              </a:rPr>
              <a:t>expressed at the general meeting. He may express his wishes by voting for or against resolutions proposed at the general meeting. If a resolution he opposes is passed by the appropriate majority, he is nevertheless bound by </a:t>
            </a:r>
            <a:r>
              <a:rPr lang="en-US" sz="1200" dirty="0" smtClean="0">
                <a:latin typeface="Times New Roman" panose="02020603050405020304" pitchFamily="18" charset="0"/>
                <a:cs typeface="Times New Roman" panose="02020603050405020304" pitchFamily="18" charset="0"/>
              </a:rPr>
              <a:t>the </a:t>
            </a:r>
            <a:r>
              <a:rPr lang="en-US" sz="1200" dirty="0">
                <a:latin typeface="Times New Roman" panose="02020603050405020304" pitchFamily="18" charset="0"/>
                <a:cs typeface="Times New Roman" panose="02020603050405020304" pitchFamily="18" charset="0"/>
              </a:rPr>
              <a:t>	principle of majority rule. This </a:t>
            </a:r>
            <a:r>
              <a:rPr lang="en-US" sz="1200" dirty="0" smtClean="0">
                <a:latin typeface="Times New Roman" panose="02020603050405020304" pitchFamily="18" charset="0"/>
                <a:cs typeface="Times New Roman" panose="02020603050405020304" pitchFamily="18" charset="0"/>
              </a:rPr>
              <a:t>is expressed </a:t>
            </a:r>
            <a:r>
              <a:rPr lang="en-US" sz="1200" dirty="0">
                <a:latin typeface="Times New Roman" panose="02020603050405020304" pitchFamily="18" charset="0"/>
                <a:cs typeface="Times New Roman" panose="02020603050405020304" pitchFamily="18" charset="0"/>
              </a:rPr>
              <a:t>by the popular maxim that, minority will have their say while the majority will have their way. This principle of majority rule was established in the case of Foss V </a:t>
            </a:r>
            <a:r>
              <a:rPr lang="en-US" sz="1200" dirty="0" err="1">
                <a:latin typeface="Times New Roman" panose="02020603050405020304" pitchFamily="18" charset="0"/>
                <a:cs typeface="Times New Roman" panose="02020603050405020304" pitchFamily="18" charset="0"/>
              </a:rPr>
              <a:t>Harbottle</a:t>
            </a:r>
            <a:r>
              <a:rPr lang="en-US" sz="1200" dirty="0">
                <a:latin typeface="Times New Roman" panose="02020603050405020304" pitchFamily="18" charset="0"/>
                <a:cs typeface="Times New Roman" panose="02020603050405020304" pitchFamily="18" charset="0"/>
              </a:rPr>
              <a:t> (1843) 2 Hare 461 or 67 E.R 189. </a:t>
            </a:r>
            <a:endParaRPr lang="en-US" sz="1200" dirty="0" smtClean="0">
              <a:latin typeface="Times New Roman" panose="02020603050405020304" pitchFamily="18" charset="0"/>
              <a:cs typeface="Times New Roman" panose="02020603050405020304" pitchFamily="18" charset="0"/>
            </a:endParaRPr>
          </a:p>
          <a:p>
            <a:pPr algn="just">
              <a:buNone/>
            </a:pPr>
            <a:endParaRPr lang="en-US" sz="1200" dirty="0" smtClean="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 advantages of the rule are:-</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rPr>
              <a:t>	It prevents multiplicity of suits.</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rPr>
              <a:t>	An act the majority share holders can ratify in general meeting should not be allowed to be a subject of litigation</a:t>
            </a:r>
            <a:r>
              <a:rPr lang="en-US" sz="1200" dirty="0" smtClean="0">
                <a:latin typeface="Times New Roman" panose="02020603050405020304" pitchFamily="18" charset="0"/>
                <a:cs typeface="Times New Roman" panose="02020603050405020304" pitchFamily="18" charset="0"/>
              </a:rPr>
              <a:t>.</a:t>
            </a:r>
            <a:endParaRPr lang="en-US" sz="1200" dirty="0" smtClean="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smtClean="0">
                <a:latin typeface="Times New Roman" panose="02020603050405020304" pitchFamily="18" charset="0"/>
                <a:cs typeface="Times New Roman" panose="02020603050405020304" pitchFamily="18" charset="0"/>
                <a:sym typeface="+mn-ea"/>
              </a:rPr>
              <a:t>	</a:t>
            </a:r>
            <a:r>
              <a:rPr lang="en-US" sz="1200" dirty="0">
                <a:latin typeface="Times New Roman" panose="02020603050405020304" pitchFamily="18" charset="0"/>
                <a:cs typeface="Times New Roman" panose="02020603050405020304" pitchFamily="18" charset="0"/>
                <a:sym typeface="+mn-ea"/>
              </a:rPr>
              <a:t>   Examples of individual or personal rights are:</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The right to vote</a:t>
            </a:r>
            <a:r>
              <a:rPr lang="en-US" sz="1200" dirty="0" smtClean="0">
                <a:latin typeface="Times New Roman" panose="02020603050405020304" pitchFamily="18" charset="0"/>
                <a:cs typeface="Times New Roman" panose="02020603050405020304" pitchFamily="18" charset="0"/>
                <a:sym typeface="+mn-ea"/>
              </a:rPr>
              <a:t>;</a:t>
            </a:r>
            <a:endParaRPr lang="en-US" sz="1200" dirty="0" smtClean="0">
              <a:latin typeface="Times New Roman" panose="02020603050405020304" pitchFamily="18" charset="0"/>
              <a:cs typeface="Times New Roman" panose="02020603050405020304" pitchFamily="18" charset="0"/>
            </a:endParaRPr>
          </a:p>
          <a:p>
            <a:pPr algn="just">
              <a:buNone/>
            </a:pPr>
            <a:r>
              <a:rPr lang="en-US" sz="1200" b="1" dirty="0">
                <a:sym typeface="+mn-ea"/>
              </a:rPr>
              <a:t>	</a:t>
            </a:r>
            <a:r>
              <a:rPr lang="en-US" sz="1200" dirty="0">
                <a:sym typeface="+mn-ea"/>
              </a:rPr>
              <a:t>Right to have proper notice of company’s meeting;</a:t>
            </a:r>
            <a:endParaRPr lang="en-US" sz="1200" dirty="0"/>
          </a:p>
          <a:p>
            <a:pPr algn="just">
              <a:buNone/>
            </a:pPr>
            <a:r>
              <a:rPr lang="en-US" sz="1200" dirty="0">
                <a:sym typeface="+mn-ea"/>
              </a:rPr>
              <a:t>	Right to have a meeting held with a prescribed quorum to take valid decisions;</a:t>
            </a:r>
            <a:endParaRPr lang="en-US" sz="1200" dirty="0"/>
          </a:p>
          <a:p>
            <a:pPr algn="just">
              <a:buNone/>
            </a:pPr>
            <a:r>
              <a:rPr lang="en-US" sz="1200" dirty="0">
                <a:sym typeface="+mn-ea"/>
              </a:rPr>
              <a:t>	Right to refuse to consent to an increase in shareholding etc</a:t>
            </a:r>
            <a:r>
              <a:rPr lang="en-US" sz="1200" dirty="0" smtClean="0">
                <a:sym typeface="+mn-ea"/>
              </a:rPr>
              <a:t>.</a:t>
            </a:r>
            <a:endParaRPr lang="en-US" sz="1200" dirty="0" smtClean="0"/>
          </a:p>
          <a:p>
            <a:pPr algn="just">
              <a:buNone/>
            </a:pPr>
            <a:r>
              <a:rPr lang="en-US" sz="1200" dirty="0">
                <a:latin typeface="Times New Roman" panose="02020603050405020304" pitchFamily="18" charset="0"/>
                <a:cs typeface="Times New Roman" panose="02020603050405020304" pitchFamily="18" charset="0"/>
                <a:sym typeface="+mn-ea"/>
              </a:rPr>
              <a:t>	Corporate rights are rights that can be exercised not by a single individual but a number of individual members acting in concert or co-operation for example, by a resolution. Where a wrong is done to the </a:t>
            </a:r>
            <a:r>
              <a:rPr lang="en-US" sz="1200" dirty="0" smtClean="0">
                <a:latin typeface="Times New Roman" panose="02020603050405020304" pitchFamily="18" charset="0"/>
                <a:cs typeface="Times New Roman" panose="02020603050405020304" pitchFamily="18" charset="0"/>
                <a:sym typeface="+mn-ea"/>
              </a:rPr>
              <a:t>corporate right </a:t>
            </a:r>
            <a:r>
              <a:rPr lang="en-US" sz="1200" dirty="0">
                <a:latin typeface="Times New Roman" panose="02020603050405020304" pitchFamily="18" charset="0"/>
                <a:cs typeface="Times New Roman" panose="02020603050405020304" pitchFamily="18" charset="0"/>
                <a:sym typeface="+mn-ea"/>
              </a:rPr>
              <a:t>of a member, the wrong strictly speaking is done to the company and it is for the company that is; the majority of members to decide whether it should be treated as a wrong, which should be redressed. The majority of members can validly decide not to redress such wrong. This is the rule in Foss V </a:t>
            </a:r>
            <a:r>
              <a:rPr lang="en-US" sz="1200" dirty="0" err="1">
                <a:latin typeface="Times New Roman" panose="02020603050405020304" pitchFamily="18" charset="0"/>
                <a:cs typeface="Times New Roman" panose="02020603050405020304" pitchFamily="18" charset="0"/>
                <a:sym typeface="+mn-ea"/>
              </a:rPr>
              <a:t>Harbottle</a:t>
            </a:r>
            <a:r>
              <a:rPr lang="en-US" sz="1200" dirty="0" smtClean="0">
                <a:latin typeface="Times New Roman" panose="02020603050405020304" pitchFamily="18" charset="0"/>
                <a:cs typeface="Times New Roman" panose="02020603050405020304" pitchFamily="18" charset="0"/>
                <a:sym typeface="+mn-ea"/>
              </a:rPr>
              <a:t>.</a:t>
            </a:r>
            <a:endParaRPr lang="en-US" sz="1200" dirty="0" smtClean="0">
              <a:latin typeface="Times New Roman" panose="02020603050405020304" pitchFamily="18" charset="0"/>
              <a:cs typeface="Times New Roman" panose="02020603050405020304" pitchFamily="18" charset="0"/>
            </a:endParaRPr>
          </a:p>
          <a:p>
            <a:pPr algn="just">
              <a:buNone/>
            </a:pPr>
            <a:endParaRPr lang="en-US" sz="1200" dirty="0" smtClean="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a:t>
            </a:r>
            <a:endParaRPr lang="en-US" sz="1200" dirty="0">
              <a:latin typeface="Times New Roman" panose="02020603050405020304" pitchFamily="18" charset="0"/>
              <a:cs typeface="Times New Roman" panose="02020603050405020304" pitchFamily="18" charset="0"/>
            </a:endParaRPr>
          </a:p>
          <a:p>
            <a:pPr algn="just">
              <a:lnSpc>
                <a:spcPct val="90000"/>
              </a:lnSpc>
            </a:pPr>
            <a:endParaRPr lang="en-US" sz="1200" dirty="0">
              <a:latin typeface="Times New Roman" panose="02020603050405020304" pitchFamily="18" charset="0"/>
              <a:cs typeface="Times New Roman" panose="02020603050405020304" pitchFamily="18" charset="0"/>
            </a:endParaRPr>
          </a:p>
          <a:p>
            <a:pPr algn="just">
              <a:lnSpc>
                <a:spcPct val="90000"/>
              </a:lnSpc>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smtClean="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buNone/>
            </a:pPr>
            <a:endParaRPr lang="en-US" sz="1200" dirty="0"/>
          </a:p>
          <a:p>
            <a:pPr algn="just">
              <a:buNone/>
            </a:pPr>
            <a:r>
              <a:rPr lang="en-US" sz="1200" dirty="0">
                <a:latin typeface="Times New Roman" panose="02020603050405020304" pitchFamily="18" charset="0"/>
                <a:cs typeface="Times New Roman" panose="02020603050405020304" pitchFamily="18" charset="0"/>
                <a:sym typeface="+mn-ea"/>
              </a:rPr>
              <a:t>	</a:t>
            </a:r>
            <a:endParaRPr lang="en-US" sz="1200" dirty="0"/>
          </a:p>
          <a:p>
            <a:pPr algn="just"/>
            <a:endParaRPr lang="en-US" sz="1200" b="1" dirty="0"/>
          </a:p>
          <a:p>
            <a:pPr algn="just">
              <a:buNone/>
            </a:pPr>
            <a:endParaRPr lang="en-US" sz="1200" dirty="0"/>
          </a:p>
          <a:p>
            <a:pPr algn="just">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p>
          <a:p>
            <a:pPr algn="just">
              <a:lnSpc>
                <a:spcPct val="90000"/>
              </a:lnSpc>
            </a:pPr>
            <a:endParaRPr lang="en-US" sz="1200" dirty="0"/>
          </a:p>
          <a:p>
            <a:pPr algn="just">
              <a:buNone/>
            </a:pPr>
            <a:endParaRPr lang="en-US" sz="1200" dirty="0"/>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Calibri" panose="020F0502020204030204" pitchFamily="34" charset="0"/>
              <a:cs typeface="Calibri" panose="020F0502020204030204" pitchFamily="34"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buNone/>
            </a:pPr>
            <a:endParaRPr lang="en-US" sz="1200" dirty="0"/>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smtClean="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74638"/>
            <a:ext cx="2667000" cy="334962"/>
          </a:xfrm>
        </p:spPr>
        <p:txBody>
          <a:bodyPr>
            <a:normAutofit/>
          </a:bodyPr>
          <a:lstStyle/>
          <a:p>
            <a:r>
              <a:rPr lang="en-US" sz="1200" dirty="0" smtClean="0"/>
              <a:t>PROTECTION OF MINORITIES</a:t>
            </a:r>
            <a:endParaRPr lang="en-US" sz="1200" dirty="0"/>
          </a:p>
        </p:txBody>
      </p:sp>
      <p:sp>
        <p:nvSpPr>
          <p:cNvPr id="3" name="Content Placeholder 2"/>
          <p:cNvSpPr>
            <a:spLocks noGrp="1"/>
          </p:cNvSpPr>
          <p:nvPr>
            <p:ph idx="1"/>
          </p:nvPr>
        </p:nvSpPr>
        <p:spPr>
          <a:xfrm>
            <a:off x="228600" y="685800"/>
            <a:ext cx="8763000" cy="6019800"/>
          </a:xfrm>
        </p:spPr>
        <p:txBody>
          <a:bodyPr>
            <a:normAutofit/>
          </a:bodyPr>
          <a:lstStyle/>
          <a:p>
            <a:pPr algn="just">
              <a:buNone/>
            </a:pPr>
            <a:r>
              <a:rPr lang="en-US" sz="1200" dirty="0">
                <a:latin typeface="Times New Roman" panose="02020603050405020304" pitchFamily="18" charset="0"/>
                <a:cs typeface="Times New Roman" panose="02020603050405020304" pitchFamily="18" charset="0"/>
              </a:rPr>
              <a:t>MEMBERS’ DIRECT ACTION:</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rPr>
              <a:t>	A member of a company may by injunction or a declaration restrain the company from the following:</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rPr>
              <a:t>	(a) Entering into any transaction which is illegal or ultra-vires. See S. 343(a) of CAMA.</a:t>
            </a: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smtClean="0">
                <a:latin typeface="Times New Roman" panose="02020603050405020304" pitchFamily="18" charset="0"/>
                <a:cs typeface="Times New Roman" panose="02020603050405020304" pitchFamily="18" charset="0"/>
                <a:sym typeface="+mn-ea"/>
              </a:rPr>
              <a:t>DERIVATIVE ACTION</a:t>
            </a:r>
            <a:endParaRPr lang="en-US" sz="1200" dirty="0" smtClean="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A derivative action is an action brought by an applicant on behalf of the company with the directors as defendants. S. 346(1) provides that, subject to the provisions of subsection (2) of this section, an applicant may apply to the court for leave to bring an action in the </a:t>
            </a:r>
            <a:r>
              <a:rPr lang="en-US" sz="1200" dirty="0" smtClean="0">
                <a:latin typeface="Times New Roman" panose="02020603050405020304" pitchFamily="18" charset="0"/>
                <a:cs typeface="Times New Roman" panose="02020603050405020304" pitchFamily="18" charset="0"/>
                <a:sym typeface="+mn-ea"/>
              </a:rPr>
              <a:t>name</a:t>
            </a:r>
            <a:r>
              <a:rPr lang="en-US" sz="1200" dirty="0">
                <a:latin typeface="Times New Roman" panose="02020603050405020304" pitchFamily="18" charset="0"/>
                <a:cs typeface="Times New Roman" panose="02020603050405020304" pitchFamily="18" charset="0"/>
                <a:sym typeface="+mn-ea"/>
              </a:rPr>
              <a:t> or on behalf of a company or a company’s subsidiary, or to intervene in an action to which the company or a company’s subsidiary is a party, for the purpose of prosecuting, defending or discontinuing the action </a:t>
            </a:r>
            <a:r>
              <a:rPr lang="en-US" sz="1200" dirty="0" smtClean="0">
                <a:latin typeface="Times New Roman" panose="02020603050405020304" pitchFamily="18" charset="0"/>
                <a:cs typeface="Times New Roman" panose="02020603050405020304" pitchFamily="18" charset="0"/>
                <a:sym typeface="+mn-ea"/>
              </a:rPr>
              <a:t>on behalf </a:t>
            </a:r>
            <a:r>
              <a:rPr lang="en-US" sz="1200" dirty="0">
                <a:latin typeface="Times New Roman" panose="02020603050405020304" pitchFamily="18" charset="0"/>
                <a:cs typeface="Times New Roman" panose="02020603050405020304" pitchFamily="18" charset="0"/>
                <a:sym typeface="+mn-ea"/>
              </a:rPr>
              <a:t>of the company or the company’s subsidiary.</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sym typeface="+mn-ea"/>
              </a:rPr>
              <a:t>RELIEF ON GROUNDS OF UNFAIRLY PREJUDICIAL  AND OPPRESSIVE </a:t>
            </a:r>
            <a:r>
              <a:rPr lang="en-US" sz="1200" dirty="0" smtClean="0">
                <a:latin typeface="Times New Roman" panose="02020603050405020304" pitchFamily="18" charset="0"/>
                <a:cs typeface="Times New Roman" panose="02020603050405020304" pitchFamily="18" charset="0"/>
                <a:sym typeface="+mn-ea"/>
              </a:rPr>
              <a:t>CONDUCT</a:t>
            </a:r>
            <a:endParaRPr lang="en-US" sz="1200" dirty="0" smtClean="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This relief is provided under SS. 353 &amp; 354 of CAMA and it provides that, an application for relief on ground that the affairs of a company are being conducted in an illegal or oppressive manner, maybe made to the court by petition. </a:t>
            </a:r>
            <a:endParaRPr lang="en-US" sz="1200" dirty="0">
              <a:latin typeface="Times New Roman" panose="02020603050405020304" pitchFamily="18" charset="0"/>
              <a:cs typeface="Times New Roman" panose="02020603050405020304" pitchFamily="18" charset="0"/>
              <a:sym typeface="+mn-ea"/>
            </a:endParaRPr>
          </a:p>
          <a:p>
            <a:pPr algn="just">
              <a:lnSpc>
                <a:spcPct val="80000"/>
              </a:lnSpc>
              <a:buNone/>
            </a:pPr>
            <a:r>
              <a:rPr lang="en-US" sz="1200" dirty="0">
                <a:latin typeface="Times New Roman" panose="02020603050405020304" pitchFamily="18" charset="0"/>
                <a:cs typeface="Times New Roman" panose="02020603050405020304" pitchFamily="18" charset="0"/>
                <a:sym typeface="+mn-ea"/>
              </a:rPr>
              <a:t>   For the petition to succeed, there must be a continuing cause of oppressive conduct and not an isolated case of oppression.</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The following conducts have been held to be unfairly prejudicial</a:t>
            </a:r>
            <a:r>
              <a:rPr lang="en-US" sz="1200" dirty="0" smtClean="0">
                <a:latin typeface="Times New Roman" panose="02020603050405020304" pitchFamily="18" charset="0"/>
                <a:cs typeface="Times New Roman" panose="02020603050405020304" pitchFamily="18" charset="0"/>
                <a:sym typeface="+mn-ea"/>
              </a:rPr>
              <a:t>:-</a:t>
            </a:r>
            <a:r>
              <a:rPr lang="en-US" sz="1200" dirty="0">
                <a:latin typeface="Times New Roman" panose="02020603050405020304" pitchFamily="18" charset="0"/>
                <a:cs typeface="Times New Roman" panose="02020603050405020304" pitchFamily="18" charset="0"/>
                <a:sym typeface="+mn-ea"/>
              </a:rPr>
              <a:t>	(1) Exclusion and removal of a member from the board,</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(2) Improper allotment of shares,</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(3) Failure to call meeting of the company,</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(4) Making an inaccurate statement to share holders,</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(5) A managing director using assets of the company for his own personal benefit and </a:t>
            </a:r>
            <a:r>
              <a:rPr lang="en-US" sz="1200" dirty="0" smtClean="0">
                <a:latin typeface="Times New Roman" panose="02020603050405020304" pitchFamily="18" charset="0"/>
                <a:cs typeface="Times New Roman" panose="02020603050405020304" pitchFamily="18" charset="0"/>
                <a:sym typeface="+mn-ea"/>
              </a:rPr>
              <a:t>the personal benefit of his family and friends,</a:t>
            </a:r>
            <a:endParaRPr lang="en-US" sz="1200" dirty="0" smtClean="0">
              <a:latin typeface="Times New Roman" panose="02020603050405020304" pitchFamily="18" charset="0"/>
              <a:cs typeface="Times New Roman" panose="02020603050405020304" pitchFamily="18" charset="0"/>
            </a:endParaRPr>
          </a:p>
          <a:p>
            <a:pPr algn="just">
              <a:lnSpc>
                <a:spcPct val="90000"/>
              </a:lnSpc>
              <a:buNone/>
            </a:pPr>
            <a:r>
              <a:rPr lang="en-US" sz="1200" dirty="0" smtClean="0">
                <a:latin typeface="Times New Roman" panose="02020603050405020304" pitchFamily="18" charset="0"/>
                <a:cs typeface="Times New Roman" panose="02020603050405020304" pitchFamily="18" charset="0"/>
                <a:sym typeface="+mn-ea"/>
              </a:rPr>
              <a:t>	(6) Diversion of company’s business to a director controlled company,</a:t>
            </a:r>
            <a:endParaRPr lang="en-US" sz="1200" dirty="0" smtClean="0">
              <a:latin typeface="Times New Roman" panose="02020603050405020304" pitchFamily="18" charset="0"/>
              <a:cs typeface="Times New Roman" panose="02020603050405020304" pitchFamily="18" charset="0"/>
            </a:endParaRPr>
          </a:p>
          <a:p>
            <a:pPr algn="just">
              <a:lnSpc>
                <a:spcPct val="90000"/>
              </a:lnSpc>
              <a:buNone/>
            </a:pPr>
            <a:r>
              <a:rPr lang="en-US" sz="1200" dirty="0" smtClean="0">
                <a:latin typeface="Times New Roman" panose="02020603050405020304" pitchFamily="18" charset="0"/>
                <a:cs typeface="Times New Roman" panose="02020603050405020304" pitchFamily="18" charset="0"/>
                <a:sym typeface="+mn-ea"/>
              </a:rPr>
              <a:t>	(7) Making right issue which minority share holders could not take up; and</a:t>
            </a:r>
            <a:endParaRPr lang="en-US" sz="1200" dirty="0" smtClean="0">
              <a:latin typeface="Times New Roman" panose="02020603050405020304" pitchFamily="18" charset="0"/>
              <a:cs typeface="Times New Roman" panose="02020603050405020304" pitchFamily="18" charset="0"/>
            </a:endParaRPr>
          </a:p>
          <a:p>
            <a:pPr algn="just">
              <a:buNone/>
            </a:pPr>
            <a:r>
              <a:rPr lang="en-US" sz="1200" dirty="0" smtClean="0">
                <a:latin typeface="Times New Roman" panose="02020603050405020304" pitchFamily="18" charset="0"/>
                <a:cs typeface="Times New Roman" panose="02020603050405020304" pitchFamily="18" charset="0"/>
                <a:sym typeface="+mn-ea"/>
              </a:rPr>
              <a:t>	(</a:t>
            </a:r>
            <a:r>
              <a:rPr lang="en-US" sz="1200" dirty="0">
                <a:latin typeface="Times New Roman" panose="02020603050405020304" pitchFamily="18" charset="0"/>
                <a:cs typeface="Times New Roman" panose="02020603050405020304" pitchFamily="18" charset="0"/>
                <a:sym typeface="+mn-ea"/>
              </a:rPr>
              <a:t>8) Payment of excessive directors’ bonuses and pension contributions.</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Note, unfairly prejudicial conduct need not be illegal, intentional or discriminatory.</a:t>
            </a:r>
            <a:endParaRPr lang="en-US" sz="1200" dirty="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The following persons may bring such an application to the court</a:t>
            </a:r>
            <a:r>
              <a:rPr lang="en-US" sz="1200" dirty="0" smtClean="0">
                <a:latin typeface="Times New Roman" panose="02020603050405020304" pitchFamily="18" charset="0"/>
                <a:cs typeface="Times New Roman" panose="02020603050405020304" pitchFamily="18" charset="0"/>
                <a:sym typeface="+mn-ea"/>
              </a:rPr>
              <a:t>:</a:t>
            </a:r>
            <a:r>
              <a:rPr lang="en-US" sz="1200" dirty="0">
                <a:latin typeface="Times New Roman" panose="02020603050405020304" pitchFamily="18" charset="0"/>
                <a:cs typeface="Times New Roman" panose="02020603050405020304" pitchFamily="18" charset="0"/>
                <a:sym typeface="+mn-ea"/>
              </a:rPr>
              <a:t>	</a:t>
            </a:r>
            <a:endParaRPr lang="en-US" sz="1200" dirty="0" smtClean="0">
              <a:latin typeface="Times New Roman" panose="02020603050405020304" pitchFamily="18" charset="0"/>
              <a:cs typeface="Times New Roman" panose="02020603050405020304" pitchFamily="18" charset="0"/>
            </a:endParaRPr>
          </a:p>
          <a:p>
            <a:pPr algn="just">
              <a:buNone/>
            </a:pPr>
            <a:r>
              <a:rPr lang="en-US" sz="1200" dirty="0">
                <a:latin typeface="Times New Roman" panose="02020603050405020304" pitchFamily="18" charset="0"/>
                <a:cs typeface="Times New Roman" panose="02020603050405020304" pitchFamily="18" charset="0"/>
                <a:sym typeface="+mn-ea"/>
              </a:rPr>
              <a:t> </a:t>
            </a:r>
            <a:r>
              <a:rPr lang="en-US" sz="1200" dirty="0" smtClean="0">
                <a:latin typeface="Times New Roman" panose="02020603050405020304" pitchFamily="18" charset="0"/>
                <a:cs typeface="Times New Roman" panose="02020603050405020304" pitchFamily="18" charset="0"/>
                <a:sym typeface="+mn-ea"/>
              </a:rPr>
              <a:t>         (</a:t>
            </a:r>
            <a:r>
              <a:rPr lang="en-US" sz="1200" dirty="0">
                <a:latin typeface="Times New Roman" panose="02020603050405020304" pitchFamily="18" charset="0"/>
                <a:cs typeface="Times New Roman" panose="02020603050405020304" pitchFamily="18" charset="0"/>
                <a:sym typeface="+mn-ea"/>
              </a:rPr>
              <a:t>a) a member of the company;</a:t>
            </a:r>
            <a:endParaRPr lang="en-US" sz="1200" dirty="0">
              <a:latin typeface="Times New Roman" panose="02020603050405020304" pitchFamily="18" charset="0"/>
              <a:cs typeface="Times New Roman" panose="02020603050405020304" pitchFamily="18" charset="0"/>
            </a:endParaRPr>
          </a:p>
          <a:p>
            <a:pPr algn="just">
              <a:lnSpc>
                <a:spcPct val="80000"/>
              </a:lnSpc>
              <a:buNone/>
            </a:pPr>
            <a:r>
              <a:rPr lang="en-US" sz="1200" dirty="0">
                <a:latin typeface="Times New Roman" panose="02020603050405020304" pitchFamily="18" charset="0"/>
                <a:cs typeface="Times New Roman" panose="02020603050405020304" pitchFamily="18" charset="0"/>
                <a:sym typeface="+mn-ea"/>
              </a:rPr>
              <a:t>	(b) a director or officer or former director or officer of the company;</a:t>
            </a:r>
            <a:endParaRPr lang="en-US" sz="1200" dirty="0">
              <a:latin typeface="Times New Roman" panose="02020603050405020304" pitchFamily="18" charset="0"/>
              <a:cs typeface="Times New Roman" panose="02020603050405020304" pitchFamily="18" charset="0"/>
            </a:endParaRPr>
          </a:p>
          <a:p>
            <a:pPr algn="just">
              <a:lnSpc>
                <a:spcPct val="80000"/>
              </a:lnSpc>
              <a:buNone/>
            </a:pPr>
            <a:r>
              <a:rPr lang="en-US" sz="1200" dirty="0">
                <a:latin typeface="Times New Roman" panose="02020603050405020304" pitchFamily="18" charset="0"/>
                <a:cs typeface="Times New Roman" panose="02020603050405020304" pitchFamily="18" charset="0"/>
                <a:sym typeface="+mn-ea"/>
              </a:rPr>
              <a:t>	(c) a creditor;</a:t>
            </a:r>
            <a:endParaRPr lang="en-US" sz="1200" dirty="0">
              <a:latin typeface="Times New Roman" panose="02020603050405020304" pitchFamily="18" charset="0"/>
              <a:cs typeface="Times New Roman" panose="02020603050405020304" pitchFamily="18" charset="0"/>
            </a:endParaRPr>
          </a:p>
          <a:p>
            <a:pPr algn="just">
              <a:lnSpc>
                <a:spcPct val="80000"/>
              </a:lnSpc>
              <a:buNone/>
            </a:pPr>
            <a:r>
              <a:rPr lang="en-US" sz="1200" dirty="0">
                <a:latin typeface="Times New Roman" panose="02020603050405020304" pitchFamily="18" charset="0"/>
                <a:cs typeface="Times New Roman" panose="02020603050405020304" pitchFamily="18" charset="0"/>
                <a:sym typeface="+mn-ea"/>
              </a:rPr>
              <a:t>	(d) the Commission; or</a:t>
            </a:r>
            <a:endParaRPr lang="en-US" sz="1200" dirty="0">
              <a:latin typeface="Times New Roman" panose="02020603050405020304" pitchFamily="18" charset="0"/>
              <a:cs typeface="Times New Roman" panose="02020603050405020304" pitchFamily="18" charset="0"/>
            </a:endParaRPr>
          </a:p>
          <a:p>
            <a:pPr algn="just">
              <a:lnSpc>
                <a:spcPct val="80000"/>
              </a:lnSpc>
              <a:buNone/>
            </a:pPr>
            <a:r>
              <a:rPr lang="en-US" sz="1200" dirty="0">
                <a:latin typeface="Times New Roman" panose="02020603050405020304" pitchFamily="18" charset="0"/>
                <a:cs typeface="Times New Roman" panose="02020603050405020304" pitchFamily="18" charset="0"/>
                <a:sym typeface="+mn-ea"/>
              </a:rPr>
              <a:t>	(e) any other person who, in the discretion of the court is the proper person to make an application under S. 354 of CAMA. See S. 353(1) of CAMA.</a:t>
            </a: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lgn="just">
              <a:buNone/>
            </a:pPr>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928"/>
            <a:ext cx="7467600" cy="464128"/>
          </a:xfrm>
        </p:spPr>
        <p:txBody>
          <a:bodyPr>
            <a:normAutofit/>
          </a:bodyPr>
          <a:lstStyle/>
          <a:p>
            <a:r>
              <a:rPr lang="en-US" sz="1200" dirty="0">
                <a:latin typeface="Times New Roman" panose="02020603050405020304" pitchFamily="18" charset="0"/>
                <a:cs typeface="Times New Roman" panose="02020603050405020304" pitchFamily="18" charset="0"/>
              </a:rPr>
              <a:t>RELIEF ON GROUNDS OF UNFAIRLY PREJUDICIAL  AND OPPRESSIVE CONDUCT</a:t>
            </a:r>
            <a:endParaRPr lang="en-US" sz="1200" dirty="0"/>
          </a:p>
        </p:txBody>
      </p:sp>
      <p:sp>
        <p:nvSpPr>
          <p:cNvPr id="3" name="Content Placeholder 2"/>
          <p:cNvSpPr>
            <a:spLocks noGrp="1"/>
          </p:cNvSpPr>
          <p:nvPr>
            <p:ph idx="1"/>
          </p:nvPr>
        </p:nvSpPr>
        <p:spPr>
          <a:xfrm>
            <a:off x="152400" y="381000"/>
            <a:ext cx="8839200" cy="6324600"/>
          </a:xfrm>
        </p:spPr>
        <p:txBody>
          <a:bodyPr>
            <a:noAutofit/>
          </a:bodyPr>
          <a:lstStyle/>
          <a:p>
            <a:pPr>
              <a:buNone/>
            </a:pPr>
            <a:r>
              <a:rPr lang="en-US" sz="1200" dirty="0" smtClean="0">
                <a:latin typeface="Times New Roman" panose="02020603050405020304" pitchFamily="18" charset="0"/>
                <a:cs typeface="Times New Roman" panose="02020603050405020304" pitchFamily="18" charset="0"/>
                <a:sym typeface="+mn-ea"/>
              </a:rPr>
              <a:t>RELIEF </a:t>
            </a:r>
            <a:r>
              <a:rPr lang="en-US" sz="1200" dirty="0">
                <a:latin typeface="Times New Roman" panose="02020603050405020304" pitchFamily="18" charset="0"/>
                <a:cs typeface="Times New Roman" panose="02020603050405020304" pitchFamily="18" charset="0"/>
                <a:sym typeface="+mn-ea"/>
              </a:rPr>
              <a:t>BY THE COURT:</a:t>
            </a:r>
            <a:endParaRPr lang="en-US" sz="1200" dirty="0">
              <a:latin typeface="Times New Roman" panose="02020603050405020304" pitchFamily="18" charset="0"/>
              <a:cs typeface="Times New Roman" panose="02020603050405020304" pitchFamily="18" charset="0"/>
              <a:sym typeface="+mn-ea"/>
            </a:endParaRPr>
          </a:p>
          <a:p>
            <a:pPr>
              <a:buNone/>
            </a:pPr>
            <a:endParaRPr lang="en-US" sz="1200" dirty="0">
              <a:latin typeface="Times New Roman" panose="02020603050405020304" pitchFamily="18" charset="0"/>
              <a:cs typeface="Times New Roman" panose="02020603050405020304" pitchFamily="18" charset="0"/>
              <a:sym typeface="+mn-ea"/>
            </a:endParaRPr>
          </a:p>
          <a:p>
            <a:pPr algn="just">
              <a:lnSpc>
                <a:spcPct val="90000"/>
              </a:lnSpc>
              <a:buNone/>
            </a:pPr>
            <a:r>
              <a:rPr lang="en-US" sz="1200" dirty="0" smtClean="0">
                <a:latin typeface="Times New Roman" panose="02020603050405020304" pitchFamily="18" charset="0"/>
                <a:cs typeface="Times New Roman" panose="02020603050405020304" pitchFamily="18" charset="0"/>
                <a:sym typeface="+mn-ea"/>
              </a:rPr>
              <a:t>Investigation of a company’s affairs is part of the arrangement or scheme to ensure proper administration and management of a company. Investigation of a company’s affairs is done by CAC by appointing competent inspectors </a:t>
            </a:r>
            <a:r>
              <a:rPr lang="en-US" sz="1200" dirty="0">
                <a:latin typeface="Times New Roman" panose="02020603050405020304" pitchFamily="18" charset="0"/>
                <a:cs typeface="Times New Roman" panose="02020603050405020304" pitchFamily="18" charset="0"/>
                <a:sym typeface="+mn-ea"/>
              </a:rPr>
              <a:t>to </a:t>
            </a:r>
            <a:r>
              <a:rPr lang="en-US" sz="1200" dirty="0" smtClean="0">
                <a:latin typeface="Times New Roman" panose="02020603050405020304" pitchFamily="18" charset="0"/>
                <a:cs typeface="Times New Roman" panose="02020603050405020304" pitchFamily="18" charset="0"/>
                <a:sym typeface="+mn-ea"/>
              </a:rPr>
              <a:t>make formal </a:t>
            </a:r>
            <a:r>
              <a:rPr lang="en-US" sz="1200" dirty="0">
                <a:latin typeface="Times New Roman" panose="02020603050405020304" pitchFamily="18" charset="0"/>
                <a:cs typeface="Times New Roman" panose="02020603050405020304" pitchFamily="18" charset="0"/>
                <a:sym typeface="+mn-ea"/>
              </a:rPr>
              <a:t>inquiry into alleged malpractices by those persons who managed or who control the company and make report on their investigation. See S.357 to S.373 of CAMA.</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CAC may appoint inspectors to investigate the affairs of the company:</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(a) on the application of members</a:t>
            </a:r>
            <a:r>
              <a:rPr lang="en-US" sz="1200" dirty="0" smtClean="0">
                <a:latin typeface="Times New Roman" panose="02020603050405020304" pitchFamily="18" charset="0"/>
                <a:cs typeface="Times New Roman" panose="02020603050405020304" pitchFamily="18" charset="0"/>
                <a:sym typeface="+mn-ea"/>
              </a:rPr>
              <a:t>;</a:t>
            </a:r>
            <a:endParaRPr lang="en-US" sz="1200" dirty="0" smtClean="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(b) on the application of the company;</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(c) on the orders of the court;</a:t>
            </a:r>
            <a:endParaRPr lang="en-US" sz="1200" dirty="0">
              <a:latin typeface="Times New Roman" panose="02020603050405020304" pitchFamily="18" charset="0"/>
              <a:cs typeface="Times New Roman" panose="02020603050405020304" pitchFamily="18" charset="0"/>
            </a:endParaRPr>
          </a:p>
          <a:p>
            <a:pPr algn="just">
              <a:lnSpc>
                <a:spcPct val="90000"/>
              </a:lnSpc>
              <a:buNone/>
            </a:pPr>
            <a:r>
              <a:rPr lang="en-US" sz="1200" dirty="0">
                <a:latin typeface="Times New Roman" panose="02020603050405020304" pitchFamily="18" charset="0"/>
                <a:cs typeface="Times New Roman" panose="02020603050405020304" pitchFamily="18" charset="0"/>
                <a:sym typeface="+mn-ea"/>
              </a:rPr>
              <a:t>	(d) on its own motion.</a:t>
            </a:r>
            <a:endParaRPr lang="en-US" sz="1200" dirty="0">
              <a:latin typeface="Times New Roman" panose="02020603050405020304" pitchFamily="18" charset="0"/>
              <a:cs typeface="Times New Roman" panose="02020603050405020304" pitchFamily="18" charset="0"/>
              <a:sym typeface="+mn-ea"/>
            </a:endParaRPr>
          </a:p>
          <a:p>
            <a:pPr algn="just">
              <a:lnSpc>
                <a:spcPct val="90000"/>
              </a:lnSpc>
              <a:buNone/>
            </a:pPr>
            <a:endParaRPr lang="en-US" sz="1200" dirty="0">
              <a:latin typeface="Times New Roman" panose="02020603050405020304" pitchFamily="18" charset="0"/>
              <a:cs typeface="Times New Roman" panose="02020603050405020304" pitchFamily="18" charset="0"/>
              <a:sym typeface="+mn-ea"/>
            </a:endParaRPr>
          </a:p>
          <a:p>
            <a:pPr algn="just">
              <a:buNone/>
            </a:pPr>
            <a:r>
              <a:rPr lang="en-US" sz="1200" dirty="0" smtClean="0">
                <a:latin typeface="Times New Roman" panose="02020603050405020304" pitchFamily="18" charset="0"/>
                <a:cs typeface="Times New Roman" panose="02020603050405020304" pitchFamily="18" charset="0"/>
                <a:sym typeface="+mn-ea"/>
              </a:rPr>
              <a:t>Another </a:t>
            </a:r>
            <a:r>
              <a:rPr lang="en-US" sz="1200" dirty="0">
                <a:latin typeface="Times New Roman" panose="02020603050405020304" pitchFamily="18" charset="0"/>
                <a:cs typeface="Times New Roman" panose="02020603050405020304" pitchFamily="18" charset="0"/>
                <a:sym typeface="+mn-ea"/>
              </a:rPr>
              <a:t>remedy available to </a:t>
            </a:r>
            <a:r>
              <a:rPr lang="en-US" sz="1200" dirty="0" smtClean="0">
                <a:latin typeface="Times New Roman" panose="02020603050405020304" pitchFamily="18" charset="0"/>
                <a:cs typeface="Times New Roman" panose="02020603050405020304" pitchFamily="18" charset="0"/>
                <a:sym typeface="+mn-ea"/>
              </a:rPr>
              <a:t>Minority members </a:t>
            </a:r>
            <a:r>
              <a:rPr lang="en-US" sz="1200" dirty="0">
                <a:latin typeface="Times New Roman" panose="02020603050405020304" pitchFamily="18" charset="0"/>
                <a:cs typeface="Times New Roman" panose="02020603050405020304" pitchFamily="18" charset="0"/>
                <a:sym typeface="+mn-ea"/>
              </a:rPr>
              <a:t>of the </a:t>
            </a:r>
            <a:r>
              <a:rPr lang="en-US" sz="1200" dirty="0" smtClean="0">
                <a:latin typeface="Times New Roman" panose="02020603050405020304" pitchFamily="18" charset="0"/>
                <a:cs typeface="Times New Roman" panose="02020603050405020304" pitchFamily="18" charset="0"/>
                <a:sym typeface="+mn-ea"/>
              </a:rPr>
              <a:t>company is to bring a winding up petition on just and equitable ground, which is one of the circumstances that, a company may be wound up by </a:t>
            </a:r>
            <a:r>
              <a:rPr lang="en-US" sz="1200" dirty="0">
                <a:latin typeface="Times New Roman" panose="02020603050405020304" pitchFamily="18" charset="0"/>
                <a:cs typeface="Times New Roman" panose="02020603050405020304" pitchFamily="18" charset="0"/>
                <a:sym typeface="+mn-ea"/>
              </a:rPr>
              <a:t>the court if, the court is of the opinion that, it is just and equitable that the company should be wound up.</a:t>
            </a:r>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p>
          <a:p>
            <a:pPr algn="just">
              <a:buNone/>
            </a:pPr>
            <a:endParaRPr lang="en-US" sz="1200" dirty="0" smtClean="0">
              <a:latin typeface="Times New Roman" panose="02020603050405020304" pitchFamily="18" charset="0"/>
              <a:cs typeface="Times New Roman" panose="02020603050405020304" pitchFamily="18" charset="0"/>
            </a:endParaRPr>
          </a:p>
          <a:p>
            <a:pPr algn="just">
              <a:buNone/>
            </a:pPr>
            <a:endParaRPr lang="en-US" sz="1200" dirty="0" smtClean="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lnSpc>
                <a:spcPct val="90000"/>
              </a:lnSpc>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6705600" cy="400110"/>
          </a:xfrm>
          <a:prstGeom prst="rect">
            <a:avLst/>
          </a:prstGeom>
        </p:spPr>
        <p:txBody>
          <a:bodyPr wrap="square">
            <a:spAutoFit/>
          </a:bodyPr>
          <a:lstStyle/>
          <a:p>
            <a:r>
              <a:rPr lang="en-US" b="1" dirty="0"/>
              <a:t>FINANCIAL STATEMENTS, </a:t>
            </a:r>
            <a:r>
              <a:rPr lang="en-US" sz="2000" b="1" dirty="0"/>
              <a:t>AUDITS</a:t>
            </a:r>
            <a:r>
              <a:rPr lang="en-US" b="1" dirty="0"/>
              <a:t> AND ANNUAL RETURNS</a:t>
            </a:r>
            <a:endParaRPr lang="en-GB" dirty="0"/>
          </a:p>
        </p:txBody>
      </p:sp>
      <p:sp>
        <p:nvSpPr>
          <p:cNvPr id="3" name="Rectangle 2"/>
          <p:cNvSpPr/>
          <p:nvPr/>
        </p:nvSpPr>
        <p:spPr>
          <a:xfrm>
            <a:off x="152400" y="552511"/>
            <a:ext cx="8839200" cy="12402820"/>
          </a:xfrm>
          <a:prstGeom prst="rect">
            <a:avLst/>
          </a:prstGeom>
        </p:spPr>
        <p:txBody>
          <a:bodyPr wrap="square">
            <a:spAutoFit/>
          </a:bodyPr>
          <a:lstStyle/>
          <a:p>
            <a:r>
              <a:rPr lang="en-US" sz="1600" b="1" dirty="0" smtClean="0"/>
              <a:t>FINANCIAL STATEMENTSAUDITORS</a:t>
            </a:r>
            <a:endParaRPr lang="en-US" sz="1600" b="1" dirty="0"/>
          </a:p>
          <a:p>
            <a:r>
              <a:rPr lang="en-US" sz="1600" b="1" dirty="0"/>
              <a:t>AUDIT COMMITTEE AND</a:t>
            </a:r>
            <a:endParaRPr lang="en-US" sz="1600" b="1" dirty="0"/>
          </a:p>
          <a:p>
            <a:r>
              <a:rPr lang="en-US" sz="1600" b="1" dirty="0"/>
              <a:t>ANNUAL RETURNS</a:t>
            </a:r>
            <a:r>
              <a:rPr lang="en-US" sz="1600" b="1" dirty="0" smtClean="0"/>
              <a:t>.</a:t>
            </a:r>
            <a:endParaRPr lang="en-US" sz="1600" b="1" dirty="0" smtClean="0"/>
          </a:p>
          <a:p>
            <a:pPr algn="just"/>
            <a:r>
              <a:rPr lang="en-US" sz="1600" b="1" dirty="0">
                <a:latin typeface="Times New Roman" panose="02020603050405020304" pitchFamily="18" charset="0"/>
                <a:cs typeface="Times New Roman" panose="02020603050405020304" pitchFamily="18" charset="0"/>
              </a:rPr>
              <a:t>Financial Statements of a company show the annual state of affairs of a company and they are important not only to members of the company but to the public, so as to decide whether to invest or de-invest from the company.</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Examples, Profit and Loss Account, Balance Sheet, etc.</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S. 374 of CAMA</a:t>
            </a:r>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sym typeface="+mn-ea"/>
              </a:rPr>
              <a:t>The following are entitled to receive financial statements:</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sym typeface="+mn-ea"/>
              </a:rPr>
              <a:t>Every member of the company;</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sym typeface="+mn-ea"/>
              </a:rPr>
              <a:t>Every debenture holder;</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sym typeface="+mn-ea"/>
              </a:rPr>
              <a:t>All persons other than members and debenture holders, being </a:t>
            </a:r>
            <a:r>
              <a:rPr lang="en-US" sz="1600" b="1" dirty="0">
                <a:sym typeface="+mn-ea"/>
              </a:rPr>
              <a:t>persons so entitled; and With respect of company not having share capital, only members and debenture holders entitled to receive notices of AGM of the company. See S. 387 of CAMA.</a:t>
            </a:r>
            <a:endParaRPr lang="en-US" sz="1600" dirty="0"/>
          </a:p>
          <a:p>
            <a:pPr algn="just"/>
            <a:r>
              <a:rPr lang="en-US" sz="1600" b="1" dirty="0">
                <a:sym typeface="+mn-ea"/>
              </a:rPr>
              <a:t>Members or debenture holders who are not entitled to notices of general meeting and members whose addresses are unknown;</a:t>
            </a:r>
            <a:endParaRPr lang="en-US" sz="1600" b="1" dirty="0"/>
          </a:p>
          <a:p>
            <a:pPr algn="just"/>
            <a:r>
              <a:rPr lang="en-US" sz="1600" b="1" dirty="0">
                <a:sym typeface="+mn-ea"/>
              </a:rPr>
              <a:t>More than one of the joint </a:t>
            </a:r>
            <a:r>
              <a:rPr lang="en-US" sz="1600" b="1" dirty="0">
                <a:latin typeface="Times New Roman" panose="02020603050405020304" pitchFamily="18" charset="0"/>
                <a:cs typeface="Times New Roman" panose="02020603050405020304" pitchFamily="18" charset="0"/>
                <a:sym typeface="+mn-ea"/>
              </a:rPr>
              <a:t>holders of shares and debentures, who are not entitled to receive notices of meeting; and Other joint holders of shares and debentures not entitled to receive such notices. See S. 387(3).</a:t>
            </a:r>
            <a:endParaRPr lang="en-US" sz="1600" b="1" dirty="0">
              <a:latin typeface="Times New Roman" panose="02020603050405020304" pitchFamily="18" charset="0"/>
              <a:cs typeface="Times New Roman" panose="02020603050405020304" pitchFamily="18" charset="0"/>
            </a:endParaRPr>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p>
          <a:p>
            <a:pPr algn="just"/>
            <a:endParaRPr lang="en-US" sz="1600" b="1" dirty="0"/>
          </a:p>
          <a:p>
            <a:pPr algn="just"/>
            <a:endParaRPr lang="en-US" sz="1600" dirty="0"/>
          </a:p>
          <a:p>
            <a:pPr marL="342900" indent="-342900" algn="just">
              <a:buAutoNum type="arabicParenBoth"/>
            </a:pPr>
            <a:endParaRPr lang="en-US" sz="1600" b="1"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dirty="0"/>
          </a:p>
          <a:p>
            <a:pPr algn="just"/>
            <a:endParaRPr lang="en-US" sz="1600" b="1" dirty="0">
              <a:latin typeface="Times New Roman" panose="02020603050405020304" pitchFamily="18" charset="0"/>
              <a:cs typeface="Times New Roman" panose="02020603050405020304" pitchFamily="18" charset="0"/>
            </a:endParaRPr>
          </a:p>
          <a:p>
            <a:pPr algn="just"/>
            <a:endParaRPr lang="en-US" sz="1600" dirty="0"/>
          </a:p>
          <a:p>
            <a:endParaRPr lang="en-US" sz="1600" b="1" dirty="0"/>
          </a:p>
          <a:p>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75260" y="127635"/>
            <a:ext cx="3367405" cy="459105"/>
          </a:xfrm>
          <a:prstGeom prst="rect">
            <a:avLst/>
          </a:prstGeom>
          <a:noFill/>
        </p:spPr>
        <p:txBody>
          <a:bodyPr wrap="square" rtlCol="0" anchor="t">
            <a:noAutofit/>
          </a:bodyPr>
          <a:p>
            <a:r>
              <a:rPr lang="en-US" b="1" dirty="0">
                <a:sym typeface="+mn-ea"/>
              </a:rPr>
              <a:t>REMUNERATION OF AUDITORS</a:t>
            </a:r>
            <a:endParaRPr lang="en-US" altLang="en-US" b="1" dirty="0">
              <a:sym typeface="+mn-ea"/>
            </a:endParaRPr>
          </a:p>
        </p:txBody>
      </p:sp>
      <p:sp>
        <p:nvSpPr>
          <p:cNvPr id="4" name="Text Box 3"/>
          <p:cNvSpPr txBox="1"/>
          <p:nvPr/>
        </p:nvSpPr>
        <p:spPr>
          <a:xfrm>
            <a:off x="69850" y="640080"/>
            <a:ext cx="8835390" cy="4311650"/>
          </a:xfrm>
          <a:prstGeom prst="rect">
            <a:avLst/>
          </a:prstGeom>
          <a:noFill/>
        </p:spPr>
        <p:txBody>
          <a:bodyPr wrap="square" rtlCol="0" anchor="t">
            <a:noAutofit/>
          </a:bodyPr>
          <a:p>
            <a:pPr algn="just"/>
            <a:r>
              <a:rPr lang="en-US" sz="1600" b="1" dirty="0">
                <a:sym typeface="+mn-ea"/>
              </a:rPr>
              <a:t>It is usually fixed by members at the annual general meeting of the company. However, </a:t>
            </a:r>
            <a:endParaRPr lang="en-US" sz="1600" b="1" dirty="0"/>
          </a:p>
          <a:p>
            <a:pPr algn="just"/>
            <a:r>
              <a:rPr lang="en-US" sz="1600" b="1" dirty="0">
                <a:sym typeface="+mn-ea"/>
              </a:rPr>
              <a:t>It can also be fixed by directors for auditors appointed by the directors. S.408 of </a:t>
            </a:r>
            <a:r>
              <a:rPr lang="en-US" sz="1600" b="1" dirty="0" smtClean="0">
                <a:sym typeface="+mn-ea"/>
              </a:rPr>
              <a:t>CAMA</a:t>
            </a:r>
            <a:endParaRPr lang="en-US" sz="1600" b="1" dirty="0" smtClean="0"/>
          </a:p>
          <a:p>
            <a:pPr algn="just"/>
            <a:r>
              <a:rPr lang="en-US" sz="1600" b="1" dirty="0">
                <a:sym typeface="+mn-ea"/>
              </a:rPr>
              <a:t>REMOVAL OF </a:t>
            </a:r>
            <a:r>
              <a:rPr lang="en-US" sz="1600" b="1" dirty="0" smtClean="0">
                <a:sym typeface="+mn-ea"/>
              </a:rPr>
              <a:t>AUDITORS</a:t>
            </a:r>
            <a:endParaRPr lang="en-US" sz="1600" b="1" dirty="0" smtClean="0"/>
          </a:p>
          <a:p>
            <a:pPr algn="just"/>
            <a:r>
              <a:rPr lang="en-US" sz="1600" b="1" dirty="0">
                <a:sym typeface="+mn-ea"/>
              </a:rPr>
              <a:t>An auditor of a company may be removed before the expiration of his tenure by ordinary resolution of which special notice was given notwithstanding any agreement between the auditor and the company. Provided he shall be paid compensation or damages for such termination, if he is entitled. S.409&amp;411 CAMA </a:t>
            </a:r>
            <a:endParaRPr lang="en-US" sz="1600" b="1" dirty="0">
              <a:sym typeface="+mn-ea"/>
            </a:endParaRPr>
          </a:p>
          <a:p>
            <a:pPr algn="just"/>
            <a:endParaRPr lang="en-US" altLang="en-US" sz="1600" b="1" dirty="0">
              <a:sym typeface="+mn-ea"/>
            </a:endParaRPr>
          </a:p>
          <a:p>
            <a:pPr algn="just"/>
            <a:r>
              <a:rPr lang="en-US" sz="1600" b="1" dirty="0">
                <a:sym typeface="+mn-ea"/>
              </a:rPr>
              <a:t>COMPOSITION OF THE </a:t>
            </a:r>
            <a:r>
              <a:rPr lang="en-US" sz="1600" b="1" dirty="0" smtClean="0">
                <a:sym typeface="+mn-ea"/>
              </a:rPr>
              <a:t>AUDIT COMMITTEE</a:t>
            </a:r>
            <a:endParaRPr lang="en-US" sz="1600" b="1" dirty="0" smtClean="0"/>
          </a:p>
          <a:p>
            <a:pPr algn="just"/>
            <a:r>
              <a:rPr lang="en-US" sz="1600" b="1" dirty="0">
                <a:sym typeface="+mn-ea"/>
              </a:rPr>
              <a:t>OBJECTIVES AND FUNCTIONS OF AUDIT </a:t>
            </a:r>
            <a:r>
              <a:rPr lang="en-US" sz="1600" b="1" dirty="0" smtClean="0">
                <a:sym typeface="+mn-ea"/>
              </a:rPr>
              <a:t>COMMITTEE</a:t>
            </a:r>
            <a:endParaRPr lang="en-US" sz="1600" b="1" dirty="0" smtClean="0"/>
          </a:p>
          <a:p>
            <a:pPr algn="just"/>
            <a:r>
              <a:rPr lang="en-US" sz="1600" b="1" dirty="0">
                <a:sym typeface="+mn-ea"/>
              </a:rPr>
              <a:t>ANNUAL </a:t>
            </a:r>
            <a:r>
              <a:rPr lang="en-US" sz="1600" b="1" dirty="0" smtClean="0">
                <a:sym typeface="+mn-ea"/>
              </a:rPr>
              <a:t>RETURNS</a:t>
            </a:r>
            <a:endParaRPr lang="en-US" sz="1600" b="1" dirty="0" smtClean="0"/>
          </a:p>
          <a:p>
            <a:pPr algn="just"/>
            <a:r>
              <a:rPr lang="en-US" sz="1600" b="1" dirty="0">
                <a:latin typeface="Times New Roman" panose="02020603050405020304" pitchFamily="18" charset="0"/>
                <a:cs typeface="Times New Roman" panose="02020603050405020304" pitchFamily="18" charset="0"/>
                <a:sym typeface="+mn-ea"/>
              </a:rPr>
              <a:t>Annual Returns is one of the returns made by a company to CAC.</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sym typeface="+mn-ea"/>
              </a:rPr>
              <a:t>S. 417 provides that, every company shall, once at least in every year, make and deliver to CAC, an annual return provided that a company need not make a return either, in the year of its incorporation or, is not required by S. 237, to hold AGM during the following year</a:t>
            </a:r>
            <a:r>
              <a:rPr lang="en-US" sz="1600" b="1" dirty="0" smtClean="0">
                <a:latin typeface="Times New Roman" panose="02020603050405020304" pitchFamily="18" charset="0"/>
                <a:cs typeface="Times New Roman" panose="02020603050405020304" pitchFamily="18" charset="0"/>
                <a:sym typeface="+mn-ea"/>
              </a:rPr>
              <a:t>.</a:t>
            </a:r>
            <a:endParaRPr lang="en-US" sz="1600" b="1" dirty="0">
              <a:latin typeface="Times New Roman" panose="02020603050405020304" pitchFamily="18" charset="0"/>
              <a:cs typeface="Times New Roman" panose="02020603050405020304" pitchFamily="18" charset="0"/>
            </a:endParaRPr>
          </a:p>
          <a:p>
            <a:pPr algn="just"/>
            <a:r>
              <a:rPr lang="en-US" sz="1600" b="1" dirty="0">
                <a:sym typeface="+mn-ea"/>
              </a:rPr>
              <a:t>FORMS FOR ANNUAL </a:t>
            </a:r>
            <a:r>
              <a:rPr lang="en-US" sz="1600" b="1" dirty="0" smtClean="0">
                <a:sym typeface="+mn-ea"/>
              </a:rPr>
              <a:t>RETURN</a:t>
            </a:r>
            <a:endParaRPr lang="en-US" sz="1600" b="1" dirty="0" smtClean="0"/>
          </a:p>
          <a:p>
            <a:pPr algn="just"/>
            <a:r>
              <a:rPr lang="en-US" sz="1600" b="1" dirty="0">
                <a:sym typeface="+mn-ea"/>
              </a:rPr>
              <a:t>TIME FOR COMPLETION OF ANNUAL </a:t>
            </a:r>
            <a:r>
              <a:rPr lang="en-US" sz="1600" b="1" dirty="0" smtClean="0">
                <a:sym typeface="+mn-ea"/>
              </a:rPr>
              <a:t>RETURN</a:t>
            </a:r>
            <a:endParaRPr lang="en-US" sz="1600" b="1" dirty="0" smtClean="0"/>
          </a:p>
          <a:p>
            <a:pPr algn="just"/>
            <a:r>
              <a:rPr lang="en-US" sz="1600" b="1" dirty="0">
                <a:sym typeface="+mn-ea"/>
              </a:rPr>
              <a:t>DOCUMENTS TO BE ANNEXED TO ANNUAL </a:t>
            </a:r>
            <a:r>
              <a:rPr lang="en-US" sz="1600" b="1" dirty="0" smtClean="0">
                <a:sym typeface="+mn-ea"/>
              </a:rPr>
              <a:t>RETURN</a:t>
            </a:r>
            <a:endParaRPr lang="en-US" sz="1600" b="1" dirty="0" smtClean="0"/>
          </a:p>
          <a:p>
            <a:pPr algn="just"/>
            <a:r>
              <a:rPr lang="en-US" sz="1600" b="1" dirty="0">
                <a:sym typeface="+mn-ea"/>
              </a:rPr>
              <a:t>DOCUMENTS TO BE ANNEXED TO ANNUAL RETURN OF A PRIVATE </a:t>
            </a:r>
            <a:r>
              <a:rPr lang="en-US" sz="1600" b="1" dirty="0" smtClean="0">
                <a:sym typeface="+mn-ea"/>
              </a:rPr>
              <a:t>COMPANY</a:t>
            </a:r>
            <a:endParaRPr lang="en-US" sz="1600" b="1" dirty="0" smtClean="0"/>
          </a:p>
          <a:p>
            <a:pPr algn="just"/>
            <a:r>
              <a:rPr lang="en-US" sz="1600" b="1" dirty="0">
                <a:sym typeface="+mn-ea"/>
              </a:rPr>
              <a:t>ANNUAL RETURNS FOR BUSINESS </a:t>
            </a:r>
            <a:r>
              <a:rPr lang="en-US" sz="1600" b="1" dirty="0" smtClean="0">
                <a:sym typeface="+mn-ea"/>
              </a:rPr>
              <a:t>NAME</a:t>
            </a:r>
            <a:endParaRPr lang="en-US" sz="1600" b="1" dirty="0" smtClean="0"/>
          </a:p>
          <a:p>
            <a:pPr algn="just"/>
            <a:r>
              <a:rPr lang="en-US" sz="1600" b="1" dirty="0">
                <a:sym typeface="+mn-ea"/>
              </a:rPr>
              <a:t>ANNUAL RETURNS FOR INCORPORATED </a:t>
            </a:r>
            <a:r>
              <a:rPr lang="en-US" sz="1600" b="1" dirty="0" smtClean="0">
                <a:sym typeface="+mn-ea"/>
              </a:rPr>
              <a:t>TRUSTEES</a:t>
            </a:r>
            <a:endParaRPr lang="en-US" sz="1600" b="1" dirty="0" smtClean="0"/>
          </a:p>
          <a:p>
            <a:pPr algn="just"/>
            <a:r>
              <a:rPr lang="en-US" sz="1600" b="1">
                <a:sym typeface="+mn-ea"/>
              </a:rPr>
              <a:t>PENALTY FOR FALSE STATEMENTS OR INFORMATION</a:t>
            </a:r>
            <a:endParaRPr lang="en-US" sz="1600" b="1" dirty="0">
              <a:latin typeface="Times New Roman" panose="02020603050405020304" pitchFamily="18" charset="0"/>
              <a:cs typeface="Times New Roman" panose="02020603050405020304" pitchFamily="18" charset="0"/>
            </a:endParaRPr>
          </a:p>
          <a:p>
            <a:pPr algn="just"/>
            <a:endParaRPr lang="en-US" altLang="en-US" sz="1600" b="1" dirty="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7344</Words>
  <Application>WPS Presentation</Application>
  <PresentationFormat>On-screen Show (4:3)</PresentationFormat>
  <Paragraphs>195</Paragraphs>
  <Slides>6</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Arial</vt:lpstr>
      <vt:lpstr>SimSun</vt:lpstr>
      <vt:lpstr>Wingdings</vt:lpstr>
      <vt:lpstr>Times New Roman</vt:lpstr>
      <vt:lpstr>Calibri</vt:lpstr>
      <vt:lpstr>Microsoft YaHei</vt:lpstr>
      <vt:lpstr>Arial Unicode MS</vt:lpstr>
      <vt:lpstr>Office Theme</vt:lpstr>
      <vt:lpstr>MAJORITY RULE, MINORITY PROTECTION AND INVESTIGATION OF COMPANIES</vt:lpstr>
      <vt:lpstr>PROTECTION OF MINORITIES</vt:lpstr>
      <vt:lpstr>PROTECTION OF MINORITIES</vt:lpstr>
      <vt:lpstr>RELIEF ON GROUNDS OF UNFAIRLY PREJUDICIAL  AND OPPRESSIVE CONDUCT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PROTECTION OF MINORITIES</dc:title>
  <dc:creator>MRS PRESIOUS</dc:creator>
  <cp:lastModifiedBy>NCC</cp:lastModifiedBy>
  <cp:revision>341</cp:revision>
  <dcterms:created xsi:type="dcterms:W3CDTF">2016-02-16T07:07:00Z</dcterms:created>
  <dcterms:modified xsi:type="dcterms:W3CDTF">2025-08-03T04:28:27Z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2B82999E521E4E80B8190D49526C7912_12</vt:lpwstr>
  </property>
  <property fmtid="{D5CDD505-2E9C-101B-9397-08002B2CF9AE}" pid="3" name="KSOProductBuildVer">
    <vt:lpwstr>2057-12.2.0.21179</vt:lpwstr>
  </property>
</Properties>
</file>