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2" d="100"/>
          <a:sy n="82" d="100"/>
        </p:scale>
        <p:origin x="820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188e3232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188e3232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188e3232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2188e3232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2188e3232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2188e3232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188e3232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2188e32325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188e32325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2188e32325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19b44097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219b44097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19b44097c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219b44097c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19b44097c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219b44097c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19b44097c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219b44097c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19b44097c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219b44097c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219b44097c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219b44097c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19b44097c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219b44097c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85" y="664845"/>
            <a:ext cx="8592185" cy="36328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n-GB" sz="311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NIGERIAN LAW SCHOOL</a:t>
            </a:r>
            <a:br>
              <a:rPr lang="en-US" altLang="en-GB" sz="311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r>
              <a:rPr lang="en-US" altLang="en-GB" sz="311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YENAGOA CAMPUS</a:t>
            </a:r>
            <a:br>
              <a:rPr lang="en-US" altLang="en-GB" sz="311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r>
              <a:rPr lang="en-GB" sz="311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PORTFOLIO</a:t>
            </a:r>
            <a:endParaRPr sz="3110" b="1" dirty="0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1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ASSESSMENT</a:t>
            </a:r>
            <a:br>
              <a:rPr lang="en-GB" sz="222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r>
              <a:rPr lang="en-US" altLang="en-GB" sz="222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BY</a:t>
            </a:r>
            <a:br>
              <a:rPr lang="en-US" altLang="en-GB" sz="222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r>
              <a:rPr lang="en-US" altLang="en-GB" sz="222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ADEBAYO SAMSUDEEN OLAYIDE</a:t>
            </a:r>
            <a:br>
              <a:rPr lang="en-US" altLang="en-GB" sz="222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r>
              <a:rPr lang="en-US" altLang="en-GB" sz="2220" b="1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REGISTRATION NO:838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417375"/>
            <a:ext cx="1416361" cy="7391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4002405" lvl="0" indent="0" algn="r" rtl="0">
              <a:lnSpc>
                <a:spcPct val="80000"/>
              </a:lnSpc>
              <a:spcBef>
                <a:spcPts val="1555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 panose="020B0604020202020204"/>
              <a:buNone/>
            </a:pPr>
            <a:endParaRPr lang="en-US" altLang="en-GB" sz="1725" b="1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CONTENTS</a:t>
            </a:r>
            <a:endParaRPr b="1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 panose="020B0604020202020204"/>
              <a:buNone/>
            </a:pPr>
            <a:r>
              <a:rPr lang="en-GB" sz="173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1. Introduction</a:t>
            </a:r>
            <a:endParaRPr sz="173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73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2. Placement details</a:t>
            </a:r>
            <a:endParaRPr sz="173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 panose="020B0604020202020204"/>
              <a:buNone/>
            </a:pPr>
            <a:r>
              <a:rPr lang="en-GB" sz="173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3. Goals of the Externship Programme</a:t>
            </a:r>
            <a:endParaRPr sz="173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 panose="020B0604020202020204"/>
              <a:buNone/>
            </a:pPr>
            <a:r>
              <a:rPr lang="en-GB" sz="173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4. Evaluation of law firm placement</a:t>
            </a:r>
            <a:endParaRPr sz="173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 panose="020B0604020202020204"/>
              <a:buNone/>
            </a:pPr>
            <a:r>
              <a:rPr lang="en-GB" sz="173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5. Highlights of the reflective essay on “Law office management”</a:t>
            </a:r>
            <a:endParaRPr sz="173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 panose="020B0604020202020204"/>
              <a:buNone/>
            </a:pPr>
            <a:r>
              <a:rPr lang="en-GB" sz="173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6. Highlights of the reflective essay on “An Ethical Dilemma”</a:t>
            </a:r>
            <a:endParaRPr sz="173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 sz="173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7. Conclusion</a:t>
            </a:r>
            <a:endParaRPr sz="173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62" name="Google Shape;62;p14"/>
          <p:cNvCxnSpPr/>
          <p:nvPr/>
        </p:nvCxnSpPr>
        <p:spPr>
          <a:xfrm>
            <a:off x="402100" y="104247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INTRODUCTION</a:t>
            </a:r>
            <a:endParaRPr b="1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This is a portfolio presentation made in fulfilment of the externship programme of the Bar Part II examinations of the Nigerian Law School.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69" name="Google Shape;69;p15"/>
          <p:cNvCxnSpPr/>
          <p:nvPr/>
        </p:nvCxnSpPr>
        <p:spPr>
          <a:xfrm>
            <a:off x="311700" y="101772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GOALS OF THE EXTERNSHIP PROGRAMME</a:t>
            </a:r>
            <a:endParaRPr b="1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316275"/>
            <a:ext cx="8520600" cy="35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To develop the externs’ lawyering skills.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To make externs understand the legal system as well as the legal profession.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To inculcate in the externs a sense of professional responsibility and values;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To develop the externs’ ability to reflect on and learn from their experiences.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76" name="Google Shape;76;p16"/>
          <p:cNvCxnSpPr/>
          <p:nvPr/>
        </p:nvCxnSpPr>
        <p:spPr>
          <a:xfrm>
            <a:off x="402100" y="104247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PLACEMENT DETAILS FOR LAW OFFICE</a:t>
            </a:r>
            <a:endParaRPr b="1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NAME OF LAW OFFICE: </a:t>
            </a:r>
            <a:r>
              <a:rPr lang="en-US" sz="2000" dirty="0" err="1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Osinaike</a:t>
            </a:r>
            <a:r>
              <a:rPr lang="en-US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 &amp; Associates</a:t>
            </a:r>
            <a:r>
              <a:rPr lang="en-US" alt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.</a:t>
            </a:r>
            <a:endParaRPr sz="200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ADDRESS: </a:t>
            </a:r>
            <a:r>
              <a:rPr lang="en-US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plot 379f, George crescent, </a:t>
            </a:r>
            <a:r>
              <a:rPr lang="en-US" sz="2000" dirty="0" err="1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Agbalajobi</a:t>
            </a:r>
            <a:r>
              <a:rPr lang="en-US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estate,Ogba</a:t>
            </a:r>
            <a:r>
              <a:rPr lang="en-US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-Ikeja, Lagos</a:t>
            </a:r>
            <a:endParaRPr lang="en-US" altLang="en-GB" sz="200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NAME OF PRINCIPAL: </a:t>
            </a:r>
            <a:r>
              <a:rPr lang="en-US" sz="2000" dirty="0" err="1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Mr</a:t>
            </a:r>
            <a:r>
              <a:rPr lang="en-US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 Olanrewaju </a:t>
            </a:r>
            <a:r>
              <a:rPr lang="en-US" sz="2000" dirty="0" err="1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Osinaike</a:t>
            </a:r>
            <a:endParaRPr sz="200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NAME OF SUPERVISOR: </a:t>
            </a:r>
            <a:r>
              <a:rPr lang="en-US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Babajide </a:t>
            </a:r>
            <a:r>
              <a:rPr lang="en-US" sz="2000" dirty="0" err="1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Somorin</a:t>
            </a:r>
            <a:r>
              <a:rPr lang="en-US" alt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.</a:t>
            </a:r>
            <a:endParaRPr sz="200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DURATION: 5 weeks</a:t>
            </a:r>
            <a:endParaRPr sz="200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190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sz="200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90" name="Google Shape;90;p18"/>
          <p:cNvCxnSpPr/>
          <p:nvPr/>
        </p:nvCxnSpPr>
        <p:spPr>
          <a:xfrm>
            <a:off x="402100" y="104247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HIGHLIGHTS OF LAW OFFICE PLACEMENT</a:t>
            </a:r>
            <a:endParaRPr b="1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55600">
              <a:lnSpc>
                <a:spcPct val="150000"/>
              </a:lnSpc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I was posted to</a:t>
            </a:r>
            <a:r>
              <a:rPr lang="en-US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 plot 379f, George crescent, </a:t>
            </a:r>
            <a:r>
              <a:rPr lang="en-US" sz="2000" dirty="0" err="1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Agbalajobi</a:t>
            </a:r>
            <a:r>
              <a:rPr lang="en-US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estate,Ogba</a:t>
            </a:r>
            <a:r>
              <a:rPr lang="en-US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-Ikeja, Lagos</a:t>
            </a: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.</a:t>
            </a:r>
            <a:endParaRPr sz="200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The firm is a sole-Proprietorship comprising 0f </a:t>
            </a:r>
            <a:r>
              <a:rPr lang="en-US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6</a:t>
            </a: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 lawyers and </a:t>
            </a:r>
            <a:r>
              <a:rPr lang="en-US" alt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4 </a:t>
            </a: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support staff.</a:t>
            </a:r>
            <a:endParaRPr sz="200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The official working days were Monday- Friday.</a:t>
            </a:r>
            <a:endParaRPr sz="200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The official working hours were </a:t>
            </a:r>
            <a:r>
              <a:rPr lang="en-US" alt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8</a:t>
            </a: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am-5pm</a:t>
            </a:r>
            <a:endParaRPr sz="200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The firm majorly handled </a:t>
            </a:r>
            <a:r>
              <a:rPr lang="en-US" alt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Civil (Corporate) cases</a:t>
            </a:r>
          </a:p>
        </p:txBody>
      </p:sp>
      <p:cxnSp>
        <p:nvCxnSpPr>
          <p:cNvPr id="125" name="Google Shape;125;p23"/>
          <p:cNvCxnSpPr/>
          <p:nvPr/>
        </p:nvCxnSpPr>
        <p:spPr>
          <a:xfrm>
            <a:off x="402100" y="104247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A. Activities Observed</a:t>
            </a:r>
            <a:endParaRPr b="1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311700" y="1072175"/>
            <a:ext cx="8520600" cy="3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Legal Research</a:t>
            </a:r>
            <a:endParaRPr sz="200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Studying of case files</a:t>
            </a:r>
            <a:endParaRPr sz="200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Drafting of court processes</a:t>
            </a:r>
            <a:endParaRPr sz="200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Drafting of legal documents</a:t>
            </a:r>
            <a:endParaRPr sz="200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Attendance in court with Principal</a:t>
            </a: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Legal opinion </a:t>
            </a:r>
            <a:endParaRPr sz="200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132" name="Google Shape;132;p24"/>
          <p:cNvCxnSpPr/>
          <p:nvPr/>
        </p:nvCxnSpPr>
        <p:spPr>
          <a:xfrm>
            <a:off x="402100" y="104247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B. Skills Learnt</a:t>
            </a:r>
            <a:endParaRPr b="1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38" name="Google Shape;138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Research skills</a:t>
            </a:r>
            <a:endParaRPr sz="200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Drafting skills</a:t>
            </a:r>
            <a:endParaRPr sz="200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Advocacy skills</a:t>
            </a:r>
            <a:endParaRPr sz="200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Punctuality and Diligence</a:t>
            </a: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US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How to address the judge.</a:t>
            </a: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US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How to announce appearance.</a:t>
            </a: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US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How to tender witness statement on oath</a:t>
            </a: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US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How to move an application.</a:t>
            </a: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US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Professional etiquette.</a:t>
            </a:r>
            <a:endParaRPr sz="200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139" name="Google Shape;139;p25"/>
          <p:cNvCxnSpPr/>
          <p:nvPr/>
        </p:nvCxnSpPr>
        <p:spPr>
          <a:xfrm>
            <a:off x="402100" y="104247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C. Challenges</a:t>
            </a:r>
            <a:endParaRPr b="1" dirty="0"/>
          </a:p>
        </p:txBody>
      </p:sp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Limitation in exposure to legal practice areas.</a:t>
            </a:r>
            <a:endParaRPr sz="200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High cost of transportation </a:t>
            </a:r>
          </a:p>
          <a:p>
            <a:pPr lvl="0" indent="-355600">
              <a:lnSpc>
                <a:spcPct val="150000"/>
              </a:lnSpc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US" sz="2000" dirty="0"/>
              <a:t>A strict work environment that occasionally created tension</a:t>
            </a:r>
            <a:endParaRPr sz="2000" dirty="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146" name="Google Shape;146;p26"/>
          <p:cNvCxnSpPr/>
          <p:nvPr/>
        </p:nvCxnSpPr>
        <p:spPr>
          <a:xfrm>
            <a:off x="402100" y="104247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 panose="020B0604020202020204"/>
              <a:buNone/>
            </a:pPr>
            <a:r>
              <a:rPr lang="en-GB" b="1"/>
              <a:t>HIGHLIGHTS OF ESSAY ON LAW OFFICE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 panose="020B0604020202020204"/>
              <a:buNone/>
            </a:pPr>
            <a:r>
              <a:rPr lang="en-GB" b="1"/>
              <a:t>MANAGEMENT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52" name="Google Shape;152;p27"/>
          <p:cNvSpPr txBox="1">
            <a:spLocks noGrp="1"/>
          </p:cNvSpPr>
          <p:nvPr>
            <p:ph type="body" idx="1"/>
          </p:nvPr>
        </p:nvSpPr>
        <p:spPr>
          <a:xfrm>
            <a:off x="311700" y="16708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Sole Proprietorship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Core litigation and Corporate fi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rm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The firm largely managed by an admin manager 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Use of photocopier, printer, and office supplies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Use of firm-wide and personal reminder system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153" name="Google Shape;153;p27"/>
          <p:cNvCxnSpPr/>
          <p:nvPr/>
        </p:nvCxnSpPr>
        <p:spPr>
          <a:xfrm>
            <a:off x="402100" y="141462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>
            <a:spLocks noGrp="1"/>
          </p:cNvSpPr>
          <p:nvPr>
            <p:ph type="title"/>
          </p:nvPr>
        </p:nvSpPr>
        <p:spPr>
          <a:xfrm>
            <a:off x="311700" y="258950"/>
            <a:ext cx="85206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HIGHLIGHTS OF ESSAY ON ETHICAL DILEMMA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59" name="Google Shape;159;p28"/>
          <p:cNvSpPr txBox="1">
            <a:spLocks noGrp="1"/>
          </p:cNvSpPr>
          <p:nvPr>
            <p:ph type="body" idx="1"/>
          </p:nvPr>
        </p:nvSpPr>
        <p:spPr>
          <a:xfrm>
            <a:off x="311700" y="1046175"/>
            <a:ext cx="8520600" cy="3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b="1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Rule 19 </a:t>
            </a: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of the Rules of Professional Conduct on the privilege and confidence of a client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b="1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Rule 14 </a:t>
            </a: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of the Rules of Professional Conduct on dedication and devotion to the cause of the client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b="1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Rule 30 </a:t>
            </a: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of the Rules of Professional Conduct on Lawyer as officer of the court.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The lawyer-client privilege vis-a-vis the duty of the lawyer to be dedicated to his client and to act in the interest of justice,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160" name="Google Shape;160;p28"/>
          <p:cNvCxnSpPr/>
          <p:nvPr/>
        </p:nvCxnSpPr>
        <p:spPr>
          <a:xfrm>
            <a:off x="388800" y="890450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CONCLUSION</a:t>
            </a:r>
            <a:endParaRPr b="1"/>
          </a:p>
        </p:txBody>
      </p:sp>
      <p:sp>
        <p:nvSpPr>
          <p:cNvPr id="166" name="Google Shape;166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The externship enabled students to get practical experience of all that is taught in the classroom.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It is a pleasant experience for all bar aspirants.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167" name="Google Shape;167;p29"/>
          <p:cNvCxnSpPr/>
          <p:nvPr/>
        </p:nvCxnSpPr>
        <p:spPr>
          <a:xfrm>
            <a:off x="402100" y="104247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>
            <a:spLocks noGrp="1"/>
          </p:cNvSpPr>
          <p:nvPr>
            <p:ph type="body" idx="1"/>
          </p:nvPr>
        </p:nvSpPr>
        <p:spPr>
          <a:xfrm>
            <a:off x="245250" y="1790425"/>
            <a:ext cx="8520600" cy="19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7200" b="1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THANK YOU</a:t>
            </a:r>
            <a:endParaRPr sz="7200" b="1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494</Words>
  <Application>Microsoft Office PowerPoint</Application>
  <PresentationFormat>On-screen Show (16:9)</PresentationFormat>
  <Paragraphs>66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Georgia</vt:lpstr>
      <vt:lpstr>Simple Light</vt:lpstr>
      <vt:lpstr>NIGERIAN LAW SCHOOL YENAGOA CAMPUS PORTFOLIO ASSESSMENT BY ADEBAYO SAMSUDEEN OLAYIDE REGISTRATION NO:838</vt:lpstr>
      <vt:lpstr>CONTENTS</vt:lpstr>
      <vt:lpstr>INTRODUCTION</vt:lpstr>
      <vt:lpstr>GOALS OF THE EXTERNSHIP PROGRAMME</vt:lpstr>
      <vt:lpstr>PLACEMENT DETAILS FOR LAW OFFICE</vt:lpstr>
      <vt:lpstr>HIGHLIGHTS OF LAW OFFICE PLACEMENT</vt:lpstr>
      <vt:lpstr>A. Activities Observed</vt:lpstr>
      <vt:lpstr>B. Skills Learnt</vt:lpstr>
      <vt:lpstr>C. Challenges</vt:lpstr>
      <vt:lpstr>HIGHLIGHTS OF ESSAY ON LAW OFFICE MANAGEMENT </vt:lpstr>
      <vt:lpstr>HIGHLIGHTS OF ESSAY ON ETHICAL DILEMMA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PORTFOLIO_x000d_ASSESSMENT</dc:title>
  <dc:creator>Samsudeen DLAW</dc:creator>
  <cp:lastModifiedBy>Samsudeen Adebayo</cp:lastModifiedBy>
  <cp:revision>7</cp:revision>
  <dcterms:created xsi:type="dcterms:W3CDTF">2024-12-31T12:45:00Z</dcterms:created>
  <dcterms:modified xsi:type="dcterms:W3CDTF">2025-11-07T08:25:27Z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FD0287052DE942F8874E693570211EF1_12</vt:lpwstr>
  </property>
  <property fmtid="{D5CDD505-2E9C-101B-9397-08002B2CF9AE}" pid="3" name="KSOProductBuildVer">
    <vt:lpwstr>1033-12.2.0.19307</vt:lpwstr>
  </property>
</Properties>
</file>