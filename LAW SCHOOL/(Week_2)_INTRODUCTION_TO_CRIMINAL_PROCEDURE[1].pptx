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85" r:id="rId15"/>
    <p:sldId id="271" r:id="rId16"/>
    <p:sldId id="272" r:id="rId17"/>
    <p:sldId id="273" r:id="rId18"/>
    <p:sldId id="274" r:id="rId19"/>
    <p:sldId id="275" r:id="rId20"/>
    <p:sldId id="276" r:id="rId21"/>
    <p:sldId id="277" r:id="rId22"/>
    <p:sldId id="278" r:id="rId23"/>
    <p:sldId id="279" r:id="rId24"/>
    <p:sldId id="280" r:id="rId25"/>
    <p:sldId id="286" r:id="rId26"/>
    <p:sldId id="281" r:id="rId27"/>
    <p:sldId id="282" r:id="rId28"/>
    <p:sldId id="283" r:id="rId29"/>
  </p:sldIdLst>
  <p:sldSz cx="9144000" cy="6858000" type="screen4x3"/>
  <p:notesSz cx="6858000" cy="9144000"/>
  <p:defaultTextStyle>
    <a:lvl1pPr marL="0" indent="0" algn="l" rtl="0" eaLnBrk="0" fontAlgn="base" latinLnBrk="0" hangingPunct="0">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24" autoAdjust="0"/>
  </p:normalViewPr>
  <p:slideViewPr>
    <p:cSldViewPr>
      <p:cViewPr>
        <p:scale>
          <a:sx n="70" d="100"/>
          <a:sy n="70" d="100"/>
        </p:scale>
        <p:origin x="1380"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60" name="Header Placeholder 1"/>
          <p:cNvSpPr>
            <a:spLocks noGrp="1"/>
          </p:cNvSpPr>
          <p:nvPr>
            <p:ph type="hdr" sz="quarter"/>
          </p:nvPr>
        </p:nvSpPr>
        <p:spPr>
          <a:xfrm>
            <a:off x="0" y="0"/>
            <a:ext cx="2971800" cy="457200"/>
          </a:xfrm>
          <a:prstGeom prst="rect">
            <a:avLst/>
          </a:prstGeom>
          <a:noFill/>
          <a:ln>
            <a:noFill/>
          </a:ln>
        </p:spPr>
        <p:txBody>
          <a:bodyPr vert="horz" lIns="91440" tIns="45720" rIns="91440" bIns="45720" anchor="t"/>
          <a:lstStyle/>
          <a:p>
            <a:pPr lvl="0" eaLnBrk="1" hangingPunct="1"/>
            <a:endParaRPr lang="en-GB" altLang="en-US" sz="1200"/>
          </a:p>
        </p:txBody>
      </p:sp>
      <p:sp>
        <p:nvSpPr>
          <p:cNvPr id="1048661" name="Date Placeholder 2"/>
          <p:cNvSpPr>
            <a:spLocks noGrp="1"/>
          </p:cNvSpPr>
          <p:nvPr>
            <p:ph type="dt" idx="1"/>
          </p:nvPr>
        </p:nvSpPr>
        <p:spPr>
          <a:xfrm>
            <a:off x="3884612" y="0"/>
            <a:ext cx="2971800" cy="457200"/>
          </a:xfrm>
          <a:prstGeom prst="rect">
            <a:avLst/>
          </a:prstGeom>
          <a:noFill/>
          <a:ln>
            <a:noFill/>
          </a:ln>
        </p:spPr>
        <p:txBody>
          <a:bodyPr vert="horz" lIns="91440" tIns="45720" rIns="91440" bIns="45720" anchor="t"/>
          <a:lstStyle/>
          <a:p>
            <a:pPr lvl="0" algn="r" eaLnBrk="1" hangingPunct="1"/>
            <a:fld id="{566ABCEB-ACFC-4714-9973-3DA970169C29}" type="datetime1">
              <a:rPr lang="en-GB" altLang="en-US" sz="1200"/>
              <a:pPr lvl="0" algn="r" eaLnBrk="1" hangingPunct="1"/>
              <a:t>08/05/2025</a:t>
            </a:fld>
            <a:endParaRPr lang="en-GB" altLang="en-US" sz="1200"/>
          </a:p>
        </p:txBody>
      </p:sp>
      <p:sp>
        <p:nvSpPr>
          <p:cNvPr id="1048662" name="Slide Image Placeholder 3"/>
          <p:cNvSpPr>
            <a:spLocks noGrp="1" noRot="1" noChangeAspect="1"/>
          </p:cNvSpPr>
          <p:nvPr>
            <p:ph type="sldImg" idx="2"/>
          </p:nvPr>
        </p:nvSpPr>
        <p:spPr>
          <a:xfrm>
            <a:off x="1143000" y="685800"/>
            <a:ext cx="4572000" cy="3429000"/>
          </a:xfrm>
          <a:prstGeom prst="rect">
            <a:avLst/>
          </a:prstGeom>
          <a:noFill/>
          <a:ln w="12700" cap="flat" cmpd="sng">
            <a:solidFill>
              <a:srgbClr val="000000">
                <a:alpha val="100000"/>
              </a:srgbClr>
            </a:solidFill>
            <a:prstDash val="solid"/>
            <a:round/>
          </a:ln>
        </p:spPr>
        <p:txBody>
          <a:bodyPr vert="horz" lIns="91440" tIns="45720" rIns="91440" bIns="45720" anchor="ctr"/>
          <a:lstStyle/>
          <a:p>
            <a:endParaRPr/>
          </a:p>
        </p:txBody>
      </p:sp>
      <p:sp>
        <p:nvSpPr>
          <p:cNvPr id="1048663" name="Notes Placeholder 4"/>
          <p:cNvSpPr>
            <a:spLocks noGrp="1"/>
          </p:cNvSpPr>
          <p:nvPr>
            <p:ph type="body" sz="quarter" idx="3"/>
          </p:nvPr>
        </p:nvSpPr>
        <p:spPr>
          <a:xfrm>
            <a:off x="685800" y="4343400"/>
            <a:ext cx="5486400" cy="4114800"/>
          </a:xfrm>
          <a:prstGeom prst="rect">
            <a:avLst/>
          </a:prstGeom>
          <a:noFill/>
          <a:ln>
            <a:noFill/>
          </a:ln>
        </p:spPr>
        <p:txBody>
          <a:bodyPr vert="horz" lIns="91440" tIns="45720" rIns="91440" bIns="45720" anchor="t"/>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48664" name="Footer Placeholder 5"/>
          <p:cNvSpPr>
            <a:spLocks noGrp="1"/>
          </p:cNvSpPr>
          <p:nvPr>
            <p:ph type="ftr" sz="quarter" idx="4"/>
          </p:nvPr>
        </p:nvSpPr>
        <p:spPr>
          <a:xfrm>
            <a:off x="0" y="8685212"/>
            <a:ext cx="2971800" cy="457200"/>
          </a:xfrm>
          <a:prstGeom prst="rect">
            <a:avLst/>
          </a:prstGeom>
          <a:noFill/>
          <a:ln>
            <a:noFill/>
          </a:ln>
        </p:spPr>
        <p:txBody>
          <a:bodyPr vert="horz" lIns="91440" tIns="45720" rIns="91440" bIns="45720" anchor="b"/>
          <a:lstStyle/>
          <a:p>
            <a:pPr lvl="0" eaLnBrk="1" hangingPunct="1"/>
            <a:endParaRPr lang="en-GB" altLang="en-US" sz="1200"/>
          </a:p>
        </p:txBody>
      </p:sp>
      <p:sp>
        <p:nvSpPr>
          <p:cNvPr id="1048665" name="Slide Number Placeholder 6"/>
          <p:cNvSpPr>
            <a:spLocks noGrp="1"/>
          </p:cNvSpPr>
          <p:nvPr>
            <p:ph type="sldNum" sz="quarter" idx="5"/>
          </p:nvPr>
        </p:nvSpPr>
        <p:spPr>
          <a:xfrm>
            <a:off x="3884612" y="8685212"/>
            <a:ext cx="2971800" cy="457200"/>
          </a:xfrm>
          <a:prstGeom prst="rect">
            <a:avLst/>
          </a:prstGeom>
          <a:noFill/>
          <a:ln>
            <a:noFill/>
          </a:ln>
        </p:spPr>
        <p:txBody>
          <a:bodyPr vert="horz" lIns="91440" tIns="45720" rIns="91440" bIns="45720" anchor="b"/>
          <a:lstStyle/>
          <a:p>
            <a:pPr lvl="0" algn="r" eaLnBrk="1" hangingPunct="1"/>
            <a:fld id="{566ABCEB-ACFC-4714-9973-3DA970169C29}" type="slidenum">
              <a:rPr lang="en-GB" altLang="en-US" sz="1200"/>
              <a:pPr lvl="0" algn="r" eaLnBrk="1" hangingPunct="1"/>
              <a:t>‹#›</a:t>
            </a:fld>
            <a:endParaRPr lang="en-GB" altLang="en-US" sz="1200"/>
          </a:p>
        </p:txBody>
      </p:sp>
    </p:spTree>
  </p:cSld>
  <p:clrMap bg1="dk1" tx1="dk1" bg2="dk1" tx2="dk1" accent1="dk1" accent2="dk1" accent3="dk1" accent4="dk1" accent5="dk1" accent6="dk1" hlink="dk1" folHlink="dk1"/>
  <p:notesStyle>
    <a:lvl1pPr marL="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Arial" charset="0"/>
      </a:defRPr>
    </a:lvl1pPr>
    <a:lvl2pPr marL="4572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Arial" charset="0"/>
      </a:defRPr>
    </a:lvl2pPr>
    <a:lvl3pPr marL="9144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Arial" charset="0"/>
      </a:defRPr>
    </a:lvl3pPr>
    <a:lvl4pPr marL="13716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Arial" charset="0"/>
      </a:defRPr>
    </a:lvl4pPr>
    <a:lvl5pPr marL="18288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Arial" charset="0"/>
      </a:defRPr>
    </a:lvl5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38"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639" name="Subtitle 2"/>
          <p:cNvSpPr>
            <a:spLocks noGrp="1"/>
          </p:cNvSpPr>
          <p:nvPr>
            <p:ph type="subTitle" idx="1"/>
          </p:nvPr>
        </p:nvSpPr>
        <p:spPr>
          <a:xfrm>
            <a:off x="1371600" y="3886200"/>
            <a:ext cx="6400800" cy="1752600"/>
          </a:xfrm>
        </p:spPr>
        <p:txBody>
          <a:bodyPr/>
          <a:lstStyle>
            <a:lvl1pPr marL="0" indent="0" algn="ctr">
              <a:buNone/>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n-GB"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n-GB" altLang="en-US" sz="1400"/>
              <a:pPr lvl="0" algn="r" eaLnBrk="1" hangingPunct="1"/>
              <a:t>‹#›</a:t>
            </a:fld>
            <a:endParaRPr lang="en-GB"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n-GB" altLang="en-US" sz="1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5" name="Title 1"/>
          <p:cNvSpPr>
            <a:spLocks noGrp="1"/>
          </p:cNvSpPr>
          <p:nvPr>
            <p:ph type="title"/>
          </p:nvPr>
        </p:nvSpPr>
        <p:spPr/>
        <p:txBody>
          <a:bodyPr/>
          <a:lstStyle/>
          <a:p>
            <a:r>
              <a:rPr lang="en-US"/>
              <a:t>Click to edit Master title style</a:t>
            </a:r>
          </a:p>
        </p:txBody>
      </p:sp>
      <p:sp>
        <p:nvSpPr>
          <p:cNvPr id="1048586"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n-GB"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n-GB" altLang="en-US" sz="1400"/>
              <a:pPr lvl="0" algn="r" eaLnBrk="1" hangingPunct="1"/>
              <a:t>‹#›</a:t>
            </a:fld>
            <a:endParaRPr lang="en-GB"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n-GB" altLang="en-US" sz="14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40"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41"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n-GB"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n-GB" altLang="en-US" sz="1400"/>
              <a:pPr lvl="0" algn="r" eaLnBrk="1" hangingPunct="1"/>
              <a:t>‹#›</a:t>
            </a:fld>
            <a:endParaRPr lang="en-GB"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n-GB" altLang="en-US" sz="1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42" name="Title 1"/>
          <p:cNvSpPr>
            <a:spLocks noGrp="1"/>
          </p:cNvSpPr>
          <p:nvPr>
            <p:ph type="title"/>
          </p:nvPr>
        </p:nvSpPr>
        <p:spPr/>
        <p:txBody>
          <a:bodyPr/>
          <a:lstStyle/>
          <a:p>
            <a:r>
              <a:rPr lang="en-US"/>
              <a:t>Click to edit Master title style</a:t>
            </a:r>
          </a:p>
        </p:txBody>
      </p:sp>
      <p:sp>
        <p:nvSpPr>
          <p:cNvPr id="104864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n-GB"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n-GB" altLang="en-US" sz="1400"/>
              <a:pPr lvl="0" algn="r" eaLnBrk="1" hangingPunct="1"/>
              <a:t>‹#›</a:t>
            </a:fld>
            <a:endParaRPr lang="en-GB"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n-GB" altLang="en-US" sz="14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45" name="Title 1"/>
          <p:cNvSpPr>
            <a:spLocks noGrp="1"/>
          </p:cNvSpPr>
          <p:nvPr>
            <p:ph type="title"/>
          </p:nvPr>
        </p:nvSpPr>
        <p:spPr/>
        <p:txBody>
          <a:bodyPr/>
          <a:lstStyle/>
          <a:p>
            <a:r>
              <a:rPr lang="en-US"/>
              <a:t>Click to edit Master title style</a:t>
            </a:r>
          </a:p>
        </p:txBody>
      </p:sp>
      <p:sp>
        <p:nvSpPr>
          <p:cNvPr id="1048646"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7"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8"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9"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n-GB"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n-GB" altLang="en-US" sz="1400"/>
              <a:pPr lvl="0" algn="r" eaLnBrk="1" hangingPunct="1"/>
              <a:t>‹#›</a:t>
            </a:fld>
            <a:endParaRPr lang="en-GB"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n-GB" altLang="en-US" sz="14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82" name="Title 1"/>
          <p:cNvSpPr>
            <a:spLocks noGrp="1"/>
          </p:cNvSpPr>
          <p:nvPr>
            <p:ph type="title"/>
          </p:nvPr>
        </p:nvSpPr>
        <p:spPr/>
        <p:txBody>
          <a:bodyPr/>
          <a:lstStyle/>
          <a:p>
            <a:r>
              <a:rPr lang="en-US"/>
              <a:t>Click to edit Master title style</a:t>
            </a:r>
          </a:p>
        </p:txBody>
      </p:sp>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n-GB"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n-GB" altLang="en-US" sz="1400"/>
              <a:pPr lvl="0" algn="r" eaLnBrk="1" hangingPunct="1"/>
              <a:t>‹#›</a:t>
            </a:fld>
            <a:endParaRPr lang="en-GB"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n-GB" altLang="en-US" sz="14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n-GB"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n-GB" altLang="en-US" sz="1400"/>
              <a:pPr lvl="0" algn="r" eaLnBrk="1" hangingPunct="1"/>
              <a:t>‹#›</a:t>
            </a:fld>
            <a:endParaRPr lang="en-GB"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n-GB" altLang="en-US" sz="14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0"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65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2"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n-GB"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n-GB" altLang="en-US" sz="1400"/>
              <a:pPr lvl="0" algn="r" eaLnBrk="1" hangingPunct="1"/>
              <a:t>‹#›</a:t>
            </a:fld>
            <a:endParaRPr lang="en-GB"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n-GB" altLang="en-US" sz="14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53"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54"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en-US" sz="3200" b="0" i="0" u="none" strike="noStrike" kern="0" cap="none" spc="0" normalizeH="0" baseline="0" noProof="0">
              <a:ln>
                <a:noFill/>
              </a:ln>
              <a:solidFill>
                <a:schemeClr val="tx1"/>
              </a:solidFill>
              <a:effectLst/>
              <a:uLnTx/>
              <a:uFillTx/>
              <a:latin typeface="+mn-lt"/>
              <a:ea typeface="+mn-ea"/>
              <a:cs typeface="+mn-cs"/>
            </a:endParaRPr>
          </a:p>
        </p:txBody>
      </p:sp>
      <p:sp>
        <p:nvSpPr>
          <p:cNvPr id="1048655"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n-GB"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n-GB" altLang="en-US" sz="1400"/>
              <a:pPr lvl="0" algn="r" eaLnBrk="1" hangingPunct="1"/>
              <a:t>‹#›</a:t>
            </a:fld>
            <a:endParaRPr lang="en-GB"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n-GB" altLang="en-US" sz="14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56" name="Title 1"/>
          <p:cNvSpPr>
            <a:spLocks noGrp="1"/>
          </p:cNvSpPr>
          <p:nvPr>
            <p:ph type="title"/>
          </p:nvPr>
        </p:nvSpPr>
        <p:spPr/>
        <p:txBody>
          <a:bodyPr/>
          <a:lstStyle/>
          <a:p>
            <a:r>
              <a:rPr lang="en-US"/>
              <a:t>Click to edit Master title style</a:t>
            </a:r>
          </a:p>
        </p:txBody>
      </p:sp>
      <p:sp>
        <p:nvSpPr>
          <p:cNvPr id="1048657"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n-GB"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n-GB" altLang="en-US" sz="1400"/>
              <a:pPr lvl="0" algn="r" eaLnBrk="1" hangingPunct="1"/>
              <a:t>‹#›</a:t>
            </a:fld>
            <a:endParaRPr lang="en-GB"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n-GB" altLang="en-US" sz="14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58"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59"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n-GB"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n-GB" altLang="en-US" sz="1400"/>
              <a:pPr lvl="0" algn="r" eaLnBrk="1" hangingPunct="1"/>
              <a:t>‹#›</a:t>
            </a:fld>
            <a:endParaRPr lang="en-GB"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n-GB" altLang="en-US" sz="14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576" name="Rectangle 2"/>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p>
            <a:pPr lvl="0"/>
            <a:r>
              <a:rPr lang="en-GB" altLang="en-US"/>
              <a:t>Click to edit Master title style</a:t>
            </a:r>
          </a:p>
        </p:txBody>
      </p:sp>
      <p:sp>
        <p:nvSpPr>
          <p:cNvPr id="1048577" name="Rectangle 3"/>
          <p:cNvSpPr>
            <a:spLocks noGrp="1"/>
          </p:cNvSpPr>
          <p:nvPr>
            <p:ph type="body" idx="1"/>
          </p:nvPr>
        </p:nvSpPr>
        <p:spPr>
          <a:xfrm>
            <a:off x="457200" y="1600200"/>
            <a:ext cx="8229600" cy="4525962"/>
          </a:xfrm>
          <a:prstGeom prst="rect">
            <a:avLst/>
          </a:prstGeom>
          <a:noFill/>
          <a:ln>
            <a:noFill/>
          </a:ln>
        </p:spPr>
        <p:txBody>
          <a:bodyPr vert="horz" lIns="91440" tIns="45720" rIns="91440" bIns="45720" anchor="t"/>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n-GB"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n-GB"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n-GB" altLang="en-US" sz="1400"/>
              <a:pPr lvl="0" algn="r" eaLnBrk="1" hangingPunct="1"/>
              <a:t>‹#›</a:t>
            </a:fld>
            <a:endParaRPr lang="en-GB" altLang="en-US" sz="140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1" name="Rectangle 15"/>
          <p:cNvSpPr>
            <a:spLocks noGrp="1"/>
          </p:cNvSpPr>
          <p:nvPr>
            <p:ph type="title"/>
          </p:nvPr>
        </p:nvSpPr>
        <p:spPr>
          <a:xfrm>
            <a:off x="323850" y="2276475"/>
            <a:ext cx="8229600" cy="2808287"/>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eaLnBrk="1" hangingPunct="1"/>
            <a:r>
              <a:rPr lang="en-GB" altLang="en-US" sz="6000"/>
              <a:t>Week 2</a:t>
            </a:r>
            <a:br>
              <a:rPr lang="en-GB" altLang="en-US" sz="6000"/>
            </a:br>
            <a:r>
              <a:rPr lang="en-GB" altLang="en-US" sz="6000"/>
              <a:t>INTRODUCTION TO CRIMINAL LITIGATION</a:t>
            </a:r>
            <a:br>
              <a:rPr lang="en-GB" altLang="en-US" sz="6000"/>
            </a:br>
            <a:br>
              <a:rPr lang="en-GB" altLang="en-US" sz="6000"/>
            </a:br>
            <a:endParaRPr lang="en-GB" altLang="en-US" sz="6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3" name="Rectangle 2"/>
          <p:cNvSpPr>
            <a:spLocks noGrp="1"/>
          </p:cNvSpPr>
          <p:nvPr>
            <p:ph type="title"/>
          </p:nvPr>
        </p:nvSpPr>
        <p:spPr>
          <a:xfrm>
            <a:off x="457200" y="274637"/>
            <a:ext cx="8229600" cy="634083"/>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r>
              <a:rPr lang="en-US" altLang="en-US" dirty="0"/>
              <a:t>OUTCOMES:</a:t>
            </a:r>
          </a:p>
        </p:txBody>
      </p:sp>
      <p:sp>
        <p:nvSpPr>
          <p:cNvPr id="1048584" name="Rectangle 3"/>
          <p:cNvSpPr>
            <a:spLocks noGrp="1"/>
          </p:cNvSpPr>
          <p:nvPr>
            <p:ph type="body" idx="1"/>
          </p:nvPr>
        </p:nvSpPr>
        <p:spPr>
          <a:xfrm>
            <a:off x="251520" y="764705"/>
            <a:ext cx="8712968" cy="5818658"/>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a:lnSpc>
                <a:spcPct val="90000"/>
              </a:lnSpc>
            </a:pPr>
            <a:r>
              <a:rPr lang="en-US" altLang="en-US" sz="4000" dirty="0"/>
              <a:t>Discuss the scope of criminal litigation in Nigeria;</a:t>
            </a:r>
          </a:p>
          <a:p>
            <a:pPr lvl="0">
              <a:lnSpc>
                <a:spcPct val="90000"/>
              </a:lnSpc>
            </a:pPr>
            <a:r>
              <a:rPr lang="en-US" altLang="en-US" sz="4000" dirty="0"/>
              <a:t>List and compare the Laws and Rules applicable in various criminal courts in Nigeria;</a:t>
            </a:r>
          </a:p>
          <a:p>
            <a:pPr lvl="0">
              <a:lnSpc>
                <a:spcPct val="90000"/>
              </a:lnSpc>
            </a:pPr>
            <a:r>
              <a:rPr lang="en-US" altLang="en-US" sz="4000" dirty="0"/>
              <a:t>Identify and explain sources of the laws/rules guiding criminal litigation;</a:t>
            </a:r>
          </a:p>
          <a:p>
            <a:pPr lvl="0">
              <a:lnSpc>
                <a:spcPct val="90000"/>
              </a:lnSpc>
            </a:pPr>
            <a:r>
              <a:rPr lang="en-US" altLang="en-US" sz="4000" dirty="0"/>
              <a:t>Explain types, sittings and settings of criminal courts.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Rectangle 3"/>
          <p:cNvSpPr>
            <a:spLocks noGrp="1"/>
          </p:cNvSpPr>
          <p:nvPr>
            <p:ph type="body" idx="1"/>
          </p:nvPr>
        </p:nvSpPr>
        <p:spPr>
          <a:xfrm>
            <a:off x="457200" y="620688"/>
            <a:ext cx="8229600" cy="5505474"/>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r>
              <a:rPr lang="en-GB" altLang="en-US" sz="4400" b="1" dirty="0"/>
              <a:t>What is criminal litigation?</a:t>
            </a:r>
          </a:p>
          <a:p>
            <a:r>
              <a:rPr lang="en-GB" altLang="en-US" sz="4000" dirty="0"/>
              <a:t>Criminal litigation is the method adopted for bringing a person alleged to have committed a crime to court for trial;</a:t>
            </a:r>
          </a:p>
          <a:p>
            <a:r>
              <a:rPr lang="en-GB" altLang="en-US" sz="4000" dirty="0"/>
              <a:t>It includes the investigation, arraignment, trial, judgment and sentencing and appeals.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9" name="Rectangle 2"/>
          <p:cNvSpPr>
            <a:spLocks noGrp="1"/>
          </p:cNvSpPr>
          <p:nvPr>
            <p:ph type="title"/>
          </p:nvPr>
        </p:nvSpPr>
        <p:spPr>
          <a:xfrm>
            <a:off x="457200" y="274637"/>
            <a:ext cx="8229600" cy="994123"/>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r>
              <a:rPr lang="en-US" altLang="en-US" b="1" dirty="0"/>
              <a:t>Basic requirements of a criminal trial</a:t>
            </a:r>
          </a:p>
        </p:txBody>
      </p:sp>
      <p:sp>
        <p:nvSpPr>
          <p:cNvPr id="1048590" name="Rectangle 3"/>
          <p:cNvSpPr>
            <a:spLocks noGrp="1"/>
          </p:cNvSpPr>
          <p:nvPr>
            <p:ph type="body" idx="1"/>
          </p:nvPr>
        </p:nvSpPr>
        <p:spPr>
          <a:xfrm>
            <a:off x="468312" y="1412775"/>
            <a:ext cx="8218487" cy="5170587"/>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eaLnBrk="1" hangingPunct="1"/>
            <a:r>
              <a:rPr lang="en-GB" altLang="en-US" sz="3600" dirty="0"/>
              <a:t>The offence must be prescribed in a written law – S. 36(12) CFRN 1999.</a:t>
            </a:r>
          </a:p>
          <a:p>
            <a:pPr lvl="0" eaLnBrk="1" hangingPunct="1"/>
            <a:r>
              <a:rPr lang="en-GB" altLang="en-US" sz="3600" dirty="0"/>
              <a:t>A crime is an act or omission which under any written law is deemed to be a crime, thus attracting punishment.</a:t>
            </a:r>
          </a:p>
          <a:p>
            <a:pPr lvl="0" eaLnBrk="1" hangingPunct="1"/>
            <a:r>
              <a:rPr lang="en-GB" altLang="en-US" sz="3600" dirty="0"/>
              <a:t>See Ss. 2 Criminal Code; 28 Penal Code; 36(12) CFRN. See also section 494 ACJA.</a:t>
            </a:r>
          </a:p>
          <a:p>
            <a:pPr lvl="0" eaLnBrk="1" hangingPunct="1">
              <a:buFontTx/>
              <a:buNone/>
            </a:pPr>
            <a:endParaRPr lang="en-GB"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Rectangle 3"/>
          <p:cNvSpPr>
            <a:spLocks noGrp="1"/>
          </p:cNvSpPr>
          <p:nvPr>
            <p:ph type="body" idx="1"/>
          </p:nvPr>
        </p:nvSpPr>
        <p:spPr>
          <a:xfrm>
            <a:off x="323850" y="260648"/>
            <a:ext cx="8362950" cy="6597352"/>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indent="0" eaLnBrk="1" hangingPunct="1">
              <a:buNone/>
            </a:pPr>
            <a:r>
              <a:rPr lang="en-GB" altLang="en-US" b="1" dirty="0"/>
              <a:t>Laws applicable in various criminal courts</a:t>
            </a:r>
            <a:r>
              <a:rPr lang="en-GB" altLang="en-US" dirty="0"/>
              <a:t>:</a:t>
            </a:r>
          </a:p>
          <a:p>
            <a:pPr eaLnBrk="1" hangingPunct="1"/>
            <a:r>
              <a:rPr lang="en-GB" altLang="en-US" dirty="0"/>
              <a:t>Federal Courts – Acts of the National Assembly - ACJA; Criminal Code (South), Penal Code (North)</a:t>
            </a:r>
          </a:p>
          <a:p>
            <a:pPr lvl="0" eaLnBrk="1" hangingPunct="1">
              <a:buFontTx/>
              <a:buChar char="-"/>
            </a:pPr>
            <a:r>
              <a:rPr lang="en-GB" altLang="en-US" dirty="0"/>
              <a:t>High Courts of States – ACJL in various states; Criminal Code, Penal Code and the Laws of the Houses of Assembly of various states.</a:t>
            </a:r>
          </a:p>
          <a:p>
            <a:pPr lvl="0" eaLnBrk="1" hangingPunct="1">
              <a:buFontTx/>
              <a:buChar char="-"/>
            </a:pPr>
            <a:r>
              <a:rPr lang="en-GB" altLang="en-US" dirty="0"/>
              <a:t>High Court Lagos – ACJL, Criminal Law of Lagos State and Laws passed by the House of Assembly. 	</a:t>
            </a:r>
          </a:p>
          <a:p>
            <a:pPr lvl="0" eaLnBrk="1" hangingPunct="1">
              <a:buFontTx/>
              <a:buNone/>
            </a:pPr>
            <a:r>
              <a:rPr lang="en-GB" altLang="en-US" dirty="0"/>
              <a:t>	</a:t>
            </a:r>
          </a:p>
          <a:p>
            <a:pPr lvl="0" eaLnBrk="1" hangingPunct="1"/>
            <a:endParaRPr lang="en-GB"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Rectangle 2"/>
          <p:cNvSpPr>
            <a:spLocks noGrp="1"/>
          </p:cNvSpPr>
          <p:nvPr>
            <p:ph type="title"/>
          </p:nvPr>
        </p:nvSpPr>
        <p:spPr>
          <a:xfrm>
            <a:off x="457200" y="274637"/>
            <a:ext cx="8229600" cy="706091"/>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r>
              <a:rPr lang="en-US" altLang="en-US" b="1" dirty="0"/>
              <a:t>Stages of criminal trial:</a:t>
            </a:r>
          </a:p>
        </p:txBody>
      </p:sp>
      <p:sp>
        <p:nvSpPr>
          <p:cNvPr id="1048594" name="Rectangle 3"/>
          <p:cNvSpPr>
            <a:spLocks noGrp="1"/>
          </p:cNvSpPr>
          <p:nvPr>
            <p:ph type="body" idx="1"/>
          </p:nvPr>
        </p:nvSpPr>
        <p:spPr>
          <a:xfrm>
            <a:off x="457200" y="980727"/>
            <a:ext cx="8229600" cy="5602635"/>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eaLnBrk="1" hangingPunct="1">
              <a:buFontTx/>
              <a:buNone/>
            </a:pPr>
            <a:r>
              <a:rPr lang="en-GB" altLang="en-US" b="1" dirty="0"/>
              <a:t>CASE STUDY</a:t>
            </a:r>
            <a:r>
              <a:rPr lang="en-US" altLang="en-US" dirty="0"/>
              <a:t>: LADY “A”</a:t>
            </a:r>
          </a:p>
          <a:p>
            <a:pPr lvl="0" eaLnBrk="1" hangingPunct="1">
              <a:buFontTx/>
              <a:buNone/>
            </a:pPr>
            <a:r>
              <a:rPr lang="en-US" altLang="en-US" dirty="0"/>
              <a:t>	 Lady “A” went to a supermarket at Ahmadu Bello Way, Kaduna, picked some items and went to the cashier to pay. She did not pay for the shoes she picked from the store. On her way out, Lady “A” was arrested by the security men at the gate for theft. Her bag was searched and the shoes recovered.</a:t>
            </a:r>
          </a:p>
          <a:p>
            <a:pPr eaLnBrk="1" hangingPunct="1"/>
            <a:r>
              <a:rPr lang="en-US" altLang="en-US" sz="3200" dirty="0"/>
              <a:t>Lady “A” was arrested by the security men attached to the supermarket and</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Rectangle 3"/>
          <p:cNvSpPr>
            <a:spLocks noGrp="1"/>
          </p:cNvSpPr>
          <p:nvPr>
            <p:ph type="body" idx="1"/>
          </p:nvPr>
        </p:nvSpPr>
        <p:spPr>
          <a:xfrm>
            <a:off x="251521" y="333375"/>
            <a:ext cx="8506716" cy="6047953"/>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eaLnBrk="1" hangingPunct="1">
              <a:buFontTx/>
              <a:buNone/>
            </a:pPr>
            <a:r>
              <a:rPr lang="en-US" altLang="en-US" sz="3600" dirty="0"/>
              <a:t>  </a:t>
            </a:r>
            <a:r>
              <a:rPr lang="en-US" altLang="en-US" sz="3800" dirty="0"/>
              <a:t>handed over to the Police. She was interrogated/interviewed by the Police and taken to court on FIR. She denied committing the offence and was admitted to court bail. The Police called witnesses and closed its case. The Magistrate ruled that Lady “A” had case to answer, drafted a charge which was read to lady “A”. She pleaded not guilty to the charge.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3"/>
          <p:cNvSpPr>
            <a:spLocks noGrp="1"/>
          </p:cNvSpPr>
          <p:nvPr>
            <p:ph type="body" idx="1"/>
          </p:nvPr>
        </p:nvSpPr>
        <p:spPr>
          <a:xfrm>
            <a:off x="323850" y="404665"/>
            <a:ext cx="8362950" cy="6192687"/>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eaLnBrk="1" hangingPunct="1"/>
            <a:r>
              <a:rPr lang="en-US" altLang="en-US" sz="3600" dirty="0"/>
              <a:t>Lady “A” called witnesses in her </a:t>
            </a:r>
            <a:r>
              <a:rPr lang="en-US" altLang="en-US" sz="3600" dirty="0" err="1"/>
              <a:t>defence</a:t>
            </a:r>
            <a:r>
              <a:rPr lang="en-US" altLang="en-US" sz="3600" dirty="0"/>
              <a:t> and closed her case. Counsel addressed court. The Magistrate gave judgment and convicted her. </a:t>
            </a:r>
            <a:r>
              <a:rPr lang="en-US" altLang="en-US" sz="3600" dirty="0" err="1"/>
              <a:t>Lady”A</a:t>
            </a:r>
            <a:r>
              <a:rPr lang="en-US" altLang="en-US" sz="3600" dirty="0"/>
              <a:t>” made </a:t>
            </a:r>
            <a:r>
              <a:rPr lang="en-US" altLang="en-US" sz="3600" dirty="0" err="1"/>
              <a:t>allocutus</a:t>
            </a:r>
            <a:r>
              <a:rPr lang="en-US" altLang="en-US" sz="3600" dirty="0"/>
              <a:t> in mitigation of punishment. Lady “A” was sentenced to six months imprisonment or pay fine of N1000.00. Lady “A” was dissatisfied with the decision and she appealed.</a:t>
            </a:r>
          </a:p>
          <a:p>
            <a:pPr eaLnBrk="1" hangingPunct="1"/>
            <a:r>
              <a:rPr lang="en-US" altLang="en-US" sz="3600" dirty="0"/>
              <a:t>Identify the issues arising from this scenario.</a:t>
            </a:r>
          </a:p>
          <a:p>
            <a:pPr eaLnBrk="1" hangingPunct="1"/>
            <a:endParaRPr lang="en-US" altLang="en-US" sz="3600" dirty="0"/>
          </a:p>
          <a:p>
            <a:pPr lvl="0" eaLnBrk="1" hangingPunct="1">
              <a:buFontTx/>
              <a:buNone/>
            </a:pPr>
            <a:endParaRPr lang="en-US" altLang="en-US" dirty="0"/>
          </a:p>
          <a:p>
            <a:pPr lvl="0" eaLnBrk="1" hangingPunct="1">
              <a:buFontTx/>
              <a:buNone/>
            </a:pPr>
            <a:endParaRPr lang="en-US" altLang="en-US" dirty="0"/>
          </a:p>
          <a:p>
            <a:pPr lvl="0"/>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Title 1"/>
          <p:cNvSpPr>
            <a:spLocks noGrp="1"/>
          </p:cNvSpPr>
          <p:nvPr>
            <p:ph type="title"/>
          </p:nvPr>
        </p:nvSpPr>
        <p:spPr>
          <a:xfrm>
            <a:off x="457200" y="332657"/>
            <a:ext cx="8229600" cy="864095"/>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r>
              <a:rPr lang="en-GB" altLang="en-US" b="1" dirty="0"/>
              <a:t>The issues arising are:</a:t>
            </a:r>
          </a:p>
        </p:txBody>
      </p:sp>
      <p:sp>
        <p:nvSpPr>
          <p:cNvPr id="1048600" name="Content Placeholder 2"/>
          <p:cNvSpPr>
            <a:spLocks noGrp="1"/>
          </p:cNvSpPr>
          <p:nvPr>
            <p:ph idx="1"/>
          </p:nvPr>
        </p:nvSpPr>
        <p:spPr>
          <a:xfrm>
            <a:off x="457200" y="1196751"/>
            <a:ext cx="8229600" cy="5328591"/>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a:r>
              <a:rPr lang="en-GB" altLang="en-US" sz="3400" b="1" dirty="0"/>
              <a:t>Offence</a:t>
            </a:r>
            <a:r>
              <a:rPr lang="en-GB" altLang="en-US" sz="3400" dirty="0"/>
              <a:t>: Theft of shoes,</a:t>
            </a:r>
          </a:p>
          <a:p>
            <a:pPr lvl="0"/>
            <a:r>
              <a:rPr lang="en-GB" altLang="en-US" sz="3400" dirty="0"/>
              <a:t> </a:t>
            </a:r>
            <a:r>
              <a:rPr lang="en-GB" altLang="en-US" sz="3400" b="1" dirty="0"/>
              <a:t>Parties: 1. The State, 2. Lady “A”</a:t>
            </a:r>
          </a:p>
          <a:p>
            <a:pPr lvl="0"/>
            <a:r>
              <a:rPr lang="en-GB" altLang="en-US" sz="3400" b="1" dirty="0"/>
              <a:t>Search</a:t>
            </a:r>
            <a:r>
              <a:rPr lang="en-GB" altLang="en-US" sz="3400" dirty="0"/>
              <a:t> of lady “A” by the security men</a:t>
            </a:r>
          </a:p>
          <a:p>
            <a:pPr lvl="0"/>
            <a:r>
              <a:rPr lang="en-GB" altLang="en-US" sz="3400" b="1" dirty="0"/>
              <a:t>Arrest</a:t>
            </a:r>
            <a:r>
              <a:rPr lang="en-GB" altLang="en-US" sz="3400" dirty="0"/>
              <a:t> by security men, handing over to police of lady “A”</a:t>
            </a:r>
          </a:p>
          <a:p>
            <a:pPr lvl="0" algn="just"/>
            <a:r>
              <a:rPr lang="en-GB" altLang="en-US" sz="3400" b="1" dirty="0"/>
              <a:t>Interrogation/Investigation</a:t>
            </a:r>
            <a:r>
              <a:rPr lang="en-GB" altLang="en-US" sz="3400" dirty="0"/>
              <a:t> of lady “A”.</a:t>
            </a:r>
          </a:p>
          <a:p>
            <a:pPr lvl="0" algn="just"/>
            <a:r>
              <a:rPr lang="en-GB" altLang="en-US" sz="3400" b="1" dirty="0"/>
              <a:t>Arraignment</a:t>
            </a:r>
            <a:r>
              <a:rPr lang="en-GB" altLang="en-US" sz="3400" dirty="0"/>
              <a:t> of Lady “A” (Charge)</a:t>
            </a:r>
          </a:p>
          <a:p>
            <a:pPr lvl="0" algn="just"/>
            <a:r>
              <a:rPr lang="en-GB" altLang="en-US" sz="3400" b="1" dirty="0"/>
              <a:t>Plea</a:t>
            </a:r>
            <a:r>
              <a:rPr lang="en-GB" altLang="en-US" sz="3400" dirty="0"/>
              <a:t> of Lady “A”.</a:t>
            </a:r>
          </a:p>
          <a:p>
            <a:pPr lvl="0"/>
            <a:endParaRPr lang="en-GB"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Content Placeholder 2"/>
          <p:cNvSpPr>
            <a:spLocks noGrp="1"/>
          </p:cNvSpPr>
          <p:nvPr>
            <p:ph idx="1"/>
          </p:nvPr>
        </p:nvSpPr>
        <p:spPr>
          <a:xfrm>
            <a:off x="323528" y="260648"/>
            <a:ext cx="8496944" cy="6264696"/>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a:r>
              <a:rPr lang="en-GB" altLang="en-US" sz="3600" b="1" dirty="0"/>
              <a:t>Bail</a:t>
            </a:r>
            <a:r>
              <a:rPr lang="en-GB" altLang="en-US" sz="3600" dirty="0"/>
              <a:t> application by the defendant, lady “A”</a:t>
            </a:r>
          </a:p>
          <a:p>
            <a:pPr lvl="0"/>
            <a:r>
              <a:rPr lang="en-GB" altLang="en-US" sz="3600" b="1" dirty="0"/>
              <a:t>Prosecution</a:t>
            </a:r>
            <a:r>
              <a:rPr lang="en-GB" altLang="en-US" sz="3600" dirty="0"/>
              <a:t> opens its case and called all the witnesses who testified against the defendant and close its case.</a:t>
            </a:r>
          </a:p>
          <a:p>
            <a:pPr lvl="0"/>
            <a:r>
              <a:rPr lang="en-GB" altLang="en-US" sz="3600" b="1" dirty="0"/>
              <a:t>Defence </a:t>
            </a:r>
            <a:r>
              <a:rPr lang="en-GB" altLang="en-US" sz="3600" dirty="0"/>
              <a:t>makes a no case submission.</a:t>
            </a:r>
          </a:p>
          <a:p>
            <a:r>
              <a:rPr lang="en-GB" altLang="en-US" sz="3600" dirty="0"/>
              <a:t>Court rules on the no case submission, establishing a </a:t>
            </a:r>
            <a:r>
              <a:rPr lang="en-GB" altLang="en-US" sz="3600" i="1" dirty="0"/>
              <a:t>prima facie case</a:t>
            </a:r>
            <a:r>
              <a:rPr lang="en-GB" altLang="en-US" sz="3600" dirty="0"/>
              <a:t> against the defendant.</a:t>
            </a:r>
          </a:p>
          <a:p>
            <a:pPr lvl="0" algn="just"/>
            <a:endParaRPr lang="en-GB" altLang="en-US" dirty="0"/>
          </a:p>
          <a:p>
            <a:pPr lvl="0"/>
            <a:endParaRPr lang="en-GB"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Content Placeholder 2"/>
          <p:cNvSpPr>
            <a:spLocks noGrp="1"/>
          </p:cNvSpPr>
          <p:nvPr>
            <p:ph idx="1"/>
          </p:nvPr>
        </p:nvSpPr>
        <p:spPr>
          <a:xfrm>
            <a:off x="323528" y="332656"/>
            <a:ext cx="8568952" cy="6120531"/>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a:r>
              <a:rPr lang="en-GB" altLang="en-US" sz="3400" b="1" dirty="0"/>
              <a:t>Framing charge: </a:t>
            </a:r>
            <a:r>
              <a:rPr lang="en-GB" altLang="en-US" sz="3400" dirty="0"/>
              <a:t>In the Magistrate Court in the North, Magistrate drafts charges and reads same to the defendant. In the South, Police drafts charges.</a:t>
            </a:r>
          </a:p>
          <a:p>
            <a:pPr lvl="0"/>
            <a:r>
              <a:rPr lang="en-GB" altLang="en-US" sz="3400" b="1" dirty="0"/>
              <a:t>Plea</a:t>
            </a:r>
            <a:r>
              <a:rPr lang="en-GB" altLang="en-US" sz="3400" dirty="0"/>
              <a:t>  of the defendant is taken.</a:t>
            </a:r>
          </a:p>
          <a:p>
            <a:pPr lvl="0"/>
            <a:r>
              <a:rPr lang="en-GB" altLang="en-US" sz="3400" dirty="0"/>
              <a:t>Prosecution may be allowed to call additional </a:t>
            </a:r>
            <a:r>
              <a:rPr lang="en-GB" altLang="en-US" sz="3400" b="1" dirty="0"/>
              <a:t>witnesses</a:t>
            </a:r>
            <a:r>
              <a:rPr lang="en-GB" altLang="en-US" sz="3400" dirty="0"/>
              <a:t> or recall any one that had testified.</a:t>
            </a:r>
          </a:p>
          <a:p>
            <a:r>
              <a:rPr lang="en-GB" altLang="en-US" sz="3400" dirty="0"/>
              <a:t>Lady “A” enters her </a:t>
            </a:r>
            <a:r>
              <a:rPr lang="en-GB" altLang="en-US" sz="3400" b="1" dirty="0"/>
              <a:t>defence</a:t>
            </a:r>
            <a:r>
              <a:rPr lang="en-GB" altLang="en-US" sz="3400" dirty="0"/>
              <a:t>.</a:t>
            </a:r>
          </a:p>
          <a:p>
            <a:r>
              <a:rPr lang="en-GB" altLang="en-US" sz="3400" dirty="0"/>
              <a:t>Defence counsel </a:t>
            </a:r>
            <a:r>
              <a:rPr lang="en-GB" altLang="en-US" sz="3400" b="1" dirty="0"/>
              <a:t>addresses</a:t>
            </a:r>
            <a:r>
              <a:rPr lang="en-GB" altLang="en-US" sz="3400" dirty="0"/>
              <a:t> the Court first </a:t>
            </a:r>
            <a:r>
              <a:rPr lang="en-GB" altLang="en-US" sz="3600" dirty="0"/>
              <a:t>and the prosecution replies.</a:t>
            </a:r>
          </a:p>
          <a:p>
            <a:pPr marL="0" indent="0">
              <a:buNone/>
            </a:pPr>
            <a:endParaRPr lang="en-GB" altLang="en-US" sz="3400" dirty="0"/>
          </a:p>
          <a:p>
            <a:pPr marL="0" lvl="0" indent="0">
              <a:buNone/>
            </a:pPr>
            <a:endParaRPr lang="en-GB"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Content Placeholder 2"/>
          <p:cNvSpPr>
            <a:spLocks noGrp="1"/>
          </p:cNvSpPr>
          <p:nvPr>
            <p:ph idx="1"/>
          </p:nvPr>
        </p:nvSpPr>
        <p:spPr>
          <a:xfrm>
            <a:off x="250825" y="188641"/>
            <a:ext cx="8435975" cy="6480720"/>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a:r>
              <a:rPr lang="en-GB" altLang="en-US" sz="3400" dirty="0"/>
              <a:t>After evidence is taken and counsel </a:t>
            </a:r>
            <a:r>
              <a:rPr lang="en-GB" altLang="en-US" sz="3400" b="1" dirty="0"/>
              <a:t>addresses</a:t>
            </a:r>
            <a:r>
              <a:rPr lang="en-GB" altLang="en-US" sz="3400" dirty="0"/>
              <a:t> court,  </a:t>
            </a:r>
            <a:r>
              <a:rPr lang="en-GB" altLang="en-US" sz="3400" b="1" dirty="0"/>
              <a:t>judgment</a:t>
            </a:r>
            <a:r>
              <a:rPr lang="en-GB" altLang="en-US" sz="3400" dirty="0"/>
              <a:t> is delivered.</a:t>
            </a:r>
          </a:p>
          <a:p>
            <a:pPr lvl="0"/>
            <a:r>
              <a:rPr lang="en-GB" altLang="en-US" sz="3400" dirty="0"/>
              <a:t>Lady “A” was found guilty and convicted.</a:t>
            </a:r>
          </a:p>
          <a:p>
            <a:pPr lvl="0"/>
            <a:r>
              <a:rPr lang="en-GB" altLang="en-US" sz="3400" dirty="0"/>
              <a:t>Lady “A” pleads for leniency in </a:t>
            </a:r>
            <a:r>
              <a:rPr lang="en-GB" altLang="en-US" sz="3400" dirty="0" err="1"/>
              <a:t>allocutus</a:t>
            </a:r>
            <a:r>
              <a:rPr lang="en-GB" altLang="en-US" sz="3400" dirty="0"/>
              <a:t>.</a:t>
            </a:r>
          </a:p>
          <a:p>
            <a:pPr lvl="0"/>
            <a:r>
              <a:rPr lang="en-GB" altLang="en-US" sz="3400" dirty="0"/>
              <a:t>Lady “A” is sentenced to six months imprisonment or N1,000 fine. </a:t>
            </a:r>
          </a:p>
          <a:p>
            <a:pPr lvl="0"/>
            <a:r>
              <a:rPr lang="en-GB" altLang="en-US" sz="3400" dirty="0"/>
              <a:t>Lady “A” exercises her right of </a:t>
            </a:r>
            <a:r>
              <a:rPr lang="en-GB" altLang="en-US" sz="3400" b="1" dirty="0"/>
              <a:t>appeal</a:t>
            </a:r>
            <a:r>
              <a:rPr lang="en-GB" altLang="en-US" sz="3400" dirty="0"/>
              <a:t>.</a:t>
            </a:r>
          </a:p>
          <a:p>
            <a:r>
              <a:rPr lang="en-GB" altLang="en-US" sz="3400" b="1" dirty="0"/>
              <a:t>Issues identified above represent stages of a criminal trial. </a:t>
            </a:r>
          </a:p>
          <a:p>
            <a:pPr marL="0" lvl="0" indent="0" algn="just">
              <a:buNone/>
            </a:pPr>
            <a:endParaRPr lang="en-GB"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Rectangle 3"/>
          <p:cNvSpPr>
            <a:spLocks noGrp="1"/>
          </p:cNvSpPr>
          <p:nvPr>
            <p:ph type="body" idx="1"/>
          </p:nvPr>
        </p:nvSpPr>
        <p:spPr>
          <a:xfrm>
            <a:off x="468312" y="404664"/>
            <a:ext cx="8064500" cy="6192986"/>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eaLnBrk="1" hangingPunct="1">
              <a:lnSpc>
                <a:spcPct val="90000"/>
              </a:lnSpc>
            </a:pPr>
            <a:r>
              <a:rPr lang="en-GB" altLang="en-US" sz="3600" b="1" dirty="0"/>
              <a:t>Sources of criminal litigation</a:t>
            </a:r>
          </a:p>
          <a:p>
            <a:pPr eaLnBrk="1" hangingPunct="1">
              <a:lnSpc>
                <a:spcPct val="90000"/>
              </a:lnSpc>
            </a:pPr>
            <a:r>
              <a:rPr lang="en-GB" altLang="en-US" sz="3600" dirty="0"/>
              <a:t>Can be categorized into four:</a:t>
            </a:r>
          </a:p>
          <a:p>
            <a:pPr lvl="0" eaLnBrk="1" hangingPunct="1">
              <a:lnSpc>
                <a:spcPct val="90000"/>
              </a:lnSpc>
              <a:buFontTx/>
              <a:buAutoNum type="arabicPeriod"/>
            </a:pPr>
            <a:r>
              <a:rPr lang="en-GB" altLang="en-US" sz="3600" dirty="0"/>
              <a:t>The primary enactments</a:t>
            </a:r>
          </a:p>
          <a:p>
            <a:pPr lvl="0" eaLnBrk="1" hangingPunct="1">
              <a:lnSpc>
                <a:spcPct val="90000"/>
              </a:lnSpc>
              <a:buFontTx/>
              <a:buAutoNum type="arabicPeriod"/>
            </a:pPr>
            <a:r>
              <a:rPr lang="en-GB" altLang="en-US" sz="3600" dirty="0"/>
              <a:t>The secondary enactments</a:t>
            </a:r>
          </a:p>
          <a:p>
            <a:pPr lvl="0" eaLnBrk="1" hangingPunct="1">
              <a:lnSpc>
                <a:spcPct val="90000"/>
              </a:lnSpc>
              <a:buFontTx/>
              <a:buAutoNum type="arabicPeriod"/>
            </a:pPr>
            <a:r>
              <a:rPr lang="en-GB" altLang="en-US" sz="3600" dirty="0"/>
              <a:t> Application of practice and procedure in criminal matters where there is a lacuna in our law to ensure justice</a:t>
            </a:r>
          </a:p>
          <a:p>
            <a:pPr lvl="0" eaLnBrk="1" hangingPunct="1">
              <a:lnSpc>
                <a:spcPct val="90000"/>
              </a:lnSpc>
              <a:buFontTx/>
              <a:buAutoNum type="arabicPeriod"/>
            </a:pPr>
            <a:r>
              <a:rPr lang="en-GB" altLang="en-US" sz="3600" dirty="0"/>
              <a:t> Judicial interpretation of statutes</a:t>
            </a:r>
          </a:p>
          <a:p>
            <a:pPr lvl="0" eaLnBrk="1" hangingPunct="1">
              <a:lnSpc>
                <a:spcPct val="90000"/>
              </a:lnSpc>
              <a:buFontTx/>
              <a:buNone/>
            </a:pPr>
            <a:endParaRPr lang="en-GB" alt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890A97-A78F-5F46-B5F9-D20EA5A05E68}"/>
              </a:ext>
            </a:extLst>
          </p:cNvPr>
          <p:cNvSpPr>
            <a:spLocks noGrp="1"/>
          </p:cNvSpPr>
          <p:nvPr>
            <p:ph idx="1"/>
          </p:nvPr>
        </p:nvSpPr>
        <p:spPr>
          <a:xfrm>
            <a:off x="457200" y="404664"/>
            <a:ext cx="8229600" cy="5721498"/>
          </a:xfrm>
        </p:spPr>
        <p:txBody>
          <a:bodyPr/>
          <a:lstStyle/>
          <a:p>
            <a:pPr marL="0" lvl="0" indent="0" eaLnBrk="1" hangingPunct="1">
              <a:lnSpc>
                <a:spcPct val="90000"/>
              </a:lnSpc>
              <a:spcBef>
                <a:spcPct val="0"/>
              </a:spcBef>
              <a:buFontTx/>
              <a:buNone/>
            </a:pPr>
            <a:r>
              <a:rPr lang="en-GB" altLang="en-US" sz="4000" dirty="0"/>
              <a:t>1. P</a:t>
            </a:r>
            <a:r>
              <a:rPr lang="en-GB" altLang="en-US" sz="4000" b="1" dirty="0"/>
              <a:t>rincipal enactments -  ACJL</a:t>
            </a:r>
            <a:r>
              <a:rPr lang="en-GB" altLang="en-US" sz="4000" dirty="0"/>
              <a:t>(Lagos);</a:t>
            </a:r>
            <a:r>
              <a:rPr lang="en-GB" altLang="en-US" sz="4000" b="1" dirty="0"/>
              <a:t> </a:t>
            </a:r>
            <a:r>
              <a:rPr lang="en-GB" altLang="en-US" sz="4000" dirty="0"/>
              <a:t>ACJL(Kano) &amp; ACJA note s. 493 ACJA</a:t>
            </a:r>
          </a:p>
          <a:p>
            <a:pPr marL="0" lvl="0" indent="0" eaLnBrk="1" hangingPunct="1">
              <a:lnSpc>
                <a:spcPct val="90000"/>
              </a:lnSpc>
              <a:spcBef>
                <a:spcPct val="0"/>
              </a:spcBef>
              <a:buFontTx/>
              <a:buNone/>
            </a:pPr>
            <a:r>
              <a:rPr lang="en-GB" altLang="en-US" sz="4000" dirty="0"/>
              <a:t>2. </a:t>
            </a:r>
            <a:r>
              <a:rPr lang="en-GB" altLang="en-US" sz="4000" b="1" dirty="0"/>
              <a:t>Secondary enactments -</a:t>
            </a:r>
            <a:r>
              <a:rPr lang="en-GB" altLang="en-US" sz="4000" dirty="0"/>
              <a:t> CFRN 1999 - Fundamental Rights; Power of AG to initiate, take over, or discontinue criminal cases - s.174(1); s.211(1) CFRN 1999; - Power of the President &amp; Governors to grant pardon- s.175(1) &amp; 212(1) of CFRN 1999.</a:t>
            </a:r>
          </a:p>
          <a:p>
            <a:endParaRPr lang="en-NG" dirty="0"/>
          </a:p>
        </p:txBody>
      </p:sp>
    </p:spTree>
    <p:extLst>
      <p:ext uri="{BB962C8B-B14F-4D97-AF65-F5344CB8AC3E}">
        <p14:creationId xmlns:p14="http://schemas.microsoft.com/office/powerpoint/2010/main" val="1598038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Rectangle 2"/>
          <p:cNvSpPr>
            <a:spLocks noGrp="1"/>
          </p:cNvSpPr>
          <p:nvPr>
            <p:ph type="title"/>
          </p:nvPr>
        </p:nvSpPr>
        <p:spPr>
          <a:xfrm>
            <a:off x="684212" y="-1535112"/>
            <a:ext cx="8158162" cy="1535112"/>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eaLnBrk="1" hangingPunct="1"/>
            <a:endParaRPr lang="en-US" altLang="en-US"/>
          </a:p>
        </p:txBody>
      </p:sp>
      <p:sp>
        <p:nvSpPr>
          <p:cNvPr id="1048612" name="Rectangle 3"/>
          <p:cNvSpPr>
            <a:spLocks noGrp="1"/>
          </p:cNvSpPr>
          <p:nvPr>
            <p:ph type="body" idx="1"/>
          </p:nvPr>
        </p:nvSpPr>
        <p:spPr>
          <a:xfrm>
            <a:off x="250825" y="333375"/>
            <a:ext cx="8497888" cy="6264275"/>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eaLnBrk="1" hangingPunct="1">
              <a:lnSpc>
                <a:spcPct val="90000"/>
              </a:lnSpc>
            </a:pPr>
            <a:r>
              <a:rPr lang="en-GB" altLang="en-US" sz="4000" dirty="0"/>
              <a:t>Chap VII CFRN 1999 gives the courts of records appellate criminal jurisdiction, </a:t>
            </a:r>
          </a:p>
          <a:p>
            <a:pPr eaLnBrk="1" hangingPunct="1">
              <a:lnSpc>
                <a:spcPct val="90000"/>
              </a:lnSpc>
            </a:pPr>
            <a:r>
              <a:rPr lang="en-GB" altLang="en-US" sz="4000" dirty="0"/>
              <a:t>Magistrate Courts Laws/ Rules,</a:t>
            </a:r>
          </a:p>
          <a:p>
            <a:pPr eaLnBrk="1" hangingPunct="1">
              <a:lnSpc>
                <a:spcPct val="90000"/>
              </a:lnSpc>
            </a:pPr>
            <a:r>
              <a:rPr lang="en-GB" altLang="en-US" sz="4000" dirty="0"/>
              <a:t>High Court Laws/ Rules, </a:t>
            </a:r>
          </a:p>
          <a:p>
            <a:pPr eaLnBrk="1" hangingPunct="1">
              <a:lnSpc>
                <a:spcPct val="90000"/>
              </a:lnSpc>
            </a:pPr>
            <a:r>
              <a:rPr lang="en-GB" altLang="en-US" sz="4000" dirty="0"/>
              <a:t>Federal High Court Act/ Rules,</a:t>
            </a:r>
          </a:p>
          <a:p>
            <a:pPr eaLnBrk="1" hangingPunct="1">
              <a:lnSpc>
                <a:spcPct val="90000"/>
              </a:lnSpc>
            </a:pPr>
            <a:r>
              <a:rPr lang="en-GB" altLang="en-US" sz="4000" dirty="0"/>
              <a:t>Court of Appeal Act/ Rules,</a:t>
            </a:r>
          </a:p>
          <a:p>
            <a:pPr eaLnBrk="1" hangingPunct="1">
              <a:lnSpc>
                <a:spcPct val="90000"/>
              </a:lnSpc>
            </a:pPr>
            <a:r>
              <a:rPr lang="en-GB" altLang="en-US" sz="4000" dirty="0"/>
              <a:t>Supreme Court Act/ Rules.</a:t>
            </a:r>
          </a:p>
          <a:p>
            <a:pPr lvl="0" eaLnBrk="1" hangingPunct="1"/>
            <a:r>
              <a:rPr lang="en-GB" altLang="en-US" sz="4000" dirty="0"/>
              <a:t>High Court Appeal Rules</a:t>
            </a:r>
          </a:p>
          <a:p>
            <a:pPr lvl="0" eaLnBrk="1" hangingPunct="1">
              <a:lnSpc>
                <a:spcPct val="90000"/>
              </a:lnSpc>
              <a:buFontTx/>
              <a:buNone/>
            </a:pPr>
            <a:r>
              <a:rPr lang="en-GB" altLang="en-US" sz="4000" dirty="0"/>
              <a:t> </a:t>
            </a:r>
          </a:p>
          <a:p>
            <a:pPr lvl="0" eaLnBrk="1" hangingPunct="1">
              <a:lnSpc>
                <a:spcPct val="90000"/>
              </a:lnSpc>
              <a:buFontTx/>
              <a:buNone/>
            </a:pPr>
            <a:r>
              <a:rPr lang="en-GB" altLang="en-US" sz="4000" dirty="0"/>
              <a:t>	</a:t>
            </a:r>
          </a:p>
          <a:p>
            <a:pPr lvl="0" eaLnBrk="1" hangingPunct="1">
              <a:lnSpc>
                <a:spcPct val="90000"/>
              </a:lnSpc>
            </a:pPr>
            <a:endParaRPr lang="en-GB" alt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Rectangle 3"/>
          <p:cNvSpPr>
            <a:spLocks noGrp="1"/>
          </p:cNvSpPr>
          <p:nvPr>
            <p:ph type="body" idx="1"/>
          </p:nvPr>
        </p:nvSpPr>
        <p:spPr>
          <a:xfrm>
            <a:off x="468312" y="333375"/>
            <a:ext cx="8218487" cy="6264275"/>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eaLnBrk="1" hangingPunct="1">
              <a:lnSpc>
                <a:spcPct val="90000"/>
              </a:lnSpc>
              <a:buFontTx/>
              <a:buNone/>
            </a:pPr>
            <a:r>
              <a:rPr lang="en-GB" altLang="en-US" sz="4000" dirty="0"/>
              <a:t>Court of Appeal Act/ Rules,</a:t>
            </a:r>
          </a:p>
          <a:p>
            <a:pPr lvl="0" eaLnBrk="1" hangingPunct="1">
              <a:lnSpc>
                <a:spcPct val="90000"/>
              </a:lnSpc>
              <a:buFontTx/>
              <a:buNone/>
            </a:pPr>
            <a:r>
              <a:rPr lang="en-GB" altLang="en-US" sz="4000" dirty="0"/>
              <a:t>Supreme Court Act/ Rules.</a:t>
            </a:r>
          </a:p>
          <a:p>
            <a:pPr lvl="0" eaLnBrk="1" hangingPunct="1"/>
            <a:r>
              <a:rPr lang="en-GB" altLang="en-US" sz="4000" dirty="0"/>
              <a:t>High Court Appeal Rules</a:t>
            </a:r>
          </a:p>
          <a:p>
            <a:pPr lvl="0" eaLnBrk="1" hangingPunct="1"/>
            <a:r>
              <a:rPr lang="en-GB" altLang="en-US" sz="4000" dirty="0"/>
              <a:t>Practice Directions of Courts</a:t>
            </a:r>
          </a:p>
          <a:p>
            <a:pPr lvl="0" eaLnBrk="1" hangingPunct="1"/>
            <a:r>
              <a:rPr lang="en-GB" altLang="en-US" sz="4000" dirty="0"/>
              <a:t>There are procedures laid down  for certain offences and offenders and the punishment prescribed: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Content Placeholder 2"/>
          <p:cNvSpPr>
            <a:spLocks noGrp="1"/>
          </p:cNvSpPr>
          <p:nvPr>
            <p:ph idx="1"/>
          </p:nvPr>
        </p:nvSpPr>
        <p:spPr>
          <a:xfrm>
            <a:off x="457200" y="404664"/>
            <a:ext cx="8229600" cy="5721498"/>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r>
              <a:rPr lang="en-GB" altLang="en-US" sz="3600" dirty="0"/>
              <a:t>The Children and Young Persons laws, The Child Rights Act/Laws, Coroners Laws, Armed Forces Act, Police Act, </a:t>
            </a:r>
          </a:p>
          <a:p>
            <a:r>
              <a:rPr lang="en-GB" altLang="en-US" sz="3600" dirty="0"/>
              <a:t>Evidence Act 2011 (with amendments).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Rectangle 2"/>
          <p:cNvSpPr>
            <a:spLocks noGrp="1"/>
          </p:cNvSpPr>
          <p:nvPr>
            <p:ph type="title"/>
          </p:nvPr>
        </p:nvSpPr>
        <p:spPr>
          <a:xfrm>
            <a:off x="395287" y="-963612"/>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eaLnBrk="1" hangingPunct="1"/>
            <a:endParaRPr lang="en-US" altLang="en-US"/>
          </a:p>
        </p:txBody>
      </p:sp>
      <p:sp>
        <p:nvSpPr>
          <p:cNvPr id="1048618" name="Rectangle 3"/>
          <p:cNvSpPr>
            <a:spLocks noGrp="1"/>
          </p:cNvSpPr>
          <p:nvPr>
            <p:ph type="body" idx="1"/>
          </p:nvPr>
        </p:nvSpPr>
        <p:spPr>
          <a:xfrm>
            <a:off x="323850" y="188912"/>
            <a:ext cx="8229600" cy="6326187"/>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eaLnBrk="1" hangingPunct="1"/>
            <a:r>
              <a:rPr lang="en-GB" altLang="en-US" dirty="0"/>
              <a:t>3. </a:t>
            </a:r>
            <a:r>
              <a:rPr lang="en-GB" altLang="en-US" b="1" dirty="0"/>
              <a:t>APPLICATION OF ENGLISH HIGH COURT PRACTICE AND PROCEDURE IN CRIMINAL MATTERS-</a:t>
            </a:r>
            <a:r>
              <a:rPr lang="en-GB" altLang="en-US" dirty="0"/>
              <a:t> S.363 of the repealed CPL, where there is a lacuna in our law, recourse may be had to English Law</a:t>
            </a:r>
          </a:p>
          <a:p>
            <a:pPr lvl="0" eaLnBrk="1" hangingPunct="1"/>
            <a:r>
              <a:rPr lang="en-GB" altLang="en-US" i="1" dirty="0"/>
              <a:t>BOARD OF CUSTOMS AND EXCISE V. HASSAN (1978) 2 LRN 56</a:t>
            </a:r>
          </a:p>
          <a:p>
            <a:pPr lvl="0" eaLnBrk="1" hangingPunct="1"/>
            <a:r>
              <a:rPr lang="en-GB" altLang="en-US" i="1" dirty="0"/>
              <a:t>SIMIDELE V. COP (1966) 5 SC 313</a:t>
            </a:r>
          </a:p>
          <a:p>
            <a:pPr lvl="0" eaLnBrk="1" hangingPunct="1"/>
            <a:r>
              <a:rPr lang="en-GB" altLang="en-US" i="1" dirty="0"/>
              <a:t>OLUGBUSI &amp; ORS V. COP (1970) 2 ALL NLR 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Rectangle 2"/>
          <p:cNvSpPr>
            <a:spLocks noGrp="1"/>
          </p:cNvSpPr>
          <p:nvPr>
            <p:ph type="title"/>
          </p:nvPr>
        </p:nvSpPr>
        <p:spPr>
          <a:xfrm>
            <a:off x="611187" y="-1466850"/>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eaLnBrk="1" hangingPunct="1"/>
            <a:endParaRPr lang="en-US" altLang="en-US"/>
          </a:p>
        </p:txBody>
      </p:sp>
      <p:sp>
        <p:nvSpPr>
          <p:cNvPr id="1048620" name="Rectangle 3"/>
          <p:cNvSpPr>
            <a:spLocks noGrp="1"/>
          </p:cNvSpPr>
          <p:nvPr>
            <p:ph type="body" idx="1"/>
          </p:nvPr>
        </p:nvSpPr>
        <p:spPr>
          <a:xfrm>
            <a:off x="250825" y="260350"/>
            <a:ext cx="8604250" cy="7018337"/>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eaLnBrk="1" hangingPunct="1"/>
            <a:r>
              <a:rPr lang="en-GB" altLang="en-US" sz="4000"/>
              <a:t>where it is used- (1). Change of plea by the defendant (by leave of court) see Board of Customs &amp; Excise v. Hassan, (2). Application for bail in High Court where bail is refused in the Magistrates Court, bail application in High Court is by summons not motion- Simidele v. C.O.P.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Rectangle 2"/>
          <p:cNvSpPr>
            <a:spLocks noGrp="1"/>
          </p:cNvSpPr>
          <p:nvPr>
            <p:ph type="title"/>
          </p:nvPr>
        </p:nvSpPr>
        <p:spPr>
          <a:xfrm>
            <a:off x="914400" y="-1539875"/>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eaLnBrk="1" hangingPunct="1"/>
            <a:endParaRPr lang="en-US" altLang="en-US"/>
          </a:p>
        </p:txBody>
      </p:sp>
      <p:sp>
        <p:nvSpPr>
          <p:cNvPr id="1048622" name="Rectangle 3"/>
          <p:cNvSpPr>
            <a:spLocks noGrp="1"/>
          </p:cNvSpPr>
          <p:nvPr>
            <p:ph type="body" idx="1"/>
          </p:nvPr>
        </p:nvSpPr>
        <p:spPr>
          <a:xfrm>
            <a:off x="250825" y="0"/>
            <a:ext cx="8893175" cy="6858000"/>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eaLnBrk="1" hangingPunct="1"/>
            <a:r>
              <a:rPr lang="en-GB" altLang="en-US" sz="3600" dirty="0"/>
              <a:t>Note that- s.35 High Court Law Northern Nigeria 1963 provides that High Court in the North are not compelled to resort to the Practice and Procedure of the High Court of England in criminal matters but may adopt any Practice and Procedure that will enable court do justice to the matter.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Content Placeholder 2"/>
          <p:cNvSpPr>
            <a:spLocks noGrp="1"/>
          </p:cNvSpPr>
          <p:nvPr>
            <p:ph idx="1"/>
          </p:nvPr>
        </p:nvSpPr>
        <p:spPr>
          <a:xfrm>
            <a:off x="457200" y="548680"/>
            <a:ext cx="8229600" cy="5577482"/>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r>
              <a:rPr lang="en-GB" altLang="en-US" sz="3600" dirty="0"/>
              <a:t>-see </a:t>
            </a:r>
            <a:r>
              <a:rPr lang="en-GB" altLang="en-US" sz="3600" i="1" dirty="0" err="1"/>
              <a:t>Achadu</a:t>
            </a:r>
            <a:r>
              <a:rPr lang="en-GB" altLang="en-US" sz="3600" i="1" dirty="0"/>
              <a:t> v. State (1981) 1 NCR 16</a:t>
            </a:r>
            <a:r>
              <a:rPr lang="en-GB" altLang="en-US" sz="3600" dirty="0"/>
              <a:t> – held  that bail application in High Court Northern is by summons or by motion. </a:t>
            </a:r>
          </a:p>
          <a:p>
            <a:r>
              <a:rPr lang="en-GB" altLang="en-US" sz="3600" dirty="0"/>
              <a:t>In the south, it is by summons only. Note S. 492(3) ACJA and S. 262 ACJL “adopt procedure that will do substantial justice in the matter”</a:t>
            </a:r>
          </a:p>
          <a:p>
            <a:endParaRPr lang="en-GB"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Rectangle 3"/>
          <p:cNvSpPr>
            <a:spLocks noGrp="1"/>
          </p:cNvSpPr>
          <p:nvPr>
            <p:ph type="body" idx="1"/>
          </p:nvPr>
        </p:nvSpPr>
        <p:spPr>
          <a:xfrm>
            <a:off x="395536" y="404664"/>
            <a:ext cx="8424614" cy="6120680"/>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eaLnBrk="1" hangingPunct="1"/>
            <a:r>
              <a:rPr lang="en-GB" altLang="en-US" sz="3600" dirty="0"/>
              <a:t>4  </a:t>
            </a:r>
            <a:r>
              <a:rPr lang="en-GB" altLang="en-US" sz="3600" b="1" dirty="0"/>
              <a:t>JUDICIAL INTERPRETATION OF ENACTMENTS-</a:t>
            </a:r>
            <a:r>
              <a:rPr lang="en-GB" altLang="en-US" sz="3600" dirty="0"/>
              <a:t> done through the rules of interpretation of statutes- </a:t>
            </a:r>
            <a:r>
              <a:rPr lang="en-GB" altLang="en-US" sz="3600" i="1" dirty="0"/>
              <a:t>Bank of England v. </a:t>
            </a:r>
            <a:r>
              <a:rPr lang="en-GB" altLang="en-US" sz="3600" i="1" dirty="0" err="1"/>
              <a:t>Vagliano</a:t>
            </a:r>
            <a:r>
              <a:rPr lang="en-GB" altLang="en-US" sz="3600" i="1" dirty="0"/>
              <a:t> Brothers (1891) ac 107 at 144 -145 Held- the language of a statute must be observed to know their ordinary and natural meaning. see: Garba v. FCSC; </a:t>
            </a:r>
            <a:r>
              <a:rPr lang="en-GB" altLang="en-US" sz="3600" i="1" dirty="0" err="1"/>
              <a:t>Bronik</a:t>
            </a:r>
            <a:r>
              <a:rPr lang="en-GB" altLang="en-US" sz="3600" i="1" dirty="0"/>
              <a:t> Motors Ltd </a:t>
            </a:r>
            <a:r>
              <a:rPr lang="en-GB" altLang="en-US" sz="3600" i="1" dirty="0" err="1"/>
              <a:t>v.Wema</a:t>
            </a:r>
            <a:r>
              <a:rPr lang="en-GB" altLang="en-US" sz="3600" i="1" dirty="0"/>
              <a:t> Bank Ltd.</a:t>
            </a:r>
          </a:p>
          <a:p>
            <a:pPr lvl="0" eaLnBrk="1" hangingPunct="1">
              <a:buFontTx/>
              <a:buNone/>
            </a:pPr>
            <a:r>
              <a:rPr lang="en-GB" altLang="en-US" sz="3600" i="1"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Content Placeholder 2"/>
          <p:cNvSpPr>
            <a:spLocks noGrp="1"/>
          </p:cNvSpPr>
          <p:nvPr>
            <p:ph idx="1"/>
          </p:nvPr>
        </p:nvSpPr>
        <p:spPr>
          <a:xfrm>
            <a:off x="457200" y="476672"/>
            <a:ext cx="8229600" cy="5649490"/>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a:r>
              <a:rPr lang="en-GB" altLang="en-US" sz="3600" dirty="0"/>
              <a:t>The interpretations courts give to statutes form part of the criminal trial process. In </a:t>
            </a:r>
            <a:r>
              <a:rPr lang="en-GB" altLang="en-US" sz="3600" i="1" dirty="0"/>
              <a:t>FRN v. Ibori</a:t>
            </a:r>
            <a:r>
              <a:rPr lang="en-GB" altLang="en-US" sz="3600" dirty="0"/>
              <a:t>, the Court of Appeal held that criminal case must be filed where the offence took place. Prosecutors can no longer engage in forum shopping by filing cases at their preferred courts.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r>
              <a:rPr lang="en-GB" altLang="en-US" sz="4000" b="1" dirty="0"/>
              <a:t>Types, Sittings and settings of Criminal Courts</a:t>
            </a:r>
          </a:p>
        </p:txBody>
      </p:sp>
      <p:sp>
        <p:nvSpPr>
          <p:cNvPr id="1048629" name="Content Placeholder 2"/>
          <p:cNvSpPr>
            <a:spLocks noGrp="1"/>
          </p:cNvSpPr>
          <p:nvPr>
            <p:ph idx="1"/>
          </p:nvPr>
        </p:nvSpPr>
        <p:spPr>
          <a:xfrm>
            <a:off x="468312" y="1412876"/>
            <a:ext cx="8218487" cy="5170488"/>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r>
              <a:rPr lang="en-GB" altLang="en-US" sz="3600" dirty="0"/>
              <a:t>There are two types of courts of criminal jurisdiction in Nigeria: </a:t>
            </a:r>
          </a:p>
          <a:p>
            <a:r>
              <a:rPr lang="en-GB" altLang="en-US" sz="3600" dirty="0"/>
              <a:t>Courts of general criminal jurisdiction and </a:t>
            </a:r>
          </a:p>
          <a:p>
            <a:r>
              <a:rPr lang="en-GB" altLang="en-US" sz="3600" dirty="0"/>
              <a:t>Courts of special criminal jurisdiction. All courts exercise both civil and criminal jurisdictions except Court Martial, Tribunals and Juvenile Courts.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C97AE1-A4F5-42E6-C616-8E47BB2E823C}"/>
              </a:ext>
            </a:extLst>
          </p:cNvPr>
          <p:cNvSpPr>
            <a:spLocks noGrp="1"/>
          </p:cNvSpPr>
          <p:nvPr>
            <p:ph idx="1"/>
          </p:nvPr>
        </p:nvSpPr>
        <p:spPr>
          <a:xfrm>
            <a:off x="395536" y="476672"/>
            <a:ext cx="8424936" cy="5976664"/>
          </a:xfrm>
        </p:spPr>
        <p:txBody>
          <a:bodyPr/>
          <a:lstStyle/>
          <a:p>
            <a:r>
              <a:rPr lang="en-GB" altLang="en-US" sz="3600" dirty="0"/>
              <a:t>Criminal courts may sit on any day in the week except Sundays and public holidays.</a:t>
            </a:r>
          </a:p>
          <a:p>
            <a:pPr lvl="0"/>
            <a:r>
              <a:rPr lang="en-GB" altLang="en-US" sz="3600" dirty="0"/>
              <a:t>Courts start sittings at 9:00am and may rise when the work for the day is concluded.</a:t>
            </a:r>
          </a:p>
          <a:p>
            <a:r>
              <a:rPr lang="en-GB" altLang="en-US" sz="3600" dirty="0"/>
              <a:t>Courts can sit on any day of the week with the agreement of parties and counsel. </a:t>
            </a:r>
            <a:r>
              <a:rPr lang="en-GB" altLang="en-US" sz="3600" i="1" dirty="0" err="1"/>
              <a:t>Ososami</a:t>
            </a:r>
            <a:r>
              <a:rPr lang="en-GB" altLang="en-US" sz="3600" i="1" dirty="0"/>
              <a:t> v. COP </a:t>
            </a:r>
            <a:r>
              <a:rPr lang="en-US" altLang="en-NG" sz="3600" dirty="0"/>
              <a:t>(1952) 14 WACA 24.</a:t>
            </a:r>
          </a:p>
          <a:p>
            <a:r>
              <a:rPr lang="en-US" altLang="en-NG" sz="3600" dirty="0"/>
              <a:t>However, in practice, courts sit at 9.00am from Monday to Friday.</a:t>
            </a:r>
          </a:p>
          <a:p>
            <a:pPr lvl="0"/>
            <a:endParaRPr lang="en-GB" altLang="en-US" sz="3600" i="1" dirty="0"/>
          </a:p>
          <a:p>
            <a:endParaRPr lang="en-GB" altLang="en-US" sz="3600" dirty="0"/>
          </a:p>
          <a:p>
            <a:endParaRPr lang="en-NG" dirty="0"/>
          </a:p>
        </p:txBody>
      </p:sp>
    </p:spTree>
    <p:extLst>
      <p:ext uri="{BB962C8B-B14F-4D97-AF65-F5344CB8AC3E}">
        <p14:creationId xmlns:p14="http://schemas.microsoft.com/office/powerpoint/2010/main" val="10683592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Content Placeholder 2"/>
          <p:cNvSpPr>
            <a:spLocks noGrp="1"/>
          </p:cNvSpPr>
          <p:nvPr>
            <p:ph idx="1"/>
          </p:nvPr>
        </p:nvSpPr>
        <p:spPr>
          <a:xfrm>
            <a:off x="468312" y="620713"/>
            <a:ext cx="8218487" cy="5832624"/>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a:r>
              <a:rPr lang="en-GB" altLang="en-US" dirty="0"/>
              <a:t>Six features are to be noted in a criminal court: </a:t>
            </a:r>
          </a:p>
          <a:p>
            <a:pPr lvl="0"/>
            <a:r>
              <a:rPr lang="en-GB" altLang="en-US" dirty="0"/>
              <a:t>the Bench, </a:t>
            </a:r>
          </a:p>
          <a:p>
            <a:pPr lvl="0"/>
            <a:r>
              <a:rPr lang="en-GB" altLang="en-US" dirty="0"/>
              <a:t>The Registrars desk, </a:t>
            </a:r>
          </a:p>
          <a:p>
            <a:pPr lvl="0"/>
            <a:r>
              <a:rPr lang="en-GB" altLang="en-US" dirty="0"/>
              <a:t>the Dock, </a:t>
            </a:r>
          </a:p>
          <a:p>
            <a:pPr lvl="0"/>
            <a:r>
              <a:rPr lang="en-GB" altLang="en-US" dirty="0"/>
              <a:t>the Witness Box, </a:t>
            </a:r>
          </a:p>
          <a:p>
            <a:pPr lvl="0"/>
            <a:r>
              <a:rPr lang="en-GB" altLang="en-US" dirty="0"/>
              <a:t>the Bar, and </a:t>
            </a:r>
          </a:p>
          <a:p>
            <a:pPr lvl="0"/>
            <a:r>
              <a:rPr lang="en-GB" altLang="en-US" dirty="0"/>
              <a:t>the Gallery.</a:t>
            </a:r>
          </a:p>
          <a:p>
            <a:pPr lvl="0"/>
            <a:r>
              <a:rPr lang="en-GB" altLang="en-US" dirty="0"/>
              <a:t>Note the modes of dressing in courts.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r>
              <a:rPr lang="en-US" altLang="en-US" sz="4000" b="1" dirty="0"/>
              <a:t>PUBLICITY OF CRIMINAL TRIALS</a:t>
            </a:r>
          </a:p>
        </p:txBody>
      </p:sp>
      <p:sp>
        <p:nvSpPr>
          <p:cNvPr id="1048633" name="Content Placeholder 2"/>
          <p:cNvSpPr>
            <a:spLocks noGrp="1"/>
          </p:cNvSpPr>
          <p:nvPr>
            <p:ph idx="1"/>
          </p:nvPr>
        </p:nvSpPr>
        <p:spPr>
          <a:xfrm>
            <a:off x="457200" y="1417637"/>
            <a:ext cx="8229600" cy="5035699"/>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r>
              <a:rPr lang="en-US" altLang="en-US" sz="3600" dirty="0"/>
              <a:t>Criminal proceedings are to be held in public. See section 259(1) ACJA</a:t>
            </a:r>
          </a:p>
          <a:p>
            <a:r>
              <a:rPr lang="en-US" altLang="en-US" sz="3600" dirty="0"/>
              <a:t>Exceptions:</a:t>
            </a:r>
          </a:p>
          <a:p>
            <a:pPr marL="0" lvl="0" indent="0"/>
            <a:r>
              <a:rPr lang="en-US" altLang="en-US" sz="3600" dirty="0"/>
              <a:t>Where the statutes expressly stipulate.</a:t>
            </a:r>
          </a:p>
          <a:p>
            <a:pPr marL="0" lvl="0" indent="0"/>
            <a:r>
              <a:rPr lang="en-US" altLang="en-US" sz="3600" dirty="0"/>
              <a:t> Public policy, public decency or expediency</a:t>
            </a:r>
          </a:p>
          <a:p>
            <a:pPr marL="0" lvl="0" indent="0"/>
            <a:r>
              <a:rPr lang="en-US" altLang="en-US" sz="3600" dirty="0"/>
              <a:t> Evidence of a witness who has not attained 17 years is to be heard in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Content Placeholder 2"/>
          <p:cNvSpPr>
            <a:spLocks noGrp="1"/>
          </p:cNvSpPr>
          <p:nvPr>
            <p:ph idx="1"/>
          </p:nvPr>
        </p:nvSpPr>
        <p:spPr>
          <a:xfrm>
            <a:off x="457200" y="476672"/>
            <a:ext cx="8229600" cy="6048672"/>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buFontTx/>
              <a:buNone/>
            </a:pPr>
            <a:r>
              <a:rPr lang="en-US" altLang="en-US" dirty="0"/>
              <a:t> </a:t>
            </a:r>
            <a:r>
              <a:rPr lang="en-US" altLang="en-US" sz="3600" dirty="0"/>
              <a:t>relation to offence against immorality.</a:t>
            </a:r>
          </a:p>
          <a:p>
            <a:pPr marL="0" indent="0"/>
            <a:r>
              <a:rPr lang="en-US" altLang="en-US" sz="3600" dirty="0"/>
              <a:t> In the interest of public safety, </a:t>
            </a:r>
            <a:r>
              <a:rPr lang="en-US" altLang="en-US" sz="3600" dirty="0" err="1"/>
              <a:t>defence</a:t>
            </a:r>
            <a:r>
              <a:rPr lang="en-US" altLang="en-US" sz="3600" dirty="0"/>
              <a:t>, public order, public morality or welfare of a person who has not attained the age of 18 years, see proviso to section 36(4) CFRN 1999, section 259 ACJA.</a:t>
            </a:r>
          </a:p>
          <a:p>
            <a:pPr marL="0" indent="0"/>
            <a:r>
              <a:rPr lang="en-US" altLang="en-US" sz="3600" dirty="0"/>
              <a:t> Where the minister satisfies the court that it will not be in the interest of public for any matter to be publicly disclosed.</a:t>
            </a:r>
          </a:p>
          <a:p>
            <a:pPr marL="0" indent="0">
              <a:buNone/>
            </a:pPr>
            <a:endParaRPr lang="en-US" altLang="en-US" sz="3600" dirty="0"/>
          </a:p>
          <a:p>
            <a:pPr marL="0" lvl="0" indent="0"/>
            <a:endParaRPr lang="en-US" altLang="en-US" sz="3600" dirty="0"/>
          </a:p>
        </p:txBody>
      </p:sp>
    </p:spTree>
  </p:cSld>
  <p:clrMapOvr>
    <a:masterClrMapping/>
  </p:clrMapOvr>
</p:sld>
</file>

<file path=ppt/theme/theme1.xml><?xml version="1.0" encoding="utf-8"?>
<a:theme xmlns:a="http://schemas.openxmlformats.org/drawingml/2006/main" name="Office 主题">
  <a:themeElements>
    <a:clrScheme name="Default Color Scheme">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extraClrScheme>
    <a:extraClrScheme>
      <a:clrScheme name="Default Color Scheme 2">
        <a:dk1>
          <a:srgbClr val="000000"/>
        </a:dk1>
        <a:lt1>
          <a:srgbClr val="FFFFFF"/>
        </a:lt1>
        <a:dk2>
          <a:srgbClr val="969696"/>
        </a:dk2>
        <a:lt2>
          <a:srgbClr val="000000"/>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extraClrScheme>
    <a:extraClrScheme>
      <a:clrScheme name="Default Color Scheme 3">
        <a:dk1>
          <a:srgbClr val="000000"/>
        </a:dk1>
        <a:lt1>
          <a:srgbClr val="FFFFFF"/>
        </a:lt1>
        <a:dk2>
          <a:srgbClr val="808080"/>
        </a:dk2>
        <a:lt2>
          <a:srgbClr val="00000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extraClrScheme>
    <a:extraClrScheme>
      <a:clrScheme name="Default Color Scheme 4">
        <a:dk1>
          <a:srgbClr val="000000"/>
        </a:dk1>
        <a:lt1>
          <a:srgbClr val="DEF6F1"/>
        </a:lt1>
        <a:dk2>
          <a:srgbClr val="969696"/>
        </a:dk2>
        <a:lt2>
          <a:srgbClr val="000000"/>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extraClrScheme>
    <a:extraClrScheme>
      <a:clrScheme name="Default Color Scheme 5">
        <a:dk1>
          <a:srgbClr val="000000"/>
        </a:dk1>
        <a:lt1>
          <a:srgbClr val="FFFFD9"/>
        </a:lt1>
        <a:dk2>
          <a:srgbClr val="777777"/>
        </a:dk2>
        <a:lt2>
          <a:srgbClr val="000000"/>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extraClrScheme>
    <a:extraClrScheme>
      <a:clrScheme name="Default Color Scheme 6">
        <a:dk1>
          <a:srgbClr val="FFFFFF"/>
        </a:dk1>
        <a:lt1>
          <a:srgbClr val="008080"/>
        </a:lt1>
        <a:dk2>
          <a:srgbClr val="005A58"/>
        </a:dk2>
        <a:lt2>
          <a:srgbClr val="FFFF99"/>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extraClrScheme>
    <a:extraClrScheme>
      <a:clrScheme name="Default Color Scheme 7">
        <a:dk1>
          <a:srgbClr val="FFFFFF"/>
        </a:dk1>
        <a:lt1>
          <a:srgbClr val="800000"/>
        </a:lt1>
        <a:dk2>
          <a:srgbClr val="5C1F00"/>
        </a:dk2>
        <a:lt2>
          <a:srgbClr val="DFD293"/>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extraClrScheme>
    <a:extraClrScheme>
      <a:clrScheme name="Default Color Scheme 8">
        <a:dk1>
          <a:srgbClr val="FFFFFF"/>
        </a:dk1>
        <a:lt1>
          <a:srgbClr val="000099"/>
        </a:lt1>
        <a:dk2>
          <a:srgbClr val="003366"/>
        </a:dk2>
        <a:lt2>
          <a:srgbClr val="CCFFFF"/>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extraClrScheme>
    <a:extraClrScheme>
      <a:clrScheme name="Default Color Scheme 9">
        <a:dk1>
          <a:srgbClr val="FFFFFF"/>
        </a:dk1>
        <a:lt1>
          <a:srgbClr val="000000"/>
        </a:lt1>
        <a:dk2>
          <a:srgbClr val="336699"/>
        </a:dk2>
        <a:lt2>
          <a:srgbClr val="E3EBF1"/>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extraClrScheme>
    <a:extraClrScheme>
      <a:clrScheme name="Default Color Scheme 10">
        <a:dk1>
          <a:srgbClr val="FFFFFF"/>
        </a:dk1>
        <a:lt1>
          <a:srgbClr val="686B5D"/>
        </a:lt1>
        <a:dk2>
          <a:srgbClr val="777777"/>
        </a:dk2>
        <a:lt2>
          <a:srgbClr val="D1D1CB"/>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extraClrScheme>
    <a:extraClrScheme>
      <a:clrScheme name="Default Color Scheme 11">
        <a:dk1>
          <a:srgbClr val="FFFFFF"/>
        </a:dk1>
        <a:lt1>
          <a:srgbClr val="666699"/>
        </a:lt1>
        <a:dk2>
          <a:srgbClr val="3E3E5C"/>
        </a:dk2>
        <a:lt2>
          <a:srgbClr val="FFFFFF"/>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extraClrScheme>
    <a:extraClrScheme>
      <a:clrScheme name="Default Color Scheme 12">
        <a:dk1>
          <a:srgbClr val="FFFFFF"/>
        </a:dk1>
        <a:lt1>
          <a:srgbClr val="523E26"/>
        </a:lt1>
        <a:dk2>
          <a:srgbClr val="2D2015"/>
        </a:dk2>
        <a:lt2>
          <a:srgbClr val="DFC08D"/>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TotalTime>
  <Words>1649</Words>
  <Application>Microsoft Office PowerPoint</Application>
  <PresentationFormat>On-screen Show (4:3)</PresentationFormat>
  <Paragraphs>111</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Office 主题</vt:lpstr>
      <vt:lpstr>Week 2 INTRODUCTION TO CRIMINAL LITIGATION  </vt:lpstr>
      <vt:lpstr>OUTCOMES:</vt:lpstr>
      <vt:lpstr>PowerPoint Presentation</vt:lpstr>
      <vt:lpstr>Basic requirements of a criminal trial</vt:lpstr>
      <vt:lpstr>PowerPoint Presentation</vt:lpstr>
      <vt:lpstr>Stages of criminal trial:</vt:lpstr>
      <vt:lpstr>PowerPoint Presentation</vt:lpstr>
      <vt:lpstr>PowerPoint Presentation</vt:lpstr>
      <vt:lpstr>The issues arising 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Sittings and settings of Criminal Courts</vt:lpstr>
      <vt:lpstr>PowerPoint Presentation</vt:lpstr>
      <vt:lpstr>PowerPoint Presentation</vt:lpstr>
      <vt:lpstr>PUBLICITY OF CRIMINAL TRIALS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CRIMINAL PROCEDURE</dc:title>
  <dc:creator>vic</dc:creator>
  <cp:lastModifiedBy>Josephine Egemonu</cp:lastModifiedBy>
  <cp:revision>25</cp:revision>
  <dcterms:created xsi:type="dcterms:W3CDTF">2006-10-30T09:37:35Z</dcterms:created>
  <dcterms:modified xsi:type="dcterms:W3CDTF">2025-05-08T13:23:49Z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e80d0c0c077044019f5775048057707c</vt:lpwstr>
  </property>
</Properties>
</file>