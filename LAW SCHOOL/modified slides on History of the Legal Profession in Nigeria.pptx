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BAF2-616C-4FB9-9DDF-8082DCF82A8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NG"/>
          </a:p>
        </p:txBody>
      </p:sp>
      <p:sp>
        <p:nvSpPr>
          <p:cNvPr id="3" name="Subtitle 2">
            <a:extLst>
              <a:ext uri="{FF2B5EF4-FFF2-40B4-BE49-F238E27FC236}">
                <a16:creationId xmlns:a16="http://schemas.microsoft.com/office/drawing/2014/main" id="{09A53D45-24C0-4C1E-8272-902F6CA523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NG"/>
          </a:p>
        </p:txBody>
      </p:sp>
      <p:sp>
        <p:nvSpPr>
          <p:cNvPr id="4" name="Date Placeholder 3">
            <a:extLst>
              <a:ext uri="{FF2B5EF4-FFF2-40B4-BE49-F238E27FC236}">
                <a16:creationId xmlns:a16="http://schemas.microsoft.com/office/drawing/2014/main" id="{BE212D7A-6E7B-43C3-8F50-4F9521091F50}"/>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11B0395E-594E-4B5A-A2E3-EA393FE7D5E1}"/>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1E51F0FA-FE17-4DCA-86AF-0ABB2465F624}"/>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85286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ADA7-BE6E-462E-B2DB-EEE15FB9F3A4}"/>
              </a:ext>
            </a:extLst>
          </p:cNvPr>
          <p:cNvSpPr>
            <a:spLocks noGrp="1"/>
          </p:cNvSpPr>
          <p:nvPr>
            <p:ph type="title"/>
          </p:nvPr>
        </p:nvSpPr>
        <p:spPr/>
        <p:txBody>
          <a:bodyPr/>
          <a:lstStyle/>
          <a:p>
            <a:r>
              <a:rPr lang="en-GB"/>
              <a:t>Click to edit Master title style</a:t>
            </a:r>
            <a:endParaRPr lang="en-NG"/>
          </a:p>
        </p:txBody>
      </p:sp>
      <p:sp>
        <p:nvSpPr>
          <p:cNvPr id="3" name="Content Placeholder 2">
            <a:extLst>
              <a:ext uri="{FF2B5EF4-FFF2-40B4-BE49-F238E27FC236}">
                <a16:creationId xmlns:a16="http://schemas.microsoft.com/office/drawing/2014/main" id="{EF908ADF-A03A-46BE-9D75-3A4A1F8AC2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Date Placeholder 3">
            <a:extLst>
              <a:ext uri="{FF2B5EF4-FFF2-40B4-BE49-F238E27FC236}">
                <a16:creationId xmlns:a16="http://schemas.microsoft.com/office/drawing/2014/main" id="{CF42CE20-10E6-4ED4-9763-1C63541B5033}"/>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C9D9FF7A-D25F-4612-948F-372E8CA0396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AC7E7AC3-D58C-437B-BBA0-FB0938607744}"/>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1576250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2F9A0-D989-4156-A35C-77396B6498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NG"/>
          </a:p>
        </p:txBody>
      </p:sp>
      <p:sp>
        <p:nvSpPr>
          <p:cNvPr id="3" name="Text Placeholder 2">
            <a:extLst>
              <a:ext uri="{FF2B5EF4-FFF2-40B4-BE49-F238E27FC236}">
                <a16:creationId xmlns:a16="http://schemas.microsoft.com/office/drawing/2014/main" id="{ACFF6855-ECB5-4381-A69A-C96B135456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0D1F06D-721B-4717-8E79-DF732FF5F3E8}"/>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B5256B97-222C-4D90-9906-E35695C31CA7}"/>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FF132A66-B967-442A-A55D-CBEEFA2C5F1B}"/>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2896784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01B7B-7E6A-4AB5-9290-C240482688DE}"/>
              </a:ext>
            </a:extLst>
          </p:cNvPr>
          <p:cNvSpPr>
            <a:spLocks noGrp="1"/>
          </p:cNvSpPr>
          <p:nvPr>
            <p:ph type="title"/>
          </p:nvPr>
        </p:nvSpPr>
        <p:spPr/>
        <p:txBody>
          <a:bodyPr/>
          <a:lstStyle/>
          <a:p>
            <a:r>
              <a:rPr lang="en-GB"/>
              <a:t>Click to edit Master title style</a:t>
            </a:r>
            <a:endParaRPr lang="en-NG"/>
          </a:p>
        </p:txBody>
      </p:sp>
      <p:sp>
        <p:nvSpPr>
          <p:cNvPr id="3" name="Content Placeholder 2">
            <a:extLst>
              <a:ext uri="{FF2B5EF4-FFF2-40B4-BE49-F238E27FC236}">
                <a16:creationId xmlns:a16="http://schemas.microsoft.com/office/drawing/2014/main" id="{53303772-982E-4266-AA66-CDD55322490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Content Placeholder 3">
            <a:extLst>
              <a:ext uri="{FF2B5EF4-FFF2-40B4-BE49-F238E27FC236}">
                <a16:creationId xmlns:a16="http://schemas.microsoft.com/office/drawing/2014/main" id="{E358B046-F934-44AE-875B-4E0A7E40339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5" name="Date Placeholder 4">
            <a:extLst>
              <a:ext uri="{FF2B5EF4-FFF2-40B4-BE49-F238E27FC236}">
                <a16:creationId xmlns:a16="http://schemas.microsoft.com/office/drawing/2014/main" id="{F88E9EA6-6A30-46A1-824F-1597417A79CC}"/>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6" name="Footer Placeholder 5">
            <a:extLst>
              <a:ext uri="{FF2B5EF4-FFF2-40B4-BE49-F238E27FC236}">
                <a16:creationId xmlns:a16="http://schemas.microsoft.com/office/drawing/2014/main" id="{72CFE50C-A0B8-4E99-881F-D31CD6F84838}"/>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1893328B-FA36-4AD7-A2AE-55B39C40F5A8}"/>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3154097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22E4E-3714-4C36-ABE9-96852F3A4F64}"/>
              </a:ext>
            </a:extLst>
          </p:cNvPr>
          <p:cNvSpPr>
            <a:spLocks noGrp="1"/>
          </p:cNvSpPr>
          <p:nvPr>
            <p:ph type="title"/>
          </p:nvPr>
        </p:nvSpPr>
        <p:spPr>
          <a:xfrm>
            <a:off x="839788" y="365125"/>
            <a:ext cx="10515600" cy="1325563"/>
          </a:xfrm>
        </p:spPr>
        <p:txBody>
          <a:bodyPr/>
          <a:lstStyle/>
          <a:p>
            <a:r>
              <a:rPr lang="en-GB"/>
              <a:t>Click to edit Master title style</a:t>
            </a:r>
            <a:endParaRPr lang="en-NG"/>
          </a:p>
        </p:txBody>
      </p:sp>
      <p:sp>
        <p:nvSpPr>
          <p:cNvPr id="3" name="Text Placeholder 2">
            <a:extLst>
              <a:ext uri="{FF2B5EF4-FFF2-40B4-BE49-F238E27FC236}">
                <a16:creationId xmlns:a16="http://schemas.microsoft.com/office/drawing/2014/main" id="{43124556-3FE2-4FAA-9099-52CD62EBC1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BE05251-A8A7-44F9-83AF-DAFFA65E2F9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5" name="Text Placeholder 4">
            <a:extLst>
              <a:ext uri="{FF2B5EF4-FFF2-40B4-BE49-F238E27FC236}">
                <a16:creationId xmlns:a16="http://schemas.microsoft.com/office/drawing/2014/main" id="{B1717F22-0F7E-44C0-BEBF-A4A719AB01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1F1E23-5876-47A3-B30F-786429F351F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7" name="Date Placeholder 6">
            <a:extLst>
              <a:ext uri="{FF2B5EF4-FFF2-40B4-BE49-F238E27FC236}">
                <a16:creationId xmlns:a16="http://schemas.microsoft.com/office/drawing/2014/main" id="{78BA93A0-C048-4867-8B31-89B39A681D29}"/>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8" name="Footer Placeholder 7">
            <a:extLst>
              <a:ext uri="{FF2B5EF4-FFF2-40B4-BE49-F238E27FC236}">
                <a16:creationId xmlns:a16="http://schemas.microsoft.com/office/drawing/2014/main" id="{31A48D0D-B092-4AA2-B6CC-926411DFBE85}"/>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CC1F7B0F-355F-408F-AF11-D5CCE66DCCB7}"/>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3772975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76792-8C44-4558-81D7-680468C2A37E}"/>
              </a:ext>
            </a:extLst>
          </p:cNvPr>
          <p:cNvSpPr>
            <a:spLocks noGrp="1"/>
          </p:cNvSpPr>
          <p:nvPr>
            <p:ph type="title"/>
          </p:nvPr>
        </p:nvSpPr>
        <p:spPr/>
        <p:txBody>
          <a:bodyPr/>
          <a:lstStyle/>
          <a:p>
            <a:r>
              <a:rPr lang="en-GB"/>
              <a:t>Click to edit Master title style</a:t>
            </a:r>
            <a:endParaRPr lang="en-NG"/>
          </a:p>
        </p:txBody>
      </p:sp>
      <p:sp>
        <p:nvSpPr>
          <p:cNvPr id="3" name="Date Placeholder 2">
            <a:extLst>
              <a:ext uri="{FF2B5EF4-FFF2-40B4-BE49-F238E27FC236}">
                <a16:creationId xmlns:a16="http://schemas.microsoft.com/office/drawing/2014/main" id="{9D24CD61-0DDB-4336-AC54-A4339858F993}"/>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4" name="Footer Placeholder 3">
            <a:extLst>
              <a:ext uri="{FF2B5EF4-FFF2-40B4-BE49-F238E27FC236}">
                <a16:creationId xmlns:a16="http://schemas.microsoft.com/office/drawing/2014/main" id="{B4186FC6-EA48-4224-AFE6-3CC61BF3315D}"/>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672A488E-46F4-4624-9C64-A1FBA58BD334}"/>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123558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F50D35-1B6B-424F-AEAB-9C533854BE36}"/>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3" name="Footer Placeholder 2">
            <a:extLst>
              <a:ext uri="{FF2B5EF4-FFF2-40B4-BE49-F238E27FC236}">
                <a16:creationId xmlns:a16="http://schemas.microsoft.com/office/drawing/2014/main" id="{432470A7-7212-4182-9A2D-79AC10EB83A5}"/>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38C3301E-5916-4CBA-995E-4D361C840D8D}"/>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3580307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4DFBC-0A75-41B3-8179-65B78CE430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G"/>
          </a:p>
        </p:txBody>
      </p:sp>
      <p:sp>
        <p:nvSpPr>
          <p:cNvPr id="3" name="Content Placeholder 2">
            <a:extLst>
              <a:ext uri="{FF2B5EF4-FFF2-40B4-BE49-F238E27FC236}">
                <a16:creationId xmlns:a16="http://schemas.microsoft.com/office/drawing/2014/main" id="{6BE6AA2E-2A8D-45E1-9977-31C0BFFC4C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Text Placeholder 3">
            <a:extLst>
              <a:ext uri="{FF2B5EF4-FFF2-40B4-BE49-F238E27FC236}">
                <a16:creationId xmlns:a16="http://schemas.microsoft.com/office/drawing/2014/main" id="{10CCDD7A-FFD5-4BC0-8F08-107DCDDD74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EDD0A6A-B2BD-41CF-9376-2C1EE740C395}"/>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6" name="Footer Placeholder 5">
            <a:extLst>
              <a:ext uri="{FF2B5EF4-FFF2-40B4-BE49-F238E27FC236}">
                <a16:creationId xmlns:a16="http://schemas.microsoft.com/office/drawing/2014/main" id="{42732017-CAD0-45D4-8478-C089F3979779}"/>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78A6A51D-6519-47A0-905C-ABD87458E2C3}"/>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772030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6083D-13FB-4ABF-B9BD-0F33D057A63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NG"/>
          </a:p>
        </p:txBody>
      </p:sp>
      <p:sp>
        <p:nvSpPr>
          <p:cNvPr id="3" name="Picture Placeholder 2">
            <a:extLst>
              <a:ext uri="{FF2B5EF4-FFF2-40B4-BE49-F238E27FC236}">
                <a16:creationId xmlns:a16="http://schemas.microsoft.com/office/drawing/2014/main" id="{7B96D6C4-6AC0-4675-A66D-D5354CE3E4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2BA809CF-E528-4F3F-85D0-1D80B0DB75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FF251F-6555-406C-BF1F-503C948AD86F}"/>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6" name="Footer Placeholder 5">
            <a:extLst>
              <a:ext uri="{FF2B5EF4-FFF2-40B4-BE49-F238E27FC236}">
                <a16:creationId xmlns:a16="http://schemas.microsoft.com/office/drawing/2014/main" id="{DF101E65-9E7B-49FF-88C2-A47DE8670532}"/>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C3F22B88-16B3-4DF0-9CA5-9B3F4B7DDE44}"/>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2452986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61CC-6DC3-4519-8B40-DB77B2C402A0}"/>
              </a:ext>
            </a:extLst>
          </p:cNvPr>
          <p:cNvSpPr>
            <a:spLocks noGrp="1"/>
          </p:cNvSpPr>
          <p:nvPr>
            <p:ph type="title"/>
          </p:nvPr>
        </p:nvSpPr>
        <p:spPr/>
        <p:txBody>
          <a:bodyPr/>
          <a:lstStyle/>
          <a:p>
            <a:r>
              <a:rPr lang="en-GB"/>
              <a:t>Click to edit Master title style</a:t>
            </a:r>
            <a:endParaRPr lang="en-NG"/>
          </a:p>
        </p:txBody>
      </p:sp>
      <p:sp>
        <p:nvSpPr>
          <p:cNvPr id="3" name="Vertical Text Placeholder 2">
            <a:extLst>
              <a:ext uri="{FF2B5EF4-FFF2-40B4-BE49-F238E27FC236}">
                <a16:creationId xmlns:a16="http://schemas.microsoft.com/office/drawing/2014/main" id="{C2ECAFFB-1943-4E24-8961-E18816E04A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Date Placeholder 3">
            <a:extLst>
              <a:ext uri="{FF2B5EF4-FFF2-40B4-BE49-F238E27FC236}">
                <a16:creationId xmlns:a16="http://schemas.microsoft.com/office/drawing/2014/main" id="{1225A24F-D20C-42C8-BE4F-CCB63E50BD88}"/>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A034B733-26CC-4E96-BE44-241336634E80}"/>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3351ACB7-AB6B-49DF-A0DF-B90CD2686568}"/>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721892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9561F-6160-402B-8D0D-6162324FAB5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NG"/>
          </a:p>
        </p:txBody>
      </p:sp>
      <p:sp>
        <p:nvSpPr>
          <p:cNvPr id="3" name="Vertical Text Placeholder 2">
            <a:extLst>
              <a:ext uri="{FF2B5EF4-FFF2-40B4-BE49-F238E27FC236}">
                <a16:creationId xmlns:a16="http://schemas.microsoft.com/office/drawing/2014/main" id="{D6D0933A-D197-4C81-ACD5-E7E50D49B10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Date Placeholder 3">
            <a:extLst>
              <a:ext uri="{FF2B5EF4-FFF2-40B4-BE49-F238E27FC236}">
                <a16:creationId xmlns:a16="http://schemas.microsoft.com/office/drawing/2014/main" id="{5FEF5B6E-CD8C-4D09-B6C9-7985706E5E69}"/>
              </a:ext>
            </a:extLst>
          </p:cNvPr>
          <p:cNvSpPr>
            <a:spLocks noGrp="1"/>
          </p:cNvSpPr>
          <p:nvPr>
            <p:ph type="dt" sz="half" idx="10"/>
          </p:nvPr>
        </p:nvSpPr>
        <p:spPr/>
        <p:txBody>
          <a:body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6780BCA1-E321-4318-BCA0-E02C775088D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5ABAFE69-58B5-41FE-8DE2-91214DFB606C}"/>
              </a:ext>
            </a:extLst>
          </p:cNvPr>
          <p:cNvSpPr>
            <a:spLocks noGrp="1"/>
          </p:cNvSpPr>
          <p:nvPr>
            <p:ph type="sldNum" sz="quarter" idx="12"/>
          </p:nvPr>
        </p:nvSpPr>
        <p:spPr/>
        <p:txBody>
          <a:bodyPr/>
          <a:lstStyle/>
          <a:p>
            <a:fld id="{48856652-DDEB-4BA5-B476-62809842AD31}" type="slidenum">
              <a:rPr lang="en-NG" smtClean="0"/>
              <a:t>‹#›</a:t>
            </a:fld>
            <a:endParaRPr lang="en-NG"/>
          </a:p>
        </p:txBody>
      </p:sp>
    </p:spTree>
    <p:extLst>
      <p:ext uri="{BB962C8B-B14F-4D97-AF65-F5344CB8AC3E}">
        <p14:creationId xmlns:p14="http://schemas.microsoft.com/office/powerpoint/2010/main" val="302905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2166A7B-8A78-4CCE-8A94-E1F2E65BC2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NG"/>
          </a:p>
        </p:txBody>
      </p:sp>
      <p:sp>
        <p:nvSpPr>
          <p:cNvPr id="3" name="Text Placeholder 2">
            <a:extLst>
              <a:ext uri="{FF2B5EF4-FFF2-40B4-BE49-F238E27FC236}">
                <a16:creationId xmlns:a16="http://schemas.microsoft.com/office/drawing/2014/main" id="{F127831E-BAFD-4B08-A02F-91B9456CA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NG"/>
          </a:p>
        </p:txBody>
      </p:sp>
      <p:sp>
        <p:nvSpPr>
          <p:cNvPr id="4" name="Date Placeholder 3">
            <a:extLst>
              <a:ext uri="{FF2B5EF4-FFF2-40B4-BE49-F238E27FC236}">
                <a16:creationId xmlns:a16="http://schemas.microsoft.com/office/drawing/2014/main" id="{3B3E6A22-A801-4F04-A382-B380539AB7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DC9A3A-55D4-4A13-AE1C-1B9BB456F3E8}" type="datetimeFigureOut">
              <a:rPr lang="en-NG" smtClean="0"/>
              <a:t>26/04/2025</a:t>
            </a:fld>
            <a:endParaRPr lang="en-NG"/>
          </a:p>
        </p:txBody>
      </p:sp>
      <p:sp>
        <p:nvSpPr>
          <p:cNvPr id="5" name="Footer Placeholder 4">
            <a:extLst>
              <a:ext uri="{FF2B5EF4-FFF2-40B4-BE49-F238E27FC236}">
                <a16:creationId xmlns:a16="http://schemas.microsoft.com/office/drawing/2014/main" id="{57688A82-E70C-4A43-9E48-CBF13F3BD6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60ADE877-538C-4EF3-9101-AD45BEB9A6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856652-DDEB-4BA5-B476-62809842AD31}" type="slidenum">
              <a:rPr lang="en-NG" smtClean="0"/>
              <a:t>‹#›</a:t>
            </a:fld>
            <a:endParaRPr lang="en-NG"/>
          </a:p>
        </p:txBody>
      </p:sp>
    </p:spTree>
    <p:extLst>
      <p:ext uri="{BB962C8B-B14F-4D97-AF65-F5344CB8AC3E}">
        <p14:creationId xmlns:p14="http://schemas.microsoft.com/office/powerpoint/2010/main" val="895716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66747-3773-4C51-87E6-F6EE023CB4D7}"/>
              </a:ext>
            </a:extLst>
          </p:cNvPr>
          <p:cNvSpPr>
            <a:spLocks noGrp="1"/>
          </p:cNvSpPr>
          <p:nvPr>
            <p:ph type="ctrTitle"/>
          </p:nvPr>
        </p:nvSpPr>
        <p:spPr/>
        <p:txBody>
          <a:bodyPr/>
          <a:lstStyle/>
          <a:p>
            <a:r>
              <a:rPr lang="en-GB" dirty="0"/>
              <a:t>HISTORY OF THE LEGAL PROFESSION IN NIGERIA</a:t>
            </a:r>
            <a:endParaRPr lang="en-NG" dirty="0"/>
          </a:p>
        </p:txBody>
      </p:sp>
      <p:sp>
        <p:nvSpPr>
          <p:cNvPr id="3" name="Subtitle 2">
            <a:extLst>
              <a:ext uri="{FF2B5EF4-FFF2-40B4-BE49-F238E27FC236}">
                <a16:creationId xmlns:a16="http://schemas.microsoft.com/office/drawing/2014/main" id="{AC0C1A17-C1CE-42CD-BBE8-17894F522E00}"/>
              </a:ext>
            </a:extLst>
          </p:cNvPr>
          <p:cNvSpPr>
            <a:spLocks noGrp="1"/>
          </p:cNvSpPr>
          <p:nvPr>
            <p:ph type="subTitle" idx="1"/>
          </p:nvPr>
        </p:nvSpPr>
        <p:spPr/>
        <p:txBody>
          <a:bodyPr/>
          <a:lstStyle/>
          <a:p>
            <a:endParaRPr lang="en-NG"/>
          </a:p>
        </p:txBody>
      </p:sp>
    </p:spTree>
    <p:extLst>
      <p:ext uri="{BB962C8B-B14F-4D97-AF65-F5344CB8AC3E}">
        <p14:creationId xmlns:p14="http://schemas.microsoft.com/office/powerpoint/2010/main" val="1045978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2BD4B-D6AF-43AF-B73D-737D7EC0BFEE}"/>
              </a:ext>
            </a:extLst>
          </p:cNvPr>
          <p:cNvSpPr>
            <a:spLocks noGrp="1"/>
          </p:cNvSpPr>
          <p:nvPr>
            <p:ph type="title"/>
          </p:nvPr>
        </p:nvSpPr>
        <p:spPr/>
        <p:txBody>
          <a:bodyPr/>
          <a:lstStyle/>
          <a:p>
            <a:r>
              <a:rPr lang="en-GB" dirty="0"/>
              <a:t>LEARNING OUTCOMES</a:t>
            </a:r>
            <a:endParaRPr lang="en-NG" dirty="0"/>
          </a:p>
        </p:txBody>
      </p:sp>
      <p:sp>
        <p:nvSpPr>
          <p:cNvPr id="3" name="Content Placeholder 2">
            <a:extLst>
              <a:ext uri="{FF2B5EF4-FFF2-40B4-BE49-F238E27FC236}">
                <a16:creationId xmlns:a16="http://schemas.microsoft.com/office/drawing/2014/main" id="{CF38FA37-0841-4A94-B30B-19239BA14F53}"/>
              </a:ext>
            </a:extLst>
          </p:cNvPr>
          <p:cNvSpPr>
            <a:spLocks noGrp="1"/>
          </p:cNvSpPr>
          <p:nvPr>
            <p:ph idx="1"/>
          </p:nvPr>
        </p:nvSpPr>
        <p:spPr/>
        <p:txBody>
          <a:bodyPr/>
          <a:lstStyle/>
          <a:p>
            <a:r>
              <a:rPr lang="en-GB" dirty="0"/>
              <a:t>At the end of the lesson students would be able to:</a:t>
            </a:r>
          </a:p>
          <a:p>
            <a:pPr marL="514350" indent="-514350">
              <a:buFont typeface="+mj-lt"/>
              <a:buAutoNum type="arabicPeriod"/>
            </a:pPr>
            <a:r>
              <a:rPr lang="en-GB" dirty="0"/>
              <a:t>Discuss and explain the various stages of the development of the legal profession in Nigeria;</a:t>
            </a:r>
          </a:p>
          <a:p>
            <a:pPr marL="514350" indent="-514350">
              <a:buFont typeface="+mj-lt"/>
              <a:buAutoNum type="arabicPeriod"/>
            </a:pPr>
            <a:r>
              <a:rPr lang="en-GB" dirty="0"/>
              <a:t>Explain the deficiencies of an English-trained lawyer practising in Nigeria and the solution to the deficiencies;</a:t>
            </a:r>
          </a:p>
          <a:p>
            <a:pPr marL="514350" indent="-514350">
              <a:buFont typeface="+mj-lt"/>
              <a:buAutoNum type="arabicPeriod"/>
            </a:pPr>
            <a:r>
              <a:rPr lang="en-GB" dirty="0"/>
              <a:t>Explain the various ways of becoming a legal practitioner in Nigeria;</a:t>
            </a:r>
          </a:p>
          <a:p>
            <a:pPr marL="514350" indent="-514350">
              <a:buFont typeface="+mj-lt"/>
              <a:buAutoNum type="arabicPeriod"/>
            </a:pPr>
            <a:r>
              <a:rPr lang="en-GB" dirty="0"/>
              <a:t>Discuss the meaning of full and partial exemption from course at the Nigerian Law School;</a:t>
            </a:r>
          </a:p>
          <a:p>
            <a:pPr marL="0" indent="0">
              <a:buNone/>
            </a:pPr>
            <a:endParaRPr lang="en-NG" dirty="0"/>
          </a:p>
        </p:txBody>
      </p:sp>
    </p:spTree>
    <p:extLst>
      <p:ext uri="{BB962C8B-B14F-4D97-AF65-F5344CB8AC3E}">
        <p14:creationId xmlns:p14="http://schemas.microsoft.com/office/powerpoint/2010/main" val="198634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8EF36-CFE4-4248-83AA-8DECCECED53F}"/>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1AACEC5C-835F-4924-994B-BE3CE624A476}"/>
              </a:ext>
            </a:extLst>
          </p:cNvPr>
          <p:cNvSpPr>
            <a:spLocks noGrp="1"/>
          </p:cNvSpPr>
          <p:nvPr>
            <p:ph idx="1"/>
          </p:nvPr>
        </p:nvSpPr>
        <p:spPr/>
        <p:txBody>
          <a:bodyPr/>
          <a:lstStyle/>
          <a:p>
            <a:pPr marL="514350" indent="-514350">
              <a:buAutoNum type="arabicPeriod" startAt="5"/>
            </a:pPr>
            <a:r>
              <a:rPr lang="en-GB" dirty="0"/>
              <a:t>Explain the Attorney General’s Regulation with respect to admission into the legal profession;</a:t>
            </a:r>
          </a:p>
          <a:p>
            <a:pPr marL="514350" indent="-514350">
              <a:buAutoNum type="arabicPeriod" startAt="5"/>
            </a:pPr>
            <a:r>
              <a:rPr lang="en-GB" dirty="0"/>
              <a:t>Explain dinner etiquette including how to dine, dressing and general conduct during dinner.</a:t>
            </a:r>
            <a:endParaRPr lang="en-NG" dirty="0"/>
          </a:p>
        </p:txBody>
      </p:sp>
    </p:spTree>
    <p:extLst>
      <p:ext uri="{BB962C8B-B14F-4D97-AF65-F5344CB8AC3E}">
        <p14:creationId xmlns:p14="http://schemas.microsoft.com/office/powerpoint/2010/main" val="2046496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73AB9-4F2C-44FA-AE3D-DD02BE17A045}"/>
              </a:ext>
            </a:extLst>
          </p:cNvPr>
          <p:cNvSpPr>
            <a:spLocks noGrp="1"/>
          </p:cNvSpPr>
          <p:nvPr>
            <p:ph type="title"/>
          </p:nvPr>
        </p:nvSpPr>
        <p:spPr/>
        <p:txBody>
          <a:bodyPr/>
          <a:lstStyle/>
          <a:p>
            <a:r>
              <a:rPr lang="en-GB" dirty="0"/>
              <a:t>THE THREE PERIODS OF THE HISTORY</a:t>
            </a:r>
            <a:endParaRPr lang="en-NG" dirty="0"/>
          </a:p>
        </p:txBody>
      </p:sp>
      <p:sp>
        <p:nvSpPr>
          <p:cNvPr id="3" name="Content Placeholder 2">
            <a:extLst>
              <a:ext uri="{FF2B5EF4-FFF2-40B4-BE49-F238E27FC236}">
                <a16:creationId xmlns:a16="http://schemas.microsoft.com/office/drawing/2014/main" id="{2B96F4C0-F5C2-44BA-AC38-224ECAF40F49}"/>
              </a:ext>
            </a:extLst>
          </p:cNvPr>
          <p:cNvSpPr>
            <a:spLocks noGrp="1"/>
          </p:cNvSpPr>
          <p:nvPr>
            <p:ph idx="1"/>
          </p:nvPr>
        </p:nvSpPr>
        <p:spPr/>
        <p:txBody>
          <a:bodyPr/>
          <a:lstStyle/>
          <a:p>
            <a:r>
              <a:rPr lang="en-GB" dirty="0"/>
              <a:t>FIRST PERIOD 1876-1914</a:t>
            </a:r>
          </a:p>
          <a:p>
            <a:r>
              <a:rPr lang="en-GB" dirty="0"/>
              <a:t>SECOND PERIOD 1914-1962</a:t>
            </a:r>
          </a:p>
          <a:p>
            <a:r>
              <a:rPr lang="en-GB" dirty="0"/>
              <a:t>THIRD PERIOD POST 1962</a:t>
            </a:r>
            <a:endParaRPr lang="en-NG" dirty="0"/>
          </a:p>
        </p:txBody>
      </p:sp>
    </p:spTree>
    <p:extLst>
      <p:ext uri="{BB962C8B-B14F-4D97-AF65-F5344CB8AC3E}">
        <p14:creationId xmlns:p14="http://schemas.microsoft.com/office/powerpoint/2010/main" val="657918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20C30-4E7E-4EDD-9F21-53C8471AC97D}"/>
              </a:ext>
            </a:extLst>
          </p:cNvPr>
          <p:cNvSpPr>
            <a:spLocks noGrp="1"/>
          </p:cNvSpPr>
          <p:nvPr>
            <p:ph type="title"/>
          </p:nvPr>
        </p:nvSpPr>
        <p:spPr/>
        <p:txBody>
          <a:bodyPr/>
          <a:lstStyle/>
          <a:p>
            <a:r>
              <a:rPr lang="en-GB" dirty="0"/>
              <a:t>PERIOD OF 1876-1914</a:t>
            </a:r>
            <a:endParaRPr lang="en-NG" dirty="0"/>
          </a:p>
        </p:txBody>
      </p:sp>
      <p:sp>
        <p:nvSpPr>
          <p:cNvPr id="3" name="Content Placeholder 2">
            <a:extLst>
              <a:ext uri="{FF2B5EF4-FFF2-40B4-BE49-F238E27FC236}">
                <a16:creationId xmlns:a16="http://schemas.microsoft.com/office/drawing/2014/main" id="{BB420EAE-12C6-428B-8321-8B14009A0A42}"/>
              </a:ext>
            </a:extLst>
          </p:cNvPr>
          <p:cNvSpPr>
            <a:spLocks noGrp="1"/>
          </p:cNvSpPr>
          <p:nvPr>
            <p:ph idx="1"/>
          </p:nvPr>
        </p:nvSpPr>
        <p:spPr/>
        <p:txBody>
          <a:bodyPr/>
          <a:lstStyle/>
          <a:p>
            <a:r>
              <a:rPr lang="en-GB" dirty="0"/>
              <a:t>Three categories of people were allowed to practice viz:</a:t>
            </a:r>
          </a:p>
          <a:p>
            <a:r>
              <a:rPr lang="en-GB" dirty="0"/>
              <a:t>Professionally qualified legal practitioners,</a:t>
            </a:r>
          </a:p>
          <a:p>
            <a:r>
              <a:rPr lang="en-GB" dirty="0"/>
              <a:t>Those who had served article, and</a:t>
            </a:r>
          </a:p>
          <a:p>
            <a:r>
              <a:rPr lang="en-GB" dirty="0"/>
              <a:t>Local attorneys</a:t>
            </a:r>
          </a:p>
          <a:p>
            <a:pPr>
              <a:buFont typeface="Wingdings" panose="05000000000000000000" pitchFamily="2" charset="2"/>
              <a:buChar char="§"/>
            </a:pPr>
            <a:r>
              <a:rPr lang="en-GB" dirty="0"/>
              <a:t>1876 Supreme Court Ordinance</a:t>
            </a:r>
            <a:endParaRPr lang="en-NG" dirty="0"/>
          </a:p>
        </p:txBody>
      </p:sp>
    </p:spTree>
    <p:extLst>
      <p:ext uri="{BB962C8B-B14F-4D97-AF65-F5344CB8AC3E}">
        <p14:creationId xmlns:p14="http://schemas.microsoft.com/office/powerpoint/2010/main" val="3672575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7AAC8-E11F-4A43-A983-62C9B996C6E5}"/>
              </a:ext>
            </a:extLst>
          </p:cNvPr>
          <p:cNvSpPr>
            <a:spLocks noGrp="1"/>
          </p:cNvSpPr>
          <p:nvPr>
            <p:ph type="title"/>
          </p:nvPr>
        </p:nvSpPr>
        <p:spPr/>
        <p:txBody>
          <a:bodyPr/>
          <a:lstStyle/>
          <a:p>
            <a:r>
              <a:rPr lang="en-GB" dirty="0"/>
              <a:t>PROFESSIONALLY QUALIFIED LAWYERS</a:t>
            </a:r>
            <a:endParaRPr lang="en-NG" dirty="0"/>
          </a:p>
        </p:txBody>
      </p:sp>
      <p:sp>
        <p:nvSpPr>
          <p:cNvPr id="3" name="Content Placeholder 2">
            <a:extLst>
              <a:ext uri="{FF2B5EF4-FFF2-40B4-BE49-F238E27FC236}">
                <a16:creationId xmlns:a16="http://schemas.microsoft.com/office/drawing/2014/main" id="{7AA3903A-5D09-4CDC-8074-62C7E785F059}"/>
              </a:ext>
            </a:extLst>
          </p:cNvPr>
          <p:cNvSpPr>
            <a:spLocks noGrp="1"/>
          </p:cNvSpPr>
          <p:nvPr>
            <p:ph idx="1"/>
          </p:nvPr>
        </p:nvSpPr>
        <p:spPr/>
        <p:txBody>
          <a:bodyPr/>
          <a:lstStyle/>
          <a:p>
            <a:r>
              <a:rPr lang="en-GB" dirty="0"/>
              <a:t>S. 71 SC Ordinance of 1876</a:t>
            </a:r>
          </a:p>
          <a:p>
            <a:r>
              <a:rPr lang="en-GB" dirty="0"/>
              <a:t>Those admitted to practice as Barristers or Solicitors in Britain, Ireland, Scotland, Edinburgh or Dublin.</a:t>
            </a:r>
          </a:p>
          <a:p>
            <a:r>
              <a:rPr lang="en-GB" dirty="0"/>
              <a:t>They were given automatic enrolment upon application by the CJN.</a:t>
            </a:r>
            <a:endParaRPr lang="en-NG" dirty="0"/>
          </a:p>
        </p:txBody>
      </p:sp>
    </p:spTree>
    <p:extLst>
      <p:ext uri="{BB962C8B-B14F-4D97-AF65-F5344CB8AC3E}">
        <p14:creationId xmlns:p14="http://schemas.microsoft.com/office/powerpoint/2010/main" val="3815517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C8934-13EF-4974-A98A-6E4B0D1B8B10}"/>
              </a:ext>
            </a:extLst>
          </p:cNvPr>
          <p:cNvSpPr>
            <a:spLocks noGrp="1"/>
          </p:cNvSpPr>
          <p:nvPr>
            <p:ph type="title"/>
          </p:nvPr>
        </p:nvSpPr>
        <p:spPr/>
        <p:txBody>
          <a:bodyPr/>
          <a:lstStyle/>
          <a:p>
            <a:r>
              <a:rPr lang="en-GB" dirty="0"/>
              <a:t>THOSE WHO HAD SERVED ARTICLE</a:t>
            </a:r>
            <a:endParaRPr lang="en-NG" dirty="0"/>
          </a:p>
        </p:txBody>
      </p:sp>
      <p:sp>
        <p:nvSpPr>
          <p:cNvPr id="3" name="Content Placeholder 2">
            <a:extLst>
              <a:ext uri="{FF2B5EF4-FFF2-40B4-BE49-F238E27FC236}">
                <a16:creationId xmlns:a16="http://schemas.microsoft.com/office/drawing/2014/main" id="{86A05D0D-A488-4B03-8FAF-CB370626CFC7}"/>
              </a:ext>
            </a:extLst>
          </p:cNvPr>
          <p:cNvSpPr>
            <a:spLocks noGrp="1"/>
          </p:cNvSpPr>
          <p:nvPr>
            <p:ph idx="1"/>
          </p:nvPr>
        </p:nvSpPr>
        <p:spPr/>
        <p:txBody>
          <a:bodyPr/>
          <a:lstStyle/>
          <a:p>
            <a:r>
              <a:rPr lang="en-GB" dirty="0"/>
              <a:t>S. 73 SC Ordinance 1876.</a:t>
            </a:r>
          </a:p>
          <a:p>
            <a:r>
              <a:rPr lang="en-GB" dirty="0"/>
              <a:t>Persons who had served in the law office of a qualified lawyer in Nigeria or Gold Coast for not less than 5 years.</a:t>
            </a:r>
          </a:p>
          <a:p>
            <a:r>
              <a:rPr lang="en-GB" dirty="0"/>
              <a:t>They would in addition have passed the exams administered by persons appointed by the CJN.</a:t>
            </a:r>
            <a:endParaRPr lang="en-NG" dirty="0"/>
          </a:p>
        </p:txBody>
      </p:sp>
    </p:spTree>
    <p:extLst>
      <p:ext uri="{BB962C8B-B14F-4D97-AF65-F5344CB8AC3E}">
        <p14:creationId xmlns:p14="http://schemas.microsoft.com/office/powerpoint/2010/main" val="446699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B11BE-89B9-4792-A367-FFAD273114B7}"/>
              </a:ext>
            </a:extLst>
          </p:cNvPr>
          <p:cNvSpPr>
            <a:spLocks noGrp="1"/>
          </p:cNvSpPr>
          <p:nvPr>
            <p:ph type="title"/>
          </p:nvPr>
        </p:nvSpPr>
        <p:spPr/>
        <p:txBody>
          <a:bodyPr/>
          <a:lstStyle/>
          <a:p>
            <a:r>
              <a:rPr lang="en-GB" dirty="0"/>
              <a:t>LOCAL ATTORNEYS</a:t>
            </a:r>
            <a:endParaRPr lang="en-NG" dirty="0"/>
          </a:p>
        </p:txBody>
      </p:sp>
      <p:sp>
        <p:nvSpPr>
          <p:cNvPr id="3" name="Content Placeholder 2">
            <a:extLst>
              <a:ext uri="{FF2B5EF4-FFF2-40B4-BE49-F238E27FC236}">
                <a16:creationId xmlns:a16="http://schemas.microsoft.com/office/drawing/2014/main" id="{05BF3365-C7C4-4853-920B-28F648E1584F}"/>
              </a:ext>
            </a:extLst>
          </p:cNvPr>
          <p:cNvSpPr>
            <a:spLocks noGrp="1"/>
          </p:cNvSpPr>
          <p:nvPr>
            <p:ph idx="1"/>
          </p:nvPr>
        </p:nvSpPr>
        <p:spPr/>
        <p:txBody>
          <a:bodyPr/>
          <a:lstStyle/>
          <a:p>
            <a:r>
              <a:rPr lang="en-GB" dirty="0"/>
              <a:t>S. 74 SC Ordinance 1876</a:t>
            </a:r>
          </a:p>
          <a:p>
            <a:r>
              <a:rPr lang="en-GB" dirty="0"/>
              <a:t>The CJN was empowered to appoint them</a:t>
            </a:r>
          </a:p>
          <a:p>
            <a:r>
              <a:rPr lang="en-GB" dirty="0"/>
              <a:t>They must be fit and proper</a:t>
            </a:r>
          </a:p>
          <a:p>
            <a:r>
              <a:rPr lang="en-GB" dirty="0"/>
              <a:t>The would have passed the exams set by the CJN</a:t>
            </a:r>
          </a:p>
          <a:p>
            <a:r>
              <a:rPr lang="en-GB" dirty="0"/>
              <a:t>Their license was for 6 months renewable</a:t>
            </a:r>
          </a:p>
          <a:p>
            <a:r>
              <a:rPr lang="en-GB" dirty="0"/>
              <a:t>The last applicant was J. Osho Davies</a:t>
            </a:r>
            <a:endParaRPr lang="en-NG" dirty="0"/>
          </a:p>
        </p:txBody>
      </p:sp>
    </p:spTree>
    <p:extLst>
      <p:ext uri="{BB962C8B-B14F-4D97-AF65-F5344CB8AC3E}">
        <p14:creationId xmlns:p14="http://schemas.microsoft.com/office/powerpoint/2010/main" val="1999333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EFC3E-6700-4D8A-BDAE-CAEBF5A021C2}"/>
              </a:ext>
            </a:extLst>
          </p:cNvPr>
          <p:cNvSpPr>
            <a:spLocks noGrp="1"/>
          </p:cNvSpPr>
          <p:nvPr>
            <p:ph type="title"/>
          </p:nvPr>
        </p:nvSpPr>
        <p:spPr/>
        <p:txBody>
          <a:bodyPr/>
          <a:lstStyle/>
          <a:p>
            <a:r>
              <a:rPr lang="en-GB" dirty="0"/>
              <a:t>THE PERIOD OF 1914-1962</a:t>
            </a:r>
            <a:endParaRPr lang="en-NG" dirty="0"/>
          </a:p>
        </p:txBody>
      </p:sp>
      <p:sp>
        <p:nvSpPr>
          <p:cNvPr id="3" name="Content Placeholder 2">
            <a:extLst>
              <a:ext uri="{FF2B5EF4-FFF2-40B4-BE49-F238E27FC236}">
                <a16:creationId xmlns:a16="http://schemas.microsoft.com/office/drawing/2014/main" id="{A2AEDBB3-F114-4A8D-A219-18D990B97D74}"/>
              </a:ext>
            </a:extLst>
          </p:cNvPr>
          <p:cNvSpPr>
            <a:spLocks noGrp="1"/>
          </p:cNvSpPr>
          <p:nvPr>
            <p:ph idx="1"/>
          </p:nvPr>
        </p:nvSpPr>
        <p:spPr/>
        <p:txBody>
          <a:bodyPr/>
          <a:lstStyle/>
          <a:p>
            <a:r>
              <a:rPr lang="en-GB" dirty="0"/>
              <a:t>Only qualified Barristers and solicitors were allowed to practice.</a:t>
            </a:r>
          </a:p>
          <a:p>
            <a:r>
              <a:rPr lang="en-GB" dirty="0"/>
              <a:t>No indigenous training facilities in Nigeria.</a:t>
            </a:r>
          </a:p>
          <a:p>
            <a:r>
              <a:rPr lang="en-GB" dirty="0"/>
              <a:t>Most were trained in England.</a:t>
            </a:r>
            <a:endParaRPr lang="en-NG" dirty="0"/>
          </a:p>
        </p:txBody>
      </p:sp>
    </p:spTree>
    <p:extLst>
      <p:ext uri="{BB962C8B-B14F-4D97-AF65-F5344CB8AC3E}">
        <p14:creationId xmlns:p14="http://schemas.microsoft.com/office/powerpoint/2010/main" val="3869472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E591F-AE06-4034-BEEA-D4313AAACEE1}"/>
              </a:ext>
            </a:extLst>
          </p:cNvPr>
          <p:cNvSpPr>
            <a:spLocks noGrp="1"/>
          </p:cNvSpPr>
          <p:nvPr>
            <p:ph type="title"/>
          </p:nvPr>
        </p:nvSpPr>
        <p:spPr/>
        <p:txBody>
          <a:bodyPr/>
          <a:lstStyle/>
          <a:p>
            <a:r>
              <a:rPr lang="en-GB" dirty="0"/>
              <a:t>BARRISTERS</a:t>
            </a:r>
            <a:endParaRPr lang="en-NG" dirty="0"/>
          </a:p>
        </p:txBody>
      </p:sp>
      <p:sp>
        <p:nvSpPr>
          <p:cNvPr id="3" name="Content Placeholder 2">
            <a:extLst>
              <a:ext uri="{FF2B5EF4-FFF2-40B4-BE49-F238E27FC236}">
                <a16:creationId xmlns:a16="http://schemas.microsoft.com/office/drawing/2014/main" id="{54BEA0B9-23C3-4600-9C96-13CFAB4CC21C}"/>
              </a:ext>
            </a:extLst>
          </p:cNvPr>
          <p:cNvSpPr>
            <a:spLocks noGrp="1"/>
          </p:cNvSpPr>
          <p:nvPr>
            <p:ph idx="1"/>
          </p:nvPr>
        </p:nvSpPr>
        <p:spPr/>
        <p:txBody>
          <a:bodyPr/>
          <a:lstStyle/>
          <a:p>
            <a:r>
              <a:rPr lang="en-GB" dirty="0"/>
              <a:t>To train as a Barrister one had to join any of the 4 Inns of Court (Middle temple, Inner temple, Gray’s Inn, and Lincoln's Inn)</a:t>
            </a:r>
          </a:p>
          <a:p>
            <a:r>
              <a:rPr lang="en-GB" dirty="0"/>
              <a:t>Entry qualification was WASC</a:t>
            </a:r>
          </a:p>
          <a:p>
            <a:r>
              <a:rPr lang="en-GB" dirty="0"/>
              <a:t>Dinners were Compulsory ( 12)</a:t>
            </a:r>
          </a:p>
          <a:p>
            <a:r>
              <a:rPr lang="en-GB" dirty="0"/>
              <a:t>Lectures were not compulsory</a:t>
            </a:r>
          </a:p>
          <a:p>
            <a:r>
              <a:rPr lang="en-GB" dirty="0"/>
              <a:t>The training was broken into Barrister’s part one and two</a:t>
            </a:r>
          </a:p>
          <a:p>
            <a:r>
              <a:rPr lang="en-GB" dirty="0"/>
              <a:t>Second class honours law degree exempted the holder from part one programme.</a:t>
            </a:r>
          </a:p>
          <a:p>
            <a:endParaRPr lang="en-NG" dirty="0"/>
          </a:p>
        </p:txBody>
      </p:sp>
    </p:spTree>
    <p:extLst>
      <p:ext uri="{BB962C8B-B14F-4D97-AF65-F5344CB8AC3E}">
        <p14:creationId xmlns:p14="http://schemas.microsoft.com/office/powerpoint/2010/main" val="1685142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2CE0D-F47A-4DEE-875C-45CBD739814E}"/>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73412AA3-3EC3-4528-84D9-580A58A34202}"/>
              </a:ext>
            </a:extLst>
          </p:cNvPr>
          <p:cNvSpPr>
            <a:spLocks noGrp="1"/>
          </p:cNvSpPr>
          <p:nvPr>
            <p:ph idx="1"/>
          </p:nvPr>
        </p:nvSpPr>
        <p:spPr/>
        <p:txBody>
          <a:bodyPr/>
          <a:lstStyle/>
          <a:p>
            <a:r>
              <a:rPr lang="en-GB" dirty="0"/>
              <a:t>There were other additional benefits for those with law degrees</a:t>
            </a:r>
          </a:p>
          <a:p>
            <a:r>
              <a:rPr lang="en-GB" dirty="0"/>
              <a:t>The benchers of the various Inns were responsible for the call  to Bar</a:t>
            </a:r>
          </a:p>
          <a:p>
            <a:r>
              <a:rPr lang="en-GB" dirty="0"/>
              <a:t>3 months post call practical training was mandatory to practice in England</a:t>
            </a:r>
          </a:p>
          <a:p>
            <a:r>
              <a:rPr lang="en-GB" dirty="0"/>
              <a:t>One year pupillage was also mandatory for those who wanted to practice in England.</a:t>
            </a:r>
            <a:endParaRPr lang="en-NG" dirty="0"/>
          </a:p>
        </p:txBody>
      </p:sp>
    </p:spTree>
    <p:extLst>
      <p:ext uri="{BB962C8B-B14F-4D97-AF65-F5344CB8AC3E}">
        <p14:creationId xmlns:p14="http://schemas.microsoft.com/office/powerpoint/2010/main" val="2700082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9D570-D38C-4B03-85A3-37542B3471EC}"/>
              </a:ext>
            </a:extLst>
          </p:cNvPr>
          <p:cNvSpPr>
            <a:spLocks noGrp="1"/>
          </p:cNvSpPr>
          <p:nvPr>
            <p:ph type="title"/>
          </p:nvPr>
        </p:nvSpPr>
        <p:spPr/>
        <p:txBody>
          <a:bodyPr/>
          <a:lstStyle/>
          <a:p>
            <a:r>
              <a:rPr lang="en-GB" dirty="0"/>
              <a:t>SOLICITORS</a:t>
            </a:r>
            <a:endParaRPr lang="en-NG" dirty="0"/>
          </a:p>
        </p:txBody>
      </p:sp>
      <p:sp>
        <p:nvSpPr>
          <p:cNvPr id="3" name="Content Placeholder 2">
            <a:extLst>
              <a:ext uri="{FF2B5EF4-FFF2-40B4-BE49-F238E27FC236}">
                <a16:creationId xmlns:a16="http://schemas.microsoft.com/office/drawing/2014/main" id="{EE5D0522-08DE-49C1-8144-92E705CC23EF}"/>
              </a:ext>
            </a:extLst>
          </p:cNvPr>
          <p:cNvSpPr>
            <a:spLocks noGrp="1"/>
          </p:cNvSpPr>
          <p:nvPr>
            <p:ph idx="1"/>
          </p:nvPr>
        </p:nvSpPr>
        <p:spPr/>
        <p:txBody>
          <a:bodyPr/>
          <a:lstStyle/>
          <a:p>
            <a:r>
              <a:rPr lang="en-GB" dirty="0"/>
              <a:t>One had to join a firm of Solicitors </a:t>
            </a:r>
          </a:p>
          <a:p>
            <a:r>
              <a:rPr lang="en-GB" dirty="0"/>
              <a:t>Minimum requirement was WASC</a:t>
            </a:r>
          </a:p>
          <a:p>
            <a:r>
              <a:rPr lang="en-GB" dirty="0"/>
              <a:t>The programme was divided into 2 parts</a:t>
            </a:r>
          </a:p>
          <a:p>
            <a:r>
              <a:rPr lang="en-GB" dirty="0"/>
              <a:t>The training was by the Law Society</a:t>
            </a:r>
          </a:p>
          <a:p>
            <a:r>
              <a:rPr lang="en-GB" dirty="0"/>
              <a:t>Training lasted for 4 years </a:t>
            </a:r>
          </a:p>
          <a:p>
            <a:r>
              <a:rPr lang="en-GB" dirty="0"/>
              <a:t>Those with second class honours degrees in law were exempted from the part one and also enjoyed other benefits</a:t>
            </a:r>
            <a:endParaRPr lang="en-NG" dirty="0"/>
          </a:p>
        </p:txBody>
      </p:sp>
    </p:spTree>
    <p:extLst>
      <p:ext uri="{BB962C8B-B14F-4D97-AF65-F5344CB8AC3E}">
        <p14:creationId xmlns:p14="http://schemas.microsoft.com/office/powerpoint/2010/main" val="2238907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0BF3-0ADD-4150-804A-727D7F023D65}"/>
              </a:ext>
            </a:extLst>
          </p:cNvPr>
          <p:cNvSpPr>
            <a:spLocks noGrp="1"/>
          </p:cNvSpPr>
          <p:nvPr>
            <p:ph type="title"/>
          </p:nvPr>
        </p:nvSpPr>
        <p:spPr/>
        <p:txBody>
          <a:bodyPr/>
          <a:lstStyle/>
          <a:p>
            <a:r>
              <a:rPr lang="en-GB" dirty="0"/>
              <a:t>DEFICIENCIES OF AN ENGLISH TRAINED LAWYER PRACTICING IN NIGERIA</a:t>
            </a:r>
            <a:endParaRPr lang="en-NG" dirty="0"/>
          </a:p>
        </p:txBody>
      </p:sp>
      <p:sp>
        <p:nvSpPr>
          <p:cNvPr id="3" name="Content Placeholder 2">
            <a:extLst>
              <a:ext uri="{FF2B5EF4-FFF2-40B4-BE49-F238E27FC236}">
                <a16:creationId xmlns:a16="http://schemas.microsoft.com/office/drawing/2014/main" id="{A58D63DD-CE33-49D0-B749-E144FC5E1FE7}"/>
              </a:ext>
            </a:extLst>
          </p:cNvPr>
          <p:cNvSpPr>
            <a:spLocks noGrp="1"/>
          </p:cNvSpPr>
          <p:nvPr>
            <p:ph idx="1"/>
          </p:nvPr>
        </p:nvSpPr>
        <p:spPr/>
        <p:txBody>
          <a:bodyPr/>
          <a:lstStyle/>
          <a:p>
            <a:pPr marL="514350" indent="-514350">
              <a:buFont typeface="+mj-lt"/>
              <a:buAutoNum type="arabicPeriod"/>
            </a:pPr>
            <a:r>
              <a:rPr lang="en-GB" dirty="0"/>
              <a:t>They trained either as a Barrister or Solicitor but practiced as both in Nigeria.</a:t>
            </a:r>
          </a:p>
          <a:p>
            <a:pPr marL="514350" indent="-514350">
              <a:buFont typeface="+mj-lt"/>
              <a:buAutoNum type="arabicPeriod"/>
            </a:pPr>
            <a:r>
              <a:rPr lang="en-GB" dirty="0"/>
              <a:t>They were taught and studied English textbooks and laws.</a:t>
            </a:r>
          </a:p>
          <a:p>
            <a:pPr marL="514350" indent="-514350">
              <a:buFont typeface="+mj-lt"/>
              <a:buAutoNum type="arabicPeriod"/>
            </a:pPr>
            <a:r>
              <a:rPr lang="en-GB" dirty="0"/>
              <a:t>Customary law was not part of their training module.</a:t>
            </a:r>
          </a:p>
          <a:p>
            <a:pPr marL="514350" indent="-514350">
              <a:buFont typeface="+mj-lt"/>
              <a:buAutoNum type="arabicPeriod"/>
            </a:pPr>
            <a:r>
              <a:rPr lang="en-GB" dirty="0"/>
              <a:t>Most had no law degrees.</a:t>
            </a:r>
          </a:p>
          <a:p>
            <a:pPr marL="514350" indent="-514350">
              <a:buFont typeface="+mj-lt"/>
              <a:buAutoNum type="arabicPeriod"/>
            </a:pPr>
            <a:r>
              <a:rPr lang="en-GB" dirty="0"/>
              <a:t>Most did not undertake the 3 months post call practical training.</a:t>
            </a:r>
          </a:p>
          <a:p>
            <a:pPr marL="514350" indent="-514350">
              <a:buFont typeface="+mj-lt"/>
              <a:buAutoNum type="arabicPeriod"/>
            </a:pPr>
            <a:r>
              <a:rPr lang="en-GB" dirty="0"/>
              <a:t>Most did not undertake the one year pupillage.</a:t>
            </a:r>
          </a:p>
          <a:p>
            <a:pPr marL="514350" indent="-514350">
              <a:buFont typeface="+mj-lt"/>
              <a:buAutoNum type="arabicPeriod"/>
            </a:pPr>
            <a:r>
              <a:rPr lang="en-GB" dirty="0"/>
              <a:t>Lectures were not made compulsory as part of their training only dinners were.</a:t>
            </a:r>
          </a:p>
          <a:p>
            <a:pPr marL="514350" indent="-514350">
              <a:buFont typeface="+mj-lt"/>
              <a:buAutoNum type="arabicPeriod"/>
            </a:pPr>
            <a:endParaRPr lang="en-NG" dirty="0"/>
          </a:p>
        </p:txBody>
      </p:sp>
    </p:spTree>
    <p:extLst>
      <p:ext uri="{BB962C8B-B14F-4D97-AF65-F5344CB8AC3E}">
        <p14:creationId xmlns:p14="http://schemas.microsoft.com/office/powerpoint/2010/main" val="2260258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605F-4A6E-4594-9945-3DABF7BA6EA6}"/>
              </a:ext>
            </a:extLst>
          </p:cNvPr>
          <p:cNvSpPr>
            <a:spLocks noGrp="1"/>
          </p:cNvSpPr>
          <p:nvPr>
            <p:ph type="title"/>
          </p:nvPr>
        </p:nvSpPr>
        <p:spPr/>
        <p:txBody>
          <a:bodyPr/>
          <a:lstStyle/>
          <a:p>
            <a:r>
              <a:rPr lang="en-GB" dirty="0"/>
              <a:t>THE UNSWORTH’S COMMITTEE OF 1959</a:t>
            </a:r>
            <a:endParaRPr lang="en-NG" dirty="0"/>
          </a:p>
        </p:txBody>
      </p:sp>
      <p:sp>
        <p:nvSpPr>
          <p:cNvPr id="3" name="Content Placeholder 2">
            <a:extLst>
              <a:ext uri="{FF2B5EF4-FFF2-40B4-BE49-F238E27FC236}">
                <a16:creationId xmlns:a16="http://schemas.microsoft.com/office/drawing/2014/main" id="{FE71836A-7693-4763-BEF8-7F3978E07CC1}"/>
              </a:ext>
            </a:extLst>
          </p:cNvPr>
          <p:cNvSpPr>
            <a:spLocks noGrp="1"/>
          </p:cNvSpPr>
          <p:nvPr>
            <p:ph idx="1"/>
          </p:nvPr>
        </p:nvSpPr>
        <p:spPr/>
        <p:txBody>
          <a:bodyPr/>
          <a:lstStyle/>
          <a:p>
            <a:r>
              <a:rPr lang="en-GB" dirty="0"/>
              <a:t>To address the deficiencies highlighted above the Federal Government put in place the Committee.</a:t>
            </a:r>
            <a:endParaRPr lang="en-NG" dirty="0"/>
          </a:p>
        </p:txBody>
      </p:sp>
    </p:spTree>
    <p:extLst>
      <p:ext uri="{BB962C8B-B14F-4D97-AF65-F5344CB8AC3E}">
        <p14:creationId xmlns:p14="http://schemas.microsoft.com/office/powerpoint/2010/main" val="1300155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17BF-2904-4A02-91A3-0C175F23233D}"/>
              </a:ext>
            </a:extLst>
          </p:cNvPr>
          <p:cNvSpPr>
            <a:spLocks noGrp="1"/>
          </p:cNvSpPr>
          <p:nvPr>
            <p:ph type="title"/>
          </p:nvPr>
        </p:nvSpPr>
        <p:spPr/>
        <p:txBody>
          <a:bodyPr/>
          <a:lstStyle/>
          <a:p>
            <a:r>
              <a:rPr lang="en-GB" dirty="0"/>
              <a:t>TERMS OF REFERENCE</a:t>
            </a:r>
            <a:endParaRPr lang="en-NG" dirty="0"/>
          </a:p>
        </p:txBody>
      </p:sp>
      <p:sp>
        <p:nvSpPr>
          <p:cNvPr id="3" name="Content Placeholder 2">
            <a:extLst>
              <a:ext uri="{FF2B5EF4-FFF2-40B4-BE49-F238E27FC236}">
                <a16:creationId xmlns:a16="http://schemas.microsoft.com/office/drawing/2014/main" id="{CC05D2CE-3553-4B13-B749-81B9464A23DE}"/>
              </a:ext>
            </a:extLst>
          </p:cNvPr>
          <p:cNvSpPr>
            <a:spLocks noGrp="1"/>
          </p:cNvSpPr>
          <p:nvPr>
            <p:ph idx="1"/>
          </p:nvPr>
        </p:nvSpPr>
        <p:spPr/>
        <p:txBody>
          <a:bodyPr/>
          <a:lstStyle/>
          <a:p>
            <a:r>
              <a:rPr lang="en-GB" dirty="0"/>
              <a:t>The Committee was mandated to consider and make recommendations for the future of the legal education and admission to practice, the right of audience before the courts, and the making of reciprocal arrangement in this connection with other countries.</a:t>
            </a:r>
            <a:endParaRPr lang="en-NG" dirty="0"/>
          </a:p>
        </p:txBody>
      </p:sp>
    </p:spTree>
    <p:extLst>
      <p:ext uri="{BB962C8B-B14F-4D97-AF65-F5344CB8AC3E}">
        <p14:creationId xmlns:p14="http://schemas.microsoft.com/office/powerpoint/2010/main" val="1857723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DE26B-4EE1-4D51-AC97-66F3C5A128C8}"/>
              </a:ext>
            </a:extLst>
          </p:cNvPr>
          <p:cNvSpPr>
            <a:spLocks noGrp="1"/>
          </p:cNvSpPr>
          <p:nvPr>
            <p:ph type="title"/>
          </p:nvPr>
        </p:nvSpPr>
        <p:spPr/>
        <p:txBody>
          <a:bodyPr/>
          <a:lstStyle/>
          <a:p>
            <a:r>
              <a:rPr lang="en-GB" dirty="0"/>
              <a:t>COMPOSITION</a:t>
            </a:r>
            <a:endParaRPr lang="en-NG" dirty="0"/>
          </a:p>
        </p:txBody>
      </p:sp>
      <p:sp>
        <p:nvSpPr>
          <p:cNvPr id="3" name="Content Placeholder 2">
            <a:extLst>
              <a:ext uri="{FF2B5EF4-FFF2-40B4-BE49-F238E27FC236}">
                <a16:creationId xmlns:a16="http://schemas.microsoft.com/office/drawing/2014/main" id="{A91CE3B9-E027-4E21-9973-FC5A69911132}"/>
              </a:ext>
            </a:extLst>
          </p:cNvPr>
          <p:cNvSpPr>
            <a:spLocks noGrp="1"/>
          </p:cNvSpPr>
          <p:nvPr>
            <p:ph idx="1"/>
          </p:nvPr>
        </p:nvSpPr>
        <p:spPr/>
        <p:txBody>
          <a:bodyPr/>
          <a:lstStyle/>
          <a:p>
            <a:r>
              <a:rPr lang="en-GB" dirty="0"/>
              <a:t>E.I.G. Unsworth ( Federal AG)</a:t>
            </a:r>
          </a:p>
          <a:p>
            <a:r>
              <a:rPr lang="en-GB" dirty="0"/>
              <a:t>Solicitor General of the Federation</a:t>
            </a:r>
          </a:p>
          <a:p>
            <a:r>
              <a:rPr lang="en-GB" dirty="0"/>
              <a:t>The Regional Attorneys General</a:t>
            </a:r>
          </a:p>
          <a:p>
            <a:r>
              <a:rPr lang="en-GB" dirty="0"/>
              <a:t>Legal Secretary of the Southern Cameroons, and</a:t>
            </a:r>
          </a:p>
          <a:p>
            <a:r>
              <a:rPr lang="en-GB" dirty="0"/>
              <a:t>6 distinguished Legal Practitioners</a:t>
            </a:r>
            <a:endParaRPr lang="en-NG" dirty="0"/>
          </a:p>
        </p:txBody>
      </p:sp>
    </p:spTree>
    <p:extLst>
      <p:ext uri="{BB962C8B-B14F-4D97-AF65-F5344CB8AC3E}">
        <p14:creationId xmlns:p14="http://schemas.microsoft.com/office/powerpoint/2010/main" val="16611895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838B9-5E6A-4B8E-9BB9-83DC72FDDA5B}"/>
              </a:ext>
            </a:extLst>
          </p:cNvPr>
          <p:cNvSpPr>
            <a:spLocks noGrp="1"/>
          </p:cNvSpPr>
          <p:nvPr>
            <p:ph type="title"/>
          </p:nvPr>
        </p:nvSpPr>
        <p:spPr/>
        <p:txBody>
          <a:bodyPr/>
          <a:lstStyle/>
          <a:p>
            <a:r>
              <a:rPr lang="en-GB" dirty="0"/>
              <a:t>RECOMMENDATIONS</a:t>
            </a:r>
            <a:endParaRPr lang="en-NG" dirty="0"/>
          </a:p>
        </p:txBody>
      </p:sp>
      <p:sp>
        <p:nvSpPr>
          <p:cNvPr id="3" name="Content Placeholder 2">
            <a:extLst>
              <a:ext uri="{FF2B5EF4-FFF2-40B4-BE49-F238E27FC236}">
                <a16:creationId xmlns:a16="http://schemas.microsoft.com/office/drawing/2014/main" id="{094192B9-2D1B-4E6F-BDD2-3E536CFE1056}"/>
              </a:ext>
            </a:extLst>
          </p:cNvPr>
          <p:cNvSpPr>
            <a:spLocks noGrp="1"/>
          </p:cNvSpPr>
          <p:nvPr>
            <p:ph idx="1"/>
          </p:nvPr>
        </p:nvSpPr>
        <p:spPr/>
        <p:txBody>
          <a:bodyPr/>
          <a:lstStyle/>
          <a:p>
            <a:pPr marL="514350" indent="-514350">
              <a:buFont typeface="+mj-lt"/>
              <a:buAutoNum type="arabicPeriod"/>
            </a:pPr>
            <a:r>
              <a:rPr lang="en-GB" dirty="0"/>
              <a:t>Nigeria should establish its own system of legal education.</a:t>
            </a:r>
          </a:p>
          <a:p>
            <a:pPr marL="514350" indent="-514350">
              <a:buFont typeface="+mj-lt"/>
              <a:buAutoNum type="arabicPeriod"/>
            </a:pPr>
            <a:r>
              <a:rPr lang="en-GB" dirty="0"/>
              <a:t>A faculty of Law should be established at the University College Ibadan </a:t>
            </a:r>
          </a:p>
          <a:p>
            <a:pPr marL="514350" indent="-514350">
              <a:buFont typeface="+mj-lt"/>
              <a:buAutoNum type="arabicPeriod"/>
            </a:pPr>
            <a:r>
              <a:rPr lang="en-GB" dirty="0"/>
              <a:t>That a Law School should be established</a:t>
            </a:r>
          </a:p>
          <a:p>
            <a:pPr marL="514350" indent="-514350">
              <a:buFont typeface="+mj-lt"/>
              <a:buAutoNum type="arabicPeriod"/>
            </a:pPr>
            <a:r>
              <a:rPr lang="en-GB" dirty="0"/>
              <a:t>That qualification for admission to the Law School should be a Law degree</a:t>
            </a:r>
          </a:p>
          <a:p>
            <a:pPr marL="514350" indent="-514350">
              <a:buFont typeface="+mj-lt"/>
              <a:buAutoNum type="arabicPeriod"/>
            </a:pPr>
            <a:r>
              <a:rPr lang="en-GB" dirty="0"/>
              <a:t>That graduates from faculties of Law that had not accepted the syllabus recommended by CLE should be made to take further exams as recommended by the CLE</a:t>
            </a:r>
            <a:endParaRPr lang="en-NG" dirty="0"/>
          </a:p>
        </p:txBody>
      </p:sp>
    </p:spTree>
    <p:extLst>
      <p:ext uri="{BB962C8B-B14F-4D97-AF65-F5344CB8AC3E}">
        <p14:creationId xmlns:p14="http://schemas.microsoft.com/office/powerpoint/2010/main" val="2605846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70E82-12B8-4A74-A297-BFFD1ED842C7}"/>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2D215F34-EDA2-4EA7-B0FA-3A3A3AB51C29}"/>
              </a:ext>
            </a:extLst>
          </p:cNvPr>
          <p:cNvSpPr>
            <a:spLocks noGrp="1"/>
          </p:cNvSpPr>
          <p:nvPr>
            <p:ph idx="1"/>
          </p:nvPr>
        </p:nvSpPr>
        <p:spPr/>
        <p:txBody>
          <a:bodyPr/>
          <a:lstStyle/>
          <a:p>
            <a:pPr marL="0" indent="0">
              <a:buNone/>
            </a:pPr>
            <a:r>
              <a:rPr lang="en-GB" dirty="0"/>
              <a:t>6. That the CLE should be established.</a:t>
            </a:r>
          </a:p>
          <a:p>
            <a:pPr marL="0" indent="0">
              <a:buNone/>
            </a:pPr>
            <a:r>
              <a:rPr lang="en-GB" dirty="0"/>
              <a:t>The recommendations were accepted which led to the enactment of: </a:t>
            </a:r>
          </a:p>
          <a:p>
            <a:pPr>
              <a:buFont typeface="Wingdings" panose="05000000000000000000" pitchFamily="2" charset="2"/>
              <a:buChar char="Ø"/>
            </a:pPr>
            <a:r>
              <a:rPr lang="en-GB" dirty="0"/>
              <a:t> the Legal Education Act of 1962, and</a:t>
            </a:r>
          </a:p>
          <a:p>
            <a:pPr>
              <a:buFont typeface="Wingdings" panose="05000000000000000000" pitchFamily="2" charset="2"/>
              <a:buChar char="Ø"/>
            </a:pPr>
            <a:r>
              <a:rPr lang="en-GB" dirty="0"/>
              <a:t>Legal Practitioners Act of 1962 </a:t>
            </a:r>
            <a:endParaRPr lang="en-NG" dirty="0"/>
          </a:p>
        </p:txBody>
      </p:sp>
    </p:spTree>
    <p:extLst>
      <p:ext uri="{BB962C8B-B14F-4D97-AF65-F5344CB8AC3E}">
        <p14:creationId xmlns:p14="http://schemas.microsoft.com/office/powerpoint/2010/main" val="4218840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F5399-8623-40B2-BAF1-5C49029D1F86}"/>
              </a:ext>
            </a:extLst>
          </p:cNvPr>
          <p:cNvSpPr>
            <a:spLocks noGrp="1"/>
          </p:cNvSpPr>
          <p:nvPr>
            <p:ph type="title"/>
          </p:nvPr>
        </p:nvSpPr>
        <p:spPr/>
        <p:txBody>
          <a:bodyPr/>
          <a:lstStyle/>
          <a:p>
            <a:r>
              <a:rPr lang="en-GB" dirty="0"/>
              <a:t>POST 1962 PERIOD</a:t>
            </a:r>
            <a:endParaRPr lang="en-NG" dirty="0"/>
          </a:p>
        </p:txBody>
      </p:sp>
      <p:sp>
        <p:nvSpPr>
          <p:cNvPr id="3" name="Content Placeholder 2">
            <a:extLst>
              <a:ext uri="{FF2B5EF4-FFF2-40B4-BE49-F238E27FC236}">
                <a16:creationId xmlns:a16="http://schemas.microsoft.com/office/drawing/2014/main" id="{92B1534E-7454-4E06-9E97-E74767B36E42}"/>
              </a:ext>
            </a:extLst>
          </p:cNvPr>
          <p:cNvSpPr>
            <a:spLocks noGrp="1"/>
          </p:cNvSpPr>
          <p:nvPr>
            <p:ph idx="1"/>
          </p:nvPr>
        </p:nvSpPr>
        <p:spPr/>
        <p:txBody>
          <a:bodyPr/>
          <a:lstStyle/>
          <a:p>
            <a:r>
              <a:rPr lang="en-GB" dirty="0"/>
              <a:t>Three categories could now practice:</a:t>
            </a:r>
          </a:p>
          <a:p>
            <a:pPr>
              <a:buFont typeface="Wingdings" panose="05000000000000000000" pitchFamily="2" charset="2"/>
              <a:buChar char="ü"/>
            </a:pPr>
            <a:r>
              <a:rPr lang="en-GB" dirty="0"/>
              <a:t>Those entitled to practice generally.</a:t>
            </a:r>
          </a:p>
          <a:p>
            <a:pPr>
              <a:buFont typeface="Wingdings" panose="05000000000000000000" pitchFamily="2" charset="2"/>
              <a:buChar char="ü"/>
            </a:pPr>
            <a:r>
              <a:rPr lang="en-GB" dirty="0"/>
              <a:t>Those entitled to practice for the purpose of any particular office, and</a:t>
            </a:r>
          </a:p>
          <a:p>
            <a:pPr>
              <a:buFont typeface="Wingdings" panose="05000000000000000000" pitchFamily="2" charset="2"/>
              <a:buChar char="ü"/>
            </a:pPr>
            <a:r>
              <a:rPr lang="en-GB" dirty="0"/>
              <a:t>Those entitled to practice for the purpose of any particular proceeding. S.24 LPA </a:t>
            </a:r>
            <a:endParaRPr lang="en-NG" dirty="0"/>
          </a:p>
        </p:txBody>
      </p:sp>
    </p:spTree>
    <p:extLst>
      <p:ext uri="{BB962C8B-B14F-4D97-AF65-F5344CB8AC3E}">
        <p14:creationId xmlns:p14="http://schemas.microsoft.com/office/powerpoint/2010/main" val="2371234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CEF68-DE2B-44FF-AF84-A88E0C0EDCFF}"/>
              </a:ext>
            </a:extLst>
          </p:cNvPr>
          <p:cNvSpPr>
            <a:spLocks noGrp="1"/>
          </p:cNvSpPr>
          <p:nvPr>
            <p:ph type="title"/>
          </p:nvPr>
        </p:nvSpPr>
        <p:spPr/>
        <p:txBody>
          <a:bodyPr/>
          <a:lstStyle/>
          <a:p>
            <a:r>
              <a:rPr lang="en-GB" dirty="0"/>
              <a:t>THOSE ENTITLED TO PRACTICE GENERALLY</a:t>
            </a:r>
            <a:endParaRPr lang="en-NG" dirty="0"/>
          </a:p>
        </p:txBody>
      </p:sp>
      <p:sp>
        <p:nvSpPr>
          <p:cNvPr id="3" name="Content Placeholder 2">
            <a:extLst>
              <a:ext uri="{FF2B5EF4-FFF2-40B4-BE49-F238E27FC236}">
                <a16:creationId xmlns:a16="http://schemas.microsoft.com/office/drawing/2014/main" id="{90C4C79F-EDB5-4C87-9BF2-431FAB2F6E07}"/>
              </a:ext>
            </a:extLst>
          </p:cNvPr>
          <p:cNvSpPr>
            <a:spLocks noGrp="1"/>
          </p:cNvSpPr>
          <p:nvPr>
            <p:ph idx="1"/>
          </p:nvPr>
        </p:nvSpPr>
        <p:spPr/>
        <p:txBody>
          <a:bodyPr/>
          <a:lstStyle/>
          <a:p>
            <a:r>
              <a:rPr lang="en-GB" dirty="0"/>
              <a:t>A person can practice generally if and only if his name is on the roll of legal practitioners kept by the CR of the SC. S.2(1) LPA.</a:t>
            </a:r>
          </a:p>
          <a:p>
            <a:r>
              <a:rPr lang="en-GB" dirty="0"/>
              <a:t>For the name to be on the roll the person must:</a:t>
            </a:r>
          </a:p>
          <a:p>
            <a:pPr>
              <a:buFont typeface="Wingdings" panose="05000000000000000000" pitchFamily="2" charset="2"/>
              <a:buChar char="v"/>
            </a:pPr>
            <a:r>
              <a:rPr lang="en-GB" dirty="0"/>
              <a:t>Have been called to the Bar by the </a:t>
            </a:r>
            <a:r>
              <a:rPr lang="en-GB" dirty="0" err="1"/>
              <a:t>BoB</a:t>
            </a:r>
            <a:r>
              <a:rPr lang="en-GB" dirty="0"/>
              <a:t>, and</a:t>
            </a:r>
          </a:p>
          <a:p>
            <a:pPr>
              <a:buFont typeface="Wingdings" panose="05000000000000000000" pitchFamily="2" charset="2"/>
              <a:buChar char="v"/>
            </a:pPr>
            <a:r>
              <a:rPr lang="en-GB" dirty="0"/>
              <a:t>He produces his certificate of call to Bar to the CR of the SC</a:t>
            </a:r>
          </a:p>
        </p:txBody>
      </p:sp>
    </p:spTree>
    <p:extLst>
      <p:ext uri="{BB962C8B-B14F-4D97-AF65-F5344CB8AC3E}">
        <p14:creationId xmlns:p14="http://schemas.microsoft.com/office/powerpoint/2010/main" val="39831429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64A1A-C30B-4E49-8BF1-9E6779766C44}"/>
              </a:ext>
            </a:extLst>
          </p:cNvPr>
          <p:cNvSpPr>
            <a:spLocks noGrp="1"/>
          </p:cNvSpPr>
          <p:nvPr>
            <p:ph type="title"/>
          </p:nvPr>
        </p:nvSpPr>
        <p:spPr/>
        <p:txBody>
          <a:bodyPr/>
          <a:lstStyle/>
          <a:p>
            <a:r>
              <a:rPr lang="en-GB" dirty="0"/>
              <a:t>HOW TO GET CALLED TO THE BAR. S.4 LPA</a:t>
            </a:r>
            <a:endParaRPr lang="en-NG" dirty="0"/>
          </a:p>
        </p:txBody>
      </p:sp>
      <p:sp>
        <p:nvSpPr>
          <p:cNvPr id="3" name="Content Placeholder 2">
            <a:extLst>
              <a:ext uri="{FF2B5EF4-FFF2-40B4-BE49-F238E27FC236}">
                <a16:creationId xmlns:a16="http://schemas.microsoft.com/office/drawing/2014/main" id="{7801BC2E-BCE5-42A9-9F30-61FA7ED1E509}"/>
              </a:ext>
            </a:extLst>
          </p:cNvPr>
          <p:cNvSpPr>
            <a:spLocks noGrp="1"/>
          </p:cNvSpPr>
          <p:nvPr>
            <p:ph idx="1"/>
          </p:nvPr>
        </p:nvSpPr>
        <p:spPr/>
        <p:txBody>
          <a:bodyPr/>
          <a:lstStyle/>
          <a:p>
            <a:r>
              <a:rPr lang="en-GB" dirty="0"/>
              <a:t>The following conditions must be met:</a:t>
            </a:r>
          </a:p>
          <a:p>
            <a:pPr marL="514350" indent="-514350">
              <a:buFont typeface="+mj-lt"/>
              <a:buAutoNum type="arabicPeriod"/>
            </a:pPr>
            <a:r>
              <a:rPr lang="en-GB" dirty="0"/>
              <a:t>He is a citizen or Non citizen of Nigeria</a:t>
            </a:r>
          </a:p>
          <a:p>
            <a:pPr marL="514350" indent="-514350">
              <a:buFont typeface="+mj-lt"/>
              <a:buAutoNum type="arabicPeriod"/>
            </a:pPr>
            <a:r>
              <a:rPr lang="en-GB" dirty="0"/>
              <a:t>He produces a qualifying certificate to the </a:t>
            </a:r>
            <a:r>
              <a:rPr lang="en-GB" dirty="0" err="1"/>
              <a:t>BoB</a:t>
            </a:r>
            <a:r>
              <a:rPr lang="en-GB" dirty="0"/>
              <a:t>,</a:t>
            </a:r>
          </a:p>
          <a:p>
            <a:pPr marL="514350" indent="-514350">
              <a:buFont typeface="+mj-lt"/>
              <a:buAutoNum type="arabicPeriod"/>
            </a:pPr>
            <a:r>
              <a:rPr lang="en-GB" dirty="0"/>
              <a:t>He satisfies the </a:t>
            </a:r>
            <a:r>
              <a:rPr lang="en-GB" dirty="0" err="1"/>
              <a:t>BoB</a:t>
            </a:r>
            <a:r>
              <a:rPr lang="en-GB" dirty="0"/>
              <a:t> that he is a person of good character</a:t>
            </a:r>
          </a:p>
          <a:p>
            <a:pPr marL="514350" indent="-514350">
              <a:buFont typeface="+mj-lt"/>
              <a:buAutoNum type="arabicPeriod"/>
            </a:pPr>
            <a:r>
              <a:rPr lang="en-GB" dirty="0"/>
              <a:t>He has paid the prescribed call to Bar fees</a:t>
            </a:r>
          </a:p>
          <a:p>
            <a:pPr marL="514350" indent="-514350">
              <a:buFont typeface="+mj-lt"/>
              <a:buAutoNum type="arabicPeriod"/>
            </a:pPr>
            <a:r>
              <a:rPr lang="en-GB" dirty="0"/>
              <a:t>He has kept the mandatory 3 dining terms.</a:t>
            </a:r>
            <a:endParaRPr lang="en-NG" dirty="0"/>
          </a:p>
        </p:txBody>
      </p:sp>
    </p:spTree>
    <p:extLst>
      <p:ext uri="{BB962C8B-B14F-4D97-AF65-F5344CB8AC3E}">
        <p14:creationId xmlns:p14="http://schemas.microsoft.com/office/powerpoint/2010/main" val="2900578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3D0FC-EFE3-48A9-99C1-263FCCA724E4}"/>
              </a:ext>
            </a:extLst>
          </p:cNvPr>
          <p:cNvSpPr>
            <a:spLocks noGrp="1"/>
          </p:cNvSpPr>
          <p:nvPr>
            <p:ph type="title"/>
          </p:nvPr>
        </p:nvSpPr>
        <p:spPr/>
        <p:txBody>
          <a:bodyPr/>
          <a:lstStyle/>
          <a:p>
            <a:r>
              <a:rPr lang="en-GB" dirty="0"/>
              <a:t>QUALIFYING CERTIFICATE</a:t>
            </a:r>
            <a:endParaRPr lang="en-NG" dirty="0"/>
          </a:p>
        </p:txBody>
      </p:sp>
      <p:sp>
        <p:nvSpPr>
          <p:cNvPr id="3" name="Content Placeholder 2">
            <a:extLst>
              <a:ext uri="{FF2B5EF4-FFF2-40B4-BE49-F238E27FC236}">
                <a16:creationId xmlns:a16="http://schemas.microsoft.com/office/drawing/2014/main" id="{A738B29D-4E6C-43C7-9921-002C29B78CEC}"/>
              </a:ext>
            </a:extLst>
          </p:cNvPr>
          <p:cNvSpPr>
            <a:spLocks noGrp="1"/>
          </p:cNvSpPr>
          <p:nvPr>
            <p:ph idx="1"/>
          </p:nvPr>
        </p:nvSpPr>
        <p:spPr/>
        <p:txBody>
          <a:bodyPr/>
          <a:lstStyle/>
          <a:p>
            <a:r>
              <a:rPr lang="en-GB" dirty="0"/>
              <a:t>It is the CLE that issues the qualifying certificate pursuant to S. 5 Legal Education (Consolidation Etc) Act.</a:t>
            </a:r>
          </a:p>
          <a:p>
            <a:r>
              <a:rPr lang="en-GB" dirty="0"/>
              <a:t>To be qualified the person must:</a:t>
            </a:r>
          </a:p>
          <a:p>
            <a:pPr marL="514350" indent="-514350">
              <a:buFont typeface="+mj-lt"/>
              <a:buAutoNum type="arabicPeriod"/>
            </a:pPr>
            <a:r>
              <a:rPr lang="en-GB" dirty="0"/>
              <a:t>Be a citizen or non citizen of Nigeria, and</a:t>
            </a:r>
          </a:p>
          <a:p>
            <a:pPr marL="514350" indent="-514350">
              <a:buFont typeface="+mj-lt"/>
              <a:buAutoNum type="arabicPeriod"/>
            </a:pPr>
            <a:r>
              <a:rPr lang="en-GB" dirty="0"/>
              <a:t>Have successfully completed a course of practical training at the Law School.</a:t>
            </a:r>
          </a:p>
          <a:p>
            <a:pPr marL="0" indent="0">
              <a:buNone/>
            </a:pPr>
            <a:r>
              <a:rPr lang="en-GB" dirty="0"/>
              <a:t>In appropriate cases the CLE is empowered to grant partial or full exemption.</a:t>
            </a:r>
            <a:endParaRPr lang="en-NG" dirty="0"/>
          </a:p>
        </p:txBody>
      </p:sp>
    </p:spTree>
    <p:extLst>
      <p:ext uri="{BB962C8B-B14F-4D97-AF65-F5344CB8AC3E}">
        <p14:creationId xmlns:p14="http://schemas.microsoft.com/office/powerpoint/2010/main" val="28229167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2C9D1-FD2E-4393-B4D9-487E8298E0D8}"/>
              </a:ext>
            </a:extLst>
          </p:cNvPr>
          <p:cNvSpPr>
            <a:spLocks noGrp="1"/>
          </p:cNvSpPr>
          <p:nvPr>
            <p:ph type="title"/>
          </p:nvPr>
        </p:nvSpPr>
        <p:spPr/>
        <p:txBody>
          <a:bodyPr/>
          <a:lstStyle/>
          <a:p>
            <a:r>
              <a:rPr lang="en-GB" dirty="0"/>
              <a:t>CRITERIA FOR FULL EXEMPTION. LN 439 1989</a:t>
            </a:r>
            <a:endParaRPr lang="en-NG" dirty="0"/>
          </a:p>
        </p:txBody>
      </p:sp>
      <p:sp>
        <p:nvSpPr>
          <p:cNvPr id="3" name="Content Placeholder 2">
            <a:extLst>
              <a:ext uri="{FF2B5EF4-FFF2-40B4-BE49-F238E27FC236}">
                <a16:creationId xmlns:a16="http://schemas.microsoft.com/office/drawing/2014/main" id="{D8CF59F2-9CEF-46BB-BA9D-BE9526174D48}"/>
              </a:ext>
            </a:extLst>
          </p:cNvPr>
          <p:cNvSpPr>
            <a:spLocks noGrp="1"/>
          </p:cNvSpPr>
          <p:nvPr>
            <p:ph idx="1"/>
          </p:nvPr>
        </p:nvSpPr>
        <p:spPr/>
        <p:txBody>
          <a:bodyPr/>
          <a:lstStyle/>
          <a:p>
            <a:r>
              <a:rPr lang="en-GB" dirty="0"/>
              <a:t>To qualify for it a person must:</a:t>
            </a:r>
          </a:p>
          <a:p>
            <a:pPr marL="514350" indent="-514350">
              <a:buFont typeface="+mj-lt"/>
              <a:buAutoNum type="arabicPeriod"/>
            </a:pPr>
            <a:r>
              <a:rPr lang="en-GB" dirty="0"/>
              <a:t>Be a citizen.</a:t>
            </a:r>
          </a:p>
          <a:p>
            <a:pPr marL="514350" indent="-514350">
              <a:buFont typeface="+mj-lt"/>
              <a:buAutoNum type="arabicPeriod"/>
            </a:pPr>
            <a:r>
              <a:rPr lang="en-GB" dirty="0"/>
              <a:t>He is qualified for admission to the Law school.</a:t>
            </a:r>
          </a:p>
          <a:p>
            <a:pPr marL="514350" indent="-514350">
              <a:buFont typeface="+mj-lt"/>
              <a:buAutoNum type="arabicPeriod"/>
            </a:pPr>
            <a:r>
              <a:rPr lang="en-GB" dirty="0"/>
              <a:t>The qualifying subject for admission to the Law School includes the core courses prescribed by the CLE.</a:t>
            </a:r>
          </a:p>
          <a:p>
            <a:pPr marL="514350" indent="-514350">
              <a:buFont typeface="+mj-lt"/>
              <a:buAutoNum type="arabicPeriod"/>
            </a:pPr>
            <a:r>
              <a:rPr lang="en-GB" dirty="0"/>
              <a:t>At the time he qualified for admission to the law school, or a reasonable time thereafter the opportunity was lost due to reasons beyond his control,</a:t>
            </a:r>
          </a:p>
          <a:p>
            <a:pPr marL="514350" indent="-514350">
              <a:buFont typeface="+mj-lt"/>
              <a:buAutoNum type="arabicPeriod"/>
            </a:pPr>
            <a:r>
              <a:rPr lang="en-GB" dirty="0"/>
              <a:t>He has acquired knowledge and experience for at least 5 years.</a:t>
            </a:r>
            <a:endParaRPr lang="en-NG" dirty="0"/>
          </a:p>
        </p:txBody>
      </p:sp>
    </p:spTree>
    <p:extLst>
      <p:ext uri="{BB962C8B-B14F-4D97-AF65-F5344CB8AC3E}">
        <p14:creationId xmlns:p14="http://schemas.microsoft.com/office/powerpoint/2010/main" val="3327354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06681-4A35-49B9-A4E1-D79290B7989C}"/>
              </a:ext>
            </a:extLst>
          </p:cNvPr>
          <p:cNvSpPr>
            <a:spLocks noGrp="1"/>
          </p:cNvSpPr>
          <p:nvPr>
            <p:ph type="title"/>
          </p:nvPr>
        </p:nvSpPr>
        <p:spPr/>
        <p:txBody>
          <a:bodyPr/>
          <a:lstStyle/>
          <a:p>
            <a:r>
              <a:rPr lang="en-GB" dirty="0"/>
              <a:t>CRITERIA FOR PARTIAL EXEMPTION. LN446 1989</a:t>
            </a:r>
            <a:endParaRPr lang="en-NG" dirty="0"/>
          </a:p>
        </p:txBody>
      </p:sp>
      <p:sp>
        <p:nvSpPr>
          <p:cNvPr id="3" name="Content Placeholder 2">
            <a:extLst>
              <a:ext uri="{FF2B5EF4-FFF2-40B4-BE49-F238E27FC236}">
                <a16:creationId xmlns:a16="http://schemas.microsoft.com/office/drawing/2014/main" id="{AEE89FCA-3150-44DB-9312-0019F39571B0}"/>
              </a:ext>
            </a:extLst>
          </p:cNvPr>
          <p:cNvSpPr>
            <a:spLocks noGrp="1"/>
          </p:cNvSpPr>
          <p:nvPr>
            <p:ph idx="1"/>
          </p:nvPr>
        </p:nvSpPr>
        <p:spPr/>
        <p:txBody>
          <a:bodyPr/>
          <a:lstStyle/>
          <a:p>
            <a:r>
              <a:rPr lang="en-GB" dirty="0"/>
              <a:t>The person may be:</a:t>
            </a:r>
          </a:p>
          <a:p>
            <a:pPr marL="514350" indent="-514350">
              <a:buFont typeface="+mj-lt"/>
              <a:buAutoNum type="arabicPeriod"/>
            </a:pPr>
            <a:r>
              <a:rPr lang="en-GB" dirty="0"/>
              <a:t>A graduate from common law jurisdiction who has been teaching law in a Nigerian University for at least 5 years, or</a:t>
            </a:r>
          </a:p>
          <a:p>
            <a:pPr marL="514350" indent="-514350">
              <a:buFont typeface="+mj-lt"/>
              <a:buAutoNum type="arabicPeriod"/>
            </a:pPr>
            <a:r>
              <a:rPr lang="en-GB" dirty="0"/>
              <a:t>A graduate from non common law jurisdiction who have taught law in a faculty of law in a Nigerian University for 10 years or more.</a:t>
            </a:r>
          </a:p>
          <a:p>
            <a:pPr>
              <a:buFont typeface="Wingdings" panose="05000000000000000000" pitchFamily="2" charset="2"/>
              <a:buChar char="q"/>
            </a:pPr>
            <a:r>
              <a:rPr lang="en-GB" dirty="0"/>
              <a:t>In either case they maybe exempted from Bar part one programme.</a:t>
            </a:r>
            <a:endParaRPr lang="en-NG" dirty="0"/>
          </a:p>
        </p:txBody>
      </p:sp>
    </p:spTree>
    <p:extLst>
      <p:ext uri="{BB962C8B-B14F-4D97-AF65-F5344CB8AC3E}">
        <p14:creationId xmlns:p14="http://schemas.microsoft.com/office/powerpoint/2010/main" val="21877461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39E12-C422-423C-8DA9-940542AFAFA5}"/>
              </a:ext>
            </a:extLst>
          </p:cNvPr>
          <p:cNvSpPr>
            <a:spLocks noGrp="1"/>
          </p:cNvSpPr>
          <p:nvPr>
            <p:ph type="title"/>
          </p:nvPr>
        </p:nvSpPr>
        <p:spPr/>
        <p:txBody>
          <a:bodyPr/>
          <a:lstStyle/>
          <a:p>
            <a:r>
              <a:rPr lang="en-GB" dirty="0"/>
              <a:t>THOSE ENTITLED TO PRACTICE BY VIRTUE OF OFFICE. S.2(3) LPA</a:t>
            </a:r>
            <a:endParaRPr lang="en-NG" dirty="0"/>
          </a:p>
        </p:txBody>
      </p:sp>
      <p:sp>
        <p:nvSpPr>
          <p:cNvPr id="3" name="Content Placeholder 2">
            <a:extLst>
              <a:ext uri="{FF2B5EF4-FFF2-40B4-BE49-F238E27FC236}">
                <a16:creationId xmlns:a16="http://schemas.microsoft.com/office/drawing/2014/main" id="{84AE7EAB-E587-4560-9CE2-7521988DD679}"/>
              </a:ext>
            </a:extLst>
          </p:cNvPr>
          <p:cNvSpPr>
            <a:spLocks noGrp="1"/>
          </p:cNvSpPr>
          <p:nvPr>
            <p:ph idx="1"/>
          </p:nvPr>
        </p:nvSpPr>
        <p:spPr/>
        <p:txBody>
          <a:bodyPr/>
          <a:lstStyle/>
          <a:p>
            <a:r>
              <a:rPr lang="en-GB" dirty="0"/>
              <a:t>AG, Solicitor General, and DPP whether of the Federation or a State.</a:t>
            </a:r>
          </a:p>
          <a:p>
            <a:r>
              <a:rPr lang="en-GB" dirty="0"/>
              <a:t>Such other offices in the public service of the Federation or of a State as the AGF or AG of a state may by an order specify to be entitled to practice as barrister and solicitor for the purpose of that office. </a:t>
            </a:r>
            <a:endParaRPr lang="en-NG" dirty="0"/>
          </a:p>
        </p:txBody>
      </p:sp>
    </p:spTree>
    <p:extLst>
      <p:ext uri="{BB962C8B-B14F-4D97-AF65-F5344CB8AC3E}">
        <p14:creationId xmlns:p14="http://schemas.microsoft.com/office/powerpoint/2010/main" val="1142692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59D9-3E33-4E07-991C-CF907641D39C}"/>
              </a:ext>
            </a:extLst>
          </p:cNvPr>
          <p:cNvSpPr>
            <a:spLocks noGrp="1"/>
          </p:cNvSpPr>
          <p:nvPr>
            <p:ph type="title"/>
          </p:nvPr>
        </p:nvSpPr>
        <p:spPr/>
        <p:txBody>
          <a:bodyPr>
            <a:normAutofit fontScale="90000"/>
          </a:bodyPr>
          <a:lstStyle/>
          <a:p>
            <a:r>
              <a:rPr lang="en-GB" dirty="0"/>
              <a:t>THOSE ENTITLED TO PRACTICE FOR THE PURPOSE OF A PARTICULAR PROCEEDINGS. S.2(2) LPA</a:t>
            </a:r>
            <a:endParaRPr lang="en-NG" dirty="0"/>
          </a:p>
        </p:txBody>
      </p:sp>
      <p:sp>
        <p:nvSpPr>
          <p:cNvPr id="3" name="Content Placeholder 2">
            <a:extLst>
              <a:ext uri="{FF2B5EF4-FFF2-40B4-BE49-F238E27FC236}">
                <a16:creationId xmlns:a16="http://schemas.microsoft.com/office/drawing/2014/main" id="{442BA95F-04C9-4D34-AB61-CA0203D56676}"/>
              </a:ext>
            </a:extLst>
          </p:cNvPr>
          <p:cNvSpPr>
            <a:spLocks noGrp="1"/>
          </p:cNvSpPr>
          <p:nvPr>
            <p:ph idx="1"/>
          </p:nvPr>
        </p:nvSpPr>
        <p:spPr/>
        <p:txBody>
          <a:bodyPr/>
          <a:lstStyle/>
          <a:p>
            <a:pPr marL="514350" indent="-514350">
              <a:buFont typeface="+mj-lt"/>
              <a:buAutoNum type="arabicPeriod"/>
            </a:pPr>
            <a:r>
              <a:rPr lang="en-US" dirty="0"/>
              <a:t>An application to the CJN by the applicant or on his behalf,</a:t>
            </a:r>
          </a:p>
          <a:p>
            <a:pPr marL="514350" indent="-514350">
              <a:buFont typeface="+mj-lt"/>
              <a:buAutoNum type="arabicPeriod"/>
            </a:pPr>
            <a:r>
              <a:rPr lang="en-US" dirty="0"/>
              <a:t>The CJN must have the impression that the applicant is qualified to practice as an advocate in any jurisdiction with similar legal system as Nigeria,</a:t>
            </a:r>
          </a:p>
          <a:p>
            <a:pPr marL="514350" indent="-514350">
              <a:buFont typeface="+mj-lt"/>
              <a:buAutoNum type="arabicPeriod"/>
            </a:pPr>
            <a:r>
              <a:rPr lang="en-US" dirty="0"/>
              <a:t>The CJN is of the view that it is expedient to permit that person to practice as a Barrister for the purpose of the proceedings described in the application,</a:t>
            </a:r>
          </a:p>
          <a:p>
            <a:pPr>
              <a:buNone/>
            </a:pPr>
            <a:r>
              <a:rPr lang="en-US" dirty="0"/>
              <a:t>4. The CJN must issue a warrant under his hand authorizing the applicant to practice as barrister for the purposes of such proceedings.</a:t>
            </a:r>
          </a:p>
          <a:p>
            <a:pPr marL="0" indent="0">
              <a:buNone/>
            </a:pPr>
            <a:endParaRPr lang="en-NG" dirty="0"/>
          </a:p>
        </p:txBody>
      </p:sp>
    </p:spTree>
    <p:extLst>
      <p:ext uri="{BB962C8B-B14F-4D97-AF65-F5344CB8AC3E}">
        <p14:creationId xmlns:p14="http://schemas.microsoft.com/office/powerpoint/2010/main" val="2839436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C75E9-0D4E-4E31-96D8-58A7ECD0FD44}"/>
              </a:ext>
            </a:extLst>
          </p:cNvPr>
          <p:cNvSpPr>
            <a:spLocks noGrp="1"/>
          </p:cNvSpPr>
          <p:nvPr>
            <p:ph type="title"/>
          </p:nvPr>
        </p:nvSpPr>
        <p:spPr/>
        <p:txBody>
          <a:bodyPr/>
          <a:lstStyle/>
          <a:p>
            <a:endParaRPr lang="en-NG"/>
          </a:p>
        </p:txBody>
      </p:sp>
      <p:sp>
        <p:nvSpPr>
          <p:cNvPr id="3" name="Content Placeholder 2">
            <a:extLst>
              <a:ext uri="{FF2B5EF4-FFF2-40B4-BE49-F238E27FC236}">
                <a16:creationId xmlns:a16="http://schemas.microsoft.com/office/drawing/2014/main" id="{345E7B09-9F71-428C-B2C8-68EEEE834D89}"/>
              </a:ext>
            </a:extLst>
          </p:cNvPr>
          <p:cNvSpPr>
            <a:spLocks noGrp="1"/>
          </p:cNvSpPr>
          <p:nvPr>
            <p:ph idx="1"/>
          </p:nvPr>
        </p:nvSpPr>
        <p:spPr/>
        <p:txBody>
          <a:bodyPr/>
          <a:lstStyle/>
          <a:p>
            <a:r>
              <a:rPr lang="en-GB" dirty="0"/>
              <a:t>Note that the payment of a fee not exceeding 50 Naira  may be specified in the warrant.</a:t>
            </a:r>
          </a:p>
          <a:p>
            <a:r>
              <a:rPr lang="en-GB" dirty="0"/>
              <a:t>The warrant authorizes the person to conduct </a:t>
            </a:r>
            <a:r>
              <a:rPr lang="en-GB" b="1" u="sng" dirty="0"/>
              <a:t>only</a:t>
            </a:r>
            <a:r>
              <a:rPr lang="en-GB" dirty="0"/>
              <a:t> the particular proceeding stated in it and any appeal arising therefrom. </a:t>
            </a:r>
            <a:endParaRPr lang="en-NG" dirty="0"/>
          </a:p>
        </p:txBody>
      </p:sp>
    </p:spTree>
    <p:extLst>
      <p:ext uri="{BB962C8B-B14F-4D97-AF65-F5344CB8AC3E}">
        <p14:creationId xmlns:p14="http://schemas.microsoft.com/office/powerpoint/2010/main" val="1300081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1413</Words>
  <Application>Microsoft Office PowerPoint</Application>
  <PresentationFormat>Widescreen</PresentationFormat>
  <Paragraphs>129</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Wingdings</vt:lpstr>
      <vt:lpstr>Office Theme</vt:lpstr>
      <vt:lpstr>HISTORY OF THE LEGAL PROFESSION IN NIGERIA</vt:lpstr>
      <vt:lpstr>LEARNING OUTCOMES</vt:lpstr>
      <vt:lpstr>PowerPoint Presentation</vt:lpstr>
      <vt:lpstr>THE THREE PERIODS OF THE HISTORY</vt:lpstr>
      <vt:lpstr>PERIOD OF 1876-1914</vt:lpstr>
      <vt:lpstr>PROFESSIONALLY QUALIFIED LAWYERS</vt:lpstr>
      <vt:lpstr>THOSE WHO HAD SERVED ARTICLE</vt:lpstr>
      <vt:lpstr>LOCAL ATTORNEYS</vt:lpstr>
      <vt:lpstr>THE PERIOD OF 1914-1962</vt:lpstr>
      <vt:lpstr>BARRISTERS</vt:lpstr>
      <vt:lpstr>PowerPoint Presentation</vt:lpstr>
      <vt:lpstr>SOLICITORS</vt:lpstr>
      <vt:lpstr>DEFICIENCIES OF AN ENGLISH TRAINED LAWYER PRACTICING IN NIGERIA</vt:lpstr>
      <vt:lpstr>THE UNSWORTH’S COMMITTEE OF 1959</vt:lpstr>
      <vt:lpstr>TERMS OF REFERENCE</vt:lpstr>
      <vt:lpstr>COMPOSITION</vt:lpstr>
      <vt:lpstr>RECOMMENDATIONS</vt:lpstr>
      <vt:lpstr>PowerPoint Presentation</vt:lpstr>
      <vt:lpstr>POST 1962 PERIOD</vt:lpstr>
      <vt:lpstr>THOSE ENTITLED TO PRACTICE GENERALLY</vt:lpstr>
      <vt:lpstr>HOW TO GET CALLED TO THE BAR. S.4 LPA</vt:lpstr>
      <vt:lpstr>QUALIFYING CERTIFICATE</vt:lpstr>
      <vt:lpstr>CRITERIA FOR FULL EXEMPTION. LN 439 1989</vt:lpstr>
      <vt:lpstr>CRITERIA FOR PARTIAL EXEMPTION. LN446 1989</vt:lpstr>
      <vt:lpstr>THOSE ENTITLED TO PRACTICE BY VIRTUE OF OFFICE. S.2(3) LPA</vt:lpstr>
      <vt:lpstr>THOSE ENTITLED TO PRACTICE FOR THE PURPOSE OF A PARTICULAR PROCEEDINGS. S.2(2) LPA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OF THE LEGAL PROFESSION IN NIGERIA</dc:title>
  <dc:creator>Kingsly</dc:creator>
  <cp:lastModifiedBy>Kingsly</cp:lastModifiedBy>
  <cp:revision>15</cp:revision>
  <dcterms:created xsi:type="dcterms:W3CDTF">2025-04-26T10:00:36Z</dcterms:created>
  <dcterms:modified xsi:type="dcterms:W3CDTF">2025-04-26T12:05:40Z</dcterms:modified>
</cp:coreProperties>
</file>