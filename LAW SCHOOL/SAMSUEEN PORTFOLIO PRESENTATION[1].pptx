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1" r:id="rId15"/>
    <p:sldId id="275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44" autoAdjust="0"/>
    <p:restoredTop sz="94660"/>
  </p:normalViewPr>
  <p:slideViewPr>
    <p:cSldViewPr snapToGrid="0" showGuides="1">
      <p:cViewPr>
        <p:scale>
          <a:sx n="62" d="100"/>
          <a:sy n="62" d="100"/>
        </p:scale>
        <p:origin x="828" y="4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30" name="Rectangle 2"/>
          <p:cNvSpPr>
            <a:spLocks noGrp="1"/>
          </p:cNvSpPr>
          <p:nvPr>
            <p:ph type="hdr" sz="quarter"/>
          </p:nvPr>
        </p:nvSpPr>
        <p:spPr bwMode="auto">
          <a:xfrm>
            <a:off x="2" y="1"/>
            <a:ext cx="3076575" cy="5127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92" tIns="45745" rIns="91492" bIns="45745" numCol="1" anchor="t" anchorCtr="0" compatLnSpc="1"/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731" name="Rectangle 3"/>
          <p:cNvSpPr>
            <a:spLocks noGrp="1"/>
          </p:cNvSpPr>
          <p:nvPr>
            <p:ph type="dt" idx="1"/>
          </p:nvPr>
        </p:nvSpPr>
        <p:spPr bwMode="auto">
          <a:xfrm>
            <a:off x="4021139" y="1"/>
            <a:ext cx="3076575" cy="5127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92" tIns="45745" rIns="91492" bIns="45745" numCol="1" anchor="t" anchorCtr="0" compatLnSpc="1"/>
          <a:lstStyle>
            <a:lvl1pPr algn="r">
              <a:defRPr sz="1100"/>
            </a:lvl1pPr>
          </a:lstStyle>
          <a:p>
            <a:endParaRPr lang="en-US"/>
          </a:p>
        </p:txBody>
      </p:sp>
      <p:sp>
        <p:nvSpPr>
          <p:cNvPr id="1048732" name="Rectangle 4"/>
          <p:cNvSpPr>
            <a:spLocks noGrp="1" noRot="1" noChangeAspect="1"/>
          </p:cNvSpPr>
          <p:nvPr>
            <p:ph type="sldImg" idx="2"/>
          </p:nvPr>
        </p:nvSpPr>
        <p:spPr bwMode="auto">
          <a:xfrm>
            <a:off x="990600" y="766763"/>
            <a:ext cx="5118100" cy="38385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ffectLst/>
        </p:spPr>
      </p:sp>
      <p:sp>
        <p:nvSpPr>
          <p:cNvPr id="1048733" name="Rectangle 5"/>
          <p:cNvSpPr>
            <a:spLocks noGrp="1"/>
          </p:cNvSpPr>
          <p:nvPr>
            <p:ph type="body" sz="quarter" idx="3"/>
          </p:nvPr>
        </p:nvSpPr>
        <p:spPr bwMode="auto">
          <a:xfrm>
            <a:off x="709614" y="4862514"/>
            <a:ext cx="5680075" cy="460533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92" tIns="45745" rIns="91492" bIns="45745" numCol="1" anchor="t" anchorCtr="0" compatLnSpc="1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734" name="Rectangle 6"/>
          <p:cNvSpPr>
            <a:spLocks noGrp="1"/>
          </p:cNvSpPr>
          <p:nvPr>
            <p:ph type="ftr" sz="quarter" idx="4"/>
          </p:nvPr>
        </p:nvSpPr>
        <p:spPr bwMode="auto">
          <a:xfrm>
            <a:off x="2" y="9720264"/>
            <a:ext cx="3076575" cy="51276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92" tIns="45745" rIns="91492" bIns="45745" numCol="1" anchor="b" anchorCtr="0" compatLnSpc="1"/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735" name="Rectangle 7"/>
          <p:cNvSpPr>
            <a:spLocks noGrp="1"/>
          </p:cNvSpPr>
          <p:nvPr>
            <p:ph type="sldNum" sz="quarter" idx="5"/>
          </p:nvPr>
        </p:nvSpPr>
        <p:spPr bwMode="auto">
          <a:xfrm>
            <a:off x="4021139" y="9720264"/>
            <a:ext cx="3076575" cy="51276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92" tIns="45745" rIns="91492" bIns="45745" numCol="1" anchor="b" anchorCtr="0" compatLnSpc="1"/>
          <a:lstStyle>
            <a:lvl1pPr algn="r">
              <a:defRPr sz="1100"/>
            </a:lvl1pPr>
          </a:lstStyle>
          <a:p>
            <a:fld id="{A9A0EA98-5831-4853-B862-C702E6EB345C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0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48621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4862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4862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04862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E48EE-D146-42D9-9CDF-4DF4E07E237D}" type="datetimeFigureOut">
              <a:rPr lang="en-US" smtClean="0"/>
              <a:t>7/29/2025</a:t>
            </a:fld>
            <a:endParaRPr lang="en-US"/>
          </a:p>
        </p:txBody>
      </p:sp>
      <p:sp>
        <p:nvSpPr>
          <p:cNvPr id="104862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62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820455-8B43-4FC6-9573-EAD516AF6562}" type="slidenum">
              <a:rPr lang="en-US" smtClean="0"/>
              <a:t>‹#›</a:t>
            </a:fld>
            <a:endParaRPr lang="en-US"/>
          </a:p>
        </p:txBody>
      </p:sp>
      <p:cxnSp>
        <p:nvCxnSpPr>
          <p:cNvPr id="314572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3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/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48584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4858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E48EE-D146-42D9-9CDF-4DF4E07E237D}" type="datetimeFigureOut">
              <a:rPr lang="en-US" smtClean="0"/>
              <a:t>7/29/2025</a:t>
            </a:fld>
            <a:endParaRPr lang="en-US"/>
          </a:p>
        </p:txBody>
      </p:sp>
      <p:sp>
        <p:nvSpPr>
          <p:cNvPr id="104858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58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820455-8B43-4FC6-9573-EAD516AF656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6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48697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48698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48699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700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E48EE-D146-42D9-9CDF-4DF4E07E237D}" type="datetimeFigureOut">
              <a:rPr lang="en-US" smtClean="0"/>
              <a:t>7/29/2025</a:t>
            </a:fld>
            <a:endParaRPr lang="en-US"/>
          </a:p>
        </p:txBody>
      </p:sp>
      <p:sp>
        <p:nvSpPr>
          <p:cNvPr id="1048701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702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820455-8B43-4FC6-9573-EAD516AF6562}" type="slidenum">
              <a:rPr lang="en-US" smtClean="0"/>
              <a:t>‹#›</a:t>
            </a:fld>
            <a:endParaRPr lang="en-US"/>
          </a:p>
        </p:txBody>
      </p:sp>
      <p:cxnSp>
        <p:nvCxnSpPr>
          <p:cNvPr id="3145730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03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48704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48705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48706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E48EE-D146-42D9-9CDF-4DF4E07E237D}" type="datetimeFigureOut">
              <a:rPr lang="en-US" smtClean="0"/>
              <a:t>7/29/2025</a:t>
            </a:fld>
            <a:endParaRPr lang="en-US"/>
          </a:p>
        </p:txBody>
      </p:sp>
      <p:sp>
        <p:nvSpPr>
          <p:cNvPr id="1048707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708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820455-8B43-4FC6-9573-EAD516AF656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09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48710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711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4871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713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48714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E48EE-D146-42D9-9CDF-4DF4E07E237D}" type="datetimeFigureOut">
              <a:rPr lang="en-US" smtClean="0"/>
              <a:t>7/29/2025</a:t>
            </a:fld>
            <a:endParaRPr lang="en-US"/>
          </a:p>
        </p:txBody>
      </p:sp>
      <p:sp>
        <p:nvSpPr>
          <p:cNvPr id="1048715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716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820455-8B43-4FC6-9573-EAD516AF656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4867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E48EE-D146-42D9-9CDF-4DF4E07E237D}" type="datetimeFigureOut">
              <a:rPr lang="en-US" smtClean="0"/>
              <a:t>7/29/2025</a:t>
            </a:fld>
            <a:endParaRPr lang="en-US"/>
          </a:p>
        </p:txBody>
      </p:sp>
      <p:sp>
        <p:nvSpPr>
          <p:cNvPr id="104867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67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820455-8B43-4FC6-9573-EAD516AF656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17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48718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48719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E48EE-D146-42D9-9CDF-4DF4E07E237D}" type="datetimeFigureOut">
              <a:rPr lang="en-US" smtClean="0"/>
              <a:t>7/29/2025</a:t>
            </a:fld>
            <a:endParaRPr lang="en-US"/>
          </a:p>
        </p:txBody>
      </p:sp>
      <p:sp>
        <p:nvSpPr>
          <p:cNvPr id="1048720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1048721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820455-8B43-4FC6-9573-EAD516AF656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22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48723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48724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48725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48726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727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/>
          </a:lstStyle>
          <a:p>
            <a:fld id="{A06E48EE-D146-42D9-9CDF-4DF4E07E237D}" type="datetimeFigureOut">
              <a:rPr lang="en-US" smtClean="0"/>
              <a:t>7/29/2025</a:t>
            </a:fld>
            <a:endParaRPr lang="en-US"/>
          </a:p>
        </p:txBody>
      </p:sp>
      <p:sp>
        <p:nvSpPr>
          <p:cNvPr id="1048728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1048729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4820455-8B43-4FC6-9573-EAD516AF656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3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48684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48685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48686" name="Picture Placeholder 2"/>
          <p:cNvSpPr>
            <a:spLocks noGrp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48687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88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E48EE-D146-42D9-9CDF-4DF4E07E237D}" type="datetimeFigureOut">
              <a:rPr lang="en-US" smtClean="0"/>
              <a:t>7/29/2025</a:t>
            </a:fld>
            <a:endParaRPr lang="en-US"/>
          </a:p>
        </p:txBody>
      </p:sp>
      <p:sp>
        <p:nvSpPr>
          <p:cNvPr id="1048689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690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820455-8B43-4FC6-9573-EAD516AF656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1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48692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4869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E48EE-D146-42D9-9CDF-4DF4E07E237D}" type="datetimeFigureOut">
              <a:rPr lang="en-US" smtClean="0"/>
              <a:t>7/29/2025</a:t>
            </a:fld>
            <a:endParaRPr lang="en-US"/>
          </a:p>
        </p:txBody>
      </p:sp>
      <p:sp>
        <p:nvSpPr>
          <p:cNvPr id="104869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69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820455-8B43-4FC6-9573-EAD516AF656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6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48677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48678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48679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48680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E48EE-D146-42D9-9CDF-4DF4E07E237D}" type="datetimeFigureOut">
              <a:rPr lang="en-US" smtClean="0"/>
              <a:t>7/29/2025</a:t>
            </a:fld>
            <a:endParaRPr lang="en-US"/>
          </a:p>
        </p:txBody>
      </p:sp>
      <p:sp>
        <p:nvSpPr>
          <p:cNvPr id="1048681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682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820455-8B43-4FC6-9573-EAD516AF656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48577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48578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48579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48580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A06E48EE-D146-42D9-9CDF-4DF4E07E237D}" type="datetimeFigureOut">
              <a:rPr lang="en-US" smtClean="0"/>
              <a:t>7/29/2025</a:t>
            </a:fld>
            <a:endParaRPr lang="en-US"/>
          </a:p>
        </p:txBody>
      </p:sp>
      <p:sp>
        <p:nvSpPr>
          <p:cNvPr id="1048581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1048582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64820455-8B43-4FC6-9573-EAD516AF6562}" type="slidenum">
              <a:rPr lang="en-US" smtClean="0"/>
              <a:t>‹#›</a:t>
            </a:fld>
            <a:endParaRPr lang="en-US"/>
          </a:p>
        </p:txBody>
      </p:sp>
      <p:cxnSp>
        <p:nvCxnSpPr>
          <p:cNvPr id="3145728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175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7055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935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815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09982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299845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49987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699895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7" name="Title 1"/>
          <p:cNvSpPr>
            <a:spLocks noGrp="1"/>
          </p:cNvSpPr>
          <p:nvPr>
            <p:ph type="title"/>
          </p:nvPr>
        </p:nvSpPr>
        <p:spPr>
          <a:xfrm>
            <a:off x="838200" y="3148666"/>
            <a:ext cx="10515600" cy="1325563"/>
          </a:xfrm>
        </p:spPr>
        <p:txBody>
          <a:bodyPr>
            <a:normAutofit fontScale="98485"/>
          </a:bodyPr>
          <a:lstStyle/>
          <a:p>
            <a:pPr algn="ctr"/>
            <a:r>
              <a:rPr lang="en-US" sz="6600" b="1" dirty="0"/>
              <a:t>PORTFOLIO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8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46816"/>
          </a:xfrm>
        </p:spPr>
        <p:txBody>
          <a:bodyPr>
            <a:normAutofit/>
          </a:bodyPr>
          <a:lstStyle/>
          <a:p>
            <a:pPr algn="ctr"/>
            <a:r>
              <a:rPr lang="en-US" sz="5400" b="1" dirty="0"/>
              <a:t>CONTENTS</a:t>
            </a:r>
          </a:p>
        </p:txBody>
      </p:sp>
      <p:sp>
        <p:nvSpPr>
          <p:cNvPr id="1048619" name="Title 1"/>
          <p:cNvSpPr txBox="1"/>
          <p:nvPr/>
        </p:nvSpPr>
        <p:spPr>
          <a:xfrm>
            <a:off x="838199" y="3039035"/>
            <a:ext cx="10753165" cy="149262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INTRODUCTION</a:t>
            </a:r>
          </a:p>
          <a:p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COMMENCEMENT AND ATTENDANCE</a:t>
            </a:r>
          </a:p>
          <a:p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THE GOALS OF THE EXTERNSHIP PROGRAMME</a:t>
            </a:r>
          </a:p>
          <a:p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SKILLS ACQUIRED</a:t>
            </a:r>
          </a:p>
          <a:p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ETHICS IN COURT</a:t>
            </a:r>
          </a:p>
          <a:p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ACTIVITIES WITNESS</a:t>
            </a:r>
          </a:p>
          <a:p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OBSERVATION</a:t>
            </a:r>
          </a:p>
          <a:p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REMARK</a:t>
            </a:r>
          </a:p>
          <a:p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CONCLUSION</a:t>
            </a:r>
          </a:p>
          <a:p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RECOMMENDATION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7" name="Title 1"/>
          <p:cNvSpPr>
            <a:spLocks noGrp="1"/>
          </p:cNvSpPr>
          <p:nvPr>
            <p:ph type="ctrTitle"/>
          </p:nvPr>
        </p:nvSpPr>
        <p:spPr>
          <a:xfrm>
            <a:off x="2719342" y="1426895"/>
            <a:ext cx="9144000" cy="2387600"/>
          </a:xfrm>
        </p:spPr>
        <p:txBody>
          <a:bodyPr>
            <a:noAutofit/>
          </a:bodyPr>
          <a:lstStyle/>
          <a:p>
            <a:pPr algn="ctr"/>
            <a:r>
              <a:rPr lang="en-US" sz="4000" b="1" dirty="0">
                <a:latin typeface="Times New Roman" pitchFamily="18" charset="0"/>
                <a:cs typeface="Times New Roman" pitchFamily="18" charset="0"/>
              </a:rPr>
              <a:t> A REPORT ON THE COURT AND LAW  OFFICE ATTACHMENT</a:t>
            </a:r>
            <a:br>
              <a:rPr lang="en-US" sz="4000" b="1" dirty="0">
                <a:latin typeface="Times New Roman" pitchFamily="18" charset="0"/>
                <a:cs typeface="Times New Roman" pitchFamily="18" charset="0"/>
              </a:rPr>
            </a:br>
            <a:br>
              <a:rPr lang="en-US" sz="4000" b="1" dirty="0">
                <a:latin typeface="Times New Roman" pitchFamily="18" charset="0"/>
                <a:cs typeface="Times New Roman" pitchFamily="18" charset="0"/>
              </a:rPr>
            </a:br>
            <a:br>
              <a:rPr lang="en-US" sz="4000" b="1" dirty="0">
                <a:latin typeface="Times New Roman" pitchFamily="18" charset="0"/>
                <a:cs typeface="Times New Roman" pitchFamily="18" charset="0"/>
              </a:rPr>
            </a:br>
            <a:r>
              <a:rPr lang="en-US" sz="4000" b="1" dirty="0">
                <a:latin typeface="Times New Roman" pitchFamily="18" charset="0"/>
                <a:cs typeface="Times New Roman" pitchFamily="18" charset="0"/>
              </a:rPr>
              <a:t>PRESENTED BY</a:t>
            </a:r>
            <a:br>
              <a:rPr lang="en-US" sz="4000" b="1" dirty="0">
                <a:latin typeface="Times New Roman" pitchFamily="18" charset="0"/>
                <a:cs typeface="Times New Roman" pitchFamily="18" charset="0"/>
              </a:rPr>
            </a:br>
            <a:br>
              <a:rPr lang="en-US" sz="4000" b="1" dirty="0">
                <a:latin typeface="Times New Roman" pitchFamily="18" charset="0"/>
                <a:cs typeface="Times New Roman" pitchFamily="18" charset="0"/>
              </a:rPr>
            </a:br>
            <a:br>
              <a:rPr lang="en-US" sz="4000" b="1" dirty="0">
                <a:latin typeface="Times New Roman" pitchFamily="18" charset="0"/>
                <a:cs typeface="Times New Roman" pitchFamily="18" charset="0"/>
              </a:rPr>
            </a:br>
            <a:r>
              <a:rPr lang="en-US" sz="4000" b="1" dirty="0">
                <a:latin typeface="Times New Roman" pitchFamily="18" charset="0"/>
                <a:cs typeface="Times New Roman" pitchFamily="18" charset="0"/>
              </a:rPr>
              <a:t>NAME: </a:t>
            </a:r>
            <a:r>
              <a:rPr lang="en-GB" sz="4000" b="1" dirty="0">
                <a:latin typeface="Times New Roman" pitchFamily="18" charset="0"/>
                <a:cs typeface="Times New Roman" pitchFamily="18" charset="0"/>
              </a:rPr>
              <a:t>ADEBAYO SAMSUEEN OLAYIDE</a:t>
            </a:r>
            <a:br>
              <a:rPr lang="en-US" sz="4000" b="1" dirty="0">
                <a:latin typeface="Times New Roman" pitchFamily="18" charset="0"/>
                <a:cs typeface="Times New Roman" pitchFamily="18" charset="0"/>
              </a:rPr>
            </a:br>
            <a:r>
              <a:rPr lang="en-US" sz="4000" b="1" dirty="0">
                <a:latin typeface="Times New Roman" pitchFamily="18" charset="0"/>
                <a:cs typeface="Times New Roman" pitchFamily="18" charset="0"/>
              </a:rPr>
              <a:t>REG NO:  </a:t>
            </a:r>
            <a:r>
              <a:rPr lang="en-GB" sz="4000" b="1" dirty="0">
                <a:latin typeface="Times New Roman" pitchFamily="18" charset="0"/>
                <a:cs typeface="Times New Roman" pitchFamily="18" charset="0"/>
              </a:rPr>
              <a:t>838</a:t>
            </a:r>
            <a:endParaRPr lang="en-AU" altLang="en-US" sz="40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48628" name="Title 1"/>
          <p:cNvSpPr txBox="1"/>
          <p:nvPr/>
        </p:nvSpPr>
        <p:spPr>
          <a:xfrm>
            <a:off x="2347680" y="5486398"/>
            <a:ext cx="9144000" cy="80836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4000" b="1" dirty="0">
                <a:latin typeface="Times New Roman" pitchFamily="18" charset="0"/>
                <a:cs typeface="Times New Roman" pitchFamily="18" charset="0"/>
              </a:rPr>
              <a:t>CAMPUS: </a:t>
            </a:r>
            <a:r>
              <a:rPr lang="en-GB" sz="4000" b="1" dirty="0">
                <a:latin typeface="Times New Roman" pitchFamily="18" charset="0"/>
                <a:cs typeface="Times New Roman" pitchFamily="18" charset="0"/>
              </a:rPr>
              <a:t>YENOGOA </a:t>
            </a:r>
            <a:r>
              <a:rPr lang="en-AU" altLang="en-US" sz="4000" b="1" dirty="0">
                <a:latin typeface="Times New Roman" pitchFamily="18" charset="0"/>
                <a:cs typeface="Times New Roman" pitchFamily="18" charset="0"/>
              </a:rPr>
              <a:t>CAMPUS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9" name="Title 1"/>
          <p:cNvSpPr>
            <a:spLocks noGrp="1"/>
          </p:cNvSpPr>
          <p:nvPr>
            <p:ph type="title"/>
          </p:nvPr>
        </p:nvSpPr>
        <p:spPr>
          <a:xfrm>
            <a:off x="468122" y="1935022"/>
            <a:ext cx="10515600" cy="1325563"/>
          </a:xfrm>
        </p:spPr>
        <p:txBody>
          <a:bodyPr>
            <a:noAutofit/>
          </a:bodyPr>
          <a:lstStyle/>
          <a:p>
            <a:pPr marL="2797175" indent="-2339975" algn="just"/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NAME OF COURT:</a:t>
            </a:r>
            <a:r>
              <a:rPr lang="en-GB" sz="3200" b="1" dirty="0">
                <a:latin typeface="Times New Roman" pitchFamily="18" charset="0"/>
                <a:cs typeface="Times New Roman" pitchFamily="18" charset="0"/>
              </a:rPr>
              <a:t> OGBA MAGISTRATE.  </a:t>
            </a:r>
            <a:br>
              <a:rPr lang="en-GB" sz="3200" b="1" dirty="0">
                <a:latin typeface="Times New Roman" pitchFamily="18" charset="0"/>
                <a:cs typeface="Times New Roman" pitchFamily="18" charset="0"/>
              </a:rPr>
            </a:br>
            <a:endParaRPr lang="en-US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48630" name="Title 1"/>
          <p:cNvSpPr txBox="1"/>
          <p:nvPr/>
        </p:nvSpPr>
        <p:spPr>
          <a:xfrm>
            <a:off x="1273935" y="50464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dirty="0">
                <a:latin typeface="Times New Roman" pitchFamily="18" charset="0"/>
                <a:cs typeface="Times New Roman" pitchFamily="18" charset="0"/>
              </a:rPr>
              <a:t>COMMENCEMENT AND ATTENDANCE</a:t>
            </a:r>
          </a:p>
        </p:txBody>
      </p:sp>
      <p:sp>
        <p:nvSpPr>
          <p:cNvPr id="1048631" name="Title 1"/>
          <p:cNvSpPr txBox="1"/>
          <p:nvPr/>
        </p:nvSpPr>
        <p:spPr>
          <a:xfrm>
            <a:off x="468122" y="3106580"/>
            <a:ext cx="10885678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797175" indent="-2339975" algn="just"/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NAME OF JUDGE: Mrs. TANIMOLA</a:t>
            </a:r>
          </a:p>
          <a:p>
            <a:pPr marL="2797175" indent="-2339975" algn="just"/>
            <a:r>
              <a:rPr lang="en-US" altLang="en-US" sz="3200" b="1" dirty="0">
                <a:latin typeface="Times New Roman" pitchFamily="18" charset="0"/>
                <a:cs typeface="Times New Roman" pitchFamily="18" charset="0"/>
              </a:rPr>
              <a:t>COURT NO: COURT 2</a:t>
            </a:r>
          </a:p>
          <a:p>
            <a:pPr marL="2797175" indent="-2339975" algn="just"/>
            <a:r>
              <a:rPr lang="en-US" altLang="en-US" sz="3200" b="1" dirty="0">
                <a:latin typeface="Times New Roman" pitchFamily="18" charset="0"/>
                <a:cs typeface="Times New Roman" pitchFamily="18" charset="0"/>
              </a:rPr>
              <a:t>NAME IOF FIELD SUPERVISOR: MRS. OPE</a:t>
            </a:r>
            <a:endParaRPr lang="en-AU" altLang="en-US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48632" name="Title 1"/>
          <p:cNvSpPr txBox="1"/>
          <p:nvPr/>
        </p:nvSpPr>
        <p:spPr>
          <a:xfrm>
            <a:off x="468122" y="4114001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797175" indent="-2339975" algn="just"/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DURATION: FIVE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 WEEKS</a:t>
            </a:r>
          </a:p>
        </p:txBody>
      </p:sp>
      <p:sp>
        <p:nvSpPr>
          <p:cNvPr id="1048633" name="Title 1"/>
          <p:cNvSpPr txBox="1"/>
          <p:nvPr/>
        </p:nvSpPr>
        <p:spPr>
          <a:xfrm>
            <a:off x="468122" y="5121422"/>
            <a:ext cx="10609729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797175" indent="-2339975" algn="just"/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ABSENT:  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NIL</a:t>
            </a:r>
            <a:r>
              <a:rPr lang="en-GB" sz="3200" dirty="0">
                <a:latin typeface="Times New Roman" pitchFamily="18" charset="0"/>
                <a:cs typeface="Times New Roman" pitchFamily="18" charset="0"/>
              </a:rPr>
              <a:t> (Except for Public Holiday)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4" name="Title 1"/>
          <p:cNvSpPr txBox="1">
            <a:spLocks noGrp="1"/>
          </p:cNvSpPr>
          <p:nvPr>
            <p:ph type="title"/>
          </p:nvPr>
        </p:nvSpPr>
        <p:spPr>
          <a:xfrm>
            <a:off x="354107" y="1645069"/>
            <a:ext cx="10515600" cy="10115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196975" indent="-739775" algn="just">
              <a:buFont typeface="Arial" charset="0"/>
              <a:buChar char="•"/>
            </a:pP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DEVELOP THE EXTERNS LAWYERING SKILLS</a:t>
            </a:r>
          </a:p>
        </p:txBody>
      </p:sp>
      <p:sp>
        <p:nvSpPr>
          <p:cNvPr id="1048635" name="Title 1"/>
          <p:cNvSpPr txBox="1"/>
          <p:nvPr/>
        </p:nvSpPr>
        <p:spPr>
          <a:xfrm>
            <a:off x="990600" y="5175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797175" indent="-2339975" algn="just"/>
            <a:r>
              <a:rPr lang="en-US" sz="3200" b="1">
                <a:latin typeface="Times New Roman" pitchFamily="18" charset="0"/>
                <a:cs typeface="Times New Roman" pitchFamily="18" charset="0"/>
              </a:rPr>
              <a:t>THE GOALS OF THE EXTERNSHIP PROGRAMME</a:t>
            </a:r>
            <a:endParaRPr lang="en-US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48636" name="Title 1"/>
          <p:cNvSpPr txBox="1"/>
          <p:nvPr/>
        </p:nvSpPr>
        <p:spPr>
          <a:xfrm>
            <a:off x="354107" y="2688443"/>
            <a:ext cx="10515600" cy="10115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196975" indent="-739775" algn="just">
              <a:buFont typeface="Arial" charset="0"/>
              <a:buChar char="•"/>
            </a:pP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THE EXTERNS UNDERSTAND VARIOUS ASPECT OF THE LEGAL PROFESSION</a:t>
            </a:r>
          </a:p>
        </p:txBody>
      </p:sp>
      <p:sp>
        <p:nvSpPr>
          <p:cNvPr id="1048637" name="Title 1"/>
          <p:cNvSpPr txBox="1"/>
          <p:nvPr/>
        </p:nvSpPr>
        <p:spPr>
          <a:xfrm>
            <a:off x="354107" y="4025970"/>
            <a:ext cx="10515600" cy="10115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196975" indent="-739775" algn="just">
              <a:buFont typeface="Arial" charset="0"/>
              <a:buChar char="•"/>
            </a:pP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INCULCATE IN THE EXTERNS A SENSE OF PROFESSIONAL RESPONSIBILITY AND VALUE</a:t>
            </a:r>
            <a:br>
              <a:rPr lang="en-US" sz="3200" dirty="0">
                <a:latin typeface="Times New Roman" pitchFamily="18" charset="0"/>
                <a:cs typeface="Times New Roman" pitchFamily="18" charset="0"/>
              </a:rPr>
            </a:br>
            <a:endParaRPr lang="en-US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48638" name="Title 1"/>
          <p:cNvSpPr txBox="1"/>
          <p:nvPr/>
        </p:nvSpPr>
        <p:spPr>
          <a:xfrm>
            <a:off x="354107" y="4978446"/>
            <a:ext cx="10515600" cy="10115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196975" indent="-739775" algn="just">
              <a:buFont typeface="Arial" charset="0"/>
              <a:buChar char="•"/>
            </a:pP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DEVELOP THE EXTERNS ABILITY TO REFLECT AND LEARN FROM THEIR EXPERIENCE.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9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19922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latin typeface="Times New Roman" pitchFamily="18" charset="0"/>
                <a:cs typeface="Times New Roman" pitchFamily="18" charset="0"/>
              </a:rPr>
              <a:t>SKILL ACQUIRED</a:t>
            </a:r>
            <a:endParaRPr lang="en-US" b="1" dirty="0"/>
          </a:p>
        </p:txBody>
      </p:sp>
      <p:sp>
        <p:nvSpPr>
          <p:cNvPr id="1048640" name="Title 1"/>
          <p:cNvSpPr txBox="1"/>
          <p:nvPr/>
        </p:nvSpPr>
        <p:spPr>
          <a:xfrm>
            <a:off x="627529" y="1458820"/>
            <a:ext cx="10515600" cy="10199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 algn="just">
              <a:buFont typeface="Arial" charset="0"/>
              <a:buChar char="•"/>
            </a:pPr>
            <a:r>
              <a:rPr lang="en-US" sz="3000" dirty="0">
                <a:latin typeface="Times New Roman" pitchFamily="18" charset="0"/>
                <a:cs typeface="Times New Roman" pitchFamily="18" charset="0"/>
              </a:rPr>
              <a:t>MOVING OF APPLICATION</a:t>
            </a:r>
            <a:endParaRPr lang="en-US" sz="3000" dirty="0"/>
          </a:p>
        </p:txBody>
      </p:sp>
      <p:sp>
        <p:nvSpPr>
          <p:cNvPr id="1048641" name="Title 1"/>
          <p:cNvSpPr txBox="1"/>
          <p:nvPr/>
        </p:nvSpPr>
        <p:spPr>
          <a:xfrm>
            <a:off x="627529" y="1993246"/>
            <a:ext cx="10515600" cy="10199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 algn="just">
              <a:buFont typeface="Arial" charset="0"/>
              <a:buChar char="•"/>
            </a:pPr>
            <a:r>
              <a:rPr lang="en-US" sz="3000" dirty="0">
                <a:latin typeface="Times New Roman" pitchFamily="18" charset="0"/>
                <a:cs typeface="Times New Roman" pitchFamily="18" charset="0"/>
              </a:rPr>
              <a:t>ADVOCACY</a:t>
            </a:r>
            <a:endParaRPr lang="en-US" sz="3000" dirty="0"/>
          </a:p>
        </p:txBody>
      </p:sp>
      <p:sp>
        <p:nvSpPr>
          <p:cNvPr id="1048642" name="Title 1"/>
          <p:cNvSpPr txBox="1"/>
          <p:nvPr/>
        </p:nvSpPr>
        <p:spPr>
          <a:xfrm>
            <a:off x="627529" y="3013168"/>
            <a:ext cx="10515600" cy="10199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 algn="just">
              <a:buFont typeface="Arial" charset="0"/>
              <a:buChar char="•"/>
            </a:pPr>
            <a:r>
              <a:rPr lang="en-US" sz="3000" dirty="0">
                <a:latin typeface="Times New Roman" pitchFamily="18" charset="0"/>
                <a:cs typeface="Times New Roman" pitchFamily="18" charset="0"/>
              </a:rPr>
              <a:t>HOW TO ADDRESS JUDGES, MAGISTRATES AND COLLEAGUES AT THE BAR</a:t>
            </a:r>
            <a:endParaRPr lang="en-US" sz="3000" dirty="0"/>
          </a:p>
        </p:txBody>
      </p:sp>
      <p:sp>
        <p:nvSpPr>
          <p:cNvPr id="1048643" name="Title 1"/>
          <p:cNvSpPr txBox="1"/>
          <p:nvPr/>
        </p:nvSpPr>
        <p:spPr>
          <a:xfrm>
            <a:off x="627529" y="4057555"/>
            <a:ext cx="10515600" cy="10199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9167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 algn="just">
              <a:buFont typeface="Arial" charset="0"/>
              <a:buChar char="•"/>
            </a:pPr>
            <a:r>
              <a:rPr lang="en-US" sz="3000" dirty="0">
                <a:latin typeface="Times New Roman" pitchFamily="18" charset="0"/>
                <a:cs typeface="Times New Roman" pitchFamily="18" charset="0"/>
              </a:rPr>
              <a:t>READING OF JUDGEMENT AND RULING LANGUAGE OF THE COURT E.G “AS THE COURT PLEASES” MOST OBLIGED MY LORD</a:t>
            </a:r>
            <a:endParaRPr lang="en-US" sz="3000" dirty="0"/>
          </a:p>
        </p:txBody>
      </p:sp>
      <p:sp>
        <p:nvSpPr>
          <p:cNvPr id="1048644" name="Title 1"/>
          <p:cNvSpPr txBox="1"/>
          <p:nvPr/>
        </p:nvSpPr>
        <p:spPr>
          <a:xfrm>
            <a:off x="627529" y="5199528"/>
            <a:ext cx="10515600" cy="10199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 algn="just">
              <a:buFont typeface="Arial" charset="0"/>
              <a:buChar char="•"/>
            </a:pPr>
            <a:r>
              <a:rPr lang="en-US" sz="3000" dirty="0">
                <a:latin typeface="Times New Roman" pitchFamily="18" charset="0"/>
                <a:cs typeface="Times New Roman" pitchFamily="18" charset="0"/>
              </a:rPr>
              <a:t>HOW TO OBSERVE COURT DECORUM</a:t>
            </a:r>
            <a:endParaRPr lang="en-US" sz="3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3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127499"/>
          </a:xfrm>
        </p:spPr>
        <p:txBody>
          <a:bodyPr>
            <a:normAutofit/>
          </a:bodyPr>
          <a:lstStyle/>
          <a:p>
            <a:pPr algn="ctr"/>
            <a:r>
              <a:rPr lang="en-US" sz="6600" b="1" dirty="0"/>
              <a:t>ETHICS IN COURT</a:t>
            </a:r>
            <a:endParaRPr lang="en-US" sz="11500" b="1" dirty="0"/>
          </a:p>
        </p:txBody>
      </p:sp>
      <p:sp>
        <p:nvSpPr>
          <p:cNvPr id="1048614" name="Title 1"/>
          <p:cNvSpPr txBox="1"/>
          <p:nvPr/>
        </p:nvSpPr>
        <p:spPr>
          <a:xfrm>
            <a:off x="600635" y="1492624"/>
            <a:ext cx="10515600" cy="11274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>
              <a:buFont typeface="Arial" charset="0"/>
              <a:buChar char="•"/>
            </a:pPr>
            <a:r>
              <a:rPr lang="en-US" sz="4000" b="1" dirty="0"/>
              <a:t>SENIOR LAWYER’S CASE ARE CALLED FIRST</a:t>
            </a:r>
          </a:p>
        </p:txBody>
      </p:sp>
      <p:sp>
        <p:nvSpPr>
          <p:cNvPr id="1048615" name="Title 1"/>
          <p:cNvSpPr txBox="1"/>
          <p:nvPr/>
        </p:nvSpPr>
        <p:spPr>
          <a:xfrm>
            <a:off x="600635" y="2910261"/>
            <a:ext cx="10515600" cy="11274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>
              <a:buFont typeface="Arial" charset="0"/>
              <a:buChar char="•"/>
            </a:pPr>
            <a:r>
              <a:rPr lang="en-US" sz="4000" b="1" dirty="0"/>
              <a:t>JUNIOR LAWYERS ADDRESSES SENIOR ONES AS “MY SENIOR COLLEAGUE”</a:t>
            </a:r>
          </a:p>
        </p:txBody>
      </p:sp>
      <p:sp>
        <p:nvSpPr>
          <p:cNvPr id="1048616" name="Title 1"/>
          <p:cNvSpPr txBox="1"/>
          <p:nvPr/>
        </p:nvSpPr>
        <p:spPr>
          <a:xfrm>
            <a:off x="600635" y="4327899"/>
            <a:ext cx="10515600" cy="11274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>
              <a:buFont typeface="Arial" charset="0"/>
              <a:buChar char="•"/>
            </a:pPr>
            <a:r>
              <a:rPr lang="en-US" sz="4000" b="1" dirty="0"/>
              <a:t>JUDGE ROBED WITH A BLACK ROBE &amp; WIG &amp; LAWYERS PUT ON SUIT AND TIE IN A MAGISTRATE COURT.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7" name="Title 1"/>
          <p:cNvSpPr>
            <a:spLocks noGrp="1"/>
          </p:cNvSpPr>
          <p:nvPr>
            <p:ph type="title"/>
          </p:nvPr>
        </p:nvSpPr>
        <p:spPr>
          <a:xfrm>
            <a:off x="721659" y="2857313"/>
            <a:ext cx="10515600" cy="1325563"/>
          </a:xfrm>
        </p:spPr>
        <p:txBody>
          <a:bodyPr>
            <a:normAutofit/>
          </a:bodyPr>
          <a:lstStyle/>
          <a:p>
            <a:pPr marL="457200" indent="-457200">
              <a:buFont typeface="Arial" charset="0"/>
              <a:buChar char="•"/>
            </a:pPr>
            <a:r>
              <a:rPr lang="en-US" sz="2800" b="1" dirty="0"/>
              <a:t>LAWYER ENGAGING IN BUSINESS AND PRACTICE OF LAW-RULE 7 RPC</a:t>
            </a:r>
          </a:p>
        </p:txBody>
      </p:sp>
      <p:sp>
        <p:nvSpPr>
          <p:cNvPr id="1048608" name="Title 1"/>
          <p:cNvSpPr txBox="1"/>
          <p:nvPr/>
        </p:nvSpPr>
        <p:spPr>
          <a:xfrm>
            <a:off x="990600" y="5175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/>
              <a:t>HIGHLIGHTS OF ESSAY ON ETHICAL DILEMMA</a:t>
            </a:r>
            <a:endParaRPr lang="en-US" b="1" dirty="0"/>
          </a:p>
        </p:txBody>
      </p:sp>
      <p:sp>
        <p:nvSpPr>
          <p:cNvPr id="1048609" name="Title 1"/>
          <p:cNvSpPr txBox="1"/>
          <p:nvPr/>
        </p:nvSpPr>
        <p:spPr>
          <a:xfrm>
            <a:off x="721659" y="1687419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indent="-457200">
              <a:buFont typeface="Arial" charset="0"/>
              <a:buChar char="•"/>
            </a:pPr>
            <a:r>
              <a:rPr lang="en-US" sz="2800" b="1"/>
              <a:t>LAWYER GOING TO CLIENT'S PLACE OF RESIDENCE TO TAKE INSTRUCTIONS – RULE 22 RPC</a:t>
            </a:r>
            <a:endParaRPr lang="en-US" sz="2800" b="1" dirty="0"/>
          </a:p>
        </p:txBody>
      </p:sp>
      <p:sp>
        <p:nvSpPr>
          <p:cNvPr id="1048610" name="Title 1"/>
          <p:cNvSpPr txBox="1"/>
          <p:nvPr/>
        </p:nvSpPr>
        <p:spPr>
          <a:xfrm>
            <a:off x="721659" y="418287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indent="-457200">
              <a:buFont typeface="Arial" charset="0"/>
              <a:buChar char="•"/>
            </a:pPr>
            <a:r>
              <a:rPr lang="en-US" sz="2800" b="1" dirty="0"/>
              <a:t>LAWYER UPHOLDING AND OBSERVING THE RULE OF LAW - RULE 1 RPC</a:t>
            </a:r>
          </a:p>
          <a:p>
            <a:pPr marL="457200" indent="-457200">
              <a:buFont typeface="Arial" charset="0"/>
              <a:buChar char="•"/>
            </a:pPr>
            <a:r>
              <a:rPr lang="en-US" sz="2800" b="1" dirty="0"/>
              <a:t>LAWYER OBSERVING COURT DECORUM 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6" name="Title 1"/>
          <p:cNvSpPr>
            <a:spLocks noGrp="1"/>
          </p:cNvSpPr>
          <p:nvPr>
            <p:ph type="title"/>
          </p:nvPr>
        </p:nvSpPr>
        <p:spPr>
          <a:xfrm>
            <a:off x="475129" y="1843088"/>
            <a:ext cx="10515600" cy="1325563"/>
          </a:xfrm>
        </p:spPr>
        <p:txBody>
          <a:bodyPr>
            <a:normAutofit/>
          </a:bodyPr>
          <a:lstStyle/>
          <a:p>
            <a:pPr marL="342900" indent="-342900">
              <a:buFont typeface="Arial" charset="0"/>
              <a:buChar char="•"/>
            </a:pPr>
            <a:r>
              <a:rPr lang="en-US" sz="4000" b="1" dirty="0"/>
              <a:t>ARRAIGNMENT</a:t>
            </a:r>
          </a:p>
        </p:txBody>
      </p:sp>
      <p:sp>
        <p:nvSpPr>
          <p:cNvPr id="1048597" name="Title 1"/>
          <p:cNvSpPr txBox="1"/>
          <p:nvPr/>
        </p:nvSpPr>
        <p:spPr>
          <a:xfrm>
            <a:off x="990600" y="5175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6600" b="1"/>
              <a:t>ACTIVITIES WITNESS</a:t>
            </a:r>
            <a:endParaRPr lang="en-US" sz="6600" b="1" dirty="0"/>
          </a:p>
        </p:txBody>
      </p:sp>
      <p:sp>
        <p:nvSpPr>
          <p:cNvPr id="1048598" name="Title 1"/>
          <p:cNvSpPr txBox="1"/>
          <p:nvPr/>
        </p:nvSpPr>
        <p:spPr>
          <a:xfrm>
            <a:off x="475129" y="2936783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>
              <a:buFont typeface="Arial" charset="0"/>
              <a:buChar char="•"/>
            </a:pPr>
            <a:r>
              <a:rPr lang="en-US" sz="4000" b="1" dirty="0"/>
              <a:t>PLEA IN BOTH CIVIL AND CRIMINAL MATTERS</a:t>
            </a:r>
          </a:p>
        </p:txBody>
      </p:sp>
      <p:sp>
        <p:nvSpPr>
          <p:cNvPr id="1048599" name="Title 1"/>
          <p:cNvSpPr txBox="1"/>
          <p:nvPr/>
        </p:nvSpPr>
        <p:spPr>
          <a:xfrm>
            <a:off x="475129" y="4003819"/>
            <a:ext cx="10515600" cy="321891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>
              <a:buFont typeface="Arial" charset="0"/>
              <a:buChar char="•"/>
            </a:pPr>
            <a:r>
              <a:rPr lang="en-US" sz="4000" b="1" dirty="0"/>
              <a:t>MOTION APPLICATION</a:t>
            </a:r>
          </a:p>
          <a:p>
            <a:pPr marL="342900" indent="-342900">
              <a:buFont typeface="Arial" charset="0"/>
              <a:buChar char="•"/>
            </a:pPr>
            <a:r>
              <a:rPr lang="en-US" sz="4000" b="1" dirty="0"/>
              <a:t>APPLICATION FOR BAIL</a:t>
            </a:r>
          </a:p>
          <a:p>
            <a:pPr marL="342900" indent="-342900">
              <a:buFont typeface="Arial" charset="0"/>
              <a:buChar char="•"/>
            </a:pPr>
            <a:r>
              <a:rPr lang="en-US" sz="4000" b="1" dirty="0"/>
              <a:t>REMAND ORDER</a:t>
            </a:r>
          </a:p>
          <a:p>
            <a:pPr marL="342900" indent="-342900">
              <a:buFont typeface="Arial" charset="0"/>
              <a:buChar char="•"/>
            </a:pPr>
            <a:r>
              <a:rPr lang="en-US" sz="4000" b="1" dirty="0"/>
              <a:t>GRANT OF CUSTODY</a:t>
            </a:r>
          </a:p>
          <a:p>
            <a:pPr marL="342900" indent="-342900">
              <a:buFont typeface="Arial" charset="0"/>
              <a:buChar char="•"/>
            </a:pPr>
            <a:endParaRPr lang="en-US" sz="4000" b="1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8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7200" b="1" dirty="0"/>
              <a:t>OBSERVATION</a:t>
            </a:r>
          </a:p>
        </p:txBody>
      </p:sp>
      <p:sp>
        <p:nvSpPr>
          <p:cNvPr id="1048589" name="Title 1"/>
          <p:cNvSpPr txBox="1"/>
          <p:nvPr/>
        </p:nvSpPr>
        <p:spPr>
          <a:xfrm>
            <a:off x="640976" y="149773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857250" indent="-857250">
              <a:buFont typeface="Arial" charset="0"/>
              <a:buChar char="•"/>
            </a:pPr>
            <a:r>
              <a:rPr lang="en-US" sz="3200" b="1" dirty="0"/>
              <a:t>THE COURTS SITS AT 9:00 AM</a:t>
            </a:r>
          </a:p>
        </p:txBody>
      </p:sp>
      <p:sp>
        <p:nvSpPr>
          <p:cNvPr id="1048591" name="Title 1"/>
          <p:cNvSpPr txBox="1"/>
          <p:nvPr/>
        </p:nvSpPr>
        <p:spPr>
          <a:xfrm>
            <a:off x="744070" y="-215756"/>
            <a:ext cx="10515600" cy="60489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857250" indent="-857250" algn="just">
              <a:buFont typeface="Arial" charset="0"/>
              <a:buChar char="•"/>
            </a:pPr>
            <a:r>
              <a:rPr lang="en-US" sz="3200" b="1" dirty="0"/>
              <a:t>THE COURT’S ENVIRONMENT WAS CONDUCIVE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7200" b="1" dirty="0"/>
              <a:t>REMARK</a:t>
            </a:r>
          </a:p>
        </p:txBody>
      </p:sp>
      <p:sp>
        <p:nvSpPr>
          <p:cNvPr id="1048593" name="Title 1"/>
          <p:cNvSpPr txBox="1"/>
          <p:nvPr/>
        </p:nvSpPr>
        <p:spPr>
          <a:xfrm>
            <a:off x="887506" y="2802311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857250" indent="-857250" algn="just">
              <a:buFont typeface="Arial" charset="0"/>
              <a:buChar char="•"/>
            </a:pPr>
            <a:r>
              <a:rPr lang="en-US" sz="2500" b="1" dirty="0"/>
              <a:t>JUDGES ADVICE FOR UP COMING LAWYERS</a:t>
            </a:r>
          </a:p>
        </p:txBody>
      </p:sp>
      <p:sp>
        <p:nvSpPr>
          <p:cNvPr id="1048594" name="Title 1"/>
          <p:cNvSpPr txBox="1"/>
          <p:nvPr/>
        </p:nvSpPr>
        <p:spPr>
          <a:xfrm>
            <a:off x="887506" y="1476748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857250" indent="-857250" algn="just">
              <a:buFont typeface="Arial" charset="0"/>
              <a:buChar char="•"/>
            </a:pPr>
            <a:r>
              <a:rPr lang="en-US" sz="2500" b="1" dirty="0"/>
              <a:t>MEETING WITH THE JUDGE FOR CLARIFICATION OF ISSUES DURING PROCEEDINGS</a:t>
            </a:r>
          </a:p>
        </p:txBody>
      </p:sp>
      <p:sp>
        <p:nvSpPr>
          <p:cNvPr id="1048595" name="Title 1"/>
          <p:cNvSpPr txBox="1"/>
          <p:nvPr/>
        </p:nvSpPr>
        <p:spPr>
          <a:xfrm>
            <a:off x="1039906" y="4127874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857250" indent="-857250" algn="just">
              <a:buFont typeface="Arial" charset="0"/>
              <a:buChar char="•"/>
            </a:pPr>
            <a:r>
              <a:rPr lang="en-US" sz="2500" b="1" dirty="0"/>
              <a:t>JUDGE OPINION ON CONDUCT OF COUNSEL.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0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6600" b="1" dirty="0"/>
              <a:t>CONCLUSION</a:t>
            </a:r>
          </a:p>
        </p:txBody>
      </p:sp>
      <p:sp>
        <p:nvSpPr>
          <p:cNvPr id="1048601" name="Title 1"/>
          <p:cNvSpPr txBox="1"/>
          <p:nvPr/>
        </p:nvSpPr>
        <p:spPr>
          <a:xfrm>
            <a:off x="654424" y="1391584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857250" indent="-857250">
              <a:buFont typeface="Arial" charset="0"/>
              <a:buChar char="•"/>
            </a:pPr>
            <a:r>
              <a:rPr lang="en-US" sz="2600" b="1" dirty="0"/>
              <a:t>THE EXERCISE WAS HIGHLY IMPACTFUL</a:t>
            </a:r>
          </a:p>
        </p:txBody>
      </p:sp>
      <p:sp>
        <p:nvSpPr>
          <p:cNvPr id="1048602" name="Title 1"/>
          <p:cNvSpPr txBox="1"/>
          <p:nvPr/>
        </p:nvSpPr>
        <p:spPr>
          <a:xfrm>
            <a:off x="654424" y="202754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857250" indent="-857250">
              <a:buFont typeface="Arial" charset="0"/>
              <a:buChar char="•"/>
            </a:pPr>
            <a:r>
              <a:rPr lang="en-US" sz="2600" b="1" dirty="0"/>
              <a:t>I APPRECIATED THE PROFESSION MORE</a:t>
            </a:r>
          </a:p>
        </p:txBody>
      </p:sp>
      <p:sp>
        <p:nvSpPr>
          <p:cNvPr id="1048603" name="Title 1"/>
          <p:cNvSpPr txBox="1"/>
          <p:nvPr/>
        </p:nvSpPr>
        <p:spPr>
          <a:xfrm>
            <a:off x="654424" y="2618838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857250" indent="-857250">
              <a:buFont typeface="Arial" charset="0"/>
              <a:buChar char="•"/>
            </a:pPr>
            <a:r>
              <a:rPr lang="en-US" sz="2600" b="1" dirty="0"/>
              <a:t>WORDS OF ADVISE FROM THE JUDGE</a:t>
            </a:r>
          </a:p>
        </p:txBody>
      </p:sp>
      <p:sp>
        <p:nvSpPr>
          <p:cNvPr id="1048604" name="Title 1"/>
          <p:cNvSpPr txBox="1"/>
          <p:nvPr/>
        </p:nvSpPr>
        <p:spPr>
          <a:xfrm>
            <a:off x="654424" y="3353103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857250" indent="-857250">
              <a:buFont typeface="Arial" charset="0"/>
              <a:buChar char="•"/>
            </a:pPr>
            <a:r>
              <a:rPr lang="en-US" sz="2600" b="1" dirty="0"/>
              <a:t>THE EXTERNSHIP PROGRAMME ENABLES STUDENTS TO UNDERSTAND THE LEGAL PRACTICE</a:t>
            </a:r>
          </a:p>
        </p:txBody>
      </p:sp>
      <p:sp>
        <p:nvSpPr>
          <p:cNvPr id="1048605" name="Title 1"/>
          <p:cNvSpPr txBox="1"/>
          <p:nvPr/>
        </p:nvSpPr>
        <p:spPr>
          <a:xfrm>
            <a:off x="654424" y="5103771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857250" indent="-857250">
              <a:buFont typeface="Arial" charset="0"/>
              <a:buChar char="•"/>
            </a:pPr>
            <a:r>
              <a:rPr lang="en-US" sz="2600" b="1" dirty="0"/>
              <a:t>I STRONGLY BELIEVE THAT ANY STUDENT WHO GOES THROUGH THE EXTERNSHIP PROGRAMME WILL BE WELL EQUIPPED FOR PRACTICE AFTER BEING CALL TO THE BAR.</a:t>
            </a:r>
          </a:p>
        </p:txBody>
      </p:sp>
      <p:sp>
        <p:nvSpPr>
          <p:cNvPr id="1048606" name="Title 1"/>
          <p:cNvSpPr txBox="1"/>
          <p:nvPr/>
        </p:nvSpPr>
        <p:spPr>
          <a:xfrm>
            <a:off x="654424" y="4129322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857250" indent="-857250">
              <a:buFont typeface="Arial" charset="0"/>
              <a:buChar char="•"/>
            </a:pPr>
            <a:r>
              <a:rPr lang="en-US" sz="2600" b="1" dirty="0"/>
              <a:t>LIGHT ENTERTAINMENT WITH THE JUDGE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1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6600" b="1" dirty="0"/>
              <a:t>RECOMMENDATION</a:t>
            </a:r>
          </a:p>
        </p:txBody>
      </p:sp>
      <p:sp>
        <p:nvSpPr>
          <p:cNvPr id="1048612" name="Title 1"/>
          <p:cNvSpPr txBox="1"/>
          <p:nvPr/>
        </p:nvSpPr>
        <p:spPr>
          <a:xfrm>
            <a:off x="479612" y="1579843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857250" indent="-857250">
              <a:buFont typeface="Arial" charset="0"/>
              <a:buChar char="•"/>
            </a:pPr>
            <a:r>
              <a:rPr lang="en-US" sz="3600" b="1" dirty="0"/>
              <a:t>COUNSEL SHOULD BE DEDICATED TO CLIENTS CASE.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5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6000" b="1" dirty="0"/>
              <a:t>SKILL ACQURIED</a:t>
            </a:r>
          </a:p>
        </p:txBody>
      </p:sp>
      <p:sp>
        <p:nvSpPr>
          <p:cNvPr id="1048656" name="Title 1"/>
          <p:cNvSpPr txBox="1"/>
          <p:nvPr/>
        </p:nvSpPr>
        <p:spPr>
          <a:xfrm>
            <a:off x="838200" y="1324349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857250" indent="-857250">
              <a:buFont typeface="Arial" charset="0"/>
              <a:buChar char="•"/>
            </a:pPr>
            <a:r>
              <a:rPr lang="en-US" sz="2800" b="1" dirty="0"/>
              <a:t>RESEARCH SKILL</a:t>
            </a:r>
          </a:p>
        </p:txBody>
      </p:sp>
      <p:sp>
        <p:nvSpPr>
          <p:cNvPr id="1048657" name="Title 1"/>
          <p:cNvSpPr txBox="1"/>
          <p:nvPr/>
        </p:nvSpPr>
        <p:spPr>
          <a:xfrm>
            <a:off x="838200" y="2283573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857250" indent="-857250">
              <a:buFont typeface="Arial" charset="0"/>
              <a:buChar char="•"/>
            </a:pPr>
            <a:r>
              <a:rPr lang="en-US" sz="2800" b="1" dirty="0"/>
              <a:t>DRAFTING SKILLS</a:t>
            </a:r>
          </a:p>
        </p:txBody>
      </p:sp>
      <p:sp>
        <p:nvSpPr>
          <p:cNvPr id="1048658" name="Title 1"/>
          <p:cNvSpPr txBox="1"/>
          <p:nvPr/>
        </p:nvSpPr>
        <p:spPr>
          <a:xfrm>
            <a:off x="838200" y="4378281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857250" indent="-857250">
              <a:buFont typeface="Arial" charset="0"/>
              <a:buChar char="•"/>
            </a:pPr>
            <a:r>
              <a:rPr lang="en-US" sz="2800" b="1" dirty="0"/>
              <a:t>HOW TO OBSERVE COURT DECORUM</a:t>
            </a:r>
          </a:p>
        </p:txBody>
      </p:sp>
      <p:sp>
        <p:nvSpPr>
          <p:cNvPr id="1048659" name="Title 1"/>
          <p:cNvSpPr txBox="1"/>
          <p:nvPr/>
        </p:nvSpPr>
        <p:spPr>
          <a:xfrm>
            <a:off x="735106" y="3347878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857250" indent="-857250">
              <a:buFont typeface="Arial" charset="0"/>
              <a:buChar char="•"/>
            </a:pPr>
            <a:r>
              <a:rPr lang="en-US" sz="2800" b="1" dirty="0"/>
              <a:t>COMMUNICATION SKILLS (CLIENT INTERVIEW)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1" name="Title 1"/>
          <p:cNvSpPr>
            <a:spLocks noGrp="1"/>
          </p:cNvSpPr>
          <p:nvPr>
            <p:ph type="title"/>
          </p:nvPr>
        </p:nvSpPr>
        <p:spPr>
          <a:xfrm>
            <a:off x="878541" y="2758702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8000" b="1" dirty="0"/>
              <a:t>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TH Sarabun PSK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TH Sarabun PSK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363</TotalTime>
  <Words>416</Words>
  <Application>Microsoft Office PowerPoint</Application>
  <PresentationFormat>Widescreen</PresentationFormat>
  <Paragraphs>70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Calibri Light</vt:lpstr>
      <vt:lpstr>Times New Roman</vt:lpstr>
      <vt:lpstr>Retrospect</vt:lpstr>
      <vt:lpstr>PORTFOLIO PRESENTATION</vt:lpstr>
      <vt:lpstr>CONTENTS</vt:lpstr>
      <vt:lpstr> A REPORT ON THE COURT AND LAW  OFFICE ATTACHMENT   PRESENTED BY   NAME: ADEBAYO SAMSUEEN OLAYIDE REG NO:  838</vt:lpstr>
      <vt:lpstr>NAME OF COURT: OGBA MAGISTRATE.   </vt:lpstr>
      <vt:lpstr>DEVELOP THE EXTERNS LAWYERING SKILLS</vt:lpstr>
      <vt:lpstr>SKILL ACQUIRED</vt:lpstr>
      <vt:lpstr>ETHICS IN COURT</vt:lpstr>
      <vt:lpstr>LAWYER ENGAGING IN BUSINESS AND PRACTICE OF LAW-RULE 7 RPC</vt:lpstr>
      <vt:lpstr>ARRAIGNMENT</vt:lpstr>
      <vt:lpstr>OBSERVATION</vt:lpstr>
      <vt:lpstr>REMARK</vt:lpstr>
      <vt:lpstr>CONCLUSION</vt:lpstr>
      <vt:lpstr>RECOMMENDATION</vt:lpstr>
      <vt:lpstr>SKILL ACQURIED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REPORT ON THE COURT AND CHAIN OFFICE ATTACHMENT    PRESENTED BY   MUHAMMAD ISHAKU CLE/NLS/KN/23/755</dc:title>
  <dc:creator>PC</dc:creator>
  <cp:lastModifiedBy>Samsudeen Adebayo</cp:lastModifiedBy>
  <cp:revision>3</cp:revision>
  <dcterms:created xsi:type="dcterms:W3CDTF">1900-01-01T00:00:00Z</dcterms:created>
  <dcterms:modified xsi:type="dcterms:W3CDTF">2025-07-30T01:28:11Z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753E275B7312DEBB68A4D86628063D88_33</vt:lpwstr>
  </property>
  <property fmtid="{D5CDD505-2E9C-101B-9397-08002B2CF9AE}" pid="3" name="KSOProductBuildVer">
    <vt:lpwstr>3081-11.33.8</vt:lpwstr>
  </property>
</Properties>
</file>