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0" r:id="rId13"/>
    <p:sldId id="30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type="screen4x3" cy="6858000" cx="9144000"/>
  <p:notesSz cx="6858000" cy="9144000"/>
  <p:defaultTextStyle>
    <a:defPPr>
      <a:defRPr lang="en-US"/>
    </a:defPPr>
    <a:lvl1pPr algn="l" defTabSz="914400" eaLnBrk="1" fontAlgn="base" hangingPunct="1" indent="0" latinLnBrk="0" lvl="0" marL="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914400" eaLnBrk="1" fontAlgn="base" hangingPunct="1" indent="0" latinLnBrk="0" lvl="1" marL="4572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914400" eaLnBrk="1" fontAlgn="base" hangingPunct="1" indent="0" latinLnBrk="0" lvl="2" marL="9144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914400" eaLnBrk="1" fontAlgn="base" hangingPunct="1" indent="0" latinLnBrk="0" lvl="3" marL="13716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914400" eaLnBrk="1" fontAlgn="base" hangingPunct="1" indent="0" latinLnBrk="0" lvl="4" marL="18288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algn="l" defTabSz="914400" eaLnBrk="1" fontAlgn="base" hangingPunct="1" indent="0" latinLnBrk="0" lvl="5" marL="22860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algn="l" defTabSz="914400" eaLnBrk="1" fontAlgn="base" hangingPunct="1" indent="0" latinLnBrk="0" lvl="6" marL="27432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algn="l" defTabSz="914400" eaLnBrk="1" fontAlgn="base" hangingPunct="1" indent="0" latinLnBrk="0" lvl="7" marL="32004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algn="l" defTabSz="914400" eaLnBrk="1" fontAlgn="base" hangingPunct="1" indent="0" latinLnBrk="0" lvl="8" marL="36576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tableStyles" Target="tableStyles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1" name=""/>
        <p:cNvGrpSpPr/>
        <p:nvPr/>
      </p:nvGrpSpPr>
      <p:grpSpPr>
        <a:xfrm/>
      </p:grpSpPr>
      <p:sp>
        <p:nvSpPr>
          <p:cNvPr id="10487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209FD52-CC45-412A-844B-CFE4A3429125}" type="datetimeFigureOut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baseline="0" b="0" cap="none" sz="1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base" hangingPunct="1" indent="0" latinLnBrk="0" lvl="1" marL="4572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baseline="0" b="0" cap="none" sz="1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base" hangingPunct="1" indent="0" latinLnBrk="0" lvl="2" marL="9144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baseline="0" b="0" cap="none" sz="1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base" hangingPunct="1" indent="0" latinLnBrk="0" lvl="3" marL="13716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baseline="0" b="0" cap="none" sz="12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base" hangingPunct="1" indent="0" latinLnBrk="0" lvl="4" marL="18288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p>
            <a:pPr algn="r" eaLnBrk="1" hangingPunct="1" lvl="0">
              <a:buNone/>
            </a:pPr>
            <a:fld id="{9A0DB2DC-4C9A-4742-B13C-FB6460FD3503}" type="slidenum">
              <a:rPr dirty="0" sz="1200" lang="en-US">
                <a:latin typeface="Calibri" panose="020F0502020204030204" pitchFamily="34" charset="0"/>
              </a:rPr>
            </a:fld>
            <a:endParaRPr dirty="0" sz="1200" lang="en-US">
              <a:latin typeface="Calibri" panose="020F050202020403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0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/>
      </p:grpSpPr>
      <p:sp>
        <p:nvSpPr>
          <p:cNvPr id="1048610" name="Slide Image Placeholder 1"/>
          <p:cNvSpPr>
            <a:spLocks noChangeAspect="1" noRot="1" noGrp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anchor="t" anchorCtr="0" bIns="45720" lIns="91440" rIns="91440" tIns="45720" wrap="square"/>
          <a:p>
            <a:pPr eaLnBrk="1" hangingPunct="1" lvl="0">
              <a:spcBef>
                <a:spcPct val="0"/>
              </a:spcBef>
            </a:pPr>
            <a:endParaRPr dirty="0"/>
          </a:p>
        </p:txBody>
      </p:sp>
      <p:sp>
        <p:nvSpPr>
          <p:cNvPr id="1048612" name="Slide Number Placeholder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anchor="b" anchorCtr="0" bIns="45720" compatLnSpc="1" lIns="91440" numCol="1" rIns="91440" rtlCol="0" tIns="45720" wrap="square"/>
          <a:p>
            <a:pPr algn="r" eaLnBrk="1" hangingPunct="1" lvl="0"/>
            <a:fld id="{9A0DB2DC-4C9A-4742-B13C-FB6460FD3503}" type="slidenum">
              <a:rPr dirty="0" sz="1200" lang="en-US">
                <a:latin typeface="Calibri" panose="020F0502020204030204" pitchFamily="34" charset="0"/>
              </a:rPr>
            </a:fld>
            <a:endParaRPr dirty="0" sz="1200" 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1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1800"/>
            </a:lvl1pPr>
            <a:lvl2pPr algn="ctr" indent="0" marL="342900">
              <a:buNone/>
              <a:defRPr sz="1500"/>
            </a:lvl2pPr>
            <a:lvl3pPr algn="ctr" indent="0" marL="685800">
              <a:buNone/>
              <a:defRPr sz="1350"/>
            </a:lvl3pPr>
            <a:lvl4pPr algn="ctr" indent="0" marL="1028700">
              <a:buNone/>
              <a:defRPr sz="1200"/>
            </a:lvl4pPr>
            <a:lvl5pPr algn="ctr" indent="0" marL="1371600">
              <a:buNone/>
              <a:defRPr sz="1200"/>
            </a:lvl5pPr>
            <a:lvl6pPr algn="ctr" indent="0" marL="1714500">
              <a:buNone/>
              <a:defRPr sz="1200"/>
            </a:lvl6pPr>
            <a:lvl7pPr algn="ctr" indent="0" marL="2057400">
              <a:buNone/>
              <a:defRPr sz="1200"/>
            </a:lvl7pPr>
            <a:lvl8pPr algn="ctr" indent="0" marL="2400300">
              <a:buNone/>
              <a:defRPr sz="1200"/>
            </a:lvl8pPr>
            <a:lvl9pPr algn="ctr" indent="0" marL="2743200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DED38018-E780-4F77-8C09-C3D5B3D8F3B5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6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indent="0" mar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indent="0" marL="34290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indent="0" marL="68580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indent="0" marL="10287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indent="0" marL="13716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indent="0" marL="17145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indent="0" marL="20574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indent="0" marL="24003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indent="0" marL="27432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6E90365-65E4-48B8-8E02-2E06E87EBE82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2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54B3FC3-55EA-41B8-B48F-7B19A5C40347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7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indent="0" marL="0">
              <a:buNone/>
              <a:defRPr b="1" sz="1800"/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708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1800"/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71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D176E39-F7C9-42DD-ACA1-0076C173BE56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EA9FD36-17DC-4540-A729-0E0315C8C9EB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8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200"/>
            </a:lvl1pPr>
            <a:lvl2pPr indent="0" marL="342900">
              <a:buNone/>
              <a:defRPr sz="1050"/>
            </a:lvl2pPr>
            <a:lvl3pPr indent="0" marL="685800">
              <a:buNone/>
              <a:defRPr sz="900"/>
            </a:lvl3pPr>
            <a:lvl4pPr indent="0" marL="1028700">
              <a:buNone/>
              <a:defRPr sz="750"/>
            </a:lvl4pPr>
            <a:lvl5pPr indent="0" marL="1371600">
              <a:buNone/>
              <a:defRPr sz="750"/>
            </a:lvl5pPr>
            <a:lvl6pPr indent="0" marL="1714500">
              <a:buNone/>
              <a:defRPr sz="750"/>
            </a:lvl6pPr>
            <a:lvl7pPr indent="0" marL="2057400">
              <a:buNone/>
              <a:defRPr sz="750"/>
            </a:lvl7pPr>
            <a:lvl8pPr indent="0" marL="2400300">
              <a:buNone/>
              <a:defRPr sz="750"/>
            </a:lvl8pPr>
            <a:lvl9pPr indent="0" marL="274320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7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5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indent="0" marL="0">
              <a:buNone/>
              <a:defRPr sz="2400"/>
            </a:lvl1pPr>
            <a:lvl2pPr indent="0" marL="342900">
              <a:buNone/>
              <a:defRPr sz="2100"/>
            </a:lvl2pPr>
            <a:lvl3pPr indent="0" marL="685800">
              <a:buNone/>
              <a:defRPr sz="1800"/>
            </a:lvl3pPr>
            <a:lvl4pPr indent="0" marL="1028700">
              <a:buNone/>
              <a:defRPr sz="1500"/>
            </a:lvl4pPr>
            <a:lvl5pPr indent="0" marL="1371600">
              <a:buNone/>
              <a:defRPr sz="1500"/>
            </a:lvl5pPr>
            <a:lvl6pPr indent="0" marL="1714500">
              <a:buNone/>
              <a:defRPr sz="1500"/>
            </a:lvl6pPr>
            <a:lvl7pPr indent="0" marL="2057400">
              <a:buNone/>
              <a:defRPr sz="1500"/>
            </a:lvl7pPr>
            <a:lvl8pPr indent="0" marL="2400300">
              <a:buNone/>
              <a:defRPr sz="1500"/>
            </a:lvl8pPr>
            <a:lvl9pPr indent="0" marL="2743200">
              <a:buNone/>
              <a:defRPr sz="1500"/>
            </a:lvl9pPr>
          </a:lstStyle>
          <a:p>
            <a:endParaRPr lang="en-US"/>
          </a:p>
        </p:txBody>
      </p:sp>
      <p:sp>
        <p:nvSpPr>
          <p:cNvPr id="1048686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200"/>
            </a:lvl1pPr>
            <a:lvl2pPr indent="0" marL="342900">
              <a:buNone/>
              <a:defRPr sz="1050"/>
            </a:lvl2pPr>
            <a:lvl3pPr indent="0" marL="685800">
              <a:buNone/>
              <a:defRPr sz="900"/>
            </a:lvl3pPr>
            <a:lvl4pPr indent="0" marL="1028700">
              <a:buNone/>
              <a:defRPr sz="750"/>
            </a:lvl4pPr>
            <a:lvl5pPr indent="0" marL="1371600">
              <a:buNone/>
              <a:defRPr sz="750"/>
            </a:lvl5pPr>
            <a:lvl6pPr indent="0" marL="1714500">
              <a:buNone/>
              <a:defRPr sz="750"/>
            </a:lvl6pPr>
            <a:lvl7pPr indent="0" marL="2057400">
              <a:buNone/>
              <a:defRPr sz="750"/>
            </a:lvl7pPr>
            <a:lvl8pPr indent="0" marL="2400300">
              <a:buNone/>
              <a:defRPr sz="750"/>
            </a:lvl8pPr>
            <a:lvl9pPr indent="0" marL="274320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E207ADB-1E20-4AC5-A15F-405E7F093CF1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buNone/>
            </a:pPr>
            <a:fld id="{9A0DB2DC-4C9A-4742-B13C-FB6460FD3503}" type="slidenum">
              <a:rPr dirty="0" lang="en-US">
                <a:latin typeface="Corbel" panose="020B0503020204020204" pitchFamily="34" charset="0"/>
              </a:rPr>
            </a:fld>
            <a:endParaRPr dirty="0"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hf dt="0" ftr="0" hdr="0" sldNum="0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2" name=""/>
        <p:cNvGrpSpPr/>
        <p:nvPr/>
      </p:nvGrpSpPr>
      <p:grpSpPr>
        <a:xfrm/>
      </p:grpSpPr>
      <p:sp>
        <p:nvSpPr>
          <p:cNvPr id="104857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4857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4857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/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AFB2847-9677-41B6-B919-B46A9672A3D0}" type="datetime1">
              <a:rPr baseline="0" b="0" cap="none" sz="1100" i="0" kern="1200" kumimoji="0" lang="en-US" noProof="0" normalizeH="0" spc="0" strike="noStrike" u="non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7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/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100" i="0" kern="1200" kumimoji="0" lang="en-US" noProof="0" normalizeH="0" spc="0" strike="noStrike" u="non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/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eaLnBrk="1" hangingPunct="1" lvl="0">
              <a:buNone/>
            </a:pPr>
            <a:fld id="{9A0DB2DC-4C9A-4742-B13C-FB6460FD3503}" type="slidenum">
              <a:rPr dirty="0" lang="en-US"/>
            </a:fld>
            <a:endParaRPr dirty="0" lang="en-US">
              <a:latin typeface="Arial" panose="020B060402020202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eaLnBrk="1" fontAlgn="base" hangingPunct="1" indent="0" latinLnBrk="0" lvl="0" marL="0">
        <a:lnSpc>
          <a:spcPct val="100000"/>
        </a:lnSpc>
        <a:spcBef>
          <a:spcPct val="0"/>
        </a:spcBef>
        <a:spcAft>
          <a:spcPct val="0"/>
        </a:spcAft>
        <a:buNone/>
        <a:defRPr baseline="0" b="0" sz="4400" i="0" kern="1200" u="none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914400" eaLnBrk="1" fontAlgn="base" hangingPunct="1" indent="-342900" latinLnBrk="0" lvl="0" marL="342900">
        <a:lnSpc>
          <a:spcPct val="100000"/>
        </a:lnSpc>
        <a:spcBef>
          <a:spcPct val="20000"/>
        </a:spcBef>
        <a:spcAft>
          <a:spcPct val="0"/>
        </a:spcAft>
        <a:buChar char="•"/>
        <a:defRPr baseline="0" b="0" sz="3200" i="0" kern="1200" u="none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fontAlgn="base" hangingPunct="1" indent="-285750" latinLnBrk="0" lvl="1" marL="742950">
        <a:lnSpc>
          <a:spcPct val="100000"/>
        </a:lnSpc>
        <a:spcBef>
          <a:spcPct val="20000"/>
        </a:spcBef>
        <a:spcAft>
          <a:spcPct val="0"/>
        </a:spcAft>
        <a:buChar char="–"/>
        <a:defRPr baseline="0" b="0" sz="2800" i="0" kern="1200" u="none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fontAlgn="base" hangingPunct="1" indent="-228600" latinLnBrk="0" lvl="2" marL="1143000">
        <a:lnSpc>
          <a:spcPct val="100000"/>
        </a:lnSpc>
        <a:spcBef>
          <a:spcPct val="20000"/>
        </a:spcBef>
        <a:spcAft>
          <a:spcPct val="0"/>
        </a:spcAft>
        <a:buChar char="•"/>
        <a:defRPr baseline="0" b="0" sz="2400" i="0" kern="1200" u="none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fontAlgn="base" hangingPunct="1" indent="-228600" latinLnBrk="0" lvl="3" marL="1600200">
        <a:lnSpc>
          <a:spcPct val="100000"/>
        </a:lnSpc>
        <a:spcBef>
          <a:spcPct val="20000"/>
        </a:spcBef>
        <a:spcAft>
          <a:spcPct val="0"/>
        </a:spcAft>
        <a:buChar char="–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fontAlgn="base" hangingPunct="1" indent="-228600" latinLnBrk="0" lvl="4" marL="2057400">
        <a:lnSpc>
          <a:spcPct val="100000"/>
        </a:lnSpc>
        <a:spcBef>
          <a:spcPct val="20000"/>
        </a:spcBef>
        <a:spcAft>
          <a:spcPct val="0"/>
        </a:spcAft>
        <a:buChar char="»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fontAlgn="base" hangingPunct="1" indent="-228600" latinLnBrk="0" lvl="5" marL="2514600">
        <a:lnSpc>
          <a:spcPct val="100000"/>
        </a:lnSpc>
        <a:spcBef>
          <a:spcPct val="20000"/>
        </a:spcBef>
        <a:spcAft>
          <a:spcPct val="0"/>
        </a:spcAft>
        <a:buChar char="»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fontAlgn="base" hangingPunct="1" indent="-228600" latinLnBrk="0" lvl="6" marL="2971800">
        <a:lnSpc>
          <a:spcPct val="100000"/>
        </a:lnSpc>
        <a:spcBef>
          <a:spcPct val="20000"/>
        </a:spcBef>
        <a:spcAft>
          <a:spcPct val="0"/>
        </a:spcAft>
        <a:buChar char="»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fontAlgn="base" hangingPunct="1" indent="-228600" latinLnBrk="0" lvl="7" marL="3429000">
        <a:lnSpc>
          <a:spcPct val="100000"/>
        </a:lnSpc>
        <a:spcBef>
          <a:spcPct val="20000"/>
        </a:spcBef>
        <a:spcAft>
          <a:spcPct val="0"/>
        </a:spcAft>
        <a:buChar char="»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fontAlgn="base" hangingPunct="1" indent="-228600" latinLnBrk="0" lvl="8" marL="3886200">
        <a:lnSpc>
          <a:spcPct val="100000"/>
        </a:lnSpc>
        <a:spcBef>
          <a:spcPct val="20000"/>
        </a:spcBef>
        <a:spcAft>
          <a:spcPct val="0"/>
        </a:spcAft>
        <a:buChar char="»"/>
        <a:defRPr baseline="0" b="0" sz="2000" i="0" kern="1200" u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defTabSz="914400" eaLnBrk="1" fontAlgn="base" hangingPunct="1" indent="0" latinLnBrk="0" lvl="0" marL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sz="1800" i="0" kern="1200" u="none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fontAlgn="base" hangingPunct="1" indent="0" latinLnBrk="0" lvl="1" marL="4572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algn="l" defTabSz="914400" eaLnBrk="1" fontAlgn="base" hangingPunct="1" indent="0" latinLnBrk="0" lvl="2" marL="914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algn="l" defTabSz="914400" eaLnBrk="1" fontAlgn="base" hangingPunct="1" indent="0" latinLnBrk="0" lvl="3" marL="13716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algn="l" defTabSz="914400" eaLnBrk="1" fontAlgn="base" hangingPunct="1" indent="0" latinLnBrk="0" lvl="4" marL="18288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algn="l" defTabSz="914400" eaLnBrk="1" fontAlgn="base" hangingPunct="1" indent="0" latinLnBrk="0" lvl="5" marL="22860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algn="l" defTabSz="914400" eaLnBrk="1" fontAlgn="base" hangingPunct="1" indent="0" latinLnBrk="0" lvl="6" marL="27432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algn="l" defTabSz="914400" eaLnBrk="1" fontAlgn="base" hangingPunct="1" indent="0" latinLnBrk="0" lvl="7" marL="32004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algn="l" defTabSz="914400" eaLnBrk="1" fontAlgn="base" hangingPunct="1" indent="0" latinLnBrk="0" lvl="8" marL="365760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aseline="0" b="0" i="0" kern="1200" u="none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93317"/>
          </a:xfrm>
        </p:spPr>
        <p:txBody>
          <a:bodyPr anchor="t" vert="horz">
            <a:normAutofit/>
          </a:bodyPr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NIGERIAN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LAW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C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HOOL</a:t>
            </a: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</a:b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Y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G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O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C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M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U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</a:t>
            </a: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</a:b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</a:b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O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RTY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L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W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C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T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ICE</a:t>
            </a: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</a:b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</a:b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L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O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F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L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D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A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T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2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381000" y="3467927"/>
            <a:ext cx="8305800" cy="3390073"/>
          </a:xfrm>
        </p:spPr>
        <p:txBody>
          <a:bodyPr anchor="t" anchorCtr="0" bIns="45720" compatLnSpc="1" lIns="91440" numCol="1" rIns="91440" tIns="45720" vert="horz" wrap="square">
            <a:normAutofit/>
          </a:bodyPr>
          <a:p>
            <a:pPr algn="l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None/>
            </a:pP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None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OINT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TION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None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vester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Udemezue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"/>
          <p:cNvSpPr>
            <a:spLocks noGrp="1"/>
          </p:cNvSpPr>
          <p:nvPr>
            <p:ph type="title"/>
          </p:nvPr>
        </p:nvSpPr>
        <p:spPr>
          <a:xfrm>
            <a:off x="509110" y="-161217"/>
            <a:ext cx="8229600" cy="1143000"/>
          </a:xfrm>
        </p:spPr>
        <p:txBody>
          <a:bodyPr/>
          <a:p>
            <a:r>
              <a:rPr lang="en-US"/>
              <a:t>L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ON</a:t>
            </a:r>
            <a:r>
              <a:rPr lang="en-US"/>
              <a:t> </a:t>
            </a:r>
            <a:r>
              <a:rPr lang="en-US"/>
              <a:t>CONTEN</a:t>
            </a:r>
            <a:r>
              <a:rPr lang="en-US"/>
              <a:t>TS</a:t>
            </a:r>
            <a:endParaRPr lang="en-US"/>
          </a:p>
        </p:txBody>
      </p:sp>
      <p:sp>
        <p:nvSpPr>
          <p:cNvPr id="1048589" name=""/>
          <p:cNvSpPr>
            <a:spLocks noGrp="1"/>
          </p:cNvSpPr>
          <p:nvPr>
            <p:ph idx="1"/>
          </p:nvPr>
        </p:nvSpPr>
        <p:spPr>
          <a:xfrm>
            <a:off x="457197" y="735864"/>
            <a:ext cx="8281512" cy="5668489"/>
          </a:xfrm>
        </p:spPr>
        <p:txBody>
          <a:bodyPr/>
          <a:p>
            <a:r>
              <a:rPr sz="3600" lang="en-US"/>
              <a:t>Deducing of Title</a:t>
            </a:r>
            <a:endParaRPr sz="3600" lang="en-US"/>
          </a:p>
          <a:p>
            <a:r>
              <a:rPr sz="3600" lang="en-US"/>
              <a:t>Investigation of Title</a:t>
            </a:r>
            <a:endParaRPr sz="3600" lang="en-US"/>
          </a:p>
          <a:p>
            <a:r>
              <a:rPr sz="3600" lang="en-US"/>
              <a:t>Drafting search report &amp; cover letter</a:t>
            </a:r>
            <a:endParaRPr sz="3600" lang="en-US"/>
          </a:p>
          <a:p>
            <a:r>
              <a:rPr sz="3600" lang="en-US"/>
              <a:t>Completion procedure</a:t>
            </a:r>
            <a:endParaRPr sz="3600" lang="en-US"/>
          </a:p>
          <a:p>
            <a:r>
              <a:rPr sz="3600" lang="en-US"/>
              <a:t>Drafting </a:t>
            </a:r>
            <a:r>
              <a:rPr sz="3600" lang="en-US"/>
              <a:t>a</a:t>
            </a:r>
            <a:r>
              <a:rPr sz="3600" lang="en-US"/>
              <a:t>b</a:t>
            </a:r>
            <a:r>
              <a:rPr sz="3600" lang="en-US"/>
              <a:t>standard Deed of </a:t>
            </a:r>
            <a:r>
              <a:rPr sz="3600" lang="en-US"/>
              <a:t>A</a:t>
            </a:r>
            <a:r>
              <a:rPr sz="3600" lang="en-US"/>
              <a:t>ssignment</a:t>
            </a:r>
            <a:endParaRPr sz="3600" lang="en-US"/>
          </a:p>
          <a:p>
            <a:r>
              <a:rPr sz="3600" lang="en-US"/>
              <a:t>Perfection of Title (documents &amp; procedure)</a:t>
            </a:r>
            <a:endParaRPr sz="3600" lang="en-US"/>
          </a:p>
          <a:p>
            <a:r>
              <a:rPr sz="3600" lang="en-US"/>
              <a:t>Ethical issues</a:t>
            </a:r>
            <a:endParaRPr sz="36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p>
            <a:r>
              <a:rPr lang="en-US"/>
              <a:t>L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ON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C</a:t>
            </a:r>
            <a:r>
              <a:rPr lang="en-US"/>
              <a:t>OMES</a:t>
            </a:r>
            <a:endParaRPr lang="en-US"/>
          </a:p>
        </p:txBody>
      </p:sp>
      <p:sp>
        <p:nvSpPr>
          <p:cNvPr id="1048591" name=""/>
          <p:cNvSpPr>
            <a:spLocks noGrp="1"/>
          </p:cNvSpPr>
          <p:nvPr>
            <p:ph idx="1"/>
          </p:nvPr>
        </p:nvSpPr>
        <p:spPr>
          <a:xfrm>
            <a:off x="621569" y="183622"/>
            <a:ext cx="8229600" cy="6490756"/>
          </a:xfrm>
        </p:spPr>
        <p:txBody>
          <a:bodyPr/>
          <a:p>
            <a:pPr indent="0" marL="0">
              <a:buNone/>
            </a:pPr>
            <a:endParaRPr sz="4000" lang="en-US"/>
          </a:p>
          <a:p>
            <a:r>
              <a:rPr sz="4000" lang="en-US"/>
              <a:t>E</a:t>
            </a:r>
            <a:r>
              <a:rPr sz="4000" lang="en-US"/>
              <a:t>xplain how a vendor can deduce his title</a:t>
            </a:r>
            <a:endParaRPr sz="4000" lang="en-US"/>
          </a:p>
          <a:p>
            <a:r>
              <a:rPr sz="4000" lang="en-US"/>
              <a:t>U</a:t>
            </a:r>
            <a:r>
              <a:rPr sz="4000" lang="en-US"/>
              <a:t>nderstand the meaning and uses of epitome, abstract of title and what constitutes a good root of title</a:t>
            </a:r>
            <a:endParaRPr sz="4000" lang="en-US"/>
          </a:p>
          <a:p>
            <a:r>
              <a:rPr sz="4000" lang="en-US"/>
              <a:t>G</a:t>
            </a:r>
            <a:r>
              <a:rPr sz="4000" lang="en-US"/>
              <a:t>i</a:t>
            </a:r>
            <a:r>
              <a:rPr sz="4000" lang="en-US"/>
              <a:t>ve examples of a good root of title </a:t>
            </a:r>
            <a:endParaRPr sz="4000" lang="en-US"/>
          </a:p>
          <a:p>
            <a:r>
              <a:rPr sz="4000" lang="en-US"/>
              <a:t>S</a:t>
            </a:r>
            <a:r>
              <a:rPr sz="4000" lang="en-US"/>
              <a:t>tate the various means of investigating title </a:t>
            </a:r>
            <a:endParaRPr sz="4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p>
            <a:r>
              <a:rPr lang="en-US"/>
              <a:t>O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C</a:t>
            </a:r>
            <a:r>
              <a:rPr lang="en-US"/>
              <a:t>OMES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D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593" name=""/>
          <p:cNvSpPr>
            <a:spLocks noGrp="1"/>
          </p:cNvSpPr>
          <p:nvPr>
            <p:ph idx="1"/>
          </p:nvPr>
        </p:nvSpPr>
        <p:spPr>
          <a:xfrm>
            <a:off x="-53998" y="846138"/>
            <a:ext cx="8887868" cy="5910834"/>
          </a:xfrm>
        </p:spPr>
        <p:txBody>
          <a:bodyPr/>
          <a:p>
            <a:r>
              <a:rPr sz="3600" lang="en-US"/>
              <a:t>R</a:t>
            </a:r>
            <a:r>
              <a:rPr sz="3600" lang="en-US"/>
              <a:t>a</a:t>
            </a:r>
            <a:r>
              <a:rPr sz="3600" lang="en-US"/>
              <a:t>ise requisitions </a:t>
            </a:r>
            <a:endParaRPr sz="3600" lang="en-US"/>
          </a:p>
          <a:p>
            <a:r>
              <a:rPr sz="3600" lang="en-US"/>
              <a:t>W</a:t>
            </a:r>
            <a:r>
              <a:rPr sz="3600" lang="en-US"/>
              <a:t>rite a search report &amp; cover letter.</a:t>
            </a:r>
            <a:endParaRPr sz="3600" lang="en-US"/>
          </a:p>
          <a:p>
            <a:r>
              <a:rPr sz="3600" lang="en-US"/>
              <a:t>S</a:t>
            </a:r>
            <a:r>
              <a:rPr sz="3600" lang="en-US"/>
              <a:t>tate the procedure for completion of sale of land</a:t>
            </a:r>
            <a:endParaRPr sz="3600" lang="en-US"/>
          </a:p>
          <a:p>
            <a:r>
              <a:rPr sz="3600" lang="en-US"/>
              <a:t>M</a:t>
            </a:r>
            <a:r>
              <a:rPr sz="3600" lang="en-US"/>
              <a:t>ention the procedure and documents for perfecting title to land</a:t>
            </a:r>
            <a:endParaRPr sz="3600" lang="en-US"/>
          </a:p>
          <a:p>
            <a:r>
              <a:rPr sz="3600" lang="en-US"/>
              <a:t>I</a:t>
            </a:r>
            <a:r>
              <a:rPr sz="3600" lang="en-US"/>
              <a:t>dentify ethical issues arising from investigation and perfection of title to land</a:t>
            </a:r>
            <a:endParaRPr sz="36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Post-Contract</a:t>
            </a:r>
            <a:endParaRPr lang="en-US"/>
          </a:p>
        </p:txBody>
      </p:sp>
      <p:sp>
        <p:nvSpPr>
          <p:cNvPr id="1048595" name=""/>
          <p:cNvSpPr>
            <a:spLocks noGrp="1"/>
          </p:cNvSpPr>
          <p:nvPr>
            <p:ph idx="1"/>
          </p:nvPr>
        </p:nvSpPr>
        <p:spPr>
          <a:xfrm>
            <a:off x="457200" y="1417638"/>
            <a:ext cx="8506437" cy="5156149"/>
          </a:xfrm>
        </p:spPr>
        <p:txBody>
          <a:bodyPr/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None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FEATURES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Deducing title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ility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oot of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itle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Investigation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nsib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ility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nce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ure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Search </a:t>
            </a:r>
            <a:r>
              <a:rPr baseline="0" b="1" cap="none" dirty="0" sz="36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eport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tion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relevance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etc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686800" cy="11430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8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How does vendor deduce title?</a:t>
            </a:r>
            <a:endParaRPr baseline="0" b="1" cap="none" dirty="0" sz="48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5105400"/>
          </a:xfrm>
        </p:spPr>
        <p:txBody>
          <a:bodyPr anchor="t" anchorCtr="0" bIns="45720" lIns="91440" rIns="91440" tIns="45720" vert="horz" wrap="square"/>
          <a:p>
            <a:pPr eaLnBrk="1" hangingPunct="1">
              <a:spcAft>
                <a:spcPts val="1800"/>
              </a:spcAft>
            </a:pPr>
            <a:r>
              <a:rPr dirty="0" sz="3600"/>
              <a:t>Vendor has to prove his root of title (ie, that he has a good root of title):</a:t>
            </a:r>
            <a:endParaRPr dirty="0" sz="3600"/>
          </a:p>
          <a:p>
            <a:pPr eaLnBrk="1" hangingPunct="1">
              <a:spcAft>
                <a:spcPts val="1800"/>
              </a:spcAft>
            </a:pPr>
            <a:r>
              <a:rPr dirty="0" sz="3600"/>
              <a:t>Vendor may use the following documents to deduce title</a:t>
            </a:r>
            <a:endParaRPr dirty="0" sz="3600"/>
          </a:p>
          <a:p>
            <a:pPr eaLnBrk="1" hangingPunct="1" lvl="1">
              <a:spcAft>
                <a:spcPts val="1800"/>
              </a:spcAft>
            </a:pPr>
            <a:r>
              <a:rPr b="1" dirty="0" sz="3600"/>
              <a:t>Abstract of title </a:t>
            </a:r>
            <a:endParaRPr b="1" dirty="0" sz="3600"/>
          </a:p>
          <a:p>
            <a:pPr eaLnBrk="1" hangingPunct="1" lvl="1">
              <a:spcAft>
                <a:spcPts val="1800"/>
              </a:spcAft>
            </a:pPr>
            <a:r>
              <a:rPr b="1" dirty="0" sz="3600"/>
              <a:t>Epitome of title</a:t>
            </a:r>
            <a:endParaRPr b="1" dirty="0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9144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dirty="0" sz="48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NOTE THE FOLLOWING:</a:t>
            </a:r>
            <a:endParaRPr baseline="0" b="0" cap="none" dirty="0" sz="48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6019800"/>
          </a:xfrm>
        </p:spPr>
        <p:txBody>
          <a:bodyPr anchor="t" anchorCtr="0" bIns="45720" lIns="91440" rIns="91440" tIns="45720" vert="horz" wrap="square"/>
          <a:p>
            <a:pPr eaLnBrk="1" hangingPunct="1">
              <a:spcAft>
                <a:spcPts val="1200"/>
              </a:spcAft>
            </a:pPr>
            <a:r>
              <a:rPr dirty="0" sz="3600"/>
              <a:t>How  many years would the vendor need to deduce his title ---- under PCL</a:t>
            </a:r>
            <a:r>
              <a:rPr dirty="0" sz="3600" lang="en-US"/>
              <a:t> (at least 30 years) </a:t>
            </a:r>
            <a:r>
              <a:rPr dirty="0" sz="3600"/>
              <a:t>, and under CA</a:t>
            </a:r>
            <a:r>
              <a:rPr dirty="0" sz="3600" lang="en-US"/>
              <a:t> (at least 40 years)</a:t>
            </a:r>
            <a:r>
              <a:rPr dirty="0" sz="3600" lang="en-US"/>
              <a:t>;</a:t>
            </a:r>
            <a:r>
              <a:rPr dirty="0" sz="3600" lang="en-US"/>
              <a:t> </a:t>
            </a:r>
            <a:r>
              <a:rPr dirty="0" sz="3600" lang="en-US"/>
              <a:t>u</a:t>
            </a:r>
            <a:r>
              <a:rPr dirty="0" sz="3600" lang="en-US"/>
              <a:t>n</a:t>
            </a:r>
            <a:r>
              <a:rPr dirty="0" sz="3600" lang="en-US"/>
              <a:t>d</a:t>
            </a:r>
            <a:r>
              <a:rPr dirty="0" sz="3600" lang="en-US"/>
              <a:t>e</a:t>
            </a:r>
            <a:r>
              <a:rPr dirty="0" sz="3600" lang="en-US"/>
              <a:t>r</a:t>
            </a:r>
            <a:r>
              <a:rPr dirty="0" sz="3600" lang="en-US"/>
              <a:t> </a:t>
            </a:r>
            <a:r>
              <a:rPr dirty="0" sz="3600" lang="en-US"/>
              <a:t>Lagos</a:t>
            </a:r>
            <a:r>
              <a:rPr dirty="0" sz="3600" lang="en-US"/>
              <a:t>?</a:t>
            </a:r>
            <a:r>
              <a:rPr dirty="0" sz="3600" lang="en-US"/>
              <a:t> </a:t>
            </a:r>
            <a:endParaRPr dirty="0" sz="3600"/>
          </a:p>
          <a:p>
            <a:pPr eaLnBrk="1" hangingPunct="1">
              <a:spcAft>
                <a:spcPts val="1200"/>
              </a:spcAft>
            </a:pPr>
            <a:r>
              <a:rPr dirty="0" sz="3600"/>
              <a:t>Note the effect of s. 130 of the Evidence Act (now section  ……..of the Evidence Act 2011). See </a:t>
            </a:r>
            <a:r>
              <a:rPr b="1" dirty="0" sz="3600"/>
              <a:t>Johnson v. Lawanson (1971) 1 ANR 56; Owoada v. Omitola (1988) 5 SCNJ 1</a:t>
            </a:r>
            <a:endParaRPr b="1" dirty="0" sz="3600"/>
          </a:p>
          <a:p>
            <a:pPr eaLnBrk="1" hangingPunct="1">
              <a:spcAft>
                <a:spcPts val="1200"/>
              </a:spcAft>
            </a:pPr>
            <a:endParaRPr dirty="0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ROOT OF TITLE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6096000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/>
              <a:t>Document or transaction conferring title on a person (ie, person purporting to be owner of title)</a:t>
            </a:r>
            <a:endParaRPr dirty="0"/>
          </a:p>
          <a:p>
            <a:pPr eaLnBrk="1" hangingPunct="1"/>
            <a:r>
              <a:rPr dirty="0"/>
              <a:t>Document or transaction purporting to be a good root of title must satisfy certain conditions  (</a:t>
            </a:r>
            <a:r>
              <a:rPr b="1" dirty="0"/>
              <a:t>elements of a good root of title</a:t>
            </a:r>
            <a:r>
              <a:rPr dirty="0"/>
              <a:t>);</a:t>
            </a:r>
            <a:endParaRPr dirty="0"/>
          </a:p>
          <a:p>
            <a:pPr eaLnBrk="1" hangingPunct="1" lvl="1"/>
            <a:r>
              <a:rPr dirty="0"/>
              <a:t>(a) must transfer both legal and equitable interest in the ppty</a:t>
            </a:r>
            <a:endParaRPr dirty="0"/>
          </a:p>
          <a:p>
            <a:pPr eaLnBrk="1" hangingPunct="1" lvl="1"/>
            <a:r>
              <a:rPr dirty="0"/>
              <a:t>(b) must sufficiently describe the </a:t>
            </a:r>
            <a:r>
              <a:rPr dirty="0" lang="en-US"/>
              <a:t>h</a:t>
            </a:r>
            <a:r>
              <a:rPr dirty="0" lang="en-US"/>
              <a:t>o</a:t>
            </a:r>
            <a:r>
              <a:rPr dirty="0" lang="en-US"/>
              <a:t>l</a:t>
            </a:r>
            <a:r>
              <a:rPr dirty="0" lang="en-US"/>
              <a:t>d</a:t>
            </a:r>
            <a:r>
              <a:rPr dirty="0" lang="en-US"/>
              <a:t>e</a:t>
            </a:r>
            <a:r>
              <a:rPr dirty="0" lang="en-US"/>
              <a:t>r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nd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h</a:t>
            </a:r>
            <a:r>
              <a:rPr dirty="0" lang="en-US"/>
              <a:t>e</a:t>
            </a:r>
            <a:r>
              <a:rPr dirty="0" lang="en-US"/>
              <a:t> </a:t>
            </a:r>
            <a:r>
              <a:rPr dirty="0"/>
              <a:t>ppty so as to make it easily ascertainable</a:t>
            </a:r>
            <a:endParaRPr dirty="0"/>
          </a:p>
          <a:p>
            <a:pPr eaLnBrk="1" hangingPunct="1" lvl="1"/>
            <a:r>
              <a:rPr dirty="0"/>
              <a:t>(c) must not be subject to a higher interest</a:t>
            </a:r>
            <a:endParaRPr dirty="0"/>
          </a:p>
          <a:p>
            <a:pPr eaLnBrk="1" hangingPunct="1" lvl="1"/>
            <a:r>
              <a:rPr dirty="0"/>
              <a:t>(d) must contain nothing on the face of it that casts doubt on its authenticity</a:t>
            </a:r>
            <a:endParaRPr dirty="0"/>
          </a:p>
          <a:p>
            <a:pPr eaLnBrk="1" hangingPunct="1" lvl="1"/>
            <a:endParaRPr dirty="0"/>
          </a:p>
          <a:p>
            <a:pPr eaLnBrk="1" hangingPunct="1" lvl="1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of a Good Root of Title 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53000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 sz="3600"/>
              <a:t>Duly perfected Deed of Assignment</a:t>
            </a:r>
            <a:endParaRPr dirty="0" sz="3600"/>
          </a:p>
          <a:p>
            <a:pPr eaLnBrk="1" hangingPunct="1"/>
            <a:r>
              <a:rPr dirty="0" sz="3600"/>
              <a:t>Duly perfected Legal Mortgage</a:t>
            </a:r>
            <a:endParaRPr dirty="0" sz="3600"/>
          </a:p>
          <a:p>
            <a:pPr eaLnBrk="1" hangingPunct="1"/>
            <a:r>
              <a:rPr dirty="0" sz="3600"/>
              <a:t>Assent (by personal Representatives)</a:t>
            </a:r>
            <a:r>
              <a:rPr dirty="0" sz="3600" lang="en-US"/>
              <a:t>,</a:t>
            </a:r>
            <a:r>
              <a:rPr dirty="0" sz="3600" lang="en-US"/>
              <a:t> </a:t>
            </a:r>
            <a:r>
              <a:rPr dirty="0" sz="3600" lang="en-US"/>
              <a:t>duly</a:t>
            </a:r>
            <a:r>
              <a:rPr dirty="0" sz="3600" lang="en-US"/>
              <a:t> </a:t>
            </a:r>
            <a:r>
              <a:rPr dirty="0" sz="3600" lang="en-US"/>
              <a:t>perfected</a:t>
            </a:r>
            <a:r>
              <a:rPr dirty="0" sz="3600" lang="en-US"/>
              <a:t>;</a:t>
            </a:r>
            <a:endParaRPr dirty="0" sz="3600"/>
          </a:p>
          <a:p>
            <a:pPr eaLnBrk="1" hangingPunct="1"/>
            <a:r>
              <a:rPr dirty="0" sz="3600"/>
              <a:t>Deed of Gift</a:t>
            </a:r>
            <a:r>
              <a:rPr dirty="0" sz="3600" lang="en-US"/>
              <a:t>,</a:t>
            </a:r>
            <a:r>
              <a:rPr dirty="0" sz="3600" lang="en-US"/>
              <a:t> </a:t>
            </a:r>
            <a:r>
              <a:rPr dirty="0" sz="3600" lang="en-US"/>
              <a:t>d</a:t>
            </a:r>
            <a:r>
              <a:rPr dirty="0" sz="3600" lang="en-US"/>
              <a:t>u</a:t>
            </a:r>
            <a:r>
              <a:rPr dirty="0" sz="3600" lang="en-US"/>
              <a:t>l</a:t>
            </a:r>
            <a:r>
              <a:rPr dirty="0" sz="3600" lang="en-US"/>
              <a:t>y</a:t>
            </a:r>
            <a:r>
              <a:rPr dirty="0" sz="3600" lang="en-US"/>
              <a:t> </a:t>
            </a:r>
            <a:r>
              <a:rPr dirty="0" sz="3600" lang="en-US"/>
              <a:t>p</a:t>
            </a:r>
            <a:r>
              <a:rPr dirty="0" sz="3600" lang="en-US"/>
              <a:t>e</a:t>
            </a:r>
            <a:r>
              <a:rPr dirty="0" sz="3600" lang="en-US"/>
              <a:t>r</a:t>
            </a:r>
            <a:r>
              <a:rPr dirty="0" sz="3600" lang="en-US"/>
              <a:t>f</a:t>
            </a:r>
            <a:r>
              <a:rPr dirty="0" sz="3600" lang="en-US"/>
              <a:t>e</a:t>
            </a:r>
            <a:r>
              <a:rPr dirty="0" sz="3600" lang="en-US"/>
              <a:t>cted</a:t>
            </a:r>
            <a:endParaRPr dirty="0" sz="3600"/>
          </a:p>
          <a:p>
            <a:pPr eaLnBrk="1" hangingPunct="1"/>
            <a:r>
              <a:rPr dirty="0" sz="3600"/>
              <a:t>Vesting Order/Declaration of Court</a:t>
            </a:r>
            <a:r>
              <a:rPr dirty="0" sz="3600" lang="en-US"/>
              <a:t>,</a:t>
            </a:r>
            <a:r>
              <a:rPr dirty="0" sz="3600" lang="en-US"/>
              <a:t> </a:t>
            </a:r>
            <a:r>
              <a:rPr dirty="0" sz="3600" lang="en-US"/>
              <a:t>p</a:t>
            </a:r>
            <a:r>
              <a:rPr dirty="0" sz="3600" lang="en-US"/>
              <a:t>e</a:t>
            </a:r>
            <a:r>
              <a:rPr dirty="0" sz="3600" lang="en-US"/>
              <a:t>r</a:t>
            </a:r>
            <a:r>
              <a:rPr dirty="0" sz="3600" lang="en-US"/>
              <a:t>f</a:t>
            </a:r>
            <a:r>
              <a:rPr dirty="0" sz="3600" lang="en-US"/>
              <a:t>e</a:t>
            </a:r>
            <a:r>
              <a:rPr dirty="0" sz="3600" lang="en-US"/>
              <a:t>c</a:t>
            </a:r>
            <a:r>
              <a:rPr dirty="0" sz="3600" lang="en-US"/>
              <a:t>ted</a:t>
            </a:r>
            <a:r>
              <a:rPr dirty="0" sz="3600" lang="en-US"/>
              <a:t>;</a:t>
            </a:r>
            <a:endParaRPr dirty="0" sz="3600"/>
          </a:p>
          <a:p>
            <a:pPr eaLnBrk="1" hangingPunct="1"/>
            <a:r>
              <a:rPr dirty="0" sz="3600" lang="en-US"/>
              <a:t>C</a:t>
            </a:r>
            <a:r>
              <a:rPr dirty="0" sz="3600" lang="en-US"/>
              <a:t>e</a:t>
            </a:r>
            <a:r>
              <a:rPr dirty="0" sz="3600" lang="en-US"/>
              <a:t>r</a:t>
            </a:r>
            <a:r>
              <a:rPr dirty="0" sz="3600" lang="en-US"/>
              <a:t>t</a:t>
            </a:r>
            <a:r>
              <a:rPr dirty="0" sz="3600" lang="en-US"/>
              <a:t>i</a:t>
            </a:r>
            <a:r>
              <a:rPr dirty="0" sz="3600" lang="en-US"/>
              <a:t>ficate</a:t>
            </a:r>
            <a:r>
              <a:rPr dirty="0" sz="3600" lang="en-US"/>
              <a:t> </a:t>
            </a:r>
            <a:r>
              <a:rPr dirty="0" sz="3600" lang="en-US"/>
              <a:t>of</a:t>
            </a:r>
            <a:r>
              <a:rPr dirty="0" sz="3600" lang="en-US"/>
              <a:t> </a:t>
            </a:r>
            <a:r>
              <a:rPr dirty="0" sz="3600" lang="en-US"/>
              <a:t>T</a:t>
            </a:r>
            <a:r>
              <a:rPr dirty="0" sz="3600" lang="en-US"/>
              <a:t>i</a:t>
            </a:r>
            <a:r>
              <a:rPr dirty="0" sz="3600" lang="en-US"/>
              <a:t>t</a:t>
            </a:r>
            <a:r>
              <a:rPr dirty="0" sz="3600" lang="en-US"/>
              <a:t>le</a:t>
            </a:r>
            <a:r>
              <a:rPr dirty="0" sz="3600" lang="en-US"/>
              <a:t>,</a:t>
            </a:r>
            <a:r>
              <a:rPr dirty="0" sz="3600" lang="en-US"/>
              <a:t> </a:t>
            </a:r>
            <a:r>
              <a:rPr dirty="0" sz="3600" lang="en-US"/>
              <a:t>d</a:t>
            </a:r>
            <a:r>
              <a:rPr dirty="0" sz="3600" lang="en-US"/>
              <a:t>u</a:t>
            </a:r>
            <a:r>
              <a:rPr dirty="0" sz="3600" lang="en-US"/>
              <a:t>ly</a:t>
            </a:r>
            <a:r>
              <a:rPr dirty="0" sz="3600" lang="en-US"/>
              <a:t> </a:t>
            </a:r>
            <a:r>
              <a:rPr dirty="0" sz="3600" lang="en-US"/>
              <a:t>perfected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endParaRPr dirty="0" sz="3600"/>
          </a:p>
          <a:p>
            <a:pPr eaLnBrk="1" hangingPunct="1"/>
            <a:endParaRPr dirty="0" sz="3600"/>
          </a:p>
          <a:p>
            <a:pPr eaLnBrk="1" hangingPunct="1">
              <a:buNone/>
            </a:pPr>
            <a:endParaRPr dirty="0" sz="3600"/>
          </a:p>
          <a:p>
            <a:pPr eaLnBrk="1" hangingPunct="1"/>
            <a:endParaRPr dirty="0" sz="3600"/>
          </a:p>
          <a:p>
            <a:pPr eaLnBrk="1" hangingPunct="1"/>
            <a:endParaRPr dirty="0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of a Bad Root of Title </a:t>
            </a:r>
            <a:endParaRPr baseline="0" b="0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9144000" cy="6248400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/>
              <a:t>Lease</a:t>
            </a:r>
            <a:endParaRPr dirty="0"/>
          </a:p>
          <a:p>
            <a:pPr eaLnBrk="1" hangingPunct="1"/>
            <a:r>
              <a:rPr dirty="0"/>
              <a:t>Equitable mortgage</a:t>
            </a:r>
            <a:endParaRPr dirty="0"/>
          </a:p>
          <a:p>
            <a:pPr eaLnBrk="1" hangingPunct="1"/>
            <a:r>
              <a:rPr dirty="0"/>
              <a:t>Power of Attorney ---</a:t>
            </a:r>
            <a:r>
              <a:rPr dirty="0" sz="2800"/>
              <a:t> Even PA coupled wt consideration does not confer title on Donee. See s.143 PCL; s. 8 CA</a:t>
            </a:r>
            <a:endParaRPr dirty="0" sz="2800"/>
          </a:p>
          <a:p>
            <a:pPr eaLnBrk="1" hangingPunct="1"/>
            <a:r>
              <a:rPr dirty="0"/>
              <a:t>Unregistered Deed of Assignment</a:t>
            </a:r>
            <a:endParaRPr dirty="0"/>
          </a:p>
          <a:p>
            <a:pPr eaLnBrk="1" hangingPunct="1"/>
            <a:r>
              <a:rPr dirty="0"/>
              <a:t>Certificate of Occupancy</a:t>
            </a:r>
            <a:endParaRPr dirty="0"/>
          </a:p>
          <a:p>
            <a:pPr eaLnBrk="1" hangingPunct="1" lvl="1"/>
            <a:r>
              <a:rPr dirty="0"/>
              <a:t>Note that C of O may constitute a good root of title in the following situations:</a:t>
            </a:r>
            <a:endParaRPr dirty="0"/>
          </a:p>
          <a:p>
            <a:pPr eaLnBrk="1" hangingPunct="1" lvl="2"/>
            <a:r>
              <a:rPr dirty="0" sz="2800"/>
              <a:t>Where apart from the C of O, the holder has other means of proving title to the ppty</a:t>
            </a:r>
            <a:endParaRPr dirty="0" sz="2800"/>
          </a:p>
          <a:p>
            <a:pPr eaLnBrk="1" hangingPunct="1" lvl="2"/>
            <a:r>
              <a:rPr dirty="0" sz="2800"/>
              <a:t>Where it given in respect of a state grant -- See </a:t>
            </a:r>
            <a:r>
              <a:rPr b="1" dirty="0" sz="2800"/>
              <a:t>Ogunleye v. Oni; Osho v. Foreign Finance Corpn</a:t>
            </a:r>
            <a:endParaRPr dirty="0" sz="2800"/>
          </a:p>
          <a:p>
            <a:pPr eaLnBrk="1" hangingPunct="1"/>
            <a:endParaRPr dirty="0" sz="2800"/>
          </a:p>
          <a:p>
            <a:pPr eaLnBrk="1" hangingPunct="1"/>
            <a:endParaRPr dirty="0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/</a:t>
            </a:r>
            <a:r>
              <a:rPr lang="en-US"/>
              <a:t>NEED</a:t>
            </a:r>
            <a:r>
              <a:rPr lang="en-US"/>
              <a:t> </a:t>
            </a:r>
            <a:r>
              <a:rPr lang="en-US"/>
              <a:t>TO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GATE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LE</a:t>
            </a:r>
            <a:endParaRPr lang="en-US"/>
          </a:p>
        </p:txBody>
      </p:sp>
      <p:sp>
        <p:nvSpPr>
          <p:cNvPr id="1048730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1. It protects the future marketability of the property.</a:t>
            </a:r>
            <a:endParaRPr lang="en-US"/>
          </a:p>
          <a:p>
            <a:r>
              <a:rPr lang="en-US"/>
              <a:t>2. It enables the client to make an informed decision on whether or not to proceed with the transaction.</a:t>
            </a:r>
            <a:endParaRPr lang="en-US"/>
          </a:p>
          <a:p>
            <a:r>
              <a:rPr lang="en-US"/>
              <a:t>3. It enables the purchaser verify the authenticity of documents furnished by the vendor</a:t>
            </a:r>
            <a:endParaRPr lang="en-US"/>
          </a:p>
          <a:p>
            <a:r>
              <a:rPr lang="en-US"/>
              <a:t>4. 	It is essential to ensure that the purchaser enjoys quiet possession of the property, free from encumbrances</a:t>
            </a:r>
            <a:endParaRPr lang="en-US"/>
          </a:p>
          <a:p>
            <a:r>
              <a:rPr lang="en-US"/>
              <a:t>5. 	It is essential to confirm the claims of the vendor; for instance, the right to convey the property. </a:t>
            </a:r>
            <a:endParaRPr lang="en-US"/>
          </a:p>
          <a:p>
            <a:r>
              <a:rPr lang="en-US"/>
              <a:t>6. 	In the case of family land, it is essential to ensure that the requisite consent was sought.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732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4. 	It is essential to ensure that the purchaser enjoys quiet possession of the property</a:t>
            </a:r>
            <a:endParaRPr lang="en-US"/>
          </a:p>
          <a:p>
            <a:r>
              <a:rPr lang="en-US"/>
              <a:t>5. .	It is essential to confirm the claims of the vendor; for instance, the right to convey the property. </a:t>
            </a:r>
            <a:endParaRPr lang="en-US"/>
          </a:p>
          <a:p>
            <a:r>
              <a:rPr lang="en-US"/>
              <a:t>6. In the case of family land, it is essential to ensure that the requisite consent was sought.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/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9144000" cy="11430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PROCEDURE FOR INVESTIGATION OF TITLE</a:t>
            </a:r>
            <a:endParaRPr baseline="0" b="1" cap="none" dirty="0" sz="3200" i="0" kern="1200" kumimoji="0" lang="en-US" noProof="0" normalizeH="0" spc="-100" strike="noStrike" u="none" smtClean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9144000" cy="5257800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l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aseline="0" b="1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Steps that may be taken during investigation</a:t>
            </a:r>
            <a:r>
              <a:rPr baseline="0" b="1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baseline="0" b="1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baseline="0" b="1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685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 purchaser or his solicitor collects </a:t>
            </a:r>
            <a:r>
              <a:rPr baseline="0" b="1" cap="none" dirty="0" sz="4000" i="0" kern="1200" kumimoji="0" lang="en-US" noProof="0" normalizeH="0" spc="0" strike="noStrike" u="sng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epitome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baseline="0" b="1" cap="none" dirty="0" sz="4000" i="0" kern="1200" kumimoji="0" lang="en-US" noProof="0" normalizeH="0" spc="0" strike="noStrike" u="sng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abstract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title from the vendor or his solicitor</a:t>
            </a:r>
            <a:endParaRPr baseline="0" b="1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285750" latinLnBrk="0" lvl="1" marL="740410" marR="0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</a:pPr>
            <a:endParaRPr baseline="0" b="0" cap="none" dirty="0" sz="36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"/>
          <p:cNvSpPr>
            <a:spLocks noGrp="1"/>
          </p:cNvSpPr>
          <p:nvPr>
            <p:ph idx="1"/>
          </p:nvPr>
        </p:nvSpPr>
        <p:spPr>
          <a:xfrm rot="21561684">
            <a:off x="441376" y="174432"/>
            <a:ext cx="8229600" cy="6070562"/>
          </a:xfrm>
        </p:spPr>
        <p:txBody>
          <a:bodyPr/>
          <a:p>
            <a:pPr indent="0" marL="0">
              <a:buNone/>
            </a:pPr>
            <a:r>
              <a:rPr sz="4000" lang="en-US"/>
              <a:t>(</a:t>
            </a:r>
            <a:r>
              <a:rPr sz="4000" lang="en-US"/>
              <a:t>2</a:t>
            </a:r>
            <a:r>
              <a:rPr sz="4000" lang="en-US"/>
              <a:t>)</a:t>
            </a:r>
            <a:r>
              <a:rPr sz="4000" lang="en-US"/>
              <a:t>.</a:t>
            </a:r>
            <a:r>
              <a:rPr sz="4000" lang="en-US"/>
              <a:t> </a:t>
            </a:r>
            <a:r>
              <a:rPr sz="4000" lang="en-US"/>
              <a:t> </a:t>
            </a:r>
            <a:r>
              <a:rPr sz="4000" lang="en-US"/>
              <a:t>E</a:t>
            </a:r>
            <a:r>
              <a:rPr sz="4000" lang="en-US"/>
              <a:t>x</a:t>
            </a:r>
            <a:r>
              <a:rPr sz="4000" lang="en-US"/>
              <a:t>a</a:t>
            </a:r>
            <a:r>
              <a:rPr sz="4000" lang="en-US"/>
              <a:t>m</a:t>
            </a:r>
            <a:r>
              <a:rPr sz="4000" lang="en-US"/>
              <a:t>i</a:t>
            </a:r>
            <a:r>
              <a:rPr sz="4000" lang="en-US"/>
              <a:t>n</a:t>
            </a:r>
            <a:r>
              <a:rPr sz="4000" lang="en-US"/>
              <a:t>a</a:t>
            </a:r>
            <a:r>
              <a:rPr sz="4000" lang="en-US"/>
              <a:t>tion</a:t>
            </a:r>
            <a:r>
              <a:rPr sz="4000" lang="en-US"/>
              <a:t> </a:t>
            </a:r>
            <a:r>
              <a:rPr sz="4000" lang="en-US"/>
              <a:t>of</a:t>
            </a:r>
            <a:r>
              <a:rPr sz="4000" lang="en-US"/>
              <a:t> </a:t>
            </a:r>
            <a:r>
              <a:rPr sz="4000" lang="en-US"/>
              <a:t>Abstracted</a:t>
            </a:r>
            <a:r>
              <a:rPr sz="4000" lang="en-US"/>
              <a:t> </a:t>
            </a:r>
            <a:r>
              <a:rPr sz="4000" lang="en-US"/>
              <a:t>D</a:t>
            </a:r>
            <a:r>
              <a:rPr sz="4000" lang="en-US"/>
              <a:t>o</a:t>
            </a:r>
            <a:r>
              <a:rPr sz="4000" lang="en-US"/>
              <a:t>c</a:t>
            </a:r>
            <a:r>
              <a:rPr sz="4000" lang="en-US"/>
              <a:t>u</a:t>
            </a:r>
            <a:r>
              <a:rPr sz="4000" lang="en-US"/>
              <a:t>ments</a:t>
            </a:r>
            <a:r>
              <a:rPr sz="4000" lang="en-US"/>
              <a:t>.</a:t>
            </a:r>
            <a:endParaRPr sz="4000" lang="en-US"/>
          </a:p>
          <a:p>
            <a:pPr indent="0" marL="0"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Physical inspection of the </a:t>
            </a:r>
            <a:r>
              <a:rPr baseline="0" b="0" cap="none" dirty="0" sz="4000" i="0" kern="1200" kumimoji="0" lang="en-US" noProof="0" normalizeH="0" spc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ppty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</a:t>
            </a:r>
            <a:endParaRPr sz="4000" lang="en-US"/>
          </a:p>
          <a:p>
            <a:pPr algn="l" defTabSz="914400" eaLnBrk="1" fontAlgn="auto" hangingPunct="1" indent="-228600" latinLnBrk="0" lvl="2" marL="996950" marR="0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Font typeface="Wingdings 2" panose="05020102010507070707"/>
              <a:buChar char="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 the need for physical inspection</a:t>
            </a:r>
            <a:r>
              <a:rPr baseline="0" b="1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caveat emptor; patent defects; physical condition; easements; boundaries; whether </a:t>
            </a:r>
            <a:r>
              <a:rPr baseline="0" b="0" cap="none" dirty="0" sz="40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other person is in possession; etc</a:t>
            </a:r>
            <a:endParaRPr sz="40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/>
      </p:grpSpPr>
      <p:sp>
        <p:nvSpPr>
          <p:cNvPr id="1048609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8991600" cy="6629400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just" defTabSz="914400" eaLnBrk="1" fontAlgn="auto" hangingPunct="1" indent="0" latinLnBrk="0" lvl="1" marL="45466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None/>
            </a:pP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just" defTabSz="914400" eaLnBrk="1" fontAlgn="auto" hangingPunct="1" indent="0" latinLnBrk="0" lvl="1" marL="45466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4)	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Conduct search in the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vant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depending on the circumstance ---- CAC registry; probate registry; court registry, etc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just" defTabSz="914400" eaLnBrk="1" fontAlgn="auto" hangingPunct="1" indent="0" latinLnBrk="0" lvl="1" marL="45466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nvestigation of famil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y/traditional 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1" marL="120015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aseline="0" b="0" cap="none" dirty="0" sz="36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 (if need be)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1" marL="45720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6)	Raise requisitions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where necessary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itio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1" marL="45720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 a Search Report ----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</a:t>
            </a:r>
            <a:r>
              <a:rPr lang="en-US"/>
              <a:t>O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T</a:t>
            </a:r>
            <a:r>
              <a:rPr lang="en-US"/>
              <a:t>ER</a:t>
            </a:r>
            <a:endParaRPr lang="en-US"/>
          </a:p>
        </p:txBody>
      </p:sp>
      <p:sp>
        <p:nvSpPr>
          <p:cNvPr id="1048614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ssary</a:t>
            </a:r>
            <a:endParaRPr lang="en-US"/>
          </a:p>
          <a:p>
            <a:r>
              <a:rPr lang="en-US"/>
              <a:t>Draft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8814" cy="689996"/>
          </a:xfrm>
        </p:spPr>
        <p:txBody>
          <a:bodyPr/>
          <a:p>
            <a:r>
              <a:rPr lang="en-US"/>
              <a:t>Completion</a:t>
            </a:r>
            <a:endParaRPr lang="en-US"/>
          </a:p>
        </p:txBody>
      </p:sp>
      <p:sp>
        <p:nvSpPr>
          <p:cNvPr id="1048616" name=""/>
          <p:cNvSpPr>
            <a:spLocks noGrp="1"/>
          </p:cNvSpPr>
          <p:nvPr>
            <p:ph idx="1"/>
          </p:nvPr>
        </p:nvSpPr>
        <p:spPr>
          <a:xfrm rot="13846">
            <a:off x="301477" y="1756003"/>
            <a:ext cx="8229600" cy="4443744"/>
          </a:xfrm>
        </p:spPr>
        <p:txBody>
          <a:bodyPr/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Features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rocedure for completion;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iculars of instructions required to draft Deed of Assignment;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Drafting of Deed of Assignment.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Effect of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ompletion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/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COMPLETION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715000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 sz="3600"/>
              <a:t>Legal interest passes to the purchaser/assignee at the conclusion of the completion stage, subject to perfection</a:t>
            </a:r>
            <a:endParaRPr dirty="0" sz="3600"/>
          </a:p>
          <a:p>
            <a:pPr eaLnBrk="1" hangingPunct="1"/>
            <a:r>
              <a:rPr dirty="0" sz="3600"/>
              <a:t>Completion may be conducted by the parties personally or by their agents or even by post</a:t>
            </a:r>
            <a:endParaRPr dirty="0" sz="3600"/>
          </a:p>
          <a:p>
            <a:pPr eaLnBrk="1" hangingPunct="1"/>
            <a:r>
              <a:rPr dirty="0" sz="3600"/>
              <a:t>Completion is done in vendor`s solicitors office. Pls note </a:t>
            </a:r>
            <a:r>
              <a:rPr b="1" dirty="0" sz="3600"/>
              <a:t>Rule 22 RPC, 2007</a:t>
            </a:r>
            <a:r>
              <a:rPr dirty="0" sz="3600"/>
              <a:t>: it shouldn`t be in purchaser`s or vendor`s house</a:t>
            </a:r>
            <a:endParaRPr dirty="0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/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8229600" cy="884238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PROCEDURE FOR COMPLETION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915400" cy="5943600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Purchaser`s Solicitor prepares the conveyance (Deed of Assignment) &amp; sends the same to vendor`s Solicitor for vetting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solicitor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"/>
          <p:cNvSpPr>
            <a:spLocks noGrp="1"/>
          </p:cNvSpPr>
          <p:nvPr>
            <p:ph idx="1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Vendor`s Solicitor prepares the Completion Statement &amp; sends the same to Purchaser`s Solicitor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receipt of Completion Statement, Purchaser`s Solicitor forwards a copy to purchaser and asks for draft for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payment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balance of purchase price (&amp; maybe balance of professional fees)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/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808038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6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COMPLETION PROCEDURE  (CONTD)</a:t>
            </a:r>
            <a:endParaRPr baseline="0" b="1" cap="none" dirty="0" sz="36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 rot="11601">
            <a:off x="376675" y="971464"/>
            <a:ext cx="8637870" cy="5727493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Parties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witnesse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Vendor`s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olicitor`s office,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 following 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place: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payment of balance of purchase price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already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</a:pPr>
            <a:r>
              <a:rPr baseline="0" b="0" cap="none" dirty="0" sz="36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b)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Deed of Assignment is executed by parties &amp; their witnesses (&amp; copies distributed)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285750" latinLnBrk="0" lvl="1" marL="74041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None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c)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Vendor`s solicitor will then hand over the following documents to purchaser`s solicitor (see next page)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</a:pP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/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839200" cy="1143000"/>
          </a:xfrm>
        </p:spPr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Documents 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`s Solicitor will need to collect from 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</a:t>
            </a: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r`s Solicitor during Completion</a:t>
            </a:r>
            <a:endParaRPr baseline="0" b="1" cap="none" dirty="0" sz="32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-76200" y="1828800"/>
            <a:ext cx="9144000" cy="5257800"/>
          </a:xfrm>
        </p:spPr>
        <p:txBody>
          <a:bodyPr anchor="t" anchorCtr="0" bIns="45720" lIns="91440" rIns="91440" tIns="45720" vert="horz" wrap="square"/>
          <a:p>
            <a:pPr eaLnBrk="1" hangingPunct="1" indent="-571500" lvl="2" marL="1485900">
              <a:spcBef>
                <a:spcPct val="0"/>
              </a:spcBef>
              <a:buFont typeface="Wingdings 2" panose="05020102010507070707" pitchFamily="18" charset="2"/>
              <a:buAutoNum type="romanLcParenR"/>
            </a:pPr>
            <a:r>
              <a:rPr dirty="0" sz="4000" lang="en-US"/>
              <a:t>R</a:t>
            </a:r>
            <a:r>
              <a:rPr dirty="0" sz="4000" lang="en-US"/>
              <a:t>e</a:t>
            </a:r>
            <a:r>
              <a:rPr dirty="0" sz="4000" lang="en-US"/>
              <a:t>l</a:t>
            </a:r>
            <a:r>
              <a:rPr dirty="0" sz="4000" lang="en-US"/>
              <a:t>e</a:t>
            </a:r>
            <a:r>
              <a:rPr dirty="0" sz="4000" lang="en-US"/>
              <a:t>vant</a:t>
            </a:r>
            <a:r>
              <a:rPr dirty="0" sz="4000" lang="en-US"/>
              <a:t> </a:t>
            </a:r>
            <a:r>
              <a:rPr dirty="0" sz="4000" lang="en-US"/>
              <a:t>n</a:t>
            </a:r>
            <a:r>
              <a:rPr dirty="0" sz="4000" lang="en-US"/>
              <a:t>u</a:t>
            </a:r>
            <a:r>
              <a:rPr dirty="0" sz="4000" lang="en-US"/>
              <a:t>m</a:t>
            </a:r>
            <a:r>
              <a:rPr dirty="0" sz="4000" lang="en-US"/>
              <a:t>ber</a:t>
            </a:r>
            <a:r>
              <a:rPr dirty="0" sz="4000" lang="en-US"/>
              <a:t> </a:t>
            </a:r>
            <a:r>
              <a:rPr dirty="0" sz="4000" lang="en-US"/>
              <a:t>o</a:t>
            </a:r>
            <a:r>
              <a:rPr dirty="0" sz="4000" lang="en-US"/>
              <a:t>f</a:t>
            </a:r>
            <a:r>
              <a:rPr dirty="0" sz="4000" lang="en-US"/>
              <a:t> </a:t>
            </a:r>
            <a:r>
              <a:rPr dirty="0" sz="4000"/>
              <a:t>copies of the executed Deed of </a:t>
            </a:r>
            <a:r>
              <a:rPr dirty="0" sz="4000" lang="en-US"/>
              <a:t>A</a:t>
            </a:r>
            <a:r>
              <a:rPr dirty="0" sz="4000"/>
              <a:t>ssignment</a:t>
            </a:r>
            <a:endParaRPr dirty="0" sz="4000"/>
          </a:p>
          <a:p>
            <a:pPr eaLnBrk="1" hangingPunct="1" indent="-571500" lvl="2" marL="1485900">
              <a:spcBef>
                <a:spcPct val="0"/>
              </a:spcBef>
              <a:buFont typeface="Wingdings 2" panose="05020102010507070707" pitchFamily="18" charset="2"/>
              <a:buAutoNum type="romanLcParenR"/>
            </a:pPr>
            <a:r>
              <a:rPr dirty="0" sz="4000"/>
              <a:t>Original copies of </a:t>
            </a:r>
            <a:r>
              <a:rPr dirty="0" sz="4000" lang="en-US"/>
              <a:t>r</a:t>
            </a:r>
            <a:r>
              <a:rPr dirty="0" sz="4000" lang="en-US"/>
              <a:t>e</a:t>
            </a:r>
            <a:r>
              <a:rPr dirty="0" sz="4000" lang="en-US"/>
              <a:t>l</a:t>
            </a:r>
            <a:r>
              <a:rPr dirty="0" sz="4000" lang="en-US"/>
              <a:t>e</a:t>
            </a:r>
            <a:r>
              <a:rPr dirty="0" sz="4000" lang="en-US"/>
              <a:t>vant</a:t>
            </a:r>
            <a:r>
              <a:rPr dirty="0" sz="4000"/>
              <a:t> title documents</a:t>
            </a:r>
            <a:endParaRPr dirty="0" sz="4000"/>
          </a:p>
          <a:p>
            <a:pPr eaLnBrk="1" hangingPunct="1" indent="-571500" lvl="2" marL="1485900">
              <a:spcBef>
                <a:spcPct val="0"/>
              </a:spcBef>
              <a:buFont typeface="Wingdings 2" panose="05020102010507070707" pitchFamily="18" charset="2"/>
              <a:buAutoNum type="romanLcParenR"/>
            </a:pPr>
            <a:r>
              <a:rPr dirty="0" sz="4000"/>
              <a:t>Receipt of payment of (balance of ) purchase price</a:t>
            </a:r>
            <a:endParaRPr dirty="0" sz="4000"/>
          </a:p>
          <a:p>
            <a:pPr eaLnBrk="1" hangingPunct="1" indent="-571500" lvl="2" marL="1485900">
              <a:spcBef>
                <a:spcPct val="0"/>
              </a:spcBef>
              <a:buFont typeface="Wingdings 2" panose="05020102010507070707" pitchFamily="18" charset="2"/>
              <a:buAutoNum type="romanLcParenR"/>
            </a:pPr>
            <a:r>
              <a:rPr dirty="0" sz="4000"/>
              <a:t>Letter of introduction (if  tenants in occupation)</a:t>
            </a:r>
            <a:endParaRPr dirty="0" sz="4000"/>
          </a:p>
          <a:p>
            <a:pPr eaLnBrk="1" hangingPunct="1">
              <a:buFont typeface="Wingdings" panose="05000000000000000000" pitchFamily="2" charset="2"/>
              <a:buAutoNum type="romanLcParenR"/>
            </a:pPr>
            <a:endParaRPr dirty="0" sz="4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DOCUMENTS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D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28" name="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indent="0" lvl="2" marL="914400">
              <a:spcBef>
                <a:spcPct val="0"/>
              </a:spcBef>
              <a:buNone/>
            </a:pPr>
            <a:r>
              <a:rPr dirty="0" sz="3600" lang="en-US"/>
              <a:t>(</a:t>
            </a:r>
            <a:r>
              <a:rPr dirty="0" sz="3600" lang="en-US"/>
              <a:t>v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Key to the house (if ppty is developed)</a:t>
            </a:r>
            <a:endParaRPr dirty="0" sz="3600"/>
          </a:p>
          <a:p>
            <a:pPr eaLnBrk="1" hangingPunct="1" indent="0" lvl="2" marL="914400">
              <a:spcBef>
                <a:spcPct val="0"/>
              </a:spcBef>
              <a:buNone/>
            </a:pPr>
            <a:r>
              <a:rPr dirty="0" sz="3600" lang="en-US"/>
              <a:t>(</a:t>
            </a:r>
            <a:r>
              <a:rPr dirty="0" sz="3600" lang="en-US"/>
              <a:t>v</a:t>
            </a:r>
            <a:r>
              <a:rPr dirty="0" sz="3600" lang="en-US"/>
              <a:t>i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Receipts of  payment of all outgoings</a:t>
            </a:r>
            <a:endParaRPr dirty="0" sz="3600"/>
          </a:p>
          <a:p>
            <a:pPr eaLnBrk="1" hangingPunct="1" indent="0" lvl="2" marL="914400">
              <a:spcBef>
                <a:spcPct val="0"/>
              </a:spcBef>
              <a:buNone/>
            </a:pPr>
            <a:r>
              <a:rPr dirty="0" sz="3600" lang="en-US"/>
              <a:t>(</a:t>
            </a:r>
            <a:r>
              <a:rPr dirty="0" sz="3600" lang="en-US"/>
              <a:t>v</a:t>
            </a:r>
            <a:r>
              <a:rPr dirty="0" sz="3600" lang="en-US"/>
              <a:t>i</a:t>
            </a:r>
            <a:r>
              <a:rPr dirty="0" sz="3600" lang="en-US"/>
              <a:t>i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Notice of assignment of insurance policy (if any)</a:t>
            </a:r>
            <a:endParaRPr dirty="0" sz="3600"/>
          </a:p>
          <a:p>
            <a:pPr eaLnBrk="1" hangingPunct="1" indent="0" lvl="2" marL="914400">
              <a:spcBef>
                <a:spcPct val="0"/>
              </a:spcBef>
              <a:buNone/>
            </a:pPr>
            <a:r>
              <a:rPr dirty="0" sz="3600" lang="en-US"/>
              <a:t>(</a:t>
            </a:r>
            <a:r>
              <a:rPr dirty="0" sz="3600" lang="en-US"/>
              <a:t>v</a:t>
            </a:r>
            <a:r>
              <a:rPr dirty="0" sz="3600" lang="en-US"/>
              <a:t>i</a:t>
            </a:r>
            <a:r>
              <a:rPr dirty="0" sz="3600" lang="en-US"/>
              <a:t>i</a:t>
            </a:r>
            <a:r>
              <a:rPr dirty="0" sz="3600" lang="en-US"/>
              <a:t>i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Approved building plan (if ppty is developed)</a:t>
            </a:r>
            <a:endParaRPr dirty="0"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DOCUMENTS (CONTD</a:t>
            </a:r>
            <a:r>
              <a:rPr lang="en-US"/>
              <a:t> </a:t>
            </a:r>
            <a:r>
              <a:rPr lang="en-US"/>
              <a:t>3</a:t>
            </a:r>
            <a:r>
              <a:rPr lang="en-US"/>
              <a:t>) </a:t>
            </a:r>
            <a:endParaRPr lang="en-US"/>
          </a:p>
        </p:txBody>
      </p:sp>
      <p:sp>
        <p:nvSpPr>
          <p:cNvPr id="1048630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sz="4000" lang="en-US"/>
              <a:t>(</a:t>
            </a:r>
            <a:r>
              <a:rPr sz="4000" lang="en-US"/>
              <a:t>i</a:t>
            </a:r>
            <a:r>
              <a:rPr sz="4000" lang="en-US"/>
              <a:t>x</a:t>
            </a:r>
            <a:r>
              <a:rPr sz="4000" lang="en-US"/>
              <a:t>)</a:t>
            </a:r>
            <a:r>
              <a:rPr sz="4000" lang="en-US"/>
              <a:t>. </a:t>
            </a:r>
            <a:r>
              <a:rPr sz="4000" lang="en-US"/>
              <a:t>S</a:t>
            </a:r>
            <a:r>
              <a:rPr sz="4000" lang="en-US"/>
              <a:t>u</a:t>
            </a:r>
            <a:r>
              <a:rPr sz="4000" lang="en-US"/>
              <a:t>r</a:t>
            </a:r>
            <a:r>
              <a:rPr sz="4000" lang="en-US"/>
              <a:t>v</a:t>
            </a:r>
            <a:r>
              <a:rPr sz="4000" lang="en-US"/>
              <a:t>e</a:t>
            </a:r>
            <a:r>
              <a:rPr sz="4000" lang="en-US"/>
              <a:t>y</a:t>
            </a:r>
            <a:r>
              <a:rPr sz="4000" lang="en-US"/>
              <a:t> </a:t>
            </a:r>
            <a:r>
              <a:rPr sz="4000" lang="en-US"/>
              <a:t>Plan</a:t>
            </a:r>
            <a:endParaRPr sz="4000" lang="en-US"/>
          </a:p>
          <a:p>
            <a:pPr indent="0" marL="0">
              <a:buNone/>
            </a:pPr>
            <a:r>
              <a:rPr sz="4000" lang="en-US"/>
              <a:t>(</a:t>
            </a:r>
            <a:r>
              <a:rPr sz="4000" lang="en-US"/>
              <a:t>x</a:t>
            </a:r>
            <a:r>
              <a:rPr sz="4000" lang="en-US"/>
              <a:t>)</a:t>
            </a:r>
            <a:r>
              <a:rPr sz="4000" lang="en-US"/>
              <a:t>.</a:t>
            </a:r>
            <a:r>
              <a:rPr sz="4000" lang="en-US"/>
              <a:t> </a:t>
            </a:r>
            <a:r>
              <a:rPr sz="4000" lang="en-US"/>
              <a:t>O</a:t>
            </a:r>
            <a:r>
              <a:rPr sz="4000" lang="en-US"/>
              <a:t>t</a:t>
            </a:r>
            <a:r>
              <a:rPr sz="4000" lang="en-US"/>
              <a:t>h</a:t>
            </a:r>
            <a:r>
              <a:rPr sz="4000" lang="en-US"/>
              <a:t>e</a:t>
            </a:r>
            <a:r>
              <a:rPr sz="4000" lang="en-US"/>
              <a:t>r</a:t>
            </a:r>
            <a:r>
              <a:rPr sz="4000" lang="en-US"/>
              <a:t> </a:t>
            </a:r>
            <a:r>
              <a:rPr sz="4000" lang="en-US"/>
              <a:t>r</a:t>
            </a:r>
            <a:r>
              <a:rPr sz="4000" lang="en-US"/>
              <a:t>e</a:t>
            </a:r>
            <a:r>
              <a:rPr sz="4000" lang="en-US"/>
              <a:t>l</a:t>
            </a:r>
            <a:r>
              <a:rPr sz="4000" lang="en-US"/>
              <a:t>e</a:t>
            </a:r>
            <a:r>
              <a:rPr sz="4000" lang="en-US"/>
              <a:t>v</a:t>
            </a:r>
            <a:r>
              <a:rPr sz="4000" lang="en-US"/>
              <a:t>a</a:t>
            </a:r>
            <a:r>
              <a:rPr sz="4000" lang="en-US"/>
              <a:t>nt</a:t>
            </a:r>
            <a:r>
              <a:rPr sz="4000" lang="en-US"/>
              <a:t> </a:t>
            </a:r>
            <a:r>
              <a:rPr sz="4000" lang="en-US"/>
              <a:t>d</a:t>
            </a:r>
            <a:r>
              <a:rPr sz="4000" lang="en-US"/>
              <a:t>o</a:t>
            </a:r>
            <a:r>
              <a:rPr sz="4000" lang="en-US"/>
              <a:t>c</a:t>
            </a:r>
            <a:r>
              <a:rPr sz="4000" lang="en-US"/>
              <a:t>u</a:t>
            </a:r>
            <a:r>
              <a:rPr sz="4000" lang="en-US"/>
              <a:t>ments</a:t>
            </a:r>
            <a:endParaRPr sz="400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d</a:t>
            </a:r>
            <a:r>
              <a:rPr lang="en-US"/>
              <a:t>ure</a:t>
            </a:r>
            <a:r>
              <a:rPr lang="en-US"/>
              <a:t> </a:t>
            </a:r>
            <a:r>
              <a:rPr lang="en-US"/>
              <a:t>for</a:t>
            </a:r>
            <a:r>
              <a:rPr lang="en-US"/>
              <a:t> </a:t>
            </a:r>
            <a:r>
              <a:rPr lang="en-US"/>
              <a:t>Completion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d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32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4000" lang="en-US"/>
              <a:t>STEP 7</a:t>
            </a:r>
            <a:r>
              <a:rPr sz="4000" lang="en-US"/>
              <a:t>:</a:t>
            </a:r>
            <a:r>
              <a:rPr sz="4000" lang="en-US"/>
              <a:t> </a:t>
            </a:r>
            <a:r>
              <a:rPr sz="4000" lang="en-US"/>
              <a:t>need for </a:t>
            </a:r>
            <a:r>
              <a:rPr sz="4000" lang="en-US"/>
              <a:t>assignee</a:t>
            </a:r>
            <a:r>
              <a:rPr sz="4000" lang="en-US"/>
              <a:t>` s solicitor to quickly examine the original documents </a:t>
            </a:r>
            <a:r>
              <a:rPr sz="4000" lang="en-US"/>
              <a:t>a</a:t>
            </a:r>
            <a:r>
              <a:rPr sz="4000" lang="en-US"/>
              <a:t>t</a:t>
            </a:r>
            <a:r>
              <a:rPr sz="4000" lang="en-US"/>
              <a:t> </a:t>
            </a:r>
            <a:r>
              <a:rPr sz="4000" lang="en-US"/>
              <a:t>t</a:t>
            </a:r>
            <a:r>
              <a:rPr sz="4000" lang="en-US"/>
              <a:t>h</a:t>
            </a:r>
            <a:r>
              <a:rPr sz="4000" lang="en-US"/>
              <a:t>e</a:t>
            </a:r>
            <a:r>
              <a:rPr sz="4000" lang="en-US"/>
              <a:t> </a:t>
            </a:r>
            <a:r>
              <a:rPr sz="4000" lang="en-US"/>
              <a:t>end</a:t>
            </a:r>
            <a:r>
              <a:rPr sz="4000" lang="en-US"/>
              <a:t> </a:t>
            </a:r>
            <a:r>
              <a:rPr sz="4000" lang="en-US"/>
              <a:t>of</a:t>
            </a:r>
            <a:r>
              <a:rPr sz="4000" lang="en-US"/>
              <a:t> </a:t>
            </a:r>
            <a:r>
              <a:rPr sz="4000" lang="en-US"/>
              <a:t>completion, to ensure correctness, and that signatures  &amp; information in copies correspond with those in the original copies</a:t>
            </a:r>
            <a:endParaRPr sz="4000"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/>
      </p:grpSpPr>
      <p:sp>
        <p:nvSpPr>
          <p:cNvPr id="104863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458200" cy="6248400"/>
          </a:xfrm>
        </p:spPr>
        <p:txBody>
          <a:bodyPr anchor="t" anchorCtr="0" bIns="45720" lIns="91440" rIns="91440" tIns="45720" vert="horz" wrap="square"/>
          <a:p>
            <a:pPr eaLnBrk="1" hangingPunct="1"/>
            <a:endParaRPr dirty="0" sz="4400"/>
          </a:p>
          <a:p>
            <a:pPr eaLnBrk="1" hangingPunct="1"/>
            <a:r>
              <a:rPr dirty="0" sz="4400"/>
              <a:t>Even though during completion, legal title is conferred on the purchaser at common law, yet this legal title remains inchoate until title is duly perfected --- ss. 22 &amp; 26 of LUA</a:t>
            </a:r>
            <a:endParaRPr dirty="0" sz="4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Post-Completion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P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ion</a:t>
            </a:r>
            <a:r>
              <a:rPr lang="en-US"/>
              <a:t> </a:t>
            </a:r>
            <a:r>
              <a:rPr lang="en-US"/>
              <a:t>of</a:t>
            </a:r>
            <a:r>
              <a:rPr lang="en-US"/>
              <a:t> </a:t>
            </a:r>
            <a:r>
              <a:rPr lang="en-US"/>
              <a:t>Title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35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4000" lang="en-US"/>
              <a:t>N</a:t>
            </a:r>
            <a:r>
              <a:rPr sz="4000" lang="en-US"/>
              <a:t>e</a:t>
            </a:r>
            <a:r>
              <a:rPr sz="4000" lang="en-US"/>
              <a:t>e</a:t>
            </a:r>
            <a:r>
              <a:rPr sz="4000" lang="en-US"/>
              <a:t>d</a:t>
            </a:r>
            <a:r>
              <a:rPr sz="4000" lang="en-US"/>
              <a:t> </a:t>
            </a:r>
            <a:r>
              <a:rPr sz="4000" lang="en-US"/>
              <a:t>f</a:t>
            </a:r>
            <a:r>
              <a:rPr sz="4000" lang="en-US"/>
              <a:t>or</a:t>
            </a:r>
            <a:endParaRPr sz="4000" lang="en-US"/>
          </a:p>
          <a:p>
            <a:r>
              <a:rPr sz="4000" lang="en-US"/>
              <a:t>P</a:t>
            </a:r>
            <a:r>
              <a:rPr sz="4000" lang="en-US"/>
              <a:t>r</a:t>
            </a:r>
            <a:r>
              <a:rPr sz="4000" lang="en-US"/>
              <a:t>o</a:t>
            </a:r>
            <a:r>
              <a:rPr sz="4000" lang="en-US"/>
              <a:t>c</a:t>
            </a:r>
            <a:r>
              <a:rPr sz="4000" lang="en-US"/>
              <a:t>e</a:t>
            </a:r>
            <a:r>
              <a:rPr sz="4000" lang="en-US"/>
              <a:t>d</a:t>
            </a:r>
            <a:r>
              <a:rPr sz="4000" lang="en-US"/>
              <a:t>ure</a:t>
            </a:r>
            <a:r>
              <a:rPr sz="4000" lang="en-US"/>
              <a:t>;</a:t>
            </a:r>
            <a:endParaRPr sz="4000" lang="en-US"/>
          </a:p>
          <a:p>
            <a:r>
              <a:rPr sz="4000" lang="en-US"/>
              <a:t>Effect of failure to perfect title;</a:t>
            </a:r>
            <a:endParaRPr sz="4000" lang="en-US"/>
          </a:p>
          <a:p>
            <a:r>
              <a:rPr sz="4000" lang="en-US"/>
              <a:t>R</a:t>
            </a:r>
            <a:r>
              <a:rPr sz="4000" lang="en-US"/>
              <a:t>e</a:t>
            </a:r>
            <a:r>
              <a:rPr sz="4000" lang="en-US"/>
              <a:t>l</a:t>
            </a:r>
            <a:r>
              <a:rPr sz="4000" lang="en-US"/>
              <a:t>evant</a:t>
            </a:r>
            <a:r>
              <a:rPr sz="4000" lang="en-US"/>
              <a:t> documents required</a:t>
            </a:r>
            <a:r>
              <a:rPr lang="en-US"/>
              <a:t>.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/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POST OCMPLETION </a:t>
            </a:r>
            <a:b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(PREFECTION OF TITLE)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 bIns="45720" compatLnSpc="1" lIns="91440" numCol="1" rIns="91440" tIns="45720" vert="horz" wrap="square">
            <a:normAutofit/>
          </a:bodyPr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ORDER OF PERFECTION</a:t>
            </a:r>
            <a:endParaRPr baseline="0" b="1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Governor`s consent 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(See ss. 22 &amp; 26 of Land use Act)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Stamping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-- See </a:t>
            </a:r>
            <a:r>
              <a:rPr baseline="0" b="0" cap="none" dirty="0" sz="3600" i="0" kern="1200" kumimoji="0" lang="en-US" noProof="0" normalizeH="0" spc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23 &amp; 28 of Stamp Duties Act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742950" latinLnBrk="0" lvl="0" marL="7429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arenR"/>
            </a:pPr>
            <a:r>
              <a:rPr baseline="0" b="1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Registration</a:t>
            </a: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See s. 2 of LIRL</a:t>
            </a:r>
            <a:endParaRPr baseline="0" b="0" cap="none" dirty="0" sz="36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/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9144000" cy="884238"/>
          </a:xfrm>
        </p:spPr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6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Documents Required to Process Gov`s Consent</a:t>
            </a:r>
            <a:endParaRPr baseline="0" b="1" cap="none" dirty="0" sz="36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9144000" cy="6172200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eriod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Covering Letter (in lawyer`s letter headed paper)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eriod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Duly completed application for Governor`s consent Form 1c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eriod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 yrs tax clearance of the parties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eriod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vant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number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copies of Deed of Assignment (title deeds)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rabicPeriod"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Evidence of payment of ground rent (if not developed)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40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MENTS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2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41" name=""/>
          <p:cNvSpPr>
            <a:spLocks noGrp="1"/>
          </p:cNvSpPr>
          <p:nvPr>
            <p:ph idx="1"/>
          </p:nvPr>
        </p:nvSpPr>
        <p:spPr/>
        <p:txBody>
          <a:bodyPr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Evidence of payment of tenement rate (if dev)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Evidence of payment of Development levy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Receipt of payment of Consent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charting &amp; endorsement fees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Approved building plan (if </a:t>
            </a:r>
            <a:r>
              <a:rPr baseline="0" b="0" cap="none" dirty="0" sz="4000" i="0" kern="1200" kumimoji="0" lang="en-US" noProof="0" normalizeH="0" spc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ppty</a:t>
            </a:r>
            <a:r>
              <a:rPr baseline="0" b="0" cap="none" dirty="0" sz="4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developed)</a:t>
            </a:r>
            <a:endParaRPr baseline="0" b="0" cap="none" dirty="0" sz="4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ments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3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43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sz="4400" lang="en-US"/>
              <a:t>(</a:t>
            </a:r>
            <a:r>
              <a:rPr sz="4400" lang="en-US"/>
              <a:t>1</a:t>
            </a:r>
            <a:r>
              <a:rPr sz="4400" lang="en-US"/>
              <a:t>0</a:t>
            </a:r>
            <a:r>
              <a:rPr sz="4400" lang="en-US"/>
              <a:t>)</a:t>
            </a:r>
            <a:r>
              <a:rPr sz="4400" lang="en-US"/>
              <a:t>.</a:t>
            </a:r>
            <a:r>
              <a:rPr sz="4400" lang="en-US"/>
              <a:t> </a:t>
            </a:r>
            <a:r>
              <a:rPr sz="4400" lang="en-US"/>
              <a:t>S</a:t>
            </a:r>
            <a:r>
              <a:rPr sz="4400" lang="en-US"/>
              <a:t>u</a:t>
            </a:r>
            <a:r>
              <a:rPr sz="4400" lang="en-US"/>
              <a:t>r</a:t>
            </a:r>
            <a:r>
              <a:rPr sz="4400" lang="en-US"/>
              <a:t>v</a:t>
            </a:r>
            <a:r>
              <a:rPr sz="4400" lang="en-US"/>
              <a:t>e</a:t>
            </a:r>
            <a:r>
              <a:rPr sz="4400" lang="en-US"/>
              <a:t>y</a:t>
            </a:r>
            <a:r>
              <a:rPr sz="4400" lang="en-US"/>
              <a:t> </a:t>
            </a:r>
            <a:r>
              <a:rPr sz="4400" lang="en-US"/>
              <a:t>plan</a:t>
            </a:r>
            <a:endParaRPr sz="4400" lang="en-US"/>
          </a:p>
          <a:p>
            <a:pPr indent="0" marL="0">
              <a:buNone/>
            </a:pPr>
            <a:endParaRPr sz="440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/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6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Additional Requirements Where one of the parties is a Corporate body</a:t>
            </a:r>
            <a:endParaRPr baseline="0" b="1" cap="none" dirty="0" sz="36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914400" y="1677035"/>
            <a:ext cx="7772400" cy="5257165"/>
          </a:xfrm>
        </p:spPr>
        <p:txBody>
          <a:bodyPr anchor="t" anchorCtr="0" bIns="45720" lIns="91440" rIns="91440" tIns="45720" vert="horz" wrap="square"/>
          <a:p>
            <a:pPr eaLnBrk="1" hangingPunct="1" indent="0" marL="0">
              <a:buNone/>
            </a:pPr>
            <a:r>
              <a:rPr dirty="0" sz="3600" lang="en-US"/>
              <a:t>(</a:t>
            </a:r>
            <a:r>
              <a:rPr dirty="0" sz="3600" lang="en-US"/>
              <a:t>1</a:t>
            </a:r>
            <a:r>
              <a:rPr dirty="0" sz="3600" lang="en-US"/>
              <a:t>2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CTC of Certificate of Incorporation</a:t>
            </a:r>
            <a:endParaRPr dirty="0" sz="3600"/>
          </a:p>
          <a:p>
            <a:pPr eaLnBrk="1" hangingPunct="1" indent="0" marL="0">
              <a:buNone/>
            </a:pPr>
            <a:r>
              <a:rPr dirty="0" sz="3600" lang="en-US"/>
              <a:t>(</a:t>
            </a:r>
            <a:r>
              <a:rPr dirty="0" sz="3600" lang="en-US"/>
              <a:t>1</a:t>
            </a:r>
            <a:r>
              <a:rPr dirty="0" sz="3600" lang="en-US"/>
              <a:t>3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CTC of Memo &amp; Articles of association</a:t>
            </a:r>
            <a:endParaRPr dirty="0" sz="3600"/>
          </a:p>
          <a:p>
            <a:pPr eaLnBrk="1" hangingPunct="1" indent="0" marL="0">
              <a:buNone/>
            </a:pPr>
            <a:r>
              <a:rPr dirty="0" sz="3600" lang="en-US"/>
              <a:t>(</a:t>
            </a:r>
            <a:r>
              <a:rPr dirty="0" sz="3600" lang="en-US"/>
              <a:t>1</a:t>
            </a:r>
            <a:r>
              <a:rPr dirty="0" sz="3600" lang="en-US"/>
              <a:t>4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 lang="en-US"/>
              <a:t> </a:t>
            </a:r>
            <a:r>
              <a:rPr dirty="0" sz="3600"/>
              <a:t>CTC of Form of Particulars of Directors (Form CAC  ….)</a:t>
            </a:r>
            <a:endParaRPr dirty="0" sz="3600"/>
          </a:p>
          <a:p>
            <a:pPr eaLnBrk="1" hangingPunct="1" indent="0" marL="0">
              <a:buNone/>
            </a:pPr>
            <a:r>
              <a:rPr dirty="0" sz="3600" lang="en-US"/>
              <a:t>(</a:t>
            </a:r>
            <a:r>
              <a:rPr dirty="0" sz="3600" lang="en-US"/>
              <a:t>1</a:t>
            </a:r>
            <a:r>
              <a:rPr dirty="0" sz="3600" lang="en-US"/>
              <a:t>5</a:t>
            </a:r>
            <a:r>
              <a:rPr dirty="0" sz="3600" lang="en-US"/>
              <a:t>)</a:t>
            </a:r>
            <a:r>
              <a:rPr dirty="0" sz="3600" lang="en-US"/>
              <a:t>.</a:t>
            </a:r>
            <a:r>
              <a:rPr dirty="0" sz="3600"/>
              <a:t>Tax Clearance of Directors (at least 2 of the directors)</a:t>
            </a:r>
            <a:endParaRPr dirty="0"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/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8229600" cy="11430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8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Stamping</a:t>
            </a:r>
            <a:endParaRPr baseline="0" b="1" cap="none" dirty="0" sz="48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534400" cy="5410200"/>
          </a:xfrm>
        </p:spPr>
        <p:txBody>
          <a:bodyPr anchor="t" anchorCtr="0" bIns="45720" compatLnSpc="1" lIns="91440" numCol="1" rIns="91440" tIns="45720" vert="horz" wrap="square">
            <a:noAutofit/>
          </a:bodyPr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Must be Done within 30 days of execution of Deed of assignment</a:t>
            </a:r>
            <a:endParaRPr baseline="0" b="0" cap="none" dirty="0" sz="36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6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Stamp Duty is paid</a:t>
            </a:r>
            <a:r>
              <a:rPr baseline="0" b="0" cap="none" dirty="0" sz="36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ad valorem – ss. 23 &amp; 28 </a:t>
            </a:r>
            <a:r>
              <a:rPr baseline="0" b="0" cap="none" dirty="0" sz="3600" i="1" kern="1200" kumimoji="0" lang="en-US" noProof="0" normalizeH="0" spc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</a:t>
            </a:r>
            <a:r>
              <a:rPr baseline="0" b="0" cap="none" dirty="0" sz="36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Stamp Duties Act</a:t>
            </a:r>
            <a:endParaRPr baseline="0" b="0" cap="none" dirty="0" sz="3600" i="1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1" cap="none" dirty="0" sz="36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Effects of failure to Stamp</a:t>
            </a:r>
            <a:endParaRPr baseline="0" b="1" cap="none" dirty="0" sz="3600" i="1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lphaLcParenR"/>
            </a:pP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 not admissible in evidence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prove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</a:t>
            </a:r>
            <a:endParaRPr baseline="0" b="0" cap="none" dirty="0" sz="3200" i="1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lphaLcParenR"/>
            </a:pP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Late stamping attracts penalty</a:t>
            </a:r>
            <a:endParaRPr baseline="0" b="0" cap="none" dirty="0" sz="3200" i="1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514350" latinLnBrk="0" lvl="0" marL="51435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AutoNum type="alphaLcParenR"/>
            </a:pPr>
            <a:r>
              <a:rPr baseline="0" b="0" cap="none" dirty="0" sz="3200" i="1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 would not be accepted for registration</a:t>
            </a:r>
            <a:endParaRPr baseline="0" b="0" cap="none" dirty="0" sz="3200" i="1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/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91440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8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Registration</a:t>
            </a:r>
            <a:endParaRPr baseline="0" b="1" cap="none" dirty="0" sz="48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49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 anchor="t" anchorCtr="0" bIns="45720" compatLnSpc="1" lIns="91440" numCol="1" rIns="91440" tIns="45720" vert="horz" wrap="square">
            <a:normAutofit lnSpcReduction="10000"/>
          </a:bodyPr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Registration is compulsory for Deed of </a:t>
            </a: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ssignment – s.2 LIRL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Must apply for registration within 60 days 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Submission of Survey Plan is compulsory for registration. See s.9 LIRL --- note when survey plan may be dispensed with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S. 10 LIRL requires that instrument submitted for registration must have Governor`s consent endorsed on it (where consent is required)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 must have been stamped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30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/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2130"/>
          </a:xfrm>
        </p:spPr>
        <p:txBody>
          <a:bodyPr anchor="t" vert="horz">
            <a:norm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EFFECTS OF NON-REGISTRATION</a:t>
            </a:r>
            <a:endParaRPr baseline="0" b="1" cap="none" dirty="0" sz="3200" i="0" kern="1200" kumimoji="0" lang="en-US" noProof="0" normalizeH="0" spc="-100" strike="noStrike" u="none" smtClean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32190" cy="5530215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 sz="3600"/>
              <a:t>An Unregistered d</a:t>
            </a:r>
            <a:r>
              <a:rPr dirty="0" sz="3600" i="1"/>
              <a:t>ocument is not admissible in evidence </a:t>
            </a:r>
            <a:r>
              <a:rPr b="1" dirty="0" sz="3600" i="1"/>
              <a:t>to prove title</a:t>
            </a:r>
            <a:r>
              <a:rPr dirty="0" sz="3600" i="1"/>
              <a:t> – s. 15 LIRL. But docu is admissible to prove agreement and payment of money – See </a:t>
            </a:r>
            <a:r>
              <a:rPr b="1" dirty="0" sz="3600" i="1"/>
              <a:t>Ogunbambi .v Abowaba (1951) 13 WACA 222. </a:t>
            </a:r>
            <a:r>
              <a:rPr dirty="0" sz="3600" i="1"/>
              <a:t>; </a:t>
            </a:r>
            <a:r>
              <a:rPr b="1" dirty="0" sz="3600" i="1"/>
              <a:t>Agwunede v. Onwumere </a:t>
            </a:r>
            <a:r>
              <a:rPr dirty="0" sz="3600" i="1"/>
              <a:t>[1994] 1 SCNJ 106</a:t>
            </a:r>
            <a:endParaRPr b="1" dirty="0" sz="3600" i="1"/>
          </a:p>
          <a:p>
            <a:pPr eaLnBrk="1" hangingPunct="1"/>
            <a:r>
              <a:rPr dirty="0" sz="3600" i="1"/>
              <a:t>Late registration attracts penalty</a:t>
            </a:r>
            <a:endParaRPr dirty="0" sz="3600" i="1"/>
          </a:p>
          <a:p>
            <a:pPr eaLnBrk="1" hangingPunct="1"/>
            <a:r>
              <a:rPr dirty="0" sz="3600" i="1"/>
              <a:t>Document may lose priority against subsequent instruments that are registered, since registration governs priority</a:t>
            </a:r>
            <a:endParaRPr dirty="0" sz="3600" i="1"/>
          </a:p>
          <a:p>
            <a:pPr eaLnBrk="1" hangingPunct="1"/>
            <a:endParaRPr dirty="0" sz="3600" i="1"/>
          </a:p>
          <a:p>
            <a:pPr eaLnBrk="1" hangingPunct="1"/>
            <a:endParaRPr dirty="0" sz="3600" i="1"/>
          </a:p>
          <a:p>
            <a:pPr eaLnBrk="1" hangingPunct="1" lvl="1">
              <a:buNone/>
            </a:pPr>
            <a:endParaRPr dirty="0" sz="3600" i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EFFEC</a:t>
            </a:r>
            <a:r>
              <a:rPr lang="en-US"/>
              <a:t>T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G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2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53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Non-registration may in some instances render entire transaction void – Onashile v. Idowu (1961) All NLR (pt 2) 313; Onashile v. Barclays Bank DCO (1963) 1 all NLR 370. Eg, in Lagos under the LRL, 2015</a:t>
            </a:r>
            <a:endParaRPr lang="en-US"/>
          </a:p>
          <a:p>
            <a:r>
              <a:rPr lang="en-US"/>
              <a:t>Registration is constructive notice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/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914400"/>
          </a:xfrm>
        </p:spPr>
        <p:txBody>
          <a:bodyPr anchor="t" vert="horz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2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WHEN SUBMISSION OF SURVEY PLAN IS UNNECESSARY FOR REGISTRATION</a:t>
            </a:r>
            <a:endParaRPr baseline="0" b="1" cap="none" dirty="0" sz="3200" i="0" kern="1200" kumimoji="0" lang="en-US" noProof="0" normalizeH="0" spc="-100" strike="noStrike" u="none" smtClean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763000" cy="4876800"/>
          </a:xfrm>
        </p:spPr>
        <p:txBody>
          <a:bodyPr anchor="t" anchorCtr="0" bIns="45720" lIns="91440" rIns="91440" tIns="45720" vert="horz" wrap="square"/>
          <a:p>
            <a:pPr eaLnBrk="1" hangingPunct="1"/>
            <a:r>
              <a:rPr dirty="0" sz="2800"/>
              <a:t>Where in the Deed sought to be registered, reference is made to an earlier </a:t>
            </a:r>
            <a:r>
              <a:rPr b="1" dirty="0" sz="2800"/>
              <a:t>registered</a:t>
            </a:r>
            <a:r>
              <a:rPr dirty="0" sz="2800"/>
              <a:t> Deed containing a survey – </a:t>
            </a:r>
            <a:r>
              <a:rPr b="1" dirty="0" sz="2800"/>
              <a:t>Amadi v. Orisakwe </a:t>
            </a:r>
            <a:r>
              <a:rPr dirty="0" sz="2400"/>
              <a:t>(2005) 7 NWLR (pt 924) 385</a:t>
            </a:r>
            <a:endParaRPr dirty="0" sz="2800"/>
          </a:p>
          <a:p>
            <a:pPr eaLnBrk="1" hangingPunct="1"/>
            <a:r>
              <a:rPr dirty="0" sz="2800"/>
              <a:t>Where parcel clause refers to schedule which contains adequate description of the ppty</a:t>
            </a:r>
            <a:endParaRPr dirty="0" sz="2800"/>
          </a:p>
          <a:p>
            <a:pPr eaLnBrk="1" hangingPunct="1"/>
            <a:r>
              <a:rPr dirty="0" sz="2800"/>
              <a:t>Where it is in Form 7 under RTL, which contains particular of the ppty – see s. 31 RTL; </a:t>
            </a:r>
            <a:r>
              <a:rPr b="1" dirty="0" sz="2800"/>
              <a:t>Onagoruwa v. Akinremi </a:t>
            </a:r>
            <a:r>
              <a:rPr dirty="0" sz="2400"/>
              <a:t>(2001) 13 NWLR (pt 729) 38</a:t>
            </a:r>
            <a:endParaRPr dirty="0" sz="2400"/>
          </a:p>
          <a:p>
            <a:pPr eaLnBrk="1" hangingPunct="1"/>
            <a:r>
              <a:rPr dirty="0" sz="2400"/>
              <a:t>𝙽</a:t>
            </a:r>
            <a:r>
              <a:rPr dirty="0" sz="2400"/>
              <a:t>𝙾</a:t>
            </a:r>
            <a:r>
              <a:rPr dirty="0" sz="2400"/>
              <a:t>𝚃</a:t>
            </a:r>
            <a:r>
              <a:rPr dirty="0" sz="2400"/>
              <a:t>𝙴</a:t>
            </a:r>
            <a:r>
              <a:rPr dirty="0" sz="2400" lang="en-US"/>
              <a:t>:</a:t>
            </a:r>
            <a:r>
              <a:rPr dirty="0" sz="2400" lang="en-US"/>
              <a:t> </a:t>
            </a:r>
            <a:r>
              <a:rPr dirty="0" sz="2400" lang="en-US"/>
              <a:t>I</a:t>
            </a:r>
            <a:r>
              <a:rPr dirty="0" sz="2400" lang="en-US"/>
              <a:t>n</a:t>
            </a:r>
            <a:r>
              <a:rPr dirty="0" sz="2400" lang="en-US"/>
              <a:t> </a:t>
            </a:r>
            <a:r>
              <a:rPr dirty="0" sz="2400" lang="en-US"/>
              <a:t>Lagos</a:t>
            </a:r>
            <a:r>
              <a:rPr dirty="0" sz="2400" lang="en-US"/>
              <a:t>,</a:t>
            </a:r>
            <a:r>
              <a:rPr dirty="0" sz="2400" lang="en-US"/>
              <a:t> </a:t>
            </a:r>
            <a:r>
              <a:rPr dirty="0" sz="2400" lang="en-US"/>
              <a:t>u</a:t>
            </a:r>
            <a:r>
              <a:rPr dirty="0" sz="2400" lang="en-US"/>
              <a:t>n</a:t>
            </a:r>
            <a:r>
              <a:rPr dirty="0" sz="2400" lang="en-US"/>
              <a:t>d</a:t>
            </a:r>
            <a:r>
              <a:rPr dirty="0" sz="2400" lang="en-US"/>
              <a:t>e</a:t>
            </a:r>
            <a:r>
              <a:rPr dirty="0" sz="2400" lang="en-US"/>
              <a:t>r</a:t>
            </a:r>
            <a:r>
              <a:rPr dirty="0" sz="2400" lang="en-US"/>
              <a:t> </a:t>
            </a:r>
            <a:r>
              <a:rPr dirty="0" sz="2400" lang="en-US"/>
              <a:t>t</a:t>
            </a:r>
            <a:r>
              <a:rPr dirty="0" sz="2400" lang="en-US"/>
              <a:t>h</a:t>
            </a:r>
            <a:r>
              <a:rPr dirty="0" sz="2400" lang="en-US"/>
              <a:t>e</a:t>
            </a:r>
            <a:r>
              <a:rPr dirty="0" sz="2400" lang="en-US"/>
              <a:t> </a:t>
            </a:r>
            <a:r>
              <a:rPr dirty="0" sz="2400" lang="en-US"/>
              <a:t>L</a:t>
            </a:r>
            <a:r>
              <a:rPr dirty="0" sz="2400" lang="en-US"/>
              <a:t>R</a:t>
            </a:r>
            <a:r>
              <a:rPr dirty="0" sz="2400" lang="en-US"/>
              <a:t>L</a:t>
            </a:r>
            <a:r>
              <a:rPr dirty="0" sz="2400" lang="en-US"/>
              <a:t>,</a:t>
            </a:r>
            <a:r>
              <a:rPr dirty="0" sz="2400" lang="en-US"/>
              <a:t> </a:t>
            </a:r>
            <a:r>
              <a:rPr dirty="0" sz="2400" lang="en-US"/>
              <a:t>s</a:t>
            </a:r>
            <a:r>
              <a:rPr dirty="0" sz="2400" lang="en-US"/>
              <a:t>u</a:t>
            </a:r>
            <a:r>
              <a:rPr dirty="0" sz="2400" lang="en-US"/>
              <a:t>r</a:t>
            </a:r>
            <a:r>
              <a:rPr dirty="0" sz="2400" lang="en-US"/>
              <a:t>v</a:t>
            </a:r>
            <a:r>
              <a:rPr dirty="0" sz="2400" lang="en-US"/>
              <a:t>e</a:t>
            </a:r>
            <a:r>
              <a:rPr dirty="0" sz="2400" lang="en-US"/>
              <a:t>y</a:t>
            </a:r>
            <a:r>
              <a:rPr dirty="0" sz="2400" lang="en-US"/>
              <a:t> </a:t>
            </a:r>
            <a:r>
              <a:rPr dirty="0" sz="2400" lang="en-US"/>
              <a:t>p</a:t>
            </a:r>
            <a:r>
              <a:rPr dirty="0" sz="2400" lang="en-US"/>
              <a:t>l</a:t>
            </a:r>
            <a:r>
              <a:rPr dirty="0" sz="2400" lang="en-US"/>
              <a:t>a</a:t>
            </a:r>
            <a:r>
              <a:rPr dirty="0" sz="2400" lang="en-US"/>
              <a:t>n</a:t>
            </a:r>
            <a:r>
              <a:rPr dirty="0" sz="2400" lang="en-US"/>
              <a:t> </a:t>
            </a:r>
            <a:r>
              <a:rPr dirty="0" sz="2400" lang="en-US"/>
              <a:t>i</a:t>
            </a:r>
            <a:r>
              <a:rPr dirty="0" sz="2400" lang="en-US"/>
              <a:t>s</a:t>
            </a:r>
            <a:r>
              <a:rPr dirty="0" sz="2400" lang="en-US"/>
              <a:t> </a:t>
            </a:r>
            <a:r>
              <a:rPr dirty="0" sz="2400" lang="en-US"/>
              <a:t>a</a:t>
            </a:r>
            <a:r>
              <a:rPr dirty="0" sz="2400" lang="en-US"/>
              <a:t> </a:t>
            </a:r>
            <a:r>
              <a:rPr dirty="0" sz="2400" lang="en-US"/>
              <a:t>m</a:t>
            </a:r>
            <a:r>
              <a:rPr dirty="0" sz="2400" lang="en-US"/>
              <a:t>a</a:t>
            </a:r>
            <a:r>
              <a:rPr dirty="0" sz="2400" lang="en-US"/>
              <a:t>n</a:t>
            </a:r>
            <a:r>
              <a:rPr dirty="0" sz="2400" lang="en-US"/>
              <a:t>d</a:t>
            </a:r>
            <a:r>
              <a:rPr dirty="0" sz="2400" lang="en-US"/>
              <a:t>a</a:t>
            </a:r>
            <a:r>
              <a:rPr dirty="0" sz="2400" lang="en-US"/>
              <a:t>tory</a:t>
            </a:r>
            <a:r>
              <a:rPr dirty="0" sz="2400" lang="en-US"/>
              <a:t> </a:t>
            </a:r>
            <a:r>
              <a:rPr dirty="0" sz="2400" lang="en-US"/>
              <a:t>r</a:t>
            </a:r>
            <a:r>
              <a:rPr dirty="0" sz="2400" lang="en-US"/>
              <a:t>e</a:t>
            </a:r>
            <a:r>
              <a:rPr dirty="0" sz="2400" lang="en-US"/>
              <a:t>q</a:t>
            </a:r>
            <a:r>
              <a:rPr dirty="0" sz="2400" lang="en-US"/>
              <a:t>u</a:t>
            </a:r>
            <a:r>
              <a:rPr dirty="0" sz="2400" lang="en-US"/>
              <a:t>i</a:t>
            </a:r>
            <a:r>
              <a:rPr dirty="0" sz="2400" lang="en-US"/>
              <a:t>r</a:t>
            </a:r>
            <a:r>
              <a:rPr dirty="0" sz="2400" lang="en-US"/>
              <a:t>e</a:t>
            </a:r>
            <a:r>
              <a:rPr dirty="0" sz="2400" lang="en-US"/>
              <a:t>m</a:t>
            </a:r>
            <a:r>
              <a:rPr dirty="0" sz="2400" lang="en-US"/>
              <a:t>ent</a:t>
            </a:r>
            <a:r>
              <a:rPr dirty="0" sz="2400" lang="en-US"/>
              <a:t>:</a:t>
            </a:r>
            <a:r>
              <a:rPr dirty="0" sz="2400" lang="en-US"/>
              <a:t> </a:t>
            </a:r>
            <a:r>
              <a:rPr baseline="0" b="0" cap="none" dirty="0" sz="24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See s.9 LIRL </a:t>
            </a:r>
            <a:endParaRPr dirty="0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/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144000" cy="1143000"/>
          </a:xfrm>
        </p:spPr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28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PARTICULARS OF INFORMATION/INSTRUCTIONS REQUIRED TO DRAFT A DEED OF ASSIGNMENT</a:t>
            </a:r>
            <a:endParaRPr baseline="0" b="1" cap="none" dirty="0" sz="2800" i="0" kern="1200" kumimoji="0" lang="en-US" noProof="0" normalizeH="0" spc="-100" strike="noStrike" u="none" smtClean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5029200"/>
          </a:xfrm>
        </p:spPr>
        <p:txBody>
          <a:bodyPr anchor="t" anchorCtr="0" bIns="45720" compatLnSpc="1" lIns="91440" numCol="1" rIns="91440" tIns="45720" vert="horz" wrap="square">
            <a:normAutofit/>
          </a:bodyPr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Names &amp; address of parties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Particulars of witnesses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Particulars of the property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Consideration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Capacity of vendor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Quantum of interest conveyed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Other terms/conditions agreed upon (if any)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Whether any party is illiterate, blind, corporate body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r>
              <a:rPr baseline="0" b="0" cap="none" dirty="0" sz="30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Etc</a:t>
            </a:r>
            <a:endParaRPr baseline="0" b="0" cap="none" dirty="0" sz="30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l" defTabSz="914400" eaLnBrk="1" fontAlgn="auto" hangingPunct="1" indent="-342900" latinLnBrk="0" lvl="0" marL="411480" marR="0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</a:pPr>
            <a:endParaRPr baseline="0" b="0" cap="none" dirty="0" sz="30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/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36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DRAFTING DEED OF ASSIGNMENT</a:t>
            </a:r>
            <a:endParaRPr baseline="0" b="1" cap="none" dirty="0" sz="3600" i="0" kern="1200" kumimoji="0" lang="en-US" noProof="0" normalizeH="0" spc="-100" strike="noStrike" u="none" smtClean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 bIns="45720" lIns="91440" rIns="91440" tIns="45720" vert="horz" wrap="square"/>
          <a:p>
            <a:pPr eaLnBrk="1" hangingPunct="1"/>
            <a:r>
              <a:rPr dirty="0"/>
              <a:t>See the draft Deed of assignment attached</a:t>
            </a:r>
            <a:endParaRPr dirty="0"/>
          </a:p>
          <a:p>
            <a:pPr eaLnBrk="1" hangingPunct="1"/>
            <a:r>
              <a:rPr dirty="0"/>
              <a:t>Every student must know be able to draft Deed of Assignment to professional standard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/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 anchor="t" vert="horz">
            <a:noAutofit/>
          </a:bodyPr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4000" i="0" kern="1200" kumimoji="0" lang="en-US" noProof="0" normalizeH="0" spc="-100" strike="noStrike" u="none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DRAFTING A SEARCH REPORT</a:t>
            </a:r>
            <a:endParaRPr baseline="0" b="1" cap="none" dirty="0" sz="4000" i="0" kern="1200" kumimoji="0" lang="en-US" noProof="0" normalizeH="0" spc="-100" strike="noStrike" u="none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48661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 bIns="45720" lIns="91440" rIns="91440" tIns="45720" vert="horz" wrap="square"/>
          <a:p>
            <a:pPr eaLnBrk="1" hangingPunct="1"/>
            <a:r>
              <a:rPr dirty="0"/>
              <a:t>SEE THE ATTACHED COPY OF SEARCH REPORT</a:t>
            </a:r>
            <a:endParaRPr dirty="0"/>
          </a:p>
          <a:p>
            <a:pPr eaLnBrk="1" hangingPunct="1"/>
            <a:r>
              <a:rPr dirty="0"/>
              <a:t>Every student must know be able to draft Search Report to professional standard</a:t>
            </a:r>
            <a:endParaRPr dirty="0"/>
          </a:p>
          <a:p>
            <a:pPr eaLnBrk="1" hangingPunct="1"/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UES</a:t>
            </a:r>
            <a:endParaRPr lang="en-US"/>
          </a:p>
        </p:txBody>
      </p:sp>
      <p:sp>
        <p:nvSpPr>
          <p:cNvPr id="1048663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Ethical</a:t>
            </a:r>
            <a:r>
              <a:rPr lang="en-US"/>
              <a:t> </a:t>
            </a:r>
            <a:r>
              <a:rPr lang="en-US"/>
              <a:t>issues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i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ng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r</a:t>
            </a:r>
            <a:r>
              <a:rPr lang="en-US"/>
              <a:t>om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g</a:t>
            </a:r>
            <a:r>
              <a:rPr lang="en-US"/>
              <a:t>a</a:t>
            </a:r>
            <a:r>
              <a:rPr lang="en-US"/>
              <a:t>tion</a:t>
            </a:r>
            <a:r>
              <a:rPr lang="en-US"/>
              <a:t>: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g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nce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c</a:t>
            </a:r>
            <a:endParaRPr lang="en-US"/>
          </a:p>
          <a:p>
            <a:r>
              <a:rPr lang="en-US"/>
              <a:t>D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g</a:t>
            </a:r>
            <a:r>
              <a:rPr lang="en-US"/>
              <a:t>ence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de</a:t>
            </a:r>
            <a:r>
              <a:rPr lang="en-US"/>
              <a:t>d</a:t>
            </a:r>
            <a:r>
              <a:rPr lang="en-US"/>
              <a:t>i</a:t>
            </a:r>
            <a:r>
              <a:rPr lang="en-US"/>
              <a:t>cation</a:t>
            </a:r>
            <a:endParaRPr lang="en-US"/>
          </a:p>
          <a:p>
            <a:r>
              <a:rPr lang="en-US"/>
              <a:t>Competenc</a:t>
            </a:r>
            <a:r>
              <a:rPr lang="en-US"/>
              <a:t>e</a:t>
            </a:r>
            <a:endParaRPr lang="en-US"/>
          </a:p>
          <a:p>
            <a:r>
              <a:rPr lang="en-US"/>
              <a:t>Pro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nd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i</a:t>
            </a:r>
            <a:r>
              <a:rPr lang="en-US"/>
              <a:t>v</a:t>
            </a:r>
            <a:r>
              <a:rPr lang="en-US"/>
              <a:t>i</a:t>
            </a:r>
            <a:r>
              <a:rPr lang="en-US"/>
              <a:t>lege</a:t>
            </a:r>
            <a:endParaRPr lang="en-US"/>
          </a:p>
          <a:p>
            <a:r>
              <a:rPr lang="en-US"/>
              <a:t>Respect</a:t>
            </a:r>
            <a:r>
              <a:rPr lang="en-US"/>
              <a:t> </a:t>
            </a:r>
            <a:r>
              <a:rPr lang="en-US"/>
              <a:t>for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w</a:t>
            </a:r>
            <a:endParaRPr lang="en-US"/>
          </a:p>
          <a:p>
            <a:r>
              <a:rPr lang="en-US"/>
              <a:t>T</a:t>
            </a:r>
            <a:r>
              <a:rPr lang="en-US"/>
              <a:t>a</a:t>
            </a:r>
            <a:r>
              <a:rPr lang="en-US"/>
              <a:t>x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v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ion</a:t>
            </a:r>
            <a:endParaRPr lang="en-US"/>
          </a:p>
          <a:p>
            <a:r>
              <a:rPr lang="en-US"/>
              <a:t>Sh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p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ices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ICAL</a:t>
            </a:r>
            <a:r>
              <a:rPr lang="en-US"/>
              <a:t> </a:t>
            </a:r>
            <a:r>
              <a:rPr lang="en-US"/>
              <a:t>ISSUES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2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65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nt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p</a:t>
            </a:r>
            <a:r>
              <a:rPr lang="en-US"/>
              <a:t>d</a:t>
            </a:r>
            <a:r>
              <a:rPr lang="en-US"/>
              <a:t>a</a:t>
            </a:r>
            <a:r>
              <a:rPr lang="en-US"/>
              <a:t>te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nt</a:t>
            </a:r>
            <a:endParaRPr lang="en-US"/>
          </a:p>
          <a:p>
            <a:r>
              <a:rPr lang="en-US"/>
              <a:t>C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r</a:t>
            </a:r>
            <a:r>
              <a:rPr lang="en-US"/>
              <a:t>y</a:t>
            </a:r>
            <a:r>
              <a:rPr lang="en-US"/>
              <a:t>i</a:t>
            </a:r>
            <a:r>
              <a:rPr lang="en-US"/>
              <a:t>ng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nts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ng</a:t>
            </a:r>
            <a:endParaRPr lang="en-US"/>
          </a:p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p</a:t>
            </a:r>
            <a:r>
              <a:rPr lang="en-US"/>
              <a:t>are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ments</a:t>
            </a:r>
            <a:r>
              <a:rPr lang="en-US"/>
              <a:t> </a:t>
            </a:r>
            <a:r>
              <a:rPr lang="en-US"/>
              <a:t>to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ional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a</a:t>
            </a:r>
            <a:r>
              <a:rPr lang="en-US"/>
              <a:t>rds</a:t>
            </a:r>
            <a:endParaRPr lang="en-US"/>
          </a:p>
          <a:p>
            <a:r>
              <a:rPr lang="en-US"/>
              <a:t>Punctuality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e</a:t>
            </a:r>
            <a:r>
              <a:rPr lang="en-US"/>
              <a:t>tings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g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ations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etc</a:t>
            </a:r>
            <a:endParaRPr lang="en-US"/>
          </a:p>
          <a:p>
            <a:r>
              <a:rPr lang="en-US"/>
              <a:t>A</a:t>
            </a:r>
            <a:r>
              <a:rPr lang="en-US"/>
              <a:t>v</a:t>
            </a:r>
            <a:r>
              <a:rPr lang="en-US"/>
              <a:t>o</a:t>
            </a:r>
            <a:r>
              <a:rPr lang="en-US"/>
              <a:t>i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ct</a:t>
            </a:r>
            <a:r>
              <a:rPr lang="en-US"/>
              <a:t> </a:t>
            </a:r>
            <a:r>
              <a:rPr lang="en-US"/>
              <a:t>of</a:t>
            </a:r>
            <a:r>
              <a:rPr lang="en-US"/>
              <a:t> </a:t>
            </a:r>
            <a:r>
              <a:rPr lang="en-US"/>
              <a:t>interest</a:t>
            </a:r>
            <a:endParaRPr lang="en-US"/>
          </a:p>
          <a:p>
            <a:r>
              <a:rPr lang="en-US"/>
              <a:t>H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ng</a:t>
            </a:r>
            <a:r>
              <a:rPr lang="en-US"/>
              <a:t> </a:t>
            </a:r>
            <a:r>
              <a:rPr lang="en-US"/>
              <a:t>with</a:t>
            </a:r>
            <a:r>
              <a:rPr lang="en-US"/>
              <a:t> </a:t>
            </a:r>
            <a:r>
              <a:rPr lang="en-US"/>
              <a:t>client</a:t>
            </a:r>
            <a:r>
              <a:rPr lang="en-US"/>
              <a:t>'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p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ty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money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etc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ICAL</a:t>
            </a:r>
            <a:r>
              <a:rPr lang="en-US"/>
              <a:t> </a:t>
            </a:r>
            <a:r>
              <a:rPr lang="en-US"/>
              <a:t>ISSUES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3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67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lou</a:t>
            </a:r>
            <a:r>
              <a:rPr lang="en-US"/>
              <a:t>s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f</a:t>
            </a:r>
            <a:r>
              <a:rPr lang="en-US"/>
              <a:t>t</a:t>
            </a:r>
            <a:r>
              <a:rPr lang="en-US"/>
              <a:t>ing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ments</a:t>
            </a:r>
            <a:endParaRPr lang="en-US"/>
          </a:p>
          <a:p>
            <a:r>
              <a:rPr lang="en-US"/>
              <a:t>H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ng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nt</a:t>
            </a:r>
            <a:r>
              <a:rPr lang="en-US"/>
              <a:t>'s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y</a:t>
            </a:r>
            <a:endParaRPr lang="en-US"/>
          </a:p>
          <a:p>
            <a:r>
              <a:rPr lang="en-US"/>
              <a:t>D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relation</a:t>
            </a:r>
            <a:r>
              <a:rPr lang="en-US"/>
              <a:t> </a:t>
            </a:r>
            <a:r>
              <a:rPr lang="en-US"/>
              <a:t>to</a:t>
            </a:r>
            <a:r>
              <a:rPr lang="en-US"/>
              <a:t> </a:t>
            </a:r>
            <a:r>
              <a:rPr lang="en-US"/>
              <a:t>charging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nal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e</a:t>
            </a:r>
            <a:r>
              <a:rPr lang="en-US"/>
              <a:t>s</a:t>
            </a:r>
            <a:endParaRPr lang="en-US"/>
          </a:p>
          <a:p>
            <a:r>
              <a:rPr lang="en-US"/>
              <a:t>D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k</a:t>
            </a:r>
            <a:r>
              <a:rPr lang="en-US"/>
              <a:t>i</a:t>
            </a:r>
            <a:r>
              <a:rPr lang="en-US"/>
              <a:t>ng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r</a:t>
            </a:r>
            <a:r>
              <a:rPr lang="en-US"/>
              <a:t>uctions</a:t>
            </a:r>
            <a:r>
              <a:rPr lang="en-US"/>
              <a:t>: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lawyer</a:t>
            </a:r>
            <a:r>
              <a:rPr lang="en-US"/>
              <a:t>'s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f</a:t>
            </a:r>
            <a:r>
              <a:rPr lang="en-US"/>
              <a:t>ice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q</a:t>
            </a:r>
            <a:r>
              <a:rPr lang="en-US"/>
              <a:t>uate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r</a:t>
            </a:r>
            <a:r>
              <a:rPr lang="en-US"/>
              <a:t>uctions</a:t>
            </a:r>
            <a:endParaRPr lang="en-US"/>
          </a:p>
          <a:p>
            <a:r>
              <a:rPr lang="en-US"/>
              <a:t>N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sharing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leg</a:t>
            </a:r>
            <a:r>
              <a:rPr lang="en-US"/>
              <a:t>al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i</a:t>
            </a:r>
            <a:r>
              <a:rPr lang="en-US"/>
              <a:t>th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w</a:t>
            </a:r>
            <a:r>
              <a:rPr lang="en-US"/>
              <a:t>y</a:t>
            </a:r>
            <a:r>
              <a:rPr lang="en-US"/>
              <a:t>ers</a:t>
            </a:r>
            <a:endParaRPr lang="en-US"/>
          </a:p>
          <a:p>
            <a:r>
              <a:rPr lang="en-US"/>
              <a:t>N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rship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w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ctice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i</a:t>
            </a:r>
            <a:r>
              <a:rPr lang="en-US"/>
              <a:t>th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w</a:t>
            </a:r>
            <a:r>
              <a:rPr lang="en-US"/>
              <a:t>yers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ICAL</a:t>
            </a:r>
            <a:r>
              <a:rPr lang="en-US"/>
              <a:t> </a:t>
            </a:r>
            <a:r>
              <a:rPr lang="en-US"/>
              <a:t>ISSUES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4</a:t>
            </a:r>
            <a:r>
              <a:rPr lang="en-US"/>
              <a:t>)</a:t>
            </a:r>
            <a:r>
              <a:rPr lang="en-US"/>
              <a:t> </a:t>
            </a:r>
            <a:endParaRPr lang="en-US"/>
          </a:p>
        </p:txBody>
      </p:sp>
      <p:sp>
        <p:nvSpPr>
          <p:cNvPr id="1048669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p</a:t>
            </a:r>
            <a:r>
              <a:rPr lang="en-US"/>
              <a:t>e</a:t>
            </a:r>
            <a:r>
              <a:rPr lang="en-US"/>
              <a:t>ct</a:t>
            </a:r>
            <a:r>
              <a:rPr lang="en-US"/>
              <a:t> </a:t>
            </a:r>
            <a:r>
              <a:rPr lang="en-US"/>
              <a:t>for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agues</a:t>
            </a:r>
            <a:endParaRPr lang="en-US"/>
          </a:p>
          <a:p>
            <a:r>
              <a:rPr lang="en-US"/>
              <a:t>Keeping</a:t>
            </a:r>
            <a:r>
              <a:rPr lang="en-US"/>
              <a:t> </a:t>
            </a:r>
            <a:r>
              <a:rPr lang="en-US"/>
              <a:t>agreements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i</a:t>
            </a:r>
            <a:r>
              <a:rPr lang="en-US"/>
              <a:t>th</a:t>
            </a:r>
            <a:r>
              <a:rPr lang="en-US"/>
              <a:t> </a:t>
            </a:r>
            <a:r>
              <a:rPr lang="en-US"/>
              <a:t>client's</a:t>
            </a:r>
            <a:r>
              <a:rPr lang="en-US"/>
              <a:t>;</a:t>
            </a:r>
            <a:r>
              <a:rPr lang="en-US"/>
              <a:t> </a:t>
            </a:r>
            <a:r>
              <a:rPr lang="en-US"/>
              <a:t>should</a:t>
            </a:r>
            <a:r>
              <a:rPr lang="en-US"/>
              <a:t> </a:t>
            </a:r>
            <a:r>
              <a:rPr lang="en-US"/>
              <a:t>be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r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ing</a:t>
            </a:r>
            <a:r>
              <a:rPr lang="en-US"/>
              <a:t>.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h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?</a:t>
            </a:r>
            <a:r>
              <a:rPr lang="en-US"/>
              <a:t>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SALE OF LAND 2</dc:title>
  <dc:creator>SYLVESTER C UDEMEZUE</dc:creator>
  <cp:lastModifiedBy>user</cp:lastModifiedBy>
  <dcterms:created xsi:type="dcterms:W3CDTF">2012-01-07T12:50:39Z</dcterms:created>
  <dcterms:modified xsi:type="dcterms:W3CDTF">2025-05-24T09:52:13Z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1033-11.2.0.10130</vt:lpwstr>
  </property>
  <property fmtid="{D5CDD505-2E9C-101B-9397-08002B2CF9AE}" pid="3" name="ICV">
    <vt:lpwstr>4ecabd149022463eba24a67fc27c86be</vt:lpwstr>
  </property>
</Properties>
</file>