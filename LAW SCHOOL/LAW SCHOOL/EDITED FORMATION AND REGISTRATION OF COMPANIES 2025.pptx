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332" r:id="rId2"/>
    <p:sldId id="281" r:id="rId3"/>
    <p:sldId id="315" r:id="rId4"/>
    <p:sldId id="318" r:id="rId5"/>
    <p:sldId id="316" r:id="rId6"/>
    <p:sldId id="320" r:id="rId7"/>
    <p:sldId id="322" r:id="rId8"/>
    <p:sldId id="289" r:id="rId9"/>
    <p:sldId id="324" r:id="rId10"/>
    <p:sldId id="326" r:id="rId11"/>
    <p:sldId id="290" r:id="rId12"/>
    <p:sldId id="291" r:id="rId13"/>
    <p:sldId id="287" r:id="rId14"/>
    <p:sldId id="304" r:id="rId15"/>
    <p:sldId id="288" r:id="rId16"/>
    <p:sldId id="279" r:id="rId17"/>
    <p:sldId id="300" r:id="rId18"/>
    <p:sldId id="295" r:id="rId19"/>
    <p:sldId id="305" r:id="rId20"/>
    <p:sldId id="302" r:id="rId21"/>
    <p:sldId id="267" r:id="rId22"/>
    <p:sldId id="257" r:id="rId23"/>
    <p:sldId id="268" r:id="rId24"/>
    <p:sldId id="269" r:id="rId25"/>
    <p:sldId id="309" r:id="rId26"/>
    <p:sldId id="310" r:id="rId27"/>
    <p:sldId id="311" r:id="rId28"/>
    <p:sldId id="266" r:id="rId29"/>
    <p:sldId id="274" r:id="rId30"/>
    <p:sldId id="275" r:id="rId31"/>
    <p:sldId id="258" r:id="rId32"/>
    <p:sldId id="259" r:id="rId33"/>
    <p:sldId id="270" r:id="rId34"/>
    <p:sldId id="271" r:id="rId35"/>
    <p:sldId id="272" r:id="rId36"/>
    <p:sldId id="262" r:id="rId37"/>
    <p:sldId id="312" r:id="rId38"/>
    <p:sldId id="334" r:id="rId39"/>
    <p:sldId id="328" r:id="rId40"/>
    <p:sldId id="331" r:id="rId41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32" autoAdjust="0"/>
  </p:normalViewPr>
  <p:slideViewPr>
    <p:cSldViewPr>
      <p:cViewPr>
        <p:scale>
          <a:sx n="69" d="100"/>
          <a:sy n="69" d="100"/>
        </p:scale>
        <p:origin x="-118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3898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3763" cy="465455"/>
          </a:xfrm>
          <a:prstGeom prst="rect">
            <a:avLst/>
          </a:prstGeom>
        </p:spPr>
        <p:txBody>
          <a:bodyPr vert="horz" lIns="92918" tIns="46459" rIns="92918" bIns="4645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7" y="0"/>
            <a:ext cx="3013763" cy="465455"/>
          </a:xfrm>
          <a:prstGeom prst="rect">
            <a:avLst/>
          </a:prstGeom>
        </p:spPr>
        <p:txBody>
          <a:bodyPr vert="horz" lIns="92918" tIns="46459" rIns="92918" bIns="46459" rtlCol="0"/>
          <a:lstStyle>
            <a:lvl1pPr algn="r">
              <a:defRPr sz="1200"/>
            </a:lvl1pPr>
          </a:lstStyle>
          <a:p>
            <a:fld id="{D295478A-A384-4856-948C-858F60F5441F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2030"/>
            <a:ext cx="3013763" cy="465455"/>
          </a:xfrm>
          <a:prstGeom prst="rect">
            <a:avLst/>
          </a:prstGeom>
        </p:spPr>
        <p:txBody>
          <a:bodyPr vert="horz" lIns="92918" tIns="46459" rIns="92918" bIns="4645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7" y="8842030"/>
            <a:ext cx="3013763" cy="465455"/>
          </a:xfrm>
          <a:prstGeom prst="rect">
            <a:avLst/>
          </a:prstGeom>
        </p:spPr>
        <p:txBody>
          <a:bodyPr vert="horz" lIns="92918" tIns="46459" rIns="92918" bIns="46459" rtlCol="0" anchor="b"/>
          <a:lstStyle>
            <a:lvl1pPr algn="r">
              <a:defRPr sz="1200"/>
            </a:lvl1pPr>
          </a:lstStyle>
          <a:p>
            <a:fld id="{07A48FF6-DF61-48BA-AB9B-716CFA6141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DD313-C4EE-4980-94B9-6E050A5452C9}" type="datetimeFigureOut">
              <a:rPr lang="en-US" smtClean="0"/>
              <a:pPr/>
              <a:t>4/22/2025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0F92A-6685-4EAF-9476-518ECA1E0B9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022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F0F92A-6685-4EAF-9476-518ECA1E0B99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648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F0F92A-6685-4EAF-9476-518ECA1E0B99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CEEF4-1507-4D57-A7FA-873EB9D14090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47C00-DFD7-41A1-98FF-25CE6AD2C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algn="ctr"/>
            <a:r>
              <a:rPr lang="en-GB" sz="4800" b="1" dirty="0"/>
              <a:t>FORMATION </a:t>
            </a:r>
            <a:r>
              <a:rPr lang="en-GB" sz="4800" b="1" dirty="0" smtClean="0"/>
              <a:t>AND INCORPORATION OF </a:t>
            </a:r>
            <a:r>
              <a:rPr lang="en-GB" sz="4800" b="1" dirty="0"/>
              <a:t>COMPANIES IN NIGERIA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TYPES OF BUSINESS ORGANIZATIONS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Sole Proprietorship</a:t>
            </a:r>
          </a:p>
          <a:p>
            <a:r>
              <a:rPr lang="en-US" dirty="0"/>
              <a:t>Partnership</a:t>
            </a:r>
          </a:p>
          <a:p>
            <a:r>
              <a:rPr lang="en-US" dirty="0"/>
              <a:t>Limited Liability Partnership</a:t>
            </a:r>
          </a:p>
          <a:p>
            <a:r>
              <a:rPr lang="en-US" dirty="0"/>
              <a:t>Registered </a:t>
            </a:r>
            <a:r>
              <a:rPr lang="en-US" dirty="0" smtClean="0"/>
              <a:t>Companies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 &amp; Capacity to Form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sz="4000" dirty="0"/>
              <a:t>CAMA confers right for registration, formation and incorporation of companies on persons, government and corporate persons.</a:t>
            </a:r>
          </a:p>
          <a:p>
            <a:r>
              <a:rPr lang="en-GB" sz="4000" dirty="0"/>
              <a:t>One or two persons under CAMA 2020. SECTION </a:t>
            </a:r>
            <a:r>
              <a:rPr lang="en-GB" sz="4000" dirty="0" smtClean="0"/>
              <a:t>18</a:t>
            </a:r>
          </a:p>
          <a:p>
            <a:r>
              <a:rPr lang="en-GB" sz="4000" dirty="0"/>
              <a:t>INNOVATION OF CAMA </a:t>
            </a:r>
            <a:r>
              <a:rPr lang="en-GB" sz="4000" dirty="0" smtClean="0"/>
              <a:t>2020 permitting sole subscriber</a:t>
            </a:r>
            <a:endParaRPr lang="en-GB" sz="4000" dirty="0"/>
          </a:p>
          <a:p>
            <a:pPr marL="0" indent="0">
              <a:buNone/>
            </a:pPr>
            <a:r>
              <a:rPr lang="en-GB" sz="4000" dirty="0"/>
              <a:t>Only for private </a:t>
            </a:r>
            <a:r>
              <a:rPr lang="en-GB" sz="4000" dirty="0" smtClean="0"/>
              <a:t>company &amp; SECTION </a:t>
            </a:r>
            <a:r>
              <a:rPr lang="en-GB" sz="4000" dirty="0"/>
              <a:t>18 (2)</a:t>
            </a:r>
          </a:p>
          <a:p>
            <a:r>
              <a:rPr lang="en-US" sz="4000" dirty="0"/>
              <a:t>LAXITY not extended to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/>
              <a:t> A child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/>
              <a:t> A Foreigner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/>
              <a:t> Public Company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/>
              <a:t>Large Company</a:t>
            </a:r>
            <a:endParaRPr lang="en-NG" sz="4000" dirty="0"/>
          </a:p>
          <a:p>
            <a:endParaRPr lang="en-GB" sz="4000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Right of Minor in Company Formation?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 smtClean="0"/>
              <a:t>For minor? Possible, however </a:t>
            </a:r>
            <a:r>
              <a:rPr lang="en-GB" dirty="0"/>
              <a:t>terms and conditions apply</a:t>
            </a:r>
          </a:p>
          <a:p>
            <a:r>
              <a:rPr lang="en-GB" dirty="0"/>
              <a:t>Two or more persons above 18 </a:t>
            </a:r>
            <a:r>
              <a:rPr lang="en-GB" dirty="0" smtClean="0"/>
              <a:t>years &amp; Not as </a:t>
            </a:r>
            <a:r>
              <a:rPr lang="en-GB" dirty="0"/>
              <a:t>sole subscriber of private </a:t>
            </a:r>
            <a:r>
              <a:rPr lang="en-GB" dirty="0" smtClean="0"/>
              <a:t>coy</a:t>
            </a:r>
          </a:p>
          <a:p>
            <a:pPr marL="0" indent="0">
              <a:buNone/>
            </a:pPr>
            <a:r>
              <a:rPr lang="en-GB" dirty="0" smtClean="0"/>
              <a:t>For foreigner? Yes </a:t>
            </a:r>
            <a:r>
              <a:rPr lang="en-GB" dirty="0"/>
              <a:t>... Very </a:t>
            </a:r>
            <a:r>
              <a:rPr lang="en-GB" dirty="0" smtClean="0"/>
              <a:t>possible</a:t>
            </a:r>
            <a:endParaRPr lang="en-GB" dirty="0"/>
          </a:p>
          <a:p>
            <a:r>
              <a:rPr lang="en-GB" dirty="0"/>
              <a:t>They may join others</a:t>
            </a:r>
          </a:p>
          <a:p>
            <a:r>
              <a:rPr lang="en-GB" dirty="0"/>
              <a:t>They may also own it completely</a:t>
            </a:r>
          </a:p>
          <a:p>
            <a:r>
              <a:rPr lang="en-GB" dirty="0"/>
              <a:t>CAMA, NIPC ACT </a:t>
            </a:r>
            <a:r>
              <a:rPr lang="en-GB" dirty="0" smtClean="0"/>
              <a:t> 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Lacks Capacity?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dirty="0"/>
              <a:t>     </a:t>
            </a:r>
            <a:r>
              <a:rPr lang="en-GB" sz="4400" dirty="0"/>
              <a:t>SEE SECTION 20 (1) &amp; (2)</a:t>
            </a:r>
          </a:p>
          <a:p>
            <a:r>
              <a:rPr lang="en-GB" sz="4400" dirty="0"/>
              <a:t>A Company in liquidation</a:t>
            </a:r>
          </a:p>
          <a:p>
            <a:r>
              <a:rPr lang="en-GB" sz="4400" dirty="0" err="1"/>
              <a:t>Undischarged</a:t>
            </a:r>
            <a:r>
              <a:rPr lang="en-GB" sz="4400" dirty="0"/>
              <a:t> bankrupt person</a:t>
            </a:r>
          </a:p>
          <a:p>
            <a:r>
              <a:rPr lang="en-GB" sz="4400" dirty="0"/>
              <a:t>A person of unsound mind</a:t>
            </a:r>
          </a:p>
          <a:p>
            <a:r>
              <a:rPr lang="en-GB" sz="4400" dirty="0"/>
              <a:t>Disqualified under Sec 281 &amp; 283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FACTORS AFFECTING CHOICE OF BUSINESS ORGANIZATIONS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dirty="0" smtClean="0"/>
              <a:t>1</a:t>
            </a:r>
            <a:r>
              <a:rPr lang="en-US" sz="3800" dirty="0"/>
              <a:t>.	Nature of the business.</a:t>
            </a:r>
          </a:p>
          <a:p>
            <a:pPr marL="0" indent="0">
              <a:buNone/>
            </a:pPr>
            <a:r>
              <a:rPr lang="en-US" sz="3800" dirty="0"/>
              <a:t>2.	available capital &amp; how the Promoter intends to raise the needed capital</a:t>
            </a:r>
          </a:p>
          <a:p>
            <a:pPr marL="0" indent="0">
              <a:buNone/>
            </a:pPr>
            <a:r>
              <a:rPr lang="en-US" sz="3800" dirty="0"/>
              <a:t>3.	The number of members </a:t>
            </a:r>
          </a:p>
          <a:p>
            <a:pPr marL="0" indent="0">
              <a:buNone/>
            </a:pPr>
            <a:r>
              <a:rPr lang="en-US" sz="3800" dirty="0"/>
              <a:t>4.	Extent of liability of members</a:t>
            </a:r>
          </a:p>
          <a:p>
            <a:pPr marL="742950" indent="-742950">
              <a:buAutoNum type="arabicPeriod" startAt="5"/>
            </a:pPr>
            <a:r>
              <a:rPr lang="en-US" sz="3800" dirty="0" smtClean="0"/>
              <a:t>Commercial </a:t>
            </a:r>
            <a:r>
              <a:rPr lang="en-US" sz="3800" dirty="0"/>
              <a:t>expediency</a:t>
            </a:r>
            <a:r>
              <a:rPr lang="en-US" sz="3800" dirty="0" smtClean="0"/>
              <a:t>.</a:t>
            </a:r>
          </a:p>
          <a:p>
            <a:pPr marL="0" indent="0" algn="just">
              <a:buNone/>
            </a:pPr>
            <a:r>
              <a:rPr lang="en-US" sz="4000" dirty="0"/>
              <a:t>The extent and sphere of operations.</a:t>
            </a:r>
          </a:p>
          <a:p>
            <a:pPr marL="0" indent="0" algn="just">
              <a:buNone/>
            </a:pPr>
            <a:r>
              <a:rPr lang="en-US" sz="4000" dirty="0"/>
              <a:t>7.	Legal/statutory requirements. Commercial Banks/Chambers of Commerce .</a:t>
            </a:r>
          </a:p>
          <a:p>
            <a:pPr marL="0" indent="0" algn="just">
              <a:buNone/>
            </a:pPr>
            <a:r>
              <a:rPr lang="en-US" sz="4000" dirty="0"/>
              <a:t>8.	Post registration compliance and regulatory supervision.</a:t>
            </a:r>
          </a:p>
          <a:p>
            <a:pPr marL="0" indent="0" algn="just">
              <a:buNone/>
            </a:pPr>
            <a:r>
              <a:rPr lang="en-US" sz="4000" dirty="0"/>
              <a:t>9.	Motive &amp; the desire of the client </a:t>
            </a:r>
            <a:r>
              <a:rPr lang="en-US" sz="4000" dirty="0" smtClean="0"/>
              <a:t>himself</a:t>
            </a:r>
            <a:endParaRPr lang="en-US" sz="3800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the Options?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4000" dirty="0"/>
              <a:t>Companies limited by shares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4000" dirty="0"/>
              <a:t>Companies limited by guarantee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4000" dirty="0"/>
              <a:t>Unlimited company. Section 21 (1)(a)(b)(c) Any of the above companies may be;</a:t>
            </a:r>
          </a:p>
          <a:p>
            <a:pPr marL="0" indent="0">
              <a:buNone/>
            </a:pPr>
            <a:r>
              <a:rPr lang="en-US" sz="4000" dirty="0"/>
              <a:t>A private company </a:t>
            </a:r>
            <a:r>
              <a:rPr lang="en-US" sz="4000" dirty="0" smtClean="0"/>
              <a:t>or A </a:t>
            </a:r>
            <a:r>
              <a:rPr lang="en-US" sz="4000" dirty="0"/>
              <a:t>public </a:t>
            </a:r>
            <a:r>
              <a:rPr lang="en-US" sz="4000" dirty="0" smtClean="0"/>
              <a:t>company</a:t>
            </a:r>
          </a:p>
          <a:p>
            <a:pPr marL="0" indent="0">
              <a:buNone/>
            </a:pPr>
            <a:r>
              <a:rPr lang="en-US" sz="4000" dirty="0"/>
              <a:t>Thus, kinds of registered companies are;</a:t>
            </a:r>
          </a:p>
          <a:p>
            <a:pPr lvl="0">
              <a:buNone/>
            </a:pPr>
            <a:r>
              <a:rPr lang="en-US" sz="4000" dirty="0"/>
              <a:t>1. Private company limited by shares</a:t>
            </a:r>
          </a:p>
          <a:p>
            <a:pPr lvl="0">
              <a:buNone/>
            </a:pPr>
            <a:r>
              <a:rPr lang="en-US" sz="4000" dirty="0"/>
              <a:t>2. Public company limited by shares</a:t>
            </a:r>
          </a:p>
          <a:p>
            <a:pPr lvl="0">
              <a:buNone/>
            </a:pPr>
            <a:r>
              <a:rPr lang="en-US" sz="4000" dirty="0"/>
              <a:t>3. Private company limited by guarantee</a:t>
            </a:r>
          </a:p>
          <a:p>
            <a:pPr lvl="0">
              <a:buNone/>
            </a:pPr>
            <a:r>
              <a:rPr lang="en-US" sz="4000" dirty="0"/>
              <a:t>4. Public company limited by guarantee</a:t>
            </a:r>
          </a:p>
          <a:p>
            <a:pPr lvl="0">
              <a:buNone/>
            </a:pPr>
            <a:r>
              <a:rPr lang="en-US" sz="4000" dirty="0"/>
              <a:t>5. Private unlimited companies</a:t>
            </a:r>
          </a:p>
          <a:p>
            <a:pPr lvl="0">
              <a:buNone/>
            </a:pPr>
            <a:r>
              <a:rPr lang="en-US" sz="4000" dirty="0"/>
              <a:t>6. Public unlimited companies</a:t>
            </a:r>
          </a:p>
          <a:p>
            <a:endParaRPr lang="en-US" sz="4000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COMPANY LIMITED BY GUARANTEE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Formed to promote commerce, art, science, religion, sport, culture, education, research, charity or other similar objects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All incomes toward the objects. PROFIT MAKING /PROFIT SHARING/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AGF Consent – 30 Days – option of national Advertisement in 3 dailies.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 share capital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None/>
            </a:pPr>
            <a:r>
              <a:rPr lang="en-US" dirty="0"/>
              <a:t>e</a:t>
            </a:r>
            <a:r>
              <a:rPr lang="en-US" sz="4000" dirty="0"/>
              <a:t>. The liability of the members  @ N100,000.00.</a:t>
            </a:r>
          </a:p>
          <a:p>
            <a:pPr marL="514350" indent="-514350">
              <a:buNone/>
            </a:pPr>
            <a:r>
              <a:rPr lang="en-US" sz="4000" dirty="0"/>
              <a:t>f. Profit  making /for distribution to </a:t>
            </a:r>
            <a:r>
              <a:rPr lang="en-US" sz="4000" dirty="0" smtClean="0"/>
              <a:t>members</a:t>
            </a:r>
          </a:p>
          <a:p>
            <a:pPr marL="514350" indent="-514350">
              <a:buNone/>
            </a:pPr>
            <a:r>
              <a:rPr lang="en-US" sz="4000" dirty="0" smtClean="0"/>
              <a:t>g. Article </a:t>
            </a:r>
            <a:r>
              <a:rPr lang="en-US" sz="4000" dirty="0"/>
              <a:t>may provide for retirement and removal of a MEMBER BY Special Resolution. </a:t>
            </a:r>
          </a:p>
          <a:p>
            <a:pPr marL="514350" indent="-514350">
              <a:buNone/>
            </a:pPr>
            <a:r>
              <a:rPr lang="en-US" sz="4000" dirty="0" smtClean="0"/>
              <a:t>h. The </a:t>
            </a:r>
            <a:r>
              <a:rPr lang="en-US" sz="4000" dirty="0"/>
              <a:t>numbers of people forming it must be clearly stated.</a:t>
            </a:r>
          </a:p>
          <a:p>
            <a:pPr marL="0" indent="0">
              <a:buNone/>
            </a:pPr>
            <a:r>
              <a:rPr lang="en-US" sz="4000" dirty="0" smtClean="0"/>
              <a:t>i. Upon </a:t>
            </a:r>
            <a:r>
              <a:rPr lang="en-US" sz="4000" dirty="0"/>
              <a:t>winding up, after the discharge of its debts, any assets the company remaining shall not be distributed among the members but shall be transferred to some organization with similar objects.</a:t>
            </a:r>
          </a:p>
          <a:p>
            <a:pPr>
              <a:buNone/>
            </a:pPr>
            <a:r>
              <a:rPr lang="en-US" sz="4000" dirty="0"/>
              <a:t>. Name to include the “Limited by guarantee” Ltd/</a:t>
            </a:r>
            <a:r>
              <a:rPr lang="en-US" sz="4000" dirty="0" err="1"/>
              <a:t>Gte</a:t>
            </a:r>
            <a:r>
              <a:rPr lang="en-US" sz="4000" b="1" dirty="0"/>
              <a:t>. E.g. CHAMBERS OF COMMERCE</a:t>
            </a:r>
            <a:endParaRPr lang="en-US" sz="4000" dirty="0"/>
          </a:p>
          <a:p>
            <a:pPr marL="514350" indent="-514350">
              <a:buNone/>
            </a:pPr>
            <a:endParaRPr lang="en-US" sz="4000" dirty="0"/>
          </a:p>
          <a:p>
            <a:endParaRPr lang="en-GB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recommended?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Where the company’s object is for promotion of commerce, art, science, religion, sports, culture, education, charity.</a:t>
            </a:r>
          </a:p>
          <a:p>
            <a:pPr lvl="0"/>
            <a:r>
              <a:rPr lang="en-US" dirty="0"/>
              <a:t>Where the company’s profit is not to be distributed to members.</a:t>
            </a:r>
          </a:p>
          <a:p>
            <a:pPr lvl="0"/>
            <a:r>
              <a:rPr lang="en-US" dirty="0"/>
              <a:t>It is recommended as its subsidiary company set up to render core social responsibility, obligations for the main company.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UNLIMITED COMPANY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An unlimited company is a company not having any limit on the liability of its members.</a:t>
            </a:r>
          </a:p>
          <a:p>
            <a:pPr algn="just"/>
            <a:r>
              <a:rPr lang="en-US" dirty="0"/>
              <a:t>Share Capital minimum</a:t>
            </a:r>
          </a:p>
          <a:p>
            <a:pPr algn="just"/>
            <a:r>
              <a:rPr lang="en-US" dirty="0"/>
              <a:t>In liquidation, members will satisfy all debts and liabilities with personal fortunes. </a:t>
            </a:r>
          </a:p>
          <a:p>
            <a:pPr algn="just"/>
            <a:r>
              <a:rPr lang="en-US" dirty="0"/>
              <a:t>It is very rare; Usually by legislation and common to professional partnership business</a:t>
            </a:r>
            <a:r>
              <a:rPr lang="en-US" b="1" dirty="0"/>
              <a:t>.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COMPANY LIMITED BY SHARE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3600" dirty="0"/>
              <a:t> Liability of its members at winding up limited to the amount, if any remaining unpaid on the shares held by them. </a:t>
            </a:r>
          </a:p>
          <a:p>
            <a:pPr>
              <a:buFont typeface="Wingdings" pitchFamily="2" charset="2"/>
              <a:buChar char="q"/>
            </a:pPr>
            <a:r>
              <a:rPr lang="en-US" sz="3600" dirty="0"/>
              <a:t>fully paid for, or partly paid or not paid for at all.</a:t>
            </a:r>
          </a:p>
          <a:p>
            <a:pPr>
              <a:buFont typeface="Wingdings" pitchFamily="2" charset="2"/>
              <a:buChar char="q"/>
            </a:pPr>
            <a:r>
              <a:rPr lang="en-US" sz="3600" dirty="0"/>
              <a:t>End with limited or LTD. </a:t>
            </a:r>
          </a:p>
          <a:p>
            <a:pPr>
              <a:buFont typeface="Wingdings" pitchFamily="2" charset="2"/>
              <a:buChar char="q"/>
            </a:pPr>
            <a:r>
              <a:rPr lang="en-US" sz="3600" dirty="0"/>
              <a:t>A company’s assets is different &amp; Share</a:t>
            </a:r>
          </a:p>
          <a:p>
            <a:r>
              <a:rPr lang="en-US" sz="3600" dirty="0"/>
              <a:t>“The liability of ABC Ltd is limited by shares?”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FEATURES OF A PRIVATE COMPANY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sz="14400" dirty="0"/>
              <a:t>1. Stated in memo that it is a private company</a:t>
            </a:r>
          </a:p>
          <a:p>
            <a:r>
              <a:rPr lang="en-US" sz="14400" dirty="0"/>
              <a:t>2.  Authorized minimum share capital is N100,000</a:t>
            </a:r>
          </a:p>
          <a:p>
            <a:r>
              <a:rPr lang="en-US" sz="14400" dirty="0"/>
              <a:t>3.	Every private company shall by its articles restricts the transfer of its shares. </a:t>
            </a:r>
          </a:p>
          <a:p>
            <a:r>
              <a:rPr lang="en-US" sz="14400" dirty="0"/>
              <a:t>4. Members shall not exceed 50</a:t>
            </a:r>
          </a:p>
          <a:p>
            <a:r>
              <a:rPr lang="en-US" sz="14400" dirty="0"/>
              <a:t>5.	The name of a private company must end with the word “Limited (Ltd)”.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6</a:t>
            </a:r>
            <a:r>
              <a:rPr lang="en-US" sz="12800" dirty="0"/>
              <a:t>No statutory meeting or file statutory reports.</a:t>
            </a:r>
          </a:p>
          <a:p>
            <a:r>
              <a:rPr lang="en-US" sz="12800" dirty="0"/>
              <a:t>7.	Written resolutions can be passed by both Directors /members</a:t>
            </a:r>
          </a:p>
          <a:p>
            <a:r>
              <a:rPr lang="en-US" sz="12800" dirty="0"/>
              <a:t>8.	 Public cannot subscribe for its shares and debentures unless authorized by law.</a:t>
            </a:r>
          </a:p>
          <a:p>
            <a:r>
              <a:rPr lang="en-US" sz="12800" dirty="0"/>
              <a:t>9.	No restriction for appointment of persons over 70 years of Directors.</a:t>
            </a:r>
          </a:p>
          <a:p>
            <a:r>
              <a:rPr lang="en-US" sz="12800" dirty="0"/>
              <a:t>10.	The company Secretary need not have certain professional qualifications.</a:t>
            </a:r>
          </a:p>
          <a:p>
            <a:r>
              <a:rPr lang="en-US" sz="12800" dirty="0"/>
              <a:t>11.	The removal of the Secretary  does not require special procedures.</a:t>
            </a:r>
          </a:p>
          <a:p>
            <a:r>
              <a:rPr lang="en-US" sz="12800" dirty="0"/>
              <a:t>12. No additional Notice </a:t>
            </a:r>
          </a:p>
          <a:p>
            <a:endParaRPr lang="en-US" sz="1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RECOMMENDED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 smtClean="0"/>
              <a:t>Where </a:t>
            </a:r>
            <a:r>
              <a:rPr lang="en-US" dirty="0"/>
              <a:t>the capital available to start off business is relatively small</a:t>
            </a:r>
          </a:p>
          <a:p>
            <a:pPr lvl="0"/>
            <a:r>
              <a:rPr lang="en-US" dirty="0"/>
              <a:t>Where small and medium scale business organizations need to acquire incorporated status.</a:t>
            </a:r>
          </a:p>
          <a:p>
            <a:pPr lvl="0"/>
            <a:r>
              <a:rPr lang="en-US" dirty="0"/>
              <a:t>Where family and friends want to engage in business expected to last over a long period and enjoy corporate personality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FEATURES OF A PUBLIC COMPANY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1.	It is stated in its memorandum to be a public company</a:t>
            </a:r>
          </a:p>
          <a:p>
            <a:r>
              <a:rPr lang="en-US" dirty="0"/>
              <a:t>2.	It can invite members of the public to subscribe its shares and debentures</a:t>
            </a:r>
          </a:p>
          <a:p>
            <a:r>
              <a:rPr lang="en-US" dirty="0"/>
              <a:t>3.	It has the tendency of being larger and having more funds than many private companies because they offer shares to the public</a:t>
            </a:r>
          </a:p>
          <a:p>
            <a:r>
              <a:rPr lang="en-US" dirty="0"/>
              <a:t>4.	It has an unlimited number of members</a:t>
            </a:r>
          </a:p>
          <a:p>
            <a:r>
              <a:rPr lang="en-US" dirty="0"/>
              <a:t>5.	The name ends with “Public Limited Company” Plc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7. No restriction on transfer of shares in a public company </a:t>
            </a:r>
          </a:p>
          <a:p>
            <a:r>
              <a:rPr lang="en-US" dirty="0"/>
              <a:t>8.	Where a person who is above 70 years is to be made a Director in a PLC, special notice of his age to the members must be given.</a:t>
            </a:r>
          </a:p>
          <a:p>
            <a:r>
              <a:rPr lang="en-US" dirty="0"/>
              <a:t>9.	Hold its statutory meeting  6 month incorporation</a:t>
            </a:r>
          </a:p>
          <a:p>
            <a:r>
              <a:rPr lang="en-US" dirty="0"/>
              <a:t>10.	It must publish additional notice of its Annual General Meeting to its members in Newspapers. </a:t>
            </a:r>
          </a:p>
          <a:p>
            <a:r>
              <a:rPr lang="en-US" dirty="0"/>
              <a:t>11.	The Secretary of a PLC must be qualified</a:t>
            </a:r>
          </a:p>
          <a:p>
            <a:r>
              <a:rPr lang="en-US" dirty="0"/>
              <a:t>12.	The removal of the company Secretary of Plc must accord with the procedures laid down by law.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RECOMMENDED: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Where medium or large scale business needs to acquire corporate status </a:t>
            </a:r>
          </a:p>
          <a:p>
            <a:pPr lvl="0"/>
            <a:r>
              <a:rPr lang="en-US" dirty="0"/>
              <a:t>Where the capital available to start off business is relatively large</a:t>
            </a:r>
          </a:p>
          <a:p>
            <a:pPr lvl="0"/>
            <a:r>
              <a:rPr lang="en-US" dirty="0"/>
              <a:t>Where the business organization would have access to public funds through offering its shares for subscription</a:t>
            </a:r>
          </a:p>
          <a:p>
            <a:pPr lvl="0"/>
            <a:r>
              <a:rPr lang="en-US" dirty="0"/>
              <a:t>Where membership is not limited or restricted</a:t>
            </a:r>
          </a:p>
          <a:p>
            <a:pPr lvl="0"/>
            <a:r>
              <a:rPr lang="en-US" dirty="0"/>
              <a:t>Where the business organization is not driven by family or relationships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Distinguishing between Private &amp; 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Issue of Meeting</a:t>
            </a:r>
          </a:p>
          <a:p>
            <a:r>
              <a:rPr lang="en-US" dirty="0"/>
              <a:t>Issue of </a:t>
            </a:r>
            <a:r>
              <a:rPr lang="en-US" dirty="0" err="1"/>
              <a:t>Secretaryship</a:t>
            </a:r>
            <a:endParaRPr lang="en-US" dirty="0"/>
          </a:p>
          <a:p>
            <a:r>
              <a:rPr lang="en-US" dirty="0"/>
              <a:t>Issue of Directorship</a:t>
            </a:r>
          </a:p>
          <a:p>
            <a:r>
              <a:rPr lang="en-US" dirty="0"/>
              <a:t>Issue of Share Capital</a:t>
            </a:r>
          </a:p>
          <a:p>
            <a:r>
              <a:rPr lang="en-US" dirty="0"/>
              <a:t>Issue of Debentures</a:t>
            </a:r>
          </a:p>
          <a:p>
            <a:r>
              <a:rPr lang="en-US" dirty="0"/>
              <a:t>Issue of Resolution</a:t>
            </a:r>
          </a:p>
          <a:p>
            <a:r>
              <a:rPr lang="en-US" dirty="0"/>
              <a:t>Issue of Records and Returns</a:t>
            </a:r>
          </a:p>
          <a:p>
            <a:r>
              <a:rPr lang="en-US" dirty="0"/>
              <a:t>Issue of Membership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Preparing a checklist of the questions to be asked a client during interview for formation of business org. </a:t>
            </a:r>
            <a:endParaRPr lang="en-US" sz="2000" dirty="0" smtClean="0"/>
          </a:p>
          <a:p>
            <a:r>
              <a:rPr lang="en-US" sz="2000" dirty="0"/>
              <a:t>What is your  full name </a:t>
            </a:r>
          </a:p>
          <a:p>
            <a:r>
              <a:rPr lang="en-US" sz="2000" dirty="0"/>
              <a:t>What is the nature of business </a:t>
            </a:r>
          </a:p>
          <a:p>
            <a:r>
              <a:rPr lang="en-US" sz="2000" dirty="0"/>
              <a:t>What location do you have in mind </a:t>
            </a:r>
          </a:p>
          <a:p>
            <a:r>
              <a:rPr lang="en-US" sz="2000" dirty="0"/>
              <a:t>What sphere do you expect the business to cover </a:t>
            </a:r>
          </a:p>
          <a:p>
            <a:r>
              <a:rPr lang="en-US" sz="2000" dirty="0"/>
              <a:t>How many persons to start up the business </a:t>
            </a:r>
          </a:p>
          <a:p>
            <a:r>
              <a:rPr lang="en-US" sz="2000" dirty="0"/>
              <a:t>What is the maximum number of members </a:t>
            </a:r>
          </a:p>
          <a:p>
            <a:r>
              <a:rPr lang="en-US" sz="2000" dirty="0"/>
              <a:t>Ages of the persons forming the company </a:t>
            </a:r>
          </a:p>
          <a:p>
            <a:r>
              <a:rPr lang="en-US" sz="2000" dirty="0"/>
              <a:t>Who are to be Directors </a:t>
            </a:r>
          </a:p>
          <a:p>
            <a:r>
              <a:rPr lang="en-US" sz="2000" dirty="0"/>
              <a:t>Any history of mental incapacity. </a:t>
            </a:r>
          </a:p>
          <a:p>
            <a:r>
              <a:rPr lang="en-US" sz="2000" dirty="0"/>
              <a:t>Any known legal disability </a:t>
            </a:r>
          </a:p>
          <a:p>
            <a:r>
              <a:rPr lang="en-US" sz="2000" dirty="0"/>
              <a:t>Would the business have a share capital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Personal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sz="4300" dirty="0"/>
              <a:t> Name in full</a:t>
            </a:r>
          </a:p>
          <a:p>
            <a:pPr>
              <a:buFont typeface="Wingdings" pitchFamily="2" charset="2"/>
              <a:buChar char="v"/>
            </a:pPr>
            <a:r>
              <a:rPr lang="en-US" sz="4300" dirty="0"/>
              <a:t>Nationality</a:t>
            </a:r>
          </a:p>
          <a:p>
            <a:pPr>
              <a:buFont typeface="Wingdings" pitchFamily="2" charset="2"/>
              <a:buChar char="v"/>
            </a:pPr>
            <a:r>
              <a:rPr lang="en-US" sz="4300" dirty="0"/>
              <a:t> Gender</a:t>
            </a:r>
          </a:p>
          <a:p>
            <a:pPr>
              <a:buFont typeface="Wingdings" pitchFamily="2" charset="2"/>
              <a:buChar char="v"/>
            </a:pPr>
            <a:r>
              <a:rPr lang="en-US" sz="4300" dirty="0"/>
              <a:t>Age</a:t>
            </a:r>
          </a:p>
          <a:p>
            <a:pPr>
              <a:buFont typeface="Wingdings" pitchFamily="2" charset="2"/>
              <a:buChar char="v"/>
            </a:pPr>
            <a:r>
              <a:rPr lang="en-US" sz="4300" dirty="0"/>
              <a:t>Residential address</a:t>
            </a:r>
          </a:p>
          <a:p>
            <a:pPr>
              <a:buFont typeface="Wingdings" pitchFamily="2" charset="2"/>
              <a:buChar char="v"/>
            </a:pPr>
            <a:r>
              <a:rPr lang="en-US" sz="4300" dirty="0"/>
              <a:t>Etc</a:t>
            </a:r>
          </a:p>
          <a:p>
            <a:pPr>
              <a:buNone/>
            </a:pPr>
            <a:r>
              <a:rPr lang="en-US" sz="4300" dirty="0"/>
              <a:t>Essentially to answer the question of capacity. </a:t>
            </a:r>
            <a:br>
              <a:rPr lang="en-US" sz="4300" dirty="0"/>
            </a:br>
            <a:r>
              <a:rPr lang="en-US" sz="4300" dirty="0"/>
              <a:t>Section 20.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Shareholders/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many persons to start up the business.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membership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Details of such members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Nationality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Age 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Details of Directorship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are to be Directors.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Age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Qualification = expertise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Mental capacity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Number of Directors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Contact address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Sphere/dimension of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for registered office address in Nigeria</a:t>
            </a:r>
          </a:p>
          <a:p>
            <a:r>
              <a:rPr lang="en-US" dirty="0"/>
              <a:t>Advantages and ECOWAS, WTO/GATT </a:t>
            </a:r>
          </a:p>
          <a:p>
            <a:r>
              <a:rPr lang="en-US" dirty="0"/>
              <a:t>And incentives in export promotion, manufacturing and rural location </a:t>
            </a:r>
          </a:p>
          <a:p>
            <a:r>
              <a:rPr lang="en-US" dirty="0"/>
              <a:t>Head Office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SHARES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 Capital</a:t>
            </a:r>
          </a:p>
          <a:p>
            <a:r>
              <a:rPr lang="en-US" dirty="0"/>
              <a:t>Shares Allotment</a:t>
            </a:r>
          </a:p>
          <a:p>
            <a:r>
              <a:rPr lang="en-US" dirty="0"/>
              <a:t>Types/Classes of Shares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6. Restrictions on Power of the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Sec </a:t>
            </a:r>
            <a:r>
              <a:rPr lang="en-US" dirty="0" smtClean="0"/>
              <a:t>38 </a:t>
            </a:r>
            <a:r>
              <a:rPr lang="en-US" dirty="0"/>
              <a:t>provides for full power except curtailed in memo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Borrowing Power of the Company </a:t>
            </a:r>
          </a:p>
          <a:p>
            <a:pPr>
              <a:buNone/>
            </a:pPr>
            <a:r>
              <a:rPr lang="en-US" dirty="0"/>
              <a:t>To be expressly stated and with limitation if any.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Biz and investment. etc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Registered 	Office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capture details such as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Number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Street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Quarters/District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Town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LGA, State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No12, </a:t>
            </a:r>
            <a:r>
              <a:rPr lang="en-US" dirty="0" err="1"/>
              <a:t>Ebuka</a:t>
            </a:r>
            <a:r>
              <a:rPr lang="en-US" dirty="0"/>
              <a:t> Street, </a:t>
            </a:r>
            <a:r>
              <a:rPr lang="en-US" dirty="0" err="1"/>
              <a:t>Kajola</a:t>
            </a:r>
            <a:r>
              <a:rPr lang="en-US" dirty="0"/>
              <a:t> Quarter, </a:t>
            </a:r>
            <a:r>
              <a:rPr lang="en-US" dirty="0" err="1"/>
              <a:t>Kabba</a:t>
            </a:r>
            <a:r>
              <a:rPr lang="en-US" dirty="0"/>
              <a:t>, </a:t>
            </a:r>
            <a:r>
              <a:rPr lang="en-US" dirty="0" err="1"/>
              <a:t>Kogi</a:t>
            </a:r>
            <a:r>
              <a:rPr lang="en-US" dirty="0"/>
              <a:t> State, Nigeria.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Control and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of Common Seal</a:t>
            </a:r>
          </a:p>
          <a:p>
            <a:r>
              <a:rPr lang="en-US" dirty="0"/>
              <a:t>Life Director</a:t>
            </a:r>
          </a:p>
          <a:p>
            <a:r>
              <a:rPr lang="en-US" dirty="0"/>
              <a:t>Chairman</a:t>
            </a:r>
          </a:p>
          <a:p>
            <a:r>
              <a:rPr lang="en-US" dirty="0"/>
              <a:t>Majority Shareholding</a:t>
            </a:r>
          </a:p>
          <a:p>
            <a:r>
              <a:rPr lang="en-US" dirty="0"/>
              <a:t>Preferential shareholding</a:t>
            </a:r>
          </a:p>
          <a:p>
            <a:r>
              <a:rPr lang="en-US" dirty="0"/>
              <a:t>Power to appoint and remove Director</a:t>
            </a:r>
          </a:p>
          <a:p>
            <a:r>
              <a:rPr lang="en-US" dirty="0"/>
              <a:t>Compulsory signatory to the account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</a:t>
            </a:r>
            <a:r>
              <a:rPr lang="en-US" dirty="0" err="1"/>
              <a:t>Secretaryship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is the Company Secretary</a:t>
            </a:r>
          </a:p>
          <a:p>
            <a:r>
              <a:rPr lang="en-US" dirty="0"/>
              <a:t>His Qualification</a:t>
            </a:r>
          </a:p>
          <a:p>
            <a:r>
              <a:rPr lang="en-US" dirty="0"/>
              <a:t>Personal Details</a:t>
            </a:r>
          </a:p>
          <a:p>
            <a:r>
              <a:rPr lang="en-US" dirty="0"/>
              <a:t>etc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What Types of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discussed at the overview</a:t>
            </a:r>
          </a:p>
          <a:p>
            <a:r>
              <a:rPr lang="en-US" dirty="0"/>
              <a:t>Thus, kinds of registered companies are;</a:t>
            </a:r>
          </a:p>
          <a:p>
            <a:pPr lvl="0">
              <a:buNone/>
            </a:pPr>
            <a:r>
              <a:rPr lang="en-US" dirty="0"/>
              <a:t>1. Private company limited by shares</a:t>
            </a:r>
          </a:p>
          <a:p>
            <a:pPr lvl="0">
              <a:buNone/>
            </a:pPr>
            <a:r>
              <a:rPr lang="en-US" dirty="0"/>
              <a:t>2. Public company limited by shares</a:t>
            </a:r>
          </a:p>
          <a:p>
            <a:pPr lvl="0">
              <a:buNone/>
            </a:pPr>
            <a:r>
              <a:rPr lang="en-US" dirty="0"/>
              <a:t>3. Private company limited by guarantee</a:t>
            </a:r>
          </a:p>
          <a:p>
            <a:pPr lvl="0">
              <a:buNone/>
            </a:pPr>
            <a:r>
              <a:rPr lang="en-US" dirty="0"/>
              <a:t>4. Public company limited by guarantee</a:t>
            </a:r>
          </a:p>
          <a:p>
            <a:pPr lvl="0">
              <a:buNone/>
            </a:pPr>
            <a:r>
              <a:rPr lang="en-US" dirty="0"/>
              <a:t>5. Private unlimited companies</a:t>
            </a:r>
          </a:p>
          <a:p>
            <a:pPr lvl="0">
              <a:buNone/>
            </a:pPr>
            <a:r>
              <a:rPr lang="en-US" dirty="0"/>
              <a:t>6. Public unlimited companies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Nature and objects of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 What are the objects of business. This will help the Solicitor to advice along</a:t>
            </a:r>
          </a:p>
          <a:p>
            <a:pPr>
              <a:buNone/>
            </a:pPr>
            <a:r>
              <a:rPr lang="en-US" dirty="0"/>
              <a:t>a. Share capital prescription. e.g. banking, insurance, security, aviation, shipping, capital market, asset management</a:t>
            </a:r>
          </a:p>
          <a:p>
            <a:pPr>
              <a:buNone/>
            </a:pPr>
            <a:r>
              <a:rPr lang="en-US" dirty="0"/>
              <a:t>b. need for proficiency certificate</a:t>
            </a:r>
          </a:p>
          <a:p>
            <a:pPr>
              <a:buNone/>
            </a:pPr>
            <a:r>
              <a:rPr lang="en-US" dirty="0"/>
              <a:t>c. Obtaining needed permits, </a:t>
            </a:r>
            <a:r>
              <a:rPr lang="en-US" dirty="0" err="1"/>
              <a:t>licence</a:t>
            </a:r>
            <a:r>
              <a:rPr lang="en-US" dirty="0"/>
              <a:t>, approval and consents. </a:t>
            </a:r>
          </a:p>
          <a:p>
            <a:pPr>
              <a:buNone/>
            </a:pPr>
            <a:r>
              <a:rPr lang="en-US" dirty="0"/>
              <a:t>d. Regulatory agencies, </a:t>
            </a:r>
            <a:r>
              <a:rPr lang="en-US" dirty="0" err="1"/>
              <a:t>paratastals</a:t>
            </a:r>
            <a:r>
              <a:rPr lang="en-US" dirty="0"/>
              <a:t>, bodies etc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/>
              <a:t>14. What is the proposed NAME of the business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buNone/>
            </a:pPr>
            <a:r>
              <a:rPr lang="en-US" dirty="0"/>
              <a:t>           Preferred name and Alternative Name</a:t>
            </a:r>
          </a:p>
          <a:p>
            <a:r>
              <a:rPr lang="en-US" dirty="0"/>
              <a:t>REGISTRATION AND NON-REGISTRABLE NAMES   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/>
              <a:t>Conflicting Names: already registered  corporate Name 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/>
              <a:t>Restricted Names: Names to be used subject to consent of CAC or solely reserved for a particular type of company 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/>
              <a:t>Prohibited Names: Names that cannot be approved because of their illegal, offensive or deceptive nature. 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Restricted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</a:t>
            </a:r>
            <a:r>
              <a:rPr lang="en-US" dirty="0" smtClean="0"/>
              <a:t>annot </a:t>
            </a:r>
            <a:r>
              <a:rPr lang="en-US" dirty="0"/>
              <a:t>be registered except with the consent of CAC </a:t>
            </a:r>
          </a:p>
          <a:p>
            <a:pPr lvl="0"/>
            <a:r>
              <a:rPr lang="en-US" dirty="0"/>
              <a:t>Name which contains the word “National”, “Government”, “ Municipal”, “State”, Federal”, “Regional” which in the opinion of the CAC suggests or is calculated to suggest that it enjoys the patronage of the Federal /State Government Nig. or any ministry or </a:t>
            </a:r>
            <a:r>
              <a:rPr lang="en-US" dirty="0" err="1"/>
              <a:t>dept</a:t>
            </a:r>
            <a:r>
              <a:rPr lang="en-US" dirty="0"/>
              <a:t> </a:t>
            </a:r>
            <a:endParaRPr lang="en-US" dirty="0" smtClean="0"/>
          </a:p>
          <a:p>
            <a:pPr lvl="0"/>
            <a:r>
              <a:rPr lang="en-US" dirty="0"/>
              <a:t>Contains the word “Municipal” or “ Chartered” or in the opinion of CAC suggest connection with any municipal or other local authority; </a:t>
            </a:r>
          </a:p>
          <a:p>
            <a:pPr lvl="0"/>
            <a:r>
              <a:rPr lang="en-US" dirty="0"/>
              <a:t>Contains the words “ co-operative” or the words “Building secured </a:t>
            </a:r>
          </a:p>
          <a:p>
            <a:pPr lvl="0"/>
            <a:r>
              <a:rPr lang="en-US" dirty="0"/>
              <a:t>Contains the word “Group” or “ Holding” </a:t>
            </a:r>
          </a:p>
          <a:p>
            <a:pPr lvl="0"/>
            <a:r>
              <a:rPr lang="en-US" dirty="0"/>
              <a:t>Name that contains the words “Chamber of commerce”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CHECKLIST OF PROHIBITED </a:t>
            </a:r>
            <a:br>
              <a:rPr lang="en-US" dirty="0"/>
            </a:br>
            <a:r>
              <a:rPr lang="en-US" dirty="0"/>
              <a:t>CORPORATE NAMES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Either because such name conflict with an</a:t>
            </a:r>
          </a:p>
          <a:p>
            <a:r>
              <a:rPr lang="en-US" dirty="0"/>
              <a:t> 1. Already registered </a:t>
            </a:r>
          </a:p>
          <a:p>
            <a:r>
              <a:rPr lang="en-US" dirty="0"/>
              <a:t>2.  Reserved names or</a:t>
            </a:r>
          </a:p>
          <a:p>
            <a:r>
              <a:rPr lang="en-US" dirty="0"/>
              <a:t>3.  Deceptive or </a:t>
            </a:r>
          </a:p>
          <a:p>
            <a:r>
              <a:rPr lang="en-US" dirty="0"/>
              <a:t>4. Illegal or offensive in its object or name.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DOCUMENTS/ITEMS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Memorandum and Articles of Association (2 printed and signed copies duly stamped at stamp Duties –FIRS)</a:t>
            </a:r>
          </a:p>
          <a:p>
            <a:pPr lvl="0"/>
            <a:r>
              <a:rPr lang="en-US" dirty="0"/>
              <a:t>Original receipts of registration fees, stamp duties and compliance oath. </a:t>
            </a:r>
          </a:p>
          <a:p>
            <a:pPr lvl="0"/>
            <a:r>
              <a:rPr lang="en-US" dirty="0"/>
              <a:t>Any other Document required by any other law /Regulation </a:t>
            </a:r>
            <a:r>
              <a:rPr lang="en-US" dirty="0" err="1"/>
              <a:t>e.g</a:t>
            </a:r>
            <a:r>
              <a:rPr lang="en-US" dirty="0"/>
              <a:t> PERMITS to operate/ issue by relevant regulatory bodies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Incorporation of companies Limited by Guarantee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STATUTORY FORMS:  </a:t>
            </a:r>
          </a:p>
          <a:p>
            <a:r>
              <a:rPr lang="en-US" dirty="0" err="1"/>
              <a:t>i</a:t>
            </a:r>
            <a:r>
              <a:rPr lang="en-US" dirty="0"/>
              <a:t>. FORMC CAC 1- Availability and Reservation of name </a:t>
            </a:r>
          </a:p>
          <a:p>
            <a:r>
              <a:rPr lang="en-US" dirty="0"/>
              <a:t> (within 60 days of reservation) </a:t>
            </a:r>
          </a:p>
          <a:p>
            <a:r>
              <a:rPr lang="en-US" dirty="0"/>
              <a:t>ii. FORM 1.1</a:t>
            </a:r>
            <a:r>
              <a:rPr lang="en-US" baseline="0" dirty="0"/>
              <a:t> with</a:t>
            </a:r>
            <a:r>
              <a:rPr lang="en-US" dirty="0"/>
              <a:t> Notice of registered office and address; </a:t>
            </a:r>
          </a:p>
          <a:p>
            <a:pPr>
              <a:buNone/>
            </a:pPr>
            <a:r>
              <a:rPr lang="en-US" dirty="0"/>
              <a:t> Declaration of compliance with the requirement of CAMA and</a:t>
            </a:r>
            <a:r>
              <a:rPr lang="en-US" baseline="0" dirty="0"/>
              <a:t> </a:t>
            </a:r>
            <a:r>
              <a:rPr lang="en-US" dirty="0"/>
              <a:t>Particulars of first Directors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DOCUMENTS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Memorandum and Articles of Association (With requisite special clauses &amp; duly stamped at FIRS; 2 copies) </a:t>
            </a:r>
          </a:p>
          <a:p>
            <a:pPr lvl="0"/>
            <a:r>
              <a:rPr lang="en-US" dirty="0"/>
              <a:t>Letter of consent from the Attorney General of the Federation </a:t>
            </a:r>
          </a:p>
          <a:p>
            <a:pPr lvl="0"/>
            <a:r>
              <a:rPr lang="en-US" dirty="0"/>
              <a:t>Receipt of registration fees and stamp duties for the memo and articles </a:t>
            </a:r>
          </a:p>
          <a:p>
            <a:r>
              <a:rPr lang="en-US" dirty="0"/>
              <a:t>Any other Document required by any other law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66749B-E0C1-D2DE-1C3C-C8232BA3B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towards Registration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99FCD-950F-1AC7-D857-CC3FFC37D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4400" dirty="0"/>
              <a:t>Take Instructions</a:t>
            </a:r>
          </a:p>
          <a:p>
            <a:pPr marL="0" indent="0">
              <a:buNone/>
            </a:pPr>
            <a:r>
              <a:rPr lang="en-US" sz="14400" dirty="0"/>
              <a:t>Create Account in CAC Company Registration Portal</a:t>
            </a:r>
          </a:p>
          <a:p>
            <a:pPr marL="0" indent="0">
              <a:buNone/>
            </a:pPr>
            <a:r>
              <a:rPr lang="en-US" sz="14400" dirty="0"/>
              <a:t>Check for availability check and reservation of name</a:t>
            </a:r>
          </a:p>
          <a:p>
            <a:pPr marL="0" indent="0">
              <a:buNone/>
            </a:pPr>
            <a:r>
              <a:rPr lang="en-US" sz="14400" dirty="0"/>
              <a:t>Complete pre registration </a:t>
            </a:r>
            <a:r>
              <a:rPr lang="en-US" sz="14400" dirty="0" smtClean="0"/>
              <a:t>form</a:t>
            </a:r>
          </a:p>
          <a:p>
            <a:pPr marL="0" indent="0">
              <a:buNone/>
            </a:pPr>
            <a:r>
              <a:rPr lang="en-US" sz="14400" dirty="0"/>
              <a:t>Upload all needed documents</a:t>
            </a:r>
          </a:p>
          <a:p>
            <a:pPr marL="0" indent="0">
              <a:buNone/>
            </a:pPr>
            <a:r>
              <a:rPr lang="en-US" sz="14400" dirty="0"/>
              <a:t>Pay the stamp duties</a:t>
            </a:r>
          </a:p>
          <a:p>
            <a:pPr marL="0" indent="0">
              <a:buNone/>
            </a:pPr>
            <a:r>
              <a:rPr lang="en-US" sz="14400" dirty="0"/>
              <a:t>Pay the filing fees</a:t>
            </a:r>
          </a:p>
          <a:p>
            <a:pPr marL="0" indent="0">
              <a:buNone/>
            </a:pPr>
            <a:r>
              <a:rPr lang="en-US" sz="14400" dirty="0"/>
              <a:t>Download </a:t>
            </a:r>
            <a:r>
              <a:rPr lang="en-US" sz="14400" dirty="0" smtClean="0"/>
              <a:t>on dashboard and </a:t>
            </a:r>
            <a:r>
              <a:rPr lang="en-US" sz="14400" dirty="0"/>
              <a:t>print all documents</a:t>
            </a:r>
          </a:p>
          <a:p>
            <a:endParaRPr lang="en-NG" sz="4000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807929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Needed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Statement of Capital &amp; Shareholding</a:t>
            </a:r>
          </a:p>
          <a:p>
            <a:r>
              <a:rPr lang="en-GB" sz="4000" dirty="0"/>
              <a:t>Guarantee</a:t>
            </a:r>
          </a:p>
          <a:p>
            <a:r>
              <a:rPr lang="en-GB" sz="4000" dirty="0"/>
              <a:t>Proposed Directors</a:t>
            </a:r>
          </a:p>
          <a:p>
            <a:r>
              <a:rPr lang="en-GB" sz="4000" dirty="0"/>
              <a:t>Compliance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When May CAC </a:t>
            </a:r>
            <a:r>
              <a:rPr lang="en-GB"/>
              <a:t>refuses Registration?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4400" dirty="0"/>
              <a:t>Non compliance with CAMA</a:t>
            </a:r>
          </a:p>
          <a:p>
            <a:r>
              <a:rPr lang="en-GB" sz="4400" dirty="0"/>
              <a:t>Business object not legal</a:t>
            </a:r>
          </a:p>
          <a:p>
            <a:r>
              <a:rPr lang="en-GB" sz="4400" dirty="0"/>
              <a:t>Incompetent subscriber</a:t>
            </a:r>
          </a:p>
          <a:p>
            <a:r>
              <a:rPr lang="en-GB" sz="4400" dirty="0"/>
              <a:t>Objection to name</a:t>
            </a:r>
          </a:p>
          <a:p>
            <a:r>
              <a:rPr lang="en-GB" sz="4400" dirty="0"/>
              <a:t>Non compliance with any other law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1678</Words>
  <Application>Microsoft Office PowerPoint</Application>
  <PresentationFormat>On-screen Show (4:3)</PresentationFormat>
  <Paragraphs>266</Paragraphs>
  <Slides>40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PowerPoint Presentation</vt:lpstr>
      <vt:lpstr>TYPES OF BUSINESS ORGANIZATIONS</vt:lpstr>
      <vt:lpstr>Right &amp; Capacity to Form Company</vt:lpstr>
      <vt:lpstr>Right of Minor in Company Formation?</vt:lpstr>
      <vt:lpstr>Who Lacks Capacity?</vt:lpstr>
      <vt:lpstr>FACTORS AFFECTING CHOICE OF BUSINESS ORGANIZATIONS</vt:lpstr>
      <vt:lpstr>What are the Options?</vt:lpstr>
      <vt:lpstr>COMPANY LIMITED BY GUARANTEE </vt:lpstr>
      <vt:lpstr>PowerPoint Presentation</vt:lpstr>
      <vt:lpstr>When recommended?</vt:lpstr>
      <vt:lpstr>UNLIMITED COMPANY </vt:lpstr>
      <vt:lpstr>COMPANY LIMITED BY SHARE </vt:lpstr>
      <vt:lpstr>FEATURES OF A PRIVATE COMPANY </vt:lpstr>
      <vt:lpstr>PowerPoint Presentation</vt:lpstr>
      <vt:lpstr>WHEN RECOMMENDED</vt:lpstr>
      <vt:lpstr>FEATURES OF A PUBLIC COMPANY </vt:lpstr>
      <vt:lpstr>PowerPoint Presentation</vt:lpstr>
      <vt:lpstr>WHEN RECOMMENDED: </vt:lpstr>
      <vt:lpstr>Distinguishing between Private &amp; Public</vt:lpstr>
      <vt:lpstr>CLIENT INTERVIEW</vt:lpstr>
      <vt:lpstr>1. Personal details</vt:lpstr>
      <vt:lpstr>2. Shareholders/ ownership</vt:lpstr>
      <vt:lpstr>3. Details of Directorship</vt:lpstr>
      <vt:lpstr>4. Sphere/dimension of Business</vt:lpstr>
      <vt:lpstr>5. SHARES</vt:lpstr>
      <vt:lpstr>6. Restrictions on Power of the Company</vt:lpstr>
      <vt:lpstr>7. Registered  Office Address</vt:lpstr>
      <vt:lpstr>8. Control and Management</vt:lpstr>
      <vt:lpstr>9. Secretaryship </vt:lpstr>
      <vt:lpstr>10. What Types of company</vt:lpstr>
      <vt:lpstr>12. Nature and objects of Business</vt:lpstr>
      <vt:lpstr> 14. What is the proposed NAME of the business  </vt:lpstr>
      <vt:lpstr>Restricted name</vt:lpstr>
      <vt:lpstr> CHECKLIST OF PROHIBITED  CORPORATE NAMES  </vt:lpstr>
      <vt:lpstr>OTHER DOCUMENTS/ITEMS  </vt:lpstr>
      <vt:lpstr>  Incorporation of companies Limited by Guarantee   </vt:lpstr>
      <vt:lpstr>OTHER DOCUMENTS  </vt:lpstr>
      <vt:lpstr>Steps towards Registration</vt:lpstr>
      <vt:lpstr>The Needed Statements</vt:lpstr>
      <vt:lpstr>When May CAC refuses Registration?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TEHILLA</dc:creator>
  <cp:lastModifiedBy>Tomi Obagboye</cp:lastModifiedBy>
  <cp:revision>72</cp:revision>
  <dcterms:created xsi:type="dcterms:W3CDTF">2014-12-04T08:18:44Z</dcterms:created>
  <dcterms:modified xsi:type="dcterms:W3CDTF">2025-04-22T11:56:12Z</dcterms:modified>
</cp:coreProperties>
</file>