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04" r:id="rId5"/>
    <p:sldId id="305" r:id="rId6"/>
    <p:sldId id="306" r:id="rId7"/>
    <p:sldId id="307" r:id="rId8"/>
    <p:sldId id="259" r:id="rId9"/>
    <p:sldId id="262" r:id="rId10"/>
    <p:sldId id="308" r:id="rId11"/>
    <p:sldId id="312" r:id="rId12"/>
    <p:sldId id="309" r:id="rId13"/>
    <p:sldId id="310" r:id="rId14"/>
    <p:sldId id="263" r:id="rId15"/>
    <p:sldId id="303" r:id="rId16"/>
    <p:sldId id="283" r:id="rId17"/>
    <p:sldId id="265" r:id="rId18"/>
    <p:sldId id="270" r:id="rId19"/>
    <p:sldId id="284" r:id="rId20"/>
    <p:sldId id="286" r:id="rId21"/>
    <p:sldId id="288" r:id="rId22"/>
    <p:sldId id="291" r:id="rId23"/>
    <p:sldId id="292" r:id="rId24"/>
    <p:sldId id="293" r:id="rId25"/>
    <p:sldId id="296" r:id="rId26"/>
    <p:sldId id="297" r:id="rId27"/>
    <p:sldId id="311" r:id="rId28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B6E2B-64F9-42E0-AA48-E2992E192C6E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C57F3-8312-47B3-A316-64E914CC04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 TRIAL INVESTIGATION AND POLICE INTERVIEW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0440"/>
          </a:xfrm>
        </p:spPr>
        <p:txBody>
          <a:bodyPr/>
          <a:lstStyle/>
          <a:p>
            <a:r>
              <a:rPr lang="en-US" dirty="0"/>
              <a:t>EXPECTED OUTCOME: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877" y="1051560"/>
            <a:ext cx="8229600" cy="580644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EXPLAIN HOW TO CONDUCT A PRE-TRIAL INVESTIGATION.</a:t>
            </a:r>
          </a:p>
          <a:p>
            <a:pPr algn="just"/>
            <a:r>
              <a:rPr lang="en-US" sz="3600" dirty="0"/>
              <a:t>PARTICIPATE IN A POLICE INTERVIEW</a:t>
            </a:r>
          </a:p>
          <a:p>
            <a:pPr algn="just"/>
            <a:r>
              <a:rPr lang="en-US" sz="3600" dirty="0"/>
              <a:t>DISCUSS HOW ALIBI, STATEMENT AND CONFESSION ARE RECORDED AT THE POLICE STATION(JUDGES RULE), HOW IDENTIFICATION PARADE IS CONDUCTED AND HOW EXHIBITS ARE HANDLED.</a:t>
            </a:r>
          </a:p>
          <a:p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78"/>
            <a:ext cx="8229600" cy="6717322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LIST AND EXPLAIN THE CONSTITUTIONAL RIGHTS OF A SUSPECT AT THE POLICE STATION</a:t>
            </a:r>
          </a:p>
          <a:p>
            <a:pPr algn="just"/>
            <a:r>
              <a:rPr lang="en-US" sz="3600" dirty="0"/>
              <a:t>EXPLAIN HOW TO APPLY FOR THE ASSISTANCE OF A CITIZEN UNDER THE LEGAL AID SCHEME AND HOW TO OBTAIN A POLICE BAIL.</a:t>
            </a:r>
          </a:p>
          <a:p>
            <a:pPr algn="just"/>
            <a:r>
              <a:rPr lang="en-US" sz="3600" dirty="0"/>
              <a:t>EXPLAIN OPTIONS AVAILABLE TO THE SUSPECT UPON REFUSAL OF POLICE BAIL – HABEAS CORPUS, AND FUNDAMENTAL RIGHTS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09CD-CFBE-44D8-82F8-4657B9E3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4572"/>
            <a:ext cx="8229600" cy="5591591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DISCUSS THE JURISDICTION OF THE MAGISTRATES’ COURT IN REMAND PROCEEDINGS INCLUDING THE DISTINCTION BETWEEN REMAND PROCEEDINGS AND HOLDING CHARGE.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918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183A-3CA9-4311-85C6-6F95C9FE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8806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40EF-B039-4DD9-AB45-B2B74309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2198"/>
            <a:ext cx="8229600" cy="5880294"/>
          </a:xfrm>
        </p:spPr>
        <p:txBody>
          <a:bodyPr>
            <a:noAutofit/>
          </a:bodyPr>
          <a:lstStyle/>
          <a:p>
            <a:pPr algn="just"/>
            <a:r>
              <a:rPr lang="en-US" sz="3700" dirty="0"/>
              <a:t>HOW POLICE INTERVIEWS ARE CONDUCTED.</a:t>
            </a:r>
          </a:p>
          <a:p>
            <a:pPr algn="just"/>
            <a:r>
              <a:rPr lang="en-US" sz="3700" dirty="0"/>
              <a:t>CONSTITUTIONAL RIGHTS AVAILABLE TO A SUSPECT AT THE POLICE STATION.</a:t>
            </a:r>
          </a:p>
          <a:p>
            <a:pPr algn="just"/>
            <a:r>
              <a:rPr lang="en-US" sz="3700" dirty="0"/>
              <a:t>ADVISE ON THE RIGHTS AND CIRCUMSTANCES OF SUSPECT THAT MAY REQUIRE THE SERVICES OF THE LEGAL AID SCHEME.</a:t>
            </a:r>
          </a:p>
          <a:p>
            <a:pPr algn="just"/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43882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C822C2-A977-4CB0-96E5-EB562A37E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8129"/>
            <a:ext cx="8229600" cy="4895557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ADVISE ON THE PROCEDURE TO BE FOLLOWED BY THE POLICE IN CONDUCTING EFFECTIVE STATION INTERVIEW. </a:t>
            </a:r>
          </a:p>
          <a:p>
            <a:pPr algn="just"/>
            <a:r>
              <a:rPr lang="en-US" sz="3600" dirty="0"/>
              <a:t>HOW TO APPLY FOR POLICE BAIL.</a:t>
            </a:r>
          </a:p>
          <a:p>
            <a:pPr algn="just"/>
            <a:r>
              <a:rPr lang="en-US" sz="3600" dirty="0"/>
              <a:t>ADVISE ON CIRCUMSTANCES WHERE THE POLICE MAY GRANT BAIL PENDING FURTHER INVESTIGATION. 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0071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1C774-E01F-4920-A477-D6664BA4C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3551"/>
            <a:ext cx="8229600" cy="3657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OPTIONS AVAILABLE TO THE SUSPECT UPON REFUSAL OF BAIL BY THE POLICE.</a:t>
            </a:r>
          </a:p>
          <a:p>
            <a:pPr algn="just"/>
            <a:r>
              <a:rPr lang="en-US" sz="3600" dirty="0"/>
              <a:t>REMAND PROCEEDINGS AT THE MAGISTRATES’ COURT.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9471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PRE-TRIAL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484"/>
            <a:ext cx="8229600" cy="5718516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sz="3600" dirty="0"/>
              <a:t>MEANING </a:t>
            </a:r>
          </a:p>
          <a:p>
            <a:pPr algn="just"/>
            <a:r>
              <a:rPr lang="en-US" sz="3600" dirty="0"/>
              <a:t>PURPOSE OF PRE-TRIAL INVESTIGATION</a:t>
            </a:r>
          </a:p>
          <a:p>
            <a:pPr algn="just"/>
            <a:r>
              <a:rPr lang="en-US" sz="3600" dirty="0"/>
              <a:t>AUTHORITY TO INVESTIGATE, </a:t>
            </a:r>
            <a:r>
              <a:rPr lang="en-US" sz="3600" dirty="0">
                <a:solidFill>
                  <a:srgbClr val="FF0000"/>
                </a:solidFill>
              </a:rPr>
              <a:t>S 4 POLICE ACT, 2020, I.G.P. V UBA (2015) 11 N.W.L.R. (PART 1471) P. 405 RATIOS 1-6. </a:t>
            </a:r>
          </a:p>
          <a:p>
            <a:pPr algn="just"/>
            <a:r>
              <a:rPr lang="en-US" sz="3600" dirty="0"/>
              <a:t>CONDUCTING A POLICE INTERVIEW</a:t>
            </a:r>
          </a:p>
          <a:p>
            <a:pPr algn="just"/>
            <a:r>
              <a:rPr lang="en-US" sz="3600" dirty="0"/>
              <a:t>VENUE OF POLICE INTERVIEW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0"/>
            <a:ext cx="8264769" cy="900332"/>
          </a:xfrm>
        </p:spPr>
        <p:txBody>
          <a:bodyPr>
            <a:noAutofit/>
          </a:bodyPr>
          <a:lstStyle/>
          <a:p>
            <a:r>
              <a:rPr lang="en-US" b="1" dirty="0"/>
              <a:t>RIGHTS OF A SUSPECT IN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9994"/>
            <a:ext cx="8229600" cy="60280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/>
              <a:t>(1) RIGHT TO BE INFORMED OF THE REASON FOR HIS ARREST</a:t>
            </a:r>
            <a:r>
              <a:rPr lang="en-US" sz="3600" dirty="0">
                <a:solidFill>
                  <a:srgbClr val="FF0000"/>
                </a:solidFill>
              </a:rPr>
              <a:t>. S, 35 CONST. S. 14 (1) ACJA, S. 3(1) LAGOS, S 29 KANO</a:t>
            </a:r>
          </a:p>
          <a:p>
            <a:pPr marL="0" indent="0" algn="just">
              <a:buNone/>
            </a:pPr>
            <a:r>
              <a:rPr lang="en-US" sz="3600" dirty="0"/>
              <a:t>(2) RIGHT TO SILENCE, </a:t>
            </a:r>
            <a:r>
              <a:rPr lang="en-US" sz="3600" dirty="0">
                <a:solidFill>
                  <a:srgbClr val="FF0000"/>
                </a:solidFill>
              </a:rPr>
              <a:t>S 35(2) CONST., S 29(2) KANO,   S 3(2) LAGOS, S 6(2) ACJA</a:t>
            </a:r>
          </a:p>
          <a:p>
            <a:pPr marL="0" indent="0" algn="just">
              <a:buNone/>
            </a:pPr>
            <a:r>
              <a:rPr lang="en-US" sz="3600" dirty="0"/>
              <a:t>(3) RIGHT TO DIGNITY OF HUMAN PERSON.</a:t>
            </a:r>
            <a:endParaRPr lang="en-US" sz="36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 S. 34 CONST. S 12(2) LAGOS, S 31(1) KANO, S 8(1) ACJA, UZOAKWO V. EZEONU II (1991) 6 N.W.L.R. (PART 200) P. 708.  </a:t>
            </a:r>
            <a:r>
              <a:rPr lang="en-US" sz="3600" dirty="0"/>
              <a:t>NOTE: EXCEPTIONS- </a:t>
            </a:r>
            <a:r>
              <a:rPr lang="en-US" sz="3600" dirty="0">
                <a:solidFill>
                  <a:srgbClr val="FF0000"/>
                </a:solidFill>
              </a:rPr>
              <a:t>S 5 ACJA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3352800"/>
            <a:ext cx="1524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34ED5-A240-4484-A8C6-F14E6292B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3218"/>
            <a:ext cx="8229600" cy="6604782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arenBoth"/>
            </a:pPr>
            <a:r>
              <a:rPr lang="en-US" sz="3600" dirty="0"/>
              <a:t>RIGHT TO FACILITIES FOR HIS DEFENCE.  </a:t>
            </a:r>
            <a:r>
              <a:rPr lang="en-US" sz="3600" dirty="0">
                <a:solidFill>
                  <a:srgbClr val="FF0000"/>
                </a:solidFill>
              </a:rPr>
              <a:t>S. 14 AND 15 A.C.J.A. 2015, S 9(2) ACJL LAGOS</a:t>
            </a:r>
          </a:p>
          <a:p>
            <a:pPr marL="514350" indent="-514350" algn="just">
              <a:buAutoNum type="arabicParenBoth"/>
            </a:pPr>
            <a:r>
              <a:rPr lang="en-US" sz="3600" dirty="0"/>
              <a:t>RIGHT TO INTERPRETER.</a:t>
            </a:r>
            <a:r>
              <a:rPr lang="en-US" sz="3600" dirty="0">
                <a:solidFill>
                  <a:srgbClr val="FF0000"/>
                </a:solidFill>
              </a:rPr>
              <a:t> S. 36(6) CONST. S.17(3) ACJL LAGOS, S 40(3) ACJL KANO</a:t>
            </a:r>
          </a:p>
          <a:p>
            <a:pPr marL="514350" indent="-514350" algn="just">
              <a:buAutoNum type="arabicParenBoth"/>
            </a:pPr>
            <a:r>
              <a:rPr lang="en-US" sz="3600" dirty="0"/>
              <a:t>RIGHT TO BE ARRAIGNED WITHIN REASONABLE TIME. </a:t>
            </a:r>
            <a:r>
              <a:rPr lang="en-US" sz="3600" dirty="0">
                <a:solidFill>
                  <a:srgbClr val="FF0000"/>
                </a:solidFill>
              </a:rPr>
              <a:t>S. 35(4) &amp; (5) 1999 CONST.</a:t>
            </a:r>
          </a:p>
          <a:p>
            <a:pPr marL="514350" indent="-514350" algn="just">
              <a:buAutoNum type="arabicParenBoth"/>
            </a:pPr>
            <a:r>
              <a:rPr lang="en-US" sz="3600" dirty="0"/>
              <a:t> RIGHT TO LEGAL REPRESENTATION  </a:t>
            </a:r>
            <a:r>
              <a:rPr lang="en-US" sz="3600" dirty="0">
                <a:solidFill>
                  <a:srgbClr val="FF0000"/>
                </a:solidFill>
              </a:rPr>
              <a:t>S 35(2) CONST., S 17 (2) ACJA, S 40(2) ACJL KANO, S 17 (2) ACJL LAGOS.</a:t>
            </a:r>
          </a:p>
          <a:p>
            <a:r>
              <a:rPr lang="en-US" sz="3600" dirty="0"/>
              <a:t>NOTE: LEGAL AID SCHEME.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845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EB38-64F0-419E-BD3D-22C35D63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AID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B8BE-6B4B-4235-A429-239C84B5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 46 (4) (B) CONST. </a:t>
            </a:r>
          </a:p>
          <a:p>
            <a:r>
              <a:rPr lang="en-US" sz="3600" dirty="0">
                <a:solidFill>
                  <a:srgbClr val="FF0000"/>
                </a:solidFill>
              </a:rPr>
              <a:t>S 6(2)(C) ACJA, S 3 (3) ACJL LAGOS, S 29 ACJL KANO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PURPOSE OF LEGAL AID SCHEME </a:t>
            </a:r>
            <a:r>
              <a:rPr lang="en-US" sz="3600" dirty="0">
                <a:solidFill>
                  <a:srgbClr val="FF0000"/>
                </a:solidFill>
              </a:rPr>
              <a:t>SS 1 &amp; 8 LEGAL AID ACT, 2011.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CRITERIA FOR GRANT OF LEGAL AID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MODE OF APPLICATION</a:t>
            </a:r>
          </a:p>
        </p:txBody>
      </p:sp>
    </p:spTree>
    <p:extLst>
      <p:ext uri="{BB962C8B-B14F-4D97-AF65-F5344CB8AC3E}">
        <p14:creationId xmlns:p14="http://schemas.microsoft.com/office/powerpoint/2010/main" val="1748893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C9BD5-CE2E-4DF3-8957-97B45D844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9993"/>
            <a:ext cx="8229600" cy="5239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dirty="0"/>
              <a:t>(5) RIGHT TO PERSONAL LIBERTY, </a:t>
            </a:r>
            <a:r>
              <a:rPr lang="en-US" sz="4000" dirty="0">
                <a:solidFill>
                  <a:srgbClr val="FF0000"/>
                </a:solidFill>
              </a:rPr>
              <a:t>S 35 CONST., S 50(1) ACJL KANO, S 17(1) ACJL LAGOS, S 30 &amp; 31(1) ACJA.</a:t>
            </a:r>
          </a:p>
          <a:p>
            <a:pPr marL="0" indent="0" algn="just">
              <a:buNone/>
            </a:pPr>
            <a:r>
              <a:rPr lang="en-US" sz="4000" dirty="0"/>
              <a:t>     **POLICE/ ADMINISTRATIVE BAIL**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sz="4000" dirty="0"/>
              <a:t>LIMITATION – </a:t>
            </a:r>
            <a:r>
              <a:rPr lang="en-US" sz="4000" dirty="0">
                <a:solidFill>
                  <a:srgbClr val="FF0000"/>
                </a:solidFill>
              </a:rPr>
              <a:t>S 30 (3) ACJA</a:t>
            </a:r>
          </a:p>
          <a:p>
            <a:pPr marL="0" indent="0" algn="just">
              <a:buNone/>
            </a:pPr>
            <a:r>
              <a:rPr lang="en-US" sz="4000" dirty="0"/>
              <a:t>PROCEDURE FOR APPLICATION</a:t>
            </a:r>
          </a:p>
          <a:p>
            <a:pPr marL="0" indent="0" algn="just">
              <a:buNone/>
            </a:pPr>
            <a:r>
              <a:rPr lang="en-US" sz="4000" dirty="0"/>
              <a:t>NOTE: </a:t>
            </a:r>
            <a:r>
              <a:rPr lang="en-US" sz="4000" dirty="0">
                <a:solidFill>
                  <a:srgbClr val="FF0000"/>
                </a:solidFill>
              </a:rPr>
              <a:t>RULE 37 RPC.</a:t>
            </a:r>
          </a:p>
        </p:txBody>
      </p:sp>
    </p:spTree>
    <p:extLst>
      <p:ext uri="{BB962C8B-B14F-4D97-AF65-F5344CB8AC3E}">
        <p14:creationId xmlns:p14="http://schemas.microsoft.com/office/powerpoint/2010/main" val="393089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254B-CE43-4DC4-83A8-68F37A78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" y="0"/>
            <a:ext cx="8517988" cy="105507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REMEDIES AVAILABLE WHERE BAIL IS REFUSED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0969-499F-4B33-828B-50EC8C302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1009"/>
            <a:ext cx="8229600" cy="581699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/>
                <a:cs typeface="Times New Roman"/>
              </a:rPr>
              <a:t>JUDICIAL REVIEW </a:t>
            </a:r>
            <a:r>
              <a:rPr lang="en-US" sz="3600" dirty="0">
                <a:solidFill>
                  <a:srgbClr val="FF0000"/>
                </a:solidFill>
                <a:latin typeface="Times New Roman"/>
                <a:cs typeface="Times New Roman"/>
              </a:rPr>
              <a:t>O. 44 ABUJA RULES, O. 46 LAGOS RULES.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/>
                <a:cs typeface="Times New Roman"/>
              </a:rPr>
              <a:t>ENFORCEMENT OF FUNDAMENTAL HUMAN RIGHTS, </a:t>
            </a:r>
            <a:r>
              <a:rPr lang="en-US" sz="3600" dirty="0">
                <a:solidFill>
                  <a:srgbClr val="FF0000"/>
                </a:solidFill>
                <a:latin typeface="Times New Roman"/>
                <a:cs typeface="Times New Roman"/>
              </a:rPr>
              <a:t>ORDER 1 FREP RULES, 2009, S.46 (1) CONST.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/>
                <a:cs typeface="Times New Roman"/>
              </a:rPr>
              <a:t>APPLICATION FOR BAIL </a:t>
            </a:r>
            <a:r>
              <a:rPr lang="en-US" sz="3600" dirty="0">
                <a:solidFill>
                  <a:srgbClr val="FF0000"/>
                </a:solidFill>
                <a:latin typeface="Times New Roman"/>
                <a:cs typeface="Times New Roman"/>
              </a:rPr>
              <a:t>Ss. 30, 32, 159 ACJA, 18 ACJL LAGOS; 51 ACJL KANO.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/>
                <a:cs typeface="Times New Roman"/>
              </a:rPr>
              <a:t> PUBLIC APOLOGY/COMPENSATION S 35 (6) CONST.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215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73723"/>
          </a:xfrm>
        </p:spPr>
        <p:txBody>
          <a:bodyPr>
            <a:noAutofit/>
          </a:bodyPr>
          <a:lstStyle/>
          <a:p>
            <a:r>
              <a:rPr lang="en-US" sz="4000" b="1" dirty="0"/>
              <a:t>CONFESSIONAL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5588"/>
            <a:ext cx="8229600" cy="6112412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MEANING OF CONFESSION:  </a:t>
            </a:r>
            <a:r>
              <a:rPr lang="en-US" sz="3600" dirty="0">
                <a:solidFill>
                  <a:srgbClr val="FF0000"/>
                </a:solidFill>
              </a:rPr>
              <a:t>S. 28 E.A. AKPAN VS THE STATE (2001) F.W.L.R. (PART 75) P. 428 RATIO 1.</a:t>
            </a:r>
          </a:p>
          <a:p>
            <a:pPr algn="just"/>
            <a:r>
              <a:rPr lang="en-US" sz="3600" dirty="0"/>
              <a:t>FEATURES OF A CONFESSION. </a:t>
            </a:r>
            <a:r>
              <a:rPr lang="en-US" sz="3600" dirty="0">
                <a:solidFill>
                  <a:srgbClr val="FF0000"/>
                </a:solidFill>
              </a:rPr>
              <a:t>MUSA VS THE STATE (2018) 7 SCM. P. 92.; KAMILA VS. THE STATE (2018) 6 SCM. P.100</a:t>
            </a:r>
          </a:p>
          <a:p>
            <a:pPr algn="just"/>
            <a:r>
              <a:rPr lang="en-US" sz="3600" dirty="0"/>
              <a:t>WHEN IS A CONFESSION SAID TO BE ADMISSIBLE? </a:t>
            </a:r>
            <a:r>
              <a:rPr lang="en-US" sz="3600" dirty="0">
                <a:solidFill>
                  <a:srgbClr val="FF0000"/>
                </a:solidFill>
              </a:rPr>
              <a:t>S. 29 E.A.</a:t>
            </a:r>
          </a:p>
          <a:p>
            <a:pPr algn="just"/>
            <a:r>
              <a:rPr lang="en-US" sz="3600" dirty="0"/>
              <a:t>CHALLENGE OF ADMISSIBILITY/TIME TO OBJECT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E399-7994-4236-A56F-DC5F0B33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980"/>
            <a:ext cx="8229600" cy="1800905"/>
          </a:xfrm>
        </p:spPr>
        <p:txBody>
          <a:bodyPr>
            <a:normAutofit/>
          </a:bodyPr>
          <a:lstStyle/>
          <a:p>
            <a:pPr algn="just"/>
            <a:r>
              <a:rPr lang="en-US" sz="4000" dirty="0"/>
              <a:t>LEGAL REQUIREMENT FOR OBTAINING A CONFESSIONAL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43E5-A50D-49F4-958C-23EA1AA20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772530"/>
            <a:ext cx="8280400" cy="5085470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FF0000"/>
                </a:solidFill>
              </a:rPr>
              <a:t>S 9(3) ACJL LAGOS </a:t>
            </a:r>
          </a:p>
          <a:p>
            <a:pPr algn="just"/>
            <a:r>
              <a:rPr lang="en-US" sz="3600" dirty="0">
                <a:solidFill>
                  <a:srgbClr val="FF0000"/>
                </a:solidFill>
              </a:rPr>
              <a:t>S 15 (4) ACJA</a:t>
            </a:r>
          </a:p>
          <a:p>
            <a:pPr algn="just"/>
            <a:r>
              <a:rPr lang="en-US" sz="3600" dirty="0">
                <a:solidFill>
                  <a:srgbClr val="FF0000"/>
                </a:solidFill>
              </a:rPr>
              <a:t>S 38(4) ACJL KANO</a:t>
            </a:r>
          </a:p>
          <a:p>
            <a:pPr algn="just"/>
            <a:r>
              <a:rPr lang="en-US" sz="3600" dirty="0">
                <a:solidFill>
                  <a:srgbClr val="FF0000"/>
                </a:solidFill>
              </a:rPr>
              <a:t>S 35(2) CONST. </a:t>
            </a:r>
          </a:p>
          <a:p>
            <a:pPr algn="just"/>
            <a:r>
              <a:rPr lang="en-US" sz="3600" dirty="0">
                <a:solidFill>
                  <a:srgbClr val="FF0000"/>
                </a:solidFill>
              </a:rPr>
              <a:t>CHARLES V STATE OF LAGOS (2023) 13 NWLR(PT 1901)213@241-244 SC</a:t>
            </a:r>
          </a:p>
          <a:p>
            <a:pPr algn="just"/>
            <a:r>
              <a:rPr lang="en-US" sz="3600" dirty="0"/>
              <a:t>NOTE: </a:t>
            </a:r>
            <a:r>
              <a:rPr lang="en-US" sz="3600" dirty="0">
                <a:solidFill>
                  <a:srgbClr val="FF0000"/>
                </a:solidFill>
              </a:rPr>
              <a:t>S 15(5) ACJA, S 38(5) ACJL KANO S 14 &amp; 15 E. A</a:t>
            </a:r>
          </a:p>
        </p:txBody>
      </p:sp>
    </p:spTree>
    <p:extLst>
      <p:ext uri="{BB962C8B-B14F-4D97-AF65-F5344CB8AC3E}">
        <p14:creationId xmlns:p14="http://schemas.microsoft.com/office/powerpoint/2010/main" val="9506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AN INTERPRETER: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NWAEZE VS THE STATE </a:t>
            </a:r>
            <a:r>
              <a:rPr lang="en-US" sz="3600" dirty="0"/>
              <a:t>(1996) 2 N.W.LR. (Part 428) p. 1. </a:t>
            </a:r>
            <a:r>
              <a:rPr lang="en-US" sz="3600" dirty="0">
                <a:solidFill>
                  <a:srgbClr val="FF0000"/>
                </a:solidFill>
              </a:rPr>
              <a:t>OLALEKAN VS. THE STATE </a:t>
            </a:r>
            <a:r>
              <a:rPr lang="en-US" sz="3600" dirty="0"/>
              <a:t>(2002) F.W.LR. PART 91 P. 1505., </a:t>
            </a:r>
            <a:r>
              <a:rPr lang="en-US" sz="3600" dirty="0">
                <a:solidFill>
                  <a:srgbClr val="FF0000"/>
                </a:solidFill>
              </a:rPr>
              <a:t>F.R.N. VS</a:t>
            </a:r>
            <a:r>
              <a:rPr lang="en-US" sz="3600" b="1" dirty="0">
                <a:solidFill>
                  <a:srgbClr val="FF0000"/>
                </a:solidFill>
              </a:rPr>
              <a:t>. </a:t>
            </a:r>
            <a:r>
              <a:rPr lang="en-US" sz="3600" dirty="0">
                <a:solidFill>
                  <a:srgbClr val="FF0000"/>
                </a:solidFill>
              </a:rPr>
              <a:t>USMAN</a:t>
            </a:r>
            <a:r>
              <a:rPr lang="en-US" sz="3600" dirty="0"/>
              <a:t> (2012) 8 N.W.L.R.(PT. 1301) P. 141; </a:t>
            </a:r>
            <a:r>
              <a:rPr lang="en-US" sz="3600" dirty="0">
                <a:solidFill>
                  <a:srgbClr val="FF0000"/>
                </a:solidFill>
              </a:rPr>
              <a:t>IFARAMOYE VS. THE STATE </a:t>
            </a:r>
            <a:r>
              <a:rPr lang="en-US" sz="3600" dirty="0"/>
              <a:t>(2017) 4 SCM P. 1; (2017)N.W.L.R. (PART 1568) P. 457 AT 463 RATIO 5; </a:t>
            </a:r>
            <a:r>
              <a:rPr lang="en-US" sz="3600" dirty="0">
                <a:solidFill>
                  <a:srgbClr val="FF0000"/>
                </a:solidFill>
              </a:rPr>
              <a:t>BELLO VS. C.O.P. </a:t>
            </a:r>
            <a:r>
              <a:rPr lang="en-US" sz="3600" dirty="0"/>
              <a:t>(2018) 2 N.W.L.R. (PART 1603) P. 267 AT 274 RATIO 2, </a:t>
            </a:r>
            <a:r>
              <a:rPr lang="en-US" sz="3600" dirty="0">
                <a:solidFill>
                  <a:srgbClr val="FF0000"/>
                </a:solidFill>
              </a:rPr>
              <a:t>S  15 ACJA.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846406"/>
          </a:xfrm>
        </p:spPr>
        <p:txBody>
          <a:bodyPr>
            <a:normAutofit/>
          </a:bodyPr>
          <a:lstStyle/>
          <a:p>
            <a:r>
              <a:rPr lang="en-US" b="1" dirty="0"/>
              <a:t>THE JUDGES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8129"/>
            <a:ext cx="8229600" cy="5999871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RULE ONE:</a:t>
            </a:r>
          </a:p>
          <a:p>
            <a:pPr marL="0" indent="0" algn="just">
              <a:buNone/>
            </a:pPr>
            <a:r>
              <a:rPr lang="en-US" sz="3600" dirty="0"/>
              <a:t>THE POLICE IS ENTITLED TO QUESTION ANY PERSON IN THE COURSE OF INVESTIGATION OF A CRIME.</a:t>
            </a:r>
          </a:p>
          <a:p>
            <a:pPr algn="just"/>
            <a:r>
              <a:rPr lang="en-US" sz="3600" b="1" dirty="0"/>
              <a:t>RULE TWO</a:t>
            </a:r>
          </a:p>
          <a:p>
            <a:pPr marL="0" indent="0" algn="just">
              <a:buNone/>
            </a:pPr>
            <a:r>
              <a:rPr lang="en-US" sz="3600" dirty="0"/>
              <a:t>THE POLICE MUST CAUTION A PERSON WHERE THERE IS REASONABLE GROUND TO SUSPECT THAT SUCH A PERSON HAS COMMITTED A CRIME. </a:t>
            </a:r>
            <a:r>
              <a:rPr lang="en-US" sz="3600" dirty="0">
                <a:solidFill>
                  <a:srgbClr val="FF0000"/>
                </a:solidFill>
              </a:rPr>
              <a:t>OLAOYE VS THE STATE</a:t>
            </a:r>
            <a:r>
              <a:rPr lang="en-US" sz="3600" dirty="0"/>
              <a:t> (2019) 3 SCM P. 167 at 172 RATIO 3 (b).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610"/>
            <a:ext cx="8229600" cy="673139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b="1" dirty="0"/>
              <a:t>RULE THREE</a:t>
            </a:r>
          </a:p>
          <a:p>
            <a:pPr marL="0" indent="0" algn="just">
              <a:buNone/>
            </a:pPr>
            <a:r>
              <a:rPr lang="en-US" sz="3600" dirty="0"/>
              <a:t>WHERE THE SUSPECT ELECTS TO MAKE A STATEMENT, A FURTHER CAUTION MUST BE ISSUED.</a:t>
            </a:r>
          </a:p>
          <a:p>
            <a:pPr algn="just"/>
            <a:r>
              <a:rPr lang="en-US" sz="3600" b="1" dirty="0"/>
              <a:t>RULE FOUR</a:t>
            </a:r>
          </a:p>
          <a:p>
            <a:pPr marL="0" indent="0" algn="just">
              <a:buNone/>
            </a:pPr>
            <a:r>
              <a:rPr lang="en-US" sz="3600" dirty="0"/>
              <a:t>THE POLICE MUST KEEP A RECORD OF QUESTIONING SIGNED BY THE SUSPECT OR THE IPO.</a:t>
            </a:r>
          </a:p>
          <a:p>
            <a:pPr algn="just"/>
            <a:r>
              <a:rPr lang="en-US" sz="3600" b="1" dirty="0"/>
              <a:t>RULE FIVE</a:t>
            </a:r>
          </a:p>
          <a:p>
            <a:pPr marL="0" indent="0" algn="just">
              <a:buNone/>
            </a:pPr>
            <a:r>
              <a:rPr lang="en-US" sz="3600" dirty="0"/>
              <a:t>EVERY STATEMENT BY OR AGAINST THE SUSPECT MUST BE WRITTEN AND RECORDED.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236"/>
          </a:xfrm>
        </p:spPr>
        <p:txBody>
          <a:bodyPr>
            <a:normAutofit fontScale="90000"/>
          </a:bodyPr>
          <a:lstStyle/>
          <a:p>
            <a:r>
              <a:rPr lang="en-US" dirty="0"/>
              <a:t>ALIBI: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8634"/>
            <a:ext cx="8229600" cy="5479366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MEANING OF ALIBI, </a:t>
            </a:r>
            <a:r>
              <a:rPr lang="en-US" sz="3600" dirty="0">
                <a:solidFill>
                  <a:srgbClr val="FF0000"/>
                </a:solidFill>
              </a:rPr>
              <a:t>SHEHU V THE STATE </a:t>
            </a:r>
            <a:r>
              <a:rPr lang="en-US" sz="3600" dirty="0"/>
              <a:t>(2010) ALL FWLR.(PT. 523) P. 184 AT 1858;  </a:t>
            </a:r>
            <a:r>
              <a:rPr lang="en-US" sz="3600" dirty="0">
                <a:solidFill>
                  <a:srgbClr val="FF0000"/>
                </a:solidFill>
              </a:rPr>
              <a:t>ESENE VS THE STATE </a:t>
            </a:r>
            <a:r>
              <a:rPr lang="en-US" sz="3600" dirty="0"/>
              <a:t>(2017) 7 SCM P. 88 AT P. 94 RATIO 10.</a:t>
            </a:r>
          </a:p>
          <a:p>
            <a:pPr algn="just"/>
            <a:r>
              <a:rPr lang="en-US" sz="3600" dirty="0"/>
              <a:t>BURDEN ON DEFENCE</a:t>
            </a:r>
          </a:p>
          <a:p>
            <a:pPr algn="just"/>
            <a:r>
              <a:rPr lang="en-US" sz="3600" dirty="0"/>
              <a:t>DUTY OF PROSECUTION, </a:t>
            </a:r>
            <a:r>
              <a:rPr lang="en-US" sz="3600" dirty="0">
                <a:solidFill>
                  <a:srgbClr val="FF0000"/>
                </a:solidFill>
              </a:rPr>
              <a:t>NDIDI V THE STATE </a:t>
            </a:r>
            <a:r>
              <a:rPr lang="en-US" sz="3600" dirty="0"/>
              <a:t>(2007) 13 NWLR. (PT. 1052) AT 651.; </a:t>
            </a:r>
            <a:r>
              <a:rPr lang="en-US" sz="3600" dirty="0">
                <a:solidFill>
                  <a:srgbClr val="FF0000"/>
                </a:solidFill>
              </a:rPr>
              <a:t>OSUAGWU VS THE STATE </a:t>
            </a:r>
            <a:r>
              <a:rPr lang="en-US" sz="3600" dirty="0"/>
              <a:t>(2013) 1-2 S.C. (PT. 1347) P. 37 AT 65.</a:t>
            </a:r>
          </a:p>
          <a:p>
            <a:pPr algn="just"/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609"/>
            <a:ext cx="8229600" cy="657899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US" sz="3600" b="1" dirty="0"/>
          </a:p>
          <a:p>
            <a:pPr marL="0" indent="0" algn="just">
              <a:buNone/>
            </a:pPr>
            <a:r>
              <a:rPr lang="en-US" sz="3600" b="1" dirty="0"/>
              <a:t>FAILURE TO INVESTIGATE THE ALIBI WHERE IT IS PROPERLY RAISED 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ESENE V THE STATE (SUPRA). SHEHU V THE STATE (SUPRA); IDEMUDIA V STATE, ALMU  V THE STATE </a:t>
            </a:r>
            <a:r>
              <a:rPr lang="en-US" sz="3600" dirty="0"/>
              <a:t>(2009) 10 N.W.L.R.  (PT. 1148) P. 31.</a:t>
            </a:r>
          </a:p>
          <a:p>
            <a:pPr marL="0" indent="0" algn="just">
              <a:buNone/>
            </a:pPr>
            <a:r>
              <a:rPr lang="en-US" sz="3600" dirty="0"/>
              <a:t>NOTE: INSTANCES WHERE THE PROSECUTION HAS NO DUTY TO INVESTIGATE THE ALIBI. </a:t>
            </a:r>
            <a:r>
              <a:rPr lang="en-US" sz="3600" dirty="0">
                <a:solidFill>
                  <a:srgbClr val="FF0000"/>
                </a:solidFill>
              </a:rPr>
              <a:t>ETIM UDO UDO V STATE, ALMU VS. THE STATE, MUSA V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PARADE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8634"/>
            <a:ext cx="8229600" cy="5479366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MEANING OF IDENTIFICATION</a:t>
            </a:r>
          </a:p>
          <a:p>
            <a:pPr algn="just"/>
            <a:r>
              <a:rPr lang="en-US" sz="3600" dirty="0"/>
              <a:t>PURPOSE</a:t>
            </a:r>
          </a:p>
          <a:p>
            <a:pPr algn="just"/>
            <a:r>
              <a:rPr lang="en-US" sz="3600" dirty="0"/>
              <a:t>TYPES</a:t>
            </a:r>
          </a:p>
          <a:p>
            <a:pPr algn="just"/>
            <a:r>
              <a:rPr lang="en-US" sz="3600" dirty="0"/>
              <a:t>WHEN IDENTIFICATION PARADE BECOMES RELEVANT, </a:t>
            </a:r>
            <a:r>
              <a:rPr lang="en-US" sz="3600" dirty="0">
                <a:solidFill>
                  <a:srgbClr val="FF0000"/>
                </a:solidFill>
              </a:rPr>
              <a:t>S. 7 EVIDENCE ACT , 2011.  OLALEKAN V. THE STATE </a:t>
            </a:r>
            <a:r>
              <a:rPr lang="en-US" sz="3600" dirty="0"/>
              <a:t>(2002) F.W.L.R. (PT. 91) P. 1605</a:t>
            </a:r>
            <a:r>
              <a:rPr lang="en-US" sz="3600" dirty="0">
                <a:solidFill>
                  <a:srgbClr val="FF0000"/>
                </a:solidFill>
              </a:rPr>
              <a:t>.; OSUAGWU V THE STATE </a:t>
            </a:r>
            <a:r>
              <a:rPr lang="en-US" sz="3600" dirty="0"/>
              <a:t>(2013) 1-2 S.C. P. (PT. 1) P. 37.</a:t>
            </a:r>
          </a:p>
          <a:p>
            <a:pPr algn="just"/>
            <a:r>
              <a:rPr lang="en-US" sz="3600" dirty="0"/>
              <a:t>NOTE: DISTINGUISH WITH RECOGNITION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42"/>
            <a:ext cx="8229600" cy="674545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IN DECIDING THE CREDIBILITY OF THE EVIDENCE OF IDENTITY, THE COURT TAKES THE FOLLOWING  FACTORS INTO CONSIDERATION :</a:t>
            </a:r>
          </a:p>
          <a:p>
            <a:pPr algn="just"/>
            <a:r>
              <a:rPr lang="en-US" sz="3600" dirty="0"/>
              <a:t>PREVIOUS CONTACT OF THE WITNESS WITH THE SUSPECT AND THE CIRCUMSTANCE IN WHICH THE EYE WITNESS SAW THE SUSPECT.</a:t>
            </a:r>
          </a:p>
          <a:p>
            <a:pPr algn="just"/>
            <a:r>
              <a:rPr lang="en-US" sz="3600" dirty="0"/>
              <a:t>THE LENGTH OF TIME </a:t>
            </a:r>
          </a:p>
          <a:p>
            <a:pPr algn="just"/>
            <a:r>
              <a:rPr lang="en-US" sz="3600" dirty="0"/>
              <a:t>THE OPPORTUNITY OF CLOSE OBSERVATION. </a:t>
            </a:r>
            <a:r>
              <a:rPr lang="en-US" sz="3600" dirty="0">
                <a:solidFill>
                  <a:srgbClr val="FF0000"/>
                </a:solidFill>
              </a:rPr>
              <a:t>LAWALLI(DANCHINA) V. THE STATE</a:t>
            </a:r>
            <a:r>
              <a:rPr lang="en-US" sz="3600" dirty="0"/>
              <a:t> (2019) 2 SCM P. 46 AT 50 RATIO 9</a:t>
            </a:r>
          </a:p>
          <a:p>
            <a:pPr algn="just"/>
            <a:r>
              <a:rPr lang="en-US" sz="3600" dirty="0"/>
              <a:t>THE LIGHTENING CONDITION. </a:t>
            </a:r>
            <a:r>
              <a:rPr lang="en-US" sz="3600" dirty="0">
                <a:solidFill>
                  <a:srgbClr val="FF0000"/>
                </a:solidFill>
              </a:rPr>
              <a:t>THOMAS V. THE STATE </a:t>
            </a:r>
            <a:r>
              <a:rPr lang="en-US" sz="3600" dirty="0"/>
              <a:t>(2017)3 SCM P. 168 AT 170.</a:t>
            </a:r>
          </a:p>
          <a:p>
            <a:pPr algn="just"/>
            <a:r>
              <a:rPr lang="en-US" sz="3600" dirty="0"/>
              <a:t>TIMEOUS REPORT OF THE FEATURES OF THE SUSPECT </a:t>
            </a:r>
            <a:r>
              <a:rPr lang="en-US" sz="3600" dirty="0">
                <a:solidFill>
                  <a:srgbClr val="FF0000"/>
                </a:solidFill>
              </a:rPr>
              <a:t>EMENEGOR V. THE STATE </a:t>
            </a:r>
            <a:r>
              <a:rPr lang="en-US" sz="3600" dirty="0"/>
              <a:t>(2010) ALL F.W.L.R. (PT. 511) P. 884.</a:t>
            </a:r>
          </a:p>
          <a:p>
            <a:pPr algn="just"/>
            <a:endParaRPr lang="en-US" sz="3600" dirty="0"/>
          </a:p>
          <a:p>
            <a:pPr algn="just"/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IDENTIFICATION PARADE IS NOT REQUIRED: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3717"/>
            <a:ext cx="8229600" cy="469861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EYE WITNESS ACCOUNT </a:t>
            </a:r>
          </a:p>
          <a:p>
            <a:pPr algn="just"/>
            <a:r>
              <a:rPr lang="en-US" sz="3600" dirty="0"/>
              <a:t>QUESTION OF IDENTITY IS NOT IN ISSUE</a:t>
            </a:r>
          </a:p>
          <a:p>
            <a:pPr algn="just"/>
            <a:r>
              <a:rPr lang="en-US" sz="3600" dirty="0"/>
              <a:t>EVIDENCE LINKING THE SUSPECT TO THE OFFENCE. </a:t>
            </a:r>
            <a:r>
              <a:rPr lang="en-US" sz="3600" dirty="0">
                <a:solidFill>
                  <a:srgbClr val="FF0000"/>
                </a:solidFill>
              </a:rPr>
              <a:t>OLALEKAN V. THE STATE </a:t>
            </a:r>
          </a:p>
          <a:p>
            <a:pPr algn="just"/>
            <a:r>
              <a:rPr lang="en-US" sz="3600" dirty="0"/>
              <a:t>CONFESSIONAL STATEMENT</a:t>
            </a:r>
          </a:p>
          <a:p>
            <a:pPr algn="just"/>
            <a:r>
              <a:rPr lang="en-US" sz="3600" dirty="0"/>
              <a:t>SUSPECT IS CAUGHT AT THE SCENE OF CRIME,</a:t>
            </a:r>
          </a:p>
          <a:p>
            <a:pPr algn="just"/>
            <a:endParaRPr lang="en-US" sz="3600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86544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AND PROCEDURE: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5588"/>
            <a:ext cx="8229600" cy="6112412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VENUE OF THE PARADE</a:t>
            </a:r>
          </a:p>
          <a:p>
            <a:pPr algn="just"/>
            <a:r>
              <a:rPr lang="en-US" sz="3600" dirty="0"/>
              <a:t>NUMBER OF PERSONS TO BE PARADED</a:t>
            </a:r>
          </a:p>
          <a:p>
            <a:pPr algn="just"/>
            <a:r>
              <a:rPr lang="en-US" sz="3600" dirty="0"/>
              <a:t>THE SUSPECT SHALL NOT BE ALLOWED TO BE SEEN BY THE IDENTIFYING WITNESS PRIOR TO THE PARADE</a:t>
            </a:r>
          </a:p>
          <a:p>
            <a:pPr algn="just"/>
            <a:r>
              <a:rPr lang="en-US" sz="3600" dirty="0"/>
              <a:t> THE WITNESS MUST NOT BE AIDED </a:t>
            </a:r>
            <a:r>
              <a:rPr lang="en-US" sz="3600" dirty="0">
                <a:solidFill>
                  <a:srgbClr val="FF0000"/>
                </a:solidFill>
              </a:rPr>
              <a:t> IKEMPSON V. THE STATE </a:t>
            </a:r>
            <a:r>
              <a:rPr lang="en-US" sz="3600" dirty="0"/>
              <a:t>(1989) 3 N.W.L.R. (PT. 110) P. 455.</a:t>
            </a:r>
          </a:p>
          <a:p>
            <a:pPr algn="just"/>
            <a:r>
              <a:rPr lang="en-US" sz="3600" dirty="0"/>
              <a:t> CHOICE OF POSITION</a:t>
            </a:r>
          </a:p>
          <a:p>
            <a:pPr algn="just"/>
            <a:r>
              <a:rPr lang="en-US" sz="3600" dirty="0"/>
              <a:t> COMPLETION OF FORM D 50</a:t>
            </a:r>
          </a:p>
          <a:p>
            <a:pPr algn="just"/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USE OF AN EXPERT IN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S 68 EVIDENCE ACT</a:t>
            </a:r>
          </a:p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AUWALU KWALE V THE STATE </a:t>
            </a:r>
            <a:r>
              <a:rPr lang="en-US" sz="3600" dirty="0"/>
              <a:t>(2017) 9 N.W.L.R. (PART 1571) P. 399,  </a:t>
            </a:r>
            <a:r>
              <a:rPr lang="en-US" sz="3600" dirty="0">
                <a:solidFill>
                  <a:srgbClr val="FF0000"/>
                </a:solidFill>
              </a:rPr>
              <a:t>AHMED V THE STATE </a:t>
            </a:r>
            <a:r>
              <a:rPr lang="en-US" sz="3600" dirty="0"/>
              <a:t>(2001) 18 N.W.L.R. (PART 746) P. 622, </a:t>
            </a:r>
            <a:r>
              <a:rPr lang="en-US" sz="3600" dirty="0">
                <a:solidFill>
                  <a:srgbClr val="FF0000"/>
                </a:solidFill>
              </a:rPr>
              <a:t>SHANDE V THE STATE </a:t>
            </a:r>
            <a:r>
              <a:rPr lang="en-US" sz="3600" dirty="0"/>
              <a:t>(2005) ALL F.W.LR. (PART 279) PAGE 1342, </a:t>
            </a:r>
            <a:r>
              <a:rPr lang="en-US" sz="3600" dirty="0">
                <a:solidFill>
                  <a:srgbClr val="FF0000"/>
                </a:solidFill>
              </a:rPr>
              <a:t>ZUBAIRU V THE STATE </a:t>
            </a:r>
            <a:r>
              <a:rPr lang="en-US" sz="3600" dirty="0"/>
              <a:t>(2015) 6 SCM. P. 253.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OF ITEMS SEIZED IN THE CAUSE OF INVESTIGATION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US" sz="4000" dirty="0"/>
              <a:t>S 10 ACJA, S 33(1) ACJL KANO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02DD-4677-41D2-875F-A225B657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REMAND PROCEEDINGS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BA6D-2F6E-4E3C-94E3-279DDFF4C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3600" dirty="0"/>
          </a:p>
          <a:p>
            <a:pPr algn="just"/>
            <a:r>
              <a:rPr lang="en-US" sz="3600"/>
              <a:t>JURISDICTION, S 293-299 ACJA, S 264-267 ACJL LAGOS, S 295 ACJL KANO </a:t>
            </a:r>
            <a:endParaRPr lang="en-US" sz="3600" dirty="0"/>
          </a:p>
          <a:p>
            <a:pPr algn="just"/>
            <a:r>
              <a:rPr lang="en-US" sz="3600" dirty="0"/>
              <a:t>DISTINCTION BETWEEN REMAND PROCEEDINGS AND HOLDING CHARGE.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8058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1742</Words>
  <Application>Microsoft Office PowerPoint</Application>
  <PresentationFormat>On-screen Show (4:3)</PresentationFormat>
  <Paragraphs>119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Office Theme</vt:lpstr>
      <vt:lpstr>PRE- TRIAL INVESTIGATION AND POLICE INTERVIEW</vt:lpstr>
      <vt:lpstr>EXPECTED OUTCOME:</vt:lpstr>
      <vt:lpstr>PowerPoint Presentation</vt:lpstr>
      <vt:lpstr>PowerPoint Presentation</vt:lpstr>
      <vt:lpstr>CONTENT</vt:lpstr>
      <vt:lpstr>PowerPoint Presentation</vt:lpstr>
      <vt:lpstr>PowerPoint Presentation</vt:lpstr>
      <vt:lpstr>PRE-TRIAL INVESTIGATION</vt:lpstr>
      <vt:lpstr>RIGHTS OF A SUSPECT IN CUSTODY</vt:lpstr>
      <vt:lpstr>PowerPoint Presentation</vt:lpstr>
      <vt:lpstr>LEGAL AID SCHEME</vt:lpstr>
      <vt:lpstr>PowerPoint Presentation</vt:lpstr>
      <vt:lpstr>REMEDIES AVAILABLE WHERE BAIL IS REFUSED</vt:lpstr>
      <vt:lpstr>CONFESSIONAL STATEMENTS</vt:lpstr>
      <vt:lpstr>LEGAL REQUIREMENT FOR OBTAINING A CONFESSIONAL STATEMENT</vt:lpstr>
      <vt:lpstr>USE OF AN INTERPRETER:</vt:lpstr>
      <vt:lpstr>THE JUDGES RULES</vt:lpstr>
      <vt:lpstr>PowerPoint Presentation</vt:lpstr>
      <vt:lpstr>ALIBI:</vt:lpstr>
      <vt:lpstr>PowerPoint Presentation</vt:lpstr>
      <vt:lpstr>IDENTIFICATION PARADE</vt:lpstr>
      <vt:lpstr>PowerPoint Presentation</vt:lpstr>
      <vt:lpstr>WHEN IDENTIFICATION PARADE IS NOT REQUIRED:</vt:lpstr>
      <vt:lpstr>RULES AND PROCEDURE:</vt:lpstr>
      <vt:lpstr>THE USE OF AN EXPERT IN INVESTIGATION</vt:lpstr>
      <vt:lpstr>HANDLING OF ITEMS SEIZED IN THE CAUSE OF INVESTIGATION </vt:lpstr>
      <vt:lpstr>REMAND PROCEEDINGS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 TRIAL INVESTIGATION AND POLICE INTERVIEW</dc:title>
  <cp:lastModifiedBy>Sylvia Ihedoro</cp:lastModifiedBy>
  <cp:revision>251</cp:revision>
  <dcterms:modified xsi:type="dcterms:W3CDTF">2025-04-30T15:25:51Z</dcterms:modified>
</cp:coreProperties>
</file>