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965" autoAdjust="0"/>
    <p:restoredTop sz="94935" autoAdjust="0"/>
  </p:normalViewPr>
  <p:slideViewPr>
    <p:cSldViewPr snapToGrid="0">
      <p:cViewPr>
        <p:scale>
          <a:sx n="76" d="100"/>
          <a:sy n="76" d="100"/>
        </p:scale>
        <p:origin x="-46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tableStyles" Target="tableStyle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67B8D426-59C2-40C2-B8A2-8EF370C851A8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70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471B5C64-003A-41ED-9849-25B275AB220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8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8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5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9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379F4-BF68-4A45-A466-D8510A90BCE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8799D-F9E8-46F2-A044-20A28E99F832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b="1" dirty="0" lang="en-GB" smtClean="0">
                <a:latin typeface="Californian FB" panose="0207040306080B030204" pitchFamily="18" charset="0"/>
              </a:rPr>
              <a:t>CIVIL LITIGATION</a:t>
            </a:r>
            <a:br>
              <a:rPr b="1" dirty="0" lang="en-GB" smtClean="0">
                <a:latin typeface="Californian FB" panose="0207040306080B030204" pitchFamily="18" charset="0"/>
              </a:rPr>
            </a:br>
            <a:r>
              <a:rPr b="1" dirty="0" lang="en-GB" smtClean="0">
                <a:latin typeface="Californian FB" panose="0207040306080B030204" pitchFamily="18" charset="0"/>
              </a:rPr>
              <a:t>WEEK 3</a:t>
            </a:r>
            <a:endParaRPr dirty="0" lang="en-US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b="1" dirty="0" lang="en-GB" smtClean="0">
              <a:latin typeface="Californian FB" panose="0207040306080B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lang="en-GB" smtClean="0">
                <a:latin typeface="Californian FB" panose="0207040306080B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OVERVIEW, INTRODUCTORY MATTERS AND JURISDICTION</a:t>
            </a:r>
            <a:endParaRPr b="1" dirty="0" lang="en-GB" smtClean="0"/>
          </a:p>
          <a:p>
            <a:endParaRPr dirty="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 smtClean="0">
                <a:latin typeface="Californian FB" panose="0207040306080B030204" pitchFamily="18" charset="0"/>
              </a:rPr>
              <a:t>CONTENTS</a:t>
            </a:r>
            <a:r>
              <a:rPr dirty="0" lang="en-GB" smtClean="0">
                <a:latin typeface="Californian FB" panose="0207040306080B030204" pitchFamily="18" charset="0"/>
              </a:rPr>
              <a:t> </a:t>
            </a:r>
            <a:endParaRPr dirty="0" lang="en-GB">
              <a:latin typeface="Californian FB" panose="0207040306080B030204" pitchFamily="18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229600" cy="5029200"/>
          </a:xfrm>
        </p:spPr>
        <p:txBody>
          <a:bodyPr>
            <a:normAutofit/>
          </a:bodyPr>
          <a:p>
            <a:pPr algn="just" indent="0" marL="0">
              <a:buNone/>
            </a:pPr>
            <a:r>
              <a:rPr dirty="0" lang="en-US" smtClean="0"/>
              <a:t>1</a:t>
            </a:r>
            <a:r>
              <a:rPr dirty="0" lang="en-US"/>
              <a:t>. Overview of the civil litigation course</a:t>
            </a:r>
          </a:p>
          <a:p>
            <a:pPr algn="just" indent="0" marL="0">
              <a:buNone/>
            </a:pPr>
            <a:r>
              <a:rPr dirty="0" lang="en-US"/>
              <a:t>2. Introduction to civil dispute resolution mechanisms- litigation, ADR processes</a:t>
            </a:r>
          </a:p>
          <a:p>
            <a:pPr algn="just" indent="0" marL="0">
              <a:buNone/>
            </a:pPr>
            <a:r>
              <a:rPr dirty="0" lang="en-US"/>
              <a:t>3. Sources of civil procedure</a:t>
            </a:r>
          </a:p>
          <a:p>
            <a:pPr algn="just" indent="0" marL="0">
              <a:buNone/>
            </a:pPr>
            <a:r>
              <a:rPr dirty="0" lang="en-US"/>
              <a:t>4. Courts with Civil Jurisdiction, as well as introduction to ECOWAS Court and </a:t>
            </a:r>
            <a:r>
              <a:rPr dirty="0" lang="en-US" err="1"/>
              <a:t>contextualising</a:t>
            </a:r>
            <a:r>
              <a:rPr dirty="0" lang="en-US"/>
              <a:t> the problem of jurisdiction</a:t>
            </a:r>
          </a:p>
          <a:p>
            <a:pPr algn="just" indent="0" marL="0">
              <a:buNone/>
            </a:pPr>
            <a:r>
              <a:rPr dirty="0" lang="en-US"/>
              <a:t>5. Ethical issues, costs and sanctions arising from improper use of the rules of court and wrong choice of court</a:t>
            </a:r>
          </a:p>
          <a:p>
            <a:pPr algn="just"/>
            <a:endParaRPr dirty="0"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>
            <a:normAutofit/>
          </a:bodyPr>
          <a:p>
            <a:r>
              <a:rPr dirty="0" lang="en-GB">
                <a:latin typeface="Californian FB" panose="0207040306080B030204" pitchFamily="18" charset="0"/>
              </a:rPr>
              <a:t>Learning Outcomes 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181600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3600" lang="en-US"/>
              <a:t>At the end of the lesson, the students would be able to:</a:t>
            </a:r>
          </a:p>
          <a:p>
            <a:pPr indent="0" marL="0">
              <a:buNone/>
            </a:pPr>
            <a:r>
              <a:rPr dirty="0" sz="3600" lang="en-US" err="1"/>
              <a:t>i</a:t>
            </a:r>
            <a:r>
              <a:rPr dirty="0" sz="3600" lang="en-US"/>
              <a:t>. explain the scope of the Civil Litigation course;</a:t>
            </a:r>
          </a:p>
          <a:p>
            <a:pPr indent="0" marL="0">
              <a:buNone/>
            </a:pPr>
            <a:r>
              <a:rPr dirty="0" sz="3600" lang="en-US"/>
              <a:t>ii. identify and explain the sources of Civil Procedure;</a:t>
            </a:r>
          </a:p>
          <a:p>
            <a:pPr indent="0" marL="0">
              <a:buNone/>
            </a:pPr>
            <a:r>
              <a:rPr dirty="0" sz="3600" lang="en-US"/>
              <a:t>iii. identify and explain the different civil disputes settlement mechanisms;</a:t>
            </a:r>
          </a:p>
          <a:p>
            <a:pPr indent="0" marL="0">
              <a:buNone/>
            </a:pPr>
            <a:r>
              <a:rPr dirty="0" sz="3600" lang="en-US"/>
              <a:t>iv. identify the rules applicable to the various courts and  explain the scope of their application</a:t>
            </a:r>
            <a:r>
              <a:rPr dirty="0" sz="3600" lang="en-US" smtClean="0"/>
              <a:t>;</a:t>
            </a:r>
            <a:endParaRPr dirty="0" sz="36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87362"/>
          </a:xfrm>
        </p:spPr>
        <p:txBody>
          <a:bodyPr>
            <a:normAutofit fontScale="90000"/>
          </a:bodyPr>
          <a:p>
            <a:endParaRPr dirty="0" lang="en-GB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229600" cy="5638800"/>
          </a:xfrm>
        </p:spPr>
        <p:txBody>
          <a:bodyPr/>
          <a:p>
            <a:pPr algn="just" indent="0" marL="0">
              <a:buNone/>
            </a:pPr>
            <a:r>
              <a:rPr dirty="0" lang="en-US" smtClean="0"/>
              <a:t>v. list courts with civil jurisdiction and explain the scope of their jurisdiction;</a:t>
            </a:r>
          </a:p>
          <a:p>
            <a:pPr algn="just" indent="0" marL="0">
              <a:buNone/>
            </a:pPr>
            <a:r>
              <a:rPr dirty="0" lang="en-US" smtClean="0"/>
              <a:t>vi. identify the appropriate court to approach in a given case or situation; </a:t>
            </a:r>
          </a:p>
          <a:p>
            <a:pPr algn="just" indent="0" marL="0">
              <a:buNone/>
            </a:pPr>
            <a:r>
              <a:rPr dirty="0" lang="en-US" smtClean="0"/>
              <a:t>vii. identify and explain the ethical implications of wrong use of rules of court and wrong choice of court; </a:t>
            </a:r>
          </a:p>
          <a:p>
            <a:pPr algn="just" indent="0" marL="0">
              <a:buNone/>
            </a:pPr>
            <a:r>
              <a:rPr dirty="0" lang="en-US" smtClean="0"/>
              <a:t>viii. identify and explain the costs and sanctions that may arise from wrong use of rules of court and wrong choice of court. </a:t>
            </a:r>
            <a:endParaRPr dirty="0" lang="en-GB" smtClean="0">
              <a:latin typeface="Californian FB" panose="0207040306080B030204" pitchFamily="18" charset="0"/>
            </a:endParaRPr>
          </a:p>
          <a:p>
            <a:pPr algn="just"/>
            <a:endParaRPr dirty="0"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2087562"/>
          </a:xfrm>
        </p:spPr>
        <p:txBody>
          <a:bodyPr>
            <a:normAutofit/>
          </a:bodyPr>
          <a:p>
            <a:r>
              <a:rPr dirty="0" lang="en-GB">
                <a:latin typeface="Californian FB" panose="0207040306080B030204" pitchFamily="18" charset="0"/>
              </a:rPr>
              <a:t>What are your expectations from the Civil Litigation Course? </a:t>
            </a:r>
            <a:br>
              <a:rPr dirty="0" lang="en-GB">
                <a:latin typeface="Californian FB" panose="0207040306080B030204" pitchFamily="18" charset="0"/>
              </a:rPr>
            </a:br>
            <a:endParaRPr dirty="0" lang="en-GB"/>
          </a:p>
        </p:txBody>
      </p:sp>
      <p:pic>
        <p:nvPicPr>
          <p:cNvPr id="2097152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78692" y="1600201"/>
            <a:ext cx="6034617" cy="45259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325562"/>
          </a:xfrm>
        </p:spPr>
        <p:txBody>
          <a:bodyPr>
            <a:normAutofit fontScale="90000"/>
          </a:bodyPr>
          <a:p>
            <a:pPr indent="-342900" marL="342900">
              <a:spcBef>
                <a:spcPct val="20000"/>
              </a:spcBef>
            </a:pPr>
            <a:r>
              <a:rPr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  <a:t/>
            </a:r>
            <a:br>
              <a:rPr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</a:br>
            <a:r>
              <a:rPr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  <a:t/>
            </a:r>
            <a:br>
              <a:rPr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</a:br>
            <a:r>
              <a:rPr b="1" dirty="0" sz="4000" lang="en-GB">
                <a:solidFill>
                  <a:prstClr val="black"/>
                </a:solidFill>
                <a:latin typeface="Californian FB" panose="0207040306080B030204" pitchFamily="18" charset="0"/>
              </a:rPr>
              <a:t>Overview of the Civil Litigation Course</a:t>
            </a:r>
            <a:br>
              <a:rPr b="1" dirty="0" sz="4000" lang="en-GB">
                <a:solidFill>
                  <a:prstClr val="black"/>
                </a:solidFill>
                <a:latin typeface="Californian FB" panose="0207040306080B030204" pitchFamily="18" charset="0"/>
              </a:rPr>
            </a:br>
            <a:r>
              <a:rPr dirty="0" sz="4000" lang="en-GB">
                <a:solidFill>
                  <a:prstClr val="black"/>
                </a:solidFill>
              </a:rPr>
              <a:t/>
            </a:r>
            <a:br>
              <a:rPr dirty="0" sz="4000" lang="en-GB">
                <a:solidFill>
                  <a:prstClr val="black"/>
                </a:solidFill>
              </a:rPr>
            </a:br>
            <a:endParaRPr dirty="0" sz="4000" lang="en-GB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1981200" y="2286001"/>
            <a:ext cx="8229600" cy="3840163"/>
          </a:xfrm>
        </p:spPr>
        <p:txBody>
          <a:bodyPr/>
          <a:p>
            <a:r>
              <a:rPr dirty="0" lang="en-GB">
                <a:latin typeface="Californian FB" panose="0207040306080B030204" pitchFamily="18" charset="0"/>
              </a:rPr>
              <a:t>What is Civil Litigation? </a:t>
            </a:r>
          </a:p>
          <a:p>
            <a:r>
              <a:rPr dirty="0" lang="en-GB">
                <a:latin typeface="Californian FB" panose="0207040306080B030204" pitchFamily="18" charset="0"/>
              </a:rPr>
              <a:t>Course Overview/ Content.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  <a:t>2. Introduction to Civil Dispute Resolution Mechanisms – Litigation &amp; ADR Processes</a:t>
            </a:r>
            <a:endParaRPr b="1" dirty="0" lang="en-GB"/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334000"/>
          </a:xfrm>
        </p:spPr>
        <p:txBody>
          <a:bodyPr>
            <a:normAutofit/>
          </a:bodyPr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Litigation, - Meaning, features &amp; demerits</a:t>
            </a:r>
          </a:p>
          <a:p>
            <a:pPr algn="just" indent="-514350" marL="514350">
              <a:buAutoNum type="arabicPeriod"/>
            </a:pPr>
            <a:endParaRPr dirty="0" sz="500" lang="en-GB">
              <a:latin typeface="Californian FB" panose="0207040306080B030204" pitchFamily="18" charset="0"/>
            </a:endParaRP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Alternative Dispute Resolution (ADR)Mechanisms.[</a:t>
            </a:r>
            <a:r>
              <a:rPr b="1" dirty="0" lang="en-GB">
                <a:latin typeface="Californian FB" panose="0207040306080B030204" pitchFamily="18" charset="0"/>
              </a:rPr>
              <a:t>Negotiation, Mediation, Arbitration, Conciliation &amp; Online Dispute Resolution</a:t>
            </a:r>
            <a:r>
              <a:rPr dirty="0" lang="en-GB">
                <a:latin typeface="Californian FB" panose="0207040306080B030204" pitchFamily="18" charset="0"/>
              </a:rPr>
              <a:t>]</a:t>
            </a:r>
          </a:p>
          <a:p>
            <a:pPr algn="just" indent="0" marL="0">
              <a:buNone/>
            </a:pPr>
            <a:r>
              <a:rPr dirty="0" lang="en-GB">
                <a:latin typeface="Californian FB" panose="0207040306080B030204" pitchFamily="18" charset="0"/>
              </a:rPr>
              <a:t>-Meaning, Types, Advantages &amp; Disadvantages</a:t>
            </a:r>
          </a:p>
          <a:p>
            <a:pPr algn="just" indent="0" marL="0">
              <a:buNone/>
            </a:pPr>
            <a:r>
              <a:rPr dirty="0" lang="en-GB">
                <a:latin typeface="Californian FB" panose="0207040306080B030204" pitchFamily="18" charset="0"/>
              </a:rPr>
              <a:t>-Limitations.</a:t>
            </a:r>
          </a:p>
          <a:p>
            <a:pPr algn="just" indent="0" marL="0">
              <a:buNone/>
            </a:pPr>
            <a:r>
              <a:rPr dirty="0" lang="en-GB">
                <a:latin typeface="Californian FB" panose="0207040306080B030204" pitchFamily="18" charset="0"/>
              </a:rPr>
              <a:t>- Effect on Jurisdiction of Court. See Ss. 4 &amp; 5 Arbitration and Conciliation Act     </a:t>
            </a:r>
          </a:p>
          <a:p>
            <a:pPr algn="just"/>
            <a:endParaRPr dirty="0"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GB">
                <a:latin typeface="Californian FB" panose="0207040306080B030204" pitchFamily="18" charset="0"/>
              </a:rPr>
              <a:t>3. </a:t>
            </a:r>
            <a:r>
              <a:rPr b="1" dirty="0" lang="en-GB">
                <a:latin typeface="Californian FB" panose="0207040306080B030204" pitchFamily="18" charset="0"/>
              </a:rPr>
              <a:t>Sources of Law of Civil Litigation</a:t>
            </a:r>
            <a:endParaRPr b="1" dirty="0" lang="en-GB"/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1981200" y="1905001"/>
            <a:ext cx="8229600" cy="4221163"/>
          </a:xfrm>
        </p:spPr>
        <p:txBody>
          <a:bodyPr/>
          <a:p>
            <a:pPr algn="just" indent="-514350" marL="514350">
              <a:buAutoNum type="arabicPeriod"/>
            </a:pPr>
            <a:r>
              <a:rPr dirty="0" sz="3600" lang="en-GB">
                <a:latin typeface="Californian FB" panose="0207040306080B030204" pitchFamily="18" charset="0"/>
              </a:rPr>
              <a:t>Rules of Court</a:t>
            </a:r>
          </a:p>
          <a:p>
            <a:pPr algn="just" indent="-514350" marL="514350">
              <a:buAutoNum type="arabicPeriod"/>
            </a:pPr>
            <a:r>
              <a:rPr dirty="0" sz="3600" lang="en-GB">
                <a:latin typeface="Californian FB" panose="0207040306080B030204" pitchFamily="18" charset="0"/>
              </a:rPr>
              <a:t>Statutes Creating Courts</a:t>
            </a:r>
          </a:p>
          <a:p>
            <a:pPr algn="just" indent="-514350" marL="514350">
              <a:buAutoNum type="arabicPeriod"/>
            </a:pPr>
            <a:r>
              <a:rPr dirty="0" sz="3600" lang="en-GB">
                <a:latin typeface="Californian FB" panose="0207040306080B030204" pitchFamily="18" charset="0"/>
              </a:rPr>
              <a:t>Constitution</a:t>
            </a:r>
          </a:p>
          <a:p>
            <a:pPr algn="just" indent="-514350" marL="514350">
              <a:buAutoNum type="arabicPeriod"/>
            </a:pPr>
            <a:r>
              <a:rPr dirty="0" sz="3600" lang="en-GB">
                <a:latin typeface="Californian FB" panose="0207040306080B030204" pitchFamily="18" charset="0"/>
              </a:rPr>
              <a:t>Judicial Decisions on Procedure </a:t>
            </a:r>
          </a:p>
          <a:p>
            <a:pPr algn="just" indent="-514350" marL="514350">
              <a:buAutoNum type="arabicPeriod"/>
            </a:pPr>
            <a:r>
              <a:rPr dirty="0" sz="3600" lang="en-GB">
                <a:latin typeface="Californian FB" panose="0207040306080B030204" pitchFamily="18" charset="0"/>
              </a:rPr>
              <a:t>Special Statutes on Procedure. </a:t>
            </a:r>
          </a:p>
          <a:p>
            <a:pPr algn="just" indent="-514350" marL="514350">
              <a:buAutoNum type="arabicPeriod"/>
            </a:pPr>
            <a:r>
              <a:rPr dirty="0" sz="3600" lang="en-GB">
                <a:latin typeface="Californian FB" panose="0207040306080B030204" pitchFamily="18" charset="0"/>
              </a:rPr>
              <a:t>Practice Directions </a:t>
            </a:r>
          </a:p>
          <a:p>
            <a:pPr algn="just" indent="-514350" marL="514350">
              <a:buAutoNum type="arabicPeriod"/>
            </a:pPr>
            <a:endParaRPr dirty="0" lang="en-GB"/>
          </a:p>
          <a:p>
            <a:pPr algn="just" indent="-514350" marL="514350">
              <a:buAutoNum type="arabicPeriod"/>
            </a:pPr>
            <a:endParaRPr dirty="0"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 flipV="1">
            <a:off x="1981200" y="152400"/>
            <a:ext cx="8229600" cy="122238"/>
          </a:xfrm>
        </p:spPr>
        <p:txBody>
          <a:bodyPr>
            <a:normAutofit fontScale="90000"/>
          </a:bodyPr>
          <a:p>
            <a:endParaRPr dirty="0" lang="en-GB"/>
          </a:p>
        </p:txBody>
      </p:sp>
      <p:graphicFrame>
        <p:nvGraphicFramePr>
          <p:cNvPr id="419430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1" y="274639"/>
          <a:ext cx="8229599" cy="6140586"/>
        </p:xfrm>
        <a:graphic>
          <a:graphicData uri="http://schemas.openxmlformats.org/drawingml/2006/table">
            <a:tbl>
              <a:tblPr firstRow="1" firstCol="1" bandRow="1"/>
              <a:tblGrid>
                <a:gridCol w="2165181"/>
                <a:gridCol w="2165181"/>
                <a:gridCol w="3899237"/>
              </a:tblGrid>
              <a:tr h="28082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Court</a:t>
                      </a:r>
                      <a:endParaRPr dirty="0" sz="9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Rules of Court</a:t>
                      </a:r>
                      <a:endParaRPr sz="9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Who</a:t>
                      </a:r>
                      <a:r>
                        <a:rPr baseline="0" b="1" dirty="0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has  the power to make the Rules</a:t>
                      </a:r>
                      <a:endParaRPr dirty="0" sz="9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59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District Court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District Court Rules 2021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Chief Judge of the FCT, Abuja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465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Magistrates’ Court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Magistrates’ Court (Civil  Procedure) Rules, Lagos, 2009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Chief Judge of Lagos State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465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Customary Court of Appeal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Customary Court of Appeal Rules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President of the Customary Court of Appeal under section 269 and 284 CFRN 1999 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465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Sharia Court of Appeal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Sharia Court of Appeal Rules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Grand </a:t>
                      </a:r>
                      <a:r>
                        <a:rPr dirty="0" sz="1800" lang="en-US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Khadi</a:t>
                      </a: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 the Sharia Court of Appeal under section 264 and 279 CFRN 1999 as amended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487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Court of FCT, Abuja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Court of FCT, Abuja (Civil Procedure) Rules </a:t>
                      </a:r>
                      <a:r>
                        <a:rPr dirty="0" sz="1800" lang="en-US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2025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Chief Judge of the FCT, Abuja under section 259 CFRN 1999 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7" name="Rectangle 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GB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 flipV="1">
            <a:off x="1981200" y="152400"/>
            <a:ext cx="8229600" cy="122238"/>
          </a:xfrm>
        </p:spPr>
        <p:txBody>
          <a:bodyPr>
            <a:normAutofit fontScale="90000"/>
          </a:bodyPr>
          <a:p>
            <a:endParaRPr dirty="0" lang="en-GB"/>
          </a:p>
        </p:txBody>
      </p:sp>
      <p:graphicFrame>
        <p:nvGraphicFramePr>
          <p:cNvPr id="4194305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1" y="274639"/>
          <a:ext cx="8229599" cy="6256816"/>
        </p:xfrm>
        <a:graphic>
          <a:graphicData uri="http://schemas.openxmlformats.org/drawingml/2006/table">
            <a:tbl>
              <a:tblPr firstRow="1" firstCol="1" bandRow="1"/>
              <a:tblGrid>
                <a:gridCol w="2165181"/>
                <a:gridCol w="2165181"/>
                <a:gridCol w="3899237"/>
              </a:tblGrid>
              <a:tr h="280822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Court</a:t>
                      </a:r>
                      <a:endParaRPr dirty="0" sz="9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Rules of Court</a:t>
                      </a:r>
                      <a:endParaRPr sz="9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Who</a:t>
                      </a:r>
                      <a:r>
                        <a:rPr baseline="0" b="1" dirty="0" sz="10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has the power to make the Rules</a:t>
                      </a:r>
                      <a:endParaRPr dirty="0" sz="9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9539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Court of Lagos State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Court of Lagos State (Civil Procedure) Rules 2019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Chief Judge of Lagos State under section 274 CFRN 1999 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667"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Federal High Court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Federal High Court Rules, 2019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Chief Judge of the Federal High Court under section 254 CFRN 1999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4215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National Industrial Court of Nigeria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National Industrial Court of Nigeria (Civil Procedure) Rules, 2017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President, National Industrial Court of Nigeria under section 254F CFRN 1999 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2918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Court of Appeal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Court of Appeal Rules, 2021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President, Court of Appeal under section 248 CFRN 1999 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2918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Supreme Court of Nigeria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Supreme Court Rules, </a:t>
                      </a: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18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Chief Justice of Nigeria under section 236 CFRN 1999 </a:t>
                      </a:r>
                      <a:endParaRPr dirty="0" sz="1800" lang="en-GB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47" marR="571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09" name="Rectangle 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GB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GB"/>
              <a:t>Effect of Non-Compliance with the Rules of Court </a:t>
            </a:r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GB"/>
              <a:t>See Order </a:t>
            </a:r>
            <a:r>
              <a:rPr dirty="0" lang="en-GB" smtClean="0"/>
              <a:t>7 </a:t>
            </a:r>
            <a:r>
              <a:rPr dirty="0" lang="en-GB" smtClean="0"/>
              <a:t>High </a:t>
            </a:r>
            <a:r>
              <a:rPr dirty="0" lang="en-GB"/>
              <a:t>Court of FCT (Civil Proc.) Rules </a:t>
            </a:r>
            <a:r>
              <a:rPr dirty="0" lang="en-GB" smtClean="0"/>
              <a:t>2025</a:t>
            </a:r>
            <a:endParaRPr dirty="0" lang="en-GB"/>
          </a:p>
          <a:p>
            <a:r>
              <a:rPr dirty="0" lang="en-GB"/>
              <a:t>See Order 7 High Court of Lagos State (Civil Proc.) Rules 2019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  <a:t>4. </a:t>
            </a:r>
            <a:r>
              <a:rPr b="1" dirty="0" sz="3200" lang="en-GB">
                <a:solidFill>
                  <a:prstClr val="black"/>
                </a:solidFill>
                <a:latin typeface="Californian FB" panose="0207040306080B030204" pitchFamily="18" charset="0"/>
              </a:rPr>
              <a:t>Courts with Civil Jurisdiction and Contextualising the Problem of Jurisdiction</a:t>
            </a:r>
            <a:endParaRPr b="1" dirty="0" lang="en-GB"/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76800"/>
          </a:xfrm>
        </p:spPr>
        <p:txBody>
          <a:bodyPr/>
          <a:p>
            <a:pPr algn="just" indent="0" marL="0">
              <a:buNone/>
            </a:pPr>
            <a:r>
              <a:rPr dirty="0" lang="en-GB">
                <a:latin typeface="Californian FB" panose="0207040306080B030204" pitchFamily="18" charset="0"/>
              </a:rPr>
              <a:t>Jurisdiction – General Principles </a:t>
            </a:r>
          </a:p>
          <a:p>
            <a:pPr algn="just" indent="0" marL="0">
              <a:buNone/>
            </a:pPr>
            <a:endParaRPr dirty="0" sz="1000" lang="en-GB">
              <a:latin typeface="Californian FB" panose="0207040306080B030204" pitchFamily="18" charset="0"/>
            </a:endParaRP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Meaning of </a:t>
            </a: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Importance of jurisdiction </a:t>
            </a: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Who may raise jurisdiction?</a:t>
            </a: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When jurisdiction may be raised</a:t>
            </a:r>
            <a:r>
              <a:rPr dirty="0" lang="en-GB"/>
              <a:t>.</a:t>
            </a: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How raised?</a:t>
            </a:r>
          </a:p>
          <a:p>
            <a:pPr algn="just" indent="-514350" marL="514350">
              <a:buAutoNum type="arabicPeriod"/>
            </a:pPr>
            <a:r>
              <a:rPr dirty="0" lang="en-GB">
                <a:latin typeface="Californian FB" panose="0207040306080B030204" pitchFamily="18" charset="0"/>
              </a:rPr>
              <a:t>Order court may make where successfully raised.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Jurisdiction – General Principles  </a:t>
            </a:r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229600" cy="5638800"/>
          </a:xfrm>
        </p:spPr>
        <p:txBody>
          <a:bodyPr>
            <a:normAutofit/>
          </a:bodyPr>
          <a:p>
            <a:pPr algn="just" indent="0" marL="0">
              <a:buNone/>
            </a:pPr>
            <a:r>
              <a:rPr dirty="0" lang="en-GB">
                <a:latin typeface="Californian FB" panose="0207040306080B030204" pitchFamily="18" charset="0"/>
              </a:rPr>
              <a:t>7.  </a:t>
            </a:r>
            <a:r>
              <a:rPr b="1" dirty="0" lang="en-GB">
                <a:latin typeface="Californian FB" panose="0207040306080B030204" pitchFamily="18" charset="0"/>
              </a:rPr>
              <a:t>Types of Jurisdiction </a:t>
            </a:r>
          </a:p>
          <a:p>
            <a:pPr algn="just" indent="0" marL="0">
              <a:buNone/>
            </a:pPr>
            <a:r>
              <a:rPr dirty="0" lang="en-GB">
                <a:latin typeface="Californian FB" panose="0207040306080B030204" pitchFamily="18" charset="0"/>
              </a:rPr>
              <a:t>      [Subject matter, Geographical &amp; Monetary]</a:t>
            </a:r>
          </a:p>
          <a:p>
            <a:pPr algn="just" indent="0" marL="0">
              <a:buNone/>
            </a:pPr>
            <a:endParaRPr dirty="0" sz="1100" lang="en-GB">
              <a:latin typeface="Californian FB" panose="0207040306080B030204" pitchFamily="18" charset="0"/>
            </a:endParaRPr>
          </a:p>
          <a:p>
            <a:pPr algn="just" indent="-514350" marL="514350">
              <a:buAutoNum type="arabicPeriod" startAt="8"/>
            </a:pPr>
            <a:r>
              <a:rPr b="1" dirty="0" lang="en-GB">
                <a:latin typeface="Californian FB" panose="0207040306080B030204" pitchFamily="18" charset="0"/>
              </a:rPr>
              <a:t>Elements or factors that affect jurisdiction</a:t>
            </a:r>
            <a:r>
              <a:rPr dirty="0" lang="en-GB">
                <a:latin typeface="Californian FB" panose="0207040306080B030204" pitchFamily="18" charset="0"/>
              </a:rPr>
              <a:t>. See </a:t>
            </a:r>
            <a:r>
              <a:rPr dirty="0" i="1" lang="en-GB" err="1">
                <a:latin typeface="Californian FB" panose="0207040306080B030204" pitchFamily="18" charset="0"/>
              </a:rPr>
              <a:t>Madukolum</a:t>
            </a:r>
            <a:r>
              <a:rPr dirty="0" i="1" lang="en-GB">
                <a:latin typeface="Californian FB" panose="0207040306080B030204" pitchFamily="18" charset="0"/>
              </a:rPr>
              <a:t> v </a:t>
            </a:r>
            <a:r>
              <a:rPr dirty="0" i="1" lang="en-GB" err="1">
                <a:latin typeface="Californian FB" panose="0207040306080B030204" pitchFamily="18" charset="0"/>
              </a:rPr>
              <a:t>Nkemdilim</a:t>
            </a:r>
            <a:r>
              <a:rPr dirty="0" i="1" lang="en-GB">
                <a:latin typeface="Californian FB" panose="0207040306080B030204" pitchFamily="18" charset="0"/>
              </a:rPr>
              <a:t> [1962] SCNJ 341</a:t>
            </a:r>
          </a:p>
          <a:p>
            <a:pPr algn="just" indent="-571500" marL="571500">
              <a:buAutoNum type="romanLcPeriod"/>
            </a:pPr>
            <a:r>
              <a:rPr dirty="0" i="1" lang="en-GB">
                <a:latin typeface="Californian FB" panose="0207040306080B030204" pitchFamily="18" charset="0"/>
              </a:rPr>
              <a:t>Court properly constituted with respect to number and qualification of its members.</a:t>
            </a:r>
          </a:p>
          <a:p>
            <a:pPr algn="just" indent="-571500" marL="571500">
              <a:buAutoNum type="romanLcPeriod"/>
            </a:pPr>
            <a:r>
              <a:rPr dirty="0" i="1" lang="en-GB">
                <a:latin typeface="Californian FB" panose="0207040306080B030204" pitchFamily="18" charset="0"/>
              </a:rPr>
              <a:t>Subject is within jurisdiction of court,</a:t>
            </a:r>
          </a:p>
          <a:p>
            <a:pPr algn="just" indent="-571500" marL="571500">
              <a:buAutoNum type="romanLcPeriod"/>
            </a:pPr>
            <a:r>
              <a:rPr dirty="0" i="1" lang="en-GB">
                <a:latin typeface="Californian FB" panose="0207040306080B030204" pitchFamily="18" charset="0"/>
              </a:rPr>
              <a:t>Action initiated by due process of law.</a:t>
            </a:r>
          </a:p>
          <a:p>
            <a:pPr algn="just" indent="-571500" marL="571500">
              <a:buAutoNum type="romanLcPeriod"/>
            </a:pPr>
            <a:r>
              <a:rPr dirty="0" i="1" lang="en-GB">
                <a:latin typeface="Californian FB" panose="0207040306080B030204" pitchFamily="18" charset="0"/>
              </a:rPr>
              <a:t>Conditions precedent for exercise of jurisdiction have been satisfied.</a:t>
            </a:r>
          </a:p>
          <a:p>
            <a:pPr algn="just" indent="-571500" marL="571500">
              <a:buAutoNum type="romanLcPeriod" startAt="2"/>
            </a:pPr>
            <a:endParaRPr dirty="0" i="1" lang="en-GB">
              <a:latin typeface="Californian FB" panose="0207040306080B030204" pitchFamily="18" charset="0"/>
            </a:endParaRPr>
          </a:p>
          <a:p>
            <a:pPr algn="just" indent="0" marL="0">
              <a:buNone/>
            </a:pPr>
            <a:endParaRPr dirty="0" i="1" lang="en-GB">
              <a:latin typeface="Californian FB" panose="0207040306080B030204" pitchFamily="18" charset="0"/>
            </a:endParaRPr>
          </a:p>
          <a:p>
            <a:pPr algn="just" indent="0" marL="0">
              <a:buNone/>
            </a:pPr>
            <a:endParaRPr dirty="0" lang="en-GB">
              <a:latin typeface="Californian FB" panose="0207040306080B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GB">
                <a:latin typeface="Californian FB" panose="0207040306080B030204" pitchFamily="18" charset="0"/>
              </a:rPr>
              <a:t>Jurisdiction </a:t>
            </a:r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 dirty="0" sz="4400" lang="en-GB">
                <a:solidFill>
                  <a:prstClr val="black"/>
                </a:solidFill>
                <a:latin typeface="Californian FB" panose="0207040306080B030204" pitchFamily="18" charset="0"/>
              </a:rPr>
              <a:t>Subject Matter. </a:t>
            </a:r>
          </a:p>
          <a:p>
            <a:pPr lvl="1"/>
            <a:r>
              <a:rPr dirty="0" lang="en-GB">
                <a:solidFill>
                  <a:prstClr val="black"/>
                </a:solidFill>
                <a:latin typeface="Californian FB" panose="0207040306080B030204" pitchFamily="18" charset="0"/>
              </a:rPr>
              <a:t>E.g. Sections 251, 254c, 257, 272, 285 etc. 1999 constitutio</a:t>
            </a:r>
            <a:r>
              <a:rPr dirty="0" lang="en-US">
                <a:solidFill>
                  <a:prstClr val="black"/>
                </a:solidFill>
                <a:latin typeface="Californian FB" panose="0207040306080B030204" pitchFamily="18" charset="0"/>
              </a:rPr>
              <a:t>n</a:t>
            </a:r>
            <a:r>
              <a:rPr dirty="0" lang="en-GB">
                <a:solidFill>
                  <a:prstClr val="black"/>
                </a:solidFill>
                <a:latin typeface="Californian FB" panose="0207040306080B030204" pitchFamily="18" charset="0"/>
              </a:rPr>
              <a:t> </a:t>
            </a:r>
            <a:endParaRPr altLang="en-US" lang="zh-CN"/>
          </a:p>
          <a:p>
            <a:pPr indent="0" lvl="1" marL="457200">
              <a:buNone/>
            </a:pPr>
            <a:endParaRPr dirty="0" lang="en-GB">
              <a:latin typeface="Californian FB" panose="0207040306080B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020762"/>
          </a:xfrm>
        </p:spPr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Jurisdiction</a:t>
            </a:r>
            <a:r>
              <a:rPr b="1" dirty="0" lang="en-GB"/>
              <a:t> 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257800"/>
          </a:xfrm>
        </p:spPr>
        <p:txBody>
          <a:bodyPr/>
          <a:p>
            <a:pPr algn="just"/>
            <a:r>
              <a:rPr b="1" dirty="0" lang="en-GB">
                <a:latin typeface="Californian FB" panose="0207040306080B030204" pitchFamily="18" charset="0"/>
              </a:rPr>
              <a:t>Condition Precedent </a:t>
            </a:r>
          </a:p>
          <a:p>
            <a:pPr algn="just" lvl="1"/>
            <a:r>
              <a:rPr dirty="0" sz="3200" i="1" lang="en-GB">
                <a:latin typeface="Californian FB" panose="0207040306080B030204" pitchFamily="18" charset="0"/>
              </a:rPr>
              <a:t>Pre-action Notices</a:t>
            </a:r>
            <a:r>
              <a:rPr dirty="0" sz="3200" lang="en-GB">
                <a:latin typeface="Californian FB" panose="0207040306080B030204" pitchFamily="18" charset="0"/>
              </a:rPr>
              <a:t>. E.g. s. 12(2) NNPC Act</a:t>
            </a:r>
          </a:p>
          <a:p>
            <a:pPr algn="just" lvl="1"/>
            <a:r>
              <a:rPr dirty="0" sz="3200" i="1" lang="en-GB">
                <a:latin typeface="Californian FB" panose="0207040306080B030204" pitchFamily="18" charset="0"/>
              </a:rPr>
              <a:t>Public Officers Protection  Act  see s. 2.</a:t>
            </a:r>
          </a:p>
          <a:p>
            <a:pPr algn="just" lvl="1"/>
            <a:r>
              <a:rPr dirty="0" sz="3200" i="1" lang="en-GB">
                <a:latin typeface="Californian FB" panose="0207040306080B030204" pitchFamily="18" charset="0"/>
              </a:rPr>
              <a:t>Statute of limitation e.g. See  s. 7 Limitation Act (Abuja)</a:t>
            </a:r>
          </a:p>
          <a:p>
            <a:pPr algn="just" lvl="2"/>
            <a:r>
              <a:rPr dirty="0" sz="3200" i="1" lang="en-GB">
                <a:latin typeface="Californian FB" panose="0207040306080B030204" pitchFamily="18" charset="0"/>
              </a:rPr>
              <a:t> </a:t>
            </a:r>
            <a:r>
              <a:rPr dirty="0" sz="3200" i="1" lang="en-GB" smtClean="0">
                <a:latin typeface="Californian FB" panose="0207040306080B030204" pitchFamily="18" charset="0"/>
              </a:rPr>
              <a:t>Simple contract </a:t>
            </a:r>
            <a:r>
              <a:rPr dirty="0" sz="3200" i="1" lang="en-GB">
                <a:latin typeface="Californian FB" panose="0207040306080B030204" pitchFamily="18" charset="0"/>
              </a:rPr>
              <a:t>– 6 years</a:t>
            </a:r>
          </a:p>
          <a:p>
            <a:pPr algn="just" lvl="2"/>
            <a:r>
              <a:rPr dirty="0" sz="3200" i="1" lang="en-GB">
                <a:latin typeface="Californian FB" panose="0207040306080B030204" pitchFamily="18" charset="0"/>
              </a:rPr>
              <a:t>Enforcement of arbitral award – 6 years </a:t>
            </a:r>
          </a:p>
          <a:p>
            <a:pPr algn="just" lvl="2"/>
            <a:r>
              <a:rPr dirty="0" sz="3200" i="1" lang="en-GB">
                <a:latin typeface="Californian FB" panose="0207040306080B030204" pitchFamily="18" charset="0"/>
              </a:rPr>
              <a:t>Damages for negligence resulting from personal injuries, nuisance, slander etc. – 3 years.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GB">
                <a:latin typeface="Californian FB" panose="0207040306080B030204" pitchFamily="18" charset="0"/>
              </a:rPr>
              <a:t>Jurisdiction</a:t>
            </a:r>
            <a:r>
              <a:rPr dirty="0" lang="en-GB"/>
              <a:t> </a:t>
            </a:r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GB">
                <a:latin typeface="Californian FB" panose="0207040306080B030204" pitchFamily="18" charset="0"/>
              </a:rPr>
              <a:t>Constitution of court and qualification of members</a:t>
            </a:r>
            <a:r>
              <a:rPr dirty="0" lang="en-GB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Jurisdiction </a:t>
            </a:r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dirty="0" lang="en-GB">
                <a:latin typeface="Californian FB" panose="0207040306080B030204" pitchFamily="18" charset="0"/>
              </a:rPr>
              <a:t>Action initiated by due process of law: </a:t>
            </a:r>
          </a:p>
          <a:p>
            <a:pPr lvl="1"/>
            <a:r>
              <a:rPr dirty="0" sz="3200" lang="en-GB">
                <a:latin typeface="Californian FB" panose="0207040306080B030204" pitchFamily="18" charset="0"/>
              </a:rPr>
              <a:t>Proper Service of court processes </a:t>
            </a:r>
          </a:p>
          <a:p>
            <a:pPr lvl="1"/>
            <a:r>
              <a:rPr dirty="0" sz="3200" i="1" lang="en-GB">
                <a:latin typeface="Californian FB" panose="0207040306080B030204" pitchFamily="18" charset="0"/>
              </a:rPr>
              <a:t>Locus </a:t>
            </a:r>
            <a:r>
              <a:rPr dirty="0" sz="3200" i="1" lang="en-GB" err="1">
                <a:latin typeface="Californian FB" panose="0207040306080B030204" pitchFamily="18" charset="0"/>
              </a:rPr>
              <a:t>standi</a:t>
            </a:r>
            <a:r>
              <a:rPr dirty="0" sz="3200" i="1" lang="en-GB">
                <a:latin typeface="Californian FB" panose="0207040306080B0302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Courts with Civil Jurisdiction 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364162"/>
          </a:xfrm>
        </p:spPr>
        <p:txBody>
          <a:bodyPr/>
          <a:p>
            <a:pPr algn="just"/>
            <a:r>
              <a:rPr b="1" dirty="0" lang="en-GB">
                <a:latin typeface="Californian FB" panose="0207040306080B030204" pitchFamily="18" charset="0"/>
              </a:rPr>
              <a:t>Supreme Court  </a:t>
            </a:r>
          </a:p>
          <a:p>
            <a:pPr algn="just" lvl="1"/>
            <a:r>
              <a:rPr dirty="0" lang="en-GB">
                <a:latin typeface="Californian FB" panose="0207040306080B030204" pitchFamily="18" charset="0"/>
              </a:rPr>
              <a:t>Establishment – s. 230(1) CFRN 1999</a:t>
            </a:r>
          </a:p>
          <a:p>
            <a:pPr algn="just" lvl="1"/>
            <a:r>
              <a:rPr dirty="0" lang="en-GB">
                <a:latin typeface="Californian FB" panose="0207040306080B030204" pitchFamily="18" charset="0"/>
              </a:rPr>
              <a:t>Composition – s. 230 (2)</a:t>
            </a:r>
          </a:p>
          <a:p>
            <a:pPr algn="just" lvl="1"/>
            <a:r>
              <a:rPr dirty="0" lang="en-GB">
                <a:latin typeface="Californian FB" panose="0207040306080B030204" pitchFamily="18" charset="0"/>
              </a:rPr>
              <a:t>Appointment &amp; Qualification  - s. 231  </a:t>
            </a:r>
          </a:p>
          <a:p>
            <a:pPr algn="just" lvl="1"/>
            <a:r>
              <a:rPr dirty="0" lang="en-GB">
                <a:latin typeface="Californian FB" panose="0207040306080B030204" pitchFamily="18" charset="0"/>
              </a:rPr>
              <a:t>Jurisdiction – Original s. 232(1) </a:t>
            </a:r>
          </a:p>
          <a:p>
            <a:pPr algn="just" indent="0" lvl="1" marL="457200">
              <a:buNone/>
            </a:pPr>
            <a:r>
              <a:rPr dirty="0" i="1" lang="en-GB">
                <a:latin typeface="Californian FB" panose="0207040306080B030204" pitchFamily="18" charset="0"/>
              </a:rPr>
              <a:t>See AG </a:t>
            </a:r>
            <a:r>
              <a:rPr dirty="0" i="1" lang="en-GB" err="1">
                <a:latin typeface="Californian FB" panose="0207040306080B030204" pitchFamily="18" charset="0"/>
              </a:rPr>
              <a:t>Bendel</a:t>
            </a:r>
            <a:r>
              <a:rPr dirty="0" i="1" lang="en-GB">
                <a:latin typeface="Californian FB" panose="0207040306080B030204" pitchFamily="18" charset="0"/>
              </a:rPr>
              <a:t> State v AG Federation (1981) 12 NSCC 314, AG Lagos State v AG Federation  (2014) All FWLR (pt. 740) 1296, AG Kano v AGF (2007) 3 SC 59.</a:t>
            </a:r>
          </a:p>
          <a:p>
            <a:pPr algn="just" indent="0" lvl="1" marL="457200">
              <a:buNone/>
            </a:pPr>
            <a:r>
              <a:rPr dirty="0" i="1" lang="en-GB">
                <a:latin typeface="Californian FB" panose="0207040306080B030204" pitchFamily="18" charset="0"/>
              </a:rPr>
              <a:t>- See also s. 232 (2) CFRN 1999 &amp; Supreme Court (Additional Original Jurisdiction) Act  2002. see Plateau State v. Ag Fed.</a:t>
            </a:r>
          </a:p>
          <a:p>
            <a:pPr algn="just" lvl="1"/>
            <a:endParaRPr dirty="0" lang="en-GB"/>
          </a:p>
          <a:p>
            <a:pPr algn="just" lvl="1"/>
            <a:endParaRPr dirty="0"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Supreme Court </a:t>
            </a:r>
          </a:p>
        </p:txBody>
      </p:sp>
      <p:sp>
        <p:nvSpPr>
          <p:cNvPr id="104862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>
                <a:latin typeface="Californian FB" panose="0207040306080B030204" pitchFamily="18" charset="0"/>
              </a:rPr>
              <a:t>Co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s</a:t>
            </a:r>
            <a:r>
              <a:rPr dirty="0" lang="en-US">
                <a:latin typeface="Californian FB" panose="0207040306080B030204" pitchFamily="18" charset="0"/>
              </a:rPr>
              <a:t>t</a:t>
            </a:r>
            <a:r>
              <a:rPr dirty="0" lang="en-US">
                <a:latin typeface="Californian FB" panose="0207040306080B030204" pitchFamily="18" charset="0"/>
              </a:rPr>
              <a:t>i</a:t>
            </a:r>
            <a:r>
              <a:rPr dirty="0" lang="en-US">
                <a:latin typeface="Californian FB" panose="0207040306080B030204" pitchFamily="18" charset="0"/>
              </a:rPr>
              <a:t>t</a:t>
            </a:r>
            <a:r>
              <a:rPr dirty="0" lang="en-US">
                <a:latin typeface="Californian FB" panose="0207040306080B030204" pitchFamily="18" charset="0"/>
              </a:rPr>
              <a:t>ution</a:t>
            </a:r>
            <a:r>
              <a:rPr dirty="0" lang="en-GB">
                <a:latin typeface="Californian FB" panose="0207040306080B030204" pitchFamily="18" charset="0"/>
              </a:rPr>
              <a:t> – 7 Justices sitting on original jurisdiction, constitutional matters</a:t>
            </a:r>
            <a:r>
              <a:rPr dirty="0" lang="en-US">
                <a:latin typeface="Californian FB" panose="0207040306080B030204" pitchFamily="18" charset="0"/>
              </a:rPr>
              <a:t>,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f</a:t>
            </a:r>
            <a:r>
              <a:rPr dirty="0" lang="en-GB">
                <a:latin typeface="Californian FB" panose="0207040306080B030204" pitchFamily="18" charset="0"/>
              </a:rPr>
              <a:t>undamental rights matters</a:t>
            </a:r>
            <a:r>
              <a:rPr dirty="0" lang="en-US">
                <a:latin typeface="Californian FB" panose="0207040306080B030204" pitchFamily="18" charset="0"/>
              </a:rPr>
              <a:t>,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d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w</a:t>
            </a:r>
            <a:r>
              <a:rPr dirty="0" lang="en-US">
                <a:latin typeface="Californian FB" panose="0207040306080B030204" pitchFamily="18" charset="0"/>
              </a:rPr>
              <a:t>h</a:t>
            </a:r>
            <a:r>
              <a:rPr dirty="0" lang="en-US">
                <a:latin typeface="Californian FB" panose="0207040306080B030204" pitchFamily="18" charset="0"/>
              </a:rPr>
              <a:t>i</a:t>
            </a:r>
            <a:r>
              <a:rPr dirty="0" lang="en-US">
                <a:latin typeface="Californian FB" panose="0207040306080B030204" pitchFamily="18" charset="0"/>
              </a:rPr>
              <a:t>l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h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r</a:t>
            </a:r>
            <a:r>
              <a:rPr dirty="0" lang="en-US">
                <a:latin typeface="Californian FB" panose="0207040306080B030204" pitchFamily="18" charset="0"/>
              </a:rPr>
              <a:t>i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g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c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p</a:t>
            </a:r>
            <a:r>
              <a:rPr dirty="0" lang="en-US">
                <a:latin typeface="Californian FB" panose="0207040306080B030204" pitchFamily="18" charset="0"/>
              </a:rPr>
              <a:t>p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al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f</a:t>
            </a:r>
            <a:r>
              <a:rPr dirty="0" lang="en-US">
                <a:latin typeface="Californian FB" panose="0207040306080B030204" pitchFamily="18" charset="0"/>
              </a:rPr>
              <a:t>r</a:t>
            </a:r>
            <a:r>
              <a:rPr dirty="0" lang="en-US">
                <a:latin typeface="Californian FB" panose="0207040306080B030204" pitchFamily="18" charset="0"/>
              </a:rPr>
              <a:t>om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s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t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nce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o</a:t>
            </a:r>
            <a:r>
              <a:rPr dirty="0" lang="en-US">
                <a:latin typeface="Californian FB" panose="0207040306080B030204" pitchFamily="18" charset="0"/>
              </a:rPr>
              <a:t>f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d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th</a:t>
            </a:r>
            <a:r>
              <a:rPr dirty="0" lang="en-GB">
                <a:latin typeface="Californian FB" panose="0207040306080B030204" pitchFamily="18" charset="0"/>
              </a:rPr>
              <a:t>. 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o</a:t>
            </a:r>
            <a:r>
              <a:rPr dirty="0" lang="en-US">
                <a:latin typeface="Californian FB" panose="0207040306080B030204" pitchFamily="18" charset="0"/>
              </a:rPr>
              <a:t>t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l</a:t>
            </a:r>
            <a:r>
              <a:rPr dirty="0" lang="en-US">
                <a:latin typeface="Californian FB" panose="0207040306080B030204" pitchFamily="18" charset="0"/>
              </a:rPr>
              <a:t>e</a:t>
            </a:r>
            <a:r>
              <a:rPr dirty="0" lang="en-US">
                <a:latin typeface="Californian FB" panose="0207040306080B030204" pitchFamily="18" charset="0"/>
              </a:rPr>
              <a:t>s</a:t>
            </a:r>
            <a:r>
              <a:rPr dirty="0" lang="en-US">
                <a:latin typeface="Californian FB" panose="0207040306080B030204" pitchFamily="18" charset="0"/>
              </a:rPr>
              <a:t>s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t</a:t>
            </a:r>
            <a:r>
              <a:rPr dirty="0" lang="en-US">
                <a:latin typeface="Californian FB" panose="0207040306080B030204" pitchFamily="18" charset="0"/>
              </a:rPr>
              <a:t>h</a:t>
            </a:r>
            <a:r>
              <a:rPr dirty="0" lang="en-US">
                <a:latin typeface="Californian FB" panose="0207040306080B030204" pitchFamily="18" charset="0"/>
              </a:rPr>
              <a:t>a</a:t>
            </a:r>
            <a:r>
              <a:rPr dirty="0" lang="en-US">
                <a:latin typeface="Californian FB" panose="0207040306080B030204" pitchFamily="18" charset="0"/>
              </a:rPr>
              <a:t>n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r>
              <a:rPr dirty="0" lang="en-US">
                <a:latin typeface="Californian FB" panose="0207040306080B030204" pitchFamily="18" charset="0"/>
              </a:rPr>
              <a:t>5</a:t>
            </a:r>
            <a:r>
              <a:rPr dirty="0" lang="en-GB">
                <a:latin typeface="Californian FB" panose="0207040306080B030204" pitchFamily="18" charset="0"/>
              </a:rPr>
              <a:t> in others. – s. 234. </a:t>
            </a:r>
            <a:endParaRPr altLang="en-US" lang="zh-CN"/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Appellate Jurisdiction</a:t>
            </a:r>
            <a:r>
              <a:rPr dirty="0" lang="en-GB"/>
              <a:t>. </a:t>
            </a:r>
            <a:r>
              <a:rPr dirty="0" lang="en-GB">
                <a:latin typeface="Californian FB" panose="0207040306080B030204" pitchFamily="18" charset="0"/>
              </a:rPr>
              <a:t>– s 233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Court of Appeal </a:t>
            </a:r>
          </a:p>
        </p:txBody>
      </p:sp>
      <p:sp>
        <p:nvSpPr>
          <p:cNvPr id="1048629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486400"/>
          </a:xfrm>
        </p:spPr>
        <p:txBody>
          <a:bodyPr>
            <a:normAutofit/>
          </a:bodyPr>
          <a:p>
            <a:r>
              <a:rPr dirty="0" lang="en-GB">
                <a:latin typeface="Californian FB" panose="0207040306080B030204" pitchFamily="18" charset="0"/>
              </a:rPr>
              <a:t>Establishment  - S. 237</a:t>
            </a:r>
          </a:p>
          <a:p>
            <a:r>
              <a:rPr dirty="0" lang="en-GB">
                <a:latin typeface="Californian FB" panose="0207040306080B030204" pitchFamily="18" charset="0"/>
              </a:rPr>
              <a:t>Constitution, appointment, qualification – S. 237(2), S. 238(1)(2) &amp;(3) 1999 Const. </a:t>
            </a:r>
          </a:p>
          <a:p>
            <a:r>
              <a:rPr dirty="0" lang="en-GB">
                <a:latin typeface="Californian FB" panose="0207040306080B030204" pitchFamily="18" charset="0"/>
              </a:rPr>
              <a:t>Jurisdiction – Original s. 239 amended by 2</a:t>
            </a:r>
            <a:r>
              <a:rPr baseline="30000" dirty="0" lang="en-GB">
                <a:latin typeface="Californian FB" panose="0207040306080B030204" pitchFamily="18" charset="0"/>
              </a:rPr>
              <a:t>nd</a:t>
            </a:r>
            <a:r>
              <a:rPr dirty="0" lang="en-GB">
                <a:latin typeface="Californian FB" panose="0207040306080B030204" pitchFamily="18" charset="0"/>
              </a:rPr>
              <a:t> alteration Act 2010. </a:t>
            </a:r>
          </a:p>
          <a:p>
            <a:pPr lvl="1"/>
            <a:r>
              <a:rPr dirty="0" i="1" lang="en-GB">
                <a:latin typeface="Californian FB" panose="0207040306080B030204" pitchFamily="18" charset="0"/>
              </a:rPr>
              <a:t>Whether any person has been validly elected into the office of president or vice president,</a:t>
            </a:r>
          </a:p>
          <a:p>
            <a:pPr lvl="1"/>
            <a:r>
              <a:rPr dirty="0" i="1" lang="en-GB">
                <a:latin typeface="Californian FB" panose="0207040306080B030204" pitchFamily="18" charset="0"/>
              </a:rPr>
              <a:t>Whether term of office of president has ceased </a:t>
            </a:r>
          </a:p>
          <a:p>
            <a:pPr lvl="1"/>
            <a:r>
              <a:rPr dirty="0" i="1" lang="en-GB">
                <a:latin typeface="Californian FB" panose="0207040306080B030204" pitchFamily="18" charset="0"/>
              </a:rPr>
              <a:t>Whether the office of president or VP has become vacant. SEE Buhari v </a:t>
            </a:r>
            <a:r>
              <a:rPr dirty="0" i="1" lang="en-GB" err="1">
                <a:latin typeface="Californian FB" panose="0207040306080B030204" pitchFamily="18" charset="0"/>
              </a:rPr>
              <a:t>Obasanjo</a:t>
            </a:r>
            <a:r>
              <a:rPr dirty="0" i="1" lang="en-GB">
                <a:latin typeface="Californian FB" panose="0207040306080B030204" pitchFamily="18" charset="0"/>
              </a:rPr>
              <a:t>, Atiku </a:t>
            </a:r>
            <a:r>
              <a:rPr dirty="0" i="1" lang="en-GB" err="1">
                <a:latin typeface="Californian FB" panose="0207040306080B030204" pitchFamily="18" charset="0"/>
              </a:rPr>
              <a:t>Ors</a:t>
            </a:r>
            <a:r>
              <a:rPr dirty="0" i="1" lang="en-GB">
                <a:latin typeface="Californian FB" panose="0207040306080B030204" pitchFamily="18" charset="0"/>
              </a:rPr>
              <a:t> v Buhari </a:t>
            </a:r>
            <a:r>
              <a:rPr dirty="0" i="1" lang="en-GB" err="1">
                <a:latin typeface="Californian FB" panose="0207040306080B030204" pitchFamily="18" charset="0"/>
              </a:rPr>
              <a:t>Ors</a:t>
            </a:r>
            <a:r>
              <a:rPr dirty="0" i="1" lang="en-GB">
                <a:latin typeface="Californian FB" panose="0207040306080B0302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Court of Appeal </a:t>
            </a:r>
          </a:p>
        </p:txBody>
      </p:sp>
      <p:sp>
        <p:nvSpPr>
          <p:cNvPr id="104863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>
                <a:latin typeface="Californian FB" panose="0207040306080B030204" pitchFamily="18" charset="0"/>
              </a:rPr>
              <a:t>Appellate jurisdiction – s. 240-246. 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Note the courts from which appeal lies to the CA.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Are there  instances when decisions of Court of Appeal will be final?  - S. 243 (4) &amp; S. 246 (3) 1999 Constitution</a:t>
            </a:r>
            <a:r>
              <a:rPr dirty="0" lang="en-US">
                <a:latin typeface="Californian FB" panose="0207040306080B030204" pitchFamily="18" charset="0"/>
              </a:rPr>
              <a:t>.</a:t>
            </a:r>
            <a:r>
              <a:rPr dirty="0" lang="en-US">
                <a:latin typeface="Californian FB" panose="0207040306080B030204" pitchFamily="18" charset="0"/>
              </a:rPr>
              <a:t> </a:t>
            </a:r>
            <a:endParaRPr altLang="en-US" 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Federal High Court </a:t>
            </a:r>
          </a:p>
        </p:txBody>
      </p:sp>
      <p:sp>
        <p:nvSpPr>
          <p:cNvPr id="104863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486400"/>
          </a:xfrm>
        </p:spPr>
        <p:txBody>
          <a:bodyPr>
            <a:normAutofit/>
          </a:bodyPr>
          <a:p>
            <a:pPr algn="just"/>
            <a:r>
              <a:rPr dirty="0" lang="en-GB">
                <a:latin typeface="Californian FB" panose="0207040306080B030204" pitchFamily="18" charset="0"/>
              </a:rPr>
              <a:t>Establishment - S. 249 (1) 1999 Const.</a:t>
            </a:r>
          </a:p>
          <a:p>
            <a:pPr algn="just" indent="-342900" lvl="1" marL="342900"/>
            <a:r>
              <a:rPr dirty="0" lang="en-GB">
                <a:latin typeface="Californian FB" panose="0207040306080B030204" pitchFamily="18" charset="0"/>
              </a:rPr>
              <a:t>Constitution, Appointment &amp; Qualification – S. 249(2), 250 (1)(2) &amp; (3) 1999 Const.  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Jurisdiction – s. 251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Judicial attitude to jurisdiction of FHC &amp; SHC </a:t>
            </a:r>
          </a:p>
          <a:p>
            <a:pPr algn="just" lvl="1"/>
            <a:r>
              <a:rPr b="1" dirty="0" lang="en-GB">
                <a:latin typeface="Californian FB" panose="0207040306080B030204" pitchFamily="18" charset="0"/>
              </a:rPr>
              <a:t>Actions involving federal government or its agencies.</a:t>
            </a:r>
            <a:r>
              <a:rPr dirty="0" lang="en-GB">
                <a:latin typeface="Californian FB" panose="0207040306080B030204" pitchFamily="18" charset="0"/>
              </a:rPr>
              <a:t> </a:t>
            </a:r>
            <a:r>
              <a:rPr dirty="0" i="1" lang="en-GB">
                <a:latin typeface="Californian FB" panose="0207040306080B030204" pitchFamily="18" charset="0"/>
              </a:rPr>
              <a:t>NEPA V </a:t>
            </a:r>
            <a:r>
              <a:rPr dirty="0" i="1" lang="en-GB" err="1">
                <a:latin typeface="Californian FB" panose="0207040306080B030204" pitchFamily="18" charset="0"/>
              </a:rPr>
              <a:t>Edegbenro</a:t>
            </a:r>
            <a:r>
              <a:rPr dirty="0" i="1" lang="en-GB">
                <a:latin typeface="Californian FB" panose="0207040306080B030204" pitchFamily="18" charset="0"/>
              </a:rPr>
              <a:t> , </a:t>
            </a:r>
            <a:r>
              <a:rPr dirty="0" i="1" lang="en-GB" err="1">
                <a:latin typeface="Californian FB" panose="0207040306080B030204" pitchFamily="18" charset="0"/>
              </a:rPr>
              <a:t>Onuoha</a:t>
            </a:r>
            <a:r>
              <a:rPr dirty="0" i="1" lang="en-GB">
                <a:latin typeface="Californian FB" panose="0207040306080B030204" pitchFamily="18" charset="0"/>
              </a:rPr>
              <a:t> v KRPC, NUEE v BPE, </a:t>
            </a:r>
            <a:r>
              <a:rPr dirty="0" i="1" lang="en-GB" err="1">
                <a:latin typeface="Californian FB" panose="0207040306080B030204" pitchFamily="18" charset="0"/>
              </a:rPr>
              <a:t>Wema</a:t>
            </a:r>
            <a:r>
              <a:rPr dirty="0" i="1" lang="en-GB">
                <a:latin typeface="Californian FB" panose="0207040306080B030204" pitchFamily="18" charset="0"/>
              </a:rPr>
              <a:t> Securities &amp; Finance </a:t>
            </a:r>
            <a:r>
              <a:rPr dirty="0" i="1" lang="en-GB" err="1">
                <a:latin typeface="Californian FB" panose="0207040306080B030204" pitchFamily="18" charset="0"/>
              </a:rPr>
              <a:t>Plc</a:t>
            </a:r>
            <a:r>
              <a:rPr dirty="0" i="1" lang="en-GB">
                <a:latin typeface="Californian FB" panose="0207040306080B030204" pitchFamily="18" charset="0"/>
              </a:rPr>
              <a:t> v N. A.I.C</a:t>
            </a:r>
          </a:p>
          <a:p>
            <a:pPr algn="just" lvl="1"/>
            <a:r>
              <a:rPr b="1" dirty="0" lang="en-GB">
                <a:latin typeface="Californian FB" panose="0207040306080B030204" pitchFamily="18" charset="0"/>
              </a:rPr>
              <a:t>Enforcement of fundamental rights</a:t>
            </a:r>
            <a:r>
              <a:rPr dirty="0" i="1" lang="en-GB">
                <a:latin typeface="Californian FB" panose="0207040306080B030204" pitchFamily="18" charset="0"/>
              </a:rPr>
              <a:t>. see the cases of </a:t>
            </a:r>
            <a:r>
              <a:rPr dirty="0" i="1" lang="en-GB" err="1">
                <a:latin typeface="Californian FB" panose="0207040306080B030204" pitchFamily="18" charset="0"/>
              </a:rPr>
              <a:t>Tukur</a:t>
            </a:r>
            <a:r>
              <a:rPr dirty="0" i="1" lang="en-GB">
                <a:latin typeface="Californian FB" panose="0207040306080B030204" pitchFamily="18" charset="0"/>
              </a:rPr>
              <a:t> v </a:t>
            </a:r>
            <a:r>
              <a:rPr dirty="0" i="1" lang="en-GB" err="1">
                <a:latin typeface="Californian FB" panose="0207040306080B030204" pitchFamily="18" charset="0"/>
              </a:rPr>
              <a:t>Govt</a:t>
            </a:r>
            <a:r>
              <a:rPr dirty="0" i="1" lang="en-GB">
                <a:latin typeface="Californian FB" panose="0207040306080B030204" pitchFamily="18" charset="0"/>
              </a:rPr>
              <a:t> of </a:t>
            </a:r>
            <a:r>
              <a:rPr dirty="0" i="1" lang="en-GB" err="1">
                <a:latin typeface="Californian FB" panose="0207040306080B030204" pitchFamily="18" charset="0"/>
              </a:rPr>
              <a:t>Gongola</a:t>
            </a:r>
            <a:r>
              <a:rPr dirty="0" i="1" lang="en-GB">
                <a:latin typeface="Californian FB" panose="0207040306080B030204" pitchFamily="18" charset="0"/>
              </a:rPr>
              <a:t> , </a:t>
            </a:r>
            <a:r>
              <a:rPr dirty="0" i="1" lang="en-GB" err="1">
                <a:latin typeface="Californian FB" panose="0207040306080B030204" pitchFamily="18" charset="0"/>
              </a:rPr>
              <a:t>Adetona</a:t>
            </a:r>
            <a:r>
              <a:rPr dirty="0" i="1" lang="en-GB">
                <a:latin typeface="Californian FB" panose="0207040306080B030204" pitchFamily="18" charset="0"/>
              </a:rPr>
              <a:t> v I G Enterprises, Grace Jack v UNAM,  </a:t>
            </a:r>
            <a:r>
              <a:rPr dirty="0" i="1" lang="en-GB" err="1">
                <a:latin typeface="Californian FB" panose="0207040306080B030204" pitchFamily="18" charset="0"/>
              </a:rPr>
              <a:t>gafar</a:t>
            </a:r>
            <a:r>
              <a:rPr dirty="0" i="1" lang="en-GB">
                <a:latin typeface="Californian FB" panose="0207040306080B030204" pitchFamily="18" charset="0"/>
              </a:rPr>
              <a:t> v government of </a:t>
            </a:r>
            <a:r>
              <a:rPr dirty="0" i="1" lang="en-GB" err="1">
                <a:latin typeface="Californian FB" panose="0207040306080B030204" pitchFamily="18" charset="0"/>
              </a:rPr>
              <a:t>Kwara</a:t>
            </a:r>
            <a:r>
              <a:rPr dirty="0" i="1" lang="en-GB">
                <a:latin typeface="Californian FB" panose="0207040306080B030204" pitchFamily="18" charset="0"/>
              </a:rPr>
              <a:t> State, FUT </a:t>
            </a:r>
            <a:r>
              <a:rPr dirty="0" i="1" lang="en-GB" err="1">
                <a:latin typeface="Californian FB" panose="0207040306080B030204" pitchFamily="18" charset="0"/>
              </a:rPr>
              <a:t>Minna</a:t>
            </a:r>
            <a:r>
              <a:rPr dirty="0" i="1" lang="en-GB">
                <a:latin typeface="Californian FB" panose="0207040306080B030204" pitchFamily="18" charset="0"/>
              </a:rPr>
              <a:t> v </a:t>
            </a:r>
            <a:r>
              <a:rPr dirty="0" i="1" lang="en-GB" err="1">
                <a:latin typeface="Californian FB" panose="0207040306080B030204" pitchFamily="18" charset="0"/>
              </a:rPr>
              <a:t>Olutayo</a:t>
            </a:r>
            <a:r>
              <a:rPr dirty="0" i="1" lang="en-GB">
                <a:latin typeface="Californian FB" panose="0207040306080B030204" pitchFamily="18" charset="0"/>
              </a:rPr>
              <a:t>; EFCC v. </a:t>
            </a:r>
            <a:r>
              <a:rPr dirty="0" i="1" lang="en-GB" err="1">
                <a:latin typeface="Californian FB" panose="0207040306080B030204" pitchFamily="18" charset="0"/>
              </a:rPr>
              <a:t>Reini</a:t>
            </a:r>
            <a:r>
              <a:rPr dirty="0" i="1" lang="en-GB">
                <a:latin typeface="Californian FB" panose="0207040306080B030204" pitchFamily="18" charset="0"/>
              </a:rPr>
              <a:t> </a:t>
            </a:r>
          </a:p>
          <a:p>
            <a:pPr algn="just" lvl="1"/>
            <a:endParaRPr dirty="0" i="1" lang="en-GB">
              <a:latin typeface="Californian FB" panose="0207040306080B030204" pitchFamily="18" charset="0"/>
            </a:endParaRPr>
          </a:p>
          <a:p>
            <a:pPr algn="just" lvl="1"/>
            <a:endParaRPr dirty="0"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solidFill>
                  <a:prstClr val="black"/>
                </a:solidFill>
                <a:latin typeface="Californian FB" panose="0207040306080B030204" pitchFamily="18" charset="0"/>
              </a:rPr>
              <a:t>Federal High Court </a:t>
            </a:r>
            <a:endParaRPr dirty="0" lang="en-GB"/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b="1" dirty="0" lang="en-GB">
                <a:latin typeface="Californian FB" panose="0207040306080B030204" pitchFamily="18" charset="0"/>
              </a:rPr>
              <a:t>Dispute between individual customer and bank. </a:t>
            </a:r>
            <a:r>
              <a:rPr dirty="0" lang="en-GB">
                <a:latin typeface="Californian FB" panose="0207040306080B030204" pitchFamily="18" charset="0"/>
              </a:rPr>
              <a:t>S. 251 (1) d CFRN 1999. See the cases of </a:t>
            </a:r>
            <a:r>
              <a:rPr dirty="0" i="1" lang="en-GB">
                <a:latin typeface="Californian FB" panose="0207040306080B030204" pitchFamily="18" charset="0"/>
              </a:rPr>
              <a:t>NDIC v </a:t>
            </a:r>
            <a:r>
              <a:rPr dirty="0" i="1" lang="en-GB" err="1">
                <a:latin typeface="Californian FB" panose="0207040306080B030204" pitchFamily="18" charset="0"/>
              </a:rPr>
              <a:t>Okem</a:t>
            </a:r>
            <a:endParaRPr dirty="0" i="1" lang="en-GB">
              <a:latin typeface="Californian FB" panose="0207040306080B030204" pitchFamily="18" charset="0"/>
            </a:endParaRPr>
          </a:p>
          <a:p>
            <a:pPr lvl="1"/>
            <a:r>
              <a:rPr b="1" dirty="0" lang="en-GB">
                <a:latin typeface="Californian FB" panose="0207040306080B030204" pitchFamily="18" charset="0"/>
              </a:rPr>
              <a:t>Transfer of cases from FHC to SHC &amp; VIS VERSA </a:t>
            </a:r>
            <a:r>
              <a:rPr dirty="0" i="1" lang="en-GB">
                <a:latin typeface="Californian FB" panose="0207040306080B030204" pitchFamily="18" charset="0"/>
              </a:rPr>
              <a:t>– s. 22(2 ) FHC Act, </a:t>
            </a:r>
            <a:r>
              <a:rPr dirty="0" i="1" lang="en-GB" err="1">
                <a:latin typeface="Californian FB" panose="0207040306080B030204" pitchFamily="18" charset="0"/>
              </a:rPr>
              <a:t>Mokelu</a:t>
            </a:r>
            <a:r>
              <a:rPr dirty="0" i="1" lang="en-GB">
                <a:latin typeface="Californian FB" panose="0207040306080B030204" pitchFamily="18" charset="0"/>
              </a:rPr>
              <a:t> v Federal Commissioner of Works &amp; Housing, </a:t>
            </a:r>
            <a:r>
              <a:rPr dirty="0" i="1" lang="en-GB" err="1">
                <a:latin typeface="Californian FB" panose="0207040306080B030204" pitchFamily="18" charset="0"/>
              </a:rPr>
              <a:t>Fasakin</a:t>
            </a:r>
            <a:r>
              <a:rPr dirty="0" i="1" lang="en-GB">
                <a:latin typeface="Californian FB" panose="0207040306080B030204" pitchFamily="18" charset="0"/>
              </a:rPr>
              <a:t> foods (</a:t>
            </a:r>
            <a:r>
              <a:rPr dirty="0" i="1" lang="en-GB" err="1">
                <a:latin typeface="Californian FB" panose="0207040306080B030204" pitchFamily="18" charset="0"/>
              </a:rPr>
              <a:t>Nig</a:t>
            </a:r>
            <a:r>
              <a:rPr dirty="0" i="1" lang="en-GB">
                <a:latin typeface="Californian FB" panose="0207040306080B030204" pitchFamily="18" charset="0"/>
              </a:rPr>
              <a:t>) </a:t>
            </a:r>
            <a:r>
              <a:rPr dirty="0" i="1" lang="en-GB" smtClean="0">
                <a:latin typeface="Californian FB" panose="0207040306080B030204" pitchFamily="18" charset="0"/>
              </a:rPr>
              <a:t>Ltd v </a:t>
            </a:r>
            <a:r>
              <a:rPr dirty="0" i="1" lang="en-GB" err="1" smtClean="0">
                <a:latin typeface="Californian FB" panose="0207040306080B030204" pitchFamily="18" charset="0"/>
              </a:rPr>
              <a:t>Shosanya</a:t>
            </a:r>
            <a:r>
              <a:rPr dirty="0" i="1" lang="en-GB" smtClean="0">
                <a:latin typeface="Californian FB" panose="0207040306080B030204" pitchFamily="18" charset="0"/>
              </a:rPr>
              <a:t>. </a:t>
            </a:r>
            <a:endParaRPr dirty="0" i="1" lang="en-GB">
              <a:latin typeface="Californian FB" panose="0207040306080B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en-GB">
                <a:latin typeface="Californian FB" panose="0207040306080B030204" pitchFamily="18" charset="0"/>
              </a:rPr>
              <a:t>National Industrial Court 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>
                <a:latin typeface="Californian FB" panose="0207040306080B030204" pitchFamily="18" charset="0"/>
              </a:rPr>
              <a:t>Establishment - S. 254 A (1) CFRN 1999.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Composition – S. 254 A(2)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Appointment  &amp; Qualification– S. 254 B (1) – (4)</a:t>
            </a:r>
          </a:p>
          <a:p>
            <a:pPr algn="just"/>
            <a:r>
              <a:rPr dirty="0" lang="en-GB">
                <a:latin typeface="Californian FB" panose="0207040306080B030204" pitchFamily="18" charset="0"/>
              </a:rPr>
              <a:t>Jurisdiction – s 254 C </a:t>
            </a:r>
          </a:p>
          <a:p>
            <a:pPr algn="just" lvl="1"/>
            <a:r>
              <a:rPr dirty="0" i="1" lang="en-GB">
                <a:latin typeface="Californian FB" panose="0207040306080B030204" pitchFamily="18" charset="0"/>
              </a:rPr>
              <a:t>Coca Cola (Nig.) Ltd v </a:t>
            </a:r>
            <a:r>
              <a:rPr dirty="0" i="1" lang="en-GB" err="1">
                <a:latin typeface="Californian FB" panose="0207040306080B030204" pitchFamily="18" charset="0"/>
              </a:rPr>
              <a:t>Akinsanya</a:t>
            </a:r>
            <a:r>
              <a:rPr dirty="0" i="1" lang="en-GB">
                <a:latin typeface="Californian FB" panose="0207040306080B030204" pitchFamily="18" charset="0"/>
              </a:rPr>
              <a:t>, Lagos Sheraton </a:t>
            </a:r>
            <a:r>
              <a:rPr dirty="0" i="1" lang="en-GB" smtClean="0">
                <a:latin typeface="Californian FB" panose="0207040306080B030204" pitchFamily="18" charset="0"/>
              </a:rPr>
              <a:t>Hotel &amp; Towers v </a:t>
            </a:r>
            <a:r>
              <a:rPr dirty="0" i="1" lang="en-GB">
                <a:latin typeface="Californian FB" panose="0207040306080B030204" pitchFamily="18" charset="0"/>
              </a:rPr>
              <a:t>HPSSSA, Skye Bank v </a:t>
            </a:r>
            <a:r>
              <a:rPr dirty="0" i="1" lang="en-GB" err="1">
                <a:latin typeface="Californian FB" panose="0207040306080B030204" pitchFamily="18" charset="0"/>
              </a:rPr>
              <a:t>Iwu</a:t>
            </a:r>
            <a:r>
              <a:rPr dirty="0" i="1" lang="en-GB">
                <a:latin typeface="Californian FB" panose="0207040306080B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GB">
                <a:latin typeface="Californian FB" panose="0207040306080B030204" pitchFamily="18" charset="0"/>
              </a:rPr>
              <a:t>High Court of FCT &amp; States</a:t>
            </a:r>
          </a:p>
        </p:txBody>
      </p:sp>
      <p:sp>
        <p:nvSpPr>
          <p:cNvPr id="104863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/>
              <a:t>Establishment – S. 255(1) &amp; 270(1) 1999 Const.</a:t>
            </a:r>
          </a:p>
          <a:p>
            <a:pPr algn="just"/>
            <a:r>
              <a:rPr dirty="0" lang="en-GB"/>
              <a:t>Composition – S. 255(2) &amp; S. 270(2) 1999 Const.</a:t>
            </a:r>
          </a:p>
          <a:p>
            <a:pPr algn="just"/>
            <a:r>
              <a:rPr dirty="0" lang="en-GB"/>
              <a:t>Appointment &amp; Qualification – S. 256(1) – (3), S.271 (1) – (3) 1999 Const.</a:t>
            </a:r>
          </a:p>
          <a:p>
            <a:pPr algn="just"/>
            <a:r>
              <a:rPr dirty="0" lang="en-GB"/>
              <a:t>Jurisdiction – S. 257(1) &amp; S. 272(1) 1999 Const.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GB"/>
              <a:t>Sharia Court of Appeal  FCT &amp; States.</a:t>
            </a:r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/>
              <a:t>Establishment – S. 260(1) &amp; 275(1) 1999 Const.</a:t>
            </a:r>
          </a:p>
          <a:p>
            <a:pPr algn="just"/>
            <a:r>
              <a:rPr dirty="0" lang="en-GB"/>
              <a:t>Constitution – S. 260(2) &amp; S. 275(2) 1999 Const.</a:t>
            </a:r>
          </a:p>
          <a:p>
            <a:pPr algn="just"/>
            <a:r>
              <a:rPr dirty="0" lang="en-GB"/>
              <a:t>Appointment &amp; Qualification – S. 261(1) – (3), S.276 (1) – (3) 1999 Const.</a:t>
            </a:r>
          </a:p>
          <a:p>
            <a:pPr algn="just"/>
            <a:r>
              <a:rPr dirty="0" lang="en-GB"/>
              <a:t>Jurisdiction – S. 262 &amp; S. 277 1999 Const.</a:t>
            </a:r>
          </a:p>
          <a:p>
            <a:pPr algn="just"/>
            <a:endParaRPr dirty="0"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en-US"/>
              <a:t>Customary Court of Appeal FCT &amp; States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/>
              <a:t>Establishment – S. 265(1) &amp; 280(1) 1999 Const. </a:t>
            </a:r>
          </a:p>
          <a:p>
            <a:pPr algn="just"/>
            <a:r>
              <a:rPr dirty="0" lang="en-GB"/>
              <a:t>Constitution – S. 265(2) &amp; S. 280(2) 1999 Const.</a:t>
            </a:r>
          </a:p>
          <a:p>
            <a:pPr algn="just"/>
            <a:r>
              <a:rPr dirty="0" lang="en-GB"/>
              <a:t>Appointment &amp; Qualification – S. 266(1) – (3), S.281 (1) – (3) 1999 Const.</a:t>
            </a:r>
          </a:p>
          <a:p>
            <a:pPr algn="just"/>
            <a:r>
              <a:rPr dirty="0" lang="en-GB"/>
              <a:t>Jurisdiction – S. 267(1) &amp; S. 282 1999 Const.</a:t>
            </a:r>
          </a:p>
          <a:p>
            <a:pPr algn="just"/>
            <a:endParaRPr dirty="0"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GB">
                <a:latin typeface="Californian FB" panose="0207040306080B030204" pitchFamily="18" charset="0"/>
              </a:rPr>
              <a:t>Magistrates’ Court of Lagos </a:t>
            </a:r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dirty="0" lang="en-GB"/>
              <a:t>Establishment – For FCT Abuja by the N/A and for States by H/A</a:t>
            </a:r>
          </a:p>
          <a:p>
            <a:pPr algn="just"/>
            <a:r>
              <a:rPr dirty="0" lang="en-GB"/>
              <a:t>Jurisdiction - See s. 28 MCL, Lagos State 2009.</a:t>
            </a:r>
          </a:p>
          <a:p>
            <a:pPr algn="just"/>
            <a:r>
              <a:rPr dirty="0" lang="en-GB"/>
              <a:t>Constitution over matters</a:t>
            </a:r>
          </a:p>
          <a:p>
            <a:pPr algn="just"/>
            <a:r>
              <a:rPr dirty="0" lang="en-GB"/>
              <a:t>Note Establishment of the Small Claims Court</a:t>
            </a:r>
          </a:p>
          <a:p>
            <a:pPr algn="just">
              <a:buFontTx/>
              <a:buChar char="-"/>
            </a:pPr>
            <a:r>
              <a:rPr dirty="0" lang="en-GB"/>
              <a:t>Objective of the Small Claims Court</a:t>
            </a:r>
          </a:p>
          <a:p>
            <a:pPr algn="just">
              <a:buFontTx/>
              <a:buChar char="-"/>
            </a:pPr>
            <a:r>
              <a:rPr dirty="0" lang="en-GB"/>
              <a:t>Jurisdiction of Small Claims Court.</a:t>
            </a:r>
          </a:p>
          <a:p>
            <a:pPr algn="just">
              <a:buFontTx/>
              <a:buChar char="-"/>
            </a:pPr>
            <a:r>
              <a:rPr dirty="0" lang="en-GB"/>
              <a:t>See </a:t>
            </a:r>
            <a:r>
              <a:rPr b="1" dirty="0" lang="en-US"/>
              <a:t>L</a:t>
            </a:r>
            <a:r>
              <a:rPr altLang="en-US" lang="zh-CN"/>
              <a:t>agos State Practice Direction on Small Claims Court 2023</a:t>
            </a:r>
            <a:endParaRPr altLang="en-US" lang="zh-CN"/>
          </a:p>
          <a:p>
            <a:pPr algn="just">
              <a:buFontTx/>
              <a:buChar char="-"/>
            </a:pPr>
            <a:endParaRPr altLang="en-US" lang="zh-CN"/>
          </a:p>
          <a:p>
            <a:pPr algn="just">
              <a:buFontTx/>
              <a:buChar char="-"/>
            </a:pPr>
            <a:endParaRPr dirty="0"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Election Tribunals</a:t>
            </a:r>
          </a:p>
        </p:txBody>
      </p:sp>
      <p:sp>
        <p:nvSpPr>
          <p:cNvPr id="10486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857" lnSpcReduction="20000"/>
          </a:bodyPr>
          <a:p>
            <a:pPr algn="just"/>
            <a:r>
              <a:rPr dirty="0" sz="3300" lang="en-GB"/>
              <a:t>Establishment :</a:t>
            </a:r>
          </a:p>
          <a:p>
            <a:pPr algn="just" indent="-609600" marL="609600">
              <a:buNone/>
            </a:pPr>
            <a:r>
              <a:rPr dirty="0" sz="3300" lang="en-GB"/>
              <a:t>1. National and State Houses of Assembly Election Tribunals for FCT, Abuja and each State -  </a:t>
            </a:r>
            <a:r>
              <a:rPr dirty="0" sz="3300" i="1" lang="en-GB"/>
              <a:t>S. 285 (1) </a:t>
            </a:r>
            <a:r>
              <a:rPr dirty="0" sz="3300" i="1" lang="en-GB" smtClean="0"/>
              <a:t>Const</a:t>
            </a:r>
            <a:endParaRPr altLang="en-US" lang="zh-CN"/>
          </a:p>
          <a:p>
            <a:pPr algn="just" indent="-609600" marL="609600">
              <a:buNone/>
            </a:pPr>
            <a:r>
              <a:rPr dirty="0" sz="3300" lang="en-GB"/>
              <a:t>2. Governorship Election Tribunal in each State - </a:t>
            </a:r>
            <a:r>
              <a:rPr dirty="0" sz="3300" i="1" lang="en-GB"/>
              <a:t>S. 285 (2) 1999 Const.</a:t>
            </a:r>
          </a:p>
          <a:p>
            <a:pPr algn="just" indent="-609600" marL="609600"/>
            <a:r>
              <a:rPr dirty="0" sz="3300" lang="en-GB"/>
              <a:t>General Composition - </a:t>
            </a:r>
            <a:r>
              <a:rPr dirty="0" sz="3300" i="1" lang="en-GB"/>
              <a:t>S.285(3) &amp;  6</a:t>
            </a:r>
            <a:r>
              <a:rPr baseline="30000" dirty="0" sz="3300" i="1" lang="en-GB"/>
              <a:t>th</a:t>
            </a:r>
            <a:r>
              <a:rPr dirty="0" sz="3300" i="1" lang="en-GB"/>
              <a:t> Schedule to 1999 Const.</a:t>
            </a:r>
          </a:p>
          <a:p>
            <a:pPr algn="just">
              <a:buFontTx/>
              <a:buChar char="-"/>
            </a:pPr>
            <a:r>
              <a:rPr dirty="0" sz="3300" lang="en-GB"/>
              <a:t>Quorum</a:t>
            </a:r>
            <a:r>
              <a:rPr dirty="0" sz="3300" lang="en-US"/>
              <a:t> </a:t>
            </a:r>
            <a:r>
              <a:rPr dirty="0" sz="3300" lang="en-US"/>
              <a:t>–</a:t>
            </a:r>
            <a:r>
              <a:rPr dirty="0" sz="3300" lang="en-US"/>
              <a:t> </a:t>
            </a:r>
            <a:r>
              <a:rPr dirty="0" sz="3300" i="1" lang="en-GB"/>
              <a:t>S. 285 (4) 1999 Const.</a:t>
            </a:r>
            <a:endParaRPr altLang="en-US" lang="zh-CN"/>
          </a:p>
          <a:p>
            <a:pPr algn="just"/>
            <a:r>
              <a:rPr dirty="0" sz="3300" lang="en-GB"/>
              <a:t>Appointment &amp; Qualification - </a:t>
            </a:r>
            <a:r>
              <a:rPr b="1" dirty="0" sz="3300" lang="en-GB"/>
              <a:t>S.1 (2) (3) &amp; S. 2 (2) (3) of 6</a:t>
            </a:r>
            <a:r>
              <a:rPr baseline="30000" b="1" dirty="0" sz="3300" lang="en-GB"/>
              <a:t>th</a:t>
            </a:r>
            <a:r>
              <a:rPr b="1" dirty="0" sz="3300" lang="en-GB"/>
              <a:t>  Schedule.</a:t>
            </a:r>
            <a:r>
              <a:rPr dirty="0" sz="3300" lang="en-GB"/>
              <a:t> </a:t>
            </a:r>
          </a:p>
          <a:p>
            <a:pPr algn="just"/>
            <a:endParaRPr dirty="0"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GB">
                <a:latin typeface="Californian FB" panose="0207040306080B030204" pitchFamily="18" charset="0"/>
              </a:rPr>
              <a:t>ECOWAS COURT.</a:t>
            </a:r>
          </a:p>
        </p:txBody>
      </p:sp>
      <p:sp>
        <p:nvSpPr>
          <p:cNvPr id="104864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en-GB"/>
              <a:t>Establishment – </a:t>
            </a:r>
            <a:r>
              <a:rPr b="1" dirty="0" lang="en-GB"/>
              <a:t>Articles 6 &amp; 15 of the Revised  ECOWAS Treaty  1993 </a:t>
            </a:r>
            <a:endParaRPr dirty="0" lang="en-GB"/>
          </a:p>
          <a:p>
            <a:pPr algn="just"/>
            <a:r>
              <a:rPr dirty="0" lang="en-GB"/>
              <a:t>Composition – </a:t>
            </a:r>
            <a:r>
              <a:rPr b="1" dirty="0" lang="en-GB"/>
              <a:t>Article 3 of Protocol</a:t>
            </a:r>
            <a:endParaRPr dirty="0" lang="en-GB"/>
          </a:p>
          <a:p>
            <a:pPr algn="just"/>
            <a:r>
              <a:rPr dirty="0" lang="en-GB"/>
              <a:t>Appointment &amp; Qualification – </a:t>
            </a:r>
            <a:r>
              <a:rPr b="1" dirty="0" lang="en-GB"/>
              <a:t>Article 3 (1) of Protocol</a:t>
            </a:r>
            <a:endParaRPr dirty="0" lang="en-GB"/>
          </a:p>
          <a:p>
            <a:pPr algn="just"/>
            <a:r>
              <a:rPr dirty="0" lang="en-GB"/>
              <a:t>Jurisdiction – </a:t>
            </a:r>
            <a:r>
              <a:rPr b="1" dirty="0" lang="en-GB"/>
              <a:t>Article 9 of Protocol; </a:t>
            </a:r>
            <a:endParaRPr dirty="0" lang="en-GB"/>
          </a:p>
          <a:p>
            <a:pPr algn="just"/>
            <a:endParaRPr dirty="0" lang="en-GB"/>
          </a:p>
          <a:p>
            <a:pPr algn="just" indent="0" marL="0">
              <a:buNone/>
            </a:pPr>
            <a:endParaRPr dirty="0"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706562"/>
          </a:xfrm>
        </p:spPr>
        <p:txBody>
          <a:bodyPr>
            <a:normAutofit/>
          </a:bodyPr>
          <a:p>
            <a:r>
              <a:rPr dirty="0" lang="en-GB"/>
              <a:t>Ethical Issues</a:t>
            </a:r>
          </a:p>
        </p:txBody>
      </p:sp>
      <p:sp>
        <p:nvSpPr>
          <p:cNvPr id="1048651" name="Content Placeholder 2"/>
          <p:cNvSpPr>
            <a:spLocks noGrp="1"/>
          </p:cNvSpPr>
          <p:nvPr>
            <p:ph idx="1"/>
          </p:nvPr>
        </p:nvSpPr>
        <p:spPr>
          <a:xfrm>
            <a:off x="2209800" y="2438401"/>
            <a:ext cx="8229600" cy="4038600"/>
          </a:xfrm>
        </p:spPr>
        <p:txBody>
          <a:bodyPr/>
          <a:p>
            <a:pPr algn="just"/>
            <a:r>
              <a:rPr dirty="0" lang="en-GB"/>
              <a:t>Arising from improper use of court rules</a:t>
            </a:r>
          </a:p>
          <a:p>
            <a:pPr algn="just"/>
            <a:r>
              <a:rPr dirty="0" lang="en-GB"/>
              <a:t>Instituting an action in the wrong court.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HP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CIVIL LITIGATION WEEK 3</dc:title>
  <dc:creator>COMMENT</dc:creator>
  <cp:lastModifiedBy>khalid</cp:lastModifiedBy>
  <dcterms:created xsi:type="dcterms:W3CDTF">2025-03-30T13:20:35Z</dcterms:created>
  <dcterms:modified xsi:type="dcterms:W3CDTF">2025-04-23T20:50:18Z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0b2fa7413b984d189c42dfdb389cfa8c</vt:lpwstr>
  </property>
</Properties>
</file>