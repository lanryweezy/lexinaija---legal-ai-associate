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309"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86" d="100"/>
          <a:sy n="86" d="100"/>
        </p:scale>
        <p:origin x="1494" y="66"/>
      </p:cViewPr>
      <p:guideLst>
        <p:guide orient="horz" pos="2160"/>
        <p:guide pos="288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87"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788"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5/7/2025</a:t>
            </a:fld>
            <a:endParaRPr lang="en-US"/>
          </a:p>
        </p:txBody>
      </p:sp>
      <p:sp>
        <p:nvSpPr>
          <p:cNvPr id="1048789"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790"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91"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792"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3063080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B2AA4F-B828-4D7C-AFD3-893933DAFCB4}" type="slidenum">
              <a:rPr lang="en-US" smtClean="0"/>
              <a:t>2</a:t>
            </a:fld>
            <a:endParaRPr lang="en-US"/>
          </a:p>
        </p:txBody>
      </p:sp>
    </p:spTree>
    <p:extLst>
      <p:ext uri="{BB962C8B-B14F-4D97-AF65-F5344CB8AC3E}">
        <p14:creationId xmlns:p14="http://schemas.microsoft.com/office/powerpoint/2010/main" val="1810086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idx="2"/>
          </p:nvPr>
        </p:nvSpPr>
        <p:spPr/>
      </p:sp>
      <p:sp>
        <p:nvSpPr>
          <p:cNvPr id="1048603"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2216673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Slide Image Placeholder 1"/>
          <p:cNvSpPr>
            <a:spLocks noGrp="1" noRot="1" noChangeAspect="1"/>
          </p:cNvSpPr>
          <p:nvPr>
            <p:ph type="sldImg" idx="2"/>
          </p:nvPr>
        </p:nvSpPr>
        <p:spPr/>
      </p:sp>
      <p:sp>
        <p:nvSpPr>
          <p:cNvPr id="1048606"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2944170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Slide Image Placeholder 1"/>
          <p:cNvSpPr>
            <a:spLocks noGrp="1" noRot="1" noChangeAspect="1"/>
          </p:cNvSpPr>
          <p:nvPr>
            <p:ph type="sldImg" idx="2"/>
          </p:nvPr>
        </p:nvSpPr>
        <p:spPr/>
      </p:sp>
      <p:sp>
        <p:nvSpPr>
          <p:cNvPr id="1048610"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125915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Slide Image Placeholder 1"/>
          <p:cNvSpPr>
            <a:spLocks noGrp="1" noRot="1" noChangeAspect="1"/>
          </p:cNvSpPr>
          <p:nvPr>
            <p:ph type="sldImg" idx="2"/>
          </p:nvPr>
        </p:nvSpPr>
        <p:spPr/>
      </p:sp>
      <p:sp>
        <p:nvSpPr>
          <p:cNvPr id="1048613"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4163383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Slide Image Placeholder 1"/>
          <p:cNvSpPr>
            <a:spLocks noGrp="1" noRot="1" noChangeAspect="1"/>
          </p:cNvSpPr>
          <p:nvPr>
            <p:ph type="sldImg" idx="2"/>
          </p:nvPr>
        </p:nvSpPr>
        <p:spPr/>
      </p:sp>
      <p:sp>
        <p:nvSpPr>
          <p:cNvPr id="1048617"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3851152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Slide Image Placeholder 1"/>
          <p:cNvSpPr>
            <a:spLocks noGrp="1" noRot="1" noChangeAspect="1"/>
          </p:cNvSpPr>
          <p:nvPr>
            <p:ph type="sldImg" idx="2"/>
          </p:nvPr>
        </p:nvSpPr>
        <p:spPr/>
      </p:sp>
      <p:sp>
        <p:nvSpPr>
          <p:cNvPr id="1048621"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1859349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Slide Image Placeholder 1"/>
          <p:cNvSpPr>
            <a:spLocks noGrp="1" noRot="1" noChangeAspect="1"/>
          </p:cNvSpPr>
          <p:nvPr>
            <p:ph type="sldImg" idx="2"/>
          </p:nvPr>
        </p:nvSpPr>
        <p:spPr/>
      </p:sp>
      <p:sp>
        <p:nvSpPr>
          <p:cNvPr id="1048625"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3582974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Slide Image Placeholder 1"/>
          <p:cNvSpPr>
            <a:spLocks noGrp="1" noRot="1" noChangeAspect="1"/>
          </p:cNvSpPr>
          <p:nvPr>
            <p:ph type="sldImg" idx="2"/>
          </p:nvPr>
        </p:nvSpPr>
        <p:spPr/>
      </p:sp>
      <p:sp>
        <p:nvSpPr>
          <p:cNvPr id="1048629" name="Text Placeholder 2"/>
          <p:cNvSpPr>
            <a:spLocks noGrp="1"/>
          </p:cNvSpPr>
          <p:nvPr>
            <p:ph type="body" idx="3"/>
          </p:nvPr>
        </p:nvSpPr>
        <p:spPr/>
        <p:txBody>
          <a:bodyPr/>
          <a:lstStyle/>
          <a:p>
            <a:endParaRPr lang="en-US" dirty="0"/>
          </a:p>
        </p:txBody>
      </p:sp>
    </p:spTree>
    <p:extLst>
      <p:ext uri="{BB962C8B-B14F-4D97-AF65-F5344CB8AC3E}">
        <p14:creationId xmlns:p14="http://schemas.microsoft.com/office/powerpoint/2010/main" val="2497363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Slide Image Placeholder 1"/>
          <p:cNvSpPr>
            <a:spLocks noGrp="1" noRot="1" noChangeAspect="1"/>
          </p:cNvSpPr>
          <p:nvPr>
            <p:ph type="sldImg" idx="2"/>
          </p:nvPr>
        </p:nvSpPr>
        <p:spPr/>
      </p:sp>
      <p:sp>
        <p:nvSpPr>
          <p:cNvPr id="1048633"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1588108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Slide Image Placeholder 1"/>
          <p:cNvSpPr>
            <a:spLocks noGrp="1" noRot="1" noChangeAspect="1"/>
          </p:cNvSpPr>
          <p:nvPr>
            <p:ph type="sldImg" idx="2"/>
          </p:nvPr>
        </p:nvSpPr>
        <p:spPr/>
      </p:sp>
      <p:sp>
        <p:nvSpPr>
          <p:cNvPr id="1048637"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673458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Slide Image Placeholder 1"/>
          <p:cNvSpPr>
            <a:spLocks noGrp="1" noRot="1" noChangeAspect="1"/>
          </p:cNvSpPr>
          <p:nvPr>
            <p:ph type="sldImg" idx="2"/>
          </p:nvPr>
        </p:nvSpPr>
        <p:spPr/>
      </p:sp>
      <p:sp>
        <p:nvSpPr>
          <p:cNvPr id="1048641"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34525974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idx="2"/>
          </p:nvPr>
        </p:nvSpPr>
        <p:spPr/>
      </p:sp>
      <p:sp>
        <p:nvSpPr>
          <p:cNvPr id="1048645"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647438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Slide Image Placeholder 1"/>
          <p:cNvSpPr>
            <a:spLocks noGrp="1" noRot="1" noChangeAspect="1"/>
          </p:cNvSpPr>
          <p:nvPr>
            <p:ph type="sldImg" idx="2"/>
          </p:nvPr>
        </p:nvSpPr>
        <p:spPr/>
      </p:sp>
      <p:sp>
        <p:nvSpPr>
          <p:cNvPr id="1048649"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3767353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B2AA4F-B828-4D7C-AFD3-893933DAFCB4}" type="slidenum">
              <a:rPr lang="en-US" smtClean="0"/>
              <a:t>20</a:t>
            </a:fld>
            <a:endParaRPr lang="en-US"/>
          </a:p>
        </p:txBody>
      </p:sp>
    </p:spTree>
    <p:extLst>
      <p:ext uri="{BB962C8B-B14F-4D97-AF65-F5344CB8AC3E}">
        <p14:creationId xmlns:p14="http://schemas.microsoft.com/office/powerpoint/2010/main" val="9702938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Slide Image Placeholder 1"/>
          <p:cNvSpPr>
            <a:spLocks noGrp="1" noRot="1" noChangeAspect="1"/>
          </p:cNvSpPr>
          <p:nvPr>
            <p:ph type="sldImg" idx="2"/>
          </p:nvPr>
        </p:nvSpPr>
        <p:spPr/>
      </p:sp>
      <p:sp>
        <p:nvSpPr>
          <p:cNvPr id="1048654"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37457175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7" name="Slide Image Placeholder 1"/>
          <p:cNvSpPr>
            <a:spLocks noGrp="1" noRot="1" noChangeAspect="1"/>
          </p:cNvSpPr>
          <p:nvPr>
            <p:ph type="sldImg" idx="2"/>
          </p:nvPr>
        </p:nvSpPr>
        <p:spPr/>
      </p:sp>
      <p:sp>
        <p:nvSpPr>
          <p:cNvPr id="1048658"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37059994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Slide Image Placeholder 1"/>
          <p:cNvSpPr>
            <a:spLocks noGrp="1" noRot="1" noChangeAspect="1"/>
          </p:cNvSpPr>
          <p:nvPr>
            <p:ph type="sldImg" idx="2"/>
          </p:nvPr>
        </p:nvSpPr>
        <p:spPr/>
      </p:sp>
      <p:sp>
        <p:nvSpPr>
          <p:cNvPr id="1048675"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17564872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Slide Image Placeholder 1"/>
          <p:cNvSpPr>
            <a:spLocks noGrp="1" noRot="1" noChangeAspect="1"/>
          </p:cNvSpPr>
          <p:nvPr>
            <p:ph type="sldImg" idx="2"/>
          </p:nvPr>
        </p:nvSpPr>
        <p:spPr/>
      </p:sp>
      <p:sp>
        <p:nvSpPr>
          <p:cNvPr id="1048679"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29413233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6" name="Slide Image Placeholder 1"/>
          <p:cNvSpPr>
            <a:spLocks noGrp="1" noRot="1" noChangeAspect="1"/>
          </p:cNvSpPr>
          <p:nvPr>
            <p:ph type="sldImg" idx="2"/>
          </p:nvPr>
        </p:nvSpPr>
        <p:spPr/>
      </p:sp>
      <p:sp>
        <p:nvSpPr>
          <p:cNvPr id="1048687" name="Text Placeholder 2"/>
          <p:cNvSpPr>
            <a:spLocks noGrp="1"/>
          </p:cNvSpPr>
          <p:nvPr>
            <p:ph type="body" idx="3"/>
          </p:nvPr>
        </p:nvSpPr>
        <p:spPr/>
        <p:txBody>
          <a:bodyPr/>
          <a:lstStyle/>
          <a:p>
            <a:endParaRPr lang="en-US" dirty="0"/>
          </a:p>
        </p:txBody>
      </p:sp>
    </p:spTree>
    <p:extLst>
      <p:ext uri="{BB962C8B-B14F-4D97-AF65-F5344CB8AC3E}">
        <p14:creationId xmlns:p14="http://schemas.microsoft.com/office/powerpoint/2010/main" val="28840868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0" name="Slide Image Placeholder 1"/>
          <p:cNvSpPr>
            <a:spLocks noGrp="1" noRot="1" noChangeAspect="1"/>
          </p:cNvSpPr>
          <p:nvPr>
            <p:ph type="sldImg" idx="2"/>
          </p:nvPr>
        </p:nvSpPr>
        <p:spPr/>
      </p:sp>
      <p:sp>
        <p:nvSpPr>
          <p:cNvPr id="1048691" name="Text Placeholder 2"/>
          <p:cNvSpPr>
            <a:spLocks noGrp="1"/>
          </p:cNvSpPr>
          <p:nvPr>
            <p:ph type="body" idx="3"/>
          </p:nvPr>
        </p:nvSpPr>
        <p:spPr/>
        <p:txBody>
          <a:bodyPr/>
          <a:lstStyle/>
          <a:p>
            <a:endParaRPr lang="en-US" dirty="0"/>
          </a:p>
        </p:txBody>
      </p:sp>
    </p:spTree>
    <p:extLst>
      <p:ext uri="{BB962C8B-B14F-4D97-AF65-F5344CB8AC3E}">
        <p14:creationId xmlns:p14="http://schemas.microsoft.com/office/powerpoint/2010/main" val="4184284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8" name="Slide Image Placeholder 1"/>
          <p:cNvSpPr>
            <a:spLocks noGrp="1" noRot="1" noChangeAspect="1"/>
          </p:cNvSpPr>
          <p:nvPr>
            <p:ph type="sldImg" idx="2"/>
          </p:nvPr>
        </p:nvSpPr>
        <p:spPr/>
      </p:sp>
      <p:sp>
        <p:nvSpPr>
          <p:cNvPr id="1048699"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2203231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2" name="Slide Image Placeholder 1"/>
          <p:cNvSpPr>
            <a:spLocks noGrp="1" noRot="1" noChangeAspect="1"/>
          </p:cNvSpPr>
          <p:nvPr>
            <p:ph type="sldImg" idx="2"/>
          </p:nvPr>
        </p:nvSpPr>
        <p:spPr/>
      </p:sp>
      <p:sp>
        <p:nvSpPr>
          <p:cNvPr id="1048703" name="Text Placeholder 2"/>
          <p:cNvSpPr>
            <a:spLocks noGrp="1"/>
          </p:cNvSpPr>
          <p:nvPr>
            <p:ph type="body" idx="3"/>
          </p:nvPr>
        </p:nvSpPr>
        <p:spPr/>
        <p:txBody>
          <a:bodyPr/>
          <a:lstStyle/>
          <a:p>
            <a:endParaRPr lang="en-US" dirty="0"/>
          </a:p>
        </p:txBody>
      </p:sp>
    </p:spTree>
    <p:extLst>
      <p:ext uri="{BB962C8B-B14F-4D97-AF65-F5344CB8AC3E}">
        <p14:creationId xmlns:p14="http://schemas.microsoft.com/office/powerpoint/2010/main" val="36845433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6" name="Slide Image Placeholder 1"/>
          <p:cNvSpPr>
            <a:spLocks noGrp="1" noRot="1" noChangeAspect="1"/>
          </p:cNvSpPr>
          <p:nvPr>
            <p:ph type="sldImg" idx="2"/>
          </p:nvPr>
        </p:nvSpPr>
        <p:spPr/>
      </p:sp>
      <p:sp>
        <p:nvSpPr>
          <p:cNvPr id="1048707"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26604684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0" name="Slide Image Placeholder 1"/>
          <p:cNvSpPr>
            <a:spLocks noGrp="1" noRot="1" noChangeAspect="1"/>
          </p:cNvSpPr>
          <p:nvPr>
            <p:ph type="sldImg" idx="2"/>
          </p:nvPr>
        </p:nvSpPr>
        <p:spPr/>
      </p:sp>
      <p:sp>
        <p:nvSpPr>
          <p:cNvPr id="1048711"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31653403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4" name="Slide Image Placeholder 1"/>
          <p:cNvSpPr>
            <a:spLocks noGrp="1" noRot="1" noChangeAspect="1"/>
          </p:cNvSpPr>
          <p:nvPr>
            <p:ph type="sldImg" idx="2"/>
          </p:nvPr>
        </p:nvSpPr>
        <p:spPr/>
      </p:sp>
      <p:sp>
        <p:nvSpPr>
          <p:cNvPr id="1048715"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23450448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8" name="Slide Image Placeholder 1"/>
          <p:cNvSpPr>
            <a:spLocks noGrp="1" noRot="1" noChangeAspect="1"/>
          </p:cNvSpPr>
          <p:nvPr>
            <p:ph type="sldImg" idx="2"/>
          </p:nvPr>
        </p:nvSpPr>
        <p:spPr/>
      </p:sp>
      <p:sp>
        <p:nvSpPr>
          <p:cNvPr id="1048719"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31411326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5" name="Slide Image Placeholder 1"/>
          <p:cNvSpPr>
            <a:spLocks noGrp="1" noRot="1" noChangeAspect="1"/>
          </p:cNvSpPr>
          <p:nvPr>
            <p:ph type="sldImg" idx="2"/>
          </p:nvPr>
        </p:nvSpPr>
        <p:spPr/>
      </p:sp>
      <p:sp>
        <p:nvSpPr>
          <p:cNvPr id="1048726" name="Text Placeholder 2"/>
          <p:cNvSpPr>
            <a:spLocks noGrp="1"/>
          </p:cNvSpPr>
          <p:nvPr>
            <p:ph type="body" idx="3"/>
          </p:nvPr>
        </p:nvSpPr>
        <p:spPr/>
        <p:txBody>
          <a:bodyPr/>
          <a:lstStyle/>
          <a:p>
            <a:endParaRPr lang="en-US" altLang="en-US"/>
          </a:p>
        </p:txBody>
      </p:sp>
    </p:spTree>
    <p:extLst>
      <p:ext uri="{BB962C8B-B14F-4D97-AF65-F5344CB8AC3E}">
        <p14:creationId xmlns:p14="http://schemas.microsoft.com/office/powerpoint/2010/main" val="18326073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1" name="Slide Image Placeholder 1"/>
          <p:cNvSpPr>
            <a:spLocks noGrp="1" noRot="1" noChangeAspect="1"/>
          </p:cNvSpPr>
          <p:nvPr>
            <p:ph type="sldImg" idx="2"/>
          </p:nvPr>
        </p:nvSpPr>
        <p:spPr/>
      </p:sp>
      <p:sp>
        <p:nvSpPr>
          <p:cNvPr id="1048732" name="Text Placeholder 2"/>
          <p:cNvSpPr>
            <a:spLocks noGrp="1"/>
          </p:cNvSpPr>
          <p:nvPr>
            <p:ph type="body" idx="3"/>
          </p:nvPr>
        </p:nvSpPr>
        <p:spPr/>
        <p:txBody>
          <a:bodyPr/>
          <a:lstStyle/>
          <a:p>
            <a:endParaRPr lang="en-US" altLang="en-US" dirty="0"/>
          </a:p>
        </p:txBody>
      </p:sp>
    </p:spTree>
    <p:extLst>
      <p:ext uri="{BB962C8B-B14F-4D97-AF65-F5344CB8AC3E}">
        <p14:creationId xmlns:p14="http://schemas.microsoft.com/office/powerpoint/2010/main" val="1035040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1048582"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1048583" name="Date Placeholder 3"/>
          <p:cNvSpPr>
            <a:spLocks noGrp="1"/>
          </p:cNvSpPr>
          <p:nvPr>
            <p:ph type="dt" sz="half" idx="10"/>
          </p:nvPr>
        </p:nvSpPr>
        <p:spPr/>
        <p:txBody>
          <a:bodyPr/>
          <a:lstStyle/>
          <a:p>
            <a:fld id="{5BCAD085-E8A6-8845-BD4E-CB4CCA059FC4}" type="datetimeFigureOut">
              <a:rPr lang="en-US" smtClean="0"/>
              <a:t>5/7/2025</a:t>
            </a:fld>
            <a:endParaRPr lang="en-US"/>
          </a:p>
        </p:txBody>
      </p:sp>
      <p:sp>
        <p:nvSpPr>
          <p:cNvPr id="1048584" name="Footer Placeholder 4"/>
          <p:cNvSpPr>
            <a:spLocks noGrp="1"/>
          </p:cNvSpPr>
          <p:nvPr>
            <p:ph type="ftr" sz="quarter" idx="11"/>
          </p:nvPr>
        </p:nvSpPr>
        <p:spPr/>
        <p:txBody>
          <a:bodyPr/>
          <a:lstStyle/>
          <a:p>
            <a:endParaRPr lang="en-US"/>
          </a:p>
        </p:txBody>
      </p:sp>
      <p:sp>
        <p:nvSpPr>
          <p:cNvPr id="1048585"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7" name="Title 1"/>
          <p:cNvSpPr>
            <a:spLocks noGrp="1"/>
          </p:cNvSpPr>
          <p:nvPr>
            <p:ph type="title"/>
          </p:nvPr>
        </p:nvSpPr>
        <p:spPr/>
        <p:txBody>
          <a:bodyPr/>
          <a:lstStyle/>
          <a:p>
            <a:r>
              <a:rPr lang="en-US" smtClean="0"/>
              <a:t>Click to edit Master title style</a:t>
            </a:r>
            <a:endParaRPr lang="en-US"/>
          </a:p>
        </p:txBody>
      </p:sp>
      <p:sp>
        <p:nvSpPr>
          <p:cNvPr id="1048588"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89" name="Date Placeholder 3"/>
          <p:cNvSpPr>
            <a:spLocks noGrp="1"/>
          </p:cNvSpPr>
          <p:nvPr>
            <p:ph type="dt" sz="half" idx="10"/>
          </p:nvPr>
        </p:nvSpPr>
        <p:spPr/>
        <p:txBody>
          <a:bodyPr/>
          <a:lstStyle/>
          <a:p>
            <a:fld id="{5BCAD085-E8A6-8845-BD4E-CB4CCA059FC4}" type="datetimeFigureOut">
              <a:rPr lang="en-US" smtClean="0"/>
              <a:t>5/7/2025</a:t>
            </a:fld>
            <a:endParaRPr lang="en-US"/>
          </a:p>
        </p:txBody>
      </p:sp>
      <p:sp>
        <p:nvSpPr>
          <p:cNvPr id="1048590" name="Footer Placeholder 4"/>
          <p:cNvSpPr>
            <a:spLocks noGrp="1"/>
          </p:cNvSpPr>
          <p:nvPr>
            <p:ph type="ftr" sz="quarter" idx="11"/>
          </p:nvPr>
        </p:nvSpPr>
        <p:spPr/>
        <p:txBody>
          <a:bodyPr/>
          <a:lstStyle/>
          <a:p>
            <a:endParaRPr lang="en-US"/>
          </a:p>
        </p:txBody>
      </p:sp>
      <p:sp>
        <p:nvSpPr>
          <p:cNvPr id="1048591"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59"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1048760"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48761" name="Date Placeholder 3"/>
          <p:cNvSpPr>
            <a:spLocks noGrp="1"/>
          </p:cNvSpPr>
          <p:nvPr>
            <p:ph type="dt" sz="half" idx="10"/>
          </p:nvPr>
        </p:nvSpPr>
        <p:spPr/>
        <p:txBody>
          <a:bodyPr/>
          <a:lstStyle/>
          <a:p>
            <a:fld id="{5BCAD085-E8A6-8845-BD4E-CB4CCA059FC4}" type="datetimeFigureOut">
              <a:rPr lang="en-US" smtClean="0"/>
              <a:t>5/7/2025</a:t>
            </a:fld>
            <a:endParaRPr lang="en-US"/>
          </a:p>
        </p:txBody>
      </p:sp>
      <p:sp>
        <p:nvSpPr>
          <p:cNvPr id="1048762" name="Footer Placeholder 4"/>
          <p:cNvSpPr>
            <a:spLocks noGrp="1"/>
          </p:cNvSpPr>
          <p:nvPr>
            <p:ph type="ftr" sz="quarter" idx="11"/>
          </p:nvPr>
        </p:nvSpPr>
        <p:spPr/>
        <p:txBody>
          <a:bodyPr/>
          <a:lstStyle/>
          <a:p>
            <a:endParaRPr lang="en-US"/>
          </a:p>
        </p:txBody>
      </p:sp>
      <p:sp>
        <p:nvSpPr>
          <p:cNvPr id="1048763"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64" name="Title 1"/>
          <p:cNvSpPr>
            <a:spLocks noGrp="1"/>
          </p:cNvSpPr>
          <p:nvPr>
            <p:ph type="title"/>
          </p:nvPr>
        </p:nvSpPr>
        <p:spPr/>
        <p:txBody>
          <a:bodyPr/>
          <a:lstStyle/>
          <a:p>
            <a:r>
              <a:rPr lang="en-US" smtClean="0"/>
              <a:t>Click to edit Master title style</a:t>
            </a:r>
            <a:endParaRPr lang="en-US"/>
          </a:p>
        </p:txBody>
      </p:sp>
      <p:sp>
        <p:nvSpPr>
          <p:cNvPr id="1048765"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6"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7" name="Date Placeholder 4"/>
          <p:cNvSpPr>
            <a:spLocks noGrp="1"/>
          </p:cNvSpPr>
          <p:nvPr>
            <p:ph type="dt" sz="half" idx="10"/>
          </p:nvPr>
        </p:nvSpPr>
        <p:spPr/>
        <p:txBody>
          <a:bodyPr/>
          <a:lstStyle/>
          <a:p>
            <a:fld id="{5BCAD085-E8A6-8845-BD4E-CB4CCA059FC4}" type="datetimeFigureOut">
              <a:rPr lang="en-US" smtClean="0"/>
              <a:t>5/7/2025</a:t>
            </a:fld>
            <a:endParaRPr lang="en-US"/>
          </a:p>
        </p:txBody>
      </p:sp>
      <p:sp>
        <p:nvSpPr>
          <p:cNvPr id="1048768" name="Footer Placeholder 5"/>
          <p:cNvSpPr>
            <a:spLocks noGrp="1"/>
          </p:cNvSpPr>
          <p:nvPr>
            <p:ph type="ftr" sz="quarter" idx="11"/>
          </p:nvPr>
        </p:nvSpPr>
        <p:spPr/>
        <p:txBody>
          <a:bodyPr/>
          <a:lstStyle/>
          <a:p>
            <a:endParaRPr lang="en-US"/>
          </a:p>
        </p:txBody>
      </p:sp>
      <p:sp>
        <p:nvSpPr>
          <p:cNvPr id="1048769"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70" name="Title 1"/>
          <p:cNvSpPr>
            <a:spLocks noGrp="1"/>
          </p:cNvSpPr>
          <p:nvPr>
            <p:ph type="title"/>
          </p:nvPr>
        </p:nvSpPr>
        <p:spPr/>
        <p:txBody>
          <a:bodyPr/>
          <a:lstStyle/>
          <a:p>
            <a:r>
              <a:rPr lang="en-US" smtClean="0"/>
              <a:t>Click to edit Master title style</a:t>
            </a:r>
            <a:endParaRPr lang="en-US"/>
          </a:p>
        </p:txBody>
      </p:sp>
      <p:sp>
        <p:nvSpPr>
          <p:cNvPr id="1048771"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48772"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73"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48774"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75" name="Date Placeholder 6"/>
          <p:cNvSpPr>
            <a:spLocks noGrp="1"/>
          </p:cNvSpPr>
          <p:nvPr>
            <p:ph type="dt" sz="half" idx="10"/>
          </p:nvPr>
        </p:nvSpPr>
        <p:spPr/>
        <p:txBody>
          <a:bodyPr/>
          <a:lstStyle/>
          <a:p>
            <a:fld id="{5BCAD085-E8A6-8845-BD4E-CB4CCA059FC4}" type="datetimeFigureOut">
              <a:rPr lang="en-US" smtClean="0"/>
              <a:t>5/7/2025</a:t>
            </a:fld>
            <a:endParaRPr lang="en-US"/>
          </a:p>
        </p:txBody>
      </p:sp>
      <p:sp>
        <p:nvSpPr>
          <p:cNvPr id="1048776" name="Footer Placeholder 7"/>
          <p:cNvSpPr>
            <a:spLocks noGrp="1"/>
          </p:cNvSpPr>
          <p:nvPr>
            <p:ph type="ftr" sz="quarter" idx="11"/>
          </p:nvPr>
        </p:nvSpPr>
        <p:spPr/>
        <p:txBody>
          <a:bodyPr/>
          <a:lstStyle/>
          <a:p>
            <a:endParaRPr lang="en-US"/>
          </a:p>
        </p:txBody>
      </p:sp>
      <p:sp>
        <p:nvSpPr>
          <p:cNvPr id="1048777"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39" name="Title 1"/>
          <p:cNvSpPr>
            <a:spLocks noGrp="1"/>
          </p:cNvSpPr>
          <p:nvPr>
            <p:ph type="title"/>
          </p:nvPr>
        </p:nvSpPr>
        <p:spPr/>
        <p:txBody>
          <a:bodyPr/>
          <a:lstStyle/>
          <a:p>
            <a:r>
              <a:rPr lang="en-US" smtClean="0"/>
              <a:t>Click to edit Master title style</a:t>
            </a:r>
            <a:endParaRPr lang="en-US"/>
          </a:p>
        </p:txBody>
      </p:sp>
      <p:sp>
        <p:nvSpPr>
          <p:cNvPr id="1048740" name="Date Placeholder 2"/>
          <p:cNvSpPr>
            <a:spLocks noGrp="1"/>
          </p:cNvSpPr>
          <p:nvPr>
            <p:ph type="dt" sz="half" idx="10"/>
          </p:nvPr>
        </p:nvSpPr>
        <p:spPr/>
        <p:txBody>
          <a:bodyPr/>
          <a:lstStyle/>
          <a:p>
            <a:fld id="{5BCAD085-E8A6-8845-BD4E-CB4CCA059FC4}" type="datetimeFigureOut">
              <a:rPr lang="en-US" smtClean="0"/>
              <a:t>5/7/2025</a:t>
            </a:fld>
            <a:endParaRPr lang="en-US"/>
          </a:p>
        </p:txBody>
      </p:sp>
      <p:sp>
        <p:nvSpPr>
          <p:cNvPr id="1048741" name="Footer Placeholder 3"/>
          <p:cNvSpPr>
            <a:spLocks noGrp="1"/>
          </p:cNvSpPr>
          <p:nvPr>
            <p:ph type="ftr" sz="quarter" idx="11"/>
          </p:nvPr>
        </p:nvSpPr>
        <p:spPr/>
        <p:txBody>
          <a:bodyPr/>
          <a:lstStyle/>
          <a:p>
            <a:endParaRPr lang="en-US"/>
          </a:p>
        </p:txBody>
      </p:sp>
      <p:sp>
        <p:nvSpPr>
          <p:cNvPr id="1048742"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78" name="Date Placeholder 1"/>
          <p:cNvSpPr>
            <a:spLocks noGrp="1"/>
          </p:cNvSpPr>
          <p:nvPr>
            <p:ph type="dt" sz="half" idx="10"/>
          </p:nvPr>
        </p:nvSpPr>
        <p:spPr/>
        <p:txBody>
          <a:bodyPr/>
          <a:lstStyle/>
          <a:p>
            <a:fld id="{5BCAD085-E8A6-8845-BD4E-CB4CCA059FC4}" type="datetimeFigureOut">
              <a:rPr lang="en-US" smtClean="0"/>
              <a:t>5/7/2025</a:t>
            </a:fld>
            <a:endParaRPr lang="en-US"/>
          </a:p>
        </p:txBody>
      </p:sp>
      <p:sp>
        <p:nvSpPr>
          <p:cNvPr id="1048779" name="Footer Placeholder 2"/>
          <p:cNvSpPr>
            <a:spLocks noGrp="1"/>
          </p:cNvSpPr>
          <p:nvPr>
            <p:ph type="ftr" sz="quarter" idx="11"/>
          </p:nvPr>
        </p:nvSpPr>
        <p:spPr/>
        <p:txBody>
          <a:bodyPr/>
          <a:lstStyle/>
          <a:p>
            <a:endParaRPr lang="en-US"/>
          </a:p>
        </p:txBody>
      </p:sp>
      <p:sp>
        <p:nvSpPr>
          <p:cNvPr id="1048780"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81"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1048782"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83"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48784" name="Date Placeholder 4"/>
          <p:cNvSpPr>
            <a:spLocks noGrp="1"/>
          </p:cNvSpPr>
          <p:nvPr>
            <p:ph type="dt" sz="half" idx="10"/>
          </p:nvPr>
        </p:nvSpPr>
        <p:spPr/>
        <p:txBody>
          <a:bodyPr/>
          <a:lstStyle/>
          <a:p>
            <a:fld id="{5BCAD085-E8A6-8845-BD4E-CB4CCA059FC4}" type="datetimeFigureOut">
              <a:rPr lang="en-US" smtClean="0"/>
              <a:t>5/7/2025</a:t>
            </a:fld>
            <a:endParaRPr lang="en-US"/>
          </a:p>
        </p:txBody>
      </p:sp>
      <p:sp>
        <p:nvSpPr>
          <p:cNvPr id="1048785" name="Footer Placeholder 5"/>
          <p:cNvSpPr>
            <a:spLocks noGrp="1"/>
          </p:cNvSpPr>
          <p:nvPr>
            <p:ph type="ftr" sz="quarter" idx="11"/>
          </p:nvPr>
        </p:nvSpPr>
        <p:spPr/>
        <p:txBody>
          <a:bodyPr/>
          <a:lstStyle/>
          <a:p>
            <a:endParaRPr lang="en-US"/>
          </a:p>
        </p:txBody>
      </p:sp>
      <p:sp>
        <p:nvSpPr>
          <p:cNvPr id="104878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8"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104874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5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48751" name="Date Placeholder 4"/>
          <p:cNvSpPr>
            <a:spLocks noGrp="1"/>
          </p:cNvSpPr>
          <p:nvPr>
            <p:ph type="dt" sz="half" idx="10"/>
          </p:nvPr>
        </p:nvSpPr>
        <p:spPr/>
        <p:txBody>
          <a:bodyPr/>
          <a:lstStyle/>
          <a:p>
            <a:fld id="{5BCAD085-E8A6-8845-BD4E-CB4CCA059FC4}" type="datetimeFigureOut">
              <a:rPr lang="en-US" smtClean="0"/>
              <a:t>5/7/2025</a:t>
            </a:fld>
            <a:endParaRPr lang="en-US"/>
          </a:p>
        </p:txBody>
      </p:sp>
      <p:sp>
        <p:nvSpPr>
          <p:cNvPr id="1048752" name="Footer Placeholder 5"/>
          <p:cNvSpPr>
            <a:spLocks noGrp="1"/>
          </p:cNvSpPr>
          <p:nvPr>
            <p:ph type="ftr" sz="quarter" idx="11"/>
          </p:nvPr>
        </p:nvSpPr>
        <p:spPr/>
        <p:txBody>
          <a:bodyPr/>
          <a:lstStyle/>
          <a:p>
            <a:endParaRPr lang="en-US"/>
          </a:p>
        </p:txBody>
      </p:sp>
      <p:sp>
        <p:nvSpPr>
          <p:cNvPr id="1048753"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4" name="Title 1"/>
          <p:cNvSpPr>
            <a:spLocks noGrp="1"/>
          </p:cNvSpPr>
          <p:nvPr>
            <p:ph type="title"/>
          </p:nvPr>
        </p:nvSpPr>
        <p:spPr/>
        <p:txBody>
          <a:bodyPr/>
          <a:lstStyle/>
          <a:p>
            <a:r>
              <a:rPr lang="en-US" smtClean="0"/>
              <a:t>Click to edit Master title style</a:t>
            </a:r>
            <a:endParaRPr lang="en-US"/>
          </a:p>
        </p:txBody>
      </p:sp>
      <p:sp>
        <p:nvSpPr>
          <p:cNvPr id="1048755"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56" name="Date Placeholder 3"/>
          <p:cNvSpPr>
            <a:spLocks noGrp="1"/>
          </p:cNvSpPr>
          <p:nvPr>
            <p:ph type="dt" sz="half" idx="10"/>
          </p:nvPr>
        </p:nvSpPr>
        <p:spPr/>
        <p:txBody>
          <a:bodyPr/>
          <a:lstStyle/>
          <a:p>
            <a:fld id="{5BCAD085-E8A6-8845-BD4E-CB4CCA059FC4}" type="datetimeFigureOut">
              <a:rPr lang="en-US" smtClean="0"/>
              <a:t>5/7/2025</a:t>
            </a:fld>
            <a:endParaRPr lang="en-US"/>
          </a:p>
        </p:txBody>
      </p:sp>
      <p:sp>
        <p:nvSpPr>
          <p:cNvPr id="1048757" name="Footer Placeholder 4"/>
          <p:cNvSpPr>
            <a:spLocks noGrp="1"/>
          </p:cNvSpPr>
          <p:nvPr>
            <p:ph type="ftr" sz="quarter" idx="11"/>
          </p:nvPr>
        </p:nvSpPr>
        <p:spPr/>
        <p:txBody>
          <a:bodyPr/>
          <a:lstStyle/>
          <a:p>
            <a:endParaRPr lang="en-US"/>
          </a:p>
        </p:txBody>
      </p:sp>
      <p:sp>
        <p:nvSpPr>
          <p:cNvPr id="1048758"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43"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1048744"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45" name="Date Placeholder 3"/>
          <p:cNvSpPr>
            <a:spLocks noGrp="1"/>
          </p:cNvSpPr>
          <p:nvPr>
            <p:ph type="dt" sz="half" idx="10"/>
          </p:nvPr>
        </p:nvSpPr>
        <p:spPr/>
        <p:txBody>
          <a:bodyPr/>
          <a:lstStyle/>
          <a:p>
            <a:fld id="{5BCAD085-E8A6-8845-BD4E-CB4CCA059FC4}" type="datetimeFigureOut">
              <a:rPr lang="en-US" smtClean="0"/>
              <a:t>5/7/2025</a:t>
            </a:fld>
            <a:endParaRPr lang="en-US"/>
          </a:p>
        </p:txBody>
      </p:sp>
      <p:sp>
        <p:nvSpPr>
          <p:cNvPr id="1048746" name="Footer Placeholder 4"/>
          <p:cNvSpPr>
            <a:spLocks noGrp="1"/>
          </p:cNvSpPr>
          <p:nvPr>
            <p:ph type="ftr" sz="quarter" idx="11"/>
          </p:nvPr>
        </p:nvSpPr>
        <p:spPr/>
        <p:txBody>
          <a:bodyPr/>
          <a:lstStyle/>
          <a:p>
            <a:endParaRPr lang="en-US"/>
          </a:p>
        </p:txBody>
      </p:sp>
      <p:sp>
        <p:nvSpPr>
          <p:cNvPr id="1048747"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5/7/2025</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227330" y="469265"/>
            <a:ext cx="8230870" cy="5814060"/>
          </a:xfrm>
        </p:spPr>
        <p:txBody>
          <a:bodyPr>
            <a:normAutofit/>
          </a:bodyPr>
          <a:lstStyle/>
          <a:p>
            <a:r>
              <a:rPr lang="en-US" b="1"/>
              <a:t>NIGERIAN LAW SCHOOL</a:t>
            </a:r>
            <a:br>
              <a:rPr lang="en-US" b="1"/>
            </a:br>
            <a:r>
              <a:rPr lang="en-US" b="1"/>
              <a:t>YENAGOA CAMPUS</a:t>
            </a:r>
            <a:br>
              <a:rPr lang="en-US" b="1"/>
            </a:br>
            <a:r>
              <a:rPr lang="en-US" b="1"/>
              <a:t> PROPERTY LAW PRACTICE</a:t>
            </a:r>
            <a:br>
              <a:rPr lang="en-US" b="1"/>
            </a:br>
            <a:r>
              <a:rPr lang="en-US" b="1"/>
              <a:t/>
            </a:r>
            <a:br>
              <a:rPr lang="en-US" b="1"/>
            </a:br>
            <a:r>
              <a:rPr lang="en-US" b="1"/>
              <a:t>WEEK 5</a:t>
            </a:r>
            <a:br>
              <a:rPr lang="en-US" b="1"/>
            </a:br>
            <a:r>
              <a:rPr lang="en-US" b="1"/>
              <a:t/>
            </a:r>
            <a:br>
              <a:rPr lang="en-US" b="1"/>
            </a:br>
            <a:r>
              <a:rPr b="1"/>
              <a:t>SALE OF LAND </a:t>
            </a:r>
            <a:r>
              <a:rPr lang="en-US" b="1"/>
              <a:t>(PART 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Title 1"/>
          <p:cNvSpPr>
            <a:spLocks noGrp="1"/>
          </p:cNvSpPr>
          <p:nvPr>
            <p:ph type="title"/>
          </p:nvPr>
        </p:nvSpPr>
        <p:spPr>
          <a:xfrm>
            <a:off x="457200" y="274955"/>
            <a:ext cx="8229600" cy="954405"/>
          </a:xfrm>
        </p:spPr>
        <p:txBody>
          <a:bodyPr/>
          <a:lstStyle/>
          <a:p>
            <a:r>
              <a:t>Learning</a:t>
            </a:r>
            <a:r>
              <a:rPr lang="en-US"/>
              <a:t> Outcomes</a:t>
            </a:r>
          </a:p>
        </p:txBody>
      </p:sp>
      <p:sp>
        <p:nvSpPr>
          <p:cNvPr id="1048593" name="Content Placeholder 2"/>
          <p:cNvSpPr>
            <a:spLocks noGrp="1"/>
          </p:cNvSpPr>
          <p:nvPr>
            <p:ph idx="1"/>
          </p:nvPr>
        </p:nvSpPr>
        <p:spPr>
          <a:xfrm>
            <a:off x="457200" y="1229995"/>
            <a:ext cx="8229600" cy="4896485"/>
          </a:xfrm>
        </p:spPr>
        <p:txBody>
          <a:bodyPr>
            <a:noAutofit/>
          </a:bodyPr>
          <a:lstStyle/>
          <a:p>
            <a:pPr marL="0" indent="0">
              <a:buNone/>
            </a:pPr>
            <a:r>
              <a:rPr lang="en-US" altLang="en-US" sz="3600"/>
              <a:t>1. Identify laws applicable to sale of Land transactions</a:t>
            </a:r>
          </a:p>
          <a:p>
            <a:pPr marL="0" indent="0">
              <a:buNone/>
            </a:pPr>
            <a:r>
              <a:rPr lang="en-US" altLang="en-US" sz="3600"/>
              <a:t>2.Mention legal restrictions or limitations on sale of  land</a:t>
            </a:r>
          </a:p>
          <a:p>
            <a:pPr marL="0" indent="0">
              <a:buNone/>
            </a:pPr>
            <a:r>
              <a:rPr lang="en-US" altLang="en-US" sz="3600"/>
              <a:t>3.List the steps or stages in the sale of land 4.Explain the need for pre-contract enquiries</a:t>
            </a:r>
          </a:p>
          <a:p>
            <a:pPr marL="0" indent="0">
              <a:buNone/>
            </a:pPr>
            <a:endParaRPr lang="en-US" altLang="en-US" sz="36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Content Placeholder 2"/>
          <p:cNvSpPr>
            <a:spLocks noGrp="1"/>
          </p:cNvSpPr>
          <p:nvPr>
            <p:ph idx="1"/>
          </p:nvPr>
        </p:nvSpPr>
        <p:spPr>
          <a:xfrm>
            <a:off x="457200" y="546735"/>
            <a:ext cx="8229600" cy="5579745"/>
          </a:xfrm>
        </p:spPr>
        <p:txBody>
          <a:bodyPr>
            <a:normAutofit fontScale="97222"/>
          </a:bodyPr>
          <a:lstStyle/>
          <a:p>
            <a:pPr marL="0" indent="0" algn="just">
              <a:buNone/>
            </a:pPr>
            <a:r>
              <a:rPr lang="en-US" altLang="en-US" sz="3600">
                <a:sym typeface="+mn-ea"/>
              </a:rPr>
              <a:t>5. Identify the types of contract of sale of land (principles, application and remedies)</a:t>
            </a:r>
            <a:endParaRPr lang="en-US" altLang="en-US" sz="3600"/>
          </a:p>
          <a:p>
            <a:pPr marL="0" indent="0" algn="just">
              <a:buNone/>
            </a:pPr>
            <a:r>
              <a:rPr lang="en-US" altLang="en-US" sz="3600">
                <a:sym typeface="+mn-ea"/>
              </a:rPr>
              <a:t>6. Indentify the circumstances under which a solicitor may act for both parties.</a:t>
            </a:r>
            <a:endParaRPr lang="en-US" altLang="en-US" sz="3600"/>
          </a:p>
          <a:p>
            <a:pPr marL="0" indent="0" algn="just">
              <a:buNone/>
            </a:pPr>
            <a:r>
              <a:rPr lang="en-US" altLang="en-US" sz="3600">
                <a:sym typeface="+mn-ea"/>
              </a:rPr>
              <a:t>7.Draft a formal contract of sale of land,</a:t>
            </a:r>
            <a:endParaRPr lang="en-US" altLang="en-US" sz="3600"/>
          </a:p>
          <a:p>
            <a:pPr marL="0" indent="0" algn="just">
              <a:buNone/>
            </a:pPr>
            <a:r>
              <a:rPr lang="en-US" altLang="en-US" sz="3600">
                <a:sym typeface="+mn-ea"/>
              </a:rPr>
              <a:t>8.State the need for, the procedure for and effect of exchange of contract. </a:t>
            </a:r>
          </a:p>
          <a:p>
            <a:pPr marL="0" indent="0" algn="just">
              <a:buNone/>
            </a:pPr>
            <a:r>
              <a:rPr lang="en-US" altLang="en-US" sz="3600">
                <a:sym typeface="+mn-ea"/>
              </a:rPr>
              <a:t>9. Ethical considerations in sale of land transactions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title"/>
          </p:nvPr>
        </p:nvSpPr>
        <p:spPr/>
        <p:txBody>
          <a:bodyPr/>
          <a:lstStyle/>
          <a:p>
            <a:r>
              <a:rPr lang="en-US" altLang="en-US">
                <a:sym typeface="+mn-ea"/>
              </a:rPr>
              <a:t>APPLICABLE LAWS </a:t>
            </a:r>
            <a:endParaRPr lang="en-US"/>
          </a:p>
        </p:txBody>
      </p:sp>
      <p:sp>
        <p:nvSpPr>
          <p:cNvPr id="1048596" name="Content Placeholder 2"/>
          <p:cNvSpPr>
            <a:spLocks noGrp="1"/>
          </p:cNvSpPr>
          <p:nvPr>
            <p:ph idx="1"/>
          </p:nvPr>
        </p:nvSpPr>
        <p:spPr>
          <a:xfrm>
            <a:off x="457200" y="1242695"/>
            <a:ext cx="8229600" cy="4883785"/>
          </a:xfrm>
        </p:spPr>
        <p:txBody>
          <a:bodyPr>
            <a:noAutofit/>
          </a:bodyPr>
          <a:lstStyle/>
          <a:p>
            <a:pPr algn="just"/>
            <a:r>
              <a:rPr lang="en-US" altLang="en-US" sz="4000"/>
              <a:t>The Constitution of the FRN, 1999</a:t>
            </a:r>
          </a:p>
          <a:p>
            <a:pPr algn="just"/>
            <a:r>
              <a:rPr lang="en-US" altLang="en-US" sz="4000"/>
              <a:t>Land Use Act ,1978 </a:t>
            </a:r>
          </a:p>
          <a:p>
            <a:pPr algn="just"/>
            <a:r>
              <a:rPr lang="en-US" altLang="en-US" sz="4000"/>
              <a:t>Conveyancing Act, 1881 &amp; 1882</a:t>
            </a:r>
          </a:p>
          <a:p>
            <a:pPr algn="just"/>
            <a:r>
              <a:rPr lang="en-US" altLang="en-US" sz="4000"/>
              <a:t>Land Instruments Registration Law of the various States</a:t>
            </a:r>
          </a:p>
          <a:p>
            <a:pPr algn="just"/>
            <a:r>
              <a:rPr lang="en-US" altLang="en-US" sz="4000"/>
              <a:t>Rules of Professional Conduct, 2023</a:t>
            </a:r>
          </a:p>
          <a:p>
            <a:pPr algn="just"/>
            <a:endParaRPr lang="en-US" altLang="en-US" sz="4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Content Placeholder 2"/>
          <p:cNvSpPr>
            <a:spLocks noGrp="1"/>
          </p:cNvSpPr>
          <p:nvPr>
            <p:ph idx="1"/>
          </p:nvPr>
        </p:nvSpPr>
        <p:spPr>
          <a:xfrm>
            <a:off x="457200" y="600075"/>
            <a:ext cx="8229600" cy="5526405"/>
          </a:xfrm>
        </p:spPr>
        <p:txBody>
          <a:bodyPr>
            <a:normAutofit fontScale="92500"/>
          </a:bodyPr>
          <a:lstStyle/>
          <a:p>
            <a:pPr marL="0" indent="0" algn="just">
              <a:buNone/>
            </a:pPr>
            <a:r>
              <a:rPr lang="en-US" altLang="en-US" sz="4000" b="1">
                <a:sym typeface="+mn-ea"/>
              </a:rPr>
              <a:t>APPLICABLE LAWS (CONTD)</a:t>
            </a:r>
          </a:p>
          <a:p>
            <a:pPr algn="just"/>
            <a:r>
              <a:rPr lang="en-US" altLang="en-US" sz="4000">
                <a:sym typeface="+mn-ea"/>
              </a:rPr>
              <a:t>Legal Practitioners Remuneration (For Business, Legal Services and Representation) Order, 2023</a:t>
            </a:r>
            <a:endParaRPr lang="en-US" altLang="en-US" sz="4000"/>
          </a:p>
          <a:p>
            <a:pPr algn="just"/>
            <a:r>
              <a:rPr lang="en-US" altLang="en-US" sz="4000">
                <a:sym typeface="+mn-ea"/>
              </a:rPr>
              <a:t>Evidence Act, 2011</a:t>
            </a:r>
            <a:endParaRPr lang="en-US" altLang="en-US" sz="4000"/>
          </a:p>
          <a:p>
            <a:pPr algn="just"/>
            <a:r>
              <a:rPr lang="en-US" altLang="en-US" sz="4000">
                <a:sym typeface="+mn-ea"/>
              </a:rPr>
              <a:t>Personal Income Tax Act, 1994</a:t>
            </a:r>
            <a:endParaRPr lang="en-US" altLang="en-US" sz="4000"/>
          </a:p>
          <a:p>
            <a:pPr algn="just"/>
            <a:r>
              <a:rPr lang="en-US" altLang="en-US" sz="4000">
                <a:sym typeface="+mn-ea"/>
              </a:rPr>
              <a:t>Legal Practitioners Act, 1975, Cap L11, LFN 2004</a:t>
            </a:r>
          </a:p>
          <a:p>
            <a:pPr algn="just"/>
            <a:r>
              <a:rPr lang="en-US" altLang="en-US" sz="4000">
                <a:sym typeface="+mn-ea"/>
              </a:rPr>
              <a:t>ETC</a:t>
            </a:r>
            <a:endParaRPr lang="en-US" altLang="en-US" sz="4000"/>
          </a:p>
          <a:p>
            <a:pPr algn="just"/>
            <a:endParaRPr lang="en-US" altLang="en-US" sz="4000"/>
          </a:p>
          <a:p>
            <a:pPr algn="just"/>
            <a:endParaRPr lang="en-US" altLang="en-US" sz="4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p:txBody>
          <a:bodyPr/>
          <a:lstStyle/>
          <a:p>
            <a:r>
              <a:rPr lang="en-US" altLang="en-US" sz="3600" b="1">
                <a:sym typeface="+mn-ea"/>
              </a:rPr>
              <a:t>MEANS OF ACQUIRING LAND IN NIGERIA</a:t>
            </a:r>
          </a:p>
        </p:txBody>
      </p:sp>
      <p:sp>
        <p:nvSpPr>
          <p:cNvPr id="1048599" name="Content Placeholder 2"/>
          <p:cNvSpPr>
            <a:spLocks noGrp="1"/>
          </p:cNvSpPr>
          <p:nvPr>
            <p:ph idx="1"/>
          </p:nvPr>
        </p:nvSpPr>
        <p:spPr/>
        <p:txBody>
          <a:bodyPr/>
          <a:lstStyle/>
          <a:p>
            <a:r>
              <a:rPr lang="en-US" altLang="en-US" sz="4000">
                <a:sym typeface="+mn-ea"/>
              </a:rPr>
              <a:t>1.Customary law </a:t>
            </a:r>
            <a:endParaRPr lang="en-US" altLang="en-US" sz="4000"/>
          </a:p>
          <a:p>
            <a:r>
              <a:rPr lang="en-US" altLang="en-US" sz="4000">
                <a:sym typeface="+mn-ea"/>
              </a:rPr>
              <a:t>2.Inheritance </a:t>
            </a:r>
            <a:endParaRPr lang="en-US" altLang="en-US" sz="4000"/>
          </a:p>
          <a:p>
            <a:r>
              <a:rPr lang="en-US" altLang="en-US" sz="4000">
                <a:sym typeface="+mn-ea"/>
              </a:rPr>
              <a:t>3.Government Allocation   </a:t>
            </a:r>
            <a:endParaRPr lang="en-US" altLang="en-US" sz="4000"/>
          </a:p>
          <a:p>
            <a:r>
              <a:rPr lang="en-US" altLang="en-US" sz="4000">
                <a:sym typeface="+mn-ea"/>
              </a:rPr>
              <a:t>4.Purchase </a:t>
            </a:r>
            <a:endParaRPr lang="en-US" altLang="en-US" sz="4000"/>
          </a:p>
          <a:p>
            <a:r>
              <a:rPr lang="en-US" altLang="en-US" sz="4000">
                <a:sym typeface="+mn-ea"/>
              </a:rPr>
              <a:t>5.Gift Inter Vivos</a:t>
            </a:r>
            <a:endParaRPr lang="en-US" altLang="en-US" sz="4000"/>
          </a:p>
          <a:p>
            <a:endParaRPr lang="en-US" altLang="en-US" sz="4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p:txBody>
          <a:bodyPr/>
          <a:lstStyle/>
          <a:p>
            <a:r>
              <a:rPr lang="en-US" altLang="en-US" sz="3600" b="1"/>
              <a:t>RESTRICTIONS ON DISPOSITION OF LAND</a:t>
            </a:r>
          </a:p>
        </p:txBody>
      </p:sp>
      <p:sp>
        <p:nvSpPr>
          <p:cNvPr id="1048601" name="Content Placeholder 2"/>
          <p:cNvSpPr>
            <a:spLocks noGrp="1"/>
          </p:cNvSpPr>
          <p:nvPr>
            <p:ph idx="1"/>
          </p:nvPr>
        </p:nvSpPr>
        <p:spPr/>
        <p:txBody>
          <a:bodyPr>
            <a:noAutofit/>
          </a:bodyPr>
          <a:lstStyle/>
          <a:p>
            <a:pPr marL="0" indent="0">
              <a:buNone/>
            </a:pPr>
            <a:r>
              <a:rPr lang="en-US" altLang="en-US" sz="3800" b="1"/>
              <a:t>1. Statutory Restrictions</a:t>
            </a:r>
            <a:endParaRPr lang="en-US" altLang="en-US" sz="3800"/>
          </a:p>
          <a:p>
            <a:pPr marL="0" indent="0">
              <a:buNone/>
            </a:pPr>
            <a:r>
              <a:rPr lang="en-US" altLang="en-US" sz="3800"/>
              <a:t>a. Restriction Under the Land Use Act:</a:t>
            </a:r>
          </a:p>
          <a:p>
            <a:r>
              <a:rPr lang="en-US" altLang="en-US" sz="3800"/>
              <a:t>Reqirement consent- </a:t>
            </a:r>
            <a:r>
              <a:rPr lang="en-US" altLang="en-US" sz="3800" b="1" i="1"/>
              <a:t>s.1, 5 ,21, 22 and </a:t>
            </a:r>
            <a:r>
              <a:rPr lang="en-US" altLang="en-US" sz="3800" b="1" i="1">
                <a:sym typeface="+mn-ea"/>
              </a:rPr>
              <a:t>26</a:t>
            </a:r>
            <a:r>
              <a:rPr lang="en-US" altLang="en-US" sz="3800" b="1" i="1"/>
              <a:t> of the LAU 1978, Salami v Oke (1987) 4 NWLR (Pt. 63) 1; Abioye v. Yakubu (1991) 5 NWLR (Pt.190) 130. </a:t>
            </a:r>
            <a:r>
              <a:rPr lang="en-US" altLang="en-US" sz="3800"/>
              <a:t> </a:t>
            </a:r>
          </a:p>
          <a:p>
            <a:r>
              <a:rPr lang="en-US" altLang="en-US" sz="3800"/>
              <a:t>Age Limitation :  </a:t>
            </a:r>
            <a:r>
              <a:rPr lang="en-US" altLang="en-US" sz="3800" b="1"/>
              <a:t>See s.7 of LUA.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Content Placeholder 2"/>
          <p:cNvSpPr>
            <a:spLocks noGrp="1"/>
          </p:cNvSpPr>
          <p:nvPr>
            <p:ph idx="1"/>
          </p:nvPr>
        </p:nvSpPr>
        <p:spPr>
          <a:xfrm>
            <a:off x="457200" y="716280"/>
            <a:ext cx="8229600" cy="5410200"/>
          </a:xfrm>
        </p:spPr>
        <p:txBody>
          <a:bodyPr>
            <a:noAutofit/>
          </a:bodyPr>
          <a:lstStyle/>
          <a:p>
            <a:pPr algn="just"/>
            <a:r>
              <a:rPr lang="en-US" altLang="en-US" sz="4000"/>
              <a:t>Foreigner Limitation- </a:t>
            </a:r>
            <a:r>
              <a:rPr lang="en-US" altLang="en-US" sz="4000" b="1"/>
              <a:t>s.46(1) of LUA.</a:t>
            </a:r>
          </a:p>
          <a:p>
            <a:pPr algn="just"/>
            <a:r>
              <a:rPr lang="en-US" altLang="en-US" sz="4000"/>
              <a:t>Limitation as to quantum of land that an individual can hold in urban areas when land is undeveloped. </a:t>
            </a:r>
            <a:r>
              <a:rPr lang="en-US" altLang="en-US" sz="4000" b="1"/>
              <a:t>S 34(6)-(8)</a:t>
            </a:r>
            <a:endParaRPr lang="en-US" altLang="en-US" sz="4000"/>
          </a:p>
          <a:p>
            <a:pPr algn="just"/>
            <a:r>
              <a:rPr lang="en-US" altLang="en-US" sz="4000"/>
              <a:t>Provision against fragmentation of land in rural area. </a:t>
            </a:r>
            <a:r>
              <a:rPr lang="en-US" altLang="en-US" sz="4000" b="1"/>
              <a:t>S6(2) and 36(5</a:t>
            </a:r>
            <a:r>
              <a:rPr lang="en-US" altLang="en-US" sz="4000"/>
              <a:t>) </a:t>
            </a:r>
          </a:p>
          <a:p>
            <a:pPr algn="just"/>
            <a:endParaRPr lang="en-US" altLang="en-US" sz="4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p:txBody>
          <a:bodyPr/>
          <a:lstStyle/>
          <a:p>
            <a:pPr algn="l"/>
            <a:r>
              <a:rPr lang="en-US"/>
              <a:t>3. </a:t>
            </a:r>
            <a:r>
              <a:t>Additional Legislative Limits</a:t>
            </a:r>
          </a:p>
        </p:txBody>
      </p:sp>
      <p:sp>
        <p:nvSpPr>
          <p:cNvPr id="1048608" name="Content Placeholder 2"/>
          <p:cNvSpPr>
            <a:spLocks noGrp="1"/>
          </p:cNvSpPr>
          <p:nvPr>
            <p:ph idx="1"/>
          </p:nvPr>
        </p:nvSpPr>
        <p:spPr/>
        <p:txBody>
          <a:bodyPr/>
          <a:lstStyle/>
          <a:p>
            <a:pPr algn="just"/>
            <a:r>
              <a:rPr sz="4000"/>
              <a:t>- Ministerial approvals</a:t>
            </a:r>
            <a:r>
              <a:rPr lang="en-US" sz="4000"/>
              <a:t> -e.g </a:t>
            </a:r>
            <a:r>
              <a:rPr lang="en-US" altLang="en-US" sz="4000" b="1">
                <a:sym typeface="+mn-ea"/>
              </a:rPr>
              <a:t>Nigerian Coal Authority Act Cap N95, LFN, 2004, which provides in s.12(4)</a:t>
            </a:r>
            <a:endParaRPr sz="4000"/>
          </a:p>
          <a:p>
            <a:pPr algn="just"/>
            <a:r>
              <a:rPr sz="4000"/>
              <a:t>- Town Planning regulations</a:t>
            </a:r>
          </a:p>
          <a:p>
            <a:pPr algn="just"/>
            <a:r>
              <a:rPr sz="4000"/>
              <a:t>- Lagos Land Registration</a:t>
            </a:r>
            <a:r>
              <a:rPr lang="en-US" sz="4000"/>
              <a:t> </a:t>
            </a:r>
            <a:r>
              <a:rPr lang="en-US" altLang="en-US" sz="4000" b="1">
                <a:sym typeface="+mn-ea"/>
              </a:rPr>
              <a:t>S.66(1)-(2), s. 73 &amp;93(2) of LSLRL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Content Placeholder 2"/>
          <p:cNvSpPr>
            <a:spLocks noGrp="1"/>
          </p:cNvSpPr>
          <p:nvPr>
            <p:ph idx="1"/>
          </p:nvPr>
        </p:nvSpPr>
        <p:spPr>
          <a:xfrm>
            <a:off x="457200" y="1026795"/>
            <a:ext cx="8229600" cy="5099685"/>
          </a:xfrm>
        </p:spPr>
        <p:txBody>
          <a:bodyPr>
            <a:noAutofit/>
          </a:bodyPr>
          <a:lstStyle/>
          <a:p>
            <a:pPr algn="just"/>
            <a:r>
              <a:rPr lang="en-US" altLang="en-US" sz="4000">
                <a:sym typeface="+mn-ea"/>
              </a:rPr>
              <a:t>Doctrine of Lis Pendens, see </a:t>
            </a:r>
            <a:r>
              <a:rPr lang="en-US" altLang="en-US" sz="4000" b="1">
                <a:sym typeface="+mn-ea"/>
              </a:rPr>
              <a:t>Ogundiani v Araba(1978)6 &amp;7 SC p55 </a:t>
            </a:r>
          </a:p>
          <a:p>
            <a:pPr algn="just"/>
            <a:r>
              <a:rPr lang="en-US" altLang="en-US" sz="4000">
                <a:sym typeface="+mn-ea"/>
              </a:rPr>
              <a:t>Communal/Family Land Restriction, See </a:t>
            </a:r>
            <a:r>
              <a:rPr lang="en-US" altLang="en-US" sz="4000" b="1">
                <a:sym typeface="+mn-ea"/>
              </a:rPr>
              <a:t>Ajamogun v Oshunrinde (1990)4 NWLR (PT 1444) 407,419,</a:t>
            </a:r>
            <a:r>
              <a:rPr lang="en-US" altLang="en-US" sz="4000">
                <a:sym typeface="+mn-ea"/>
              </a:rPr>
              <a:t> </a:t>
            </a:r>
            <a:r>
              <a:rPr lang="en-US" altLang="en-US" sz="4000" b="1">
                <a:sym typeface="+mn-ea"/>
              </a:rPr>
              <a:t>s. 92 of  LSLRL.</a:t>
            </a:r>
          </a:p>
          <a:p>
            <a:pPr algn="just"/>
            <a:r>
              <a:rPr lang="en-US" altLang="en-US" sz="4000">
                <a:sym typeface="+mn-ea"/>
              </a:rPr>
              <a:t>Contractual Restrictions:</a:t>
            </a:r>
            <a:endParaRPr lang="en-US" altLang="en-US" sz="4000" b="1">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Title 1"/>
          <p:cNvSpPr>
            <a:spLocks noGrp="1"/>
          </p:cNvSpPr>
          <p:nvPr>
            <p:ph type="title"/>
          </p:nvPr>
        </p:nvSpPr>
        <p:spPr/>
        <p:txBody>
          <a:bodyPr>
            <a:normAutofit fontScale="97727"/>
          </a:bodyPr>
          <a:lstStyle/>
          <a:p>
            <a:r>
              <a:rPr lang="en-US"/>
              <a:t>Types of </a:t>
            </a:r>
            <a:r>
              <a:t>Contract </a:t>
            </a:r>
            <a:r>
              <a:rPr lang="en-US"/>
              <a:t>of Sale of Land</a:t>
            </a:r>
          </a:p>
        </p:txBody>
      </p:sp>
      <p:sp>
        <p:nvSpPr>
          <p:cNvPr id="1048615" name="Content Placeholder 2"/>
          <p:cNvSpPr>
            <a:spLocks noGrp="1"/>
          </p:cNvSpPr>
          <p:nvPr>
            <p:ph idx="1"/>
          </p:nvPr>
        </p:nvSpPr>
        <p:spPr/>
        <p:txBody>
          <a:bodyPr/>
          <a:lstStyle/>
          <a:p>
            <a:pPr marL="0" indent="0">
              <a:buNone/>
            </a:pPr>
            <a:r>
              <a:t>1. Oral</a:t>
            </a:r>
          </a:p>
          <a:p>
            <a:pPr marL="0" indent="0">
              <a:buNone/>
            </a:pPr>
            <a:r>
              <a:t>2. Open</a:t>
            </a:r>
          </a:p>
          <a:p>
            <a:pPr marL="0" indent="0">
              <a:buNone/>
            </a:pPr>
            <a:r>
              <a:t>3. Formal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Title 1"/>
          <p:cNvSpPr>
            <a:spLocks noGrp="1"/>
          </p:cNvSpPr>
          <p:nvPr>
            <p:ph type="title"/>
          </p:nvPr>
        </p:nvSpPr>
        <p:spPr/>
        <p:txBody>
          <a:bodyPr/>
          <a:lstStyle/>
          <a:p>
            <a:r>
              <a:t>Oral Contracts</a:t>
            </a:r>
          </a:p>
        </p:txBody>
      </p:sp>
      <p:sp>
        <p:nvSpPr>
          <p:cNvPr id="1048619" name="Content Placeholder 2"/>
          <p:cNvSpPr>
            <a:spLocks noGrp="1"/>
          </p:cNvSpPr>
          <p:nvPr>
            <p:ph idx="1"/>
          </p:nvPr>
        </p:nvSpPr>
        <p:spPr>
          <a:xfrm>
            <a:off x="457200" y="1165860"/>
            <a:ext cx="8208645" cy="4526280"/>
          </a:xfrm>
        </p:spPr>
        <p:txBody>
          <a:bodyPr>
            <a:noAutofit/>
          </a:bodyPr>
          <a:lstStyle/>
          <a:p>
            <a:pPr algn="just"/>
            <a:r>
              <a:rPr lang="en-US" altLang="en-US" sz="4000"/>
              <a:t>Valid but generally unenforceable, S. 4, </a:t>
            </a:r>
            <a:r>
              <a:rPr lang="en-US" altLang="en-US" sz="4000" b="1"/>
              <a:t>Statute of Frauds 1677; S. 5, Law Reform (Contracts) Act 1961; S. </a:t>
            </a:r>
            <a:r>
              <a:rPr lang="en-US" altLang="en-US" sz="4000" b="1">
                <a:sym typeface="+mn-ea"/>
              </a:rPr>
              <a:t>67(1), </a:t>
            </a:r>
            <a:r>
              <a:rPr lang="en-US" altLang="en-US" sz="4000" b="1"/>
              <a:t>Property and Conveyancing Law (PCL) </a:t>
            </a:r>
            <a:endParaRPr lang="en-US" altLang="en-US" sz="4000"/>
          </a:p>
          <a:p>
            <a:pPr algn="just"/>
            <a:endParaRPr lang="en-US" altLang="en-US" sz="4000"/>
          </a:p>
          <a:p>
            <a:pPr algn="just"/>
            <a:r>
              <a:rPr lang="en-US" altLang="en-US" sz="400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Title 1"/>
          <p:cNvSpPr>
            <a:spLocks noGrp="1"/>
          </p:cNvSpPr>
          <p:nvPr>
            <p:ph type="title"/>
          </p:nvPr>
        </p:nvSpPr>
        <p:spPr>
          <a:xfrm>
            <a:off x="457200" y="274955"/>
            <a:ext cx="8229600" cy="698500"/>
          </a:xfrm>
        </p:spPr>
        <p:txBody>
          <a:bodyPr>
            <a:normAutofit fontScale="90000"/>
          </a:bodyPr>
          <a:lstStyle/>
          <a:p>
            <a:r>
              <a:rPr lang="en-US" altLang="en-US">
                <a:sym typeface="+mn-ea"/>
              </a:rPr>
              <a:t>Exceptions</a:t>
            </a:r>
            <a:endParaRPr lang="en-US"/>
          </a:p>
        </p:txBody>
      </p:sp>
      <p:sp>
        <p:nvSpPr>
          <p:cNvPr id="1048623" name="Content Placeholder 2"/>
          <p:cNvSpPr>
            <a:spLocks noGrp="1"/>
          </p:cNvSpPr>
          <p:nvPr>
            <p:ph idx="1"/>
          </p:nvPr>
        </p:nvSpPr>
        <p:spPr>
          <a:xfrm>
            <a:off x="457200" y="973455"/>
            <a:ext cx="8229600" cy="5153025"/>
          </a:xfrm>
        </p:spPr>
        <p:txBody>
          <a:bodyPr>
            <a:noAutofit/>
          </a:bodyPr>
          <a:lstStyle/>
          <a:p>
            <a:pPr marL="742950" indent="-742950">
              <a:buFont typeface="+mj-lt"/>
              <a:buAutoNum type="arabicParenR"/>
            </a:pPr>
            <a:r>
              <a:rPr lang="en-US" altLang="en-US" sz="4000">
                <a:sym typeface="+mn-ea"/>
              </a:rPr>
              <a:t>Sale of land under Customary law sales. Note the essentials: </a:t>
            </a:r>
          </a:p>
          <a:p>
            <a:pPr marL="1657350" lvl="2" indent="-742950">
              <a:buFont typeface="+mj-lt"/>
              <a:buAutoNum type="alphaLcParenR"/>
            </a:pPr>
            <a:r>
              <a:rPr lang="en-US" altLang="en-US" sz="3000">
                <a:sym typeface="+mn-ea"/>
              </a:rPr>
              <a:t>Purchase price paid;</a:t>
            </a:r>
          </a:p>
          <a:p>
            <a:pPr marL="1657350" lvl="2" indent="-742950">
              <a:buFont typeface="+mj-lt"/>
              <a:buAutoNum type="alphaLcParenR"/>
            </a:pPr>
            <a:r>
              <a:rPr lang="en-US" altLang="en-US" sz="3425">
                <a:sym typeface="+mn-ea"/>
              </a:rPr>
              <a:t>Purchaser put into possession;</a:t>
            </a:r>
          </a:p>
          <a:p>
            <a:pPr marL="1657350" lvl="2" indent="-742950">
              <a:buFont typeface="+mj-lt"/>
              <a:buAutoNum type="alphaLcParenR"/>
            </a:pPr>
            <a:r>
              <a:rPr lang="en-US" altLang="en-US" sz="3425">
                <a:sym typeface="+mn-ea"/>
              </a:rPr>
              <a:t>In the presence of witnesses. </a:t>
            </a:r>
          </a:p>
          <a:p>
            <a:pPr marL="457200" lvl="1" indent="0">
              <a:buFont typeface="+mj-lt"/>
              <a:buNone/>
            </a:pPr>
            <a:r>
              <a:rPr lang="en-US" altLang="en-US" sz="4000">
                <a:sym typeface="+mn-ea"/>
              </a:rPr>
              <a:t>See: </a:t>
            </a:r>
            <a:r>
              <a:rPr lang="en-US" altLang="en-US" sz="4000" b="1">
                <a:sym typeface="+mn-ea"/>
              </a:rPr>
              <a:t>Alake v Awawu (1932), Law Reform (Contracts) Law of Lagos State, s.5 (3).  </a:t>
            </a:r>
          </a:p>
          <a:p>
            <a:pPr marL="0" indent="0">
              <a:buNone/>
            </a:pPr>
            <a:endParaRPr lang="en-US" altLang="en-US" sz="3600"/>
          </a:p>
          <a:p>
            <a:endParaRPr lang="en-US" altLang="en-US" sz="3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Title 1"/>
          <p:cNvSpPr>
            <a:spLocks noGrp="1"/>
          </p:cNvSpPr>
          <p:nvPr>
            <p:ph type="title"/>
          </p:nvPr>
        </p:nvSpPr>
        <p:spPr/>
        <p:txBody>
          <a:bodyPr/>
          <a:lstStyle/>
          <a:p>
            <a:r>
              <a:rPr lang="en-US" altLang="en-US">
                <a:sym typeface="+mn-ea"/>
              </a:rPr>
              <a:t>Exceptions Cont’d</a:t>
            </a:r>
            <a:endParaRPr lang="en-US"/>
          </a:p>
        </p:txBody>
      </p:sp>
      <p:sp>
        <p:nvSpPr>
          <p:cNvPr id="1048627" name="Content Placeholder 2"/>
          <p:cNvSpPr>
            <a:spLocks noGrp="1"/>
          </p:cNvSpPr>
          <p:nvPr>
            <p:ph idx="1"/>
          </p:nvPr>
        </p:nvSpPr>
        <p:spPr/>
        <p:txBody>
          <a:bodyPr>
            <a:noAutofit/>
          </a:bodyPr>
          <a:lstStyle/>
          <a:p>
            <a:pPr marL="0" indent="0" algn="just">
              <a:buNone/>
            </a:pPr>
            <a:r>
              <a:rPr lang="en-US" altLang="en-US" sz="4000">
                <a:sym typeface="+mn-ea"/>
              </a:rPr>
              <a:t>2). Sufficient acts of part performance:</a:t>
            </a:r>
            <a:endParaRPr lang="en-US" altLang="en-US" sz="4000"/>
          </a:p>
          <a:p>
            <a:pPr marL="0" indent="0" algn="just">
              <a:buNone/>
            </a:pPr>
            <a:r>
              <a:rPr lang="en-US" altLang="en-US" sz="4000">
                <a:sym typeface="+mn-ea"/>
              </a:rPr>
              <a:t>See: </a:t>
            </a:r>
            <a:r>
              <a:rPr lang="en-US" altLang="en-US" sz="4000" b="1">
                <a:sym typeface="+mn-ea"/>
              </a:rPr>
              <a:t>S.5(3)(c ) Law Reform (Contracts) Act; International Textile Industries (Nig) Ltd v Aderemi (1999) 8 NWLR (Pt. 614) 268; Maddison v Alderson(1883) 8 AC 467  </a:t>
            </a:r>
            <a:endParaRPr lang="en-US" altLang="en-US" sz="4000" b="1"/>
          </a:p>
          <a:p>
            <a:pPr algn="just"/>
            <a:endParaRPr lang="en-US" altLang="en-US" sz="40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Title 1"/>
          <p:cNvSpPr>
            <a:spLocks noGrp="1"/>
          </p:cNvSpPr>
          <p:nvPr>
            <p:ph type="title"/>
          </p:nvPr>
        </p:nvSpPr>
        <p:spPr>
          <a:xfrm>
            <a:off x="457200" y="274955"/>
            <a:ext cx="8229600" cy="666115"/>
          </a:xfrm>
        </p:spPr>
        <p:txBody>
          <a:bodyPr>
            <a:normAutofit fontScale="90000"/>
          </a:bodyPr>
          <a:lstStyle/>
          <a:p>
            <a:r>
              <a:rPr b="1"/>
              <a:t>Open Contracts</a:t>
            </a:r>
          </a:p>
        </p:txBody>
      </p:sp>
      <p:sp>
        <p:nvSpPr>
          <p:cNvPr id="1048631" name="Content Placeholder 2"/>
          <p:cNvSpPr>
            <a:spLocks noGrp="1"/>
          </p:cNvSpPr>
          <p:nvPr>
            <p:ph idx="1"/>
          </p:nvPr>
        </p:nvSpPr>
        <p:spPr>
          <a:xfrm>
            <a:off x="127635" y="680720"/>
            <a:ext cx="8559165" cy="5445760"/>
          </a:xfrm>
        </p:spPr>
        <p:txBody>
          <a:bodyPr>
            <a:noAutofit/>
          </a:bodyPr>
          <a:lstStyle/>
          <a:p>
            <a:pPr marL="0" indent="0" algn="just">
              <a:buNone/>
            </a:pPr>
            <a:r>
              <a:rPr lang="en-US" sz="4000"/>
              <a:t>Any written form of agreement that satisfies the minimum requirements of the law qualifies as an open contract, especially the following:</a:t>
            </a:r>
          </a:p>
          <a:p>
            <a:pPr marL="1657350" lvl="2" indent="-742950" algn="just">
              <a:buFont typeface="+mj-lt"/>
              <a:buAutoNum type="alphaLcParenR"/>
            </a:pPr>
            <a:r>
              <a:rPr lang="en-US" altLang="en-US" sz="4000">
                <a:sym typeface="+mn-ea"/>
              </a:rPr>
              <a:t>parties, </a:t>
            </a:r>
          </a:p>
          <a:p>
            <a:pPr marL="1657350" lvl="2" indent="-742950" algn="just">
              <a:buFont typeface="+mj-lt"/>
              <a:buAutoNum type="alphaLcParenR"/>
            </a:pPr>
            <a:r>
              <a:rPr lang="en-US" altLang="en-US" sz="4000">
                <a:sym typeface="+mn-ea"/>
              </a:rPr>
              <a:t>price,</a:t>
            </a:r>
          </a:p>
          <a:p>
            <a:pPr marL="1657350" lvl="2" indent="-742950" algn="just">
              <a:buFont typeface="+mj-lt"/>
              <a:buAutoNum type="alphaLcParenR"/>
            </a:pPr>
            <a:r>
              <a:rPr lang="en-US" altLang="en-US" sz="4000">
                <a:sym typeface="+mn-ea"/>
              </a:rPr>
              <a:t>property  </a:t>
            </a:r>
          </a:p>
          <a:p>
            <a:pPr marL="1657350" lvl="2" indent="-742950" algn="just">
              <a:buFont typeface="+mj-lt"/>
              <a:buAutoNum type="alphaLcParenR"/>
            </a:pPr>
            <a:r>
              <a:rPr lang="en-US" altLang="en-US" sz="4000">
                <a:sym typeface="+mn-ea"/>
              </a:rPr>
              <a:t>signature of the person to be bound (vendor)</a:t>
            </a:r>
          </a:p>
          <a:p>
            <a:pPr algn="just"/>
            <a:endParaRPr lang="en-US" altLang="en-US" sz="4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Title 1"/>
          <p:cNvSpPr>
            <a:spLocks noGrp="1"/>
          </p:cNvSpPr>
          <p:nvPr>
            <p:ph type="title"/>
          </p:nvPr>
        </p:nvSpPr>
        <p:spPr>
          <a:xfrm>
            <a:off x="457200" y="274955"/>
            <a:ext cx="8229600" cy="666115"/>
          </a:xfrm>
        </p:spPr>
        <p:txBody>
          <a:bodyPr>
            <a:normAutofit fontScale="90000"/>
          </a:bodyPr>
          <a:lstStyle/>
          <a:p>
            <a:r>
              <a:rPr b="1"/>
              <a:t>Open Contracts</a:t>
            </a:r>
            <a:r>
              <a:rPr lang="en-US" b="1"/>
              <a:t> (contd)</a:t>
            </a:r>
          </a:p>
        </p:txBody>
      </p:sp>
      <p:sp>
        <p:nvSpPr>
          <p:cNvPr id="1048635" name="Content Placeholder 2"/>
          <p:cNvSpPr>
            <a:spLocks noGrp="1"/>
          </p:cNvSpPr>
          <p:nvPr>
            <p:ph idx="1"/>
          </p:nvPr>
        </p:nvSpPr>
        <p:spPr>
          <a:xfrm>
            <a:off x="127635" y="1256030"/>
            <a:ext cx="8559165" cy="2390140"/>
          </a:xfrm>
        </p:spPr>
        <p:txBody>
          <a:bodyPr>
            <a:noAutofit/>
          </a:bodyPr>
          <a:lstStyle/>
          <a:p>
            <a:pPr marL="0" indent="0" algn="just">
              <a:buNone/>
            </a:pPr>
            <a:r>
              <a:rPr lang="en-US" sz="4000">
                <a:sym typeface="+mn-ea"/>
              </a:rPr>
              <a:t>Other terms are usually implied (this is a deficiency of an open contract)</a:t>
            </a:r>
            <a:endParaRPr lang="en-US" altLang="en-US" sz="4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8" name="Title 1"/>
          <p:cNvSpPr>
            <a:spLocks noGrp="1"/>
          </p:cNvSpPr>
          <p:nvPr>
            <p:ph type="title"/>
          </p:nvPr>
        </p:nvSpPr>
        <p:spPr>
          <a:xfrm>
            <a:off x="457200" y="274955"/>
            <a:ext cx="8229600" cy="650875"/>
          </a:xfrm>
        </p:spPr>
        <p:txBody>
          <a:bodyPr>
            <a:normAutofit fontScale="90000"/>
          </a:bodyPr>
          <a:lstStyle/>
          <a:p>
            <a:r>
              <a:t>Formal Contract</a:t>
            </a:r>
            <a:r>
              <a:rPr lang="en-US"/>
              <a:t> of Sale</a:t>
            </a:r>
          </a:p>
        </p:txBody>
      </p:sp>
      <p:sp>
        <p:nvSpPr>
          <p:cNvPr id="1048639" name="Content Placeholder 2"/>
          <p:cNvSpPr>
            <a:spLocks noGrp="1"/>
          </p:cNvSpPr>
          <p:nvPr>
            <p:ph idx="1"/>
          </p:nvPr>
        </p:nvSpPr>
        <p:spPr>
          <a:xfrm>
            <a:off x="457200" y="1217930"/>
            <a:ext cx="8229600" cy="4892675"/>
          </a:xfrm>
        </p:spPr>
        <p:txBody>
          <a:bodyPr>
            <a:noAutofit/>
          </a:bodyPr>
          <a:lstStyle/>
          <a:p>
            <a:pPr marL="742950" indent="-742950" algn="just">
              <a:buFont typeface="+mj-lt"/>
              <a:buAutoNum type="arabicPeriod"/>
            </a:pPr>
            <a:r>
              <a:rPr lang="en-US" sz="4000"/>
              <a:t>Contains </a:t>
            </a:r>
            <a:r>
              <a:rPr lang="en-US" altLang="en-US" sz="4000">
                <a:sym typeface="+mn-ea"/>
              </a:rPr>
              <a:t> the minimum  requirements of the law; and</a:t>
            </a:r>
            <a:r>
              <a:rPr lang="en-US" sz="4000"/>
              <a:t> </a:t>
            </a:r>
          </a:p>
          <a:p>
            <a:pPr marL="742950" indent="-742950" algn="just">
              <a:buFont typeface="+mj-lt"/>
              <a:buAutoNum type="arabicPeriod"/>
            </a:pPr>
            <a:r>
              <a:rPr lang="en-US" sz="4000"/>
              <a:t>Other terms and conditions as agreed by the parties - </a:t>
            </a:r>
            <a:r>
              <a:rPr lang="en-US" altLang="en-US" sz="4000">
                <a:sym typeface="+mn-ea"/>
              </a:rPr>
              <a:t>capacity, payment on balance of price, interest on balance, deposit, date and place of completion, provisions on insurance, among others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Title 1"/>
          <p:cNvSpPr>
            <a:spLocks noGrp="1"/>
          </p:cNvSpPr>
          <p:nvPr>
            <p:ph type="title"/>
          </p:nvPr>
        </p:nvSpPr>
        <p:spPr>
          <a:xfrm>
            <a:off x="457200" y="274955"/>
            <a:ext cx="8229600" cy="784860"/>
          </a:xfrm>
        </p:spPr>
        <p:txBody>
          <a:bodyPr/>
          <a:lstStyle/>
          <a:p>
            <a:r>
              <a:t>Advantages of Formal Contracts</a:t>
            </a:r>
          </a:p>
        </p:txBody>
      </p:sp>
      <p:sp>
        <p:nvSpPr>
          <p:cNvPr id="1048643" name="Content Placeholder 2"/>
          <p:cNvSpPr>
            <a:spLocks noGrp="1"/>
          </p:cNvSpPr>
          <p:nvPr>
            <p:ph idx="1"/>
          </p:nvPr>
        </p:nvSpPr>
        <p:spPr>
          <a:xfrm>
            <a:off x="170815" y="1815465"/>
            <a:ext cx="8229600" cy="4342765"/>
          </a:xfrm>
        </p:spPr>
        <p:txBody>
          <a:bodyPr>
            <a:noAutofit/>
          </a:bodyPr>
          <a:lstStyle/>
          <a:p>
            <a:pPr marL="742950" indent="-742950" algn="just">
              <a:buFont typeface="+mj-lt"/>
              <a:buAutoNum type="arabicParenR"/>
            </a:pPr>
            <a:r>
              <a:rPr lang="en-US" altLang="en-US" sz="4000"/>
              <a:t>Crystalizes te position of the parties</a:t>
            </a:r>
          </a:p>
          <a:p>
            <a:pPr marL="742950" indent="-742950" algn="just">
              <a:buFont typeface="+mj-lt"/>
              <a:buAutoNum type="arabicParenR"/>
            </a:pPr>
            <a:r>
              <a:rPr lang="en-US" altLang="en-US" sz="4000"/>
              <a:t>May be used to confer certain privileges r advantage</a:t>
            </a:r>
          </a:p>
          <a:p>
            <a:pPr marL="742950" indent="-742950" algn="just">
              <a:buFont typeface="+mj-lt"/>
              <a:buAutoNum type="arabicParenR"/>
            </a:pPr>
            <a:r>
              <a:rPr lang="en-US" altLang="en-US" sz="4000"/>
              <a:t>Prevents last minutes withdrawal</a:t>
            </a:r>
          </a:p>
          <a:p>
            <a:pPr marL="0" indent="0" algn="just">
              <a:buNone/>
            </a:pPr>
            <a:endParaRPr lang="en-US" altLang="en-US" sz="4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Title 1"/>
          <p:cNvSpPr>
            <a:spLocks noGrp="1"/>
          </p:cNvSpPr>
          <p:nvPr>
            <p:ph type="title"/>
          </p:nvPr>
        </p:nvSpPr>
        <p:spPr>
          <a:xfrm>
            <a:off x="457200" y="10795"/>
            <a:ext cx="8229600" cy="784860"/>
          </a:xfrm>
        </p:spPr>
        <p:txBody>
          <a:bodyPr>
            <a:normAutofit/>
          </a:bodyPr>
          <a:lstStyle/>
          <a:p>
            <a:r>
              <a:t>Advantages </a:t>
            </a:r>
            <a:r>
              <a:rPr lang="en-US"/>
              <a:t>(contd)</a:t>
            </a:r>
          </a:p>
        </p:txBody>
      </p:sp>
      <p:sp>
        <p:nvSpPr>
          <p:cNvPr id="1048647" name="Content Placeholder 2"/>
          <p:cNvSpPr>
            <a:spLocks noGrp="1"/>
          </p:cNvSpPr>
          <p:nvPr>
            <p:ph idx="1"/>
          </p:nvPr>
        </p:nvSpPr>
        <p:spPr>
          <a:xfrm>
            <a:off x="427990" y="721995"/>
            <a:ext cx="7972425" cy="5888355"/>
          </a:xfrm>
        </p:spPr>
        <p:txBody>
          <a:bodyPr>
            <a:noAutofit/>
          </a:bodyPr>
          <a:lstStyle/>
          <a:p>
            <a:pPr marL="0" indent="0" algn="just">
              <a:buFont typeface="+mj-lt"/>
              <a:buNone/>
            </a:pPr>
            <a:r>
              <a:rPr lang="en-US" altLang="en-US" sz="4000">
                <a:sym typeface="+mn-ea"/>
              </a:rPr>
              <a:t>4). Prevents unilateral increase or reduction in price by either party (gazumping and gazundering)</a:t>
            </a:r>
            <a:endParaRPr lang="en-US" altLang="en-US" sz="4000"/>
          </a:p>
          <a:p>
            <a:pPr marL="0" indent="0" algn="just">
              <a:buFont typeface="+mj-lt"/>
              <a:buNone/>
            </a:pPr>
            <a:r>
              <a:rPr lang="en-US" altLang="en-US" sz="4000">
                <a:sym typeface="+mn-ea"/>
              </a:rPr>
              <a:t>5). Payment of lesser stamp duties: - 	-CoS is flat rate, c/f Deed of 		Assignment that is ad valorem</a:t>
            </a:r>
          </a:p>
          <a:p>
            <a:pPr marL="0" indent="0" algn="just">
              <a:buFont typeface="+mj-lt"/>
              <a:buNone/>
            </a:pPr>
            <a:r>
              <a:rPr lang="en-US" altLang="en-US" sz="4000">
                <a:sym typeface="+mn-ea"/>
              </a:rPr>
              <a:t>    -beneficial to purchaser where 	fixtures and fittings are part of sale</a:t>
            </a:r>
            <a:endParaRPr lang="en-US" altLang="en-US" sz="4000"/>
          </a:p>
          <a:p>
            <a:pPr marL="0" indent="0" algn="just">
              <a:buFont typeface="+mj-lt"/>
              <a:buNone/>
            </a:pPr>
            <a:endParaRPr lang="en-US" altLang="en-US" sz="4000"/>
          </a:p>
          <a:p>
            <a:pPr marL="0" indent="0" algn="just">
              <a:buFont typeface="+mj-lt"/>
              <a:buNone/>
            </a:pPr>
            <a:endParaRPr lang="en-US" altLang="en-US" sz="4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Content Placeholder 2"/>
          <p:cNvSpPr>
            <a:spLocks noGrp="1"/>
          </p:cNvSpPr>
          <p:nvPr>
            <p:ph idx="1"/>
          </p:nvPr>
        </p:nvSpPr>
        <p:spPr>
          <a:xfrm>
            <a:off x="552450" y="209550"/>
            <a:ext cx="8134350" cy="5551170"/>
          </a:xfrm>
        </p:spPr>
        <p:txBody>
          <a:bodyPr>
            <a:noAutofit/>
          </a:bodyPr>
          <a:lstStyle/>
          <a:p>
            <a:pPr marL="0" indent="0" algn="just">
              <a:buFont typeface="+mj-lt"/>
              <a:buNone/>
            </a:pPr>
            <a:r>
              <a:rPr lang="en-US" altLang="en-US" sz="4000">
                <a:sym typeface="+mn-ea"/>
              </a:rPr>
              <a:t>6). Affords the purchase sufficient opportunity to investigate title</a:t>
            </a:r>
            <a:endParaRPr lang="en-US" altLang="en-US" sz="4000"/>
          </a:p>
          <a:p>
            <a:pPr marL="0" indent="0" algn="just">
              <a:buFont typeface="+mj-lt"/>
              <a:buNone/>
            </a:pPr>
            <a:r>
              <a:rPr lang="en-US" altLang="en-US" sz="4000">
                <a:sym typeface="+mn-ea"/>
              </a:rPr>
              <a:t>7). Creates a binding contract - death of either party does nor adversely affect the contract</a:t>
            </a:r>
            <a:endParaRPr lang="en-US" altLang="en-US" sz="4000"/>
          </a:p>
          <a:p>
            <a:pPr marL="0" indent="0" algn="just">
              <a:buNone/>
            </a:pPr>
            <a:endParaRPr lang="en-US" altLang="en-US" sz="4000"/>
          </a:p>
          <a:p>
            <a:pPr marL="0" indent="0" algn="just">
              <a:buNone/>
            </a:pPr>
            <a:endParaRPr lang="en-US" altLang="en-US" sz="4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Title 1"/>
          <p:cNvSpPr>
            <a:spLocks noGrp="1"/>
          </p:cNvSpPr>
          <p:nvPr>
            <p:ph type="title"/>
          </p:nvPr>
        </p:nvSpPr>
        <p:spPr>
          <a:xfrm>
            <a:off x="457200" y="411798"/>
            <a:ext cx="8229600" cy="1143000"/>
          </a:xfrm>
        </p:spPr>
        <p:txBody>
          <a:bodyPr>
            <a:normAutofit fontScale="90000"/>
          </a:bodyPr>
          <a:lstStyle/>
          <a:p>
            <a:r>
              <a:rPr lang="en-US" b="1"/>
              <a:t>CONTENTS OF FORMAL CONTRACT</a:t>
            </a:r>
          </a:p>
        </p:txBody>
      </p:sp>
      <p:sp>
        <p:nvSpPr>
          <p:cNvPr id="1048652" name="Content Placeholder 2"/>
          <p:cNvSpPr>
            <a:spLocks noGrp="1"/>
          </p:cNvSpPr>
          <p:nvPr>
            <p:ph idx="1"/>
          </p:nvPr>
        </p:nvSpPr>
        <p:spPr/>
        <p:txBody>
          <a:bodyPr>
            <a:normAutofit/>
          </a:bodyPr>
          <a:lstStyle/>
          <a:p>
            <a:pPr marL="0" indent="0" algn="just">
              <a:buNone/>
            </a:pPr>
            <a:r>
              <a:rPr lang="en-US" altLang="en-US" sz="4000" b="1"/>
              <a:t>1.	Deposits/Parts payment: </a:t>
            </a:r>
            <a:r>
              <a:rPr lang="en-US" altLang="en-US" sz="4000"/>
              <a:t>Deposit is money paid by the purchaser to the vendor as security for the performance of a contract which may be forfeited if the depositor fails to complete the transaction or decides to opt out.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Title 1"/>
          <p:cNvSpPr>
            <a:spLocks noGrp="1"/>
          </p:cNvSpPr>
          <p:nvPr>
            <p:ph type="title"/>
          </p:nvPr>
        </p:nvSpPr>
        <p:spPr>
          <a:xfrm>
            <a:off x="457200" y="274955"/>
            <a:ext cx="8229600" cy="873125"/>
          </a:xfrm>
        </p:spPr>
        <p:txBody>
          <a:bodyPr/>
          <a:lstStyle/>
          <a:p>
            <a:r>
              <a:rPr lang="en-US" altLang="en-US" b="1">
                <a:sym typeface="+mn-ea"/>
              </a:rPr>
              <a:t>When is it paid?</a:t>
            </a:r>
            <a:endParaRPr lang="en-US" b="1"/>
          </a:p>
        </p:txBody>
      </p:sp>
      <p:sp>
        <p:nvSpPr>
          <p:cNvPr id="1048656" name="Content Placeholder 2"/>
          <p:cNvSpPr>
            <a:spLocks noGrp="1"/>
          </p:cNvSpPr>
          <p:nvPr>
            <p:ph idx="1"/>
          </p:nvPr>
        </p:nvSpPr>
        <p:spPr>
          <a:xfrm>
            <a:off x="457200" y="1146810"/>
            <a:ext cx="8229600" cy="4979670"/>
          </a:xfrm>
        </p:spPr>
        <p:txBody>
          <a:bodyPr>
            <a:noAutofit/>
          </a:bodyPr>
          <a:lstStyle/>
          <a:p>
            <a:pPr marL="0" indent="0" algn="just">
              <a:buNone/>
            </a:pPr>
            <a:r>
              <a:rPr lang="en-US" altLang="en-US" sz="4400">
                <a:sym typeface="+mn-ea"/>
              </a:rPr>
              <a:t>Deposit is usually paid at the stage of exchange of contracts.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Content Placeholder 2"/>
          <p:cNvSpPr>
            <a:spLocks noGrp="1"/>
          </p:cNvSpPr>
          <p:nvPr>
            <p:ph idx="1"/>
          </p:nvPr>
        </p:nvSpPr>
        <p:spPr>
          <a:xfrm>
            <a:off x="457200" y="735965"/>
            <a:ext cx="8229600" cy="5390515"/>
          </a:xfrm>
        </p:spPr>
        <p:txBody>
          <a:bodyPr>
            <a:noAutofit/>
          </a:bodyPr>
          <a:lstStyle/>
          <a:p>
            <a:pPr algn="just"/>
            <a:r>
              <a:rPr lang="en-US" altLang="en-US" sz="4000"/>
              <a:t>The deposit paid by a purchaser is usually 10% of the purchase price, but the may vary depending on parties’ agreement</a:t>
            </a:r>
          </a:p>
          <a:p>
            <a:pPr algn="just"/>
            <a:r>
              <a:rPr lang="en-US" altLang="en-US" sz="4000"/>
              <a:t>Deposit is paid to vendor’s solicitors either as an agent or as a stakeholder.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Title 1"/>
          <p:cNvSpPr>
            <a:spLocks noGrp="1"/>
          </p:cNvSpPr>
          <p:nvPr>
            <p:ph type="title"/>
          </p:nvPr>
        </p:nvSpPr>
        <p:spPr>
          <a:xfrm>
            <a:off x="457200" y="241300"/>
            <a:ext cx="8229600" cy="841375"/>
          </a:xfrm>
        </p:spPr>
        <p:txBody>
          <a:bodyPr>
            <a:normAutofit fontScale="95455"/>
          </a:bodyPr>
          <a:lstStyle/>
          <a:p>
            <a:r>
              <a:rPr lang="en-US" altLang="en-US"/>
              <a:t>Deposit paid to solicitor as an agent</a:t>
            </a:r>
          </a:p>
        </p:txBody>
      </p:sp>
      <p:sp>
        <p:nvSpPr>
          <p:cNvPr id="1048661" name="Content Placeholder 2"/>
          <p:cNvSpPr>
            <a:spLocks noGrp="1"/>
          </p:cNvSpPr>
          <p:nvPr>
            <p:ph idx="1"/>
          </p:nvPr>
        </p:nvSpPr>
        <p:spPr>
          <a:xfrm>
            <a:off x="466725" y="1082675"/>
            <a:ext cx="8220075" cy="5306060"/>
          </a:xfrm>
        </p:spPr>
        <p:txBody>
          <a:bodyPr>
            <a:noAutofit/>
          </a:bodyPr>
          <a:lstStyle/>
          <a:p>
            <a:pPr marL="0" indent="0" algn="just">
              <a:buNone/>
            </a:pPr>
            <a:r>
              <a:rPr lang="en-US" altLang="en-US" sz="4000">
                <a:sym typeface="+mn-ea"/>
              </a:rPr>
              <a:t>Note the implications:</a:t>
            </a:r>
          </a:p>
          <a:p>
            <a:pPr marL="1200150" lvl="1" indent="-742950" algn="just">
              <a:buFont typeface="+mj-lt"/>
              <a:buAutoNum type="alphaLcParenR"/>
            </a:pPr>
            <a:r>
              <a:rPr lang="en-US" altLang="en-US" sz="4000">
                <a:sym typeface="+mn-ea"/>
              </a:rPr>
              <a:t>Solicitors holds it as an agent of the vendor - to handle the money in line with vendor’s instructions</a:t>
            </a:r>
          </a:p>
          <a:p>
            <a:pPr marL="1200150" lvl="1" indent="-742950" algn="just">
              <a:buFont typeface="+mj-lt"/>
              <a:buAutoNum type="alphaLcParenR"/>
            </a:pPr>
            <a:r>
              <a:rPr lang="en-US" altLang="en-US" sz="4000">
                <a:sym typeface="+mn-ea"/>
              </a:rPr>
              <a:t>Solicitor must account for interest. </a:t>
            </a:r>
          </a:p>
          <a:p>
            <a:pPr algn="just"/>
            <a:endParaRPr lang="en-US" altLang="en-US" sz="4000">
              <a:sym typeface="+mn-ea"/>
            </a:endParaRPr>
          </a:p>
          <a:p>
            <a:pPr marL="457200" lvl="1" indent="0" algn="just">
              <a:buFont typeface="+mj-lt"/>
              <a:buNone/>
            </a:pPr>
            <a:endParaRPr lang="en-US" altLang="en-US" sz="4000">
              <a:sym typeface="+mn-ea"/>
            </a:endParaRPr>
          </a:p>
          <a:p>
            <a:pPr marL="0" indent="0" algn="just">
              <a:buNone/>
            </a:pPr>
            <a:endParaRPr lang="en-US" altLang="en-US" sz="400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2" name="Title 1"/>
          <p:cNvSpPr>
            <a:spLocks noGrp="1"/>
          </p:cNvSpPr>
          <p:nvPr>
            <p:ph type="title"/>
          </p:nvPr>
        </p:nvSpPr>
        <p:spPr>
          <a:xfrm>
            <a:off x="457200" y="241300"/>
            <a:ext cx="8229600" cy="841375"/>
          </a:xfrm>
        </p:spPr>
        <p:txBody>
          <a:bodyPr>
            <a:noAutofit/>
          </a:bodyPr>
          <a:lstStyle/>
          <a:p>
            <a:r>
              <a:rPr lang="en-US" altLang="en-US" sz="3600"/>
              <a:t>Deposit paid to solicitor as an agent (contd)</a:t>
            </a:r>
          </a:p>
        </p:txBody>
      </p:sp>
      <p:sp>
        <p:nvSpPr>
          <p:cNvPr id="1048663" name="Content Placeholder 2"/>
          <p:cNvSpPr>
            <a:spLocks noGrp="1"/>
          </p:cNvSpPr>
          <p:nvPr>
            <p:ph idx="1"/>
          </p:nvPr>
        </p:nvSpPr>
        <p:spPr>
          <a:xfrm>
            <a:off x="466725" y="1082675"/>
            <a:ext cx="8220075" cy="5306060"/>
          </a:xfrm>
        </p:spPr>
        <p:txBody>
          <a:bodyPr>
            <a:noAutofit/>
          </a:bodyPr>
          <a:lstStyle/>
          <a:p>
            <a:pPr marL="1200150" lvl="1" indent="-742950" algn="just">
              <a:buFont typeface="+mj-lt"/>
              <a:buAutoNum type="alphaLcParenR"/>
            </a:pPr>
            <a:r>
              <a:rPr lang="en-US" altLang="en-US" sz="3600">
                <a:sym typeface="+mn-ea"/>
              </a:rPr>
              <a:t>Vendor is liable if the solicitor mishandles it - but note that vendor has remedies against the solicitor; </a:t>
            </a:r>
          </a:p>
          <a:p>
            <a:pPr marL="1828800" lvl="3" indent="-457200" algn="just">
              <a:buFont typeface="+mj-lt"/>
              <a:buAutoNum type="romanLcPeriod"/>
            </a:pPr>
            <a:r>
              <a:rPr lang="en-US" altLang="en-US" sz="3600">
                <a:sym typeface="+mn-ea"/>
              </a:rPr>
              <a:t>Civil action for recovery</a:t>
            </a:r>
          </a:p>
          <a:p>
            <a:pPr marL="1828800" lvl="3" indent="-457200" algn="just">
              <a:buFont typeface="+mj-lt"/>
              <a:buAutoNum type="romanLcPeriod"/>
            </a:pPr>
            <a:r>
              <a:rPr lang="en-US" altLang="en-US" sz="3600">
                <a:sym typeface="+mn-ea"/>
              </a:rPr>
              <a:t>Professional disciplinary procedure</a:t>
            </a:r>
          </a:p>
          <a:p>
            <a:pPr marL="1828800" lvl="3" indent="-457200" algn="just">
              <a:buFont typeface="+mj-lt"/>
              <a:buAutoNum type="romanLcPeriod"/>
            </a:pPr>
            <a:r>
              <a:rPr lang="en-US" altLang="en-US" sz="3600">
                <a:sym typeface="+mn-ea"/>
              </a:rPr>
              <a:t>Criminal action for misappropriation </a:t>
            </a:r>
          </a:p>
          <a:p>
            <a:pPr marL="0" indent="0" algn="just">
              <a:buNone/>
            </a:pPr>
            <a:endParaRPr lang="en-US" altLang="en-US" sz="360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Title 1"/>
          <p:cNvSpPr>
            <a:spLocks noGrp="1"/>
          </p:cNvSpPr>
          <p:nvPr>
            <p:ph type="title"/>
          </p:nvPr>
        </p:nvSpPr>
        <p:spPr/>
        <p:txBody>
          <a:bodyPr>
            <a:normAutofit fontScale="90909"/>
          </a:bodyPr>
          <a:lstStyle/>
          <a:p>
            <a:r>
              <a:rPr lang="en-US" altLang="en-US"/>
              <a:t>Payment of depositi as a stakeholder</a:t>
            </a:r>
          </a:p>
        </p:txBody>
      </p:sp>
      <p:sp>
        <p:nvSpPr>
          <p:cNvPr id="1048665" name="Content Placeholder 2"/>
          <p:cNvSpPr>
            <a:spLocks noGrp="1"/>
          </p:cNvSpPr>
          <p:nvPr>
            <p:ph idx="1"/>
          </p:nvPr>
        </p:nvSpPr>
        <p:spPr/>
        <p:txBody>
          <a:bodyPr>
            <a:normAutofit fontScale="92500"/>
          </a:bodyPr>
          <a:lstStyle/>
          <a:p>
            <a:pPr marL="0" indent="0" algn="just">
              <a:buNone/>
            </a:pPr>
            <a:r>
              <a:rPr lang="en-US" altLang="en-US" sz="3600"/>
              <a:t>Effects:</a:t>
            </a:r>
          </a:p>
          <a:p>
            <a:pPr marL="1200150" lvl="1" indent="-742950" algn="just">
              <a:buFont typeface="+mj-lt"/>
              <a:buAutoNum type="arabicParenR"/>
            </a:pPr>
            <a:r>
              <a:rPr lang="en-US" altLang="en-US" sz="3150"/>
              <a:t>Solicitor holds as a trustee, an interpleader</a:t>
            </a:r>
          </a:p>
          <a:p>
            <a:pPr marL="1200150" lvl="1" indent="-742950" algn="just">
              <a:buFont typeface="+mj-lt"/>
              <a:buAutoNum type="arabicParenR"/>
            </a:pPr>
            <a:r>
              <a:rPr lang="en-US" altLang="en-US" sz="3150"/>
              <a:t>Is not an agent of any party but is obliged to transfer the money to the party  entitled to it at the end</a:t>
            </a:r>
          </a:p>
          <a:p>
            <a:pPr marL="1200150" lvl="1" indent="-742950" algn="just">
              <a:buFont typeface="+mj-lt"/>
              <a:buAutoNum type="arabicParenR"/>
            </a:pPr>
            <a:r>
              <a:rPr lang="en-US" altLang="en-US" sz="3150"/>
              <a:t>Liable for money if misappropriated</a:t>
            </a:r>
          </a:p>
          <a:p>
            <a:pPr marL="1200150" lvl="1" indent="-742950" algn="just">
              <a:buFont typeface="+mj-lt"/>
              <a:buAutoNum type="arabicParenR"/>
            </a:pPr>
            <a:r>
              <a:rPr lang="en-US" altLang="en-US" sz="3150"/>
              <a:t>Not obliged to account for interests</a:t>
            </a:r>
          </a:p>
          <a:p>
            <a:pPr marL="1200150" lvl="1" indent="-742950" algn="just">
              <a:buFont typeface="+mj-lt"/>
              <a:buAutoNum type="arabicParenR"/>
            </a:pPr>
            <a:r>
              <a:rPr lang="en-US" altLang="en-US" sz="3150"/>
              <a:t>Must pay money into trust/cliebnt account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6" name="Title 1"/>
          <p:cNvSpPr>
            <a:spLocks noGrp="1"/>
          </p:cNvSpPr>
          <p:nvPr>
            <p:ph type="title"/>
          </p:nvPr>
        </p:nvSpPr>
        <p:spPr>
          <a:xfrm>
            <a:off x="457200" y="274955"/>
            <a:ext cx="8229600" cy="738505"/>
          </a:xfrm>
        </p:spPr>
        <p:txBody>
          <a:bodyPr>
            <a:normAutofit fontScale="90000"/>
          </a:bodyPr>
          <a:lstStyle/>
          <a:p>
            <a:r>
              <a:rPr lang="en-US" altLang="en-US"/>
              <a:t>Deposit versus Part-Payment</a:t>
            </a:r>
          </a:p>
        </p:txBody>
      </p:sp>
      <p:sp>
        <p:nvSpPr>
          <p:cNvPr id="1048667" name="Content Placeholder 2"/>
          <p:cNvSpPr>
            <a:spLocks noGrp="1"/>
          </p:cNvSpPr>
          <p:nvPr>
            <p:ph idx="1"/>
          </p:nvPr>
        </p:nvSpPr>
        <p:spPr>
          <a:xfrm>
            <a:off x="457200" y="1013460"/>
            <a:ext cx="8229600" cy="5113020"/>
          </a:xfrm>
        </p:spPr>
        <p:txBody>
          <a:bodyPr>
            <a:noAutofit/>
          </a:bodyPr>
          <a:lstStyle/>
          <a:p>
            <a:pPr marL="742950" indent="-742950" algn="just">
              <a:buFont typeface="+mj-lt"/>
              <a:buAutoNum type="alphaLcParenR"/>
            </a:pPr>
            <a:r>
              <a:rPr lang="en-US" altLang="en-US" sz="3600"/>
              <a:t>Deposit secures contract performance and is usually non-refundable if the purchaser defaults while Part apyment is refundable.</a:t>
            </a:r>
          </a:p>
          <a:p>
            <a:pPr marL="742950" indent="-742950" algn="just">
              <a:buFont typeface="+mj-lt"/>
              <a:buAutoNum type="alphaLcParenR"/>
            </a:pPr>
            <a:r>
              <a:rPr lang="en-US" altLang="en-US" sz="3600"/>
              <a:t>Deposits show intent to complete the deal, though vendors may still claim damages. Partpayment shows concluded transaction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Title 1"/>
          <p:cNvSpPr>
            <a:spLocks noGrp="1"/>
          </p:cNvSpPr>
          <p:nvPr>
            <p:ph type="title"/>
          </p:nvPr>
        </p:nvSpPr>
        <p:spPr/>
        <p:txBody>
          <a:bodyPr/>
          <a:lstStyle/>
          <a:p>
            <a:endParaRPr lang="en-US"/>
          </a:p>
        </p:txBody>
      </p:sp>
      <p:sp>
        <p:nvSpPr>
          <p:cNvPr id="1048669" name="Content Placeholder 2"/>
          <p:cNvSpPr>
            <a:spLocks noGrp="1"/>
          </p:cNvSpPr>
          <p:nvPr>
            <p:ph idx="1"/>
          </p:nvPr>
        </p:nvSpPr>
        <p:spPr/>
        <p:txBody>
          <a:bodyPr/>
          <a:lstStyle/>
          <a:p>
            <a:pPr marL="0" indent="0" algn="just">
              <a:buNone/>
            </a:pPr>
            <a:r>
              <a:rPr lang="en-US" altLang="en-US" sz="4000">
                <a:sym typeface="+mn-ea"/>
              </a:rPr>
              <a:t>c). If the vendor defaults, the purchaser may recover the deposit and possibly interest. If the purchaser defaults, he forfeits deposit paid unless there is a contrary intention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0" name="Title 1"/>
          <p:cNvSpPr>
            <a:spLocks noGrp="1"/>
          </p:cNvSpPr>
          <p:nvPr>
            <p:ph type="title"/>
          </p:nvPr>
        </p:nvSpPr>
        <p:spPr/>
        <p:txBody>
          <a:bodyPr/>
          <a:lstStyle/>
          <a:p>
            <a:endParaRPr lang="en-US"/>
          </a:p>
        </p:txBody>
      </p:sp>
      <p:sp>
        <p:nvSpPr>
          <p:cNvPr id="1048671" name="Content Placeholder 2"/>
          <p:cNvSpPr>
            <a:spLocks noGrp="1"/>
          </p:cNvSpPr>
          <p:nvPr>
            <p:ph idx="1"/>
          </p:nvPr>
        </p:nvSpPr>
        <p:spPr/>
        <p:txBody>
          <a:bodyPr>
            <a:normAutofit/>
          </a:bodyPr>
          <a:lstStyle/>
          <a:p>
            <a:pPr marL="0" indent="0" algn="just">
              <a:buNone/>
            </a:pPr>
            <a:r>
              <a:rPr lang="en-US" altLang="en-US" sz="3600" dirty="0">
                <a:sym typeface="+mn-ea"/>
              </a:rPr>
              <a:t>d). In the case of part-payment, if the purchaser  defaults, vendor may only sue for damages; purchaser does not forfeit the </a:t>
            </a:r>
            <a:r>
              <a:rPr lang="en-US" altLang="en-US" sz="3600" dirty="0" smtClean="0">
                <a:sym typeface="+mn-ea"/>
              </a:rPr>
              <a:t>money because part-payment presupposes an understanding of a concluded transaction</a:t>
            </a:r>
            <a:endParaRPr lang="en-US" altLang="en-US" sz="3600" dirty="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2" name="Title 1"/>
          <p:cNvSpPr>
            <a:spLocks noGrp="1"/>
          </p:cNvSpPr>
          <p:nvPr>
            <p:ph type="title"/>
          </p:nvPr>
        </p:nvSpPr>
        <p:spPr/>
        <p:txBody>
          <a:bodyPr/>
          <a:lstStyle/>
          <a:p>
            <a:r>
              <a:rPr lang="en-US" altLang="en-US" b="1">
                <a:sym typeface="+mn-ea"/>
              </a:rPr>
              <a:t>Date of Completion </a:t>
            </a:r>
            <a:endParaRPr lang="en-US" b="1"/>
          </a:p>
        </p:txBody>
      </p:sp>
      <p:sp>
        <p:nvSpPr>
          <p:cNvPr id="1048673" name="Content Placeholder 2"/>
          <p:cNvSpPr>
            <a:spLocks noGrp="1"/>
          </p:cNvSpPr>
          <p:nvPr>
            <p:ph idx="1"/>
          </p:nvPr>
        </p:nvSpPr>
        <p:spPr/>
        <p:txBody>
          <a:bodyPr>
            <a:noAutofit/>
          </a:bodyPr>
          <a:lstStyle/>
          <a:p>
            <a:pPr algn="just"/>
            <a:r>
              <a:rPr lang="en-US" altLang="en-US" sz="3600">
                <a:sym typeface="+mn-ea"/>
              </a:rPr>
              <a:t>Time is not automatically of the essence in land sale contracts under common law, equity, or statute. </a:t>
            </a:r>
            <a:r>
              <a:rPr lang="en-US" altLang="en-US" sz="3600" b="1"/>
              <a:t>see s.68 PCL,</a:t>
            </a:r>
            <a:r>
              <a:rPr lang="en-US" altLang="en-US" sz="3600"/>
              <a:t> </a:t>
            </a:r>
          </a:p>
          <a:p>
            <a:pPr algn="just"/>
            <a:r>
              <a:rPr lang="en-US" altLang="en-US" sz="3600">
                <a:sym typeface="+mn-ea"/>
              </a:rPr>
              <a:t>Completion is expected within a reasonable tim - what amounts to a “reasonable time” depends on the circumstances: </a:t>
            </a:r>
            <a:r>
              <a:rPr lang="en-US" altLang="en-US" sz="3600" b="1"/>
              <a:t>Odusoga v. Ricketts, Johnson v. Humphrey.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Title 1"/>
          <p:cNvSpPr>
            <a:spLocks noGrp="1"/>
          </p:cNvSpPr>
          <p:nvPr>
            <p:ph type="title"/>
          </p:nvPr>
        </p:nvSpPr>
        <p:spPr/>
        <p:txBody>
          <a:bodyPr/>
          <a:lstStyle/>
          <a:p>
            <a:r>
              <a:rPr lang="en-US" altLang="en-US" b="1">
                <a:sym typeface="+mn-ea"/>
              </a:rPr>
              <a:t>Date of Completion (contd) </a:t>
            </a:r>
            <a:endParaRPr lang="en-US" b="1"/>
          </a:p>
        </p:txBody>
      </p:sp>
      <p:sp>
        <p:nvSpPr>
          <p:cNvPr id="1048677" name="Content Placeholder 2"/>
          <p:cNvSpPr>
            <a:spLocks noGrp="1"/>
          </p:cNvSpPr>
          <p:nvPr>
            <p:ph idx="1"/>
          </p:nvPr>
        </p:nvSpPr>
        <p:spPr/>
        <p:txBody>
          <a:bodyPr>
            <a:noAutofit/>
          </a:bodyPr>
          <a:lstStyle/>
          <a:p>
            <a:pPr algn="just"/>
            <a:r>
              <a:rPr lang="en-US" altLang="en-US" sz="3600" dirty="0"/>
              <a:t>Provision of a date of completion removes the ambiguities associated with interpretation of what is a </a:t>
            </a:r>
            <a:r>
              <a:rPr lang="en-US" altLang="en-US" sz="3600" dirty="0" smtClean="0"/>
              <a:t>“</a:t>
            </a:r>
            <a:r>
              <a:rPr lang="en-US" altLang="en-US" sz="3600" dirty="0" smtClean="0"/>
              <a:t>reasonable time”.</a:t>
            </a:r>
            <a:endParaRPr lang="en-US" alt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0" name="Title 1"/>
          <p:cNvSpPr>
            <a:spLocks noGrp="1"/>
          </p:cNvSpPr>
          <p:nvPr>
            <p:ph type="title"/>
          </p:nvPr>
        </p:nvSpPr>
        <p:spPr>
          <a:xfrm>
            <a:off x="457200" y="274955"/>
            <a:ext cx="8229600" cy="682625"/>
          </a:xfrm>
        </p:spPr>
        <p:txBody>
          <a:bodyPr>
            <a:normAutofit fontScale="90000"/>
          </a:bodyPr>
          <a:lstStyle/>
          <a:p>
            <a:r>
              <a:rPr lang="en-US" altLang="en-US" b="1">
                <a:sym typeface="+mn-ea"/>
              </a:rPr>
              <a:t>Possession Before Completion</a:t>
            </a:r>
            <a:endParaRPr lang="en-US" b="1"/>
          </a:p>
        </p:txBody>
      </p:sp>
      <p:sp>
        <p:nvSpPr>
          <p:cNvPr id="1048681" name="Content Placeholder 2"/>
          <p:cNvSpPr>
            <a:spLocks noGrp="1"/>
          </p:cNvSpPr>
          <p:nvPr>
            <p:ph idx="1"/>
          </p:nvPr>
        </p:nvSpPr>
        <p:spPr>
          <a:xfrm>
            <a:off x="457200" y="1116965"/>
            <a:ext cx="8229600" cy="5009515"/>
          </a:xfrm>
        </p:spPr>
        <p:txBody>
          <a:bodyPr>
            <a:normAutofit/>
          </a:bodyPr>
          <a:lstStyle/>
          <a:p>
            <a:pPr algn="just"/>
            <a:r>
              <a:rPr lang="en-US" altLang="en-US" sz="3600" dirty="0">
                <a:sym typeface="+mn-ea"/>
              </a:rPr>
              <a:t>Purchaser is not entitled to possession before completion </a:t>
            </a:r>
            <a:r>
              <a:rPr lang="en-US" altLang="en-US" sz="3600" dirty="0" smtClean="0">
                <a:sym typeface="+mn-ea"/>
              </a:rPr>
              <a:t>unless expressed provided for in the Contract.</a:t>
            </a:r>
            <a:endParaRPr lang="en-US" altLang="en-US" sz="3600" dirty="0"/>
          </a:p>
          <a:p>
            <a:pPr algn="just"/>
            <a:r>
              <a:rPr lang="en-US" altLang="en-US" sz="3600" dirty="0">
                <a:sym typeface="+mn-ea"/>
              </a:rPr>
              <a:t>If allowed, it's best to grant possession as a licensee, </a:t>
            </a:r>
            <a:r>
              <a:rPr lang="en-US" altLang="en-US" sz="3600" dirty="0" smtClean="0">
                <a:sym typeface="+mn-ea"/>
              </a:rPr>
              <a:t>so it would be easy to eject the purchaser upon default</a:t>
            </a:r>
            <a:endParaRPr lang="en-US" altLang="en-US" sz="3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Title 1"/>
          <p:cNvSpPr>
            <a:spLocks noGrp="1"/>
          </p:cNvSpPr>
          <p:nvPr>
            <p:ph type="title"/>
          </p:nvPr>
        </p:nvSpPr>
        <p:spPr/>
        <p:txBody>
          <a:bodyPr/>
          <a:lstStyle/>
          <a:p>
            <a:r>
              <a:rPr lang="en-US" altLang="en-US">
                <a:sym typeface="+mn-ea"/>
              </a:rPr>
              <a:t>Payment for Fittings and Fixtures</a:t>
            </a:r>
            <a:endParaRPr lang="en-US"/>
          </a:p>
        </p:txBody>
      </p:sp>
      <p:sp>
        <p:nvSpPr>
          <p:cNvPr id="1048683" name="Content Placeholder 2"/>
          <p:cNvSpPr>
            <a:spLocks noGrp="1"/>
          </p:cNvSpPr>
          <p:nvPr>
            <p:ph idx="1"/>
          </p:nvPr>
        </p:nvSpPr>
        <p:spPr/>
        <p:txBody>
          <a:bodyPr>
            <a:normAutofit fontScale="97222"/>
          </a:bodyPr>
          <a:lstStyle/>
          <a:p>
            <a:pPr algn="just"/>
            <a:r>
              <a:rPr lang="en-US" altLang="en-US" sz="3600">
                <a:sym typeface="+mn-ea"/>
              </a:rPr>
              <a:t>Their value should be stated separately from the property price.</a:t>
            </a:r>
            <a:endParaRPr lang="en-US" altLang="en-US" sz="3600"/>
          </a:p>
          <a:p>
            <a:pPr algn="just"/>
            <a:r>
              <a:rPr lang="en-US" altLang="en-US" sz="3600">
                <a:sym typeface="+mn-ea"/>
              </a:rPr>
              <a:t>A separate receipt or contract helps the purchaser pay lower stamp duty under Section 28 of the Stamp Duty Act.</a:t>
            </a:r>
            <a:endParaRPr lang="en-US" altLang="en-US" sz="3600"/>
          </a:p>
          <a:p>
            <a:pPr algn="just"/>
            <a:r>
              <a:rPr lang="en-US" altLang="en-US" sz="3600">
                <a:sym typeface="+mn-ea"/>
              </a:rPr>
              <a:t>Failing to separate them before completion results in higher duty charges.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4" name="Title 1"/>
          <p:cNvSpPr>
            <a:spLocks noGrp="1"/>
          </p:cNvSpPr>
          <p:nvPr>
            <p:ph type="title"/>
          </p:nvPr>
        </p:nvSpPr>
        <p:spPr>
          <a:xfrm>
            <a:off x="457200" y="274955"/>
            <a:ext cx="8229600" cy="859155"/>
          </a:xfrm>
        </p:spPr>
        <p:txBody>
          <a:bodyPr/>
          <a:lstStyle/>
          <a:p>
            <a:r>
              <a:rPr lang="en-US" altLang="en-US" b="1">
                <a:sym typeface="+mn-ea"/>
              </a:rPr>
              <a:t>Risks and Liability</a:t>
            </a:r>
            <a:endParaRPr lang="en-US"/>
          </a:p>
        </p:txBody>
      </p:sp>
      <p:sp>
        <p:nvSpPr>
          <p:cNvPr id="1048685" name="Content Placeholder 2"/>
          <p:cNvSpPr>
            <a:spLocks noGrp="1"/>
          </p:cNvSpPr>
          <p:nvPr>
            <p:ph idx="1"/>
          </p:nvPr>
        </p:nvSpPr>
        <p:spPr>
          <a:xfrm>
            <a:off x="457200" y="1133475"/>
            <a:ext cx="8229600" cy="4993005"/>
          </a:xfrm>
        </p:spPr>
        <p:txBody>
          <a:bodyPr>
            <a:noAutofit/>
          </a:bodyPr>
          <a:lstStyle/>
          <a:p>
            <a:pPr algn="just"/>
            <a:r>
              <a:rPr lang="en-US" altLang="en-US">
                <a:sym typeface="+mn-ea"/>
              </a:rPr>
              <a:t>After exchange of contracts, the purchaser becomes the equitable owner and bears the risk of loss or damage, even if legal title hasn't passed.</a:t>
            </a:r>
            <a:endParaRPr lang="en-US" altLang="en-US"/>
          </a:p>
          <a:p>
            <a:pPr algn="just"/>
            <a:r>
              <a:rPr lang="en-US" altLang="en-US">
                <a:sym typeface="+mn-ea"/>
              </a:rPr>
              <a:t>Advisable for the purchaser to take out insurance, regardless of whether the vendor has one.</a:t>
            </a:r>
            <a:endParaRPr lang="en-US" altLang="en-US"/>
          </a:p>
          <a:p>
            <a:pPr algn="just"/>
            <a:r>
              <a:rPr lang="en-US" altLang="en-US">
                <a:sym typeface="+mn-ea"/>
              </a:rPr>
              <a:t>Sections 67(1) and 72 of the PCL provide statutory protection if not otherwise covered in the contract.</a:t>
            </a:r>
            <a:endParaRPr lang="en-US" altLang="en-US"/>
          </a:p>
          <a:p>
            <a:pPr algn="just"/>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Title 1"/>
          <p:cNvSpPr>
            <a:spLocks noGrp="1"/>
          </p:cNvSpPr>
          <p:nvPr>
            <p:ph type="title"/>
          </p:nvPr>
        </p:nvSpPr>
        <p:spPr/>
        <p:txBody>
          <a:bodyPr>
            <a:normAutofit fontScale="90000"/>
          </a:bodyPr>
          <a:lstStyle/>
          <a:p>
            <a:r>
              <a:rPr lang="en-US" altLang="en-US" b="1">
                <a:sym typeface="+mn-ea"/>
              </a:rPr>
              <a:t>Vendor’s Capacity and Implied Covenants:</a:t>
            </a:r>
            <a:endParaRPr lang="en-US"/>
          </a:p>
        </p:txBody>
      </p:sp>
      <p:sp>
        <p:nvSpPr>
          <p:cNvPr id="1048689" name="Content Placeholder 2"/>
          <p:cNvSpPr>
            <a:spLocks noGrp="1"/>
          </p:cNvSpPr>
          <p:nvPr>
            <p:ph idx="1"/>
          </p:nvPr>
        </p:nvSpPr>
        <p:spPr/>
        <p:txBody>
          <a:bodyPr>
            <a:noAutofit/>
          </a:bodyPr>
          <a:lstStyle/>
          <a:p>
            <a:pPr algn="just"/>
            <a:r>
              <a:rPr lang="en-US" altLang="en-US" sz="4000" dirty="0">
                <a:sym typeface="+mn-ea"/>
              </a:rPr>
              <a:t>The contract should state the vendor’s capacity (e.g., Beneficial Owner, Trustee, Mortgagee).</a:t>
            </a:r>
            <a:endParaRPr lang="en-US" altLang="en-US" sz="4000" dirty="0"/>
          </a:p>
          <a:p>
            <a:pPr algn="just"/>
            <a:r>
              <a:rPr lang="en-US" altLang="en-US" sz="4000" dirty="0">
                <a:sym typeface="+mn-ea"/>
              </a:rPr>
              <a:t>The vendor’s capacity determines the implied covenants, which may include</a:t>
            </a:r>
            <a:r>
              <a:rPr lang="en-US" altLang="en-US" sz="4000" dirty="0" smtClean="0">
                <a:sym typeface="+mn-ea"/>
              </a:rPr>
              <a:t>:</a:t>
            </a:r>
            <a:endParaRPr lang="en-US" alt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2" name="Title 1"/>
          <p:cNvSpPr>
            <a:spLocks noGrp="1"/>
          </p:cNvSpPr>
          <p:nvPr>
            <p:ph type="title"/>
          </p:nvPr>
        </p:nvSpPr>
        <p:spPr>
          <a:xfrm>
            <a:off x="-6" y="274955"/>
            <a:ext cx="9259677" cy="609600"/>
          </a:xfrm>
        </p:spPr>
        <p:txBody>
          <a:bodyPr>
            <a:noAutofit/>
          </a:bodyPr>
          <a:lstStyle/>
          <a:p>
            <a:r>
              <a:rPr lang="en-US" sz="3200" dirty="0" smtClean="0"/>
              <a:t>LEGAL IMPLICATIONS OF VENDOR CONVEYING AS A BENEFICIAL OWNER</a:t>
            </a:r>
            <a:endParaRPr lang="en-US" sz="3200" dirty="0"/>
          </a:p>
        </p:txBody>
      </p:sp>
      <p:sp>
        <p:nvSpPr>
          <p:cNvPr id="1048693" name="Content Placeholder 2"/>
          <p:cNvSpPr>
            <a:spLocks noGrp="1"/>
          </p:cNvSpPr>
          <p:nvPr>
            <p:ph idx="1"/>
          </p:nvPr>
        </p:nvSpPr>
        <p:spPr>
          <a:xfrm>
            <a:off x="457200" y="884555"/>
            <a:ext cx="8995272" cy="5241925"/>
          </a:xfrm>
        </p:spPr>
        <p:txBody>
          <a:bodyPr>
            <a:noAutofit/>
          </a:bodyPr>
          <a:lstStyle/>
          <a:p>
            <a:pPr marL="1143000" lvl="1" indent="-742950" algn="just">
              <a:buFont typeface="+mj-lt"/>
              <a:buAutoNum type="arabicParenR"/>
            </a:pPr>
            <a:r>
              <a:rPr lang="en-US" altLang="en-US" sz="3200" dirty="0" smtClean="0">
                <a:sym typeface="+mn-ea"/>
              </a:rPr>
              <a:t>Right to convey</a:t>
            </a:r>
          </a:p>
          <a:p>
            <a:pPr marL="1143000" lvl="1" indent="-742950" algn="just">
              <a:buFont typeface="+mj-lt"/>
              <a:buAutoNum type="arabicParenR"/>
            </a:pPr>
            <a:r>
              <a:rPr lang="en-US" altLang="en-US" sz="3200" dirty="0" smtClean="0">
                <a:sym typeface="+mn-ea"/>
              </a:rPr>
              <a:t>Quiet enjoyment</a:t>
            </a:r>
          </a:p>
          <a:p>
            <a:pPr marL="1143000" lvl="1" indent="-742950" algn="just">
              <a:buFont typeface="+mj-lt"/>
              <a:buAutoNum type="arabicParenR"/>
            </a:pPr>
            <a:r>
              <a:rPr lang="en-US" altLang="en-US" sz="3200" dirty="0">
                <a:sym typeface="+mn-ea"/>
              </a:rPr>
              <a:t>F</a:t>
            </a:r>
            <a:r>
              <a:rPr lang="en-US" altLang="en-US" sz="3200" dirty="0" smtClean="0">
                <a:sym typeface="+mn-ea"/>
              </a:rPr>
              <a:t>reedom </a:t>
            </a:r>
            <a:r>
              <a:rPr lang="en-US" altLang="en-US" sz="3200" dirty="0">
                <a:sym typeface="+mn-ea"/>
              </a:rPr>
              <a:t>from </a:t>
            </a:r>
            <a:r>
              <a:rPr lang="en-US" altLang="en-US" sz="3200" dirty="0" smtClean="0">
                <a:sym typeface="+mn-ea"/>
              </a:rPr>
              <a:t>Encumbrances;</a:t>
            </a:r>
            <a:endParaRPr lang="en-US" altLang="en-US" sz="3200" dirty="0">
              <a:sym typeface="+mn-ea"/>
            </a:endParaRPr>
          </a:p>
          <a:p>
            <a:pPr marL="1143000" lvl="1" indent="-742950" algn="just">
              <a:buFont typeface="+mj-lt"/>
              <a:buAutoNum type="arabicParenR"/>
            </a:pPr>
            <a:r>
              <a:rPr lang="en-US" altLang="en-US" sz="3200" dirty="0" smtClean="0">
                <a:sym typeface="+mn-ea"/>
              </a:rPr>
              <a:t>Further </a:t>
            </a:r>
            <a:r>
              <a:rPr lang="en-US" altLang="en-US" sz="3200" dirty="0">
                <a:sym typeface="+mn-ea"/>
              </a:rPr>
              <a:t>Assurances; </a:t>
            </a:r>
            <a:endParaRPr lang="en-US" altLang="en-US" sz="3200" dirty="0" smtClean="0">
              <a:sym typeface="+mn-ea"/>
            </a:endParaRPr>
          </a:p>
          <a:p>
            <a:pPr marL="857250" lvl="1" indent="-457200" algn="just">
              <a:buFont typeface="Wingdings" panose="05000000000000000000" pitchFamily="2" charset="2"/>
              <a:buChar char="Ø"/>
            </a:pPr>
            <a:r>
              <a:rPr lang="en-US" altLang="en-US" sz="3200" dirty="0">
                <a:sym typeface="+mn-ea"/>
              </a:rPr>
              <a:t>In conveyed as a lessee, additional implied covenants include</a:t>
            </a:r>
            <a:r>
              <a:rPr lang="en-US" altLang="en-US" sz="3200" dirty="0" smtClean="0">
                <a:sym typeface="+mn-ea"/>
              </a:rPr>
              <a:t>:</a:t>
            </a:r>
            <a:endParaRPr lang="en-US" altLang="en-US" sz="3200" dirty="0">
              <a:sym typeface="+mn-ea"/>
            </a:endParaRPr>
          </a:p>
          <a:p>
            <a:pPr marL="400050" lvl="1" indent="0" algn="just">
              <a:buNone/>
            </a:pPr>
            <a:r>
              <a:rPr lang="en-US" altLang="en-US" dirty="0" smtClean="0">
                <a:sym typeface="+mn-ea"/>
              </a:rPr>
              <a:t>5) The </a:t>
            </a:r>
            <a:r>
              <a:rPr lang="en-US" altLang="en-US" dirty="0">
                <a:sym typeface="+mn-ea"/>
              </a:rPr>
              <a:t>lease is valid and </a:t>
            </a:r>
            <a:r>
              <a:rPr lang="en-US" altLang="en-US" dirty="0" smtClean="0">
                <a:sym typeface="+mn-ea"/>
              </a:rPr>
              <a:t>subsisting.</a:t>
            </a:r>
            <a:endParaRPr lang="en-US" altLang="en-US" dirty="0">
              <a:sym typeface="+mn-ea"/>
            </a:endParaRPr>
          </a:p>
          <a:p>
            <a:pPr marL="400050" lvl="1" indent="0" algn="just">
              <a:buNone/>
            </a:pPr>
            <a:r>
              <a:rPr lang="en-US" altLang="en-US" dirty="0" smtClean="0">
                <a:sym typeface="+mn-ea"/>
              </a:rPr>
              <a:t>6) </a:t>
            </a:r>
            <a:r>
              <a:rPr lang="en-US" altLang="en-US" dirty="0" smtClean="0">
                <a:sym typeface="+mn-ea"/>
              </a:rPr>
              <a:t>All </a:t>
            </a:r>
            <a:r>
              <a:rPr lang="en-US" altLang="en-US" dirty="0">
                <a:sym typeface="+mn-ea"/>
              </a:rPr>
              <a:t>rents and </a:t>
            </a:r>
            <a:r>
              <a:rPr lang="en-US" altLang="en-US" dirty="0" smtClean="0">
                <a:sym typeface="+mn-ea"/>
              </a:rPr>
              <a:t>obligations </a:t>
            </a:r>
            <a:r>
              <a:rPr lang="en-US" altLang="en-US" dirty="0">
                <a:sym typeface="+mn-ea"/>
              </a:rPr>
              <a:t>have been observed before conveyance.</a:t>
            </a:r>
            <a:endParaRPr lang="en-US" altLang="en-US" dirty="0"/>
          </a:p>
          <a:p>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4" name="Title 1"/>
          <p:cNvSpPr>
            <a:spLocks noGrp="1"/>
          </p:cNvSpPr>
          <p:nvPr>
            <p:ph type="title"/>
          </p:nvPr>
        </p:nvSpPr>
        <p:spPr/>
        <p:txBody>
          <a:bodyPr/>
          <a:lstStyle/>
          <a:p>
            <a:r>
              <a:rPr b="1"/>
              <a:t>Stages in Conveyancing</a:t>
            </a:r>
          </a:p>
        </p:txBody>
      </p:sp>
      <p:sp>
        <p:nvSpPr>
          <p:cNvPr id="1048695" name="Content Placeholder 2"/>
          <p:cNvSpPr>
            <a:spLocks noGrp="1"/>
          </p:cNvSpPr>
          <p:nvPr>
            <p:ph idx="1"/>
          </p:nvPr>
        </p:nvSpPr>
        <p:spPr/>
        <p:txBody>
          <a:bodyPr/>
          <a:lstStyle/>
          <a:p>
            <a:r>
              <a:t>1. Pre-contract</a:t>
            </a:r>
          </a:p>
          <a:p>
            <a:r>
              <a:t>2. Contract</a:t>
            </a:r>
          </a:p>
          <a:p>
            <a:r>
              <a:t>3. Post-contract</a:t>
            </a:r>
          </a:p>
          <a:p>
            <a:r>
              <a:t>4. Completion</a:t>
            </a:r>
          </a:p>
          <a:p>
            <a:r>
              <a:t>5. Perfection</a:t>
            </a:r>
            <a:r>
              <a:rPr lang="en-US"/>
              <a:t> (post completion) </a:t>
            </a: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6" name="Title 1"/>
          <p:cNvSpPr>
            <a:spLocks noGrp="1"/>
          </p:cNvSpPr>
          <p:nvPr>
            <p:ph type="title"/>
          </p:nvPr>
        </p:nvSpPr>
        <p:spPr/>
        <p:txBody>
          <a:bodyPr/>
          <a:lstStyle/>
          <a:p>
            <a:r>
              <a:t>Pre-Contract Stage</a:t>
            </a:r>
          </a:p>
        </p:txBody>
      </p:sp>
      <p:sp>
        <p:nvSpPr>
          <p:cNvPr id="1048697" name="Content Placeholder 2"/>
          <p:cNvSpPr>
            <a:spLocks noGrp="1"/>
          </p:cNvSpPr>
          <p:nvPr>
            <p:ph idx="1"/>
          </p:nvPr>
        </p:nvSpPr>
        <p:spPr/>
        <p:txBody>
          <a:bodyPr>
            <a:normAutofit/>
          </a:bodyPr>
          <a:lstStyle/>
          <a:p>
            <a:pPr algn="just"/>
            <a:r>
              <a:rPr lang="en-US" altLang="en-US" sz="4400" dirty="0">
                <a:sym typeface="+mn-ea"/>
              </a:rPr>
              <a:t>This is the initial stage of the sale of land </a:t>
            </a:r>
            <a:r>
              <a:rPr lang="en-US" altLang="en-US" sz="4400" dirty="0" smtClean="0">
                <a:sym typeface="+mn-ea"/>
              </a:rPr>
              <a:t>transaction. Major features include:</a:t>
            </a:r>
          </a:p>
          <a:p>
            <a:pPr marL="1543050" lvl="2" indent="-742950" algn="just">
              <a:buFont typeface="+mj-lt"/>
              <a:buAutoNum type="arabicParenR"/>
            </a:pPr>
            <a:r>
              <a:rPr lang="en-US" altLang="en-US" sz="3600" dirty="0" smtClean="0">
                <a:sym typeface="+mn-ea"/>
              </a:rPr>
              <a:t>Pre-contract enquiries, and</a:t>
            </a:r>
          </a:p>
          <a:p>
            <a:pPr marL="1543050" lvl="2" indent="-742950" algn="just">
              <a:buFont typeface="+mj-lt"/>
              <a:buAutoNum type="arabicParenR"/>
            </a:pPr>
            <a:r>
              <a:rPr lang="en-US" altLang="en-US" sz="3600" dirty="0" smtClean="0">
                <a:sym typeface="+mn-ea"/>
              </a:rPr>
              <a:t>Negotiation</a:t>
            </a:r>
            <a:endParaRPr lang="en-US" altLang="en-US" sz="3600" dirty="0">
              <a:sym typeface="+mn-ea"/>
            </a:endParaRPr>
          </a:p>
          <a:p>
            <a:pPr algn="just"/>
            <a:endParaRPr lang="en-US" altLang="en-US" sz="4400" dirty="0">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CONTRACT STAGE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Major features:</a:t>
            </a:r>
          </a:p>
          <a:p>
            <a:pPr marL="1143000" lvl="1" indent="-742950" algn="just">
              <a:buFont typeface="+mj-lt"/>
              <a:buAutoNum type="arabicParenR"/>
            </a:pPr>
            <a:r>
              <a:rPr lang="en-US" altLang="en-US" sz="4000" dirty="0" smtClean="0">
                <a:sym typeface="+mn-ea"/>
              </a:rPr>
              <a:t>Deposit </a:t>
            </a:r>
            <a:r>
              <a:rPr lang="en-US" altLang="en-US" sz="4000" dirty="0">
                <a:sym typeface="+mn-ea"/>
              </a:rPr>
              <a:t>is </a:t>
            </a:r>
            <a:r>
              <a:rPr lang="en-US" altLang="en-US" sz="4000" dirty="0" smtClean="0">
                <a:sym typeface="+mn-ea"/>
              </a:rPr>
              <a:t>paid</a:t>
            </a:r>
          </a:p>
          <a:p>
            <a:pPr marL="1143000" lvl="1" indent="-742950" algn="just">
              <a:buFont typeface="+mj-lt"/>
              <a:buAutoNum type="arabicParenR"/>
            </a:pPr>
            <a:r>
              <a:rPr lang="en-US" altLang="en-US" sz="4000" dirty="0" smtClean="0">
                <a:sym typeface="+mn-ea"/>
              </a:rPr>
              <a:t>Formal contract of sale of land is prepared, executed, and exchanged</a:t>
            </a:r>
          </a:p>
          <a:p>
            <a:pPr marL="1143000" lvl="1" indent="-742950" algn="just">
              <a:buFont typeface="+mj-lt"/>
              <a:buAutoNum type="arabicParenR"/>
            </a:pPr>
            <a:r>
              <a:rPr lang="en-US" altLang="en-US" sz="4000" dirty="0" smtClean="0">
                <a:sym typeface="+mn-ea"/>
              </a:rPr>
              <a:t>Binding </a:t>
            </a:r>
            <a:r>
              <a:rPr lang="en-US" altLang="en-US" sz="4000" dirty="0">
                <a:sym typeface="+mn-ea"/>
              </a:rPr>
              <a:t>agreement (transaction becomes binding) </a:t>
            </a:r>
            <a:endParaRPr lang="en-US" altLang="en-US" sz="4000" dirty="0" smtClean="0">
              <a:sym typeface="+mn-ea"/>
            </a:endParaRPr>
          </a:p>
          <a:p>
            <a:pPr marL="1143000" lvl="1" indent="-742950" algn="just">
              <a:buFont typeface="+mj-lt"/>
              <a:buAutoNum type="arabicParenR"/>
            </a:pPr>
            <a:r>
              <a:rPr lang="en-US" altLang="en-US" sz="4000" dirty="0">
                <a:sym typeface="+mn-ea"/>
              </a:rPr>
              <a:t>Equitable interest passes to the purchaser</a:t>
            </a:r>
          </a:p>
          <a:p>
            <a:pPr marL="1143000" lvl="1" indent="-742950" algn="just">
              <a:buFont typeface="+mj-lt"/>
              <a:buAutoNum type="arabicParenR"/>
            </a:pPr>
            <a:r>
              <a:rPr lang="en-US" altLang="en-US" sz="4000" dirty="0" smtClean="0">
                <a:sym typeface="+mn-ea"/>
              </a:rPr>
              <a:t>Risk passes to the purchaser</a:t>
            </a:r>
            <a:endParaRPr lang="en-US" altLang="en-US" sz="4000" dirty="0">
              <a:sym typeface="+mn-ea"/>
            </a:endParaRPr>
          </a:p>
          <a:p>
            <a:pPr marL="914400" lvl="1" indent="-514350">
              <a:buFont typeface="+mj-lt"/>
              <a:buAutoNum type="arabicParenR"/>
            </a:pPr>
            <a:endParaRPr lang="en-US" dirty="0"/>
          </a:p>
        </p:txBody>
      </p:sp>
    </p:spTree>
    <p:extLst>
      <p:ext uri="{BB962C8B-B14F-4D97-AF65-F5344CB8AC3E}">
        <p14:creationId xmlns:p14="http://schemas.microsoft.com/office/powerpoint/2010/main" val="1514145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0" name="Title 1"/>
          <p:cNvSpPr>
            <a:spLocks noGrp="1"/>
          </p:cNvSpPr>
          <p:nvPr>
            <p:ph type="title"/>
          </p:nvPr>
        </p:nvSpPr>
        <p:spPr/>
        <p:txBody>
          <a:bodyPr/>
          <a:lstStyle/>
          <a:p>
            <a:r>
              <a:t>Role of</a:t>
            </a:r>
            <a:r>
              <a:rPr lang="en-US"/>
              <a:t> </a:t>
            </a:r>
            <a:r>
              <a:t>Solicitor</a:t>
            </a:r>
            <a:r>
              <a:rPr lang="en-US"/>
              <a:t>s</a:t>
            </a:r>
            <a:endParaRPr lang="zh-CN" altLang="en-US"/>
          </a:p>
        </p:txBody>
      </p:sp>
      <p:sp>
        <p:nvSpPr>
          <p:cNvPr id="1048701" name="Content Placeholder 2"/>
          <p:cNvSpPr>
            <a:spLocks noGrp="1"/>
          </p:cNvSpPr>
          <p:nvPr>
            <p:ph idx="1"/>
          </p:nvPr>
        </p:nvSpPr>
        <p:spPr/>
        <p:txBody>
          <a:bodyPr/>
          <a:lstStyle/>
          <a:p>
            <a:r>
              <a:rPr lang="en-US"/>
              <a:t>Purchaser's solicitor ve</a:t>
            </a:r>
            <a:r>
              <a:t>rif</a:t>
            </a:r>
            <a:r>
              <a:rPr lang="en-US"/>
              <a:t>ies</a:t>
            </a:r>
            <a:r>
              <a:t> documents</a:t>
            </a:r>
            <a:r>
              <a:rPr lang="en-US"/>
              <a:t>, i</a:t>
            </a:r>
            <a:r>
              <a:t>nvestigate</a:t>
            </a:r>
            <a:r>
              <a:rPr lang="en-US"/>
              <a:t>s</a:t>
            </a:r>
            <a:r>
              <a:t> title</a:t>
            </a:r>
            <a:r>
              <a:rPr lang="en-US"/>
              <a:t>, e</a:t>
            </a:r>
            <a:r>
              <a:t>nsure</a:t>
            </a:r>
            <a:r>
              <a:rPr lang="en-US"/>
              <a:t>s </a:t>
            </a:r>
            <a:r>
              <a:t>legal compliance</a:t>
            </a:r>
            <a:r>
              <a:rPr lang="en-US"/>
              <a:t>, Prepares the Deed of Assignment, </a:t>
            </a:r>
            <a:r>
              <a:rPr lang="en-US" altLang="en-US"/>
              <a:t>etc</a:t>
            </a:r>
            <a:endParaRPr lang="zh-CN" altLang="en-US"/>
          </a:p>
          <a:p>
            <a:r>
              <a:rPr lang="en-US" altLang="en-US"/>
              <a:t> Vendor's solicitor deduces title, prepares abstract and epitome, preparers the Formal Contract, etc</a:t>
            </a: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4" name="Title 1"/>
          <p:cNvSpPr>
            <a:spLocks noGrp="1"/>
          </p:cNvSpPr>
          <p:nvPr>
            <p:ph type="title"/>
          </p:nvPr>
        </p:nvSpPr>
        <p:spPr/>
        <p:txBody>
          <a:bodyPr>
            <a:normAutofit fontScale="90000"/>
          </a:bodyPr>
          <a:lstStyle/>
          <a:p>
            <a:r>
              <a:t>Importance of </a:t>
            </a:r>
            <a:r>
              <a:rPr lang="en-US"/>
              <a:t>Pre contract </a:t>
            </a:r>
            <a:r>
              <a:t>Enquiries</a:t>
            </a:r>
            <a:endParaRPr lang="zh-CN" altLang="en-US"/>
          </a:p>
        </p:txBody>
      </p:sp>
      <p:sp>
        <p:nvSpPr>
          <p:cNvPr id="1048705" name="Content Placeholder 2"/>
          <p:cNvSpPr>
            <a:spLocks noGrp="1"/>
          </p:cNvSpPr>
          <p:nvPr>
            <p:ph idx="1"/>
          </p:nvPr>
        </p:nvSpPr>
        <p:spPr/>
        <p:txBody>
          <a:bodyPr>
            <a:normAutofit fontScale="92500" lnSpcReduction="10000"/>
          </a:bodyPr>
          <a:lstStyle/>
          <a:p>
            <a:r>
              <a:rPr lang="en-US" sz="4000" dirty="0"/>
              <a:t> Caveat emptor</a:t>
            </a:r>
          </a:p>
          <a:p>
            <a:r>
              <a:rPr lang="en-US" sz="4000" dirty="0"/>
              <a:t>Patent </a:t>
            </a:r>
            <a:r>
              <a:rPr lang="en-US" sz="4000" dirty="0" smtClean="0"/>
              <a:t>defects </a:t>
            </a:r>
            <a:r>
              <a:rPr lang="en-US" sz="4000" dirty="0"/>
              <a:t>uncovered </a:t>
            </a:r>
          </a:p>
          <a:p>
            <a:r>
              <a:rPr lang="en-US" altLang="en-US" sz="4000" dirty="0">
                <a:sym typeface="+mn-ea"/>
              </a:rPr>
              <a:t>Financial Assessment</a:t>
            </a:r>
          </a:p>
          <a:p>
            <a:r>
              <a:rPr lang="en-US" altLang="en-US" sz="4000" dirty="0">
                <a:sym typeface="+mn-ea"/>
              </a:rPr>
              <a:t>Suitability Check</a:t>
            </a:r>
          </a:p>
          <a:p>
            <a:r>
              <a:rPr lang="en-US" altLang="en-US" sz="4000" dirty="0">
                <a:sym typeface="+mn-ea"/>
              </a:rPr>
              <a:t>Money Laundering Check etc.</a:t>
            </a:r>
          </a:p>
          <a:p>
            <a:r>
              <a:rPr lang="en-US" altLang="en-US" sz="4000" dirty="0">
                <a:sym typeface="+mn-ea"/>
              </a:rPr>
              <a:t>Suitability of the property</a:t>
            </a:r>
          </a:p>
          <a:p>
            <a:r>
              <a:rPr lang="en-US" altLang="en-US" sz="4000" dirty="0" smtClean="0">
                <a:sym typeface="+mn-ea"/>
              </a:rPr>
              <a:t>Location, </a:t>
            </a:r>
            <a:r>
              <a:rPr lang="en-US" altLang="en-US" sz="4000" dirty="0" err="1">
                <a:sym typeface="+mn-ea"/>
              </a:rPr>
              <a:t>etc</a:t>
            </a:r>
            <a:endParaRPr lang="en-US" altLang="en-US" sz="4000" dirty="0">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8" name="Title 1"/>
          <p:cNvSpPr>
            <a:spLocks noGrp="1"/>
          </p:cNvSpPr>
          <p:nvPr>
            <p:ph type="title"/>
          </p:nvPr>
        </p:nvSpPr>
        <p:spPr/>
        <p:txBody>
          <a:bodyPr/>
          <a:lstStyle/>
          <a:p>
            <a:r>
              <a:t>Exchange of Contracts</a:t>
            </a:r>
          </a:p>
        </p:txBody>
      </p:sp>
      <p:sp>
        <p:nvSpPr>
          <p:cNvPr id="1048709" name="Content Placeholder 2"/>
          <p:cNvSpPr>
            <a:spLocks noGrp="1"/>
          </p:cNvSpPr>
          <p:nvPr>
            <p:ph idx="1"/>
          </p:nvPr>
        </p:nvSpPr>
        <p:spPr/>
        <p:txBody>
          <a:bodyPr>
            <a:noAutofit/>
          </a:bodyPr>
          <a:lstStyle/>
          <a:p>
            <a:pPr algn="just"/>
            <a:r>
              <a:rPr lang="en-US" altLang="en-US" sz="3200">
                <a:sym typeface="+mn-ea"/>
              </a:rPr>
              <a:t>A contract of sale of land becomes legally binding only upon exchange of contracts between the parties. </a:t>
            </a:r>
            <a:r>
              <a:rPr lang="en-US" altLang="en-US" sz="3200" b="1">
                <a:sym typeface="+mn-ea"/>
              </a:rPr>
              <a:t>Awojubagbe Light Industries Ltd. v his Chinukwe (1995) NWLR (PT-390) P379.</a:t>
            </a:r>
          </a:p>
          <a:p>
            <a:pPr algn="just"/>
            <a:r>
              <a:rPr lang="en-US" altLang="en-US" sz="3200">
                <a:sym typeface="+mn-ea"/>
              </a:rPr>
              <a:t>Exchange can be physical (hand-to-hand) or constructive (via phone, email, or post)</a:t>
            </a:r>
          </a:p>
          <a:p>
            <a:pPr algn="just"/>
            <a:r>
              <a:rPr lang="en-US" altLang="en-US" sz="3200">
                <a:sym typeface="+mn-ea"/>
              </a:rPr>
              <a:t>Exchange is necessary only </a:t>
            </a:r>
            <a:r>
              <a:rPr lang="en-US" altLang="en-US" sz="3600">
                <a:sym typeface="+mn-ea"/>
              </a:rPr>
              <a:t>where parties act by different solicitors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2" name="Title 1"/>
          <p:cNvSpPr>
            <a:spLocks noGrp="1"/>
          </p:cNvSpPr>
          <p:nvPr>
            <p:ph type="title"/>
          </p:nvPr>
        </p:nvSpPr>
        <p:spPr/>
        <p:txBody>
          <a:bodyPr/>
          <a:lstStyle/>
          <a:p>
            <a:r>
              <a:rPr lang="en-US" altLang="en-US">
                <a:sym typeface="+mn-ea"/>
              </a:rPr>
              <a:t>Can parties use the same solicitor?</a:t>
            </a:r>
          </a:p>
        </p:txBody>
      </p:sp>
      <p:sp>
        <p:nvSpPr>
          <p:cNvPr id="1048713" name="Content Placeholder 2"/>
          <p:cNvSpPr>
            <a:spLocks noGrp="1"/>
          </p:cNvSpPr>
          <p:nvPr>
            <p:ph idx="1"/>
          </p:nvPr>
        </p:nvSpPr>
        <p:spPr/>
        <p:txBody>
          <a:bodyPr>
            <a:noAutofit/>
          </a:bodyPr>
          <a:lstStyle/>
          <a:p>
            <a:pPr marL="0" indent="0" algn="just">
              <a:lnSpc>
                <a:spcPct val="150000"/>
              </a:lnSpc>
              <a:buNone/>
            </a:pPr>
            <a:r>
              <a:rPr lang="en-US" altLang="en-US" sz="4000">
                <a:sym typeface="+mn-ea"/>
              </a:rPr>
              <a:t>The general rule is that each party shall retain independent solicitor and not use same solicitor to avoid conflict of interest.  See Rule 17 of the Rules of Professional Conduct, 2023</a:t>
            </a:r>
            <a:r>
              <a:rPr lang="en-US" sz="4000"/>
              <a:t>see  </a:t>
            </a:r>
          </a:p>
          <a:p>
            <a:pPr algn="just">
              <a:lnSpc>
                <a:spcPct val="150000"/>
              </a:lnSpc>
            </a:pPr>
            <a:endParaRPr lang="en-US" sz="40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6" name="Title 1"/>
          <p:cNvSpPr>
            <a:spLocks noGrp="1"/>
          </p:cNvSpPr>
          <p:nvPr>
            <p:ph type="title"/>
          </p:nvPr>
        </p:nvSpPr>
        <p:spPr>
          <a:xfrm>
            <a:off x="457200" y="274955"/>
            <a:ext cx="8229600" cy="738505"/>
          </a:xfrm>
        </p:spPr>
        <p:txBody>
          <a:bodyPr>
            <a:normAutofit fontScale="90000"/>
          </a:bodyPr>
          <a:lstStyle/>
          <a:p>
            <a:r>
              <a:rPr lang="en-US"/>
              <a:t>Exceptions (When parties may retain the same solicitor) </a:t>
            </a:r>
          </a:p>
        </p:txBody>
      </p:sp>
      <p:sp>
        <p:nvSpPr>
          <p:cNvPr id="1048717" name="Content Placeholder 2"/>
          <p:cNvSpPr>
            <a:spLocks noGrp="1"/>
          </p:cNvSpPr>
          <p:nvPr>
            <p:ph idx="1"/>
          </p:nvPr>
        </p:nvSpPr>
        <p:spPr>
          <a:xfrm>
            <a:off x="457200" y="1012825"/>
            <a:ext cx="8229600" cy="5113655"/>
          </a:xfrm>
        </p:spPr>
        <p:txBody>
          <a:bodyPr>
            <a:noAutofit/>
          </a:bodyPr>
          <a:lstStyle/>
          <a:p>
            <a:pPr marL="0" indent="0">
              <a:buNone/>
            </a:pPr>
            <a:r>
              <a:rPr lang="en-US" altLang="en-US" sz="4000" dirty="0">
                <a:sym typeface="+mn-ea"/>
              </a:rPr>
              <a:t>1). Where both parties consent</a:t>
            </a:r>
            <a:endParaRPr lang="en-US" altLang="en-US" sz="4000" dirty="0"/>
          </a:p>
          <a:p>
            <a:pPr marL="0" indent="0">
              <a:buNone/>
            </a:pPr>
            <a:r>
              <a:rPr lang="en-US" altLang="en-US" sz="4000" dirty="0">
                <a:sym typeface="+mn-ea"/>
              </a:rPr>
              <a:t>2). </a:t>
            </a:r>
            <a:r>
              <a:rPr lang="en-US" altLang="en-US" sz="4000" dirty="0" smtClean="0">
                <a:sym typeface="+mn-ea"/>
              </a:rPr>
              <a:t>Where </a:t>
            </a:r>
            <a:r>
              <a:rPr lang="en-US" altLang="en-US" sz="4000" dirty="0">
                <a:sym typeface="+mn-ea"/>
              </a:rPr>
              <a:t>consideration for the property is low </a:t>
            </a:r>
            <a:endParaRPr lang="en-US" altLang="en-US" sz="4000" dirty="0"/>
          </a:p>
          <a:p>
            <a:pPr marL="0" indent="0">
              <a:buNone/>
            </a:pPr>
            <a:r>
              <a:rPr lang="en-US" altLang="en-US" sz="4000" dirty="0">
                <a:sym typeface="+mn-ea"/>
              </a:rPr>
              <a:t>3). Where there is no likelihood </a:t>
            </a:r>
            <a:r>
              <a:rPr lang="en-US" altLang="en-US" sz="4000" dirty="0" smtClean="0">
                <a:sym typeface="+mn-ea"/>
              </a:rPr>
              <a:t>of</a:t>
            </a:r>
            <a:r>
              <a:rPr lang="en-US" altLang="en-US" sz="4000" dirty="0" smtClean="0">
                <a:sym typeface="+mn-ea"/>
              </a:rPr>
              <a:t> </a:t>
            </a:r>
            <a:r>
              <a:rPr lang="en-US" altLang="en-US" sz="4000" dirty="0">
                <a:sym typeface="+mn-ea"/>
              </a:rPr>
              <a:t>any conflict of interest. </a:t>
            </a:r>
            <a:endParaRPr lang="en-US" altLang="en-US" sz="4000" dirty="0"/>
          </a:p>
          <a:p>
            <a:pPr marL="0" indent="0">
              <a:buNone/>
            </a:pPr>
            <a:r>
              <a:rPr lang="en-US" altLang="en-US" sz="4000" dirty="0">
                <a:sym typeface="+mn-ea"/>
              </a:rPr>
              <a:t>4). Major terms and conditions are agreed upon</a:t>
            </a:r>
            <a:endParaRPr lang="en-US" altLang="en-US" sz="4000" dirty="0"/>
          </a:p>
          <a:p>
            <a:pPr marL="0" indent="0">
              <a:buNone/>
            </a:pPr>
            <a:r>
              <a:rPr lang="en-US" altLang="en-US" sz="4000" dirty="0">
                <a:sym typeface="+mn-ea"/>
              </a:rPr>
              <a:t>5). Title is sound</a:t>
            </a:r>
            <a:endParaRPr lang="en-US" altLang="en-US" sz="4000" dirty="0"/>
          </a:p>
          <a:p>
            <a:endParaRPr lang="en-US" altLang="en-US" sz="4000" dirty="0"/>
          </a:p>
          <a:p>
            <a:endParaRPr lang="en-US" altLang="en-US" sz="4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0" name="Content Placeholder 2"/>
          <p:cNvSpPr>
            <a:spLocks noGrp="1"/>
          </p:cNvSpPr>
          <p:nvPr>
            <p:ph idx="1"/>
          </p:nvPr>
        </p:nvSpPr>
        <p:spPr>
          <a:xfrm>
            <a:off x="457200" y="506095"/>
            <a:ext cx="8229600" cy="5620385"/>
          </a:xfrm>
        </p:spPr>
        <p:txBody>
          <a:bodyPr>
            <a:noAutofit/>
          </a:bodyPr>
          <a:lstStyle/>
          <a:p>
            <a:pPr marL="0" indent="0" algn="just">
              <a:buNone/>
            </a:pPr>
            <a:r>
              <a:rPr lang="en-US" altLang="en-US" sz="3600">
                <a:sym typeface="+mn-ea"/>
              </a:rPr>
              <a:t>6). Where there is existing relationship between parties. For instance, a company and subsidiary company accommodates within a group of companies a man and his wife. </a:t>
            </a:r>
            <a:endParaRPr lang="en-US" altLang="en-US" sz="3600"/>
          </a:p>
          <a:p>
            <a:pPr algn="just"/>
            <a:endParaRPr lang="en-US" altLang="en-US" sz="36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1" name="Title 1"/>
          <p:cNvSpPr>
            <a:spLocks noGrp="1"/>
          </p:cNvSpPr>
          <p:nvPr>
            <p:ph type="title"/>
          </p:nvPr>
        </p:nvSpPr>
        <p:spPr>
          <a:xfrm>
            <a:off x="457200" y="187289"/>
            <a:ext cx="8229600" cy="855778"/>
          </a:xfrm>
        </p:spPr>
        <p:txBody>
          <a:bodyPr/>
          <a:lstStyle/>
          <a:p>
            <a:r>
              <a:rPr lang="en-US" altLang="en-US" dirty="0"/>
              <a:t>Exchange of Contracts</a:t>
            </a:r>
          </a:p>
        </p:txBody>
      </p:sp>
      <p:sp>
        <p:nvSpPr>
          <p:cNvPr id="1048722" name="Content Placeholder 2"/>
          <p:cNvSpPr>
            <a:spLocks noGrp="1"/>
          </p:cNvSpPr>
          <p:nvPr>
            <p:ph idx="1"/>
          </p:nvPr>
        </p:nvSpPr>
        <p:spPr>
          <a:xfrm>
            <a:off x="457200" y="1123720"/>
            <a:ext cx="8229600" cy="5002443"/>
          </a:xfrm>
        </p:spPr>
        <p:txBody>
          <a:bodyPr>
            <a:noAutofit/>
          </a:bodyPr>
          <a:lstStyle/>
          <a:p>
            <a:pPr algn="just"/>
            <a:r>
              <a:rPr lang="en-US" altLang="en-US" sz="3600" dirty="0"/>
              <a:t>There is no binding agreement between the parties until the contract is exchanged between the parties. see </a:t>
            </a:r>
            <a:r>
              <a:rPr lang="en-US" altLang="en-US" sz="3600" b="1" dirty="0" err="1"/>
              <a:t>Awojubagbe</a:t>
            </a:r>
            <a:r>
              <a:rPr lang="en-US" altLang="en-US" sz="3600" b="1" dirty="0"/>
              <a:t> Light Industries Ltd. v his </a:t>
            </a:r>
            <a:r>
              <a:rPr lang="en-US" altLang="en-US" sz="3600" b="1" dirty="0" err="1"/>
              <a:t>Chinukwe</a:t>
            </a:r>
            <a:r>
              <a:rPr lang="en-US" altLang="en-US" sz="3600" b="1" dirty="0"/>
              <a:t> (1995) NWLR (PT-390) P379.</a:t>
            </a:r>
            <a:r>
              <a:rPr lang="en-US" altLang="en-US" sz="3600" dirty="0"/>
              <a:t> The exchange of contract is vital factor which brings the contract into existence</a:t>
            </a:r>
            <a:r>
              <a:rPr lang="en-US" altLang="en-US" sz="3600" dirty="0" smtClean="0"/>
              <a:t>. It is the process whereby the contract becomes binding</a:t>
            </a:r>
            <a:endParaRPr lang="en-US" altLang="en-US" sz="3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Title 1"/>
          <p:cNvSpPr>
            <a:spLocks noGrp="1"/>
          </p:cNvSpPr>
          <p:nvPr>
            <p:ph type="title"/>
          </p:nvPr>
        </p:nvSpPr>
        <p:spPr>
          <a:xfrm>
            <a:off x="457200" y="274955"/>
            <a:ext cx="8229600" cy="629920"/>
          </a:xfrm>
        </p:spPr>
        <p:txBody>
          <a:bodyPr>
            <a:normAutofit fontScale="90000"/>
          </a:bodyPr>
          <a:lstStyle/>
          <a:p>
            <a:r>
              <a:rPr lang="en-US" dirty="0" smtClean="0"/>
              <a:t>Procedure for </a:t>
            </a:r>
            <a:r>
              <a:rPr dirty="0" smtClean="0"/>
              <a:t>Exchange </a:t>
            </a:r>
            <a:r>
              <a:rPr lang="en-US" dirty="0" smtClean="0"/>
              <a:t>Of Contract</a:t>
            </a:r>
            <a:endParaRPr dirty="0"/>
          </a:p>
        </p:txBody>
      </p:sp>
      <p:sp>
        <p:nvSpPr>
          <p:cNvPr id="1048724" name="Content Placeholder 2"/>
          <p:cNvSpPr>
            <a:spLocks noGrp="1"/>
          </p:cNvSpPr>
          <p:nvPr>
            <p:ph idx="1"/>
          </p:nvPr>
        </p:nvSpPr>
        <p:spPr>
          <a:xfrm>
            <a:off x="457200" y="907415"/>
            <a:ext cx="8229600" cy="5219065"/>
          </a:xfrm>
        </p:spPr>
        <p:txBody>
          <a:bodyPr>
            <a:noAutofit/>
          </a:bodyPr>
          <a:lstStyle/>
          <a:p>
            <a:pPr marL="742950" indent="-742950" algn="just">
              <a:buFont typeface="+mj-lt"/>
              <a:buAutoNum type="arabicParenR"/>
            </a:pPr>
            <a:r>
              <a:rPr lang="en-US" altLang="en-US" sz="3600" dirty="0">
                <a:sym typeface="+mn-ea"/>
              </a:rPr>
              <a:t>Vendor's solicitor drafts </a:t>
            </a:r>
            <a:r>
              <a:rPr lang="en-US" altLang="en-US" sz="3600" dirty="0" smtClean="0">
                <a:sym typeface="+mn-ea"/>
              </a:rPr>
              <a:t>the Contract and </a:t>
            </a:r>
            <a:r>
              <a:rPr lang="en-US" altLang="en-US" sz="3600" dirty="0" err="1" smtClean="0">
                <a:sym typeface="+mn-ea"/>
              </a:rPr>
              <a:t>and</a:t>
            </a:r>
            <a:r>
              <a:rPr lang="en-US" altLang="en-US" sz="3600" dirty="0" smtClean="0">
                <a:sym typeface="+mn-ea"/>
              </a:rPr>
              <a:t> </a:t>
            </a:r>
            <a:r>
              <a:rPr lang="en-US" altLang="en-US" sz="3600" dirty="0">
                <a:sym typeface="+mn-ea"/>
              </a:rPr>
              <a:t>sends contract to purchaser for </a:t>
            </a:r>
            <a:r>
              <a:rPr lang="en-US" altLang="en-US" sz="3600" dirty="0" smtClean="0">
                <a:sym typeface="+mn-ea"/>
              </a:rPr>
              <a:t>review.</a:t>
            </a:r>
            <a:endParaRPr lang="en-US" altLang="en-US" sz="3600" dirty="0">
              <a:sym typeface="+mn-ea"/>
            </a:endParaRPr>
          </a:p>
          <a:p>
            <a:pPr marL="742950" indent="-742950" algn="just">
              <a:buFont typeface="+mj-lt"/>
              <a:buAutoNum type="arabicParenR"/>
            </a:pPr>
            <a:r>
              <a:rPr lang="en-US" altLang="en-US" sz="3600" dirty="0" smtClean="0">
                <a:sym typeface="+mn-ea"/>
              </a:rPr>
              <a:t>Vetting by Purchaser’s Solicitor.</a:t>
            </a:r>
            <a:endParaRPr lang="en-US" altLang="en-US" sz="3600" dirty="0">
              <a:sym typeface="+mn-ea"/>
            </a:endParaRPr>
          </a:p>
          <a:p>
            <a:pPr marL="742950" indent="-742950" algn="just">
              <a:buFont typeface="+mj-lt"/>
              <a:buAutoNum type="arabicParenR"/>
            </a:pPr>
            <a:r>
              <a:rPr lang="en-US" altLang="en-US" sz="3600" dirty="0" smtClean="0">
                <a:sym typeface="+mn-ea"/>
              </a:rPr>
              <a:t>After </a:t>
            </a:r>
            <a:r>
              <a:rPr lang="en-US" altLang="en-US" sz="3600" dirty="0">
                <a:sym typeface="+mn-ea"/>
              </a:rPr>
              <a:t>parties are ad idem on the contents </a:t>
            </a:r>
            <a:r>
              <a:rPr lang="en-US" altLang="en-US" sz="3600" dirty="0" smtClean="0">
                <a:sym typeface="+mn-ea"/>
              </a:rPr>
              <a:t>comes engrossment </a:t>
            </a:r>
            <a:r>
              <a:rPr lang="en-US" altLang="en-US" sz="3600" dirty="0" smtClean="0">
                <a:sym typeface="+mn-ea"/>
              </a:rPr>
              <a:t>by the Vendor’s solicitor.</a:t>
            </a:r>
            <a:endParaRPr lang="en-US" altLang="en-US" sz="3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7" name="Title 1"/>
          <p:cNvSpPr>
            <a:spLocks noGrp="1"/>
          </p:cNvSpPr>
          <p:nvPr>
            <p:ph type="title"/>
          </p:nvPr>
        </p:nvSpPr>
        <p:spPr>
          <a:xfrm>
            <a:off x="457200" y="274955"/>
            <a:ext cx="8229600" cy="617411"/>
          </a:xfrm>
        </p:spPr>
        <p:txBody>
          <a:bodyPr>
            <a:normAutofit fontScale="90000"/>
          </a:bodyPr>
          <a:lstStyle/>
          <a:p>
            <a:r>
              <a:rPr lang="en-US" dirty="0" smtClean="0"/>
              <a:t>PROCEDURE (CONTD)</a:t>
            </a:r>
            <a:endParaRPr lang="en-US" dirty="0"/>
          </a:p>
        </p:txBody>
      </p:sp>
      <p:sp>
        <p:nvSpPr>
          <p:cNvPr id="1048728" name="Content Placeholder 2"/>
          <p:cNvSpPr>
            <a:spLocks noGrp="1"/>
          </p:cNvSpPr>
          <p:nvPr>
            <p:ph idx="1"/>
          </p:nvPr>
        </p:nvSpPr>
        <p:spPr>
          <a:xfrm>
            <a:off x="457200" y="1100455"/>
            <a:ext cx="8229600" cy="5683837"/>
          </a:xfrm>
        </p:spPr>
        <p:txBody>
          <a:bodyPr>
            <a:noAutofit/>
          </a:bodyPr>
          <a:lstStyle/>
          <a:p>
            <a:pPr marL="0" indent="0" algn="just">
              <a:buNone/>
            </a:pPr>
            <a:r>
              <a:rPr lang="en-US" altLang="en-US" sz="3600" dirty="0" smtClean="0">
                <a:sym typeface="+mn-ea"/>
              </a:rPr>
              <a:t>4). </a:t>
            </a:r>
            <a:r>
              <a:rPr lang="en-US" altLang="en-US" sz="3600" dirty="0" smtClean="0">
                <a:sym typeface="+mn-ea"/>
              </a:rPr>
              <a:t>Parties </a:t>
            </a:r>
            <a:r>
              <a:rPr lang="en-US" altLang="en-US" sz="3600" dirty="0">
                <a:sym typeface="+mn-ea"/>
              </a:rPr>
              <a:t>meet at the Vendor's solicitor's </a:t>
            </a:r>
            <a:r>
              <a:rPr lang="en-US" altLang="en-US" sz="3600" dirty="0" smtClean="0">
                <a:sym typeface="+mn-ea"/>
              </a:rPr>
              <a:t>office where the following take place:</a:t>
            </a:r>
            <a:endParaRPr lang="en-US" altLang="en-US" sz="3600" dirty="0"/>
          </a:p>
          <a:p>
            <a:pPr marL="1257300" lvl="1" indent="-857250" algn="just">
              <a:buFont typeface="+mj-lt"/>
              <a:buAutoNum type="romanLcPeriod"/>
            </a:pPr>
            <a:r>
              <a:rPr lang="en-US" altLang="en-US" dirty="0">
                <a:sym typeface="+mn-ea"/>
              </a:rPr>
              <a:t>Deposit </a:t>
            </a:r>
            <a:r>
              <a:rPr lang="en-US" altLang="en-US" dirty="0" smtClean="0">
                <a:sym typeface="+mn-ea"/>
              </a:rPr>
              <a:t>paid</a:t>
            </a:r>
            <a:endParaRPr lang="en-US" altLang="en-US" dirty="0">
              <a:sym typeface="+mn-ea"/>
            </a:endParaRPr>
          </a:p>
          <a:p>
            <a:pPr marL="1257300" lvl="1" indent="-857250" algn="just">
              <a:buFont typeface="+mj-lt"/>
              <a:buAutoNum type="romanLcPeriod"/>
            </a:pPr>
            <a:r>
              <a:rPr lang="en-US" altLang="en-US" sz="3600" dirty="0" smtClean="0">
                <a:sym typeface="+mn-ea"/>
              </a:rPr>
              <a:t>Parties </a:t>
            </a:r>
            <a:r>
              <a:rPr lang="en-US" altLang="en-US" sz="3600" dirty="0">
                <a:sym typeface="+mn-ea"/>
              </a:rPr>
              <a:t>and their witnesses sign the </a:t>
            </a:r>
            <a:r>
              <a:rPr lang="en-US" altLang="en-US" sz="3600" dirty="0" smtClean="0">
                <a:sym typeface="+mn-ea"/>
              </a:rPr>
              <a:t>contract</a:t>
            </a:r>
          </a:p>
          <a:p>
            <a:pPr marL="1257300" lvl="1" indent="-857250" algn="just">
              <a:buFont typeface="+mj-lt"/>
              <a:buAutoNum type="romanLcPeriod"/>
            </a:pPr>
            <a:r>
              <a:rPr lang="en-US" altLang="en-US" sz="3600" dirty="0" smtClean="0">
                <a:sym typeface="+mn-ea"/>
              </a:rPr>
              <a:t>Vendor </a:t>
            </a:r>
            <a:r>
              <a:rPr lang="en-US" altLang="en-US" sz="3600" dirty="0">
                <a:sym typeface="+mn-ea"/>
              </a:rPr>
              <a:t>hands over to the purchaser (1) </a:t>
            </a:r>
            <a:r>
              <a:rPr lang="en-US" altLang="en-US" sz="3600" dirty="0" smtClean="0">
                <a:sym typeface="+mn-ea"/>
              </a:rPr>
              <a:t>signed copies </a:t>
            </a:r>
            <a:r>
              <a:rPr lang="en-US" altLang="en-US" sz="3600" dirty="0">
                <a:sym typeface="+mn-ea"/>
              </a:rPr>
              <a:t>of agreement together </a:t>
            </a:r>
            <a:r>
              <a:rPr lang="en-US" altLang="en-US" sz="3600" dirty="0" smtClean="0">
                <a:sym typeface="+mn-ea"/>
              </a:rPr>
              <a:t>along with </a:t>
            </a:r>
            <a:r>
              <a:rPr lang="en-US" altLang="en-US" sz="3600" dirty="0">
                <a:sym typeface="+mn-ea"/>
              </a:rPr>
              <a:t>(2) epitome and abstract of title and (3) receipt for deposit paid</a:t>
            </a:r>
            <a:endParaRPr lang="en-US" altLang="en-US" sz="3600" dirty="0"/>
          </a:p>
          <a:p>
            <a:endParaRPr lang="en-US" altLang="en-US" sz="4000" dirty="0">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Title 1"/>
          <p:cNvSpPr>
            <a:spLocks noGrp="1"/>
          </p:cNvSpPr>
          <p:nvPr>
            <p:ph type="title"/>
          </p:nvPr>
        </p:nvSpPr>
        <p:spPr>
          <a:xfrm>
            <a:off x="0" y="274955"/>
            <a:ext cx="9044848" cy="745490"/>
          </a:xfrm>
        </p:spPr>
        <p:txBody>
          <a:bodyPr>
            <a:noAutofit/>
          </a:bodyPr>
          <a:lstStyle/>
          <a:p>
            <a:r>
              <a:rPr sz="3600" dirty="0"/>
              <a:t>Status </a:t>
            </a:r>
            <a:r>
              <a:rPr lang="en-US" sz="3600" dirty="0" smtClean="0"/>
              <a:t>of Contract/Parties </a:t>
            </a:r>
            <a:r>
              <a:rPr sz="3600" dirty="0" smtClean="0"/>
              <a:t>After Exchange</a:t>
            </a:r>
            <a:r>
              <a:rPr lang="en-US" sz="3600" dirty="0" smtClean="0"/>
              <a:t> of Contract</a:t>
            </a:r>
            <a:endParaRPr sz="3600" dirty="0"/>
          </a:p>
        </p:txBody>
      </p:sp>
      <p:sp>
        <p:nvSpPr>
          <p:cNvPr id="1048730" name="Content Placeholder 2"/>
          <p:cNvSpPr>
            <a:spLocks noGrp="1"/>
          </p:cNvSpPr>
          <p:nvPr>
            <p:ph idx="1"/>
          </p:nvPr>
        </p:nvSpPr>
        <p:spPr>
          <a:xfrm>
            <a:off x="457200" y="1045210"/>
            <a:ext cx="8229600" cy="5081270"/>
          </a:xfrm>
        </p:spPr>
        <p:txBody>
          <a:bodyPr>
            <a:noAutofit/>
          </a:bodyPr>
          <a:lstStyle/>
          <a:p>
            <a:pPr marL="571500" indent="-571500" algn="just">
              <a:buFont typeface="+mj-lt"/>
              <a:buAutoNum type="romanUcPeriod"/>
            </a:pPr>
            <a:r>
              <a:rPr lang="en-US" altLang="en-US" sz="3200" dirty="0" smtClean="0"/>
              <a:t>Equitable </a:t>
            </a:r>
            <a:r>
              <a:rPr lang="en-US" altLang="en-US" sz="3200" dirty="0"/>
              <a:t>interest passes to the </a:t>
            </a:r>
            <a:r>
              <a:rPr lang="en-US" altLang="en-US" sz="3200" dirty="0" smtClean="0"/>
              <a:t>purchaser</a:t>
            </a:r>
          </a:p>
          <a:p>
            <a:pPr marL="571500" indent="-571500" algn="just">
              <a:buFont typeface="+mj-lt"/>
              <a:buAutoNum type="romanUcPeriod"/>
            </a:pPr>
            <a:r>
              <a:rPr lang="en-US" altLang="en-US" sz="3200" dirty="0" smtClean="0"/>
              <a:t>Risk </a:t>
            </a:r>
            <a:r>
              <a:rPr lang="en-US" altLang="en-US" sz="3200" dirty="0"/>
              <a:t>passes to the </a:t>
            </a:r>
            <a:r>
              <a:rPr lang="en-US" altLang="en-US" sz="3200" dirty="0" smtClean="0"/>
              <a:t>purchaser</a:t>
            </a:r>
          </a:p>
          <a:p>
            <a:pPr marL="571500" indent="-571500" algn="just">
              <a:buFont typeface="+mj-lt"/>
              <a:buAutoNum type="romanUcPeriod"/>
            </a:pPr>
            <a:r>
              <a:rPr lang="en-US" altLang="en-US" sz="3200" dirty="0" smtClean="0"/>
              <a:t>Vendor </a:t>
            </a:r>
            <a:r>
              <a:rPr lang="en-US" altLang="en-US" sz="3200" dirty="0"/>
              <a:t>becomes as qualified </a:t>
            </a:r>
            <a:r>
              <a:rPr lang="en-US" altLang="en-US" sz="3200" dirty="0" smtClean="0"/>
              <a:t>trustee</a:t>
            </a:r>
          </a:p>
          <a:p>
            <a:pPr marL="571500" indent="-571500" algn="just">
              <a:buFont typeface="+mj-lt"/>
              <a:buAutoNum type="romanUcPeriod"/>
            </a:pPr>
            <a:r>
              <a:rPr lang="en-US" altLang="en-US" sz="3200" dirty="0" smtClean="0"/>
              <a:t>Vendor </a:t>
            </a:r>
            <a:r>
              <a:rPr lang="en-US" altLang="en-US" sz="3200" dirty="0"/>
              <a:t>has </a:t>
            </a:r>
            <a:r>
              <a:rPr lang="en-US" altLang="en-US" sz="3200" dirty="0" smtClean="0"/>
              <a:t>right of lien over the property for the unpaid balance.</a:t>
            </a:r>
          </a:p>
          <a:p>
            <a:pPr marL="571500" indent="-571500" algn="just">
              <a:buFont typeface="+mj-lt"/>
              <a:buAutoNum type="romanUcPeriod"/>
            </a:pPr>
            <a:r>
              <a:rPr lang="en-US" altLang="en-US" sz="3200" dirty="0" smtClean="0"/>
              <a:t>Binding </a:t>
            </a:r>
            <a:r>
              <a:rPr lang="en-US" altLang="en-US" sz="3200" dirty="0"/>
              <a:t>contract comes in </a:t>
            </a:r>
            <a:r>
              <a:rPr lang="en-US" altLang="en-US" sz="3200" dirty="0" smtClean="0"/>
              <a:t>place - </a:t>
            </a:r>
            <a:r>
              <a:rPr lang="en-US" altLang="en-US" dirty="0"/>
              <a:t>d</a:t>
            </a:r>
            <a:r>
              <a:rPr lang="en-US" altLang="en-US" sz="3200" dirty="0" smtClean="0"/>
              <a:t>eath </a:t>
            </a:r>
            <a:r>
              <a:rPr lang="en-US" altLang="en-US" sz="3200" dirty="0"/>
              <a:t>of a party does not adversely affect the contract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3" name="Title 1"/>
          <p:cNvSpPr>
            <a:spLocks noGrp="1"/>
          </p:cNvSpPr>
          <p:nvPr>
            <p:ph type="title"/>
          </p:nvPr>
        </p:nvSpPr>
        <p:spPr>
          <a:xfrm>
            <a:off x="457200" y="274638"/>
            <a:ext cx="8229600" cy="419425"/>
          </a:xfrm>
        </p:spPr>
        <p:txBody>
          <a:bodyPr>
            <a:noAutofit/>
          </a:bodyPr>
          <a:lstStyle/>
          <a:p>
            <a:r>
              <a:rPr lang="en-US" altLang="en-US" sz="3600" dirty="0"/>
              <a:t>Perfection Of A Contract Of Sale of </a:t>
            </a:r>
            <a:r>
              <a:rPr lang="en-US" altLang="en-US" sz="3600" dirty="0" smtClean="0"/>
              <a:t>Land</a:t>
            </a:r>
            <a:r>
              <a:rPr lang="en-US" altLang="en-US" sz="3600" dirty="0"/>
              <a:t/>
            </a:r>
            <a:br>
              <a:rPr lang="en-US" altLang="en-US" sz="3600" dirty="0"/>
            </a:br>
            <a:endParaRPr lang="en-US" sz="3600" dirty="0"/>
          </a:p>
        </p:txBody>
      </p:sp>
      <p:sp>
        <p:nvSpPr>
          <p:cNvPr id="1048734" name="Content Placeholder 2"/>
          <p:cNvSpPr>
            <a:spLocks noGrp="1"/>
          </p:cNvSpPr>
          <p:nvPr>
            <p:ph idx="1"/>
          </p:nvPr>
        </p:nvSpPr>
        <p:spPr>
          <a:xfrm>
            <a:off x="457200" y="616946"/>
            <a:ext cx="8229600" cy="5509218"/>
          </a:xfrm>
        </p:spPr>
        <p:txBody>
          <a:bodyPr>
            <a:noAutofit/>
          </a:bodyPr>
          <a:lstStyle/>
          <a:p>
            <a:r>
              <a:rPr lang="en-US" altLang="en-US" dirty="0" smtClean="0"/>
              <a:t>Consent</a:t>
            </a:r>
            <a:r>
              <a:rPr lang="en-US" altLang="en-US" dirty="0"/>
              <a:t>: not applicable</a:t>
            </a:r>
          </a:p>
          <a:p>
            <a:r>
              <a:rPr lang="en-US" altLang="en-US" dirty="0" smtClean="0"/>
              <a:t>Stamping</a:t>
            </a:r>
            <a:r>
              <a:rPr lang="en-US" altLang="en-US" dirty="0"/>
              <a:t>: flat rate</a:t>
            </a:r>
          </a:p>
          <a:p>
            <a:r>
              <a:rPr lang="en-US" altLang="en-US" dirty="0" smtClean="0"/>
              <a:t>Registration</a:t>
            </a:r>
            <a:r>
              <a:rPr lang="en-US" altLang="en-US" dirty="0"/>
              <a:t>: determined by location</a:t>
            </a:r>
          </a:p>
          <a:p>
            <a:r>
              <a:rPr lang="en-US" altLang="en-US" dirty="0"/>
              <a:t> </a:t>
            </a:r>
            <a:r>
              <a:rPr lang="en-US" altLang="en-US" dirty="0" smtClean="0"/>
              <a:t>Adverse Effects </a:t>
            </a:r>
            <a:r>
              <a:rPr lang="en-US" altLang="en-US" dirty="0"/>
              <a:t>Of </a:t>
            </a:r>
            <a:r>
              <a:rPr lang="en-US" altLang="en-US" dirty="0" smtClean="0"/>
              <a:t> Default In Registration:</a:t>
            </a:r>
          </a:p>
          <a:p>
            <a:pPr marL="1428750" lvl="2" indent="-571500">
              <a:buFont typeface="+mj-lt"/>
              <a:buAutoNum type="romanUcPeriod"/>
            </a:pPr>
            <a:r>
              <a:rPr lang="en-US" altLang="en-US" dirty="0" smtClean="0"/>
              <a:t>Unregistered registrable document not admissible to prove title in court; but may </a:t>
            </a:r>
            <a:r>
              <a:rPr lang="en-US" altLang="en-US" dirty="0"/>
              <a:t>be admitted for other </a:t>
            </a:r>
            <a:r>
              <a:rPr lang="en-US" altLang="en-US" dirty="0" smtClean="0"/>
              <a:t>purposes (</a:t>
            </a:r>
            <a:r>
              <a:rPr lang="en-US" altLang="en-US" dirty="0" err="1" smtClean="0"/>
              <a:t>eg</a:t>
            </a:r>
            <a:r>
              <a:rPr lang="en-US" altLang="en-US" dirty="0" smtClean="0"/>
              <a:t>., as evidence of transaction, payment of money, that transaction is not gratuitous)</a:t>
            </a:r>
            <a:endParaRPr lang="en-US" altLang="en-US" dirty="0"/>
          </a:p>
          <a:p>
            <a:pPr marL="1428750" lvl="2" indent="-571500">
              <a:buFont typeface="+mj-lt"/>
              <a:buAutoNum type="romanUcPeriod"/>
            </a:pPr>
            <a:r>
              <a:rPr lang="en-US" altLang="en-US" dirty="0" smtClean="0"/>
              <a:t>May lose priority</a:t>
            </a:r>
          </a:p>
          <a:p>
            <a:pPr marL="1428750" lvl="2" indent="-571500">
              <a:buFont typeface="+mj-lt"/>
              <a:buAutoNum type="romanUcPeriod"/>
            </a:pPr>
            <a:r>
              <a:rPr lang="en-US" altLang="en-US" dirty="0" smtClean="0"/>
              <a:t>Registration is constructive notice</a:t>
            </a:r>
          </a:p>
          <a:p>
            <a:pPr marL="1428750" lvl="2" indent="-571500">
              <a:buFont typeface="+mj-lt"/>
              <a:buAutoNum type="romanUcPeriod"/>
            </a:pPr>
            <a:r>
              <a:rPr lang="en-US" altLang="en-US" dirty="0" smtClean="0"/>
              <a:t>May pay penalty for late registration</a:t>
            </a:r>
            <a:endParaRPr lang="en-US"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5" name="Title 1"/>
          <p:cNvSpPr>
            <a:spLocks noGrp="1"/>
          </p:cNvSpPr>
          <p:nvPr>
            <p:ph type="title"/>
          </p:nvPr>
        </p:nvSpPr>
        <p:spPr/>
        <p:txBody>
          <a:bodyPr>
            <a:normAutofit fontScale="90000"/>
          </a:bodyPr>
          <a:lstStyle/>
          <a:p>
            <a:r>
              <a:rPr lang="en-US" altLang="en-US"/>
              <a:t/>
            </a:r>
            <a:br>
              <a:rPr lang="en-US" altLang="en-US"/>
            </a:br>
            <a:r>
              <a:rPr lang="en-US" altLang="en-US">
                <a:sym typeface="+mn-ea"/>
              </a:rPr>
              <a:t>Remedies Available  To Parties For Breach Of A Contract</a:t>
            </a:r>
            <a:endParaRPr lang="en-US"/>
          </a:p>
        </p:txBody>
      </p:sp>
      <p:sp>
        <p:nvSpPr>
          <p:cNvPr id="1048736" name="Content Placeholder 2"/>
          <p:cNvSpPr>
            <a:spLocks noGrp="1"/>
          </p:cNvSpPr>
          <p:nvPr>
            <p:ph idx="1"/>
          </p:nvPr>
        </p:nvSpPr>
        <p:spPr/>
        <p:txBody>
          <a:bodyPr/>
          <a:lstStyle/>
          <a:p>
            <a:r>
              <a:rPr lang="en-US" dirty="0"/>
              <a:t>Damages</a:t>
            </a:r>
          </a:p>
          <a:p>
            <a:r>
              <a:rPr lang="en-US" dirty="0"/>
              <a:t>Specific performance</a:t>
            </a:r>
          </a:p>
          <a:p>
            <a:r>
              <a:rPr lang="en-US" dirty="0" err="1"/>
              <a:t>Fortieture</a:t>
            </a:r>
            <a:r>
              <a:rPr lang="en-US" dirty="0"/>
              <a:t> of deposit</a:t>
            </a:r>
          </a:p>
          <a:p>
            <a:r>
              <a:rPr lang="en-US" dirty="0"/>
              <a:t>Payment of Principal and interest </a:t>
            </a:r>
          </a:p>
          <a:p>
            <a:r>
              <a:rPr lang="en-US" dirty="0"/>
              <a:t>injunction</a:t>
            </a:r>
          </a:p>
          <a:p>
            <a:r>
              <a:rPr lang="en-US" dirty="0" smtClean="0"/>
              <a:t>Declaration</a:t>
            </a:r>
          </a:p>
          <a:p>
            <a:r>
              <a:rPr lang="en-US" dirty="0" smtClean="0"/>
              <a:t>Disputes can be resolved by ADR mechanisms</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7" name="Title 1"/>
          <p:cNvSpPr>
            <a:spLocks noGrp="1"/>
          </p:cNvSpPr>
          <p:nvPr>
            <p:ph type="title"/>
          </p:nvPr>
        </p:nvSpPr>
        <p:spPr/>
        <p:txBody>
          <a:bodyPr/>
          <a:lstStyle/>
          <a:p>
            <a:r>
              <a:rPr lang="en-US"/>
              <a:t>Ethical Issues</a:t>
            </a:r>
          </a:p>
        </p:txBody>
      </p:sp>
      <p:sp>
        <p:nvSpPr>
          <p:cNvPr id="1048738" name="Content Placeholder 2"/>
          <p:cNvSpPr>
            <a:spLocks noGrp="1"/>
          </p:cNvSpPr>
          <p:nvPr>
            <p:ph idx="1"/>
          </p:nvPr>
        </p:nvSpPr>
        <p:spPr/>
        <p:txBody>
          <a:bodyPr>
            <a:normAutofit lnSpcReduction="10000"/>
          </a:bodyPr>
          <a:lstStyle/>
          <a:p>
            <a:pPr algn="just"/>
            <a:r>
              <a:rPr lang="en-US" sz="3600" dirty="0"/>
              <a:t>Rule </a:t>
            </a:r>
            <a:r>
              <a:rPr lang="en-US" sz="3600" dirty="0" smtClean="0"/>
              <a:t>17: solicitor must avoid or disclose conflict of interest</a:t>
            </a:r>
            <a:endParaRPr lang="en-US" sz="3600" dirty="0"/>
          </a:p>
          <a:p>
            <a:pPr algn="just"/>
            <a:r>
              <a:rPr lang="en-US" sz="3600" dirty="0"/>
              <a:t>Rule </a:t>
            </a:r>
            <a:r>
              <a:rPr lang="en-US" sz="3600" dirty="0" smtClean="0"/>
              <a:t>23: do not abuse or take advantage of confidence reposed in you by your client</a:t>
            </a:r>
            <a:endParaRPr lang="en-US" sz="3600" dirty="0"/>
          </a:p>
          <a:p>
            <a:pPr algn="just"/>
            <a:r>
              <a:rPr lang="en-US" sz="3600" dirty="0"/>
              <a:t>Rule </a:t>
            </a:r>
            <a:r>
              <a:rPr lang="en-US" sz="3600" dirty="0" smtClean="0"/>
              <a:t>14: diligence, devotion and dedication</a:t>
            </a:r>
            <a:endParaRPr lang="en-US" sz="3600" dirty="0"/>
          </a:p>
          <a:p>
            <a:pPr algn="just"/>
            <a:r>
              <a:rPr lang="en-US" sz="3600" dirty="0"/>
              <a:t>Rule </a:t>
            </a:r>
            <a:r>
              <a:rPr lang="en-US" sz="3600" dirty="0" smtClean="0"/>
              <a:t>16: competence</a:t>
            </a:r>
            <a:endParaRPr lang="en-US" sz="3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217"/>
            <a:ext cx="8229600" cy="844761"/>
          </a:xfrm>
        </p:spPr>
        <p:txBody>
          <a:bodyPr>
            <a:normAutofit/>
          </a:bodyPr>
          <a:lstStyle/>
          <a:p>
            <a:r>
              <a:rPr lang="en-US" dirty="0" smtClean="0"/>
              <a:t>ETHICAL ISSUES  (CONTD)</a:t>
            </a:r>
            <a:endParaRPr lang="en-US" dirty="0"/>
          </a:p>
        </p:txBody>
      </p:sp>
      <p:sp>
        <p:nvSpPr>
          <p:cNvPr id="3" name="Content Placeholder 2"/>
          <p:cNvSpPr>
            <a:spLocks noGrp="1"/>
          </p:cNvSpPr>
          <p:nvPr>
            <p:ph idx="1"/>
          </p:nvPr>
        </p:nvSpPr>
        <p:spPr>
          <a:xfrm>
            <a:off x="198304" y="859316"/>
            <a:ext cx="8488496" cy="5916058"/>
          </a:xfrm>
        </p:spPr>
        <p:txBody>
          <a:bodyPr>
            <a:noAutofit/>
          </a:bodyPr>
          <a:lstStyle/>
          <a:p>
            <a:pPr algn="just"/>
            <a:r>
              <a:rPr lang="en-US" sz="3600" dirty="0" smtClean="0"/>
              <a:t>Rule 19: professional secrecy and privilege</a:t>
            </a:r>
          </a:p>
          <a:p>
            <a:pPr algn="just"/>
            <a:r>
              <a:rPr lang="en-US" sz="3600" dirty="0" smtClean="0"/>
              <a:t>Rule 47/48: duty on charging professional legal fees</a:t>
            </a:r>
          </a:p>
          <a:p>
            <a:pPr algn="just"/>
            <a:r>
              <a:rPr lang="en-US" sz="3600" dirty="0" smtClean="0"/>
              <a:t>Rule 22: duty on taking instructions</a:t>
            </a:r>
          </a:p>
          <a:p>
            <a:pPr algn="just"/>
            <a:r>
              <a:rPr lang="en-US" sz="3600" dirty="0" smtClean="0"/>
              <a:t>Rule 1: duty to uphold the law, cause of justice and not to engage in act unbecoming of a lawyer</a:t>
            </a:r>
          </a:p>
          <a:p>
            <a:pPr algn="just"/>
            <a:r>
              <a:rPr lang="en-US" sz="3600" dirty="0" smtClean="0"/>
              <a:t>ETC</a:t>
            </a:r>
          </a:p>
          <a:p>
            <a:pPr algn="just"/>
            <a:endParaRPr lang="en-US" sz="3600" dirty="0"/>
          </a:p>
        </p:txBody>
      </p:sp>
    </p:spTree>
    <p:extLst>
      <p:ext uri="{BB962C8B-B14F-4D97-AF65-F5344CB8AC3E}">
        <p14:creationId xmlns:p14="http://schemas.microsoft.com/office/powerpoint/2010/main" val="1072938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TotalTime>
  <Words>2104</Words>
  <Application>Microsoft Office PowerPoint</Application>
  <PresentationFormat>On-screen Show (4:3)</PresentationFormat>
  <Paragraphs>224</Paragraphs>
  <Slides>53</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宋体</vt:lpstr>
      <vt:lpstr>Arial</vt:lpstr>
      <vt:lpstr>Calibri</vt:lpstr>
      <vt:lpstr>Wingdings</vt:lpstr>
      <vt:lpstr>Office Theme</vt:lpstr>
      <vt:lpstr>NIGERIAN LAW SCHOOL YENAGOA CAMPUS  PROPERTY LAW PRACTICE  WEEK 5  SALE OF LAND (PART 1)</vt:lpstr>
      <vt:lpstr>Learning Outcomes</vt:lpstr>
      <vt:lpstr>PowerPoint Presentation</vt:lpstr>
      <vt:lpstr>APPLICABLE LAWS </vt:lpstr>
      <vt:lpstr>PowerPoint Presentation</vt:lpstr>
      <vt:lpstr>MEANS OF ACQUIRING LAND IN NIGERIA</vt:lpstr>
      <vt:lpstr>RESTRICTIONS ON DISPOSITION OF LAND</vt:lpstr>
      <vt:lpstr>PowerPoint Presentation</vt:lpstr>
      <vt:lpstr>3. Additional Legislative Limits</vt:lpstr>
      <vt:lpstr>PowerPoint Presentation</vt:lpstr>
      <vt:lpstr>Types of Contract of Sale of Land</vt:lpstr>
      <vt:lpstr>Oral Contracts</vt:lpstr>
      <vt:lpstr>Exceptions</vt:lpstr>
      <vt:lpstr>Exceptions Cont’d</vt:lpstr>
      <vt:lpstr>Open Contracts</vt:lpstr>
      <vt:lpstr>Open Contracts (contd)</vt:lpstr>
      <vt:lpstr>Formal Contract of Sale</vt:lpstr>
      <vt:lpstr>Advantages of Formal Contracts</vt:lpstr>
      <vt:lpstr>Advantages (contd)</vt:lpstr>
      <vt:lpstr>PowerPoint Presentation</vt:lpstr>
      <vt:lpstr>CONTENTS OF FORMAL CONTRACT</vt:lpstr>
      <vt:lpstr>When is it paid?</vt:lpstr>
      <vt:lpstr>PowerPoint Presentation</vt:lpstr>
      <vt:lpstr>Deposit paid to solicitor as an agent</vt:lpstr>
      <vt:lpstr>Deposit paid to solicitor as an agent (contd)</vt:lpstr>
      <vt:lpstr>Payment of depositi as a stakeholder</vt:lpstr>
      <vt:lpstr>Deposit versus Part-Payment</vt:lpstr>
      <vt:lpstr>PowerPoint Presentation</vt:lpstr>
      <vt:lpstr>PowerPoint Presentation</vt:lpstr>
      <vt:lpstr>Date of Completion </vt:lpstr>
      <vt:lpstr>Date of Completion (contd) </vt:lpstr>
      <vt:lpstr>Possession Before Completion</vt:lpstr>
      <vt:lpstr>Payment for Fittings and Fixtures</vt:lpstr>
      <vt:lpstr>Risks and Liability</vt:lpstr>
      <vt:lpstr>Vendor’s Capacity and Implied Covenants:</vt:lpstr>
      <vt:lpstr>LEGAL IMPLICATIONS OF VENDOR CONVEYING AS A BENEFICIAL OWNER</vt:lpstr>
      <vt:lpstr>Stages in Conveyancing</vt:lpstr>
      <vt:lpstr>Pre-Contract Stage</vt:lpstr>
      <vt:lpstr>CONTRACT STAGE</vt:lpstr>
      <vt:lpstr>Role of Solicitors</vt:lpstr>
      <vt:lpstr>Importance of Pre contract Enquiries</vt:lpstr>
      <vt:lpstr>Exchange of Contracts</vt:lpstr>
      <vt:lpstr>Can parties use the same solicitor?</vt:lpstr>
      <vt:lpstr>Exceptions (When parties may retain the same solicitor) </vt:lpstr>
      <vt:lpstr>PowerPoint Presentation</vt:lpstr>
      <vt:lpstr>Exchange of Contracts</vt:lpstr>
      <vt:lpstr>Procedure for Exchange Of Contract</vt:lpstr>
      <vt:lpstr>PROCEDURE (CONTD)</vt:lpstr>
      <vt:lpstr>Status of Contract/Parties After Exchange of Contract</vt:lpstr>
      <vt:lpstr>Perfection Of A Contract Of Sale of Land </vt:lpstr>
      <vt:lpstr> Remedies Available  To Parties For Breach Of A Contract</vt:lpstr>
      <vt:lpstr>Ethical Issues</vt:lpstr>
      <vt:lpstr>ETHICAL ISSUES  (CONTD)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NIGERIAN LAW SCHOOL YENAGOA CAMPUS  PROPERTY LAW PRACTICE  WEEK 5  SALE OF LAND (PART 1)</dc:title>
  <dc:creator>Infinix X6710</dc:creator>
  <cp:lastModifiedBy>DELL</cp:lastModifiedBy>
  <cp:revision>31</cp:revision>
  <dcterms:created xsi:type="dcterms:W3CDTF">2013-01-27T07:14:00Z</dcterms:created>
  <dcterms:modified xsi:type="dcterms:W3CDTF">2025-05-08T07:17:14Z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1aa75e03ba164d94a638d978887dfc04</vt:lpwstr>
  </property>
  <property fmtid="{D5CDD505-2E9C-101B-9397-08002B2CF9AE}" pid="3" name="KSOProductBuildVer">
    <vt:lpwstr>1033-12.2.0.20795</vt:lpwstr>
  </property>
</Properties>
</file>