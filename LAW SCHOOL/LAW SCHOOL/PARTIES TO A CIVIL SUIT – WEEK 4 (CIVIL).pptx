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saveSubsetFonts="1">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Lst>
  <p:sldSz type="screen16x9" cy="6858000" cx="12192000"/>
  <p:notesSz cx="6858000" cy="9144000"/>
  <p:defaultText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p:restoredLeft sz="15965" autoAdjust="0"/>
    <p:restoredTop sz="94935" autoAdjust="0"/>
  </p:normalViewPr>
  <p:slideViewPr>
    <p:cSldViewPr snapToGrid="0">
      <p:cViewPr varScale="1">
        <p:scale>
          <a:sx n="75" d="100"/>
          <a:sy n="75" d="100"/>
        </p:scale>
        <p:origin x="498" y="78"/>
      </p:cViewPr>
    </p:cSldViewPr>
  </p:slideViewPr>
  <p:outlineViewPr>
    <p:cViewPr>
      <p:scale>
        <a:sx n="33" d="100"/>
        <a:sy n="33" d="100"/>
      </p:scale>
      <p:origin x="0" y="-39594"/>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tableStyles" Target="tableStyles.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99" name=""/>
        <p:cNvGrpSpPr/>
        <p:nvPr/>
      </p:nvGrpSpPr>
      <p:grpSpPr>
        <a:xfrm>
          <a:off x="0" y="0"/>
          <a:ext cx="0" cy="0"/>
          <a:chOff x="0" y="0"/>
          <a:chExt cx="0" cy="0"/>
        </a:xfrm>
      </p:grpSpPr>
      <p:sp>
        <p:nvSpPr>
          <p:cNvPr id="1048713" name="Rectangle 2"/>
          <p:cNvSpPr>
            <a:spLocks noGrp="1" noChangeArrowheads="1"/>
          </p:cNvSpPr>
          <p:nvPr>
            <p:ph type="hdr" sz="quarter"/>
          </p:nvPr>
        </p:nvSpPr>
        <p:spPr bwMode="auto">
          <a:xfrm>
            <a:off x="2"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l">
              <a:defRPr sz="1100"/>
            </a:lvl1pPr>
          </a:lstStyle>
          <a:p>
            <a:endParaRPr lang="en-US"/>
          </a:p>
        </p:txBody>
      </p:sp>
      <p:sp>
        <p:nvSpPr>
          <p:cNvPr id="1048714" name="Rectangle 3"/>
          <p:cNvSpPr>
            <a:spLocks noGrp="1" noChangeArrowheads="1"/>
          </p:cNvSpPr>
          <p:nvPr>
            <p:ph type="dt" idx="1"/>
          </p:nvPr>
        </p:nvSpPr>
        <p:spPr bwMode="auto">
          <a:xfrm>
            <a:off x="4021139"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r">
              <a:defRPr sz="1100"/>
            </a:lvl1pPr>
          </a:lstStyle>
          <a:p>
            <a:endParaRPr lang="en-US"/>
          </a:p>
        </p:txBody>
      </p:sp>
      <p:sp>
        <p:nvSpPr>
          <p:cNvPr id="1048715" name="Rectangle 4"/>
          <p:cNvSpPr>
            <a:spLocks noChangeAspect="1" noRot="1" noGrp="1" noChangeArrowheads="1" noTextEdit="1"/>
          </p:cNvSpPr>
          <p:nvPr>
            <p:ph type="sldImg" idx="2"/>
          </p:nvPr>
        </p:nvSpPr>
        <p:spPr bwMode="auto">
          <a:xfrm>
            <a:off x="990600" y="766763"/>
            <a:ext cx="5118100" cy="3838575"/>
          </a:xfrm>
          <a:prstGeom prst="rect"/>
          <a:noFill/>
          <a:ln w="9525">
            <a:solidFill>
              <a:srgbClr val="000000"/>
            </a:solidFill>
            <a:miter lim="800000"/>
            <a:headEnd/>
            <a:tailEnd/>
          </a:ln>
          <a:effectLst/>
        </p:spPr>
      </p:sp>
      <p:sp>
        <p:nvSpPr>
          <p:cNvPr id="1048716" name="Rectangle 5"/>
          <p:cNvSpPr>
            <a:spLocks noGrp="1" noChangeArrowheads="1"/>
          </p:cNvSpPr>
          <p:nvPr>
            <p:ph type="body" sz="quarter" idx="3"/>
          </p:nvPr>
        </p:nvSpPr>
        <p:spPr bwMode="auto">
          <a:xfrm>
            <a:off x="709614" y="4862514"/>
            <a:ext cx="5680075" cy="4605337"/>
          </a:xfrm>
          <a:prstGeom prst="rect"/>
          <a:noFill/>
          <a:ln w="9525">
            <a:noFill/>
            <a:miter lim="800000"/>
            <a:headEnd/>
            <a:tailEnd/>
          </a:ln>
          <a:effectLst/>
        </p:spPr>
        <p:txBody>
          <a:bodyPr anchor="t" anchorCtr="0" bIns="45745" compatLnSpc="1" lIns="91492" numCol="1" rIns="91492" tIns="45745" vert="horz" wrap="square">
            <a:prstTxWarp prst="textNoShape"/>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8717" name="Rectangle 6"/>
          <p:cNvSpPr>
            <a:spLocks noGrp="1" noChangeArrowheads="1"/>
          </p:cNvSpPr>
          <p:nvPr>
            <p:ph type="ftr" sz="quarter" idx="4"/>
          </p:nvPr>
        </p:nvSpPr>
        <p:spPr bwMode="auto">
          <a:xfrm>
            <a:off x="2"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l">
              <a:defRPr sz="1100"/>
            </a:lvl1pPr>
          </a:lstStyle>
          <a:p>
            <a:endParaRPr lang="en-US"/>
          </a:p>
        </p:txBody>
      </p:sp>
      <p:sp>
        <p:nvSpPr>
          <p:cNvPr id="1048718" name="Rectangle 7"/>
          <p:cNvSpPr>
            <a:spLocks noGrp="1" noChangeArrowheads="1"/>
          </p:cNvSpPr>
          <p:nvPr>
            <p:ph type="sldNum" sz="quarter" idx="5"/>
          </p:nvPr>
        </p:nvSpPr>
        <p:spPr bwMode="auto">
          <a:xfrm>
            <a:off x="4021139"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r">
              <a:defRPr sz="1100"/>
            </a:lvl1pPr>
          </a:lstStyle>
          <a:p>
            <a:fld id="{A9A0EA98-5831-4853-B862-C702E6EB345C}" type="slidenum">
              <a:rPr lang="en-US"/>
              <a:t>‹#›</a:t>
            </a:fld>
            <a:endParaRPr lang="en-US"/>
          </a:p>
        </p:txBody>
      </p:sp>
    </p:spTree>
  </p:cSld>
  <p:clrMap accent1="accent1" accent2="accent2" accent3="accent3" accent4="accent4" accent5="accent5" accent6="accent6" bg1="lt1" bg2="lt2" tx1="dk1" tx2="dk2" hlink="hlink" folHlink="folHlink"/>
  <p:notesStyle>
    <a:lvl1pPr algn="l" fontAlgn="base" rtl="0">
      <a:spcBef>
        <a:spcPct val="30000"/>
      </a:spcBef>
      <a:spcAft>
        <a:spcPct val="0"/>
      </a:spcAft>
      <a:defRPr sz="1200" kern="1200">
        <a:solidFill>
          <a:schemeClr val="tx1"/>
        </a:solidFill>
        <a:latin typeface="Arial" charset="0"/>
        <a:ea typeface="+mn-ea"/>
        <a:cs typeface="+mn-cs"/>
      </a:defRPr>
    </a:lvl1pPr>
    <a:lvl2pPr algn="l" fontAlgn="base" marL="457200" rtl="0">
      <a:spcBef>
        <a:spcPct val="30000"/>
      </a:spcBef>
      <a:spcAft>
        <a:spcPct val="0"/>
      </a:spcAft>
      <a:defRPr sz="1200" kern="1200">
        <a:solidFill>
          <a:schemeClr val="tx1"/>
        </a:solidFill>
        <a:latin typeface="Arial" charset="0"/>
        <a:ea typeface="+mn-ea"/>
        <a:cs typeface="+mn-cs"/>
      </a:defRPr>
    </a:lvl2pPr>
    <a:lvl3pPr algn="l" fontAlgn="base" marL="914400" rtl="0">
      <a:spcBef>
        <a:spcPct val="30000"/>
      </a:spcBef>
      <a:spcAft>
        <a:spcPct val="0"/>
      </a:spcAft>
      <a:defRPr sz="1200" kern="1200">
        <a:solidFill>
          <a:schemeClr val="tx1"/>
        </a:solidFill>
        <a:latin typeface="Arial" charset="0"/>
        <a:ea typeface="+mn-ea"/>
        <a:cs typeface="+mn-cs"/>
      </a:defRPr>
    </a:lvl3pPr>
    <a:lvl4pPr algn="l" fontAlgn="base" marL="1371600" rtl="0">
      <a:spcBef>
        <a:spcPct val="30000"/>
      </a:spcBef>
      <a:spcAft>
        <a:spcPct val="0"/>
      </a:spcAft>
      <a:defRPr sz="1200" kern="1200">
        <a:solidFill>
          <a:schemeClr val="tx1"/>
        </a:solidFill>
        <a:latin typeface="Arial" charset="0"/>
        <a:ea typeface="+mn-ea"/>
        <a:cs typeface="+mn-cs"/>
      </a:defRPr>
    </a:lvl4pPr>
    <a:lvl5pPr algn="l" fontAlgn="base" marL="1828800" rtl="0">
      <a:spcBef>
        <a:spcPct val="30000"/>
      </a:spcBef>
      <a:spcAft>
        <a:spcPct val="0"/>
      </a:spcAft>
      <a:defRPr sz="1200" kern="1200">
        <a:solidFill>
          <a:schemeClr val="tx1"/>
        </a:solidFill>
        <a:latin typeface="Arial" charset="0"/>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23" name=""/>
        <p:cNvGrpSpPr/>
        <p:nvPr/>
      </p:nvGrpSpPr>
      <p:grpSpPr>
        <a:xfrm>
          <a:off x="0" y="0"/>
          <a:ext cx="0" cy="0"/>
          <a:chOff x="0" y="0"/>
          <a:chExt cx="0" cy="0"/>
        </a:xfrm>
      </p:grpSpPr>
      <p:sp>
        <p:nvSpPr>
          <p:cNvPr id="1048581"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1048582" name="Subtitle 2"/>
          <p:cNvSpPr>
            <a:spLocks noGrp="1"/>
          </p:cNvSpPr>
          <p:nvPr>
            <p:ph type="subTitle" idx="1"/>
          </p:nvPr>
        </p:nvSpPr>
        <p:spPr>
          <a:xfrm>
            <a:off x="1524000" y="3602038"/>
            <a:ext cx="9144000" cy="1655762"/>
          </a:xfrm>
        </p:spPr>
        <p:txBody>
          <a:bodyPr/>
          <a:lstStyle>
            <a:lvl1pPr algn="ctr" indent="0" marL="0">
              <a:buNone/>
              <a:defRPr sz="2400"/>
            </a:lvl1pPr>
            <a:lvl2pPr algn="ctr" indent="0" marL="457200">
              <a:buNone/>
              <a:defRPr sz="2000"/>
            </a:lvl2pPr>
            <a:lvl3pPr algn="ctr" indent="0" marL="914400">
              <a:buNone/>
              <a:defRPr sz="1800"/>
            </a:lvl3pPr>
            <a:lvl4pPr algn="ctr" indent="0" marL="1371600">
              <a:buNone/>
              <a:defRPr sz="1600"/>
            </a:lvl4pPr>
            <a:lvl5pPr algn="ctr" indent="0" marL="1828800">
              <a:buNone/>
              <a:defRPr sz="1600"/>
            </a:lvl5pPr>
            <a:lvl6pPr algn="ctr" indent="0" marL="2286000">
              <a:buNone/>
              <a:defRPr sz="1600"/>
            </a:lvl6pPr>
            <a:lvl7pPr algn="ctr" indent="0" marL="2743200">
              <a:buNone/>
              <a:defRPr sz="1600"/>
            </a:lvl7pPr>
            <a:lvl8pPr algn="ctr" indent="0" marL="3200400">
              <a:buNone/>
              <a:defRPr sz="1600"/>
            </a:lvl8pPr>
            <a:lvl9pPr algn="ctr" indent="0" marL="3657600">
              <a:buNone/>
              <a:defRPr sz="1600"/>
            </a:lvl9pPr>
          </a:lstStyle>
          <a:p>
            <a:r>
              <a:rPr lang="en-US" smtClean="0"/>
              <a:t>Click to edit Master subtitle style</a:t>
            </a:r>
            <a:endParaRPr lang="en-US"/>
          </a:p>
        </p:txBody>
      </p:sp>
      <p:sp>
        <p:nvSpPr>
          <p:cNvPr id="1048583" name="Date Placeholder 3"/>
          <p:cNvSpPr>
            <a:spLocks noGrp="1"/>
          </p:cNvSpPr>
          <p:nvPr>
            <p:ph type="dt" sz="half" idx="10"/>
          </p:nvPr>
        </p:nvSpPr>
        <p:spPr/>
        <p:txBody>
          <a:bodyPr/>
          <a:p>
            <a:fld id="{3CD1857B-71CC-4BEC-8B73-05422B2BBE34}" type="datetimeFigureOut">
              <a:rPr lang="en-US" smtClean="0"/>
              <a:t>3/30/2025</a:t>
            </a:fld>
            <a:endParaRPr lang="en-US"/>
          </a:p>
        </p:txBody>
      </p:sp>
      <p:sp>
        <p:nvSpPr>
          <p:cNvPr id="1048584" name="Footer Placeholder 4"/>
          <p:cNvSpPr>
            <a:spLocks noGrp="1"/>
          </p:cNvSpPr>
          <p:nvPr>
            <p:ph type="ftr" sz="quarter" idx="11"/>
          </p:nvPr>
        </p:nvSpPr>
        <p:spPr/>
        <p:txBody>
          <a:bodyPr/>
          <a:p>
            <a:endParaRPr lang="en-US"/>
          </a:p>
        </p:txBody>
      </p:sp>
      <p:sp>
        <p:nvSpPr>
          <p:cNvPr id="1048585" name="Slide Number Placeholder 5"/>
          <p:cNvSpPr>
            <a:spLocks noGrp="1"/>
          </p:cNvSpPr>
          <p:nvPr>
            <p:ph type="sldNum" sz="quarter" idx="12"/>
          </p:nvPr>
        </p:nvSpPr>
        <p:spPr/>
        <p:txBody>
          <a:bodyPr/>
          <a:p>
            <a:fld id="{23C1B05D-ABB2-4149-B92E-AC04E61D380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53" name=""/>
        <p:cNvGrpSpPr/>
        <p:nvPr/>
      </p:nvGrpSpPr>
      <p:grpSpPr>
        <a:xfrm>
          <a:off x="0" y="0"/>
          <a:ext cx="0" cy="0"/>
          <a:chOff x="0" y="0"/>
          <a:chExt cx="0" cy="0"/>
        </a:xfrm>
      </p:grpSpPr>
      <p:sp>
        <p:nvSpPr>
          <p:cNvPr id="1048590" name="Title 1"/>
          <p:cNvSpPr>
            <a:spLocks noGrp="1"/>
          </p:cNvSpPr>
          <p:nvPr>
            <p:ph type="title"/>
          </p:nvPr>
        </p:nvSpPr>
        <p:spPr/>
        <p:txBody>
          <a:bodyPr/>
          <a:p>
            <a:r>
              <a:rPr lang="en-US" smtClean="0"/>
              <a:t>Click to edit Master title style</a:t>
            </a:r>
            <a:endParaRPr lang="en-US"/>
          </a:p>
        </p:txBody>
      </p:sp>
      <p:sp>
        <p:nvSpPr>
          <p:cNvPr id="1048591" name="Content Placeholder 2"/>
          <p:cNvSpPr>
            <a:spLocks noGrp="1"/>
          </p:cNvSpPr>
          <p:nvPr>
            <p:ph idx="1"/>
          </p:nvPr>
        </p:nvSpPr>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592" name="Date Placeholder 3"/>
          <p:cNvSpPr>
            <a:spLocks noGrp="1"/>
          </p:cNvSpPr>
          <p:nvPr>
            <p:ph type="dt" sz="half" idx="10"/>
          </p:nvPr>
        </p:nvSpPr>
        <p:spPr/>
        <p:txBody>
          <a:bodyPr/>
          <a:p>
            <a:fld id="{3CD1857B-71CC-4BEC-8B73-05422B2BBE34}" type="datetimeFigureOut">
              <a:rPr lang="en-US" smtClean="0"/>
              <a:t>3/30/2025</a:t>
            </a:fld>
            <a:endParaRPr lang="en-US"/>
          </a:p>
        </p:txBody>
      </p:sp>
      <p:sp>
        <p:nvSpPr>
          <p:cNvPr id="1048593" name="Footer Placeholder 4"/>
          <p:cNvSpPr>
            <a:spLocks noGrp="1"/>
          </p:cNvSpPr>
          <p:nvPr>
            <p:ph type="ftr" sz="quarter" idx="11"/>
          </p:nvPr>
        </p:nvSpPr>
        <p:spPr/>
        <p:txBody>
          <a:bodyPr/>
          <a:p>
            <a:endParaRPr lang="en-US"/>
          </a:p>
        </p:txBody>
      </p:sp>
      <p:sp>
        <p:nvSpPr>
          <p:cNvPr id="1048594" name="Slide Number Placeholder 5"/>
          <p:cNvSpPr>
            <a:spLocks noGrp="1"/>
          </p:cNvSpPr>
          <p:nvPr>
            <p:ph type="sldNum" sz="quarter" idx="12"/>
          </p:nvPr>
        </p:nvSpPr>
        <p:spPr/>
        <p:txBody>
          <a:bodyPr/>
          <a:p>
            <a:fld id="{23C1B05D-ABB2-4149-B92E-AC04E61D380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93" name=""/>
        <p:cNvGrpSpPr/>
        <p:nvPr/>
      </p:nvGrpSpPr>
      <p:grpSpPr>
        <a:xfrm>
          <a:off x="0" y="0"/>
          <a:ext cx="0" cy="0"/>
          <a:chOff x="0" y="0"/>
          <a:chExt cx="0" cy="0"/>
        </a:xfrm>
      </p:grpSpPr>
      <p:sp>
        <p:nvSpPr>
          <p:cNvPr id="1048685"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1048686" name="Text Placeholder 2"/>
          <p:cNvSpPr>
            <a:spLocks noGrp="1"/>
          </p:cNvSpPr>
          <p:nvPr>
            <p:ph type="body" idx="1"/>
          </p:nvPr>
        </p:nvSpPr>
        <p:spPr>
          <a:xfrm>
            <a:off x="831850" y="4589463"/>
            <a:ext cx="10515600" cy="1500187"/>
          </a:xfrm>
        </p:spPr>
        <p:txBody>
          <a:bodyPr/>
          <a:lstStyle>
            <a:lvl1pPr indent="0" marL="0">
              <a:buNone/>
              <a:defRPr sz="2400">
                <a:solidFill>
                  <a:schemeClr val="tx1">
                    <a:tint val="75000"/>
                  </a:schemeClr>
                </a:solidFill>
              </a:defRPr>
            </a:lvl1pPr>
            <a:lvl2pPr indent="0" marL="457200">
              <a:buNone/>
              <a:defRPr sz="2000">
                <a:solidFill>
                  <a:schemeClr val="tx1">
                    <a:tint val="75000"/>
                  </a:schemeClr>
                </a:solidFill>
              </a:defRPr>
            </a:lvl2pPr>
            <a:lvl3pPr indent="0" marL="914400">
              <a:buNone/>
              <a:defRPr sz="1800">
                <a:solidFill>
                  <a:schemeClr val="tx1">
                    <a:tint val="75000"/>
                  </a:schemeClr>
                </a:solidFill>
              </a:defRPr>
            </a:lvl3pPr>
            <a:lvl4pPr indent="0" marL="1371600">
              <a:buNone/>
              <a:defRPr sz="1600">
                <a:solidFill>
                  <a:schemeClr val="tx1">
                    <a:tint val="75000"/>
                  </a:schemeClr>
                </a:solidFill>
              </a:defRPr>
            </a:lvl4pPr>
            <a:lvl5pPr indent="0" marL="1828800">
              <a:buNone/>
              <a:defRPr sz="1600">
                <a:solidFill>
                  <a:schemeClr val="tx1">
                    <a:tint val="75000"/>
                  </a:schemeClr>
                </a:solidFill>
              </a:defRPr>
            </a:lvl5pPr>
            <a:lvl6pPr indent="0" marL="2286000">
              <a:buNone/>
              <a:defRPr sz="1600">
                <a:solidFill>
                  <a:schemeClr val="tx1">
                    <a:tint val="75000"/>
                  </a:schemeClr>
                </a:solidFill>
              </a:defRPr>
            </a:lvl6pPr>
            <a:lvl7pPr indent="0" marL="2743200">
              <a:buNone/>
              <a:defRPr sz="1600">
                <a:solidFill>
                  <a:schemeClr val="tx1">
                    <a:tint val="75000"/>
                  </a:schemeClr>
                </a:solidFill>
              </a:defRPr>
            </a:lvl7pPr>
            <a:lvl8pPr indent="0" marL="3200400">
              <a:buNone/>
              <a:defRPr sz="1600">
                <a:solidFill>
                  <a:schemeClr val="tx1">
                    <a:tint val="75000"/>
                  </a:schemeClr>
                </a:solidFill>
              </a:defRPr>
            </a:lvl8pPr>
            <a:lvl9pPr indent="0" marL="3657600">
              <a:buNone/>
              <a:defRPr sz="1600">
                <a:solidFill>
                  <a:schemeClr val="tx1">
                    <a:tint val="75000"/>
                  </a:schemeClr>
                </a:solidFill>
              </a:defRPr>
            </a:lvl9pPr>
          </a:lstStyle>
          <a:p>
            <a:pPr lvl="0"/>
            <a:r>
              <a:rPr lang="en-US" smtClean="0"/>
              <a:t>Click to edit Master text styles</a:t>
            </a:r>
          </a:p>
        </p:txBody>
      </p:sp>
      <p:sp>
        <p:nvSpPr>
          <p:cNvPr id="1048687" name="Date Placeholder 3"/>
          <p:cNvSpPr>
            <a:spLocks noGrp="1"/>
          </p:cNvSpPr>
          <p:nvPr>
            <p:ph type="dt" sz="half" idx="10"/>
          </p:nvPr>
        </p:nvSpPr>
        <p:spPr/>
        <p:txBody>
          <a:bodyPr/>
          <a:p>
            <a:fld id="{3CD1857B-71CC-4BEC-8B73-05422B2BBE34}" type="datetimeFigureOut">
              <a:rPr lang="en-US" smtClean="0"/>
              <a:t>3/30/2025</a:t>
            </a:fld>
            <a:endParaRPr lang="en-US"/>
          </a:p>
        </p:txBody>
      </p:sp>
      <p:sp>
        <p:nvSpPr>
          <p:cNvPr id="1048688" name="Footer Placeholder 4"/>
          <p:cNvSpPr>
            <a:spLocks noGrp="1"/>
          </p:cNvSpPr>
          <p:nvPr>
            <p:ph type="ftr" sz="quarter" idx="11"/>
          </p:nvPr>
        </p:nvSpPr>
        <p:spPr/>
        <p:txBody>
          <a:bodyPr/>
          <a:p>
            <a:endParaRPr lang="en-US"/>
          </a:p>
        </p:txBody>
      </p:sp>
      <p:sp>
        <p:nvSpPr>
          <p:cNvPr id="1048689" name="Slide Number Placeholder 5"/>
          <p:cNvSpPr>
            <a:spLocks noGrp="1"/>
          </p:cNvSpPr>
          <p:nvPr>
            <p:ph type="sldNum" sz="quarter" idx="12"/>
          </p:nvPr>
        </p:nvSpPr>
        <p:spPr/>
        <p:txBody>
          <a:bodyPr/>
          <a:p>
            <a:fld id="{23C1B05D-ABB2-4149-B92E-AC04E61D380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94" name=""/>
        <p:cNvGrpSpPr/>
        <p:nvPr/>
      </p:nvGrpSpPr>
      <p:grpSpPr>
        <a:xfrm>
          <a:off x="0" y="0"/>
          <a:ext cx="0" cy="0"/>
          <a:chOff x="0" y="0"/>
          <a:chExt cx="0" cy="0"/>
        </a:xfrm>
      </p:grpSpPr>
      <p:sp>
        <p:nvSpPr>
          <p:cNvPr id="1048690" name="Title 1"/>
          <p:cNvSpPr>
            <a:spLocks noGrp="1"/>
          </p:cNvSpPr>
          <p:nvPr>
            <p:ph type="title"/>
          </p:nvPr>
        </p:nvSpPr>
        <p:spPr/>
        <p:txBody>
          <a:bodyPr/>
          <a:p>
            <a:r>
              <a:rPr lang="en-US" smtClean="0"/>
              <a:t>Click to edit Master title style</a:t>
            </a:r>
            <a:endParaRPr lang="en-US"/>
          </a:p>
        </p:txBody>
      </p:sp>
      <p:sp>
        <p:nvSpPr>
          <p:cNvPr id="1048691" name="Content Placeholder 2"/>
          <p:cNvSpPr>
            <a:spLocks noGrp="1"/>
          </p:cNvSpPr>
          <p:nvPr>
            <p:ph sz="half" idx="1"/>
          </p:nvPr>
        </p:nvSpPr>
        <p:spPr>
          <a:xfrm>
            <a:off x="838200" y="1825625"/>
            <a:ext cx="5181600" cy="4351338"/>
          </a:xfrm>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92" name="Content Placeholder 3"/>
          <p:cNvSpPr>
            <a:spLocks noGrp="1"/>
          </p:cNvSpPr>
          <p:nvPr>
            <p:ph sz="half" idx="2"/>
          </p:nvPr>
        </p:nvSpPr>
        <p:spPr>
          <a:xfrm>
            <a:off x="6172200" y="1825625"/>
            <a:ext cx="5181600" cy="4351338"/>
          </a:xfrm>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93" name="Date Placeholder 4"/>
          <p:cNvSpPr>
            <a:spLocks noGrp="1"/>
          </p:cNvSpPr>
          <p:nvPr>
            <p:ph type="dt" sz="half" idx="10"/>
          </p:nvPr>
        </p:nvSpPr>
        <p:spPr/>
        <p:txBody>
          <a:bodyPr/>
          <a:p>
            <a:fld id="{3CD1857B-71CC-4BEC-8B73-05422B2BBE34}" type="datetimeFigureOut">
              <a:rPr lang="en-US" smtClean="0"/>
              <a:t>3/30/2025</a:t>
            </a:fld>
            <a:endParaRPr lang="en-US"/>
          </a:p>
        </p:txBody>
      </p:sp>
      <p:sp>
        <p:nvSpPr>
          <p:cNvPr id="1048694" name="Footer Placeholder 5"/>
          <p:cNvSpPr>
            <a:spLocks noGrp="1"/>
          </p:cNvSpPr>
          <p:nvPr>
            <p:ph type="ftr" sz="quarter" idx="11"/>
          </p:nvPr>
        </p:nvSpPr>
        <p:spPr/>
        <p:txBody>
          <a:bodyPr/>
          <a:p>
            <a:endParaRPr lang="en-US"/>
          </a:p>
        </p:txBody>
      </p:sp>
      <p:sp>
        <p:nvSpPr>
          <p:cNvPr id="1048695" name="Slide Number Placeholder 6"/>
          <p:cNvSpPr>
            <a:spLocks noGrp="1"/>
          </p:cNvSpPr>
          <p:nvPr>
            <p:ph type="sldNum" sz="quarter" idx="12"/>
          </p:nvPr>
        </p:nvSpPr>
        <p:spPr/>
        <p:txBody>
          <a:bodyPr/>
          <a:p>
            <a:fld id="{23C1B05D-ABB2-4149-B92E-AC04E61D380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95" name=""/>
        <p:cNvGrpSpPr/>
        <p:nvPr/>
      </p:nvGrpSpPr>
      <p:grpSpPr>
        <a:xfrm>
          <a:off x="0" y="0"/>
          <a:ext cx="0" cy="0"/>
          <a:chOff x="0" y="0"/>
          <a:chExt cx="0" cy="0"/>
        </a:xfrm>
      </p:grpSpPr>
      <p:sp>
        <p:nvSpPr>
          <p:cNvPr id="1048696" name="Title 1"/>
          <p:cNvSpPr>
            <a:spLocks noGrp="1"/>
          </p:cNvSpPr>
          <p:nvPr>
            <p:ph type="title"/>
          </p:nvPr>
        </p:nvSpPr>
        <p:spPr>
          <a:xfrm>
            <a:off x="839788" y="365125"/>
            <a:ext cx="10515600" cy="1325563"/>
          </a:xfrm>
        </p:spPr>
        <p:txBody>
          <a:bodyPr/>
          <a:p>
            <a:r>
              <a:rPr lang="en-US" smtClean="0"/>
              <a:t>Click to edit Master title style</a:t>
            </a:r>
            <a:endParaRPr lang="en-US"/>
          </a:p>
        </p:txBody>
      </p:sp>
      <p:sp>
        <p:nvSpPr>
          <p:cNvPr id="1048697" name="Text Placeholder 2"/>
          <p:cNvSpPr>
            <a:spLocks noGrp="1"/>
          </p:cNvSpPr>
          <p:nvPr>
            <p:ph type="body" idx="1"/>
          </p:nvPr>
        </p:nvSpPr>
        <p:spPr>
          <a:xfrm>
            <a:off x="839788" y="1681163"/>
            <a:ext cx="5157787" cy="82391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p>
        </p:txBody>
      </p:sp>
      <p:sp>
        <p:nvSpPr>
          <p:cNvPr id="1048698" name="Content Placeholder 3"/>
          <p:cNvSpPr>
            <a:spLocks noGrp="1"/>
          </p:cNvSpPr>
          <p:nvPr>
            <p:ph sz="half" idx="2"/>
          </p:nvPr>
        </p:nvSpPr>
        <p:spPr>
          <a:xfrm>
            <a:off x="839788" y="2505075"/>
            <a:ext cx="5157787" cy="3684588"/>
          </a:xfrm>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99" name="Text Placeholder 4"/>
          <p:cNvSpPr>
            <a:spLocks noGrp="1"/>
          </p:cNvSpPr>
          <p:nvPr>
            <p:ph type="body" sz="quarter" idx="3"/>
          </p:nvPr>
        </p:nvSpPr>
        <p:spPr>
          <a:xfrm>
            <a:off x="6172200" y="1681163"/>
            <a:ext cx="5183188" cy="82391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p>
        </p:txBody>
      </p:sp>
      <p:sp>
        <p:nvSpPr>
          <p:cNvPr id="1048700" name="Content Placeholder 5"/>
          <p:cNvSpPr>
            <a:spLocks noGrp="1"/>
          </p:cNvSpPr>
          <p:nvPr>
            <p:ph sz="quarter" idx="4"/>
          </p:nvPr>
        </p:nvSpPr>
        <p:spPr>
          <a:xfrm>
            <a:off x="6172200" y="2505075"/>
            <a:ext cx="5183188" cy="3684588"/>
          </a:xfrm>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701" name="Date Placeholder 6"/>
          <p:cNvSpPr>
            <a:spLocks noGrp="1"/>
          </p:cNvSpPr>
          <p:nvPr>
            <p:ph type="dt" sz="half" idx="10"/>
          </p:nvPr>
        </p:nvSpPr>
        <p:spPr/>
        <p:txBody>
          <a:bodyPr/>
          <a:p>
            <a:fld id="{3CD1857B-71CC-4BEC-8B73-05422B2BBE34}" type="datetimeFigureOut">
              <a:rPr lang="en-US" smtClean="0"/>
              <a:t>3/30/2025</a:t>
            </a:fld>
            <a:endParaRPr lang="en-US"/>
          </a:p>
        </p:txBody>
      </p:sp>
      <p:sp>
        <p:nvSpPr>
          <p:cNvPr id="1048702" name="Footer Placeholder 7"/>
          <p:cNvSpPr>
            <a:spLocks noGrp="1"/>
          </p:cNvSpPr>
          <p:nvPr>
            <p:ph type="ftr" sz="quarter" idx="11"/>
          </p:nvPr>
        </p:nvSpPr>
        <p:spPr/>
        <p:txBody>
          <a:bodyPr/>
          <a:p>
            <a:endParaRPr lang="en-US"/>
          </a:p>
        </p:txBody>
      </p:sp>
      <p:sp>
        <p:nvSpPr>
          <p:cNvPr id="1048703" name="Slide Number Placeholder 8"/>
          <p:cNvSpPr>
            <a:spLocks noGrp="1"/>
          </p:cNvSpPr>
          <p:nvPr>
            <p:ph type="sldNum" sz="quarter" idx="12"/>
          </p:nvPr>
        </p:nvSpPr>
        <p:spPr/>
        <p:txBody>
          <a:bodyPr/>
          <a:p>
            <a:fld id="{23C1B05D-ABB2-4149-B92E-AC04E61D380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89" name=""/>
        <p:cNvGrpSpPr/>
        <p:nvPr/>
      </p:nvGrpSpPr>
      <p:grpSpPr>
        <a:xfrm>
          <a:off x="0" y="0"/>
          <a:ext cx="0" cy="0"/>
          <a:chOff x="0" y="0"/>
          <a:chExt cx="0" cy="0"/>
        </a:xfrm>
      </p:grpSpPr>
      <p:sp>
        <p:nvSpPr>
          <p:cNvPr id="1048665" name="Title 1"/>
          <p:cNvSpPr>
            <a:spLocks noGrp="1"/>
          </p:cNvSpPr>
          <p:nvPr>
            <p:ph type="title"/>
          </p:nvPr>
        </p:nvSpPr>
        <p:spPr/>
        <p:txBody>
          <a:bodyPr/>
          <a:p>
            <a:r>
              <a:rPr lang="en-US" smtClean="0"/>
              <a:t>Click to edit Master title style</a:t>
            </a:r>
            <a:endParaRPr lang="en-US"/>
          </a:p>
        </p:txBody>
      </p:sp>
      <p:sp>
        <p:nvSpPr>
          <p:cNvPr id="1048666" name="Date Placeholder 2"/>
          <p:cNvSpPr>
            <a:spLocks noGrp="1"/>
          </p:cNvSpPr>
          <p:nvPr>
            <p:ph type="dt" sz="half" idx="10"/>
          </p:nvPr>
        </p:nvSpPr>
        <p:spPr/>
        <p:txBody>
          <a:bodyPr/>
          <a:p>
            <a:fld id="{3CD1857B-71CC-4BEC-8B73-05422B2BBE34}" type="datetimeFigureOut">
              <a:rPr lang="en-US" smtClean="0"/>
              <a:t>3/30/2025</a:t>
            </a:fld>
            <a:endParaRPr lang="en-US"/>
          </a:p>
        </p:txBody>
      </p:sp>
      <p:sp>
        <p:nvSpPr>
          <p:cNvPr id="1048667" name="Footer Placeholder 3"/>
          <p:cNvSpPr>
            <a:spLocks noGrp="1"/>
          </p:cNvSpPr>
          <p:nvPr>
            <p:ph type="ftr" sz="quarter" idx="11"/>
          </p:nvPr>
        </p:nvSpPr>
        <p:spPr/>
        <p:txBody>
          <a:bodyPr/>
          <a:p>
            <a:endParaRPr lang="en-US"/>
          </a:p>
        </p:txBody>
      </p:sp>
      <p:sp>
        <p:nvSpPr>
          <p:cNvPr id="1048668" name="Slide Number Placeholder 4"/>
          <p:cNvSpPr>
            <a:spLocks noGrp="1"/>
          </p:cNvSpPr>
          <p:nvPr>
            <p:ph type="sldNum" sz="quarter" idx="12"/>
          </p:nvPr>
        </p:nvSpPr>
        <p:spPr/>
        <p:txBody>
          <a:bodyPr/>
          <a:p>
            <a:fld id="{23C1B05D-ABB2-4149-B92E-AC04E61D380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96" name=""/>
        <p:cNvGrpSpPr/>
        <p:nvPr/>
      </p:nvGrpSpPr>
      <p:grpSpPr>
        <a:xfrm>
          <a:off x="0" y="0"/>
          <a:ext cx="0" cy="0"/>
          <a:chOff x="0" y="0"/>
          <a:chExt cx="0" cy="0"/>
        </a:xfrm>
      </p:grpSpPr>
      <p:sp>
        <p:nvSpPr>
          <p:cNvPr id="1048704" name="Date Placeholder 1"/>
          <p:cNvSpPr>
            <a:spLocks noGrp="1"/>
          </p:cNvSpPr>
          <p:nvPr>
            <p:ph type="dt" sz="half" idx="10"/>
          </p:nvPr>
        </p:nvSpPr>
        <p:spPr/>
        <p:txBody>
          <a:bodyPr/>
          <a:p>
            <a:fld id="{3CD1857B-71CC-4BEC-8B73-05422B2BBE34}" type="datetimeFigureOut">
              <a:rPr lang="en-US" smtClean="0"/>
              <a:t>3/30/2025</a:t>
            </a:fld>
            <a:endParaRPr lang="en-US"/>
          </a:p>
        </p:txBody>
      </p:sp>
      <p:sp>
        <p:nvSpPr>
          <p:cNvPr id="1048705" name="Footer Placeholder 2"/>
          <p:cNvSpPr>
            <a:spLocks noGrp="1"/>
          </p:cNvSpPr>
          <p:nvPr>
            <p:ph type="ftr" sz="quarter" idx="11"/>
          </p:nvPr>
        </p:nvSpPr>
        <p:spPr/>
        <p:txBody>
          <a:bodyPr/>
          <a:p>
            <a:endParaRPr lang="en-US"/>
          </a:p>
        </p:txBody>
      </p:sp>
      <p:sp>
        <p:nvSpPr>
          <p:cNvPr id="1048706" name="Slide Number Placeholder 3"/>
          <p:cNvSpPr>
            <a:spLocks noGrp="1"/>
          </p:cNvSpPr>
          <p:nvPr>
            <p:ph type="sldNum" sz="quarter" idx="12"/>
          </p:nvPr>
        </p:nvSpPr>
        <p:spPr/>
        <p:txBody>
          <a:bodyPr/>
          <a:p>
            <a:fld id="{23C1B05D-ABB2-4149-B92E-AC04E61D380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97" name=""/>
        <p:cNvGrpSpPr/>
        <p:nvPr/>
      </p:nvGrpSpPr>
      <p:grpSpPr>
        <a:xfrm>
          <a:off x="0" y="0"/>
          <a:ext cx="0" cy="0"/>
          <a:chOff x="0" y="0"/>
          <a:chExt cx="0" cy="0"/>
        </a:xfrm>
      </p:grpSpPr>
      <p:sp>
        <p:nvSpPr>
          <p:cNvPr id="1048707"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1048708"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709" name="Text Placeholder 3"/>
          <p:cNvSpPr>
            <a:spLocks noGrp="1"/>
          </p:cNvSpPr>
          <p:nvPr>
            <p:ph type="body" sz="half" idx="2"/>
          </p:nvPr>
        </p:nvSpPr>
        <p:spPr>
          <a:xfrm>
            <a:off x="839788" y="2057400"/>
            <a:ext cx="3932237" cy="3811588"/>
          </a:xfrm>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smtClean="0"/>
              <a:t>Click to edit Master text styles</a:t>
            </a:r>
          </a:p>
        </p:txBody>
      </p:sp>
      <p:sp>
        <p:nvSpPr>
          <p:cNvPr id="1048710" name="Date Placeholder 4"/>
          <p:cNvSpPr>
            <a:spLocks noGrp="1"/>
          </p:cNvSpPr>
          <p:nvPr>
            <p:ph type="dt" sz="half" idx="10"/>
          </p:nvPr>
        </p:nvSpPr>
        <p:spPr/>
        <p:txBody>
          <a:bodyPr/>
          <a:p>
            <a:fld id="{3CD1857B-71CC-4BEC-8B73-05422B2BBE34}" type="datetimeFigureOut">
              <a:rPr lang="en-US" smtClean="0"/>
              <a:t>3/30/2025</a:t>
            </a:fld>
            <a:endParaRPr lang="en-US"/>
          </a:p>
        </p:txBody>
      </p:sp>
      <p:sp>
        <p:nvSpPr>
          <p:cNvPr id="1048711" name="Footer Placeholder 5"/>
          <p:cNvSpPr>
            <a:spLocks noGrp="1"/>
          </p:cNvSpPr>
          <p:nvPr>
            <p:ph type="ftr" sz="quarter" idx="11"/>
          </p:nvPr>
        </p:nvSpPr>
        <p:spPr/>
        <p:txBody>
          <a:bodyPr/>
          <a:p>
            <a:endParaRPr lang="en-US"/>
          </a:p>
        </p:txBody>
      </p:sp>
      <p:sp>
        <p:nvSpPr>
          <p:cNvPr id="1048712" name="Slide Number Placeholder 6"/>
          <p:cNvSpPr>
            <a:spLocks noGrp="1"/>
          </p:cNvSpPr>
          <p:nvPr>
            <p:ph type="sldNum" sz="quarter" idx="12"/>
          </p:nvPr>
        </p:nvSpPr>
        <p:spPr/>
        <p:txBody>
          <a:bodyPr/>
          <a:p>
            <a:fld id="{23C1B05D-ABB2-4149-B92E-AC04E61D380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91" name=""/>
        <p:cNvGrpSpPr/>
        <p:nvPr/>
      </p:nvGrpSpPr>
      <p:grpSpPr>
        <a:xfrm>
          <a:off x="0" y="0"/>
          <a:ext cx="0" cy="0"/>
          <a:chOff x="0" y="0"/>
          <a:chExt cx="0" cy="0"/>
        </a:xfrm>
      </p:grpSpPr>
      <p:sp>
        <p:nvSpPr>
          <p:cNvPr id="1048674"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1048675" name="Picture Placeholder 2"/>
          <p:cNvSpPr>
            <a:spLocks noGrp="1"/>
          </p:cNvSpPr>
          <p:nvPr>
            <p:ph type="pic" idx="1"/>
          </p:nvPr>
        </p:nvSpPr>
        <p:spPr>
          <a:xfrm>
            <a:off x="5183188" y="987425"/>
            <a:ext cx="6172200" cy="4873625"/>
          </a:xfrm>
        </p:spPr>
        <p:txBody>
          <a:bodyPr/>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endParaRPr lang="en-US"/>
          </a:p>
        </p:txBody>
      </p:sp>
      <p:sp>
        <p:nvSpPr>
          <p:cNvPr id="1048676" name="Text Placeholder 3"/>
          <p:cNvSpPr>
            <a:spLocks noGrp="1"/>
          </p:cNvSpPr>
          <p:nvPr>
            <p:ph type="body" sz="half" idx="2"/>
          </p:nvPr>
        </p:nvSpPr>
        <p:spPr>
          <a:xfrm>
            <a:off x="839788" y="2057400"/>
            <a:ext cx="3932237" cy="3811588"/>
          </a:xfrm>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smtClean="0"/>
              <a:t>Click to edit Master text styles</a:t>
            </a:r>
          </a:p>
        </p:txBody>
      </p:sp>
      <p:sp>
        <p:nvSpPr>
          <p:cNvPr id="1048677" name="Date Placeholder 4"/>
          <p:cNvSpPr>
            <a:spLocks noGrp="1"/>
          </p:cNvSpPr>
          <p:nvPr>
            <p:ph type="dt" sz="half" idx="10"/>
          </p:nvPr>
        </p:nvSpPr>
        <p:spPr/>
        <p:txBody>
          <a:bodyPr/>
          <a:p>
            <a:fld id="{3CD1857B-71CC-4BEC-8B73-05422B2BBE34}" type="datetimeFigureOut">
              <a:rPr lang="en-US" smtClean="0"/>
              <a:t>3/30/2025</a:t>
            </a:fld>
            <a:endParaRPr lang="en-US"/>
          </a:p>
        </p:txBody>
      </p:sp>
      <p:sp>
        <p:nvSpPr>
          <p:cNvPr id="1048678" name="Footer Placeholder 5"/>
          <p:cNvSpPr>
            <a:spLocks noGrp="1"/>
          </p:cNvSpPr>
          <p:nvPr>
            <p:ph type="ftr" sz="quarter" idx="11"/>
          </p:nvPr>
        </p:nvSpPr>
        <p:spPr/>
        <p:txBody>
          <a:bodyPr/>
          <a:p>
            <a:endParaRPr lang="en-US"/>
          </a:p>
        </p:txBody>
      </p:sp>
      <p:sp>
        <p:nvSpPr>
          <p:cNvPr id="1048679" name="Slide Number Placeholder 6"/>
          <p:cNvSpPr>
            <a:spLocks noGrp="1"/>
          </p:cNvSpPr>
          <p:nvPr>
            <p:ph type="sldNum" sz="quarter" idx="12"/>
          </p:nvPr>
        </p:nvSpPr>
        <p:spPr/>
        <p:txBody>
          <a:bodyPr/>
          <a:p>
            <a:fld id="{23C1B05D-ABB2-4149-B92E-AC04E61D380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92" name=""/>
        <p:cNvGrpSpPr/>
        <p:nvPr/>
      </p:nvGrpSpPr>
      <p:grpSpPr>
        <a:xfrm>
          <a:off x="0" y="0"/>
          <a:ext cx="0" cy="0"/>
          <a:chOff x="0" y="0"/>
          <a:chExt cx="0" cy="0"/>
        </a:xfrm>
      </p:grpSpPr>
      <p:sp>
        <p:nvSpPr>
          <p:cNvPr id="1048680" name="Title 1"/>
          <p:cNvSpPr>
            <a:spLocks noGrp="1"/>
          </p:cNvSpPr>
          <p:nvPr>
            <p:ph type="title"/>
          </p:nvPr>
        </p:nvSpPr>
        <p:spPr/>
        <p:txBody>
          <a:bodyPr/>
          <a:p>
            <a:r>
              <a:rPr lang="en-US" smtClean="0"/>
              <a:t>Click to edit Master title style</a:t>
            </a:r>
            <a:endParaRPr lang="en-US"/>
          </a:p>
        </p:txBody>
      </p:sp>
      <p:sp>
        <p:nvSpPr>
          <p:cNvPr id="1048681" name="Vertical Text Placeholder 2"/>
          <p:cNvSpPr>
            <a:spLocks noGrp="1"/>
          </p:cNvSpPr>
          <p:nvPr>
            <p:ph type="body" orient="vert" idx="1"/>
          </p:nvPr>
        </p:nvSpPr>
        <p:spPr/>
        <p:txBody>
          <a:bodyPr vert="eaVert"/>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82" name="Date Placeholder 3"/>
          <p:cNvSpPr>
            <a:spLocks noGrp="1"/>
          </p:cNvSpPr>
          <p:nvPr>
            <p:ph type="dt" sz="half" idx="10"/>
          </p:nvPr>
        </p:nvSpPr>
        <p:spPr/>
        <p:txBody>
          <a:bodyPr/>
          <a:p>
            <a:fld id="{3CD1857B-71CC-4BEC-8B73-05422B2BBE34}" type="datetimeFigureOut">
              <a:rPr lang="en-US" smtClean="0"/>
              <a:t>3/30/2025</a:t>
            </a:fld>
            <a:endParaRPr lang="en-US"/>
          </a:p>
        </p:txBody>
      </p:sp>
      <p:sp>
        <p:nvSpPr>
          <p:cNvPr id="1048683" name="Footer Placeholder 4"/>
          <p:cNvSpPr>
            <a:spLocks noGrp="1"/>
          </p:cNvSpPr>
          <p:nvPr>
            <p:ph type="ftr" sz="quarter" idx="11"/>
          </p:nvPr>
        </p:nvSpPr>
        <p:spPr/>
        <p:txBody>
          <a:bodyPr/>
          <a:p>
            <a:endParaRPr lang="en-US"/>
          </a:p>
        </p:txBody>
      </p:sp>
      <p:sp>
        <p:nvSpPr>
          <p:cNvPr id="1048684" name="Slide Number Placeholder 5"/>
          <p:cNvSpPr>
            <a:spLocks noGrp="1"/>
          </p:cNvSpPr>
          <p:nvPr>
            <p:ph type="sldNum" sz="quarter" idx="12"/>
          </p:nvPr>
        </p:nvSpPr>
        <p:spPr/>
        <p:txBody>
          <a:bodyPr/>
          <a:p>
            <a:fld id="{23C1B05D-ABB2-4149-B92E-AC04E61D380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90" name=""/>
        <p:cNvGrpSpPr/>
        <p:nvPr/>
      </p:nvGrpSpPr>
      <p:grpSpPr>
        <a:xfrm>
          <a:off x="0" y="0"/>
          <a:ext cx="0" cy="0"/>
          <a:chOff x="0" y="0"/>
          <a:chExt cx="0" cy="0"/>
        </a:xfrm>
      </p:grpSpPr>
      <p:sp>
        <p:nvSpPr>
          <p:cNvPr id="1048669" name="Vertical Title 1"/>
          <p:cNvSpPr>
            <a:spLocks noGrp="1"/>
          </p:cNvSpPr>
          <p:nvPr>
            <p:ph type="title" orient="vert"/>
          </p:nvPr>
        </p:nvSpPr>
        <p:spPr>
          <a:xfrm>
            <a:off x="8724900" y="365125"/>
            <a:ext cx="2628900" cy="5811838"/>
          </a:xfrm>
        </p:spPr>
        <p:txBody>
          <a:bodyPr vert="eaVert"/>
          <a:p>
            <a:r>
              <a:rPr lang="en-US" smtClean="0"/>
              <a:t>Click to edit Master title style</a:t>
            </a:r>
            <a:endParaRPr lang="en-US"/>
          </a:p>
        </p:txBody>
      </p:sp>
      <p:sp>
        <p:nvSpPr>
          <p:cNvPr id="1048670" name="Vertical Text Placeholder 2"/>
          <p:cNvSpPr>
            <a:spLocks noGrp="1"/>
          </p:cNvSpPr>
          <p:nvPr>
            <p:ph type="body" orient="vert" idx="1"/>
          </p:nvPr>
        </p:nvSpPr>
        <p:spPr>
          <a:xfrm>
            <a:off x="838200" y="365125"/>
            <a:ext cx="7734300" cy="5811838"/>
          </a:xfrm>
        </p:spPr>
        <p:txBody>
          <a:bodyPr vert="eaVert"/>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71" name="Date Placeholder 3"/>
          <p:cNvSpPr>
            <a:spLocks noGrp="1"/>
          </p:cNvSpPr>
          <p:nvPr>
            <p:ph type="dt" sz="half" idx="10"/>
          </p:nvPr>
        </p:nvSpPr>
        <p:spPr/>
        <p:txBody>
          <a:bodyPr/>
          <a:p>
            <a:fld id="{3CD1857B-71CC-4BEC-8B73-05422B2BBE34}" type="datetimeFigureOut">
              <a:rPr lang="en-US" smtClean="0"/>
              <a:t>3/30/2025</a:t>
            </a:fld>
            <a:endParaRPr lang="en-US"/>
          </a:p>
        </p:txBody>
      </p:sp>
      <p:sp>
        <p:nvSpPr>
          <p:cNvPr id="1048672" name="Footer Placeholder 4"/>
          <p:cNvSpPr>
            <a:spLocks noGrp="1"/>
          </p:cNvSpPr>
          <p:nvPr>
            <p:ph type="ftr" sz="quarter" idx="11"/>
          </p:nvPr>
        </p:nvSpPr>
        <p:spPr/>
        <p:txBody>
          <a:bodyPr/>
          <a:p>
            <a:endParaRPr lang="en-US"/>
          </a:p>
        </p:txBody>
      </p:sp>
      <p:sp>
        <p:nvSpPr>
          <p:cNvPr id="1048673" name="Slide Number Placeholder 5"/>
          <p:cNvSpPr>
            <a:spLocks noGrp="1"/>
          </p:cNvSpPr>
          <p:nvPr>
            <p:ph type="sldNum" sz="quarter" idx="12"/>
          </p:nvPr>
        </p:nvSpPr>
        <p:spPr/>
        <p:txBody>
          <a:bodyPr/>
          <a:p>
            <a:fld id="{23C1B05D-ABB2-4149-B92E-AC04E61D380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1" name=""/>
        <p:cNvGrpSpPr/>
        <p:nvPr/>
      </p:nvGrpSpPr>
      <p:grpSpPr>
        <a:xfrm>
          <a:off x="0" y="0"/>
          <a:ext cx="0" cy="0"/>
          <a:chOff x="0" y="0"/>
          <a:chExt cx="0" cy="0"/>
        </a:xfrm>
      </p:grpSpPr>
      <p:sp>
        <p:nvSpPr>
          <p:cNvPr id="1048576" name="Title Placeholder 1"/>
          <p:cNvSpPr>
            <a:spLocks noGrp="1"/>
          </p:cNvSpPr>
          <p:nvPr>
            <p:ph type="title"/>
          </p:nvPr>
        </p:nvSpPr>
        <p:spPr>
          <a:xfrm>
            <a:off x="838200" y="365125"/>
            <a:ext cx="10515600" cy="1325563"/>
          </a:xfrm>
          <a:prstGeom prst="rect"/>
        </p:spPr>
        <p:txBody>
          <a:bodyPr anchor="ctr" bIns="45720" lIns="91440" rIns="91440" rtlCol="0" tIns="45720" vert="horz">
            <a:normAutofit/>
          </a:bodyPr>
          <a:p>
            <a:r>
              <a:rPr lang="en-US" smtClean="0"/>
              <a:t>Click to edit Master title style</a:t>
            </a:r>
            <a:endParaRPr lang="en-US"/>
          </a:p>
        </p:txBody>
      </p:sp>
      <p:sp>
        <p:nvSpPr>
          <p:cNvPr id="1048577" name="Text Placeholder 2"/>
          <p:cNvSpPr>
            <a:spLocks noGrp="1"/>
          </p:cNvSpPr>
          <p:nvPr>
            <p:ph type="body" idx="1"/>
          </p:nvPr>
        </p:nvSpPr>
        <p:spPr>
          <a:xfrm>
            <a:off x="838200" y="1825625"/>
            <a:ext cx="10515600" cy="4351338"/>
          </a:xfrm>
          <a:prstGeom prst="rect"/>
        </p:spPr>
        <p:txBody>
          <a:bodyPr bIns="45720" lIns="91440" rIns="91440" rtlCol="0" tIns="45720" vert="horz">
            <a:normAutofit/>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578" name="Date Placeholder 3"/>
          <p:cNvSpPr>
            <a:spLocks noGrp="1"/>
          </p:cNvSpPr>
          <p:nvPr>
            <p:ph type="dt" sz="half" idx="2"/>
          </p:nvPr>
        </p:nvSpPr>
        <p:spPr>
          <a:xfrm>
            <a:off x="838200" y="6356350"/>
            <a:ext cx="2743200" cy="365125"/>
          </a:xfrm>
          <a:prstGeom prst="rect"/>
        </p:spPr>
        <p:txBody>
          <a:bodyPr anchor="ctr" bIns="45720" lIns="91440" rIns="91440" rtlCol="0" tIns="45720" vert="horz"/>
          <a:lstStyle>
            <a:lvl1pPr algn="l">
              <a:defRPr sz="1200">
                <a:solidFill>
                  <a:schemeClr val="tx1">
                    <a:tint val="75000"/>
                  </a:schemeClr>
                </a:solidFill>
              </a:defRPr>
            </a:lvl1pPr>
          </a:lstStyle>
          <a:p>
            <a:fld id="{3CD1857B-71CC-4BEC-8B73-05422B2BBE34}" type="datetimeFigureOut">
              <a:rPr lang="en-US" smtClean="0"/>
              <a:t>3/30/2025</a:t>
            </a:fld>
            <a:endParaRPr lang="en-US"/>
          </a:p>
        </p:txBody>
      </p:sp>
      <p:sp>
        <p:nvSpPr>
          <p:cNvPr id="1048579" name="Footer Placeholder 4"/>
          <p:cNvSpPr>
            <a:spLocks noGrp="1"/>
          </p:cNvSpPr>
          <p:nvPr>
            <p:ph type="ftr" sz="quarter" idx="3"/>
          </p:nvPr>
        </p:nvSpPr>
        <p:spPr>
          <a:xfrm>
            <a:off x="4038600" y="6356350"/>
            <a:ext cx="4114800" cy="365125"/>
          </a:xfrm>
          <a:prstGeom prst="rect"/>
        </p:spPr>
        <p:txBody>
          <a:bodyPr anchor="ctr" bIns="45720" lIns="91440" rIns="91440" rtlCol="0" tIns="45720" vert="horz"/>
          <a:lstStyle>
            <a:lvl1pPr algn="ctr">
              <a:defRPr sz="1200">
                <a:solidFill>
                  <a:schemeClr val="tx1">
                    <a:tint val="75000"/>
                  </a:schemeClr>
                </a:solidFill>
              </a:defRPr>
            </a:lvl1pPr>
          </a:lstStyle>
          <a:p>
            <a:endParaRPr lang="en-US"/>
          </a:p>
        </p:txBody>
      </p:sp>
      <p:sp>
        <p:nvSpPr>
          <p:cNvPr id="1048580" name="Slide Number Placeholder 5"/>
          <p:cNvSpPr>
            <a:spLocks noGrp="1"/>
          </p:cNvSpPr>
          <p:nvPr>
            <p:ph type="sldNum" sz="quarter" idx="4"/>
          </p:nvPr>
        </p:nvSpPr>
        <p:spPr>
          <a:xfrm>
            <a:off x="8610600" y="6356350"/>
            <a:ext cx="2743200" cy="365125"/>
          </a:xfrm>
          <a:prstGeom prst="rect"/>
        </p:spPr>
        <p:txBody>
          <a:bodyPr anchor="ctr" bIns="45720" lIns="91440" rIns="91440" rtlCol="0" tIns="45720" vert="horz"/>
          <a:lstStyle>
            <a:lvl1pPr algn="r">
              <a:defRPr sz="1200">
                <a:solidFill>
                  <a:schemeClr val="tx1">
                    <a:tint val="75000"/>
                  </a:schemeClr>
                </a:solidFill>
              </a:defRPr>
            </a:lvl1pPr>
          </a:lstStyle>
          <a:p>
            <a:fld id="{23C1B05D-ABB2-4149-B92E-AC04E61D3803}" type="slidenum">
              <a:rPr lang="en-US" smtClean="0"/>
              <a:t>‹#›</a:t>
            </a:fld>
            <a:endParaRPr lang="en-US"/>
          </a:p>
        </p:txBody>
      </p:sp>
    </p:spTree>
  </p:cSld>
  <p:clrMap accent1="accent1" accent2="accent2" accent3="accent3" accent4="accent4" accent5="accent5" accent6="accent6" bg1="lt1" bg2="lt2" tx1="dk1" tx2="dk2"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eaLnBrk="1" hangingPunct="1" latinLnBrk="0" rtl="0">
        <a:lnSpc>
          <a:spcPct val="90000"/>
        </a:lnSpc>
        <a:spcBef>
          <a:spcPct val="0"/>
        </a:spcBef>
        <a:buNone/>
        <a:defRPr sz="4400" kern="1200">
          <a:solidFill>
            <a:schemeClr val="tx1"/>
          </a:solidFill>
          <a:latin typeface="+mj-lt"/>
          <a:ea typeface="+mj-ea"/>
          <a:cs typeface="+mj-cs"/>
        </a:defRPr>
      </a:lvl1pPr>
    </p:titleStyle>
    <p:bodyStyle>
      <a:lvl1pPr algn="l" defTabSz="914400" eaLnBrk="1" hangingPunct="1" indent="-228600" latinLnBrk="0" marL="228600" rtl="0">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algn="l" defTabSz="914400" eaLnBrk="1" hangingPunct="1" indent="-228600" latinLnBrk="0" marL="685800" rtl="0">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algn="l" defTabSz="914400" eaLnBrk="1" hangingPunct="1" indent="-228600" latinLnBrk="0" marL="1143000" rtl="0">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algn="l" defTabSz="914400" eaLnBrk="1" hangingPunct="1" indent="-228600" latinLnBrk="0" marL="1600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algn="l" defTabSz="914400" eaLnBrk="1" hangingPunct="1" indent="-228600" latinLnBrk="0" marL="20574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algn="l" defTabSz="914400" eaLnBrk="1" hangingPunct="1" indent="-228600" latinLnBrk="0" marL="25146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algn="l" defTabSz="914400" eaLnBrk="1" hangingPunct="1" indent="-228600" latinLnBrk="0" marL="29718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algn="l" defTabSz="914400" eaLnBrk="1" hangingPunct="1" indent="-228600" latinLnBrk="0" marL="34290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algn="l" defTabSz="914400" eaLnBrk="1" hangingPunct="1" indent="-228600" latinLnBrk="0" marL="3886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1048586" name="Title 1"/>
          <p:cNvSpPr>
            <a:spLocks noGrp="1"/>
          </p:cNvSpPr>
          <p:nvPr>
            <p:ph type="ctrTitle"/>
          </p:nvPr>
        </p:nvSpPr>
        <p:spPr/>
        <p:txBody>
          <a:bodyPr/>
          <a:p>
            <a:r>
              <a:rPr dirty="0" lang="en-GB" smtClean="0"/>
              <a:t>CIVIL LITIGATION </a:t>
            </a:r>
            <a:br>
              <a:rPr dirty="0" lang="en-GB" smtClean="0"/>
            </a:br>
            <a:r>
              <a:rPr dirty="0" lang="en-GB" smtClean="0"/>
              <a:t>WEEK 4</a:t>
            </a:r>
            <a:endParaRPr dirty="0" lang="en-US"/>
          </a:p>
        </p:txBody>
      </p:sp>
      <p:sp>
        <p:nvSpPr>
          <p:cNvPr id="1048587" name="Subtitle 2"/>
          <p:cNvSpPr>
            <a:spLocks noGrp="1"/>
          </p:cNvSpPr>
          <p:nvPr>
            <p:ph type="subTitle" idx="1"/>
          </p:nvPr>
        </p:nvSpPr>
        <p:spPr/>
        <p:txBody>
          <a:bodyPr>
            <a:normAutofit/>
          </a:bodyPr>
          <a:p>
            <a:r>
              <a:rPr dirty="0" sz="4800" lang="x-none" smtClean="0"/>
              <a:t>PARTIES TO AN ACTION</a:t>
            </a:r>
            <a:endParaRPr dirty="0" sz="4800"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52" name=""/>
        <p:cNvGrpSpPr/>
        <p:nvPr/>
      </p:nvGrpSpPr>
      <p:grpSpPr>
        <a:xfrm>
          <a:off x="0" y="0"/>
          <a:ext cx="0" cy="0"/>
          <a:chOff x="0" y="0"/>
          <a:chExt cx="0" cy="0"/>
        </a:xfrm>
      </p:grpSpPr>
      <p:sp>
        <p:nvSpPr>
          <p:cNvPr id="1048588" name="Title 1"/>
          <p:cNvSpPr>
            <a:spLocks noGrp="1"/>
          </p:cNvSpPr>
          <p:nvPr>
            <p:ph type="ctrTitle"/>
          </p:nvPr>
        </p:nvSpPr>
        <p:spPr/>
        <p:txBody>
          <a:bodyPr/>
          <a:p>
            <a:r>
              <a:rPr dirty="0" lang="x-none"/>
              <a:t>PARTIES TO AN ACTION</a:t>
            </a:r>
          </a:p>
        </p:txBody>
      </p:sp>
      <p:sp>
        <p:nvSpPr>
          <p:cNvPr id="1048589" name="Subtitle 2"/>
          <p:cNvSpPr>
            <a:spLocks noGrp="1"/>
          </p:cNvSpPr>
          <p:nvPr>
            <p:ph type="subTitle" idx="1"/>
          </p:nvPr>
        </p:nvSpPr>
        <p:spPr/>
        <p:txBody>
          <a:bodyPr/>
          <a:p>
            <a:endParaRPr lang="x-none"/>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54" name=""/>
        <p:cNvGrpSpPr/>
        <p:nvPr/>
      </p:nvGrpSpPr>
      <p:grpSpPr>
        <a:xfrm>
          <a:off x="0" y="0"/>
          <a:ext cx="0" cy="0"/>
          <a:chOff x="0" y="0"/>
          <a:chExt cx="0" cy="0"/>
        </a:xfrm>
      </p:grpSpPr>
      <p:sp>
        <p:nvSpPr>
          <p:cNvPr id="1048595" name="Title 1"/>
          <p:cNvSpPr>
            <a:spLocks noGrp="1"/>
          </p:cNvSpPr>
          <p:nvPr>
            <p:ph type="title"/>
          </p:nvPr>
        </p:nvSpPr>
        <p:spPr/>
        <p:txBody>
          <a:bodyPr/>
          <a:p>
            <a:pPr algn="ctr"/>
            <a:r>
              <a:rPr b="1" dirty="0" lang="en-GB">
                <a:latin typeface="Times New Roman" panose="02020603050405020304" pitchFamily="18" charset="0"/>
                <a:cs typeface="Times New Roman" panose="02020603050405020304" pitchFamily="18" charset="0"/>
              </a:rPr>
              <a:t>LESSON CONTENT</a:t>
            </a:r>
            <a:endParaRPr dirty="0" lang="x-none">
              <a:latin typeface="Times New Roman" panose="02020603050405020304" pitchFamily="18" charset="0"/>
              <a:cs typeface="Times New Roman" panose="02020603050405020304" pitchFamily="18" charset="0"/>
            </a:endParaRPr>
          </a:p>
        </p:txBody>
      </p:sp>
      <p:sp>
        <p:nvSpPr>
          <p:cNvPr id="1048596" name="Content Placeholder 2"/>
          <p:cNvSpPr>
            <a:spLocks noGrp="1"/>
          </p:cNvSpPr>
          <p:nvPr>
            <p:ph idx="1"/>
          </p:nvPr>
        </p:nvSpPr>
        <p:spPr/>
        <p:txBody>
          <a:bodyPr>
            <a:normAutofit fontScale="96429" lnSpcReduction="10000"/>
          </a:bodyPr>
          <a:p>
            <a:pPr indent="0" marL="0">
              <a:buNone/>
            </a:pPr>
            <a:r>
              <a:rPr dirty="0" lang="en-US" smtClean="0"/>
              <a:t>1. Types </a:t>
            </a:r>
            <a:r>
              <a:rPr dirty="0" lang="en-US"/>
              <a:t>of parties;</a:t>
            </a:r>
          </a:p>
          <a:p>
            <a:pPr indent="0" marL="0">
              <a:buNone/>
            </a:pPr>
            <a:r>
              <a:rPr dirty="0" lang="en-US"/>
              <a:t>2. Capacity to sue and be sued; Classes of legal persons; Representative actions, Class actions and procedure</a:t>
            </a:r>
          </a:p>
          <a:p>
            <a:pPr indent="0" marL="0">
              <a:buNone/>
            </a:pPr>
            <a:r>
              <a:rPr dirty="0" lang="en-US"/>
              <a:t>3. Joint plaintiffs/Joint defendants.</a:t>
            </a:r>
          </a:p>
          <a:p>
            <a:pPr indent="0" marL="0">
              <a:buNone/>
            </a:pPr>
            <a:r>
              <a:rPr dirty="0" lang="en-US"/>
              <a:t>4. Joinder/Misjoinder of parties; Alteration of parties; Survival of parties.</a:t>
            </a:r>
          </a:p>
          <a:p>
            <a:pPr indent="0" marL="0">
              <a:buNone/>
            </a:pPr>
            <a:r>
              <a:rPr dirty="0" lang="en-US"/>
              <a:t>5. Third party notice or proceedings.</a:t>
            </a:r>
          </a:p>
          <a:p>
            <a:pPr indent="0" marL="0">
              <a:buNone/>
            </a:pPr>
            <a:r>
              <a:rPr dirty="0" lang="en-US"/>
              <a:t>6. Ethical issues involved in acting for and against a party in litigation under duties of lawyer to client, courts, the state and the legal profession</a:t>
            </a:r>
            <a:r>
              <a:rPr dirty="0" lang="en-US" smtClean="0"/>
              <a:t>.</a:t>
            </a:r>
            <a:r>
              <a:rPr dirty="0" lang="en-US"/>
              <a:t> </a:t>
            </a:r>
          </a:p>
          <a:p>
            <a:endParaRPr dirty="0" lang="x-none"/>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55" name=""/>
        <p:cNvGrpSpPr/>
        <p:nvPr/>
      </p:nvGrpSpPr>
      <p:grpSpPr>
        <a:xfrm>
          <a:off x="0" y="0"/>
          <a:ext cx="0" cy="0"/>
          <a:chOff x="0" y="0"/>
          <a:chExt cx="0" cy="0"/>
        </a:xfrm>
      </p:grpSpPr>
      <p:sp>
        <p:nvSpPr>
          <p:cNvPr id="1048597" name="Title 1"/>
          <p:cNvSpPr>
            <a:spLocks noGrp="1"/>
          </p:cNvSpPr>
          <p:nvPr>
            <p:ph type="title"/>
          </p:nvPr>
        </p:nvSpPr>
        <p:spPr/>
        <p:txBody>
          <a:bodyPr/>
          <a:p>
            <a:r>
              <a:rPr b="1" dirty="0" lang="en-US"/>
              <a:t>Outcomes</a:t>
            </a:r>
            <a:r>
              <a:rPr dirty="0" lang="en-US"/>
              <a:t/>
            </a:r>
            <a:br>
              <a:rPr dirty="0" lang="en-US"/>
            </a:br>
            <a:endParaRPr dirty="0" lang="en-US"/>
          </a:p>
        </p:txBody>
      </p:sp>
      <p:sp>
        <p:nvSpPr>
          <p:cNvPr id="1048598" name="Content Placeholder 2"/>
          <p:cNvSpPr>
            <a:spLocks noGrp="1"/>
          </p:cNvSpPr>
          <p:nvPr>
            <p:ph idx="1"/>
          </p:nvPr>
        </p:nvSpPr>
        <p:spPr/>
        <p:txBody>
          <a:bodyPr>
            <a:normAutofit fontScale="85714" lnSpcReduction="20000"/>
          </a:bodyPr>
          <a:p>
            <a:pPr indent="0" marL="0">
              <a:buNone/>
            </a:pPr>
            <a:r>
              <a:rPr dirty="0" lang="en-US" smtClean="0"/>
              <a:t>At </a:t>
            </a:r>
            <a:r>
              <a:rPr dirty="0" lang="en-US"/>
              <a:t>the end of the lesson, the students would be able to:</a:t>
            </a:r>
          </a:p>
          <a:p>
            <a:pPr indent="0" marL="0">
              <a:buNone/>
            </a:pPr>
            <a:r>
              <a:rPr dirty="0" lang="en-US" err="1" smtClean="0"/>
              <a:t>i.identify</a:t>
            </a:r>
            <a:r>
              <a:rPr dirty="0" lang="en-US" smtClean="0"/>
              <a:t> </a:t>
            </a:r>
            <a:r>
              <a:rPr dirty="0" lang="en-US"/>
              <a:t>and state the persons that can sue and be sued at law, select the appropriate parties in respect of any cause of action arising in various types of civil actions; and discuss the capacity in which parties sue or are sued, and explain the effects of suing or being sued in a wrong capacity;</a:t>
            </a:r>
          </a:p>
          <a:p>
            <a:pPr indent="0" marL="0">
              <a:buNone/>
            </a:pPr>
            <a:r>
              <a:rPr dirty="0" lang="en-US" err="1" smtClean="0"/>
              <a:t>ii.explain</a:t>
            </a:r>
            <a:r>
              <a:rPr dirty="0" lang="en-US" smtClean="0"/>
              <a:t> </a:t>
            </a:r>
            <a:r>
              <a:rPr dirty="0" lang="en-US"/>
              <a:t>the procedures for bringing proceedings by or against various classes of parties and representative suits;</a:t>
            </a:r>
          </a:p>
          <a:p>
            <a:pPr indent="0" marL="0">
              <a:buNone/>
            </a:pPr>
            <a:r>
              <a:rPr dirty="0" lang="en-US" err="1" smtClean="0"/>
              <a:t>iii.identify</a:t>
            </a:r>
            <a:r>
              <a:rPr dirty="0" lang="en-US" smtClean="0"/>
              <a:t> </a:t>
            </a:r>
            <a:r>
              <a:rPr dirty="0" lang="en-US"/>
              <a:t>and explain the scope of class actions;</a:t>
            </a:r>
          </a:p>
          <a:p>
            <a:pPr indent="0" marL="0">
              <a:buNone/>
            </a:pPr>
            <a:r>
              <a:rPr dirty="0" lang="en-US" err="1" smtClean="0"/>
              <a:t>iv.explain</a:t>
            </a:r>
            <a:r>
              <a:rPr dirty="0" lang="en-US" smtClean="0"/>
              <a:t> </a:t>
            </a:r>
            <a:r>
              <a:rPr dirty="0" lang="en-US"/>
              <a:t>the procedure for joinder and alteration of parties;</a:t>
            </a:r>
          </a:p>
          <a:p>
            <a:pPr indent="0" marL="0">
              <a:buNone/>
            </a:pPr>
            <a:r>
              <a:rPr dirty="0" lang="en-US" err="1" smtClean="0"/>
              <a:t>v.explain</a:t>
            </a:r>
            <a:r>
              <a:rPr dirty="0" lang="en-US" smtClean="0"/>
              <a:t> </a:t>
            </a:r>
            <a:r>
              <a:rPr dirty="0" lang="en-US"/>
              <a:t>the principles and scope of third party proceedings.</a:t>
            </a:r>
          </a:p>
          <a:p>
            <a:pPr indent="0" marL="0">
              <a:buNone/>
            </a:pPr>
            <a:r>
              <a:rPr dirty="0" lang="en-US" err="1" smtClean="0"/>
              <a:t>vi.draft</a:t>
            </a:r>
            <a:r>
              <a:rPr dirty="0" lang="en-US" smtClean="0"/>
              <a:t> </a:t>
            </a:r>
            <a:r>
              <a:rPr dirty="0" lang="en-US"/>
              <a:t>the various applications on parties; and</a:t>
            </a:r>
          </a:p>
          <a:p>
            <a:pPr indent="0" marL="0">
              <a:buNone/>
            </a:pPr>
            <a:r>
              <a:rPr dirty="0" lang="en-US" err="1" smtClean="0"/>
              <a:t>vii.identify</a:t>
            </a:r>
            <a:r>
              <a:rPr dirty="0" lang="en-US" smtClean="0"/>
              <a:t> </a:t>
            </a:r>
            <a:r>
              <a:rPr dirty="0" lang="en-US"/>
              <a:t>and explain ethical issues involved in acting for and against a party in litigation under duties of lawyer to client, courts, the state and the legal profession.</a:t>
            </a:r>
          </a:p>
          <a:p>
            <a:pPr indent="0" marL="0">
              <a:buNone/>
            </a:pPr>
            <a:endParaRPr dirty="0"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56" name=""/>
        <p:cNvGrpSpPr/>
        <p:nvPr/>
      </p:nvGrpSpPr>
      <p:grpSpPr>
        <a:xfrm>
          <a:off x="0" y="0"/>
          <a:ext cx="0" cy="0"/>
          <a:chOff x="0" y="0"/>
          <a:chExt cx="0" cy="0"/>
        </a:xfrm>
      </p:grpSpPr>
      <p:sp>
        <p:nvSpPr>
          <p:cNvPr id="1048599" name="Title 1"/>
          <p:cNvSpPr>
            <a:spLocks noGrp="1"/>
          </p:cNvSpPr>
          <p:nvPr>
            <p:ph type="title"/>
          </p:nvPr>
        </p:nvSpPr>
        <p:spPr/>
        <p:txBody>
          <a:bodyPr/>
          <a:p>
            <a:r>
              <a:rPr dirty="0" lang="x-none"/>
              <a:t>DEFINITION OF PARTIES</a:t>
            </a:r>
          </a:p>
        </p:txBody>
      </p:sp>
      <p:sp>
        <p:nvSpPr>
          <p:cNvPr id="1048600" name="Content Placeholder 2"/>
          <p:cNvSpPr>
            <a:spLocks noGrp="1"/>
          </p:cNvSpPr>
          <p:nvPr>
            <p:ph idx="1"/>
          </p:nvPr>
        </p:nvSpPr>
        <p:spPr/>
        <p:txBody>
          <a:bodyPr>
            <a:normAutofit/>
          </a:bodyPr>
          <a:p>
            <a:pPr algn="just">
              <a:buFont typeface="Wingdings" pitchFamily="2" charset="2"/>
              <a:buChar char="Ø"/>
            </a:pPr>
            <a:r>
              <a:rPr dirty="0" lang="en-US">
                <a:ea typeface="Tahoma" pitchFamily="34" charset="0"/>
                <a:cs typeface="Arial" charset="0"/>
              </a:rPr>
              <a:t>Person or persons by whom or against whom a civil action is instituted. </a:t>
            </a:r>
            <a:r>
              <a:rPr dirty="0" lang="en-GB"/>
              <a:t>Persons whose names appear on the record as plaintiffs or defendants as the case may be. See </a:t>
            </a:r>
            <a:r>
              <a:rPr b="1" dirty="0" lang="en-GB"/>
              <a:t>Green v Green (1987) LPELR-1338(SC)</a:t>
            </a:r>
            <a:endParaRPr b="1" dirty="0" lang="x-none"/>
          </a:p>
          <a:p>
            <a:pPr>
              <a:buFont typeface="Wingdings" pitchFamily="2" charset="2"/>
              <a:buChar char="Ø"/>
            </a:pPr>
            <a:r>
              <a:rPr dirty="0" lang="x-none"/>
              <a:t>Generally, these are parties to the dispute brought before the court</a:t>
            </a:r>
          </a:p>
          <a:p>
            <a:pPr algn="just">
              <a:buFont typeface="Wingdings" pitchFamily="2" charset="2"/>
              <a:buChar char="Ø"/>
            </a:pPr>
            <a:r>
              <a:rPr dirty="0" lang="x-none"/>
              <a:t>Must be set out as part of the heading of the originating and subsequent processes.</a:t>
            </a:r>
          </a:p>
          <a:p>
            <a:pPr algn="just">
              <a:buFont typeface="Wingdings" pitchFamily="2" charset="2"/>
              <a:buChar char="Ø"/>
            </a:pPr>
            <a:r>
              <a:rPr dirty="0" lang="en-GB"/>
              <a:t>C</a:t>
            </a:r>
            <a:r>
              <a:rPr dirty="0" lang="x-none"/>
              <a:t>ourt process in a civil action without parties cannot be comptetent and will be struck out.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57" name=""/>
        <p:cNvGrpSpPr/>
        <p:nvPr/>
      </p:nvGrpSpPr>
      <p:grpSpPr>
        <a:xfrm>
          <a:off x="0" y="0"/>
          <a:ext cx="0" cy="0"/>
          <a:chOff x="0" y="0"/>
          <a:chExt cx="0" cy="0"/>
        </a:xfrm>
      </p:grpSpPr>
      <p:sp>
        <p:nvSpPr>
          <p:cNvPr id="1048601" name="Title 1"/>
          <p:cNvSpPr>
            <a:spLocks noGrp="1"/>
          </p:cNvSpPr>
          <p:nvPr>
            <p:ph type="title"/>
          </p:nvPr>
        </p:nvSpPr>
        <p:spPr/>
        <p:txBody>
          <a:bodyPr/>
          <a:p>
            <a:r>
              <a:rPr dirty="0" lang="x-none"/>
              <a:t>DESIGNATION OF PARTIES</a:t>
            </a:r>
          </a:p>
        </p:txBody>
      </p:sp>
      <p:sp>
        <p:nvSpPr>
          <p:cNvPr id="1048602" name="Content Placeholder 2"/>
          <p:cNvSpPr>
            <a:spLocks noGrp="1"/>
          </p:cNvSpPr>
          <p:nvPr>
            <p:ph idx="1"/>
          </p:nvPr>
        </p:nvSpPr>
        <p:spPr/>
        <p:txBody>
          <a:bodyPr>
            <a:normAutofit/>
          </a:bodyPr>
          <a:p>
            <a:pPr algn="just">
              <a:buFont typeface="Wingdings" pitchFamily="2" charset="2"/>
              <a:buChar char="Ø"/>
            </a:pPr>
            <a:r>
              <a:rPr dirty="0" lang="en-US">
                <a:ea typeface="Tahoma" pitchFamily="34" charset="0"/>
                <a:cs typeface="Arial" charset="0"/>
              </a:rPr>
              <a:t>In actions by writ of summons or originating summons in Lagos and Abuja: </a:t>
            </a:r>
            <a:r>
              <a:rPr b="1" dirty="0" lang="en-US">
                <a:ea typeface="Tahoma" pitchFamily="34" charset="0"/>
                <a:cs typeface="Arial" charset="0"/>
              </a:rPr>
              <a:t>Claimant vs. Defendant.</a:t>
            </a:r>
          </a:p>
          <a:p>
            <a:pPr algn="just">
              <a:buFont typeface="Wingdings" pitchFamily="2" charset="2"/>
              <a:buChar char="Ø"/>
            </a:pPr>
            <a:r>
              <a:rPr dirty="0" lang="en-US">
                <a:ea typeface="Tahoma" pitchFamily="34" charset="0"/>
                <a:cs typeface="Arial" charset="0"/>
              </a:rPr>
              <a:t>In actions commenced by petition</a:t>
            </a:r>
            <a:r>
              <a:rPr b="1" dirty="0" lang="en-US">
                <a:ea typeface="Tahoma" pitchFamily="34" charset="0"/>
                <a:cs typeface="Arial" charset="0"/>
              </a:rPr>
              <a:t>: Petitioner vs. Respondent</a:t>
            </a:r>
          </a:p>
          <a:p>
            <a:pPr algn="just">
              <a:buFont typeface="Wingdings" pitchFamily="2" charset="2"/>
              <a:buChar char="Ø"/>
            </a:pPr>
            <a:r>
              <a:rPr dirty="0" lang="en-US">
                <a:ea typeface="Tahoma" pitchFamily="34" charset="0"/>
                <a:cs typeface="Arial" charset="0"/>
              </a:rPr>
              <a:t>In actions commenced by originating motion/application: </a:t>
            </a:r>
            <a:r>
              <a:rPr b="1" dirty="0" lang="en-US">
                <a:ea typeface="Tahoma" pitchFamily="34" charset="0"/>
                <a:cs typeface="Arial" charset="0"/>
              </a:rPr>
              <a:t>Applicant vs Respondent</a:t>
            </a:r>
          </a:p>
          <a:p>
            <a:pPr algn="just">
              <a:buFont typeface="Wingdings" pitchFamily="2" charset="2"/>
              <a:buChar char="Ø"/>
            </a:pPr>
            <a:r>
              <a:rPr dirty="0" lang="en-US">
                <a:ea typeface="Tahoma" pitchFamily="34" charset="0"/>
                <a:cs typeface="Arial" charset="0"/>
              </a:rPr>
              <a:t>On appeal: </a:t>
            </a:r>
            <a:r>
              <a:rPr b="1" dirty="0" lang="en-US">
                <a:ea typeface="Tahoma" pitchFamily="34" charset="0"/>
                <a:cs typeface="Arial" charset="0"/>
              </a:rPr>
              <a:t>Appellant vs. Respondent </a:t>
            </a:r>
          </a:p>
          <a:p>
            <a:pPr algn="just" indent="0" marL="0">
              <a:buNone/>
            </a:pPr>
            <a:endParaRPr dirty="0" lang="en-US">
              <a:ea typeface="Tahoma" pitchFamily="34" charset="0"/>
              <a:cs typeface="Arial"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58" name=""/>
        <p:cNvGrpSpPr/>
        <p:nvPr/>
      </p:nvGrpSpPr>
      <p:grpSpPr>
        <a:xfrm>
          <a:off x="0" y="0"/>
          <a:ext cx="0" cy="0"/>
          <a:chOff x="0" y="0"/>
          <a:chExt cx="0" cy="0"/>
        </a:xfrm>
      </p:grpSpPr>
      <p:sp>
        <p:nvSpPr>
          <p:cNvPr id="1048603" name="Title 1"/>
          <p:cNvSpPr>
            <a:spLocks noGrp="1"/>
          </p:cNvSpPr>
          <p:nvPr>
            <p:ph type="title"/>
          </p:nvPr>
        </p:nvSpPr>
        <p:spPr/>
        <p:txBody>
          <a:bodyPr/>
          <a:p>
            <a:r>
              <a:rPr dirty="0" lang="x-none"/>
              <a:t>CAPACITY TO SUE AND BE SUED</a:t>
            </a:r>
          </a:p>
        </p:txBody>
      </p:sp>
      <p:sp>
        <p:nvSpPr>
          <p:cNvPr id="1048604" name="Content Placeholder 2"/>
          <p:cNvSpPr>
            <a:spLocks noGrp="1"/>
          </p:cNvSpPr>
          <p:nvPr>
            <p:ph idx="1"/>
          </p:nvPr>
        </p:nvSpPr>
        <p:spPr/>
        <p:txBody>
          <a:bodyPr>
            <a:normAutofit/>
          </a:bodyPr>
          <a:p>
            <a:pPr algn="just" lvl="0">
              <a:buFont typeface="Wingdings" pitchFamily="2" charset="2"/>
              <a:buChar char="Ø"/>
            </a:pPr>
            <a:r>
              <a:rPr dirty="0" lang="en-US"/>
              <a:t>Only legal or juristic persons have capacity to sue or be sued.</a:t>
            </a:r>
          </a:p>
          <a:p>
            <a:pPr algn="just" lvl="0">
              <a:buFont typeface="Wingdings" pitchFamily="2" charset="2"/>
              <a:buChar char="Ø"/>
            </a:pPr>
            <a:r>
              <a:rPr dirty="0" lang="en-US"/>
              <a:t>Where a party lacks capacity to sue or be sued, such party’s name will be struck out. </a:t>
            </a:r>
          </a:p>
          <a:p>
            <a:pPr algn="just" lvl="0">
              <a:buFont typeface="Wingdings" pitchFamily="2" charset="2"/>
              <a:buChar char="Ø"/>
            </a:pPr>
            <a:r>
              <a:rPr dirty="0" lang="en-US"/>
              <a:t>If such party happens to be a sole claimant or sole defendant, the action would be struck out as incompetent. </a:t>
            </a:r>
            <a:r>
              <a:rPr dirty="0" sz="2400" lang="en-US"/>
              <a:t>See </a:t>
            </a:r>
            <a:r>
              <a:rPr b="1" dirty="0" sz="2400" lang="en-US"/>
              <a:t>SHITTA v LIGALI (1941); AGBONMAGBE BANK LTD V GENERAL MANAGER, GB OLILVANT LTD; OKECHUKWU &amp; SONS V. NDAH (1967); NJEMANZE V SHELL DEV COY, PORT HARCOURT (1966).</a:t>
            </a:r>
          </a:p>
          <a:p>
            <a:pPr algn="just" lvl="0">
              <a:buFont typeface="Wingdings" pitchFamily="2" charset="2"/>
              <a:buChar char="Ø"/>
            </a:pPr>
            <a:r>
              <a:rPr dirty="0" sz="2400" lang="en-US"/>
              <a:t>Note cases of misnomer which may be amended</a:t>
            </a:r>
            <a:r>
              <a:rPr b="1" dirty="0" sz="2400" lang="en-US"/>
              <a:t>. See </a:t>
            </a:r>
            <a:r>
              <a:rPr b="1" dirty="0" lang="en-US"/>
              <a:t>KALU V ODILI (1992); EMESPO CONTINENTAL V. CORONA (2006) NWLR (PT.991) 365 @378</a:t>
            </a:r>
            <a:endParaRPr dirty="0" lang="en-US"/>
          </a:p>
          <a:p>
            <a:pPr algn="just" indent="0" lvl="0" marL="0">
              <a:buNone/>
            </a:pPr>
            <a:endParaRPr dirty="0"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59" name=""/>
        <p:cNvGrpSpPr/>
        <p:nvPr/>
      </p:nvGrpSpPr>
      <p:grpSpPr>
        <a:xfrm>
          <a:off x="0" y="0"/>
          <a:ext cx="0" cy="0"/>
          <a:chOff x="0" y="0"/>
          <a:chExt cx="0" cy="0"/>
        </a:xfrm>
      </p:grpSpPr>
      <p:sp>
        <p:nvSpPr>
          <p:cNvPr id="1048605" name="Title 1"/>
          <p:cNvSpPr>
            <a:spLocks noGrp="1"/>
          </p:cNvSpPr>
          <p:nvPr>
            <p:ph type="title"/>
          </p:nvPr>
        </p:nvSpPr>
        <p:spPr/>
        <p:txBody>
          <a:bodyPr/>
          <a:p>
            <a:r>
              <a:rPr dirty="0" lang="x-none"/>
              <a:t>CLASSES OF LEGAL PERSONS</a:t>
            </a:r>
          </a:p>
        </p:txBody>
      </p:sp>
      <p:sp>
        <p:nvSpPr>
          <p:cNvPr id="1048606" name="Content Placeholder 2"/>
          <p:cNvSpPr>
            <a:spLocks noGrp="1"/>
          </p:cNvSpPr>
          <p:nvPr>
            <p:ph idx="1"/>
          </p:nvPr>
        </p:nvSpPr>
        <p:spPr/>
        <p:txBody>
          <a:bodyPr>
            <a:normAutofit lnSpcReduction="10000"/>
          </a:bodyPr>
          <a:p>
            <a:pPr algn="just" lvl="1">
              <a:buFont typeface="Wingdings" pitchFamily="2" charset="2"/>
              <a:buChar char="Ø"/>
            </a:pPr>
            <a:r>
              <a:rPr dirty="0" sz="3600" lang="en-US"/>
              <a:t>Legal person may be a natural person or an  artificial person</a:t>
            </a:r>
            <a:r>
              <a:rPr b="1" dirty="0" sz="3600" lang="en-US"/>
              <a:t>.</a:t>
            </a:r>
          </a:p>
          <a:p>
            <a:pPr algn="just" lvl="1">
              <a:buFont typeface="Wingdings" pitchFamily="2" charset="2"/>
              <a:buChar char="Ø"/>
            </a:pPr>
            <a:r>
              <a:rPr dirty="0" sz="3600" lang="en-US"/>
              <a:t>All natural persons (humans) have capacity to sue or be sued but some may have to sue or be sued through other humans e.g. infants, lunatics, bankrupts. See  Order 15 r 9 Lagos; Order 13 rule 11 Abuja.</a:t>
            </a:r>
          </a:p>
          <a:p>
            <a:pPr algn="just" lvl="1">
              <a:buFont typeface="Wingdings" pitchFamily="2" charset="2"/>
              <a:buChar char="Ø"/>
            </a:pPr>
            <a:r>
              <a:rPr dirty="0" sz="3600" lang="en-US"/>
              <a:t> Note designation of parties regarding Attorneys and Personal Representatives.</a:t>
            </a:r>
          </a:p>
          <a:p>
            <a:pPr algn="just" lvl="1">
              <a:buFont typeface="Wingdings" pitchFamily="2" charset="2"/>
              <a:buChar char="Ø"/>
            </a:pPr>
            <a:endParaRPr dirty="0" sz="3600" lang="en-US"/>
          </a:p>
          <a:p>
            <a:pPr algn="just" lvl="1">
              <a:buFont typeface="Wingdings" pitchFamily="2" charset="2"/>
              <a:buChar char="Ø"/>
            </a:pPr>
            <a:endParaRPr dirty="0" sz="3600" lang="en-US"/>
          </a:p>
          <a:p>
            <a:endParaRPr dirty="0" lang="x-none"/>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60" name=""/>
        <p:cNvGrpSpPr/>
        <p:nvPr/>
      </p:nvGrpSpPr>
      <p:grpSpPr>
        <a:xfrm>
          <a:off x="0" y="0"/>
          <a:ext cx="0" cy="0"/>
          <a:chOff x="0" y="0"/>
          <a:chExt cx="0" cy="0"/>
        </a:xfrm>
      </p:grpSpPr>
      <p:sp>
        <p:nvSpPr>
          <p:cNvPr id="1048607" name="Title 1"/>
          <p:cNvSpPr>
            <a:spLocks noGrp="1"/>
          </p:cNvSpPr>
          <p:nvPr>
            <p:ph type="title"/>
          </p:nvPr>
        </p:nvSpPr>
        <p:spPr/>
        <p:txBody>
          <a:bodyPr/>
          <a:p>
            <a:r>
              <a:rPr dirty="0" lang="x-none"/>
              <a:t>CASE BY A PERSON UNDER LEGAL DISABILITY (INFANT, LUNATIC OR BANKRUPT)</a:t>
            </a:r>
          </a:p>
        </p:txBody>
      </p:sp>
      <p:sp>
        <p:nvSpPr>
          <p:cNvPr id="1048608" name="Content Placeholder 2"/>
          <p:cNvSpPr>
            <a:spLocks noGrp="1"/>
          </p:cNvSpPr>
          <p:nvPr>
            <p:ph idx="1"/>
          </p:nvPr>
        </p:nvSpPr>
        <p:spPr/>
        <p:txBody>
          <a:bodyPr/>
          <a:p>
            <a:pPr algn="just" indent="0" lvl="1" marL="457200">
              <a:buNone/>
            </a:pPr>
            <a:r>
              <a:rPr dirty="0" sz="3000" lang="en-GB"/>
              <a:t>BETWEEN:</a:t>
            </a:r>
          </a:p>
          <a:p>
            <a:pPr algn="just" indent="0" lvl="1" marL="457200">
              <a:buNone/>
            </a:pPr>
            <a:endParaRPr dirty="0" sz="700" lang="en-GB"/>
          </a:p>
          <a:p>
            <a:pPr algn="just" indent="0" lvl="1" marL="457200">
              <a:buNone/>
            </a:pPr>
            <a:r>
              <a:rPr dirty="0" sz="3000" lang="en-GB"/>
              <a:t>JOHN MARTIN (an infant, </a:t>
            </a:r>
          </a:p>
          <a:p>
            <a:pPr algn="just" indent="0" lvl="1" marL="457200">
              <a:buNone/>
            </a:pPr>
            <a:r>
              <a:rPr dirty="0" sz="3000" lang="en-GB"/>
              <a:t>suing through his </a:t>
            </a:r>
          </a:p>
          <a:p>
            <a:pPr algn="just" indent="0" lvl="1" marL="457200">
              <a:buNone/>
            </a:pPr>
            <a:r>
              <a:rPr dirty="0" sz="3000" lang="en-GB"/>
              <a:t>Guardian, Obi Martin) ----------------- CLAIMANT </a:t>
            </a:r>
          </a:p>
          <a:p>
            <a:pPr algn="just" indent="0" lvl="1" marL="457200">
              <a:buNone/>
            </a:pPr>
            <a:endParaRPr dirty="0" sz="800" lang="en-GB"/>
          </a:p>
          <a:p>
            <a:pPr algn="just" indent="0" lvl="1" marL="457200">
              <a:buNone/>
            </a:pPr>
            <a:r>
              <a:rPr dirty="0" sz="3000" lang="en-GB"/>
              <a:t>AND</a:t>
            </a:r>
          </a:p>
          <a:p>
            <a:pPr algn="just" indent="0" lvl="1" marL="457200">
              <a:buNone/>
            </a:pPr>
            <a:endParaRPr dirty="0" sz="700" lang="en-GB"/>
          </a:p>
          <a:p>
            <a:pPr algn="just" indent="0" lvl="1" marL="457200">
              <a:buNone/>
            </a:pPr>
            <a:r>
              <a:rPr dirty="0" sz="3000" lang="en-GB"/>
              <a:t>BLESSED HOSPITAL LIMITED ………… DEFENDANT </a:t>
            </a:r>
          </a:p>
          <a:p>
            <a:pPr indent="0" marL="0">
              <a:buNone/>
            </a:pPr>
            <a:endParaRPr dirty="0" lang="x-none"/>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61" name=""/>
        <p:cNvGrpSpPr/>
        <p:nvPr/>
      </p:nvGrpSpPr>
      <p:grpSpPr>
        <a:xfrm>
          <a:off x="0" y="0"/>
          <a:ext cx="0" cy="0"/>
          <a:chOff x="0" y="0"/>
          <a:chExt cx="0" cy="0"/>
        </a:xfrm>
      </p:grpSpPr>
      <p:sp>
        <p:nvSpPr>
          <p:cNvPr id="1048609" name="Title 1"/>
          <p:cNvSpPr>
            <a:spLocks noGrp="1"/>
          </p:cNvSpPr>
          <p:nvPr>
            <p:ph type="title"/>
          </p:nvPr>
        </p:nvSpPr>
        <p:spPr/>
        <p:txBody>
          <a:bodyPr/>
          <a:p>
            <a:r>
              <a:rPr dirty="0" lang="x-none"/>
              <a:t>CASE AGAINST A PERSON UNDER LEGAL DISABILITY </a:t>
            </a:r>
          </a:p>
        </p:txBody>
      </p:sp>
      <p:sp>
        <p:nvSpPr>
          <p:cNvPr id="1048610" name="Content Placeholder 2"/>
          <p:cNvSpPr>
            <a:spLocks noGrp="1"/>
          </p:cNvSpPr>
          <p:nvPr>
            <p:ph idx="1"/>
          </p:nvPr>
        </p:nvSpPr>
        <p:spPr/>
        <p:txBody>
          <a:bodyPr/>
          <a:p>
            <a:pPr algn="just" indent="0" lvl="1" marL="457200">
              <a:buNone/>
            </a:pPr>
            <a:r>
              <a:rPr dirty="0" sz="3000" lang="en-GB"/>
              <a:t>BETWEEN:</a:t>
            </a:r>
          </a:p>
          <a:p>
            <a:pPr algn="just" indent="0" lvl="1" marL="457200">
              <a:buNone/>
            </a:pPr>
            <a:endParaRPr dirty="0" sz="700" lang="en-GB"/>
          </a:p>
          <a:p>
            <a:pPr algn="just" indent="0" lvl="1" marL="457200">
              <a:buNone/>
            </a:pPr>
            <a:endParaRPr dirty="0" sz="300" lang="en-GB"/>
          </a:p>
          <a:p>
            <a:pPr algn="just" indent="0" lvl="1" marL="457200">
              <a:buNone/>
            </a:pPr>
            <a:r>
              <a:rPr dirty="0" sz="3000" lang="en-GB"/>
              <a:t>BLESSED HOSPITAL LIMITED ………… CLAIMANT </a:t>
            </a:r>
          </a:p>
          <a:p>
            <a:pPr algn="just" indent="0" lvl="1" marL="457200">
              <a:buNone/>
            </a:pPr>
            <a:endParaRPr dirty="0" sz="600" lang="en-GB"/>
          </a:p>
          <a:p>
            <a:pPr algn="just" indent="0" lvl="1" marL="457200">
              <a:buNone/>
            </a:pPr>
            <a:r>
              <a:rPr dirty="0" sz="3000" lang="en-GB"/>
              <a:t>AND </a:t>
            </a:r>
          </a:p>
          <a:p>
            <a:pPr algn="just" indent="0" lvl="1" marL="457200">
              <a:buNone/>
            </a:pPr>
            <a:r>
              <a:rPr dirty="0" sz="200" lang="en-GB"/>
              <a:t>[</a:t>
            </a:r>
          </a:p>
          <a:p>
            <a:pPr algn="just" indent="0" lvl="1" marL="457200">
              <a:buNone/>
            </a:pPr>
            <a:r>
              <a:rPr dirty="0" sz="3000" lang="en-GB"/>
              <a:t>JOHN MARTIN (an infant, </a:t>
            </a:r>
          </a:p>
          <a:p>
            <a:pPr algn="just" indent="0" lvl="1" marL="457200">
              <a:buNone/>
            </a:pPr>
            <a:r>
              <a:rPr dirty="0" sz="3000" lang="en-GB"/>
              <a:t>sued through his </a:t>
            </a:r>
          </a:p>
          <a:p>
            <a:pPr algn="just" indent="0" lvl="1" marL="457200">
              <a:buNone/>
            </a:pPr>
            <a:r>
              <a:rPr dirty="0" sz="3000" lang="en-GB"/>
              <a:t>Guardian, Obi Martin)  ---------------- DEFENDANT</a:t>
            </a:r>
          </a:p>
          <a:p>
            <a:endParaRPr dirty="0" lang="x-none"/>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62" name=""/>
        <p:cNvGrpSpPr/>
        <p:nvPr/>
      </p:nvGrpSpPr>
      <p:grpSpPr>
        <a:xfrm>
          <a:off x="0" y="0"/>
          <a:ext cx="0" cy="0"/>
          <a:chOff x="0" y="0"/>
          <a:chExt cx="0" cy="0"/>
        </a:xfrm>
      </p:grpSpPr>
      <p:sp>
        <p:nvSpPr>
          <p:cNvPr id="1048611" name="Title 1"/>
          <p:cNvSpPr>
            <a:spLocks noGrp="1"/>
          </p:cNvSpPr>
          <p:nvPr>
            <p:ph type="title"/>
          </p:nvPr>
        </p:nvSpPr>
        <p:spPr/>
        <p:txBody>
          <a:bodyPr/>
          <a:p>
            <a:r>
              <a:rPr dirty="0" lang="x-none"/>
              <a:t>ATTORNEYS</a:t>
            </a:r>
          </a:p>
        </p:txBody>
      </p:sp>
      <p:sp>
        <p:nvSpPr>
          <p:cNvPr id="1048612" name="Content Placeholder 2"/>
          <p:cNvSpPr>
            <a:spLocks noGrp="1"/>
          </p:cNvSpPr>
          <p:nvPr>
            <p:ph idx="1"/>
          </p:nvPr>
        </p:nvSpPr>
        <p:spPr/>
        <p:txBody>
          <a:bodyPr>
            <a:normAutofit/>
          </a:bodyPr>
          <a:p>
            <a:pPr algn="just" indent="0" lvl="1" marL="457200">
              <a:buNone/>
            </a:pPr>
            <a:r>
              <a:rPr dirty="0" sz="5100" lang="en-GB"/>
              <a:t>BETWEEN:</a:t>
            </a:r>
          </a:p>
          <a:p>
            <a:pPr algn="just" indent="0" lvl="1" marL="457200">
              <a:buNone/>
            </a:pPr>
            <a:r>
              <a:rPr dirty="0" sz="5100" lang="en-GB"/>
              <a:t>JOHN MARTIN (suing through his </a:t>
            </a:r>
          </a:p>
          <a:p>
            <a:pPr algn="just" indent="0" lvl="1" marL="457200">
              <a:buNone/>
            </a:pPr>
            <a:r>
              <a:rPr dirty="0" sz="5100" lang="en-GB"/>
              <a:t>Lawful Attorney, </a:t>
            </a:r>
            <a:r>
              <a:rPr b="1" dirty="0" sz="5100" lang="en-GB"/>
              <a:t>DIM DOYE</a:t>
            </a:r>
            <a:r>
              <a:rPr dirty="0" sz="5100" lang="en-GB"/>
              <a:t>) ------------------------- CLAIMANT </a:t>
            </a:r>
          </a:p>
          <a:p>
            <a:pPr algn="just" indent="0" lvl="1" marL="457200">
              <a:buNone/>
            </a:pPr>
            <a:r>
              <a:rPr dirty="0" sz="5100" lang="en-GB"/>
              <a:t>AND</a:t>
            </a:r>
          </a:p>
          <a:p>
            <a:pPr algn="just" indent="0" lvl="1" marL="457200">
              <a:buNone/>
            </a:pPr>
            <a:r>
              <a:rPr dirty="0" sz="5100" lang="en-GB"/>
              <a:t>BLESSED HOSPITAL LIMITED  --------------------------DFENDANT </a:t>
            </a:r>
          </a:p>
          <a:p>
            <a:pPr algn="just" indent="0" lvl="1" marL="457200">
              <a:buNone/>
            </a:pPr>
            <a:endParaRPr b="1" dirty="0" sz="5100" lang="en-GB"/>
          </a:p>
          <a:p>
            <a:pPr algn="just" indent="0" lvl="1" marL="457200">
              <a:buNone/>
            </a:pPr>
            <a:r>
              <a:rPr b="1" dirty="0" sz="5100" lang="en-GB"/>
              <a:t>OR</a:t>
            </a:r>
            <a:endParaRPr dirty="0" sz="5100" lang="en-GB"/>
          </a:p>
          <a:p>
            <a:pPr algn="just" indent="0" lvl="1" marL="457200">
              <a:buNone/>
            </a:pPr>
            <a:endParaRPr dirty="0" sz="5100" lang="en-GB"/>
          </a:p>
          <a:p>
            <a:pPr algn="just" indent="0" lvl="1" marL="457200">
              <a:buNone/>
            </a:pPr>
            <a:r>
              <a:rPr dirty="0" sz="5100" lang="en-GB"/>
              <a:t>BETWEEN:</a:t>
            </a:r>
          </a:p>
          <a:p>
            <a:pPr algn="just" indent="0" lvl="1" marL="457200">
              <a:buNone/>
            </a:pPr>
            <a:r>
              <a:rPr dirty="0" sz="5100" lang="en-GB"/>
              <a:t>BLESSED HOSPITAL LIMITED  --------------------------------------DFENDANT </a:t>
            </a:r>
          </a:p>
          <a:p>
            <a:pPr algn="just" indent="0" lvl="1" marL="457200">
              <a:buNone/>
            </a:pPr>
            <a:r>
              <a:rPr dirty="0" sz="5100" lang="en-GB"/>
              <a:t>AND</a:t>
            </a:r>
          </a:p>
          <a:p>
            <a:pPr algn="just" indent="0" lvl="1" marL="457200">
              <a:buNone/>
            </a:pPr>
            <a:r>
              <a:rPr b="1" dirty="0" sz="5100" lang="en-GB"/>
              <a:t>JOHN MARTIN (su</a:t>
            </a:r>
            <a:r>
              <a:rPr dirty="0" sz="5100" lang="en-GB"/>
              <a:t>ed through his Lawful </a:t>
            </a:r>
          </a:p>
          <a:p>
            <a:pPr algn="just" indent="0" lvl="1" marL="457200">
              <a:buNone/>
            </a:pPr>
            <a:r>
              <a:rPr dirty="0" sz="5100" lang="en-GB"/>
              <a:t>Attorney, Dim </a:t>
            </a:r>
            <a:r>
              <a:rPr dirty="0" sz="5100" lang="en-GB" err="1"/>
              <a:t>Doye</a:t>
            </a:r>
            <a:r>
              <a:rPr dirty="0" sz="5100" lang="en-GB"/>
              <a:t>)--------------------------------------------------- CLAIMANT </a:t>
            </a:r>
          </a:p>
          <a:p>
            <a:endParaRPr dirty="0" lang="x-none"/>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63" name=""/>
        <p:cNvGrpSpPr/>
        <p:nvPr/>
      </p:nvGrpSpPr>
      <p:grpSpPr>
        <a:xfrm>
          <a:off x="0" y="0"/>
          <a:ext cx="0" cy="0"/>
          <a:chOff x="0" y="0"/>
          <a:chExt cx="0" cy="0"/>
        </a:xfrm>
      </p:grpSpPr>
      <p:sp>
        <p:nvSpPr>
          <p:cNvPr id="1048613" name="Title 1"/>
          <p:cNvSpPr>
            <a:spLocks noGrp="1"/>
          </p:cNvSpPr>
          <p:nvPr>
            <p:ph type="title"/>
          </p:nvPr>
        </p:nvSpPr>
        <p:spPr/>
        <p:txBody>
          <a:bodyPr/>
          <a:p>
            <a:r>
              <a:rPr dirty="0" lang="x-none"/>
              <a:t>PERSONAL REPRESENTATIVES</a:t>
            </a:r>
          </a:p>
        </p:txBody>
      </p:sp>
      <p:sp>
        <p:nvSpPr>
          <p:cNvPr id="1048614" name="Content Placeholder 2"/>
          <p:cNvSpPr>
            <a:spLocks noGrp="1"/>
          </p:cNvSpPr>
          <p:nvPr>
            <p:ph idx="1"/>
          </p:nvPr>
        </p:nvSpPr>
        <p:spPr/>
        <p:txBody>
          <a:bodyPr/>
          <a:p>
            <a:pPr algn="just" indent="0" lvl="1" marL="457200">
              <a:buNone/>
            </a:pPr>
            <a:r>
              <a:rPr dirty="0" lang="en-GB"/>
              <a:t>BETWEEN:</a:t>
            </a:r>
          </a:p>
          <a:p>
            <a:pPr algn="just" indent="0" lvl="1" marL="457200">
              <a:buNone/>
            </a:pPr>
            <a:endParaRPr dirty="0" sz="500" lang="en-GB"/>
          </a:p>
          <a:p>
            <a:pPr algn="just" indent="-457200" lvl="1" marL="914400">
              <a:buAutoNum type="arabicPeriod"/>
            </a:pPr>
            <a:r>
              <a:rPr dirty="0" lang="en-GB"/>
              <a:t>JOHN MARTIN</a:t>
            </a:r>
          </a:p>
          <a:p>
            <a:pPr algn="just" indent="-457200" lvl="1" marL="914400">
              <a:buAutoNum type="arabicPeriod"/>
            </a:pPr>
            <a:r>
              <a:rPr dirty="0" lang="en-GB" err="1"/>
              <a:t>Judeth</a:t>
            </a:r>
            <a:r>
              <a:rPr dirty="0" lang="en-GB"/>
              <a:t>  </a:t>
            </a:r>
            <a:r>
              <a:rPr dirty="0" lang="en-GB" err="1"/>
              <a:t>Pwul</a:t>
            </a:r>
            <a:r>
              <a:rPr dirty="0" lang="en-GB"/>
              <a:t> (Executors of the </a:t>
            </a:r>
          </a:p>
          <a:p>
            <a:pPr algn="just" indent="0" lvl="1" marL="457200">
              <a:buNone/>
            </a:pPr>
            <a:r>
              <a:rPr dirty="0" lang="en-GB"/>
              <a:t>Estate of Chief Dim </a:t>
            </a:r>
            <a:r>
              <a:rPr dirty="0" lang="en-GB" err="1"/>
              <a:t>Doye</a:t>
            </a:r>
            <a:r>
              <a:rPr dirty="0" lang="en-GB"/>
              <a:t>, deceased) ---------------- CLAIMANT </a:t>
            </a:r>
          </a:p>
          <a:p>
            <a:pPr algn="just" indent="0" lvl="1" marL="457200">
              <a:buNone/>
            </a:pPr>
            <a:endParaRPr dirty="0" sz="600" lang="en-GB"/>
          </a:p>
          <a:p>
            <a:pPr algn="just" indent="0" lvl="1" marL="457200">
              <a:buNone/>
            </a:pPr>
            <a:r>
              <a:rPr dirty="0" lang="en-GB"/>
              <a:t>AND</a:t>
            </a:r>
          </a:p>
          <a:p>
            <a:pPr algn="just" indent="0" lvl="1" marL="457200">
              <a:buNone/>
            </a:pPr>
            <a:endParaRPr dirty="0" sz="500" lang="en-GB"/>
          </a:p>
          <a:p>
            <a:pPr algn="just" indent="0" lvl="1" marL="457200">
              <a:buNone/>
            </a:pPr>
            <a:r>
              <a:rPr dirty="0" lang="en-GB"/>
              <a:t>BLESSED HOSPITAL LIMITED ………… DEFENDANT </a:t>
            </a:r>
          </a:p>
          <a:p>
            <a:pPr indent="0" marL="0">
              <a:buNone/>
            </a:pPr>
            <a:endParaRPr dirty="0" lang="x-none"/>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64" name=""/>
        <p:cNvGrpSpPr/>
        <p:nvPr/>
      </p:nvGrpSpPr>
      <p:grpSpPr>
        <a:xfrm>
          <a:off x="0" y="0"/>
          <a:ext cx="0" cy="0"/>
          <a:chOff x="0" y="0"/>
          <a:chExt cx="0" cy="0"/>
        </a:xfrm>
      </p:grpSpPr>
      <p:sp>
        <p:nvSpPr>
          <p:cNvPr id="1048615" name="Title 1"/>
          <p:cNvSpPr>
            <a:spLocks noGrp="1"/>
          </p:cNvSpPr>
          <p:nvPr>
            <p:ph type="title"/>
          </p:nvPr>
        </p:nvSpPr>
        <p:spPr/>
        <p:txBody>
          <a:bodyPr/>
          <a:p>
            <a:r>
              <a:rPr dirty="0" lang="x-none"/>
              <a:t>ARTIFICIAL PERSONS </a:t>
            </a:r>
          </a:p>
        </p:txBody>
      </p:sp>
      <p:sp>
        <p:nvSpPr>
          <p:cNvPr id="1048616" name="Content Placeholder 2"/>
          <p:cNvSpPr>
            <a:spLocks noGrp="1"/>
          </p:cNvSpPr>
          <p:nvPr>
            <p:ph idx="1"/>
          </p:nvPr>
        </p:nvSpPr>
        <p:spPr/>
        <p:txBody>
          <a:bodyPr/>
          <a:p>
            <a:pPr algn="just" lvl="1">
              <a:buFont typeface="Wingdings" pitchFamily="2" charset="2"/>
              <a:buChar char="Ø"/>
            </a:pPr>
            <a:r>
              <a:rPr dirty="0" sz="3600" lang="en-US"/>
              <a:t>Artificial persons are divided into:</a:t>
            </a:r>
          </a:p>
          <a:p>
            <a:pPr algn="just" indent="-514350" lvl="2" marL="1428750">
              <a:buAutoNum type="arabicParenBoth"/>
            </a:pPr>
            <a:r>
              <a:rPr dirty="0" sz="3600" lang="en-US"/>
              <a:t>Corporation Sole</a:t>
            </a:r>
          </a:p>
          <a:p>
            <a:pPr algn="just" indent="-514350" lvl="2" marL="1428750">
              <a:buFont typeface="Arial" charset="0"/>
              <a:buAutoNum type="arabicParenBoth"/>
            </a:pPr>
            <a:r>
              <a:rPr dirty="0" sz="3600" lang="en-US"/>
              <a:t>Corporation Aggregate </a:t>
            </a:r>
          </a:p>
          <a:p>
            <a:pPr algn="just" indent="-514350" lvl="2" marL="1428750">
              <a:buAutoNum type="arabicParenBoth"/>
            </a:pPr>
            <a:r>
              <a:rPr dirty="0" sz="3600" lang="en-US"/>
              <a:t>Registered Firms/Partnerships</a:t>
            </a:r>
          </a:p>
          <a:p>
            <a:pPr algn="just" indent="-514350" lvl="2" marL="1428750">
              <a:buAutoNum type="arabicParenBoth"/>
            </a:pPr>
            <a:r>
              <a:rPr dirty="0" sz="3600" lang="en-US"/>
              <a:t>Juridical Persons</a:t>
            </a:r>
          </a:p>
          <a:p>
            <a:endParaRPr dirty="0" lang="x-none"/>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65" name=""/>
        <p:cNvGrpSpPr/>
        <p:nvPr/>
      </p:nvGrpSpPr>
      <p:grpSpPr>
        <a:xfrm>
          <a:off x="0" y="0"/>
          <a:ext cx="0" cy="0"/>
          <a:chOff x="0" y="0"/>
          <a:chExt cx="0" cy="0"/>
        </a:xfrm>
      </p:grpSpPr>
      <p:sp>
        <p:nvSpPr>
          <p:cNvPr id="1048617" name="Title 1"/>
          <p:cNvSpPr>
            <a:spLocks noGrp="1"/>
          </p:cNvSpPr>
          <p:nvPr>
            <p:ph type="title"/>
          </p:nvPr>
        </p:nvSpPr>
        <p:spPr/>
        <p:txBody>
          <a:bodyPr/>
          <a:p>
            <a:r>
              <a:rPr dirty="0" lang="x-none"/>
              <a:t>Corporation Sole</a:t>
            </a:r>
          </a:p>
        </p:txBody>
      </p:sp>
      <p:sp>
        <p:nvSpPr>
          <p:cNvPr id="1048618" name="Content Placeholder 2"/>
          <p:cNvSpPr>
            <a:spLocks noGrp="1"/>
          </p:cNvSpPr>
          <p:nvPr>
            <p:ph idx="1"/>
          </p:nvPr>
        </p:nvSpPr>
        <p:spPr/>
        <p:txBody>
          <a:bodyPr/>
          <a:p>
            <a:pPr algn="just">
              <a:buFont typeface="Wingdings" pitchFamily="2" charset="2"/>
              <a:buChar char="Ø"/>
            </a:pPr>
            <a:r>
              <a:rPr dirty="0" lang="en-US"/>
              <a:t>Corporate Offices occupied by individuals who embodies the office.</a:t>
            </a:r>
          </a:p>
          <a:p>
            <a:pPr algn="just">
              <a:buFont typeface="Wingdings" pitchFamily="2" charset="2"/>
              <a:buChar char="Ø"/>
            </a:pPr>
            <a:r>
              <a:rPr dirty="0" lang="en-US"/>
              <a:t>The office continues to subsist even when the occupiers die. </a:t>
            </a:r>
          </a:p>
          <a:p>
            <a:pPr algn="just">
              <a:buFont typeface="Wingdings" pitchFamily="2" charset="2"/>
              <a:buChar char="Ø"/>
            </a:pPr>
            <a:r>
              <a:rPr dirty="0" lang="en-US"/>
              <a:t>E.g. Traditional Stool; Attorney-General; Governor;  The President of the FRN; The Speaker of the House of Assembly/ Representative, office of a Minister, CJN, COP, IGP, etc.</a:t>
            </a:r>
          </a:p>
          <a:p>
            <a:pPr algn="just">
              <a:buFont typeface="Wingdings" pitchFamily="2" charset="2"/>
              <a:buChar char="Ø"/>
            </a:pPr>
            <a:r>
              <a:rPr dirty="0" lang="en-US"/>
              <a:t>Occupiers of such offices may sue or be sued in the name or title of the office.</a:t>
            </a:r>
          </a:p>
          <a:p>
            <a:pPr indent="0" marL="0">
              <a:buNone/>
            </a:pPr>
            <a:endParaRPr dirty="0" lang="x-none"/>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66" name=""/>
        <p:cNvGrpSpPr/>
        <p:nvPr/>
      </p:nvGrpSpPr>
      <p:grpSpPr>
        <a:xfrm>
          <a:off x="0" y="0"/>
          <a:ext cx="0" cy="0"/>
          <a:chOff x="0" y="0"/>
          <a:chExt cx="0" cy="0"/>
        </a:xfrm>
      </p:grpSpPr>
      <p:sp>
        <p:nvSpPr>
          <p:cNvPr id="1048619" name="Title 1"/>
          <p:cNvSpPr>
            <a:spLocks noGrp="1"/>
          </p:cNvSpPr>
          <p:nvPr>
            <p:ph type="title"/>
          </p:nvPr>
        </p:nvSpPr>
        <p:spPr/>
        <p:txBody>
          <a:bodyPr/>
          <a:p>
            <a:r>
              <a:rPr dirty="0" lang="x-none"/>
              <a:t>CORPORATION AGGREGATE</a:t>
            </a:r>
          </a:p>
        </p:txBody>
      </p:sp>
      <p:sp>
        <p:nvSpPr>
          <p:cNvPr id="1048620" name="Content Placeholder 2"/>
          <p:cNvSpPr>
            <a:spLocks noGrp="1"/>
          </p:cNvSpPr>
          <p:nvPr>
            <p:ph idx="1"/>
          </p:nvPr>
        </p:nvSpPr>
        <p:spPr/>
        <p:txBody>
          <a:bodyPr>
            <a:normAutofit/>
          </a:bodyPr>
          <a:p>
            <a:pPr algn="just">
              <a:buFont typeface="Wingdings" pitchFamily="2" charset="2"/>
              <a:buChar char="Ø"/>
            </a:pPr>
            <a:r>
              <a:rPr dirty="0" lang="en-US"/>
              <a:t>These are either statutory bodies created by law or registered bodies created under relevant statutes like CAMA.</a:t>
            </a:r>
          </a:p>
          <a:p>
            <a:pPr algn="just">
              <a:buFont typeface="Wingdings" pitchFamily="2" charset="2"/>
              <a:buChar char="Ø"/>
            </a:pPr>
            <a:r>
              <a:rPr dirty="0" lang="en-US"/>
              <a:t>Statutory bodies or institutions created by law may expressly be given legal capacity to sue or be sued.</a:t>
            </a:r>
          </a:p>
          <a:p>
            <a:pPr algn="just">
              <a:buFont typeface="Wingdings" pitchFamily="2" charset="2"/>
              <a:buChar char="Ø"/>
            </a:pPr>
            <a:r>
              <a:rPr dirty="0" lang="en-US"/>
              <a:t> They sue and are sued in their corporate names.</a:t>
            </a:r>
            <a:r>
              <a:rPr b="1" dirty="0" lang="en-US"/>
              <a:t> </a:t>
            </a:r>
            <a:r>
              <a:rPr b="1" dirty="0" lang="en-US" err="1"/>
              <a:t>E.g</a:t>
            </a:r>
            <a:r>
              <a:rPr b="1" dirty="0" lang="en-US"/>
              <a:t>, </a:t>
            </a:r>
          </a:p>
          <a:p>
            <a:pPr algn="just" indent="0" marL="0">
              <a:buNone/>
            </a:pPr>
            <a:r>
              <a:rPr dirty="0" lang="en-US"/>
              <a:t>	Council of Legal Education - See section 1(1) Legal Education 	(Consolidation) Act, Cap L10, LFN 2004;</a:t>
            </a:r>
          </a:p>
          <a:p>
            <a:pPr algn="just" indent="0" marL="0">
              <a:buNone/>
            </a:pPr>
            <a:r>
              <a:rPr dirty="0" lang="en-US"/>
              <a:t>	Corporate Affairs Commission - See s. 1, CAMA;  </a:t>
            </a:r>
          </a:p>
          <a:p>
            <a:pPr algn="just" indent="0" marL="0">
              <a:buNone/>
            </a:pPr>
            <a:r>
              <a:rPr dirty="0" lang="en-US"/>
              <a:t>	SEC, University of Lagos, NNPC, NIPC, INEC, NPC, NOTAP, NJC, </a:t>
            </a:r>
            <a:r>
              <a:rPr dirty="0" lang="en-US" err="1"/>
              <a:t>etc</a:t>
            </a:r>
            <a:endParaRPr dirty="0" lang="en-GB"/>
          </a:p>
          <a:p>
            <a:endParaRPr dirty="0" lang="x-none"/>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67" name=""/>
        <p:cNvGrpSpPr/>
        <p:nvPr/>
      </p:nvGrpSpPr>
      <p:grpSpPr>
        <a:xfrm>
          <a:off x="0" y="0"/>
          <a:ext cx="0" cy="0"/>
          <a:chOff x="0" y="0"/>
          <a:chExt cx="0" cy="0"/>
        </a:xfrm>
      </p:grpSpPr>
      <p:sp>
        <p:nvSpPr>
          <p:cNvPr id="1048621" name="Title 1"/>
          <p:cNvSpPr>
            <a:spLocks noGrp="1"/>
          </p:cNvSpPr>
          <p:nvPr>
            <p:ph type="title"/>
          </p:nvPr>
        </p:nvSpPr>
        <p:spPr/>
        <p:txBody>
          <a:bodyPr/>
          <a:p>
            <a:r>
              <a:rPr dirty="0" lang="x-none"/>
              <a:t>CORPORATION AGGREGATE cont’d</a:t>
            </a:r>
          </a:p>
        </p:txBody>
      </p:sp>
      <p:sp>
        <p:nvSpPr>
          <p:cNvPr id="1048622" name="Content Placeholder 2"/>
          <p:cNvSpPr>
            <a:spLocks noGrp="1"/>
          </p:cNvSpPr>
          <p:nvPr>
            <p:ph idx="1"/>
          </p:nvPr>
        </p:nvSpPr>
        <p:spPr/>
        <p:txBody>
          <a:bodyPr>
            <a:normAutofit lnSpcReduction="10000"/>
          </a:bodyPr>
          <a:p>
            <a:pPr algn="just" indent="0" marL="0">
              <a:buNone/>
            </a:pPr>
            <a:r>
              <a:rPr dirty="0" lang="en-US"/>
              <a:t>Companies (Ltd, Plc, Ltd/</a:t>
            </a:r>
            <a:r>
              <a:rPr dirty="0" lang="en-US" err="1"/>
              <a:t>Gte</a:t>
            </a:r>
            <a:r>
              <a:rPr dirty="0" lang="en-US"/>
              <a:t>) or Trustees registered under CAMA. </a:t>
            </a:r>
            <a:r>
              <a:rPr dirty="0" i="1" lang="en-US"/>
              <a:t>See </a:t>
            </a:r>
            <a:r>
              <a:rPr b="1" dirty="0" lang="en-US"/>
              <a:t>Moses v. NBA</a:t>
            </a:r>
            <a:r>
              <a:rPr dirty="0" lang="en-US"/>
              <a:t> (2019) LPELR-46918(SC)</a:t>
            </a:r>
            <a:endParaRPr b="1" dirty="0" sz="2400" i="1" lang="en-US"/>
          </a:p>
          <a:p>
            <a:pPr algn="just" indent="0" marL="0">
              <a:buNone/>
            </a:pPr>
            <a:r>
              <a:rPr dirty="0" sz="2400" i="1" lang="en-US"/>
              <a:t>BETWEEN:</a:t>
            </a:r>
          </a:p>
          <a:p>
            <a:pPr algn="just" indent="0" marL="0">
              <a:buNone/>
            </a:pPr>
            <a:r>
              <a:rPr dirty="0" sz="2400" i="1" lang="en-US"/>
              <a:t>INCORPORATED TRUSTEES OF  REDEEMED CHURCH --- CLAIMANTS</a:t>
            </a:r>
          </a:p>
          <a:p>
            <a:pPr algn="just" indent="0" marL="0">
              <a:buNone/>
            </a:pPr>
            <a:r>
              <a:rPr dirty="0" sz="2400" i="1" lang="en-US"/>
              <a:t>AND </a:t>
            </a:r>
          </a:p>
          <a:p>
            <a:pPr indent="0" marL="0">
              <a:buNone/>
            </a:pPr>
            <a:r>
              <a:rPr dirty="0" sz="2400" i="1" lang="en-US"/>
              <a:t>INCORPORATED TRUSTEES OF  ISLAMIC SOCIETY------- DEFENDANTS</a:t>
            </a:r>
          </a:p>
          <a:p>
            <a:pPr indent="0" marL="0">
              <a:buNone/>
            </a:pPr>
            <a:r>
              <a:rPr b="1" dirty="0" sz="2400" i="1" lang="en-US"/>
              <a:t>	OR</a:t>
            </a:r>
          </a:p>
          <a:p>
            <a:pPr indent="0" marL="0">
              <a:buNone/>
            </a:pPr>
            <a:r>
              <a:rPr dirty="0" lang="x-none"/>
              <a:t>Jacobson Plc </a:t>
            </a:r>
          </a:p>
          <a:p>
            <a:pPr indent="0" marL="0">
              <a:buNone/>
            </a:pPr>
            <a:r>
              <a:rPr dirty="0" lang="x-none"/>
              <a:t>And</a:t>
            </a:r>
          </a:p>
          <a:p>
            <a:pPr indent="0" marL="0">
              <a:buNone/>
            </a:pPr>
            <a:r>
              <a:rPr dirty="0" lang="x-none"/>
              <a:t>United Ltd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68" name=""/>
        <p:cNvGrpSpPr/>
        <p:nvPr/>
      </p:nvGrpSpPr>
      <p:grpSpPr>
        <a:xfrm>
          <a:off x="0" y="0"/>
          <a:ext cx="0" cy="0"/>
          <a:chOff x="0" y="0"/>
          <a:chExt cx="0" cy="0"/>
        </a:xfrm>
      </p:grpSpPr>
      <p:sp>
        <p:nvSpPr>
          <p:cNvPr id="1048623" name="Title 1"/>
          <p:cNvSpPr>
            <a:spLocks noGrp="1"/>
          </p:cNvSpPr>
          <p:nvPr>
            <p:ph type="title"/>
          </p:nvPr>
        </p:nvSpPr>
        <p:spPr/>
        <p:txBody>
          <a:bodyPr/>
          <a:p>
            <a:r>
              <a:rPr dirty="0" lang="x-none"/>
              <a:t>JURIDICAL PERSONS</a:t>
            </a:r>
          </a:p>
        </p:txBody>
      </p:sp>
      <p:sp>
        <p:nvSpPr>
          <p:cNvPr id="1048624" name="Content Placeholder 2"/>
          <p:cNvSpPr>
            <a:spLocks noGrp="1"/>
          </p:cNvSpPr>
          <p:nvPr>
            <p:ph idx="1"/>
          </p:nvPr>
        </p:nvSpPr>
        <p:spPr/>
        <p:txBody>
          <a:bodyPr/>
          <a:p>
            <a:pPr algn="just">
              <a:buFont typeface="Wingdings" pitchFamily="2" charset="2"/>
              <a:buChar char="Ø"/>
            </a:pPr>
            <a:r>
              <a:rPr dirty="0" lang="en-GB"/>
              <a:t>Bodies created by statutes without express power to sue or be sued but with powers that may adversely affect rights of others. </a:t>
            </a:r>
          </a:p>
          <a:p>
            <a:pPr algn="just">
              <a:buFont typeface="Wingdings" pitchFamily="2" charset="2"/>
              <a:buChar char="Ø"/>
            </a:pPr>
            <a:r>
              <a:rPr dirty="0" lang="en-GB"/>
              <a:t>They are deemed to have capacity to sue and be sued. </a:t>
            </a:r>
          </a:p>
          <a:p>
            <a:pPr algn="just" indent="0" marL="0">
              <a:buNone/>
            </a:pPr>
            <a:r>
              <a:rPr dirty="0" lang="en-GB"/>
              <a:t>See </a:t>
            </a:r>
            <a:r>
              <a:rPr dirty="0" lang="en-GB">
                <a:sym typeface="Wingdings" panose="05000000000000000000" pitchFamily="2" charset="2"/>
              </a:rPr>
              <a:t>(a) </a:t>
            </a:r>
            <a:r>
              <a:rPr b="1" dirty="0" sz="2400" lang="en-GB"/>
              <a:t>TAFF VALE RAILWAY V. AMALGAMATED SOCIETY RAILWAY SERVANTS (1901); </a:t>
            </a:r>
          </a:p>
          <a:p>
            <a:pPr algn="just" indent="0" marL="0">
              <a:buNone/>
            </a:pPr>
            <a:r>
              <a:rPr b="1" dirty="0" sz="2400" lang="en-GB"/>
              <a:t>(b) THOMAS V LOCAL GOVERNMENT SERVICE BOARD (1965); (c) KPEBIMOH V BOARD OF GOVERNORS, WESTERN IJAW TEACHERS TRAINING COLLEGE (196); CARLEEN V UNIJOS</a:t>
            </a:r>
            <a:endParaRPr dirty="0" lang="en-GB"/>
          </a:p>
          <a:p>
            <a:endParaRPr dirty="0" lang="x-none"/>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69" name=""/>
        <p:cNvGrpSpPr/>
        <p:nvPr/>
      </p:nvGrpSpPr>
      <p:grpSpPr>
        <a:xfrm>
          <a:off x="0" y="0"/>
          <a:ext cx="0" cy="0"/>
          <a:chOff x="0" y="0"/>
          <a:chExt cx="0" cy="0"/>
        </a:xfrm>
      </p:grpSpPr>
      <p:sp>
        <p:nvSpPr>
          <p:cNvPr id="1048625" name="Title 1"/>
          <p:cNvSpPr>
            <a:spLocks noGrp="1"/>
          </p:cNvSpPr>
          <p:nvPr>
            <p:ph type="title"/>
          </p:nvPr>
        </p:nvSpPr>
        <p:spPr/>
        <p:txBody>
          <a:bodyPr/>
          <a:p>
            <a:r>
              <a:rPr b="1" dirty="0" lang="en-US"/>
              <a:t>FIRMS/PARTNERSHIPS/BUSINESS NAMES</a:t>
            </a:r>
            <a:endParaRPr dirty="0" lang="x-none"/>
          </a:p>
        </p:txBody>
      </p:sp>
      <p:sp>
        <p:nvSpPr>
          <p:cNvPr id="1048626" name="Content Placeholder 2"/>
          <p:cNvSpPr>
            <a:spLocks noGrp="1"/>
          </p:cNvSpPr>
          <p:nvPr>
            <p:ph idx="1"/>
          </p:nvPr>
        </p:nvSpPr>
        <p:spPr/>
        <p:txBody>
          <a:bodyPr/>
          <a:p>
            <a:pPr algn="just">
              <a:buFont typeface="Wingdings" pitchFamily="2" charset="2"/>
              <a:buChar char="Ø"/>
            </a:pPr>
            <a:r>
              <a:rPr dirty="0" lang="en-GB"/>
              <a:t>Not legal/juristic persons. </a:t>
            </a:r>
          </a:p>
          <a:p>
            <a:pPr algn="just">
              <a:buFont typeface="Wingdings" pitchFamily="2" charset="2"/>
              <a:buChar char="Ø"/>
            </a:pPr>
            <a:r>
              <a:rPr dirty="0" lang="en-GB"/>
              <a:t> Expected to sue in the name of individual partners or sole proprietor.</a:t>
            </a:r>
          </a:p>
          <a:p>
            <a:pPr algn="just">
              <a:buFont typeface="Wingdings" pitchFamily="2" charset="2"/>
              <a:buChar char="Ø"/>
            </a:pPr>
            <a:r>
              <a:rPr dirty="0" lang="en-GB"/>
              <a:t>However, the rules allow a firm to sue or be sued in the firm name</a:t>
            </a:r>
          </a:p>
          <a:p>
            <a:pPr algn="just">
              <a:buFont typeface="Wingdings" pitchFamily="2" charset="2"/>
              <a:buChar char="Ø"/>
            </a:pPr>
            <a:r>
              <a:rPr dirty="0" lang="en-GB"/>
              <a:t>Application may subsequently be made for disclosure of individual partners’ or proprietor’s names. </a:t>
            </a:r>
          </a:p>
          <a:p>
            <a:pPr algn="just" indent="0" marL="0">
              <a:buNone/>
            </a:pPr>
            <a:r>
              <a:rPr dirty="0" lang="en-GB"/>
              <a:t>See Order 13 r 25, Abuja; Order 15 </a:t>
            </a:r>
            <a:r>
              <a:rPr dirty="0" lang="en-GB" err="1"/>
              <a:t>rr</a:t>
            </a:r>
            <a:r>
              <a:rPr dirty="0" lang="en-GB"/>
              <a:t> 24 - 28, Lagos; </a:t>
            </a:r>
            <a:r>
              <a:rPr b="1" dirty="0" lang="en-GB"/>
              <a:t>IYKE MEDICAL MERCHANDISE V PFIZER (2001) (2001) LPELR-1579(SC); BOSHALI V OKOI ARIKPO</a:t>
            </a:r>
          </a:p>
          <a:p>
            <a:endParaRPr dirty="0" lang="x-none"/>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70" name=""/>
        <p:cNvGrpSpPr/>
        <p:nvPr/>
      </p:nvGrpSpPr>
      <p:grpSpPr>
        <a:xfrm>
          <a:off x="0" y="0"/>
          <a:ext cx="0" cy="0"/>
          <a:chOff x="0" y="0"/>
          <a:chExt cx="0" cy="0"/>
        </a:xfrm>
      </p:grpSpPr>
      <p:sp>
        <p:nvSpPr>
          <p:cNvPr id="1048627" name="Title 1"/>
          <p:cNvSpPr>
            <a:spLocks noGrp="1"/>
          </p:cNvSpPr>
          <p:nvPr>
            <p:ph type="title"/>
          </p:nvPr>
        </p:nvSpPr>
        <p:spPr/>
        <p:txBody>
          <a:bodyPr/>
          <a:p>
            <a:r>
              <a:rPr b="1" dirty="0" lang="en-US"/>
              <a:t>UNINCORPORATED BODIES/ASSOCIATIONS</a:t>
            </a:r>
            <a:endParaRPr dirty="0" lang="x-none"/>
          </a:p>
        </p:txBody>
      </p:sp>
      <p:sp>
        <p:nvSpPr>
          <p:cNvPr id="1048628" name="Content Placeholder 2"/>
          <p:cNvSpPr>
            <a:spLocks noGrp="1"/>
          </p:cNvSpPr>
          <p:nvPr>
            <p:ph idx="1"/>
          </p:nvPr>
        </p:nvSpPr>
        <p:spPr/>
        <p:txBody>
          <a:bodyPr/>
          <a:p>
            <a:pPr algn="just">
              <a:buFont typeface="Wingdings" pitchFamily="2" charset="2"/>
              <a:buChar char="Ø"/>
            </a:pPr>
            <a:r>
              <a:rPr dirty="0" lang="en-GB"/>
              <a:t> Lack juristic personality and  cannot sue or be sued in their names.</a:t>
            </a:r>
          </a:p>
          <a:p>
            <a:pPr algn="just">
              <a:buFont typeface="Wingdings" pitchFamily="2" charset="2"/>
              <a:buChar char="Ø"/>
            </a:pPr>
            <a:r>
              <a:rPr dirty="0" lang="en-GB"/>
              <a:t> May only sue or be sued through accredited members/leaders in representative capacity.  See YUSSUF V. AKINDIPE (2000) 5 SCNJ 128; </a:t>
            </a:r>
            <a:r>
              <a:rPr dirty="0" lang="en-US"/>
              <a:t>SHITTA V LIGALI (1941) 16 NLR 23.</a:t>
            </a:r>
          </a:p>
          <a:p>
            <a:pPr algn="just">
              <a:buFont typeface="Wingdings" pitchFamily="2" charset="2"/>
              <a:buChar char="Ø"/>
            </a:pPr>
            <a:r>
              <a:rPr dirty="0" lang="en-US"/>
              <a:t>E.g. Unregistered trade associations, community or religious associations and bodies. </a:t>
            </a:r>
          </a:p>
          <a:p>
            <a:pPr algn="just">
              <a:buFont typeface="Wingdings" pitchFamily="2" charset="2"/>
              <a:buChar char="Ø"/>
            </a:pPr>
            <a:endParaRPr dirty="0" lang="en-GB"/>
          </a:p>
          <a:p>
            <a:pPr algn="just" indent="0" marL="0">
              <a:buNone/>
            </a:pPr>
            <a:endParaRPr dirty="0" lang="en-GB"/>
          </a:p>
          <a:p>
            <a:endParaRPr dirty="0" lang="x-none"/>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71" name=""/>
        <p:cNvGrpSpPr/>
        <p:nvPr/>
      </p:nvGrpSpPr>
      <p:grpSpPr>
        <a:xfrm>
          <a:off x="0" y="0"/>
          <a:ext cx="0" cy="0"/>
          <a:chOff x="0" y="0"/>
          <a:chExt cx="0" cy="0"/>
        </a:xfrm>
      </p:grpSpPr>
      <p:sp>
        <p:nvSpPr>
          <p:cNvPr id="1048629" name="Title 1"/>
          <p:cNvSpPr>
            <a:spLocks noGrp="1"/>
          </p:cNvSpPr>
          <p:nvPr>
            <p:ph type="title"/>
          </p:nvPr>
        </p:nvSpPr>
        <p:spPr/>
        <p:txBody>
          <a:bodyPr/>
          <a:p>
            <a:r>
              <a:rPr b="1" dirty="0" lang="en-GB"/>
              <a:t>PERSONS UNKNOWN</a:t>
            </a:r>
            <a:endParaRPr dirty="0" lang="x-none"/>
          </a:p>
        </p:txBody>
      </p:sp>
      <p:sp>
        <p:nvSpPr>
          <p:cNvPr id="1048630" name="Content Placeholder 2"/>
          <p:cNvSpPr>
            <a:spLocks noGrp="1"/>
          </p:cNvSpPr>
          <p:nvPr>
            <p:ph idx="1"/>
          </p:nvPr>
        </p:nvSpPr>
        <p:spPr/>
        <p:txBody>
          <a:bodyPr/>
          <a:p>
            <a:pPr algn="just">
              <a:buFont typeface="Wingdings" pitchFamily="2" charset="2"/>
              <a:buChar char="Ø"/>
            </a:pPr>
            <a:r>
              <a:rPr dirty="0" lang="en-US"/>
              <a:t>Where trespassers or occupiers are unknown in land disputes defendants may be described as persons unknown. </a:t>
            </a:r>
          </a:p>
          <a:p>
            <a:pPr algn="just">
              <a:buFont typeface="Wingdings" pitchFamily="2" charset="2"/>
              <a:buChar char="Ø"/>
            </a:pPr>
            <a:r>
              <a:rPr dirty="0" lang="en-US"/>
              <a:t>Such defendants may apply to be substituted in lieu of a  “Person Unknown.” See 13/9, Abuja. </a:t>
            </a:r>
          </a:p>
          <a:p>
            <a:pPr algn="just">
              <a:buFont typeface="Wingdings" pitchFamily="2" charset="2"/>
              <a:buChar char="Ø"/>
            </a:pPr>
            <a:r>
              <a:rPr dirty="0" lang="en-US"/>
              <a:t> Similar practice in Lagos but not expressly provided in the rules.</a:t>
            </a:r>
          </a:p>
          <a:p>
            <a:pPr algn="just">
              <a:buFont typeface="Wingdings" pitchFamily="2" charset="2"/>
              <a:buChar char="Ø"/>
            </a:pPr>
            <a:r>
              <a:rPr dirty="0" lang="en-US"/>
              <a:t>See also Form 38 pursuant to Order 57 r 2(2), Lagos in proceedings against squatters where such a person is described as “The Occupier.”</a:t>
            </a:r>
          </a:p>
          <a:p>
            <a:endParaRPr dirty="0" lang="x-none"/>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72" name=""/>
        <p:cNvGrpSpPr/>
        <p:nvPr/>
      </p:nvGrpSpPr>
      <p:grpSpPr>
        <a:xfrm>
          <a:off x="0" y="0"/>
          <a:ext cx="0" cy="0"/>
          <a:chOff x="0" y="0"/>
          <a:chExt cx="0" cy="0"/>
        </a:xfrm>
      </p:grpSpPr>
      <p:sp>
        <p:nvSpPr>
          <p:cNvPr id="1048631" name="Title 1"/>
          <p:cNvSpPr>
            <a:spLocks noGrp="1"/>
          </p:cNvSpPr>
          <p:nvPr>
            <p:ph type="title"/>
          </p:nvPr>
        </p:nvSpPr>
        <p:spPr/>
        <p:txBody>
          <a:bodyPr/>
          <a:p>
            <a:r>
              <a:rPr dirty="0" lang="x-none"/>
              <a:t>TYPES OF PARTIES</a:t>
            </a:r>
          </a:p>
        </p:txBody>
      </p:sp>
      <p:sp>
        <p:nvSpPr>
          <p:cNvPr id="1048632" name="Content Placeholder 2"/>
          <p:cNvSpPr>
            <a:spLocks noGrp="1"/>
          </p:cNvSpPr>
          <p:nvPr>
            <p:ph idx="1"/>
          </p:nvPr>
        </p:nvSpPr>
        <p:spPr/>
        <p:txBody>
          <a:bodyPr>
            <a:normAutofit lnSpcReduction="10000"/>
          </a:bodyPr>
          <a:p>
            <a:pPr algn="just" lvl="1">
              <a:buFont typeface="Wingdings" panose="05000000000000000000" pitchFamily="2" charset="2"/>
              <a:buChar char="Ø"/>
            </a:pPr>
            <a:r>
              <a:rPr dirty="0" sz="3200" lang="en-US">
                <a:ea typeface="Tahoma" pitchFamily="34" charset="0"/>
                <a:cs typeface="Arial" charset="0"/>
              </a:rPr>
              <a:t>Failure to join the appropriate person to an action or joinder of an inappropriate person may affect the competence of a civil suit, hence the need to identify the various types of parties. See </a:t>
            </a:r>
            <a:r>
              <a:rPr b="1" dirty="0" sz="3200" lang="en-US">
                <a:ea typeface="Tahoma" pitchFamily="34" charset="0"/>
                <a:cs typeface="Arial" charset="0"/>
              </a:rPr>
              <a:t>OKOMU OIL PALM v ISERHIENRHIEN (2001).</a:t>
            </a:r>
          </a:p>
          <a:p>
            <a:pPr algn="just" lvl="1">
              <a:buFont typeface="Wingdings" panose="05000000000000000000" pitchFamily="2" charset="2"/>
              <a:buChar char="Ø"/>
            </a:pPr>
            <a:r>
              <a:rPr dirty="0" sz="3200" lang="en-US">
                <a:ea typeface="Tahoma" pitchFamily="34" charset="0"/>
                <a:cs typeface="Arial" charset="0"/>
              </a:rPr>
              <a:t>The following are the various types of parties:</a:t>
            </a:r>
          </a:p>
          <a:p>
            <a:pPr algn="just" indent="-514350" lvl="2" marL="1428750">
              <a:buFont typeface="+mj-lt"/>
              <a:buAutoNum type="arabicParenR"/>
            </a:pPr>
            <a:r>
              <a:rPr dirty="0" sz="2800" lang="en-US">
                <a:ea typeface="Tahoma" pitchFamily="34" charset="0"/>
                <a:cs typeface="Arial" charset="0"/>
              </a:rPr>
              <a:t>Necessary Parties</a:t>
            </a:r>
          </a:p>
          <a:p>
            <a:pPr algn="just" indent="-514350" lvl="2" marL="1428750">
              <a:buFont typeface="+mj-lt"/>
              <a:buAutoNum type="arabicParenR"/>
            </a:pPr>
            <a:r>
              <a:rPr dirty="0" sz="2800" lang="en-US">
                <a:ea typeface="Tahoma" pitchFamily="34" charset="0"/>
                <a:cs typeface="Arial" charset="0"/>
              </a:rPr>
              <a:t>Proper parties</a:t>
            </a:r>
          </a:p>
          <a:p>
            <a:pPr algn="just" indent="-514350" lvl="2" marL="1428750">
              <a:buFont typeface="+mj-lt"/>
              <a:buAutoNum type="arabicParenR"/>
            </a:pPr>
            <a:r>
              <a:rPr dirty="0" sz="2800" lang="en-US">
                <a:ea typeface="Tahoma" pitchFamily="34" charset="0"/>
                <a:cs typeface="Arial" charset="0"/>
              </a:rPr>
              <a:t>Desirable Parties</a:t>
            </a:r>
          </a:p>
          <a:p>
            <a:pPr algn="just" indent="-514350" lvl="2" marL="1428750">
              <a:buFont typeface="+mj-lt"/>
              <a:buAutoNum type="arabicParenR"/>
            </a:pPr>
            <a:r>
              <a:rPr dirty="0" sz="2800" lang="en-US">
                <a:ea typeface="Tahoma" pitchFamily="34" charset="0"/>
                <a:cs typeface="Arial" charset="0"/>
              </a:rPr>
              <a:t>Nominal parties</a:t>
            </a:r>
          </a:p>
          <a:p>
            <a:endParaRPr dirty="0" lang="x-none"/>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73" name=""/>
        <p:cNvGrpSpPr/>
        <p:nvPr/>
      </p:nvGrpSpPr>
      <p:grpSpPr>
        <a:xfrm>
          <a:off x="0" y="0"/>
          <a:ext cx="0" cy="0"/>
          <a:chOff x="0" y="0"/>
          <a:chExt cx="0" cy="0"/>
        </a:xfrm>
      </p:grpSpPr>
      <p:sp>
        <p:nvSpPr>
          <p:cNvPr id="1048633" name="Title 1"/>
          <p:cNvSpPr>
            <a:spLocks noGrp="1"/>
          </p:cNvSpPr>
          <p:nvPr>
            <p:ph type="title"/>
          </p:nvPr>
        </p:nvSpPr>
        <p:spPr/>
        <p:txBody>
          <a:bodyPr/>
          <a:p>
            <a:r>
              <a:rPr b="1" dirty="0" lang="en-GB"/>
              <a:t>NECESSARY PARTY</a:t>
            </a:r>
            <a:endParaRPr dirty="0" lang="x-none"/>
          </a:p>
        </p:txBody>
      </p:sp>
      <p:sp>
        <p:nvSpPr>
          <p:cNvPr id="1048634" name="Content Placeholder 2"/>
          <p:cNvSpPr>
            <a:spLocks noGrp="1"/>
          </p:cNvSpPr>
          <p:nvPr>
            <p:ph idx="1"/>
          </p:nvPr>
        </p:nvSpPr>
        <p:spPr/>
        <p:txBody>
          <a:bodyPr>
            <a:normAutofit/>
          </a:bodyPr>
          <a:p>
            <a:pPr algn="just">
              <a:buFont typeface="Wingdings" pitchFamily="2" charset="2"/>
              <a:buChar char="Ø"/>
            </a:pPr>
            <a:r>
              <a:rPr dirty="0" sz="3600" lang="en-GB"/>
              <a:t>Necessary parties are those who are not only interested in the subject-matter of the proceedings but in whose absence, the proceedings cannot not be effectively and completely determined. See </a:t>
            </a:r>
            <a:r>
              <a:rPr b="1" dirty="0" sz="3600" lang="en-GB"/>
              <a:t>Green v Green;</a:t>
            </a:r>
            <a:r>
              <a:rPr b="1" dirty="0" lang="en-GB"/>
              <a:t> UNION BEVERAGES v PEPSI COLA (1994); ADISA v OYINWOLA (2000); OJO v OGBE (2007)</a:t>
            </a:r>
          </a:p>
          <a:p>
            <a:endParaRPr dirty="0" lang="x-none"/>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74" name=""/>
        <p:cNvGrpSpPr/>
        <p:nvPr/>
      </p:nvGrpSpPr>
      <p:grpSpPr>
        <a:xfrm>
          <a:off x="0" y="0"/>
          <a:ext cx="0" cy="0"/>
          <a:chOff x="0" y="0"/>
          <a:chExt cx="0" cy="0"/>
        </a:xfrm>
      </p:grpSpPr>
      <p:sp>
        <p:nvSpPr>
          <p:cNvPr id="1048635" name="Title 1"/>
          <p:cNvSpPr>
            <a:spLocks noGrp="1"/>
          </p:cNvSpPr>
          <p:nvPr>
            <p:ph type="title"/>
          </p:nvPr>
        </p:nvSpPr>
        <p:spPr/>
        <p:txBody>
          <a:bodyPr/>
          <a:p>
            <a:r>
              <a:rPr dirty="0" lang="x-none"/>
              <a:t>PROPER PARTY</a:t>
            </a:r>
          </a:p>
        </p:txBody>
      </p:sp>
      <p:sp>
        <p:nvSpPr>
          <p:cNvPr id="1048636" name="Content Placeholder 2"/>
          <p:cNvSpPr>
            <a:spLocks noGrp="1"/>
          </p:cNvSpPr>
          <p:nvPr>
            <p:ph idx="1"/>
          </p:nvPr>
        </p:nvSpPr>
        <p:spPr/>
        <p:txBody>
          <a:bodyPr/>
          <a:p>
            <a:pPr algn="just">
              <a:buFont typeface="Wingdings" pitchFamily="2" charset="2"/>
              <a:buChar char="Ø"/>
            </a:pPr>
            <a:r>
              <a:rPr dirty="0" lang="en-GB"/>
              <a:t>A person who has an interest in the subject matter or whose interest would be directly affected by the outcome of the action. </a:t>
            </a:r>
            <a:r>
              <a:rPr b="1" dirty="0" lang="en-GB"/>
              <a:t>See Mobil v LASEPA)</a:t>
            </a:r>
            <a:r>
              <a:rPr dirty="0" lang="en-GB"/>
              <a:t> </a:t>
            </a:r>
          </a:p>
          <a:p>
            <a:pPr algn="just" indent="0" marL="0">
              <a:buNone/>
            </a:pPr>
            <a:endParaRPr dirty="0" lang="en-GB"/>
          </a:p>
          <a:p>
            <a:pPr indent="0" marL="0">
              <a:buNone/>
            </a:pPr>
            <a:endParaRPr dirty="0" lang="x-none"/>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75" name=""/>
        <p:cNvGrpSpPr/>
        <p:nvPr/>
      </p:nvGrpSpPr>
      <p:grpSpPr>
        <a:xfrm>
          <a:off x="0" y="0"/>
          <a:ext cx="0" cy="0"/>
          <a:chOff x="0" y="0"/>
          <a:chExt cx="0" cy="0"/>
        </a:xfrm>
      </p:grpSpPr>
      <p:sp>
        <p:nvSpPr>
          <p:cNvPr id="1048637" name="Title 1"/>
          <p:cNvSpPr>
            <a:spLocks noGrp="1"/>
          </p:cNvSpPr>
          <p:nvPr>
            <p:ph type="title"/>
          </p:nvPr>
        </p:nvSpPr>
        <p:spPr/>
        <p:txBody>
          <a:bodyPr/>
          <a:p>
            <a:r>
              <a:rPr dirty="0" lang="x-none"/>
              <a:t>DESIRABLE PARTY</a:t>
            </a:r>
          </a:p>
        </p:txBody>
      </p:sp>
      <p:sp>
        <p:nvSpPr>
          <p:cNvPr id="1048638" name="Content Placeholder 2"/>
          <p:cNvSpPr>
            <a:spLocks noGrp="1"/>
          </p:cNvSpPr>
          <p:nvPr>
            <p:ph idx="1"/>
          </p:nvPr>
        </p:nvSpPr>
        <p:spPr/>
        <p:txBody>
          <a:bodyPr/>
          <a:p>
            <a:pPr algn="just">
              <a:buFont typeface="Wingdings" pitchFamily="2" charset="2"/>
              <a:buChar char="Ø"/>
            </a:pPr>
            <a:r>
              <a:rPr dirty="0" lang="en-GB"/>
              <a:t>Desirable parties are those whose presence is not necessary for just determination of the suit. In order words, the suit can effectively be determined in their absence. </a:t>
            </a:r>
          </a:p>
          <a:p>
            <a:pPr algn="just">
              <a:buFont typeface="Wingdings" pitchFamily="2" charset="2"/>
              <a:buChar char="Ø"/>
            </a:pPr>
            <a:r>
              <a:rPr dirty="0" lang="en-GB"/>
              <a:t>However, they are made parties so as to be bound by the outcome of the case as they may be affected by the result of the case. </a:t>
            </a:r>
          </a:p>
          <a:p>
            <a:pPr algn="just" indent="0" marL="0">
              <a:buNone/>
            </a:pPr>
            <a:r>
              <a:rPr dirty="0" lang="en-GB"/>
              <a:t>See Yakubu v Gov. of Kogi State [1995] 9 SCNJ 122 at 141; Green v Green</a:t>
            </a:r>
            <a:endParaRPr dirty="0" lang="x-none"/>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76" name=""/>
        <p:cNvGrpSpPr/>
        <p:nvPr/>
      </p:nvGrpSpPr>
      <p:grpSpPr>
        <a:xfrm>
          <a:off x="0" y="0"/>
          <a:ext cx="0" cy="0"/>
          <a:chOff x="0" y="0"/>
          <a:chExt cx="0" cy="0"/>
        </a:xfrm>
      </p:grpSpPr>
      <p:sp>
        <p:nvSpPr>
          <p:cNvPr id="1048639" name="Title 1"/>
          <p:cNvSpPr>
            <a:spLocks noGrp="1"/>
          </p:cNvSpPr>
          <p:nvPr>
            <p:ph type="title"/>
          </p:nvPr>
        </p:nvSpPr>
        <p:spPr/>
        <p:txBody>
          <a:bodyPr/>
          <a:p>
            <a:r>
              <a:rPr dirty="0" lang="x-none"/>
              <a:t>NOMINAL PARTY</a:t>
            </a:r>
          </a:p>
        </p:txBody>
      </p:sp>
      <p:sp>
        <p:nvSpPr>
          <p:cNvPr id="1048640" name="Content Placeholder 2"/>
          <p:cNvSpPr>
            <a:spLocks noGrp="1"/>
          </p:cNvSpPr>
          <p:nvPr>
            <p:ph idx="1"/>
          </p:nvPr>
        </p:nvSpPr>
        <p:spPr/>
        <p:txBody>
          <a:bodyPr/>
          <a:p>
            <a:pPr algn="just">
              <a:buFont typeface="Wingdings" pitchFamily="2" charset="2"/>
              <a:buChar char="Ø"/>
            </a:pPr>
            <a:r>
              <a:rPr dirty="0" lang="en-GB"/>
              <a:t>A party only by virtue of the office he occupies. </a:t>
            </a:r>
            <a:endParaRPr b="1" dirty="0" lang="en-GB"/>
          </a:p>
          <a:p>
            <a:pPr algn="just">
              <a:buFont typeface="Wingdings" pitchFamily="2" charset="2"/>
              <a:buChar char="Ø"/>
            </a:pPr>
            <a:r>
              <a:rPr dirty="0" lang="en-GB"/>
              <a:t>Sometime, described as a </a:t>
            </a:r>
            <a:r>
              <a:rPr dirty="0" lang="en-US">
                <a:ea typeface="Tahoma" pitchFamily="34" charset="0"/>
                <a:cs typeface="Arial" charset="0"/>
              </a:rPr>
              <a:t>Statutory Party </a:t>
            </a:r>
          </a:p>
          <a:p>
            <a:pPr algn="just">
              <a:buFont typeface="Wingdings" pitchFamily="2" charset="2"/>
              <a:buChar char="Ø"/>
            </a:pPr>
            <a:r>
              <a:rPr b="1" dirty="0" lang="en-US">
                <a:ea typeface="Tahoma" pitchFamily="34" charset="0"/>
                <a:cs typeface="Arial" charset="0"/>
              </a:rPr>
              <a:t>E.g., AGs, Speakers </a:t>
            </a:r>
            <a:r>
              <a:rPr b="1" dirty="0" lang="en-US" err="1">
                <a:ea typeface="Tahoma" pitchFamily="34" charset="0"/>
                <a:cs typeface="Arial" charset="0"/>
              </a:rPr>
              <a:t>etc</a:t>
            </a:r>
            <a:endParaRPr b="1" dirty="0" lang="en-US">
              <a:ea typeface="Tahoma" pitchFamily="34" charset="0"/>
              <a:cs typeface="Arial" charset="0"/>
            </a:endParaRPr>
          </a:p>
          <a:p>
            <a:pPr indent="0" marL="0">
              <a:buNone/>
            </a:pPr>
            <a:r>
              <a:rPr b="1" dirty="0" lang="x-none">
                <a:ea typeface="Tahoma" pitchFamily="34" charset="0"/>
                <a:cs typeface="Arial" charset="0"/>
              </a:rPr>
              <a:t>	see </a:t>
            </a:r>
            <a:r>
              <a:rPr dirty="0" lang="en-GB"/>
              <a:t>See </a:t>
            </a:r>
            <a:r>
              <a:rPr b="1" dirty="0" lang="en-GB"/>
              <a:t>PADAWA v JATAU [2003] 5 NWLR (pt. 813) 247; Plateau State v AGF [2006] 3 NWLR (Pt 967) 346</a:t>
            </a:r>
            <a:endParaRPr dirty="0" lang="x-none"/>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77" name=""/>
        <p:cNvGrpSpPr/>
        <p:nvPr/>
      </p:nvGrpSpPr>
      <p:grpSpPr>
        <a:xfrm>
          <a:off x="0" y="0"/>
          <a:ext cx="0" cy="0"/>
          <a:chOff x="0" y="0"/>
          <a:chExt cx="0" cy="0"/>
        </a:xfrm>
      </p:grpSpPr>
      <p:sp>
        <p:nvSpPr>
          <p:cNvPr id="1048641" name="Title 1"/>
          <p:cNvSpPr>
            <a:spLocks noGrp="1"/>
          </p:cNvSpPr>
          <p:nvPr>
            <p:ph type="title"/>
          </p:nvPr>
        </p:nvSpPr>
        <p:spPr/>
        <p:txBody>
          <a:bodyPr/>
          <a:p>
            <a:r>
              <a:rPr b="1" dirty="0" lang="en-US"/>
              <a:t>REPRESENTATIVE ACTIONS/PROCEDURE</a:t>
            </a:r>
            <a:endParaRPr dirty="0" lang="x-none"/>
          </a:p>
        </p:txBody>
      </p:sp>
      <p:sp>
        <p:nvSpPr>
          <p:cNvPr id="1048642" name="Content Placeholder 2"/>
          <p:cNvSpPr>
            <a:spLocks noGrp="1"/>
          </p:cNvSpPr>
          <p:nvPr>
            <p:ph idx="1"/>
          </p:nvPr>
        </p:nvSpPr>
        <p:spPr/>
        <p:txBody>
          <a:bodyPr>
            <a:normAutofit/>
          </a:bodyPr>
          <a:p>
            <a:pPr algn="just">
              <a:buFont typeface="Wingdings" pitchFamily="2" charset="2"/>
              <a:buChar char="Ø"/>
            </a:pPr>
            <a:r>
              <a:rPr dirty="0" lang="en-GB"/>
              <a:t>When several persons share a common interest in the subject matter of a case, one or more of them may sue or be sued in representative capacity on behalf of others. See Order 13 r. 14, Abuja; Order 15 r.12, Lagos.</a:t>
            </a:r>
          </a:p>
          <a:p>
            <a:pPr algn="just">
              <a:buFont typeface="Wingdings" pitchFamily="2" charset="2"/>
              <a:buChar char="Ø"/>
            </a:pPr>
            <a:r>
              <a:rPr dirty="0" lang="en-GB"/>
              <a:t>Both named and represented parties are bound by the outcome of the case. See </a:t>
            </a:r>
            <a:r>
              <a:rPr b="1" dirty="0" lang="en-GB"/>
              <a:t>OKETIE V OLUGHOR (1995) 5 SCNJ 217 at 226</a:t>
            </a:r>
          </a:p>
          <a:p>
            <a:pPr algn="just">
              <a:buFont typeface="Wingdings" pitchFamily="2" charset="2"/>
              <a:buChar char="Ø"/>
            </a:pPr>
            <a:r>
              <a:rPr dirty="0" lang="en-GB"/>
              <a:t>N</a:t>
            </a:r>
            <a:r>
              <a:rPr dirty="0" lang="x-none"/>
              <a:t>o leave is required to sue in representative capacity. But where the named defendant seek to defend in representative capacity on behal of others with whom they share common interest in the subject matter, they require leave to defend in representative capacity.</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78" name=""/>
        <p:cNvGrpSpPr/>
        <p:nvPr/>
      </p:nvGrpSpPr>
      <p:grpSpPr>
        <a:xfrm>
          <a:off x="0" y="0"/>
          <a:ext cx="0" cy="0"/>
          <a:chOff x="0" y="0"/>
          <a:chExt cx="0" cy="0"/>
        </a:xfrm>
      </p:grpSpPr>
      <p:sp>
        <p:nvSpPr>
          <p:cNvPr id="1048643" name="Title 1"/>
          <p:cNvSpPr>
            <a:spLocks noGrp="1"/>
          </p:cNvSpPr>
          <p:nvPr>
            <p:ph type="title"/>
          </p:nvPr>
        </p:nvSpPr>
        <p:spPr/>
        <p:txBody>
          <a:bodyPr/>
          <a:p>
            <a:r>
              <a:rPr dirty="0" lang="x-none"/>
              <a:t>CLASS ACTION</a:t>
            </a:r>
          </a:p>
        </p:txBody>
      </p:sp>
      <p:sp>
        <p:nvSpPr>
          <p:cNvPr id="1048644" name="Content Placeholder 2"/>
          <p:cNvSpPr>
            <a:spLocks noGrp="1"/>
          </p:cNvSpPr>
          <p:nvPr>
            <p:ph idx="1"/>
          </p:nvPr>
        </p:nvSpPr>
        <p:spPr/>
        <p:txBody>
          <a:bodyPr>
            <a:normAutofit/>
          </a:bodyPr>
          <a:p>
            <a:pPr>
              <a:buFont typeface="Wingdings" pitchFamily="2" charset="2"/>
              <a:buChar char="Ø"/>
            </a:pPr>
            <a:r>
              <a:rPr dirty="0" lang="en-GB"/>
              <a:t>Specie of representative action</a:t>
            </a:r>
          </a:p>
          <a:p>
            <a:pPr>
              <a:buFont typeface="Wingdings" pitchFamily="2" charset="2"/>
              <a:buChar char="Ø"/>
            </a:pPr>
            <a:r>
              <a:rPr dirty="0" lang="en-GB"/>
              <a:t>The court must be satisfied that</a:t>
            </a:r>
          </a:p>
          <a:p>
            <a:pPr indent="0" marL="0">
              <a:buNone/>
            </a:pPr>
            <a:r>
              <a:rPr dirty="0" lang="en-GB"/>
              <a:t>	(a) 	the persons or class of persons interested in the subject 			matter cannot be ascertained or readily be ascertained; or</a:t>
            </a:r>
          </a:p>
          <a:p>
            <a:pPr indent="0" marL="0">
              <a:buNone/>
            </a:pPr>
            <a:r>
              <a:rPr dirty="0" lang="en-GB"/>
              <a:t>	(b)	 if they can be ascertained, cannot be found; or</a:t>
            </a:r>
          </a:p>
          <a:p>
            <a:pPr indent="0" marL="0">
              <a:buNone/>
            </a:pPr>
            <a:r>
              <a:rPr dirty="0" lang="en-GB"/>
              <a:t>	(c)	though they can be ascertained and found; it is 				expedient that class action be adopted</a:t>
            </a:r>
          </a:p>
          <a:p>
            <a:pPr indent="0" marL="0">
              <a:buNone/>
            </a:pPr>
            <a:r>
              <a:rPr dirty="0" lang="en-GB"/>
              <a:t> See Order 13 r 15 &amp; 16 Abuja; Order 15 r 13 &amp; 14 Lagos.</a:t>
            </a:r>
            <a:endParaRPr dirty="0" lang="x-none"/>
          </a:p>
          <a:p>
            <a:pPr indent="0" marL="0">
              <a:buNone/>
            </a:pPr>
            <a:endParaRPr dirty="0"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79" name=""/>
        <p:cNvGrpSpPr/>
        <p:nvPr/>
      </p:nvGrpSpPr>
      <p:grpSpPr>
        <a:xfrm>
          <a:off x="0" y="0"/>
          <a:ext cx="0" cy="0"/>
          <a:chOff x="0" y="0"/>
          <a:chExt cx="0" cy="0"/>
        </a:xfrm>
      </p:grpSpPr>
      <p:sp>
        <p:nvSpPr>
          <p:cNvPr id="1048645" name="Title 1"/>
          <p:cNvSpPr>
            <a:spLocks noGrp="1"/>
          </p:cNvSpPr>
          <p:nvPr>
            <p:ph type="title"/>
          </p:nvPr>
        </p:nvSpPr>
        <p:spPr/>
        <p:txBody>
          <a:bodyPr/>
          <a:p>
            <a:r>
              <a:rPr dirty="0" lang="x-none"/>
              <a:t>CLASS ACTION CONT’D</a:t>
            </a:r>
          </a:p>
        </p:txBody>
      </p:sp>
      <p:sp>
        <p:nvSpPr>
          <p:cNvPr id="1048646" name="Content Placeholder 2"/>
          <p:cNvSpPr>
            <a:spLocks noGrp="1"/>
          </p:cNvSpPr>
          <p:nvPr>
            <p:ph idx="1"/>
          </p:nvPr>
        </p:nvSpPr>
        <p:spPr/>
        <p:txBody>
          <a:bodyPr/>
          <a:p>
            <a:pPr>
              <a:buFont typeface="Wingdings" pitchFamily="2" charset="2"/>
              <a:buChar char="Ø"/>
            </a:pPr>
            <a:r>
              <a:rPr dirty="0" lang="en-GB"/>
              <a:t>Available in proceedings concerning:</a:t>
            </a:r>
          </a:p>
          <a:p>
            <a:pPr indent="0" marL="0">
              <a:buNone/>
            </a:pPr>
            <a:r>
              <a:rPr dirty="0" lang="en-GB"/>
              <a:t>	(a) The administration of estate; or</a:t>
            </a:r>
          </a:p>
          <a:p>
            <a:pPr indent="0" marL="0">
              <a:buNone/>
            </a:pPr>
            <a:r>
              <a:rPr dirty="0" lang="en-GB"/>
              <a:t>	(b) Property subject to a trust; or</a:t>
            </a:r>
          </a:p>
          <a:p>
            <a:pPr indent="0" marL="0">
              <a:buNone/>
            </a:pPr>
            <a:r>
              <a:rPr dirty="0" lang="en-GB"/>
              <a:t>	(c) Family or communal land; or</a:t>
            </a:r>
          </a:p>
          <a:p>
            <a:pPr indent="0" marL="0">
              <a:buNone/>
            </a:pPr>
            <a:r>
              <a:rPr dirty="0" lang="en-GB"/>
              <a:t>	(d) The construction of any written instrument or statute; or</a:t>
            </a:r>
          </a:p>
          <a:p>
            <a:pPr indent="0" marL="0">
              <a:buNone/>
            </a:pPr>
            <a:r>
              <a:rPr dirty="0" lang="en-GB"/>
              <a:t>	(e) Torts or any other class action (item (e) is not included in 	Lagos)</a:t>
            </a:r>
          </a:p>
          <a:p>
            <a:pPr indent="0" marL="0">
              <a:buNone/>
            </a:pPr>
            <a:r>
              <a:rPr dirty="0" lang="en-GB"/>
              <a:t> </a:t>
            </a:r>
            <a:endParaRPr dirty="0" lang="x-none"/>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80" name=""/>
        <p:cNvGrpSpPr/>
        <p:nvPr/>
      </p:nvGrpSpPr>
      <p:grpSpPr>
        <a:xfrm>
          <a:off x="0" y="0"/>
          <a:ext cx="0" cy="0"/>
          <a:chOff x="0" y="0"/>
          <a:chExt cx="0" cy="0"/>
        </a:xfrm>
      </p:grpSpPr>
      <p:sp>
        <p:nvSpPr>
          <p:cNvPr id="1048647" name="Title 1"/>
          <p:cNvSpPr>
            <a:spLocks noGrp="1"/>
          </p:cNvSpPr>
          <p:nvPr>
            <p:ph type="title"/>
          </p:nvPr>
        </p:nvSpPr>
        <p:spPr/>
        <p:txBody>
          <a:bodyPr/>
          <a:p>
            <a:r>
              <a:rPr dirty="0" lang="x-none"/>
              <a:t>CLASS ACTION CONT’D</a:t>
            </a:r>
          </a:p>
        </p:txBody>
      </p:sp>
      <p:sp>
        <p:nvSpPr>
          <p:cNvPr id="1048648" name="Content Placeholder 2"/>
          <p:cNvSpPr>
            <a:spLocks noGrp="1"/>
          </p:cNvSpPr>
          <p:nvPr>
            <p:ph idx="1"/>
          </p:nvPr>
        </p:nvSpPr>
        <p:spPr/>
        <p:txBody>
          <a:bodyPr/>
          <a:p>
            <a:r>
              <a:rPr dirty="0" lang="x-none"/>
              <a:t>Application by motion ex-parte for court to appoint</a:t>
            </a:r>
            <a:r>
              <a:rPr dirty="0" lang="en-GB"/>
              <a:t> one or more persons to represent the class.</a:t>
            </a:r>
          </a:p>
          <a:p>
            <a:r>
              <a:rPr dirty="0" lang="en-GB"/>
              <a:t>A</a:t>
            </a:r>
            <a:r>
              <a:rPr dirty="0" lang="x-none"/>
              <a:t>ny settlement must be certified by the court</a:t>
            </a:r>
          </a:p>
          <a:p>
            <a:r>
              <a:rPr dirty="0" lang="en-GB"/>
              <a:t>J</a:t>
            </a:r>
            <a:r>
              <a:rPr dirty="0" lang="x-none"/>
              <a:t>udgment binds all members of the class including the unborn except where judgment is obtained by fraud or misrepresentation of facts.</a:t>
            </a:r>
          </a:p>
          <a:p>
            <a:pPr indent="0" marL="0">
              <a:buNone/>
            </a:pPr>
            <a:r>
              <a:rPr dirty="0" lang="x-none"/>
              <a:t>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81" name=""/>
        <p:cNvGrpSpPr/>
        <p:nvPr/>
      </p:nvGrpSpPr>
      <p:grpSpPr>
        <a:xfrm>
          <a:off x="0" y="0"/>
          <a:ext cx="0" cy="0"/>
          <a:chOff x="0" y="0"/>
          <a:chExt cx="0" cy="0"/>
        </a:xfrm>
      </p:grpSpPr>
      <p:sp>
        <p:nvSpPr>
          <p:cNvPr id="1048649" name="Title 1"/>
          <p:cNvSpPr>
            <a:spLocks noGrp="1"/>
          </p:cNvSpPr>
          <p:nvPr>
            <p:ph type="title"/>
          </p:nvPr>
        </p:nvSpPr>
        <p:spPr/>
        <p:txBody>
          <a:bodyPr/>
          <a:p>
            <a:r>
              <a:rPr dirty="0" lang="x-none"/>
              <a:t>JOINDER OF PARTIES</a:t>
            </a:r>
          </a:p>
        </p:txBody>
      </p:sp>
      <p:sp>
        <p:nvSpPr>
          <p:cNvPr id="1048650" name="Content Placeholder 2"/>
          <p:cNvSpPr>
            <a:spLocks noGrp="1"/>
          </p:cNvSpPr>
          <p:nvPr>
            <p:ph idx="1"/>
          </p:nvPr>
        </p:nvSpPr>
        <p:spPr/>
        <p:txBody>
          <a:bodyPr/>
          <a:p>
            <a:pPr algn="just">
              <a:buFont typeface="Wingdings" pitchFamily="2" charset="2"/>
              <a:buChar char="Ø"/>
            </a:pPr>
            <a:r>
              <a:rPr dirty="0" lang="en-GB"/>
              <a:t>Two or more persons may be joined in one suit as claimants or defendants to prosecute or defend their common reliefs jointly.  Order 13 </a:t>
            </a:r>
            <a:r>
              <a:rPr dirty="0" lang="en-GB" err="1"/>
              <a:t>rr</a:t>
            </a:r>
            <a:r>
              <a:rPr dirty="0" lang="en-GB"/>
              <a:t> 1 &amp; 4 Abuja; Order 15 </a:t>
            </a:r>
            <a:r>
              <a:rPr dirty="0" lang="en-GB" err="1"/>
              <a:t>rr</a:t>
            </a:r>
            <a:r>
              <a:rPr dirty="0" lang="en-GB"/>
              <a:t> 1 &amp; 4 Lagos.</a:t>
            </a:r>
          </a:p>
          <a:p>
            <a:pPr algn="just">
              <a:buFont typeface="Wingdings" pitchFamily="2" charset="2"/>
              <a:buChar char="Ø"/>
            </a:pPr>
            <a:r>
              <a:rPr dirty="0" lang="en-GB"/>
              <a:t>Joint claimants must have the same interest and not conflicting claims in the subject matter. It is also desirable that they act by one counsel. </a:t>
            </a:r>
            <a:r>
              <a:rPr b="1" dirty="0" lang="en-GB"/>
              <a:t>IGE FARINDE (1994)</a:t>
            </a:r>
          </a:p>
          <a:p>
            <a:pPr algn="just">
              <a:buFont typeface="Wingdings" pitchFamily="2" charset="2"/>
              <a:buChar char="Ø"/>
            </a:pPr>
            <a:r>
              <a:rPr dirty="0" lang="en-GB"/>
              <a:t>Joinder of parties is not joinder of causes of action. If causes of action are different, no joinder. See </a:t>
            </a:r>
            <a:r>
              <a:rPr b="1" dirty="0" lang="en-GB"/>
              <a:t>AMACHREE V NEWINGTON (1952)</a:t>
            </a:r>
          </a:p>
          <a:p>
            <a:endParaRPr dirty="0" lang="x-none"/>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82" name=""/>
        <p:cNvGrpSpPr/>
        <p:nvPr/>
      </p:nvGrpSpPr>
      <p:grpSpPr>
        <a:xfrm>
          <a:off x="0" y="0"/>
          <a:ext cx="0" cy="0"/>
          <a:chOff x="0" y="0"/>
          <a:chExt cx="0" cy="0"/>
        </a:xfrm>
      </p:grpSpPr>
      <p:sp>
        <p:nvSpPr>
          <p:cNvPr id="1048651" name="Title 1"/>
          <p:cNvSpPr>
            <a:spLocks noGrp="1"/>
          </p:cNvSpPr>
          <p:nvPr>
            <p:ph type="title"/>
          </p:nvPr>
        </p:nvSpPr>
        <p:spPr/>
        <p:txBody>
          <a:bodyPr/>
          <a:p>
            <a:r>
              <a:rPr dirty="0" lang="x-none"/>
              <a:t>JOINDER OF PARTIES CONT’D</a:t>
            </a:r>
          </a:p>
        </p:txBody>
      </p:sp>
      <p:sp>
        <p:nvSpPr>
          <p:cNvPr id="1048652" name="Content Placeholder 2"/>
          <p:cNvSpPr>
            <a:spLocks noGrp="1"/>
          </p:cNvSpPr>
          <p:nvPr>
            <p:ph idx="1"/>
          </p:nvPr>
        </p:nvSpPr>
        <p:spPr/>
        <p:txBody>
          <a:bodyPr>
            <a:normAutofit/>
          </a:bodyPr>
          <a:p>
            <a:pPr algn="just">
              <a:buFont typeface="Wingdings" pitchFamily="2" charset="2"/>
              <a:buChar char="Ø"/>
            </a:pPr>
            <a:r>
              <a:rPr dirty="0" lang="en-GB"/>
              <a:t>Claimant may join as a party to the action any one  or more persons jointly or severally liable. See ORDER 13 r 7 Abuja; Order 15 r 7 Lagos.</a:t>
            </a:r>
          </a:p>
          <a:p>
            <a:pPr algn="just">
              <a:buFont typeface="Wingdings" pitchFamily="2" charset="2"/>
              <a:buChar char="Ø"/>
            </a:pPr>
            <a:r>
              <a:rPr dirty="0" lang="en-GB"/>
              <a:t>If he is in doubt as to who to join, he may join two or more persons so that the question as to who is liable can be settled by the court after trial. Order 15 r 8 Lagos; Order 13 r 8 Abuja. </a:t>
            </a:r>
          </a:p>
          <a:p>
            <a:pPr algn="just">
              <a:buFont typeface="Wingdings" pitchFamily="2" charset="2"/>
              <a:buChar char="Ø"/>
            </a:pPr>
            <a:endParaRPr dirty="0" lang="en-GB"/>
          </a:p>
          <a:p>
            <a:pPr algn="just">
              <a:buFont typeface="Wingdings" panose="05000000000000000000" pitchFamily="2" charset="2"/>
              <a:buChar char="v"/>
            </a:pPr>
            <a:endParaRPr dirty="0" lang="en-GB"/>
          </a:p>
          <a:p>
            <a:pPr indent="0" marL="0">
              <a:buNone/>
            </a:pPr>
            <a:endParaRPr dirty="0" lang="x-none"/>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83" name=""/>
        <p:cNvGrpSpPr/>
        <p:nvPr/>
      </p:nvGrpSpPr>
      <p:grpSpPr>
        <a:xfrm>
          <a:off x="0" y="0"/>
          <a:ext cx="0" cy="0"/>
          <a:chOff x="0" y="0"/>
          <a:chExt cx="0" cy="0"/>
        </a:xfrm>
      </p:grpSpPr>
      <p:sp>
        <p:nvSpPr>
          <p:cNvPr id="1048653" name="Title 1"/>
          <p:cNvSpPr>
            <a:spLocks noGrp="1"/>
          </p:cNvSpPr>
          <p:nvPr>
            <p:ph type="title"/>
          </p:nvPr>
        </p:nvSpPr>
        <p:spPr/>
        <p:txBody>
          <a:bodyPr/>
          <a:p>
            <a:r>
              <a:rPr dirty="0" lang="x-none"/>
              <a:t>NON-JOINDER/MISJOINDER OF PARTIES</a:t>
            </a:r>
          </a:p>
        </p:txBody>
      </p:sp>
      <p:sp>
        <p:nvSpPr>
          <p:cNvPr id="1048654" name="Content Placeholder 2"/>
          <p:cNvSpPr>
            <a:spLocks noGrp="1"/>
          </p:cNvSpPr>
          <p:nvPr>
            <p:ph idx="1"/>
          </p:nvPr>
        </p:nvSpPr>
        <p:spPr/>
        <p:txBody>
          <a:bodyPr>
            <a:normAutofit/>
          </a:bodyPr>
          <a:p>
            <a:pPr algn="just">
              <a:buFont typeface="Wingdings" pitchFamily="2" charset="2"/>
              <a:buChar char="Ø"/>
            </a:pPr>
            <a:r>
              <a:rPr dirty="0" lang="en-GB"/>
              <a:t>Suit not defeated on that ground. Court may </a:t>
            </a:r>
            <a:r>
              <a:rPr dirty="0" lang="en-US"/>
              <a:t>deal with the matter as between the parties before it.  Order 15 r 16 Lagos; Order 13 r 18, Abuja; </a:t>
            </a:r>
            <a:r>
              <a:rPr b="1" dirty="0" lang="en-US"/>
              <a:t>DONTSOHO V MOHAMMED  (2003); MIN OF LAGOS AFFAIRS V ONIGBONGBO COMMUNITY (1961).</a:t>
            </a:r>
          </a:p>
          <a:p>
            <a:pPr algn="just">
              <a:buFont typeface="Wingdings" pitchFamily="2" charset="2"/>
              <a:buChar char="Ø"/>
            </a:pPr>
            <a:r>
              <a:rPr dirty="0" lang="en-US"/>
              <a:t>Judgment against a non party likely to be set aside. See </a:t>
            </a:r>
            <a:r>
              <a:rPr b="1" dirty="0" lang="en-GB"/>
              <a:t>Green v Green</a:t>
            </a:r>
          </a:p>
          <a:p>
            <a:pPr algn="just">
              <a:buFont typeface="Wingdings" pitchFamily="2" charset="2"/>
              <a:buChar char="Ø"/>
            </a:pPr>
            <a:r>
              <a:rPr dirty="0" lang="en-GB"/>
              <a:t>NON-JOINDER – application may be made for joinder or court can even </a:t>
            </a:r>
            <a:r>
              <a:rPr dirty="0" i="1" lang="en-GB" err="1"/>
              <a:t>suo</a:t>
            </a:r>
            <a:r>
              <a:rPr dirty="0" i="1" lang="en-GB"/>
              <a:t> motu </a:t>
            </a:r>
            <a:r>
              <a:rPr dirty="0" lang="en-GB"/>
              <a:t>make order for joinder in appropriate cases see </a:t>
            </a:r>
            <a:r>
              <a:rPr b="1" dirty="0" lang="en-GB" err="1"/>
              <a:t>Otapo</a:t>
            </a:r>
            <a:r>
              <a:rPr b="1" dirty="0" lang="en-GB"/>
              <a:t> v Sunmonu.</a:t>
            </a:r>
          </a:p>
          <a:p>
            <a:pPr algn="just">
              <a:buFont typeface="Wingdings" pitchFamily="2" charset="2"/>
              <a:buChar char="Ø"/>
            </a:pPr>
            <a:r>
              <a:rPr dirty="0" lang="en-GB"/>
              <a:t>MISJOINDER – application for striking out the name of party wrongly joined </a:t>
            </a:r>
          </a:p>
          <a:p>
            <a:pPr algn="just">
              <a:buFont typeface="Wingdings" pitchFamily="2" charset="2"/>
              <a:buChar char="Ø"/>
            </a:pPr>
            <a:r>
              <a:rPr dirty="0" lang="en-GB"/>
              <a:t> Motion on notice + affidavit + written address. See Order 15 r17 Lagos; Order 13r 19 Abuja</a:t>
            </a:r>
          </a:p>
          <a:p>
            <a:pPr algn="just" indent="0" marL="0">
              <a:buNone/>
            </a:pPr>
            <a:endParaRPr b="1" dirty="0" lang="en-GB"/>
          </a:p>
          <a:p>
            <a:endParaRPr dirty="0" lang="x-none"/>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84" name=""/>
        <p:cNvGrpSpPr/>
        <p:nvPr/>
      </p:nvGrpSpPr>
      <p:grpSpPr>
        <a:xfrm>
          <a:off x="0" y="0"/>
          <a:ext cx="0" cy="0"/>
          <a:chOff x="0" y="0"/>
          <a:chExt cx="0" cy="0"/>
        </a:xfrm>
      </p:grpSpPr>
      <p:sp>
        <p:nvSpPr>
          <p:cNvPr id="1048655" name="Title 1"/>
          <p:cNvSpPr>
            <a:spLocks noGrp="1"/>
          </p:cNvSpPr>
          <p:nvPr>
            <p:ph type="title"/>
          </p:nvPr>
        </p:nvSpPr>
        <p:spPr/>
        <p:txBody>
          <a:bodyPr/>
          <a:p>
            <a:r>
              <a:rPr dirty="0" lang="x-none"/>
              <a:t>JOINDER OF PARTIES CONT’D</a:t>
            </a:r>
          </a:p>
        </p:txBody>
      </p:sp>
      <p:sp>
        <p:nvSpPr>
          <p:cNvPr id="1048656" name="Content Placeholder 2"/>
          <p:cNvSpPr>
            <a:spLocks noGrp="1"/>
          </p:cNvSpPr>
          <p:nvPr>
            <p:ph idx="1"/>
          </p:nvPr>
        </p:nvSpPr>
        <p:spPr/>
        <p:txBody>
          <a:bodyPr>
            <a:normAutofit lnSpcReduction="10000"/>
          </a:bodyPr>
          <a:p>
            <a:pPr algn="just">
              <a:buFont typeface="Wingdings" pitchFamily="2" charset="2"/>
              <a:buChar char="Ø"/>
            </a:pPr>
            <a:r>
              <a:rPr dirty="0" lang="en-US"/>
              <a:t>Application for joinder may be by existing party or prospective party/intervener</a:t>
            </a:r>
          </a:p>
          <a:p>
            <a:pPr algn="just">
              <a:buFont typeface="Wingdings" pitchFamily="2" charset="2"/>
              <a:buChar char="Ø"/>
            </a:pPr>
            <a:r>
              <a:rPr dirty="0" lang="en-US"/>
              <a:t>Party to be joined must be a necessary party </a:t>
            </a:r>
          </a:p>
          <a:p>
            <a:pPr algn="just">
              <a:buFont typeface="Wingdings" pitchFamily="2" charset="2"/>
              <a:buChar char="Ø"/>
            </a:pPr>
            <a:r>
              <a:rPr dirty="0" lang="en-US"/>
              <a:t>At any stage of the proceedings. Order 15 r 16 Lagos; Order 13 r 18 Abuja; </a:t>
            </a:r>
            <a:r>
              <a:rPr b="1" dirty="0" lang="en-US"/>
              <a:t>EZENWA V MAZELI (1955)</a:t>
            </a:r>
            <a:r>
              <a:rPr dirty="0" lang="en-US"/>
              <a:t>; ODAHE V OKUJENI (1973)</a:t>
            </a:r>
          </a:p>
          <a:p>
            <a:pPr algn="just">
              <a:buFont typeface="Wingdings" pitchFamily="2" charset="2"/>
              <a:buChar char="Ø"/>
            </a:pPr>
            <a:r>
              <a:rPr dirty="0" lang="en-US"/>
              <a:t>May even be ordered on appeal. See </a:t>
            </a:r>
            <a:r>
              <a:rPr b="1" dirty="0" sz="2400" lang="en-US"/>
              <a:t>INAKOJU V ADELEKE (LADOJA`S CASE) (SUPRA); LAIBRU V BUILDING &amp; CIVIL ENG CONTRACTORS (1962); YAKUBU V GOV OF KOGI STATE (1995). </a:t>
            </a:r>
            <a:r>
              <a:rPr b="1" dirty="0" lang="en-US"/>
              <a:t>MISJOINED PARTY </a:t>
            </a:r>
            <a:r>
              <a:rPr dirty="0" lang="en-US"/>
              <a:t>could also be struck out on appeal.  </a:t>
            </a:r>
            <a:r>
              <a:rPr b="1" dirty="0" lang="en-US"/>
              <a:t>OKAFOR V NNAIFE </a:t>
            </a:r>
          </a:p>
          <a:p>
            <a:pPr algn="just">
              <a:buFont typeface="Wingdings" pitchFamily="2" charset="2"/>
              <a:buChar char="Ø"/>
            </a:pPr>
            <a:r>
              <a:rPr dirty="0" lang="en-GB"/>
              <a:t>Order for joinder cannot be reversed by same court. Review is possible only on appeal </a:t>
            </a:r>
            <a:r>
              <a:rPr b="1" dirty="0" lang="en-GB"/>
              <a:t>ONWUKA V MADUKA (2002)</a:t>
            </a:r>
            <a:endParaRPr dirty="0" lang="en-GB"/>
          </a:p>
          <a:p>
            <a:pPr algn="just">
              <a:buFont typeface="Wingdings" pitchFamily="2" charset="2"/>
              <a:buChar char="Ø"/>
            </a:pPr>
            <a:endParaRPr b="1" dirty="0" lang="en-US"/>
          </a:p>
          <a:p>
            <a:endParaRPr dirty="0" lang="x-none"/>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85" name=""/>
        <p:cNvGrpSpPr/>
        <p:nvPr/>
      </p:nvGrpSpPr>
      <p:grpSpPr>
        <a:xfrm>
          <a:off x="0" y="0"/>
          <a:ext cx="0" cy="0"/>
          <a:chOff x="0" y="0"/>
          <a:chExt cx="0" cy="0"/>
        </a:xfrm>
      </p:grpSpPr>
      <p:sp>
        <p:nvSpPr>
          <p:cNvPr id="1048657" name="Title 1"/>
          <p:cNvSpPr>
            <a:spLocks noGrp="1"/>
          </p:cNvSpPr>
          <p:nvPr>
            <p:ph type="title"/>
          </p:nvPr>
        </p:nvSpPr>
        <p:spPr/>
        <p:txBody>
          <a:bodyPr/>
          <a:p>
            <a:r>
              <a:rPr b="1" dirty="0" lang="en-US"/>
              <a:t>ALTERATION OF PARTIES</a:t>
            </a:r>
            <a:endParaRPr dirty="0" lang="x-none"/>
          </a:p>
        </p:txBody>
      </p:sp>
      <p:sp>
        <p:nvSpPr>
          <p:cNvPr id="1048658" name="Content Placeholder 2"/>
          <p:cNvSpPr>
            <a:spLocks noGrp="1"/>
          </p:cNvSpPr>
          <p:nvPr>
            <p:ph idx="1"/>
          </p:nvPr>
        </p:nvSpPr>
        <p:spPr/>
        <p:txBody>
          <a:bodyPr/>
          <a:p>
            <a:pPr algn="just">
              <a:buFont typeface="Wingdings" pitchFamily="2" charset="2"/>
              <a:buChar char="Ø"/>
            </a:pPr>
            <a:r>
              <a:rPr dirty="0" lang="en-GB"/>
              <a:t>Means substitution of a party to a pending proceeding </a:t>
            </a:r>
          </a:p>
          <a:p>
            <a:pPr algn="just">
              <a:buFont typeface="Wingdings" pitchFamily="2" charset="2"/>
              <a:buChar char="Ø"/>
            </a:pPr>
            <a:r>
              <a:rPr b="1" dirty="0" sz="3200" lang="en-GB"/>
              <a:t>Reasons: </a:t>
            </a:r>
            <a:r>
              <a:rPr dirty="0" lang="en-GB"/>
              <a:t>death, bankruptcy, assignment, transfer, transmission, devolution of interest of liability, change of name,  take-over/acquisition, merger, </a:t>
            </a:r>
          </a:p>
          <a:p>
            <a:pPr algn="just">
              <a:buFont typeface="Wingdings" pitchFamily="2" charset="2"/>
              <a:buChar char="Ø"/>
            </a:pPr>
            <a:r>
              <a:rPr dirty="0" lang="en-GB"/>
              <a:t>Application for alteration/substitution is made by motion ex </a:t>
            </a:r>
            <a:r>
              <a:rPr dirty="0" lang="en-GB" err="1"/>
              <a:t>parte</a:t>
            </a:r>
            <a:r>
              <a:rPr dirty="0" lang="en-GB"/>
              <a:t>. Order 15 r 30 Lagos; Order 13 r 31 Abuja.</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86" name=""/>
        <p:cNvGrpSpPr/>
        <p:nvPr/>
      </p:nvGrpSpPr>
      <p:grpSpPr>
        <a:xfrm>
          <a:off x="0" y="0"/>
          <a:ext cx="0" cy="0"/>
          <a:chOff x="0" y="0"/>
          <a:chExt cx="0" cy="0"/>
        </a:xfrm>
      </p:grpSpPr>
      <p:sp>
        <p:nvSpPr>
          <p:cNvPr id="1048659" name="Title 1"/>
          <p:cNvSpPr>
            <a:spLocks noGrp="1"/>
          </p:cNvSpPr>
          <p:nvPr>
            <p:ph type="title"/>
          </p:nvPr>
        </p:nvSpPr>
        <p:spPr/>
        <p:txBody>
          <a:bodyPr/>
          <a:p>
            <a:r>
              <a:rPr b="1" dirty="0" lang="en-GB"/>
              <a:t>DEATH OF A PARTY</a:t>
            </a:r>
            <a:endParaRPr dirty="0" lang="x-none"/>
          </a:p>
        </p:txBody>
      </p:sp>
      <p:sp>
        <p:nvSpPr>
          <p:cNvPr id="1048660" name="Content Placeholder 2"/>
          <p:cNvSpPr>
            <a:spLocks noGrp="1"/>
          </p:cNvSpPr>
          <p:nvPr>
            <p:ph idx="1"/>
          </p:nvPr>
        </p:nvSpPr>
        <p:spPr/>
        <p:txBody>
          <a:bodyPr>
            <a:noAutofit/>
          </a:bodyPr>
          <a:p>
            <a:pPr algn="just">
              <a:buFont typeface="Wingdings" pitchFamily="2" charset="2"/>
              <a:buChar char="Ø"/>
            </a:pPr>
            <a:r>
              <a:rPr dirty="0" lang="en-GB"/>
              <a:t>If a dead person is a sole party, action abates because “</a:t>
            </a:r>
            <a:r>
              <a:rPr dirty="0" i="1" lang="en-GB"/>
              <a:t>personal action  dies with the person” (</a:t>
            </a:r>
            <a:r>
              <a:rPr b="1" dirty="0" i="1" lang="en-GB" err="1"/>
              <a:t>actio</a:t>
            </a:r>
            <a:r>
              <a:rPr b="1" dirty="0" i="1" lang="en-GB"/>
              <a:t> </a:t>
            </a:r>
            <a:r>
              <a:rPr b="1" dirty="0" i="1" lang="en-GB" err="1"/>
              <a:t>persOnalis</a:t>
            </a:r>
            <a:r>
              <a:rPr b="1" dirty="0" i="1" lang="en-GB"/>
              <a:t> </a:t>
            </a:r>
            <a:r>
              <a:rPr b="1" dirty="0" i="1" lang="en-GB" err="1"/>
              <a:t>moritur</a:t>
            </a:r>
            <a:r>
              <a:rPr b="1" dirty="0" i="1" lang="en-GB"/>
              <a:t> cum persona).</a:t>
            </a:r>
          </a:p>
          <a:p>
            <a:pPr algn="just">
              <a:buFont typeface="Wingdings" pitchFamily="2" charset="2"/>
              <a:buChar char="Ø"/>
            </a:pPr>
            <a:r>
              <a:rPr dirty="0" lang="en-GB"/>
              <a:t>Exceptions -</a:t>
            </a:r>
          </a:p>
          <a:p>
            <a:pPr algn="just" indent="0" lvl="1" marL="457200">
              <a:buNone/>
            </a:pPr>
            <a:r>
              <a:rPr dirty="0" sz="2800" lang="en-GB"/>
              <a:t>(a)		Where the cause of action survives the dead party Order 		15 r 29 Lagos. Order 13 rule 30 Abuja.  </a:t>
            </a:r>
          </a:p>
          <a:p>
            <a:pPr algn="just" indent="-514350" lvl="1" marL="971550">
              <a:buAutoNum type="alphaLcParenBoth" startAt="2"/>
            </a:pPr>
            <a:r>
              <a:rPr dirty="0" sz="2800" lang="en-GB"/>
              <a:t> 	If death occurs between the finding of issues of fact &amp; 		judgement or after hearing is concluded but before 		judgment. Order 15 r 30 Lagos. Order 13 r 31 Abuja</a:t>
            </a:r>
            <a:r>
              <a:rPr b="1" dirty="0" sz="2800" lang="en-GB"/>
              <a:t> </a:t>
            </a:r>
          </a:p>
          <a:p>
            <a:pPr algn="just" lvl="1">
              <a:buFont typeface="Wingdings" pitchFamily="2" charset="2"/>
              <a:buChar char="Ø"/>
            </a:pPr>
            <a:r>
              <a:rPr dirty="0" sz="2800" lang="en-GB"/>
              <a:t>After any substitution, processes would be amended to reflect change. </a:t>
            </a:r>
            <a:endParaRPr b="1" dirty="0" sz="2800" lang="en-GB"/>
          </a:p>
          <a:p>
            <a:pPr algn="just" lvl="1">
              <a:buFont typeface="Wingdings" pitchFamily="2" charset="2"/>
              <a:buChar char="Ø"/>
            </a:pPr>
            <a:endParaRPr b="1" dirty="0" sz="2800" lang="en-GB"/>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87" name=""/>
        <p:cNvGrpSpPr/>
        <p:nvPr/>
      </p:nvGrpSpPr>
      <p:grpSpPr>
        <a:xfrm>
          <a:off x="0" y="0"/>
          <a:ext cx="0" cy="0"/>
          <a:chOff x="0" y="0"/>
          <a:chExt cx="0" cy="0"/>
        </a:xfrm>
      </p:grpSpPr>
      <p:sp>
        <p:nvSpPr>
          <p:cNvPr id="1048661" name="Title 1"/>
          <p:cNvSpPr>
            <a:spLocks noGrp="1"/>
          </p:cNvSpPr>
          <p:nvPr>
            <p:ph type="title"/>
          </p:nvPr>
        </p:nvSpPr>
        <p:spPr/>
        <p:txBody>
          <a:bodyPr/>
          <a:p>
            <a:r>
              <a:rPr b="1" dirty="0" lang="en-GB"/>
              <a:t>THIRD PARTY APPLICATION/PROCEEDINGS</a:t>
            </a:r>
            <a:endParaRPr dirty="0" lang="x-none"/>
          </a:p>
        </p:txBody>
      </p:sp>
      <p:sp>
        <p:nvSpPr>
          <p:cNvPr id="1048662" name="Content Placeholder 2"/>
          <p:cNvSpPr>
            <a:spLocks noGrp="1"/>
          </p:cNvSpPr>
          <p:nvPr>
            <p:ph idx="1"/>
          </p:nvPr>
        </p:nvSpPr>
        <p:spPr/>
        <p:txBody>
          <a:bodyPr>
            <a:normAutofit/>
          </a:bodyPr>
          <a:p>
            <a:pPr algn="just">
              <a:buFont typeface="Wingdings" pitchFamily="2" charset="2"/>
              <a:buChar char="Ø"/>
            </a:pPr>
            <a:r>
              <a:rPr dirty="0" lang="en-GB"/>
              <a:t>It enables the defendant (or a claimant who is a defendant to a counterclaim) seek relief by way of contribution or indemnity against a third party</a:t>
            </a:r>
          </a:p>
          <a:p>
            <a:pPr algn="just">
              <a:buFont typeface="Wingdings" pitchFamily="2" charset="2"/>
              <a:buChar char="Ø"/>
            </a:pPr>
            <a:r>
              <a:rPr dirty="0" lang="en-GB"/>
              <a:t>The defendant’s claim against the 3</a:t>
            </a:r>
            <a:r>
              <a:rPr baseline="30000" dirty="0" lang="en-GB"/>
              <a:t>rd</a:t>
            </a:r>
            <a:r>
              <a:rPr dirty="0" lang="en-GB"/>
              <a:t> party must arise from the claimant’s claim against the defendant.</a:t>
            </a:r>
          </a:p>
          <a:p>
            <a:pPr algn="just">
              <a:buFont typeface="Wingdings" pitchFamily="2" charset="2"/>
              <a:buChar char="Ø"/>
            </a:pPr>
            <a:r>
              <a:rPr dirty="0" lang="en-GB"/>
              <a:t>When joined, the third party becomes a defendant to the defendant. He is not a defendant to the claimant’s claim. See </a:t>
            </a:r>
            <a:r>
              <a:rPr b="1" dirty="0" lang="en-GB"/>
              <a:t>BRTITISH AIRWAYS V NAHCO (1993); SUN INSURANCE V OJEMUYIWA</a:t>
            </a:r>
            <a:endParaRPr dirty="0" lang="en-GB"/>
          </a:p>
          <a:p>
            <a:pPr algn="just">
              <a:buFont typeface="Wingdings" pitchFamily="2" charset="2"/>
              <a:buChar char="Ø"/>
            </a:pPr>
            <a:r>
              <a:rPr dirty="0" lang="en-GB"/>
              <a:t> Aim is to avoid multiplicity of actions. See 15/19, Lagos &amp; 13/21,m Abuja</a:t>
            </a:r>
          </a:p>
          <a:p>
            <a:endParaRPr dirty="0" lang="x-none"/>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88" name=""/>
        <p:cNvGrpSpPr/>
        <p:nvPr/>
      </p:nvGrpSpPr>
      <p:grpSpPr>
        <a:xfrm>
          <a:off x="0" y="0"/>
          <a:ext cx="0" cy="0"/>
          <a:chOff x="0" y="0"/>
          <a:chExt cx="0" cy="0"/>
        </a:xfrm>
      </p:grpSpPr>
      <p:sp>
        <p:nvSpPr>
          <p:cNvPr id="1048663" name="Title 1"/>
          <p:cNvSpPr>
            <a:spLocks noGrp="1"/>
          </p:cNvSpPr>
          <p:nvPr>
            <p:ph type="title"/>
          </p:nvPr>
        </p:nvSpPr>
        <p:spPr/>
        <p:txBody>
          <a:bodyPr/>
          <a:p>
            <a:r>
              <a:rPr b="1" dirty="0" lang="en-GB"/>
              <a:t>ETHICAL ISSUES</a:t>
            </a:r>
            <a:endParaRPr dirty="0" lang="x-none"/>
          </a:p>
        </p:txBody>
      </p:sp>
      <p:sp>
        <p:nvSpPr>
          <p:cNvPr id="1048664" name="Content Placeholder 2"/>
          <p:cNvSpPr>
            <a:spLocks noGrp="1"/>
          </p:cNvSpPr>
          <p:nvPr>
            <p:ph idx="1"/>
          </p:nvPr>
        </p:nvSpPr>
        <p:spPr/>
        <p:txBody>
          <a:bodyPr>
            <a:normAutofit lnSpcReduction="10000"/>
          </a:bodyPr>
          <a:p>
            <a:pPr algn="just">
              <a:buFont typeface="Wingdings" pitchFamily="2" charset="2"/>
              <a:buChar char="Ø"/>
            </a:pPr>
            <a:r>
              <a:rPr dirty="0" lang="en-GB"/>
              <a:t>Identify the lawyer`s ethical duties &amp; professional responsibility in respect of:</a:t>
            </a:r>
          </a:p>
          <a:p>
            <a:pPr algn="just" indent="-742950" lvl="1" marL="1200150">
              <a:buAutoNum type="arabicParenBoth"/>
            </a:pPr>
            <a:r>
              <a:rPr dirty="0" sz="2800" lang="en-GB"/>
              <a:t>Prior due diligence  to determine true, necessary, capable parties, etc</a:t>
            </a:r>
          </a:p>
          <a:p>
            <a:pPr algn="just" indent="-742950" lvl="1" marL="1200150">
              <a:buAutoNum type="arabicParenBoth"/>
            </a:pPr>
            <a:r>
              <a:rPr dirty="0" sz="2800" lang="en-GB"/>
              <a:t>Representation withing the bounds of law</a:t>
            </a:r>
          </a:p>
          <a:p>
            <a:pPr algn="just" indent="-742950" lvl="1" marL="1200150">
              <a:buAutoNum type="arabicParenBoth"/>
            </a:pPr>
            <a:r>
              <a:rPr dirty="0" sz="2800" lang="en-GB"/>
              <a:t>Honest &amp; Candid advice to clients</a:t>
            </a:r>
          </a:p>
          <a:p>
            <a:pPr algn="just" indent="-742950" lvl="1" marL="1200150">
              <a:buAutoNum type="arabicParenBoth"/>
            </a:pPr>
            <a:r>
              <a:rPr dirty="0" sz="2800" lang="en-GB"/>
              <a:t>Dedication &amp; Devotion</a:t>
            </a:r>
          </a:p>
          <a:p>
            <a:pPr algn="just" indent="-742950" lvl="1" marL="1200150">
              <a:buAutoNum type="arabicParenBoth"/>
            </a:pPr>
            <a:r>
              <a:rPr dirty="0" sz="2800" lang="en-GB"/>
              <a:t>Professional Secrecy &amp; Privilege</a:t>
            </a:r>
          </a:p>
          <a:p>
            <a:pPr algn="just" indent="-742950" lvl="1" marL="1200150">
              <a:buAutoNum type="arabicParenBoth"/>
            </a:pPr>
            <a:r>
              <a:rPr dirty="0" sz="2800" lang="en-GB"/>
              <a:t>Meticulousness in drafting </a:t>
            </a:r>
          </a:p>
          <a:p>
            <a:pPr algn="just" indent="-742950" lvl="1" marL="1200150">
              <a:buAutoNum type="arabicParenBoth"/>
            </a:pPr>
            <a:r>
              <a:rPr dirty="0" sz="2800" lang="en-GB"/>
              <a:t>Take full instruction  (client interview essential, to avoid errors)</a:t>
            </a:r>
          </a:p>
          <a:p>
            <a:endParaRPr dirty="0" lang="x-none"/>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Microsoft Office PowerPoint</Application>
  <ScaleCrop>0</ScaleCrop>
  <Company>HP</Company>
  <LinksUpToDate>0</LinksUpToDate>
  <AppVersion>15.0000</AppVersion>
</Properties>
</file>

<file path=docProps/core.xml><?xml version="1.0" encoding="utf-8"?>
<cp:coreProperties xmlns:cp="http://schemas.openxmlformats.org/package/2006/metadata/core-properties" xmlns:dc="http://purl.org/dc/elements/1.1/" xmlns:dcterms="http://purl.org/dc/terms/" xmlns:xsi="http://www.w3.org/2001/XMLSchema-instance">
  <dc:title>CIVIL LITIGATION  WEEK 4</dc:title>
  <dc:creator>COMMENT</dc:creator>
  <cp:lastModifiedBy>COMMENT</cp:lastModifiedBy>
  <dcterms:created xsi:type="dcterms:W3CDTF">2025-03-30T17:26:06Z</dcterms:created>
  <dcterms:modified xsi:type="dcterms:W3CDTF">2025-05-03T17:51:39Z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3552ddf0747645c6916ba96843f87d87</vt:lpwstr>
  </property>
</Properties>
</file>