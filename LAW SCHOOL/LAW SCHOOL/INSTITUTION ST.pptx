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Slide Image Placeholder 1"/>
          <p:cNvSpPr>
            <a:spLocks noGrp="1" noRot="1" noChangeAspect="1"/>
          </p:cNvSpPr>
          <p:nvPr>
            <p:ph type="sldImg"/>
          </p:nvPr>
        </p:nvSpPr>
        <p:spPr/>
      </p:sp>
      <p:sp>
        <p:nvSpPr>
          <p:cNvPr id="1048602" name="Notes Placeholder 2"/>
          <p:cNvSpPr>
            <a:spLocks noGrp="1"/>
          </p:cNvSpPr>
          <p:nvPr>
            <p:ph type="body" idx="1"/>
          </p:nvPr>
        </p:nvSpPr>
        <p:spPr/>
        <p:txBody>
          <a:bodyPr/>
          <a:lstStyle/>
          <a:p>
            <a:endParaRPr lang="en-US" dirty="0"/>
          </a:p>
        </p:txBody>
      </p:sp>
      <p:sp>
        <p:nvSpPr>
          <p:cNvPr id="1048603" name="Slide Number Placeholder 3"/>
          <p:cNvSpPr>
            <a:spLocks noGrp="1"/>
          </p:cNvSpPr>
          <p:nvPr>
            <p:ph type="sldNum" sz="quarter" idx="10"/>
          </p:nvPr>
        </p:nvSpPr>
        <p:spPr/>
        <p:txBody>
          <a:bodyPr/>
          <a:lstStyle/>
          <a:p>
            <a:fld id="{71F85ED1-718D-4B09-BDCB-1CDC6CE36ED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9ACD96-8E44-4C92-BDF0-40434CCFE85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Subtitle 2"/>
          <p:cNvSpPr>
            <a:spLocks noGrp="1"/>
          </p:cNvSpPr>
          <p:nvPr>
            <p:ph type="subTitle" idx="1"/>
          </p:nvPr>
        </p:nvSpPr>
        <p:spPr>
          <a:xfrm>
            <a:off x="1981200" y="2133600"/>
            <a:ext cx="8062912" cy="1752600"/>
          </a:xfrm>
        </p:spPr>
        <p:txBody>
          <a:bodyPr>
            <a:normAutofit/>
          </a:bodyPr>
          <a:lstStyle/>
          <a:p>
            <a:pPr algn="ctr"/>
            <a:r>
              <a:rPr lang="en-GB" sz="4800" b="1" dirty="0">
                <a:solidFill>
                  <a:schemeClr val="tx1">
                    <a:lumMod val="85000"/>
                  </a:schemeClr>
                </a:solidFill>
              </a:rPr>
              <a:t>INSTITUTION OF CRIMINAL PROCEEDINGS </a:t>
            </a:r>
            <a:endParaRPr lang="en-GB" sz="4800" b="1" dirty="0">
              <a:solidFill>
                <a:schemeClr val="tx1">
                  <a:lumMod val="85000"/>
                </a:schemeClr>
              </a:solidFill>
            </a:endParaRPr>
          </a:p>
          <a:p>
            <a:endParaRPr lang="en-GB" sz="4400" b="1" dirty="0">
              <a:solidFill>
                <a:schemeClr val="tx1">
                  <a:lumMod val="8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8202"/>
    </mc:Choice>
    <mc:Fallback>
      <p:transition spd="slow" advTm="4820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Content Placeholder 4"/>
          <p:cNvSpPr>
            <a:spLocks noGrp="1"/>
          </p:cNvSpPr>
          <p:nvPr>
            <p:ph idx="1"/>
          </p:nvPr>
        </p:nvSpPr>
        <p:spPr>
          <a:xfrm>
            <a:off x="1981200" y="225425"/>
            <a:ext cx="8229600" cy="6229350"/>
          </a:xfrm>
        </p:spPr>
        <p:txBody>
          <a:bodyPr>
            <a:noAutofit/>
          </a:bodyPr>
          <a:lstStyle/>
          <a:p>
            <a:pPr marL="0" indent="0" algn="ctr">
              <a:buNone/>
            </a:pPr>
            <a:r>
              <a:rPr lang="en-GB" sz="3600" b="1" dirty="0" smtClean="0"/>
              <a:t>OUTCOMES:</a:t>
            </a:r>
            <a:endParaRPr lang="en-GB" sz="3600" b="1" dirty="0" smtClean="0"/>
          </a:p>
          <a:p>
            <a:pPr marL="0" indent="0" algn="just">
              <a:buNone/>
            </a:pPr>
            <a:r>
              <a:rPr lang="en-GB" sz="3600" dirty="0" smtClean="0"/>
              <a:t>At </a:t>
            </a:r>
            <a:r>
              <a:rPr lang="en-GB" sz="3600" dirty="0"/>
              <a:t>the end of the lesson, students would be able to:</a:t>
            </a:r>
            <a:endParaRPr lang="en-GB" sz="3600" dirty="0"/>
          </a:p>
          <a:p>
            <a:pPr marL="514350" indent="-514350" algn="just">
              <a:buAutoNum type="arabicPeriod"/>
            </a:pPr>
            <a:r>
              <a:rPr lang="en-GB" sz="3600" dirty="0"/>
              <a:t>Explain who can institute (commence) criminal proceedings;</a:t>
            </a:r>
            <a:endParaRPr lang="en-GB" sz="3600" dirty="0"/>
          </a:p>
          <a:p>
            <a:pPr marL="514350" indent="-514350" algn="just">
              <a:buAutoNum type="arabicPeriod"/>
            </a:pPr>
            <a:r>
              <a:rPr lang="en-GB" sz="3600" dirty="0"/>
              <a:t>Explain how to commence criminal proceedings in the various courts in Nigeria</a:t>
            </a:r>
            <a:endParaRPr lang="en-GB" sz="3600" dirty="0"/>
          </a:p>
          <a:p>
            <a:pPr marL="514350" indent="-514350" algn="just">
              <a:buAutoNum type="arabicPeriod"/>
            </a:pPr>
            <a:r>
              <a:rPr lang="en-GB" sz="3600" dirty="0"/>
              <a:t>Explain the effect of the Federal High Court and FCT High Court Practice Directions</a:t>
            </a:r>
            <a:endParaRPr lang="en-GB" sz="3600" dirty="0"/>
          </a:p>
          <a:p>
            <a:pPr algn="just"/>
            <a:endParaRPr lang="en-GB" sz="3600" dirty="0"/>
          </a:p>
        </p:txBody>
      </p:sp>
    </p:spTree>
  </p:cSld>
  <p:clrMapOvr>
    <a:masterClrMapping/>
  </p:clrMapOvr>
  <mc:AlternateContent xmlns:mc="http://schemas.openxmlformats.org/markup-compatibility/2006">
    <mc:Choice xmlns:p14="http://schemas.microsoft.com/office/powerpoint/2010/main" Requires="p14">
      <p:transition spd="slow" p14:dur="2000" advTm="31223"/>
    </mc:Choice>
    <mc:Fallback>
      <p:transition spd="slow" advTm="31223"/>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a:xfrm>
            <a:off x="2057400" y="2743200"/>
            <a:ext cx="8229600" cy="1399032"/>
          </a:xfrm>
        </p:spPr>
        <p:txBody>
          <a:bodyPr>
            <a:noAutofit/>
          </a:bodyPr>
          <a:lstStyle/>
          <a:p>
            <a:pPr algn="ctr"/>
            <a:r>
              <a:rPr lang="en-US" sz="5400" b="1" dirty="0"/>
              <a:t>WHO CAN INSTITUTE  CRIMINAL PROCEEDINGS?</a:t>
            </a:r>
            <a:endParaRPr lang="en-GB" sz="5400" b="1" dirty="0"/>
          </a:p>
        </p:txBody>
      </p:sp>
    </p:spTree>
  </p:cSld>
  <p:clrMapOvr>
    <a:masterClrMapping/>
  </p:clrMapOvr>
  <mc:AlternateContent xmlns:mc="http://schemas.openxmlformats.org/markup-compatibility/2006">
    <mc:Choice xmlns:p14="http://schemas.microsoft.com/office/powerpoint/2010/main" Requires="p14">
      <p:transition spd="slow" p14:dur="2000" advTm="10523"/>
    </mc:Choice>
    <mc:Fallback>
      <p:transition spd="slow" advTm="10523"/>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2"/>
          <p:cNvSpPr>
            <a:spLocks noGrp="1"/>
          </p:cNvSpPr>
          <p:nvPr>
            <p:ph type="title"/>
          </p:nvPr>
        </p:nvSpPr>
        <p:spPr>
          <a:xfrm>
            <a:off x="1981200" y="152400"/>
            <a:ext cx="8229600" cy="1157605"/>
          </a:xfrm>
        </p:spPr>
        <p:txBody>
          <a:bodyPr>
            <a:noAutofit/>
          </a:bodyPr>
          <a:lstStyle/>
          <a:p>
            <a:pPr algn="ctr"/>
            <a:r>
              <a:rPr lang="en-GB" sz="3600" b="1" dirty="0"/>
              <a:t>PERSONS  THAT CAN COMMENCE CRIMINAL PROCEEDINGS IN NIGERIA</a:t>
            </a:r>
            <a:endParaRPr lang="en-GB" sz="3600" b="1" dirty="0"/>
          </a:p>
        </p:txBody>
      </p:sp>
      <p:sp>
        <p:nvSpPr>
          <p:cNvPr id="1048616" name="Content Placeholder 1"/>
          <p:cNvSpPr>
            <a:spLocks noGrp="1"/>
          </p:cNvSpPr>
          <p:nvPr>
            <p:ph idx="1"/>
          </p:nvPr>
        </p:nvSpPr>
        <p:spPr>
          <a:xfrm>
            <a:off x="1981200" y="1194435"/>
            <a:ext cx="8229600" cy="5434965"/>
          </a:xfrm>
        </p:spPr>
        <p:txBody>
          <a:bodyPr>
            <a:noAutofit/>
          </a:bodyPr>
          <a:lstStyle/>
          <a:p>
            <a:pPr algn="just">
              <a:buNone/>
            </a:pPr>
            <a:r>
              <a:rPr lang="en-GB" sz="4000" dirty="0"/>
              <a:t>Persons that can institute criminal actions are:</a:t>
            </a:r>
            <a:endParaRPr lang="en-GB" sz="4000" dirty="0"/>
          </a:p>
          <a:p>
            <a:pPr marL="514350" indent="-514350" algn="just">
              <a:buAutoNum type="arabicPeriod"/>
            </a:pPr>
            <a:r>
              <a:rPr lang="en-GB" sz="4000" dirty="0"/>
              <a:t>The Attorney-General (</a:t>
            </a:r>
            <a:r>
              <a:rPr lang="en-GB" sz="4000" dirty="0" smtClean="0"/>
              <a:t>Federal/State</a:t>
            </a:r>
            <a:r>
              <a:rPr lang="en-GB" sz="4000" dirty="0"/>
              <a:t>)</a:t>
            </a:r>
            <a:endParaRPr lang="en-GB" sz="4000" dirty="0"/>
          </a:p>
          <a:p>
            <a:pPr marL="514350" indent="-514350" algn="just">
              <a:buAutoNum type="arabicPeriod"/>
            </a:pPr>
            <a:r>
              <a:rPr lang="en-GB" sz="4000" dirty="0"/>
              <a:t>The Police</a:t>
            </a:r>
            <a:endParaRPr lang="en-GB" sz="4000" dirty="0"/>
          </a:p>
          <a:p>
            <a:pPr marL="514350" indent="-514350" algn="just">
              <a:buAutoNum type="arabicPeriod"/>
            </a:pPr>
            <a:r>
              <a:rPr lang="en-GB" sz="4000" dirty="0"/>
              <a:t>Private Persons</a:t>
            </a:r>
            <a:endParaRPr lang="en-GB" sz="4000" dirty="0"/>
          </a:p>
          <a:p>
            <a:pPr marL="514350" indent="-514350" algn="just">
              <a:buAutoNum type="arabicPeriod"/>
            </a:pPr>
            <a:r>
              <a:rPr lang="en-GB" sz="4000" dirty="0"/>
              <a:t>Private Legal Practitioners</a:t>
            </a:r>
            <a:endParaRPr lang="en-GB" sz="4000" dirty="0"/>
          </a:p>
          <a:p>
            <a:pPr marL="514350" indent="-514350" algn="just">
              <a:buAutoNum type="arabicPeriod"/>
            </a:pPr>
            <a:r>
              <a:rPr lang="en-GB" sz="4000" dirty="0"/>
              <a:t>Special Prosecutors</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20116"/>
    </mc:Choice>
    <mc:Fallback>
      <p:transition spd="slow" advTm="20116"/>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3"/>
          <p:cNvSpPr>
            <a:spLocks noGrp="1"/>
          </p:cNvSpPr>
          <p:nvPr>
            <p:ph type="title"/>
          </p:nvPr>
        </p:nvSpPr>
        <p:spPr>
          <a:xfrm>
            <a:off x="2057400" y="2438400"/>
            <a:ext cx="8229600" cy="1399032"/>
          </a:xfrm>
        </p:spPr>
        <p:txBody>
          <a:bodyPr>
            <a:noAutofit/>
          </a:bodyPr>
          <a:lstStyle/>
          <a:p>
            <a:pPr algn="ctr"/>
            <a:r>
              <a:rPr lang="en-US" sz="6600" b="1" dirty="0"/>
              <a:t>THE ATTORNEY-GENERAL</a:t>
            </a:r>
            <a:endParaRPr lang="en-GB" sz="6600" b="1" dirty="0"/>
          </a:p>
        </p:txBody>
      </p:sp>
    </p:spTree>
  </p:cSld>
  <p:clrMapOvr>
    <a:masterClrMapping/>
  </p:clrMapOvr>
  <mc:AlternateContent xmlns:mc="http://schemas.openxmlformats.org/markup-compatibility/2006">
    <mc:Choice xmlns:p14="http://schemas.microsoft.com/office/powerpoint/2010/main" Requires="p14">
      <p:transition spd="slow" p14:dur="2000" advTm="4514"/>
    </mc:Choice>
    <mc:Fallback>
      <p:transition spd="slow" advTm="4514"/>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itle 2"/>
          <p:cNvSpPr>
            <a:spLocks noGrp="1"/>
          </p:cNvSpPr>
          <p:nvPr>
            <p:ph type="title"/>
          </p:nvPr>
        </p:nvSpPr>
        <p:spPr>
          <a:xfrm>
            <a:off x="1981200" y="152400"/>
            <a:ext cx="8229600" cy="914400"/>
          </a:xfrm>
        </p:spPr>
        <p:txBody>
          <a:bodyPr>
            <a:noAutofit/>
          </a:bodyPr>
          <a:lstStyle/>
          <a:p>
            <a:pPr algn="ctr"/>
            <a:r>
              <a:rPr sz="4800" b="1" dirty="0"/>
              <a:t>THE ATTORNEY-GENERAL</a:t>
            </a:r>
            <a:endParaRPr lang="en-GB" sz="4800" b="1" dirty="0"/>
          </a:p>
        </p:txBody>
      </p:sp>
      <p:sp>
        <p:nvSpPr>
          <p:cNvPr id="1048619" name="Content Placeholder 1"/>
          <p:cNvSpPr>
            <a:spLocks noGrp="1"/>
          </p:cNvSpPr>
          <p:nvPr>
            <p:ph idx="1"/>
          </p:nvPr>
        </p:nvSpPr>
        <p:spPr>
          <a:xfrm>
            <a:off x="1981200" y="1295400"/>
            <a:ext cx="8229600" cy="5159408"/>
          </a:xfrm>
        </p:spPr>
        <p:txBody>
          <a:bodyPr>
            <a:noAutofit/>
          </a:bodyPr>
          <a:lstStyle/>
          <a:p>
            <a:pPr algn="just"/>
            <a:r>
              <a:rPr lang="en-GB" sz="3600" dirty="0"/>
              <a:t>T</a:t>
            </a:r>
            <a:r>
              <a:rPr lang="en-GB" sz="4000" dirty="0"/>
              <a:t>he office of the AG is created under ss 150(1) and 195(1), of the </a:t>
            </a:r>
            <a:r>
              <a:rPr lang="en-US" altLang="en-GB" sz="4000" dirty="0"/>
              <a:t>CFRN </a:t>
            </a:r>
            <a:r>
              <a:rPr lang="en-GB" sz="4000" dirty="0"/>
              <a:t>1999 for the federation and States respectively</a:t>
            </a:r>
            <a:endParaRPr lang="zh-CN" altLang="en-US" sz="4000" dirty="0"/>
          </a:p>
          <a:p>
            <a:pPr algn="just"/>
            <a:r>
              <a:rPr lang="en-GB" sz="4000" dirty="0"/>
              <a:t>The Attorney-General is the chief law </a:t>
            </a:r>
            <a:r>
              <a:rPr lang="en-US" altLang="en-GB" sz="4000" dirty="0"/>
              <a:t>officer</a:t>
            </a:r>
            <a:r>
              <a:rPr lang="en-GB" sz="4000" dirty="0"/>
              <a:t> of the Federation and States respectively. </a:t>
            </a:r>
            <a:r>
              <a:rPr lang="en-US" altLang="en-GB" sz="4000" dirty="0"/>
              <a:t>See ss</a:t>
            </a:r>
            <a:r>
              <a:rPr lang="en-GB" sz="4000" dirty="0"/>
              <a:t> 174 and 211 of the </a:t>
            </a:r>
            <a:r>
              <a:rPr lang="en-US" altLang="en-GB" sz="4000" dirty="0"/>
              <a:t>CFRN</a:t>
            </a:r>
            <a:r>
              <a:rPr lang="en-GB" sz="4000" dirty="0"/>
              <a:t>1999</a:t>
            </a:r>
            <a:r>
              <a:rPr lang="en-US" altLang="en-GB" sz="4000" dirty="0"/>
              <a:t>.</a:t>
            </a:r>
            <a:endParaRPr lang="zh-CN" altLang="en-US" sz="4000" dirty="0"/>
          </a:p>
          <a:p>
            <a:pPr algn="just"/>
            <a:endParaRPr lang="en-GB" sz="3600" dirty="0"/>
          </a:p>
        </p:txBody>
      </p:sp>
    </p:spTree>
  </p:cSld>
  <p:clrMapOvr>
    <a:masterClrMapping/>
  </p:clrMapOvr>
  <mc:AlternateContent xmlns:mc="http://schemas.openxmlformats.org/markup-compatibility/2006">
    <mc:Choice xmlns:p14="http://schemas.microsoft.com/office/powerpoint/2010/main" Requires="p14">
      <p:transition spd="slow" p14:dur="2000" advTm="30559"/>
    </mc:Choice>
    <mc:Fallback>
      <p:transition spd="slow" advTm="30559"/>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itle 2"/>
          <p:cNvSpPr>
            <a:spLocks noGrp="1"/>
          </p:cNvSpPr>
          <p:nvPr>
            <p:ph type="title"/>
          </p:nvPr>
        </p:nvSpPr>
        <p:spPr>
          <a:xfrm>
            <a:off x="1981200" y="152400"/>
            <a:ext cx="8229600" cy="914400"/>
          </a:xfrm>
        </p:spPr>
        <p:txBody>
          <a:bodyPr>
            <a:noAutofit/>
          </a:bodyPr>
          <a:lstStyle/>
          <a:p>
            <a:pPr algn="ctr"/>
            <a:r>
              <a:rPr sz="4800" b="1" dirty="0"/>
              <a:t>THE ATTORNEY-GENERAL</a:t>
            </a:r>
            <a:endParaRPr lang="en-GB" sz="4800" b="1" dirty="0"/>
          </a:p>
        </p:txBody>
      </p:sp>
      <p:sp>
        <p:nvSpPr>
          <p:cNvPr id="1048621" name="Content Placeholder 1"/>
          <p:cNvSpPr>
            <a:spLocks noGrp="1"/>
          </p:cNvSpPr>
          <p:nvPr>
            <p:ph idx="1"/>
          </p:nvPr>
        </p:nvSpPr>
        <p:spPr>
          <a:xfrm>
            <a:off x="1981200" y="1295400"/>
            <a:ext cx="8229600" cy="5159408"/>
          </a:xfrm>
        </p:spPr>
        <p:txBody>
          <a:bodyPr>
            <a:noAutofit/>
          </a:bodyPr>
          <a:lstStyle/>
          <a:p>
            <a:pPr marL="0" indent="0" algn="just">
              <a:buNone/>
            </a:pPr>
            <a:r>
              <a:rPr lang="en-GB" sz="4000" dirty="0"/>
              <a:t>He has the powers to</a:t>
            </a:r>
            <a:r>
              <a:rPr lang="en-US" altLang="en-GB" sz="4000" dirty="0"/>
              <a:t>:</a:t>
            </a:r>
            <a:r>
              <a:rPr lang="en-GB" sz="4000" dirty="0"/>
              <a:t> </a:t>
            </a:r>
            <a:endParaRPr lang="en-GB" sz="4000" dirty="0"/>
          </a:p>
          <a:p>
            <a:pPr algn="just"/>
            <a:r>
              <a:rPr lang="en-GB" sz="4000" dirty="0"/>
              <a:t>institute and undertake, </a:t>
            </a:r>
            <a:endParaRPr lang="en-GB" sz="4000" dirty="0"/>
          </a:p>
          <a:p>
            <a:pPr algn="just"/>
            <a:r>
              <a:rPr lang="en-GB" sz="4000" dirty="0"/>
              <a:t>take-over  and continue, and</a:t>
            </a:r>
            <a:endParaRPr lang="en-GB" sz="4000" dirty="0"/>
          </a:p>
          <a:p>
            <a:pPr algn="just"/>
            <a:r>
              <a:rPr lang="en-GB" sz="4000" dirty="0"/>
              <a:t>discontinue any criminal proceeding against or in respect of any offender in their respective jurisdictions in any court of law </a:t>
            </a:r>
            <a:r>
              <a:rPr lang="en-GB" sz="4000" b="1" dirty="0"/>
              <a:t>except a court-martial</a:t>
            </a:r>
            <a:r>
              <a:rPr lang="en-GB" sz="4000" dirty="0"/>
              <a:t>.</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24451"/>
    </mc:Choice>
    <mc:Fallback>
      <p:transition spd="slow" advTm="2445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2"/>
          <p:cNvSpPr>
            <a:spLocks noGrp="1"/>
          </p:cNvSpPr>
          <p:nvPr>
            <p:ph type="title"/>
          </p:nvPr>
        </p:nvSpPr>
        <p:spPr>
          <a:xfrm>
            <a:off x="1981200" y="152400"/>
            <a:ext cx="8229600" cy="1066800"/>
          </a:xfrm>
        </p:spPr>
        <p:txBody>
          <a:bodyPr>
            <a:noAutofit/>
          </a:bodyPr>
          <a:lstStyle/>
          <a:p>
            <a:pPr algn="ctr"/>
            <a:r>
              <a:rPr sz="3200" b="1" dirty="0"/>
              <a:t>POWER TO INSTITUTE AND UNDERTAKE CRIMINAL PROCEEDINGS</a:t>
            </a:r>
            <a:endParaRPr lang="en-GB" sz="3200" b="1" dirty="0"/>
          </a:p>
        </p:txBody>
      </p:sp>
      <p:sp>
        <p:nvSpPr>
          <p:cNvPr id="1048623" name="Content Placeholder 1"/>
          <p:cNvSpPr>
            <a:spLocks noGrp="1"/>
          </p:cNvSpPr>
          <p:nvPr>
            <p:ph idx="1"/>
          </p:nvPr>
        </p:nvSpPr>
        <p:spPr>
          <a:xfrm>
            <a:off x="1981200" y="1219200"/>
            <a:ext cx="8229600" cy="5029200"/>
          </a:xfrm>
        </p:spPr>
        <p:txBody>
          <a:bodyPr>
            <a:noAutofit/>
          </a:bodyPr>
          <a:lstStyle/>
          <a:p>
            <a:pPr algn="just"/>
            <a:r>
              <a:rPr lang="en-GB" sz="3800" dirty="0"/>
              <a:t>In </a:t>
            </a:r>
            <a:r>
              <a:rPr lang="en-GB" sz="3800" b="1" dirty="0" err="1"/>
              <a:t>Akpa</a:t>
            </a:r>
            <a:r>
              <a:rPr lang="en-GB" sz="3800" b="1" dirty="0"/>
              <a:t> v State (2008) All FWLR (pt. 420) 644,</a:t>
            </a:r>
            <a:r>
              <a:rPr lang="en-GB" sz="3800" dirty="0"/>
              <a:t> the Supreme Court held that the Attorney</a:t>
            </a:r>
            <a:r>
              <a:rPr lang="en-US" altLang="en-GB" sz="3800" dirty="0"/>
              <a:t>-</a:t>
            </a:r>
            <a:r>
              <a:rPr lang="en-GB" sz="3800" dirty="0"/>
              <a:t>General has unfettered discretion to prosecute persons in respect of any offence.</a:t>
            </a:r>
            <a:endParaRPr lang="zh-CN" altLang="en-US" sz="3800" dirty="0"/>
          </a:p>
          <a:p>
            <a:pPr algn="just"/>
            <a:r>
              <a:rPr lang="en-GB" sz="3800" dirty="0"/>
              <a:t>Generally speaking, the powers of A.</a:t>
            </a:r>
            <a:r>
              <a:rPr lang="en-US" altLang="en-GB" sz="3800" dirty="0"/>
              <a:t>-</a:t>
            </a:r>
            <a:r>
              <a:rPr lang="en-GB" sz="3800" dirty="0"/>
              <a:t>G Federation is restricted to federal offences and the powers of the A.</a:t>
            </a:r>
            <a:r>
              <a:rPr lang="en-US" altLang="en-GB" sz="3800" dirty="0"/>
              <a:t>-</a:t>
            </a:r>
            <a:r>
              <a:rPr lang="en-GB" sz="3800" dirty="0"/>
              <a:t>G States are restricted to state offences</a:t>
            </a:r>
            <a:r>
              <a:rPr lang="en-US" altLang="en-GB" sz="3800" dirty="0"/>
              <a:t>.</a:t>
            </a:r>
            <a:endParaRPr lang="zh-CN" altLang="en-US" sz="3800" dirty="0"/>
          </a:p>
          <a:p>
            <a:pPr algn="just"/>
            <a:endParaRPr lang="en-GB" sz="3800" dirty="0"/>
          </a:p>
        </p:txBody>
      </p:sp>
    </p:spTree>
  </p:cSld>
  <p:clrMapOvr>
    <a:masterClrMapping/>
  </p:clrMapOvr>
  <mc:AlternateContent xmlns:mc="http://schemas.openxmlformats.org/markup-compatibility/2006">
    <mc:Choice xmlns:p14="http://schemas.microsoft.com/office/powerpoint/2010/main" Requires="p14">
      <p:transition spd="slow" p14:dur="2000" advTm="52009"/>
    </mc:Choice>
    <mc:Fallback>
      <p:transition spd="slow" advTm="52009"/>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2"/>
          <p:cNvSpPr>
            <a:spLocks noGrp="1"/>
          </p:cNvSpPr>
          <p:nvPr>
            <p:ph type="title"/>
          </p:nvPr>
        </p:nvSpPr>
        <p:spPr/>
        <p:txBody>
          <a:bodyPr>
            <a:noAutofit/>
          </a:bodyPr>
          <a:lstStyle/>
          <a:p>
            <a:pPr algn="ctr"/>
            <a:r>
              <a:rPr sz="3200" b="1"/>
              <a:t>POWER TO INSTITUTE AND UNDERTAKE CRIMINAL PROCEEDINGS (CONTD.)</a:t>
            </a:r>
            <a:endParaRPr lang="en-GB" sz="2800" dirty="0"/>
          </a:p>
        </p:txBody>
      </p:sp>
      <p:sp>
        <p:nvSpPr>
          <p:cNvPr id="1048625" name="Content Placeholder 1"/>
          <p:cNvSpPr>
            <a:spLocks noGrp="1"/>
          </p:cNvSpPr>
          <p:nvPr>
            <p:ph idx="1"/>
          </p:nvPr>
        </p:nvSpPr>
        <p:spPr>
          <a:xfrm>
            <a:off x="1981200" y="1676400"/>
            <a:ext cx="8229600" cy="4778408"/>
          </a:xfrm>
        </p:spPr>
        <p:txBody>
          <a:bodyPr>
            <a:noAutofit/>
          </a:bodyPr>
          <a:lstStyle/>
          <a:p>
            <a:pPr algn="just"/>
            <a:r>
              <a:rPr lang="en-GB" sz="4000" dirty="0"/>
              <a:t>The A</a:t>
            </a:r>
            <a:r>
              <a:rPr lang="en-US" altLang="en-GB" sz="4000" dirty="0"/>
              <a:t>.-</a:t>
            </a:r>
            <a:r>
              <a:rPr lang="en-GB" sz="4000" dirty="0"/>
              <a:t>G of a State can, however, prosecute  a federal offence in two circumstances:</a:t>
            </a:r>
            <a:endParaRPr lang="en-GB" sz="4000" dirty="0"/>
          </a:p>
          <a:p>
            <a:pPr marL="742950" indent="-742950" algn="just">
              <a:buFont typeface="+mj-lt"/>
              <a:buAutoNum type="alphaLcPeriod"/>
            </a:pPr>
            <a:r>
              <a:rPr lang="en-US" sz="4000" dirty="0"/>
              <a:t>Where a Federal Law is intended to operate as a state law. eg </a:t>
            </a:r>
            <a:r>
              <a:rPr lang="en-US" sz="4000">
                <a:sym typeface="+mn-ea"/>
              </a:rPr>
              <a:t>Robbery and Firearms (Special Provision) Act.</a:t>
            </a:r>
            <a:r>
              <a:rPr lang="en-US" sz="4000" dirty="0"/>
              <a:t>  </a:t>
            </a:r>
            <a:r>
              <a:rPr lang="en-US" sz="4000" b="1" dirty="0" err="1"/>
              <a:t>Emelogu</a:t>
            </a:r>
            <a:r>
              <a:rPr lang="en-US" sz="4000" b="1" dirty="0"/>
              <a:t> v</a:t>
            </a:r>
            <a:r>
              <a:rPr lang="en-US" altLang="en-GB" sz="4000" b="1" dirty="0"/>
              <a:t> </a:t>
            </a:r>
            <a:r>
              <a:rPr lang="en-US" sz="4000" b="1" dirty="0"/>
              <a:t>The State (1998) 2 NWLR (pt. 78) 524</a:t>
            </a:r>
            <a:endParaRPr lang="en-GB" sz="4000" b="1" dirty="0"/>
          </a:p>
        </p:txBody>
      </p:sp>
    </p:spTree>
  </p:cSld>
  <p:clrMapOvr>
    <a:masterClrMapping/>
  </p:clrMapOvr>
  <mc:AlternateContent xmlns:mc="http://schemas.openxmlformats.org/markup-compatibility/2006">
    <mc:Choice xmlns:p14="http://schemas.microsoft.com/office/powerpoint/2010/main" Requires="p14">
      <p:transition spd="slow" p14:dur="2000" advTm="38098"/>
    </mc:Choice>
    <mc:Fallback>
      <p:transition spd="slow" advTm="38098"/>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2"/>
          <p:cNvSpPr>
            <a:spLocks noGrp="1"/>
          </p:cNvSpPr>
          <p:nvPr>
            <p:ph type="title"/>
          </p:nvPr>
        </p:nvSpPr>
        <p:spPr>
          <a:xfrm>
            <a:off x="1981200" y="73660"/>
            <a:ext cx="8229600" cy="1145540"/>
          </a:xfrm>
        </p:spPr>
        <p:txBody>
          <a:bodyPr>
            <a:noAutofit/>
          </a:bodyPr>
          <a:lstStyle/>
          <a:p>
            <a:pPr algn="ctr"/>
            <a:r>
              <a:rPr sz="3200" b="1" dirty="0"/>
              <a:t>POWER TO INSTITUTE AND UNDERTAKE CRIMINAL PROCEEDINGS (CONTD.)</a:t>
            </a:r>
            <a:endParaRPr lang="en-GB" sz="2800" dirty="0"/>
          </a:p>
        </p:txBody>
      </p:sp>
      <p:sp>
        <p:nvSpPr>
          <p:cNvPr id="1048627" name="Content Placeholder 1"/>
          <p:cNvSpPr>
            <a:spLocks noGrp="1"/>
          </p:cNvSpPr>
          <p:nvPr>
            <p:ph idx="1"/>
          </p:nvPr>
        </p:nvSpPr>
        <p:spPr>
          <a:xfrm>
            <a:off x="1075690" y="880745"/>
            <a:ext cx="9425940" cy="6282055"/>
          </a:xfrm>
        </p:spPr>
        <p:txBody>
          <a:bodyPr>
            <a:noAutofit/>
          </a:bodyPr>
          <a:lstStyle/>
          <a:p>
            <a:pPr marL="1200150" lvl="1" indent="-742950" algn="just">
              <a:buFont typeface="+mj-lt"/>
              <a:buAutoNum type="alphaLcParenR" startAt="2"/>
            </a:pPr>
            <a:r>
              <a:rPr lang="en-US" sz="3800" dirty="0"/>
              <a:t>By the instrumentality of a </a:t>
            </a:r>
            <a:r>
              <a:rPr lang="en-US" sz="3800" i="1" dirty="0"/>
              <a:t>f</a:t>
            </a:r>
            <a:r>
              <a:rPr lang="en-US" altLang="en-GB" sz="3800" i="1" dirty="0"/>
              <a:t>i</a:t>
            </a:r>
            <a:r>
              <a:rPr lang="en-US" sz="3800" i="1" dirty="0"/>
              <a:t>at, </a:t>
            </a:r>
            <a:r>
              <a:rPr lang="en-US" sz="3800" dirty="0"/>
              <a:t>where the A</a:t>
            </a:r>
            <a:r>
              <a:rPr lang="en-US" altLang="en-GB" sz="3800" dirty="0"/>
              <a:t>.-</a:t>
            </a:r>
            <a:r>
              <a:rPr lang="en-US" sz="3800" dirty="0"/>
              <a:t>G of the Federation delegates the authority to him. (</a:t>
            </a:r>
            <a:r>
              <a:rPr lang="en-US" altLang="en-GB" sz="3800" dirty="0"/>
              <a:t>T</a:t>
            </a:r>
            <a:r>
              <a:rPr lang="en-US" sz="3800" dirty="0"/>
              <a:t>his is usually in respect of a particular proceeding). </a:t>
            </a:r>
            <a:r>
              <a:rPr lang="en-US" altLang="en-GB" sz="3800" dirty="0"/>
              <a:t> S</a:t>
            </a:r>
            <a:r>
              <a:rPr lang="en-US" sz="3800" dirty="0"/>
              <a:t>ee </a:t>
            </a:r>
            <a:r>
              <a:rPr lang="en-US" sz="3800" b="1" dirty="0" err="1"/>
              <a:t>Anyebe</a:t>
            </a:r>
            <a:r>
              <a:rPr lang="en-US" sz="3800" b="1" dirty="0"/>
              <a:t> v The State (1986) 1 NWLR (pt. 14) 39; </a:t>
            </a:r>
            <a:r>
              <a:rPr lang="en-US" altLang="en-GB" sz="3800" b="1" dirty="0"/>
              <a:t>s </a:t>
            </a:r>
            <a:r>
              <a:rPr lang="en-US" sz="3800" b="1" dirty="0"/>
              <a:t>286(4) ACJA</a:t>
            </a:r>
            <a:endParaRPr lang="en-US" sz="3800" b="1" dirty="0"/>
          </a:p>
          <a:p>
            <a:pPr marL="457200" lvl="1" indent="0" algn="just">
              <a:buFont typeface="+mj-lt"/>
              <a:buNone/>
            </a:pPr>
            <a:endParaRPr lang="en-US" altLang="zh-CN" sz="3800" dirty="0"/>
          </a:p>
        </p:txBody>
      </p:sp>
    </p:spTree>
  </p:cSld>
  <p:clrMapOvr>
    <a:masterClrMapping/>
  </p:clrMapOvr>
  <mc:AlternateContent xmlns:mc="http://schemas.openxmlformats.org/markup-compatibility/2006">
    <mc:Choice xmlns:p14="http://schemas.microsoft.com/office/powerpoint/2010/main" Requires="p14">
      <p:transition spd="slow" p14:dur="2000" advTm="24978"/>
    </mc:Choice>
    <mc:Fallback>
      <p:transition spd="slow" advTm="24978"/>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2"/>
          <p:cNvSpPr>
            <a:spLocks noGrp="1"/>
          </p:cNvSpPr>
          <p:nvPr>
            <p:ph type="title"/>
          </p:nvPr>
        </p:nvSpPr>
        <p:spPr>
          <a:xfrm>
            <a:off x="2133600" y="-152400"/>
            <a:ext cx="8229600" cy="1388110"/>
          </a:xfrm>
        </p:spPr>
        <p:txBody>
          <a:bodyPr>
            <a:noAutofit/>
          </a:bodyPr>
          <a:lstStyle/>
          <a:p>
            <a:pPr algn="ctr"/>
            <a:r>
              <a:rPr lang="en-US" sz="3600" b="1" dirty="0"/>
              <a:t>POWER TO TAKE OVER AND CONTINUE CRIMINAL PROCEEDINGS</a:t>
            </a:r>
            <a:endParaRPr lang="en-GB" sz="3600" b="1" dirty="0"/>
          </a:p>
        </p:txBody>
      </p:sp>
      <p:sp>
        <p:nvSpPr>
          <p:cNvPr id="1048629" name="Content Placeholder 1"/>
          <p:cNvSpPr>
            <a:spLocks noGrp="1"/>
          </p:cNvSpPr>
          <p:nvPr>
            <p:ph idx="1"/>
          </p:nvPr>
        </p:nvSpPr>
        <p:spPr>
          <a:xfrm>
            <a:off x="1868170" y="1017270"/>
            <a:ext cx="8403590" cy="5378450"/>
          </a:xfrm>
        </p:spPr>
        <p:txBody>
          <a:bodyPr>
            <a:noAutofit/>
          </a:bodyPr>
          <a:lstStyle/>
          <a:p>
            <a:pPr algn="just"/>
            <a:r>
              <a:rPr lang="en-US" sz="4000" dirty="0"/>
              <a:t>The AG can take over and continue criminal proceedings instituted by any other authority or person, including the Police, EFCC, ICPC, Customs, NDLEA, and private prosecutors.</a:t>
            </a:r>
            <a:endParaRPr lang="en-US" sz="4000" dirty="0"/>
          </a:p>
          <a:p>
            <a:pPr algn="just"/>
            <a:r>
              <a:rPr lang="en-US" sz="4000" dirty="0"/>
              <a:t>See </a:t>
            </a:r>
            <a:r>
              <a:rPr lang="en-US" sz="4000" b="1" dirty="0" err="1"/>
              <a:t>Amaefule</a:t>
            </a:r>
            <a:r>
              <a:rPr lang="en-US" sz="4000" b="1" dirty="0"/>
              <a:t> v</a:t>
            </a:r>
            <a:r>
              <a:rPr lang="en-US" altLang="en-GB" sz="4000" b="1" dirty="0"/>
              <a:t> </a:t>
            </a:r>
            <a:r>
              <a:rPr lang="en-US" sz="4000" b="1" dirty="0"/>
              <a:t>The State (1988) 2 NWLR  (pt. 75) 238; </a:t>
            </a:r>
            <a:r>
              <a:rPr lang="en-US" sz="4000" b="1" dirty="0" err="1"/>
              <a:t>Nyame</a:t>
            </a:r>
            <a:r>
              <a:rPr lang="en-US" sz="4000" b="1" dirty="0"/>
              <a:t> v FRN (2007) 7 NWLR (Pt. 1993) 344</a:t>
            </a:r>
            <a:endParaRPr lang="en-US" sz="4000" b="1" dirty="0"/>
          </a:p>
        </p:txBody>
      </p:sp>
    </p:spTree>
  </p:cSld>
  <p:clrMapOvr>
    <a:masterClrMapping/>
  </p:clrMapOvr>
  <mc:AlternateContent xmlns:mc="http://schemas.openxmlformats.org/markup-compatibility/2006">
    <mc:Choice xmlns:p14="http://schemas.microsoft.com/office/powerpoint/2010/main" Requires="p14">
      <p:transition spd="slow" p14:dur="2000" advTm="82209"/>
    </mc:Choice>
    <mc:Fallback>
      <p:transition spd="slow" advTm="82209"/>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title"/>
          </p:nvPr>
        </p:nvSpPr>
        <p:spPr>
          <a:xfrm>
            <a:off x="1981200" y="52070"/>
            <a:ext cx="8229600" cy="1169035"/>
          </a:xfrm>
        </p:spPr>
        <p:txBody>
          <a:bodyPr>
            <a:normAutofit fontScale="90000"/>
          </a:bodyPr>
          <a:lstStyle/>
          <a:p>
            <a:pPr algn="ctr"/>
            <a:r>
              <a:rPr lang="en-US" sz="4000" b="1" dirty="0"/>
              <a:t>POWER TO DISCONTINUE CRIMINAL PROCEEDINGS</a:t>
            </a:r>
            <a:endParaRPr lang="en-US" sz="4000" b="1" dirty="0"/>
          </a:p>
        </p:txBody>
      </p:sp>
      <p:sp>
        <p:nvSpPr>
          <p:cNvPr id="1048631" name="Content Placeholder 2"/>
          <p:cNvSpPr>
            <a:spLocks noGrp="1"/>
          </p:cNvSpPr>
          <p:nvPr>
            <p:ph idx="1"/>
          </p:nvPr>
        </p:nvSpPr>
        <p:spPr>
          <a:xfrm>
            <a:off x="1671955" y="1220470"/>
            <a:ext cx="8789670" cy="5234305"/>
          </a:xfrm>
        </p:spPr>
        <p:txBody>
          <a:bodyPr>
            <a:noAutofit/>
          </a:bodyPr>
          <a:lstStyle/>
          <a:p>
            <a:pPr algn="just"/>
            <a:r>
              <a:rPr lang="en-US" sz="3600" dirty="0"/>
              <a:t>The power of the AG to discontinue criminal proceedings, also known as </a:t>
            </a:r>
            <a:r>
              <a:rPr lang="en-US" sz="3600" i="1" dirty="0"/>
              <a:t>nolle </a:t>
            </a:r>
            <a:r>
              <a:rPr lang="en-US" sz="3600" i="1" dirty="0" err="1"/>
              <a:t>prosequi</a:t>
            </a:r>
            <a:r>
              <a:rPr lang="en-US" sz="3600" dirty="0"/>
              <a:t> is unarguably the most far-reaching and controversial of the powers,</a:t>
            </a:r>
            <a:endParaRPr lang="en-US" sz="3600" dirty="0"/>
          </a:p>
          <a:p>
            <a:pPr algn="just"/>
            <a:r>
              <a:rPr lang="en-US" sz="3600" dirty="0"/>
              <a:t>This power is exercised either </a:t>
            </a:r>
            <a:r>
              <a:rPr lang="en-US" sz="3600" b="1" dirty="0"/>
              <a:t>orally</a:t>
            </a:r>
            <a:r>
              <a:rPr lang="en-US" sz="3600" dirty="0"/>
              <a:t> by the AG in person or </a:t>
            </a:r>
            <a:r>
              <a:rPr lang="en-US" sz="3600" b="1" dirty="0"/>
              <a:t>in writing </a:t>
            </a:r>
            <a:r>
              <a:rPr lang="en-US" sz="3600" dirty="0"/>
              <a:t>through any of the officers in his department. See </a:t>
            </a:r>
            <a:r>
              <a:rPr lang="en-US" altLang="en-GB" sz="3600" b="1" dirty="0"/>
              <a:t>ss</a:t>
            </a:r>
            <a:r>
              <a:rPr lang="en-US" sz="3600" b="1" dirty="0"/>
              <a:t> </a:t>
            </a:r>
            <a:r>
              <a:rPr lang="en-US" altLang="en-GB" sz="3600" b="1" dirty="0"/>
              <a:t>124</a:t>
            </a:r>
            <a:r>
              <a:rPr lang="en-US" sz="3600" b="1" dirty="0"/>
              <a:t>,</a:t>
            </a:r>
            <a:r>
              <a:rPr lang="en-US" altLang="en-GB" sz="3600" b="1" dirty="0"/>
              <a:t> 270, ACJL Kano, 77 (1), (b) ACJL Lagos,</a:t>
            </a:r>
            <a:r>
              <a:rPr lang="en-US" sz="3600" b="1" dirty="0"/>
              <a:t> 107 ACJA,</a:t>
            </a:r>
            <a:r>
              <a:rPr lang="en-US" altLang="en-US" sz="3600" b="1">
                <a:sym typeface="+mn-ea"/>
              </a:rPr>
              <a:t>The states v Chukwurah &amp; Ors,</a:t>
            </a:r>
            <a:endParaRPr lang="en-US" altLang="en-GB" sz="3600" b="1" dirty="0"/>
          </a:p>
        </p:txBody>
      </p:sp>
    </p:spTree>
  </p:cSld>
  <p:clrMapOvr>
    <a:masterClrMapping/>
  </p:clrMapOvr>
  <mc:AlternateContent xmlns:mc="http://schemas.openxmlformats.org/markup-compatibility/2006">
    <mc:Choice xmlns:p14="http://schemas.microsoft.com/office/powerpoint/2010/main" Requires="p14">
      <p:transition spd="slow" p14:dur="2000" advTm="74409"/>
    </mc:Choice>
    <mc:Fallback>
      <p:transition spd="slow" advTm="74409"/>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a:xfrm>
            <a:off x="1981200" y="267494"/>
            <a:ext cx="8229600" cy="1256506"/>
          </a:xfrm>
        </p:spPr>
        <p:txBody>
          <a:bodyPr>
            <a:normAutofit fontScale="90000"/>
          </a:bodyPr>
          <a:lstStyle/>
          <a:p>
            <a:pPr algn="ctr"/>
            <a:r>
              <a:rPr lang="en-US" sz="4400" b="1" dirty="0"/>
              <a:t>POWER TO DISCONTINUE CRIMINAL PROCEEDINGS</a:t>
            </a:r>
            <a:endParaRPr lang="en-GB" dirty="0"/>
          </a:p>
        </p:txBody>
      </p:sp>
      <p:sp>
        <p:nvSpPr>
          <p:cNvPr id="1048633" name="Content Placeholder 2"/>
          <p:cNvSpPr>
            <a:spLocks noGrp="1"/>
          </p:cNvSpPr>
          <p:nvPr>
            <p:ph idx="1"/>
          </p:nvPr>
        </p:nvSpPr>
        <p:spPr>
          <a:xfrm>
            <a:off x="1981200" y="1600200"/>
            <a:ext cx="8229600" cy="4854608"/>
          </a:xfrm>
        </p:spPr>
        <p:txBody>
          <a:bodyPr>
            <a:normAutofit lnSpcReduction="10000"/>
          </a:bodyPr>
          <a:lstStyle/>
          <a:p>
            <a:pPr algn="just"/>
            <a:r>
              <a:rPr lang="en-US" sz="4000" dirty="0"/>
              <a:t>This distinction is, however, not present in the ACJL. See </a:t>
            </a:r>
            <a:r>
              <a:rPr lang="en-US" altLang="en-GB" sz="4000" dirty="0"/>
              <a:t>s</a:t>
            </a:r>
            <a:r>
              <a:rPr lang="en-US" sz="4000" dirty="0"/>
              <a:t> 71 ACJL</a:t>
            </a:r>
            <a:r>
              <a:rPr lang="en-US" altLang="en-GB" sz="4000" dirty="0"/>
              <a:t> Lagos, 124 ACJL Kano.</a:t>
            </a:r>
            <a:endParaRPr lang="zh-CN" altLang="en-US" sz="3600" dirty="0"/>
          </a:p>
          <a:p>
            <a:pPr algn="just"/>
            <a:r>
              <a:rPr lang="en-US" sz="4000" dirty="0"/>
              <a:t>The effect of entering a </a:t>
            </a:r>
            <a:r>
              <a:rPr lang="en-US" sz="4000" i="1" dirty="0"/>
              <a:t>nolle </a:t>
            </a:r>
            <a:r>
              <a:rPr lang="en-US" sz="4000" i="1" dirty="0" err="1"/>
              <a:t>prosequi</a:t>
            </a:r>
            <a:r>
              <a:rPr lang="en-US" sz="4000" i="1" dirty="0"/>
              <a:t> </a:t>
            </a:r>
            <a:r>
              <a:rPr lang="en-US" sz="4000" dirty="0"/>
              <a:t>is a mere discharge (not an acquittal) of the defendant. See </a:t>
            </a:r>
            <a:r>
              <a:rPr lang="en-US" sz="4000" b="1" dirty="0"/>
              <a:t>Clark v A.</a:t>
            </a:r>
            <a:r>
              <a:rPr lang="en-US" altLang="en-GB" sz="4000" b="1" dirty="0"/>
              <a:t>-</a:t>
            </a:r>
            <a:r>
              <a:rPr lang="en-US" sz="4000" b="1" dirty="0"/>
              <a:t>G Lagos State (1986) 1 QLRN 119</a:t>
            </a:r>
            <a:endParaRPr lang="en-GB" sz="4000" b="1" dirty="0"/>
          </a:p>
        </p:txBody>
      </p:sp>
    </p:spTree>
  </p:cSld>
  <p:clrMapOvr>
    <a:masterClrMapping/>
  </p:clrMapOvr>
  <mc:AlternateContent xmlns:mc="http://schemas.openxmlformats.org/markup-compatibility/2006">
    <mc:Choice xmlns:p14="http://schemas.microsoft.com/office/powerpoint/2010/main" Requires="p14">
      <p:transition spd="slow" p14:dur="2000" advTm="76751"/>
    </mc:Choice>
    <mc:Fallback>
      <p:transition spd="slow" advTm="7675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1981200" y="267335"/>
            <a:ext cx="8229600" cy="843915"/>
          </a:xfrm>
        </p:spPr>
        <p:txBody>
          <a:bodyPr>
            <a:normAutofit fontScale="90000"/>
          </a:bodyPr>
          <a:lstStyle/>
          <a:p>
            <a:pPr algn="ctr"/>
            <a:r>
              <a:rPr lang="en-US" sz="4400" b="1" dirty="0"/>
              <a:t>POWER TO DISCONTINUE CRIMINAL PROCEEDINGS</a:t>
            </a:r>
            <a:endParaRPr lang="en-GB" dirty="0"/>
          </a:p>
        </p:txBody>
      </p:sp>
      <p:sp>
        <p:nvSpPr>
          <p:cNvPr id="1048635" name="Content Placeholder 2"/>
          <p:cNvSpPr>
            <a:spLocks noGrp="1"/>
          </p:cNvSpPr>
          <p:nvPr>
            <p:ph idx="1"/>
          </p:nvPr>
        </p:nvSpPr>
        <p:spPr>
          <a:xfrm>
            <a:off x="1981200" y="1263015"/>
            <a:ext cx="8229600" cy="5191760"/>
          </a:xfrm>
        </p:spPr>
        <p:txBody>
          <a:bodyPr>
            <a:noAutofit/>
          </a:bodyPr>
          <a:lstStyle/>
          <a:p>
            <a:pPr algn="just"/>
            <a:r>
              <a:rPr lang="en-GB" sz="3900" dirty="0"/>
              <a:t>When there is no incumbent AG, no other officer in the AG’s department can enter </a:t>
            </a:r>
            <a:r>
              <a:rPr lang="en-GB" sz="3900" i="1" dirty="0" err="1"/>
              <a:t>nolle</a:t>
            </a:r>
            <a:r>
              <a:rPr lang="en-GB" sz="3900" i="1" dirty="0"/>
              <a:t> </a:t>
            </a:r>
            <a:r>
              <a:rPr lang="en-GB" sz="3900" i="1" dirty="0" err="1"/>
              <a:t>prosequi</a:t>
            </a:r>
            <a:r>
              <a:rPr lang="en-GB" sz="3900" i="1" dirty="0"/>
              <a:t>- </a:t>
            </a:r>
            <a:r>
              <a:rPr lang="en-GB" sz="3900" b="1" dirty="0"/>
              <a:t>A.</a:t>
            </a:r>
            <a:r>
              <a:rPr lang="en-US" altLang="en-GB" sz="3900" b="1" dirty="0"/>
              <a:t>-</a:t>
            </a:r>
            <a:r>
              <a:rPr lang="en-GB" sz="3900" b="1" dirty="0"/>
              <a:t>G Kaduna v Hassan (1985) NWLR (pt. 8) 483</a:t>
            </a:r>
            <a:endParaRPr lang="zh-CN" altLang="en-US" sz="3900" b="1" dirty="0"/>
          </a:p>
          <a:p>
            <a:pPr algn="just"/>
            <a:r>
              <a:rPr lang="en-GB" sz="3900" i="1" dirty="0" err="1"/>
              <a:t>Nolle</a:t>
            </a:r>
            <a:r>
              <a:rPr lang="en-GB" sz="3900" dirty="0"/>
              <a:t> cannot be entered on appeal</a:t>
            </a:r>
            <a:endParaRPr lang="en-GB" sz="3900" dirty="0"/>
          </a:p>
          <a:p>
            <a:pPr algn="just"/>
            <a:r>
              <a:rPr lang="en-GB" sz="3900" dirty="0"/>
              <a:t>The power of </a:t>
            </a:r>
            <a:r>
              <a:rPr lang="en-GB" sz="3900" i="1" dirty="0" err="1"/>
              <a:t>nolle</a:t>
            </a:r>
            <a:r>
              <a:rPr lang="en-GB" sz="3900" dirty="0"/>
              <a:t> is unfettered and cannot be questioned even by a court </a:t>
            </a:r>
            <a:r>
              <a:rPr lang="en-GB" sz="3900" b="1" dirty="0"/>
              <a:t>State v </a:t>
            </a:r>
            <a:r>
              <a:rPr lang="en-GB" sz="3900" b="1" dirty="0" err="1"/>
              <a:t>Ilori</a:t>
            </a:r>
            <a:r>
              <a:rPr lang="en-GB" sz="3900" b="1" dirty="0"/>
              <a:t> (1983) 14 NSCC 69</a:t>
            </a:r>
            <a:endParaRPr lang="en-GB" sz="3900" b="1" dirty="0"/>
          </a:p>
        </p:txBody>
      </p:sp>
    </p:spTree>
  </p:cSld>
  <p:clrMapOvr>
    <a:masterClrMapping/>
  </p:clrMapOvr>
  <mc:AlternateContent xmlns:mc="http://schemas.openxmlformats.org/markup-compatibility/2006">
    <mc:Choice xmlns:p14="http://schemas.microsoft.com/office/powerpoint/2010/main" Requires="p14">
      <p:transition spd="slow" p14:dur="2000" advTm="86060"/>
    </mc:Choice>
    <mc:Fallback>
      <p:transition spd="slow" advTm="8606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itle 1"/>
          <p:cNvSpPr>
            <a:spLocks noGrp="1"/>
          </p:cNvSpPr>
          <p:nvPr>
            <p:ph type="title"/>
          </p:nvPr>
        </p:nvSpPr>
        <p:spPr>
          <a:xfrm>
            <a:off x="1981200" y="267494"/>
            <a:ext cx="8229600" cy="1104106"/>
          </a:xfrm>
        </p:spPr>
        <p:txBody>
          <a:bodyPr>
            <a:normAutofit fontScale="90000"/>
          </a:bodyPr>
          <a:lstStyle/>
          <a:p>
            <a:pPr algn="ctr"/>
            <a:r>
              <a:rPr lang="en-US" b="1" dirty="0"/>
              <a:t>DELEGATION OF POWERS OF THE ATTORNEY-GENERAL</a:t>
            </a:r>
            <a:endParaRPr lang="en-GB" b="1" dirty="0"/>
          </a:p>
        </p:txBody>
      </p:sp>
      <p:sp>
        <p:nvSpPr>
          <p:cNvPr id="1048637" name="Content Placeholder 2"/>
          <p:cNvSpPr>
            <a:spLocks noGrp="1"/>
          </p:cNvSpPr>
          <p:nvPr>
            <p:ph idx="1"/>
          </p:nvPr>
        </p:nvSpPr>
        <p:spPr>
          <a:xfrm>
            <a:off x="1981200" y="1600200"/>
            <a:ext cx="8229600" cy="4854608"/>
          </a:xfrm>
        </p:spPr>
        <p:txBody>
          <a:bodyPr>
            <a:noAutofit/>
          </a:bodyPr>
          <a:lstStyle/>
          <a:p>
            <a:pPr algn="just"/>
            <a:r>
              <a:rPr lang="en-US" sz="4000" dirty="0"/>
              <a:t>Sections 174(2) and 211(2) of the 1999 Constitution are both to the effect that the foregoing powers of the AG can be exercised by officers in his department.</a:t>
            </a:r>
            <a:endParaRPr lang="en-US" sz="4000" b="1" dirty="0"/>
          </a:p>
        </p:txBody>
      </p:sp>
    </p:spTree>
  </p:cSld>
  <p:clrMapOvr>
    <a:masterClrMapping/>
  </p:clrMapOvr>
  <mc:AlternateContent xmlns:mc="http://schemas.openxmlformats.org/markup-compatibility/2006">
    <mc:Choice xmlns:p14="http://schemas.microsoft.com/office/powerpoint/2010/main" Requires="p14">
      <p:transition spd="slow" p14:dur="2000" advTm="40208"/>
    </mc:Choice>
    <mc:Fallback>
      <p:transition spd="slow" advTm="40208"/>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a:sym typeface="+mn-ea"/>
              </a:rPr>
              <a:t>DELEGATION OF POWERS OF THE ATTORNEY-GENERAL(CONT’D)</a:t>
            </a:r>
            <a:endParaRPr lang="en-US"/>
          </a:p>
        </p:txBody>
      </p:sp>
      <p:sp>
        <p:nvSpPr>
          <p:cNvPr id="3" name="Content Placeholder 2"/>
          <p:cNvSpPr>
            <a:spLocks noGrp="1"/>
          </p:cNvSpPr>
          <p:nvPr>
            <p:ph idx="1"/>
          </p:nvPr>
        </p:nvSpPr>
        <p:spPr/>
        <p:txBody>
          <a:bodyPr>
            <a:noAutofit/>
          </a:bodyPr>
          <a:p>
            <a:pPr algn="just"/>
            <a:r>
              <a:rPr lang="en-US" sz="4000" dirty="0">
                <a:sym typeface="+mn-ea"/>
              </a:rPr>
              <a:t>The AG may also delegate his powers to the Police, Customs, EFCC and other agencies with prosecutorial powers. </a:t>
            </a:r>
            <a:r>
              <a:rPr lang="en-US" sz="4000" b="1" dirty="0" err="1">
                <a:sym typeface="+mn-ea"/>
              </a:rPr>
              <a:t>Saraki</a:t>
            </a:r>
            <a:r>
              <a:rPr lang="en-US" sz="4000" b="1" dirty="0">
                <a:sym typeface="+mn-ea"/>
              </a:rPr>
              <a:t> v FRN (2016) LPELR-40013(SC); Comptroller of Prisons v </a:t>
            </a:r>
            <a:r>
              <a:rPr lang="en-US" sz="4000" b="1" dirty="0" err="1">
                <a:sym typeface="+mn-ea"/>
              </a:rPr>
              <a:t>Adekanye</a:t>
            </a:r>
            <a:r>
              <a:rPr lang="en-US" sz="4000" b="1" dirty="0">
                <a:sym typeface="+mn-ea"/>
              </a:rPr>
              <a:t> (2002) 15 NWLR (pt. 790) 318</a:t>
            </a:r>
            <a:endParaRPr lang="en-US" sz="4000" b="1" dirty="0"/>
          </a:p>
          <a:p>
            <a:endParaRPr lang="en-US" sz="4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1"/>
          <p:cNvSpPr>
            <a:spLocks noGrp="1"/>
          </p:cNvSpPr>
          <p:nvPr>
            <p:ph type="title"/>
          </p:nvPr>
        </p:nvSpPr>
        <p:spPr/>
        <p:txBody>
          <a:bodyPr>
            <a:normAutofit fontScale="90000"/>
          </a:bodyPr>
          <a:lstStyle/>
          <a:p>
            <a:r>
              <a:rPr lang="en-US" b="1" dirty="0">
                <a:sym typeface="+mn-ea"/>
              </a:rPr>
              <a:t>THE POWER OF THE AG TO ENTER NOLLE(CONT’D)</a:t>
            </a:r>
            <a:endParaRPr lang="en-US"/>
          </a:p>
        </p:txBody>
      </p:sp>
      <p:sp>
        <p:nvSpPr>
          <p:cNvPr id="1048653" name="Content Placeholder 2"/>
          <p:cNvSpPr>
            <a:spLocks noGrp="1"/>
          </p:cNvSpPr>
          <p:nvPr>
            <p:ph idx="1"/>
          </p:nvPr>
        </p:nvSpPr>
        <p:spPr/>
        <p:txBody>
          <a:bodyPr>
            <a:noAutofit/>
          </a:bodyPr>
          <a:lstStyle/>
          <a:p>
            <a:pPr algn="just"/>
            <a:r>
              <a:rPr lang="en-US" sz="4000" dirty="0"/>
              <a:t>He does not require the consent of the court to enter a nolle.</a:t>
            </a:r>
            <a:endParaRPr lang="en-US" sz="4000" dirty="0"/>
          </a:p>
          <a:p>
            <a:pPr algn="just"/>
            <a:r>
              <a:rPr lang="en-US" sz="4000" dirty="0"/>
              <a:t>His only limitation is that he must enter such nolle any time before judgment.</a:t>
            </a:r>
            <a:endParaRPr lang="en-US" sz="4000" dirty="0"/>
          </a:p>
          <a:p>
            <a:pPr algn="just"/>
            <a:r>
              <a:rPr lang="en-US" sz="4000" dirty="0"/>
              <a:t>The implication of this is that nolle cannot be entered on appeal.</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17805"/>
    </mc:Choice>
    <mc:Fallback>
      <p:transition spd="slow" advTm="17805"/>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Content Placeholder 2"/>
          <p:cNvSpPr>
            <a:spLocks noGrp="1"/>
          </p:cNvSpPr>
          <p:nvPr>
            <p:ph idx="1"/>
          </p:nvPr>
        </p:nvSpPr>
        <p:spPr>
          <a:xfrm>
            <a:off x="1523365" y="231775"/>
            <a:ext cx="8963660" cy="5894705"/>
          </a:xfrm>
        </p:spPr>
        <p:txBody>
          <a:bodyPr>
            <a:noAutofit/>
          </a:bodyPr>
          <a:lstStyle/>
          <a:p>
            <a:pPr algn="just"/>
            <a:r>
              <a:rPr lang="en-US" sz="4000" dirty="0"/>
              <a:t>In exercising his (A</a:t>
            </a:r>
            <a:r>
              <a:rPr lang="en-US" altLang="en-GB" sz="4000" dirty="0"/>
              <a:t>.-</a:t>
            </a:r>
            <a:r>
              <a:rPr lang="en-US" sz="4000" dirty="0"/>
              <a:t>G</a:t>
            </a:r>
            <a:r>
              <a:rPr lang="en-US" altLang="en-GB" sz="4000" dirty="0"/>
              <a:t>'s</a:t>
            </a:r>
            <a:r>
              <a:rPr lang="en-US" sz="4000" dirty="0"/>
              <a:t>) powers under s</a:t>
            </a:r>
            <a:r>
              <a:rPr lang="en-US" altLang="en-GB" sz="4000" dirty="0"/>
              <a:t> </a:t>
            </a:r>
            <a:r>
              <a:rPr lang="en-US" sz="4000" dirty="0"/>
              <a:t>174(3) and 211(3) CFRN 1999, the AG is required to have regard to public interest, the interest of justice, and the need to prevent the abuse of legal process.</a:t>
            </a:r>
            <a:endParaRPr lang="zh-CN" altLang="en-US" sz="4000" dirty="0"/>
          </a:p>
          <a:p>
            <a:pPr algn="just"/>
            <a:r>
              <a:rPr lang="en-US" sz="4000" dirty="0"/>
              <a:t>The above provision was tested in </a:t>
            </a:r>
            <a:r>
              <a:rPr lang="en-US" sz="4000" b="1" dirty="0"/>
              <a:t>State v </a:t>
            </a:r>
            <a:r>
              <a:rPr lang="en-US" sz="4000" b="1" dirty="0" err="1"/>
              <a:t>Ilori</a:t>
            </a:r>
            <a:r>
              <a:rPr lang="en-US" sz="4000" dirty="0"/>
              <a:t>, and the Supreme Court held that the provision imports a discretion but certainly did not create a condition.</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50164"/>
    </mc:Choice>
    <mc:Fallback>
      <p:transition spd="slow" advTm="50164"/>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Title 1"/>
          <p:cNvSpPr>
            <a:spLocks noGrp="1"/>
          </p:cNvSpPr>
          <p:nvPr>
            <p:ph type="title"/>
          </p:nvPr>
        </p:nvSpPr>
        <p:spPr>
          <a:xfrm>
            <a:off x="1981200" y="267494"/>
            <a:ext cx="8229600" cy="1104106"/>
          </a:xfrm>
        </p:spPr>
        <p:txBody>
          <a:bodyPr>
            <a:normAutofit fontScale="90000"/>
          </a:bodyPr>
          <a:lstStyle/>
          <a:p>
            <a:pPr algn="ctr"/>
            <a:r>
              <a:rPr lang="en-US" b="1" dirty="0"/>
              <a:t>DELEGATION OF POWERS OF THE ATTORNEY-GENERAL</a:t>
            </a:r>
            <a:endParaRPr lang="en-GB" b="1" dirty="0"/>
          </a:p>
        </p:txBody>
      </p:sp>
      <p:sp>
        <p:nvSpPr>
          <p:cNvPr id="1048641" name="Content Placeholder 2"/>
          <p:cNvSpPr>
            <a:spLocks noGrp="1"/>
          </p:cNvSpPr>
          <p:nvPr>
            <p:ph idx="1"/>
          </p:nvPr>
        </p:nvSpPr>
        <p:spPr>
          <a:xfrm>
            <a:off x="1981200" y="1752600"/>
            <a:ext cx="8229600" cy="4702208"/>
          </a:xfrm>
        </p:spPr>
        <p:txBody>
          <a:bodyPr>
            <a:normAutofit/>
          </a:bodyPr>
          <a:lstStyle/>
          <a:p>
            <a:pPr algn="just"/>
            <a:r>
              <a:rPr lang="en-US" sz="4000" dirty="0"/>
              <a:t>However, the power to discontinue a criminal proceeding can only be exercised where there is an incumbent </a:t>
            </a:r>
            <a:r>
              <a:rPr lang="en-US" sz="4000" b="1" dirty="0"/>
              <a:t>Attorney-General. </a:t>
            </a:r>
            <a:r>
              <a:rPr lang="en-GB" sz="4000" b="1" dirty="0"/>
              <a:t>A.G Kaduna v. Hassan (1985) NWLR (pt. 8) 483</a:t>
            </a:r>
            <a:endParaRPr lang="en-GB" sz="4000" b="1" dirty="0"/>
          </a:p>
        </p:txBody>
      </p:sp>
    </p:spTree>
  </p:cSld>
  <p:clrMapOvr>
    <a:masterClrMapping/>
  </p:clrMapOvr>
  <mc:AlternateContent xmlns:mc="http://schemas.openxmlformats.org/markup-compatibility/2006">
    <mc:Choice xmlns:p14="http://schemas.microsoft.com/office/powerpoint/2010/main" Requires="p14">
      <p:transition spd="slow" p14:dur="2000" advTm="11500"/>
    </mc:Choice>
    <mc:Fallback>
      <p:transition spd="slow" advTm="1150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Title 1"/>
          <p:cNvSpPr>
            <a:spLocks noGrp="1"/>
          </p:cNvSpPr>
          <p:nvPr>
            <p:ph type="title"/>
          </p:nvPr>
        </p:nvSpPr>
        <p:spPr/>
        <p:txBody>
          <a:bodyPr>
            <a:normAutofit fontScale="90000"/>
          </a:bodyPr>
          <a:lstStyle/>
          <a:p>
            <a:pPr algn="ctr"/>
            <a:r>
              <a:rPr lang="en-US" b="1" dirty="0"/>
              <a:t>NOLLE PROSEQUI/POWER OF DISCONTINUANCE</a:t>
            </a:r>
            <a:endParaRPr lang="en-GB" b="1" dirty="0"/>
          </a:p>
        </p:txBody>
      </p:sp>
      <p:sp>
        <p:nvSpPr>
          <p:cNvPr id="1048643" name="Content Placeholder 2"/>
          <p:cNvSpPr>
            <a:spLocks noGrp="1"/>
          </p:cNvSpPr>
          <p:nvPr>
            <p:ph idx="1"/>
          </p:nvPr>
        </p:nvSpPr>
        <p:spPr>
          <a:xfrm>
            <a:off x="1981200" y="1676400"/>
            <a:ext cx="8229600" cy="4778408"/>
          </a:xfrm>
        </p:spPr>
        <p:txBody>
          <a:bodyPr>
            <a:normAutofit/>
          </a:bodyPr>
          <a:lstStyle/>
          <a:p>
            <a:pPr algn="just"/>
            <a:r>
              <a:rPr lang="en-US" sz="4000" dirty="0"/>
              <a:t>The power to enter a </a:t>
            </a:r>
            <a:r>
              <a:rPr lang="en-US" sz="4000" i="1" dirty="0"/>
              <a:t>nolle</a:t>
            </a:r>
            <a:r>
              <a:rPr lang="en-US" sz="4000" dirty="0"/>
              <a:t> should be distinguished from the power of a prosecutor to discontinue criminal proceedings under </a:t>
            </a:r>
            <a:r>
              <a:rPr lang="en-US" altLang="en-GB" sz="4000" dirty="0"/>
              <a:t>s</a:t>
            </a:r>
            <a:r>
              <a:rPr lang="en-US" sz="4000" dirty="0"/>
              <a:t>ections </a:t>
            </a:r>
            <a:r>
              <a:rPr lang="en-US" altLang="en-GB" sz="4000" dirty="0"/>
              <a:t>124 A</a:t>
            </a:r>
            <a:r>
              <a:rPr lang="en-US" sz="4000" dirty="0"/>
              <a:t>C</a:t>
            </a:r>
            <a:r>
              <a:rPr lang="en-US" altLang="en-GB" sz="4000" dirty="0"/>
              <a:t>J</a:t>
            </a:r>
            <a:r>
              <a:rPr lang="en-US" sz="4000" dirty="0"/>
              <a:t>L</a:t>
            </a:r>
            <a:r>
              <a:rPr lang="en-US" altLang="en-GB" sz="4000" dirty="0"/>
              <a:t> Kano</a:t>
            </a:r>
            <a:r>
              <a:rPr lang="en-US" sz="4000" dirty="0"/>
              <a:t>, 73 ACJL and 108 ACJA</a:t>
            </a:r>
            <a:r>
              <a:rPr lang="en-US" altLang="en-GB" sz="4000" dirty="0"/>
              <a:t>.</a:t>
            </a:r>
            <a:endParaRPr lang="zh-CN" altLang="en-US" sz="3600" dirty="0"/>
          </a:p>
          <a:p>
            <a:pPr algn="just"/>
            <a:r>
              <a:rPr lang="en-US" sz="4000" dirty="0"/>
              <a:t>The major differences are as follows:</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22662"/>
    </mc:Choice>
    <mc:Fallback>
      <p:transition spd="slow" advTm="22662"/>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Title 1"/>
          <p:cNvSpPr>
            <a:spLocks noGrp="1"/>
          </p:cNvSpPr>
          <p:nvPr>
            <p:ph type="title"/>
          </p:nvPr>
        </p:nvSpPr>
        <p:spPr/>
        <p:txBody>
          <a:bodyPr>
            <a:normAutofit fontScale="90000"/>
          </a:bodyPr>
          <a:lstStyle/>
          <a:p>
            <a:pPr algn="ctr"/>
            <a:r>
              <a:rPr lang="en-US" b="1" dirty="0"/>
              <a:t>NOLLE PROSEQUI/POWER OF DISCONTINUANCE</a:t>
            </a:r>
            <a:endParaRPr lang="en-GB" b="1" dirty="0"/>
          </a:p>
        </p:txBody>
      </p:sp>
      <p:sp>
        <p:nvSpPr>
          <p:cNvPr id="1048645" name="Content Placeholder 2"/>
          <p:cNvSpPr>
            <a:spLocks noGrp="1"/>
          </p:cNvSpPr>
          <p:nvPr>
            <p:ph idx="1"/>
          </p:nvPr>
        </p:nvSpPr>
        <p:spPr>
          <a:xfrm>
            <a:off x="1981200" y="1981200"/>
            <a:ext cx="8229600" cy="4473608"/>
          </a:xfrm>
        </p:spPr>
        <p:txBody>
          <a:bodyPr>
            <a:normAutofit/>
          </a:bodyPr>
          <a:lstStyle/>
          <a:p>
            <a:pPr algn="just"/>
            <a:r>
              <a:rPr lang="en-US" sz="4000" dirty="0"/>
              <a:t>First, the effect of a </a:t>
            </a:r>
            <a:r>
              <a:rPr lang="en-US" sz="4000" i="1" dirty="0"/>
              <a:t>nolle </a:t>
            </a:r>
            <a:r>
              <a:rPr lang="en-US" sz="4000" dirty="0"/>
              <a:t>is a discharge while the effect of a discontinuance is a discharge or an acquittal depending on the stage of the trial.</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16578"/>
    </mc:Choice>
    <mc:Fallback>
      <p:transition spd="slow" advTm="16578"/>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Title 1"/>
          <p:cNvSpPr>
            <a:spLocks noGrp="1"/>
          </p:cNvSpPr>
          <p:nvPr>
            <p:ph type="title"/>
          </p:nvPr>
        </p:nvSpPr>
        <p:spPr/>
        <p:txBody>
          <a:bodyPr>
            <a:normAutofit fontScale="90000"/>
          </a:bodyPr>
          <a:lstStyle/>
          <a:p>
            <a:pPr algn="ctr"/>
            <a:r>
              <a:rPr lang="en-US" b="1" dirty="0"/>
              <a:t>NOLLE PROSEQUI/POWER OF DISCONTINUANCE</a:t>
            </a:r>
            <a:endParaRPr lang="en-GB" b="1" dirty="0"/>
          </a:p>
        </p:txBody>
      </p:sp>
      <p:sp>
        <p:nvSpPr>
          <p:cNvPr id="1048647" name="Content Placeholder 2"/>
          <p:cNvSpPr>
            <a:spLocks noGrp="1"/>
          </p:cNvSpPr>
          <p:nvPr>
            <p:ph idx="1"/>
          </p:nvPr>
        </p:nvSpPr>
        <p:spPr>
          <a:xfrm>
            <a:off x="1981200" y="1981200"/>
            <a:ext cx="8229600" cy="4473608"/>
          </a:xfrm>
        </p:spPr>
        <p:txBody>
          <a:bodyPr>
            <a:normAutofit/>
          </a:bodyPr>
          <a:lstStyle/>
          <a:p>
            <a:pPr algn="just"/>
            <a:r>
              <a:rPr lang="en-US" sz="4000" dirty="0"/>
              <a:t>Second, entering a </a:t>
            </a:r>
            <a:r>
              <a:rPr lang="en-US" sz="4000" i="1" dirty="0"/>
              <a:t>nolle </a:t>
            </a:r>
            <a:r>
              <a:rPr lang="en-US" sz="4000" dirty="0"/>
              <a:t>is at the discretion of the Attorney-General while discontinuing proceedings is subject to the consent of the court.</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52334"/>
    </mc:Choice>
    <mc:Fallback>
      <p:transition spd="slow" advTm="52334"/>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
          <p:cNvSpPr>
            <a:spLocks noGrp="1"/>
          </p:cNvSpPr>
          <p:nvPr>
            <p:ph type="title"/>
          </p:nvPr>
        </p:nvSpPr>
        <p:spPr/>
        <p:txBody>
          <a:bodyPr>
            <a:normAutofit fontScale="90000"/>
          </a:bodyPr>
          <a:lstStyle/>
          <a:p>
            <a:pPr algn="ctr"/>
            <a:r>
              <a:rPr lang="en-US" b="1" dirty="0"/>
              <a:t>NOLLE PROSEQUI/POWER OF DISCONTINUANCE</a:t>
            </a:r>
            <a:endParaRPr lang="en-GB" b="1" dirty="0"/>
          </a:p>
        </p:txBody>
      </p:sp>
      <p:sp>
        <p:nvSpPr>
          <p:cNvPr id="1048649" name="Content Placeholder 2"/>
          <p:cNvSpPr>
            <a:spLocks noGrp="1"/>
          </p:cNvSpPr>
          <p:nvPr>
            <p:ph idx="1"/>
          </p:nvPr>
        </p:nvSpPr>
        <p:spPr>
          <a:xfrm>
            <a:off x="1981200" y="1981200"/>
            <a:ext cx="8229600" cy="4473608"/>
          </a:xfrm>
        </p:spPr>
        <p:txBody>
          <a:bodyPr>
            <a:normAutofit/>
          </a:bodyPr>
          <a:lstStyle/>
          <a:p>
            <a:pPr algn="just"/>
            <a:r>
              <a:rPr lang="en-US" sz="4000" dirty="0"/>
              <a:t>Third, the court may award costs against a prosecutor who discontinues proceedings but lacks such power in respect of a </a:t>
            </a:r>
            <a:r>
              <a:rPr lang="en-US" sz="4000" i="1" dirty="0"/>
              <a:t>nolle</a:t>
            </a:r>
            <a:r>
              <a:rPr lang="en-US" sz="4000" dirty="0"/>
              <a:t>.</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16131"/>
    </mc:Choice>
    <mc:Fallback>
      <p:transition spd="slow" advTm="1613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3"/>
          <p:cNvSpPr>
            <a:spLocks noGrp="1"/>
          </p:cNvSpPr>
          <p:nvPr>
            <p:ph type="title"/>
          </p:nvPr>
        </p:nvSpPr>
        <p:spPr>
          <a:xfrm>
            <a:off x="1981200" y="2590800"/>
            <a:ext cx="8229600" cy="1399032"/>
          </a:xfrm>
        </p:spPr>
        <p:txBody>
          <a:bodyPr>
            <a:normAutofit/>
          </a:bodyPr>
          <a:lstStyle/>
          <a:p>
            <a:pPr algn="ctr"/>
            <a:r>
              <a:rPr lang="en-US" sz="8000" b="1" dirty="0"/>
              <a:t>THE POLICE</a:t>
            </a:r>
            <a:endParaRPr lang="en-GB" sz="8000" b="1" dirty="0"/>
          </a:p>
        </p:txBody>
      </p:sp>
    </p:spTree>
  </p:cSld>
  <p:clrMapOvr>
    <a:masterClrMapping/>
  </p:clrMapOvr>
  <mc:AlternateContent xmlns:mc="http://schemas.openxmlformats.org/markup-compatibility/2006">
    <mc:Choice xmlns:p14="http://schemas.microsoft.com/office/powerpoint/2010/main" Requires="p14">
      <p:transition spd="slow" p14:dur="2000" advTm="3692"/>
    </mc:Choice>
    <mc:Fallback>
      <p:transition spd="slow" advTm="3692"/>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Title 2"/>
          <p:cNvSpPr>
            <a:spLocks noGrp="1"/>
          </p:cNvSpPr>
          <p:nvPr>
            <p:ph type="title"/>
          </p:nvPr>
        </p:nvSpPr>
        <p:spPr/>
        <p:txBody>
          <a:bodyPr>
            <a:normAutofit/>
          </a:bodyPr>
          <a:lstStyle/>
          <a:p>
            <a:pPr algn="ctr"/>
            <a:r>
              <a:rPr lang="en-US" sz="5400" b="1" dirty="0"/>
              <a:t>THE POLICE</a:t>
            </a:r>
            <a:endParaRPr lang="en-GB" sz="5400" b="1" dirty="0"/>
          </a:p>
        </p:txBody>
      </p:sp>
      <p:sp>
        <p:nvSpPr>
          <p:cNvPr id="1048658" name="Content Placeholder 3"/>
          <p:cNvSpPr>
            <a:spLocks noGrp="1"/>
          </p:cNvSpPr>
          <p:nvPr>
            <p:ph idx="1"/>
          </p:nvPr>
        </p:nvSpPr>
        <p:spPr>
          <a:xfrm>
            <a:off x="1981200" y="1676400"/>
            <a:ext cx="8229600" cy="4778408"/>
          </a:xfrm>
        </p:spPr>
        <p:txBody>
          <a:bodyPr>
            <a:normAutofit/>
          </a:bodyPr>
          <a:lstStyle/>
          <a:p>
            <a:pPr algn="just"/>
            <a:r>
              <a:rPr lang="en-US" sz="4400" dirty="0"/>
              <a:t>The power of the Police to institute criminal proceedings is statutorily provided in Section 66</a:t>
            </a:r>
            <a:r>
              <a:rPr lang="en-US" altLang="en-GB" sz="4400" dirty="0"/>
              <a:t> (1)</a:t>
            </a:r>
            <a:r>
              <a:rPr lang="en-US" sz="4400" dirty="0"/>
              <a:t> of the Police Act</a:t>
            </a:r>
            <a:r>
              <a:rPr lang="en-US" altLang="en-GB" sz="4400" dirty="0"/>
              <a:t> 2020.</a:t>
            </a:r>
            <a:endParaRPr lang="zh-CN" altLang="en-US" sz="4400"/>
          </a:p>
          <a:p>
            <a:pPr algn="just"/>
            <a:r>
              <a:rPr lang="en-US" sz="4400" dirty="0"/>
              <a:t>The power is made subject to the power of the AG </a:t>
            </a:r>
            <a:endParaRPr lang="en-US" sz="4400" dirty="0"/>
          </a:p>
        </p:txBody>
      </p:sp>
    </p:spTree>
  </p:cSld>
  <p:clrMapOvr>
    <a:masterClrMapping/>
  </p:clrMapOvr>
  <mc:AlternateContent xmlns:mc="http://schemas.openxmlformats.org/markup-compatibility/2006">
    <mc:Choice xmlns:p14="http://schemas.microsoft.com/office/powerpoint/2010/main" Requires="p14">
      <p:transition spd="slow" p14:dur="2000" advTm="12435"/>
    </mc:Choice>
    <mc:Fallback>
      <p:transition spd="slow" advTm="12435"/>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Title 2"/>
          <p:cNvSpPr>
            <a:spLocks noGrp="1"/>
          </p:cNvSpPr>
          <p:nvPr>
            <p:ph type="title"/>
          </p:nvPr>
        </p:nvSpPr>
        <p:spPr/>
        <p:txBody>
          <a:bodyPr>
            <a:normAutofit/>
          </a:bodyPr>
          <a:lstStyle/>
          <a:p>
            <a:pPr algn="ctr"/>
            <a:r>
              <a:rPr lang="en-US" sz="5400" b="1" dirty="0"/>
              <a:t>THE POLICE</a:t>
            </a:r>
            <a:endParaRPr lang="en-GB" sz="5400" b="1" dirty="0"/>
          </a:p>
        </p:txBody>
      </p:sp>
      <p:sp>
        <p:nvSpPr>
          <p:cNvPr id="1048660" name="Content Placeholder 3"/>
          <p:cNvSpPr>
            <a:spLocks noGrp="1"/>
          </p:cNvSpPr>
          <p:nvPr>
            <p:ph idx="1"/>
          </p:nvPr>
        </p:nvSpPr>
        <p:spPr>
          <a:xfrm>
            <a:off x="1981200" y="1600200"/>
            <a:ext cx="8229600" cy="4854608"/>
          </a:xfrm>
        </p:spPr>
        <p:txBody>
          <a:bodyPr>
            <a:noAutofit/>
          </a:bodyPr>
          <a:lstStyle/>
          <a:p>
            <a:pPr algn="just"/>
            <a:r>
              <a:rPr lang="en-US" sz="4000" dirty="0"/>
              <a:t>The law is settled that the Police have power to institute criminal proceedings in all courts in Nigeria. </a:t>
            </a:r>
            <a:r>
              <a:rPr lang="en-US" sz="4000" b="1" dirty="0" err="1"/>
              <a:t>Olusemo</a:t>
            </a:r>
            <a:r>
              <a:rPr lang="en-US" sz="4000" b="1" dirty="0"/>
              <a:t> v. COP (1998) 11 NWLR (pt. 575) 547, </a:t>
            </a:r>
            <a:r>
              <a:rPr lang="en-US" sz="4000" b="1" dirty="0" err="1"/>
              <a:t>Osahon</a:t>
            </a:r>
            <a:r>
              <a:rPr lang="en-US" sz="4000" b="1" dirty="0"/>
              <a:t> v. FRN (2006) 5 NWLR (pt. 973) 361</a:t>
            </a:r>
            <a:endParaRPr lang="en-GB" sz="4000" b="1" dirty="0"/>
          </a:p>
          <a:p>
            <a:pPr algn="just"/>
            <a:r>
              <a:rPr lang="en-GB" sz="4000" dirty="0"/>
              <a:t>This is irrespective whether the officer is a legal practitioner or not.</a:t>
            </a:r>
            <a:endParaRPr lang="en-GB" sz="4000" dirty="0"/>
          </a:p>
          <a:p>
            <a:pPr marL="64135" indent="0" algn="just">
              <a:buNone/>
            </a:pP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48470"/>
    </mc:Choice>
    <mc:Fallback>
      <p:transition spd="slow" advTm="4847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5668963"/>
          </a:xfrm>
        </p:spPr>
        <p:txBody>
          <a:bodyPr>
            <a:noAutofit/>
          </a:bodyPr>
          <a:lstStyle/>
          <a:p>
            <a:pPr algn="just"/>
            <a:r>
              <a:rPr lang="en-GB" sz="3600" dirty="0" err="1" smtClean="0"/>
              <a:t>However,under</a:t>
            </a:r>
            <a:r>
              <a:rPr lang="en-GB" sz="3600" dirty="0" smtClean="0"/>
              <a:t> the </a:t>
            </a:r>
            <a:r>
              <a:rPr lang="en-US" altLang="en-GB" sz="3600" dirty="0" smtClean="0"/>
              <a:t>P</a:t>
            </a:r>
            <a:r>
              <a:rPr lang="en-GB" sz="3600" dirty="0" err="1" smtClean="0"/>
              <a:t>olice</a:t>
            </a:r>
            <a:r>
              <a:rPr lang="en-GB" sz="3600" dirty="0" smtClean="0"/>
              <a:t> Act 2020, only police officers who are legal practitioner can prosecute criminal matters in superior courts of record in Nigeria.</a:t>
            </a:r>
            <a:endParaRPr lang="zh-CN" altLang="en-US" sz="3600" dirty="0" smtClean="0"/>
          </a:p>
          <a:p>
            <a:pPr algn="just"/>
            <a:r>
              <a:rPr lang="en-GB" sz="3600" b="1" dirty="0" smtClean="0"/>
              <a:t>Section</a:t>
            </a:r>
            <a:r>
              <a:rPr lang="en-US" altLang="en-GB" sz="3600" b="1" dirty="0" smtClean="0"/>
              <a:t>s </a:t>
            </a:r>
            <a:r>
              <a:rPr lang="en-GB" sz="3600" b="1" dirty="0" smtClean="0"/>
              <a:t>78 of the ACJL Lagos and </a:t>
            </a:r>
            <a:r>
              <a:rPr lang="en-US" altLang="en-GB" sz="3600" b="1" dirty="0" smtClean="0"/>
              <a:t>123 (3), </a:t>
            </a:r>
            <a:r>
              <a:rPr lang="en-GB" sz="3600" b="1" dirty="0" smtClean="0"/>
              <a:t>129 ACJL Kano</a:t>
            </a:r>
            <a:r>
              <a:rPr lang="en-GB" sz="3600" dirty="0" smtClean="0"/>
              <a:t>, lay police prosecutors can prosecute only in magistrates courts. </a:t>
            </a:r>
            <a:r>
              <a:rPr lang="en-US" altLang="en-GB" sz="3600" dirty="0" smtClean="0"/>
              <a:t>Contrast with </a:t>
            </a:r>
            <a:r>
              <a:rPr lang="en-US" altLang="en-GB" sz="3600" b="1" dirty="0" err="1" smtClean="0"/>
              <a:t>ss</a:t>
            </a:r>
            <a:r>
              <a:rPr lang="en-US" altLang="en-GB" sz="3600" b="1" dirty="0" smtClean="0"/>
              <a:t> 106, 268, 381 ACJA. See s 141 Police Act  2020</a:t>
            </a:r>
            <a:r>
              <a:rPr lang="en-US" altLang="en-GB" sz="3600" dirty="0" smtClean="0"/>
              <a:t> for definition of Court.</a:t>
            </a:r>
            <a:endParaRPr lang="en-GB" sz="3600" dirty="0" smtClean="0"/>
          </a:p>
          <a:p>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
          <p:cNvSpPr>
            <a:spLocks noGrp="1"/>
          </p:cNvSpPr>
          <p:nvPr>
            <p:ph type="title"/>
          </p:nvPr>
        </p:nvSpPr>
        <p:spPr/>
        <p:txBody>
          <a:bodyPr/>
          <a:lstStyle/>
          <a:p>
            <a:endParaRPr lang="en-US" dirty="0"/>
          </a:p>
        </p:txBody>
      </p:sp>
      <p:sp>
        <p:nvSpPr>
          <p:cNvPr id="1048662" name="Content Placeholder 2"/>
          <p:cNvSpPr>
            <a:spLocks noGrp="1"/>
          </p:cNvSpPr>
          <p:nvPr>
            <p:ph idx="1"/>
          </p:nvPr>
        </p:nvSpPr>
        <p:spPr/>
        <p:txBody>
          <a:bodyPr/>
          <a:lstStyle/>
          <a:p>
            <a:pPr algn="just"/>
            <a:r>
              <a:rPr lang="en-US" sz="4400" dirty="0"/>
              <a:t>The implication of the above is that </a:t>
            </a:r>
            <a:r>
              <a:rPr lang="en-US" sz="4400" b="1" dirty="0" err="1"/>
              <a:t>Olusemo</a:t>
            </a:r>
            <a:r>
              <a:rPr lang="en-US" sz="4400" b="1" dirty="0"/>
              <a:t> v COP and </a:t>
            </a:r>
            <a:r>
              <a:rPr lang="en-US" sz="4400" b="1" dirty="0" err="1"/>
              <a:t>Osahon</a:t>
            </a:r>
            <a:r>
              <a:rPr lang="en-US" sz="4400" b="1" dirty="0"/>
              <a:t> v FRN</a:t>
            </a:r>
            <a:r>
              <a:rPr lang="en-US" sz="4400" dirty="0"/>
              <a:t> are no longer applicable in view of section 66 of the Police Act 2020.</a:t>
            </a:r>
            <a:endParaRPr lang="en-US" sz="4400" dirty="0"/>
          </a:p>
        </p:txBody>
      </p:sp>
    </p:spTree>
  </p:cSld>
  <p:clrMapOvr>
    <a:masterClrMapping/>
  </p:clrMapOvr>
  <mc:AlternateContent xmlns:mc="http://schemas.openxmlformats.org/markup-compatibility/2006">
    <mc:Choice xmlns:p14="http://schemas.microsoft.com/office/powerpoint/2010/main" Requires="p14">
      <p:transition spd="slow" p14:dur="2000" advTm="17046"/>
    </mc:Choice>
    <mc:Fallback>
      <p:transition spd="slow" advTm="17046"/>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Title 3"/>
          <p:cNvSpPr>
            <a:spLocks noGrp="1"/>
          </p:cNvSpPr>
          <p:nvPr>
            <p:ph type="title"/>
          </p:nvPr>
        </p:nvSpPr>
        <p:spPr>
          <a:xfrm>
            <a:off x="1981200" y="2133600"/>
            <a:ext cx="8229600" cy="1399032"/>
          </a:xfrm>
        </p:spPr>
        <p:txBody>
          <a:bodyPr>
            <a:normAutofit/>
          </a:bodyPr>
          <a:lstStyle/>
          <a:p>
            <a:pPr algn="ctr"/>
            <a:r>
              <a:rPr lang="en-US" sz="5400" b="1" dirty="0"/>
              <a:t>PRIVATE PERSONS</a:t>
            </a:r>
            <a:endParaRPr lang="en-GB" sz="5400" b="1" dirty="0"/>
          </a:p>
        </p:txBody>
      </p:sp>
    </p:spTree>
  </p:cSld>
  <p:clrMapOvr>
    <a:masterClrMapping/>
  </p:clrMapOvr>
  <mc:AlternateContent xmlns:mc="http://schemas.openxmlformats.org/markup-compatibility/2006">
    <mc:Choice xmlns:p14="http://schemas.microsoft.com/office/powerpoint/2010/main" Requires="p14">
      <p:transition spd="slow" p14:dur="2000" advTm="4942"/>
    </mc:Choice>
    <mc:Fallback>
      <p:transition spd="slow" advTm="4942"/>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2"/>
          <p:cNvSpPr>
            <a:spLocks noGrp="1"/>
          </p:cNvSpPr>
          <p:nvPr>
            <p:ph type="title"/>
          </p:nvPr>
        </p:nvSpPr>
        <p:spPr/>
        <p:txBody>
          <a:bodyPr>
            <a:normAutofit/>
          </a:bodyPr>
          <a:lstStyle/>
          <a:p>
            <a:pPr algn="ctr"/>
            <a:r>
              <a:rPr lang="en-US" sz="4800" b="1" dirty="0"/>
              <a:t>PRIVATE PERSONS</a:t>
            </a:r>
            <a:endParaRPr lang="en-GB" sz="4400" dirty="0"/>
          </a:p>
        </p:txBody>
      </p:sp>
      <p:sp>
        <p:nvSpPr>
          <p:cNvPr id="1048665" name="Content Placeholder 3"/>
          <p:cNvSpPr>
            <a:spLocks noGrp="1"/>
          </p:cNvSpPr>
          <p:nvPr>
            <p:ph idx="1"/>
          </p:nvPr>
        </p:nvSpPr>
        <p:spPr>
          <a:xfrm>
            <a:off x="1981200" y="1371600"/>
            <a:ext cx="8229600" cy="5083208"/>
          </a:xfrm>
        </p:spPr>
        <p:txBody>
          <a:bodyPr>
            <a:noAutofit/>
          </a:bodyPr>
          <a:lstStyle/>
          <a:p>
            <a:pPr algn="just"/>
            <a:r>
              <a:rPr lang="en-US" sz="4000" dirty="0"/>
              <a:t>The various criminal procedure laws </a:t>
            </a:r>
            <a:r>
              <a:rPr lang="en-GB" sz="4000" dirty="0"/>
              <a:t>recognise</a:t>
            </a:r>
            <a:r>
              <a:rPr lang="en-US" sz="4000" dirty="0"/>
              <a:t> the power of private persons to institute criminal proceedings</a:t>
            </a:r>
            <a:r>
              <a:rPr lang="en-US" altLang="en-GB" sz="4000" dirty="0"/>
              <a:t> -</a:t>
            </a:r>
            <a:r>
              <a:rPr lang="en-US" sz="4000" dirty="0"/>
              <a:t> 77</a:t>
            </a:r>
            <a:r>
              <a:rPr lang="en-US" altLang="en-GB" sz="4000" dirty="0"/>
              <a:t> </a:t>
            </a:r>
            <a:r>
              <a:rPr lang="en-US" sz="4000" dirty="0"/>
              <a:t>(1)(b)(ii)&amp;</a:t>
            </a:r>
            <a:r>
              <a:rPr lang="en-US" altLang="en-GB" sz="4000" dirty="0"/>
              <a:t> </a:t>
            </a:r>
            <a:r>
              <a:rPr lang="en-US" sz="4000" dirty="0"/>
              <a:t>254 </a:t>
            </a:r>
            <a:r>
              <a:rPr lang="en-US" altLang="en-GB" sz="4000" dirty="0"/>
              <a:t>cf 57 </a:t>
            </a:r>
            <a:r>
              <a:rPr lang="en-US" sz="4000" dirty="0"/>
              <a:t>ACJL</a:t>
            </a:r>
            <a:r>
              <a:rPr lang="en-US" altLang="en-GB" sz="4000" dirty="0"/>
              <a:t> Lagos</a:t>
            </a:r>
            <a:r>
              <a:rPr lang="en-US" sz="4000" dirty="0"/>
              <a:t>, </a:t>
            </a:r>
            <a:r>
              <a:rPr lang="en-US" altLang="en-GB" sz="4000" dirty="0"/>
              <a:t>121(1), 123(1)(b), 125(4), 126(e) ACJL Kano, </a:t>
            </a:r>
            <a:r>
              <a:rPr lang="en-US" sz="4000" dirty="0"/>
              <a:t>381(d) ACJA</a:t>
            </a:r>
            <a:endParaRPr lang="zh-CN" altLang="en-US" sz="4000" dirty="0"/>
          </a:p>
          <a:p>
            <a:pPr algn="just"/>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47534"/>
    </mc:Choice>
    <mc:Fallback>
      <p:transition spd="slow" advTm="47534"/>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ym typeface="+mn-ea"/>
              </a:rPr>
              <a:t>PRIVATE PERSONS (CONT’D)</a:t>
            </a:r>
            <a:endParaRPr lang="en-US"/>
          </a:p>
        </p:txBody>
      </p:sp>
      <p:sp>
        <p:nvSpPr>
          <p:cNvPr id="3" name="Content Placeholder 2"/>
          <p:cNvSpPr>
            <a:spLocks noGrp="1"/>
          </p:cNvSpPr>
          <p:nvPr>
            <p:ph idx="1"/>
          </p:nvPr>
        </p:nvSpPr>
        <p:spPr/>
        <p:txBody>
          <a:bodyPr/>
          <a:p>
            <a:pPr algn="just"/>
            <a:r>
              <a:rPr lang="en-US" sz="4000" dirty="0">
                <a:sym typeface="+mn-ea"/>
              </a:rPr>
              <a:t>The only limitation to the right of a private person to initiate criminal proceedings is where the law or enactment specifically provides for the class of persons that can initiate such action. </a:t>
            </a:r>
            <a:endParaRPr lang="en-US" sz="4000" dirty="0"/>
          </a:p>
          <a:p>
            <a:pPr algn="just"/>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2"/>
          <p:cNvSpPr>
            <a:spLocks noGrp="1"/>
          </p:cNvSpPr>
          <p:nvPr>
            <p:ph type="title"/>
          </p:nvPr>
        </p:nvSpPr>
        <p:spPr/>
        <p:txBody>
          <a:bodyPr>
            <a:normAutofit/>
          </a:bodyPr>
          <a:lstStyle/>
          <a:p>
            <a:pPr algn="ctr"/>
            <a:r>
              <a:rPr lang="en-US" sz="4800" b="1" dirty="0">
                <a:sym typeface="+mn-ea"/>
              </a:rPr>
              <a:t>PRIVATE PERSONS (CONT’D)</a:t>
            </a:r>
            <a:endParaRPr lang="en-GB" sz="4400" dirty="0"/>
          </a:p>
        </p:txBody>
      </p:sp>
      <p:sp>
        <p:nvSpPr>
          <p:cNvPr id="1048667" name="Content Placeholder 3"/>
          <p:cNvSpPr>
            <a:spLocks noGrp="1"/>
          </p:cNvSpPr>
          <p:nvPr>
            <p:ph idx="1"/>
          </p:nvPr>
        </p:nvSpPr>
        <p:spPr>
          <a:xfrm>
            <a:off x="1981200" y="1600200"/>
            <a:ext cx="8229600" cy="4854608"/>
          </a:xfrm>
        </p:spPr>
        <p:txBody>
          <a:bodyPr>
            <a:normAutofit/>
          </a:bodyPr>
          <a:lstStyle/>
          <a:p>
            <a:pPr algn="just"/>
            <a:r>
              <a:rPr lang="en-US" sz="4000" dirty="0"/>
              <a:t>Before an information signed by a private person is received by the Registrar of a court, certain conditions must be fulfilled:</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12760"/>
    </mc:Choice>
    <mc:Fallback>
      <p:transition spd="slow" advTm="1276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2"/>
          <p:cNvSpPr>
            <a:spLocks noGrp="1"/>
          </p:cNvSpPr>
          <p:nvPr>
            <p:ph type="title"/>
          </p:nvPr>
        </p:nvSpPr>
        <p:spPr/>
        <p:txBody>
          <a:bodyPr>
            <a:normAutofit/>
          </a:bodyPr>
          <a:lstStyle/>
          <a:p>
            <a:pPr algn="ctr"/>
            <a:r>
              <a:rPr lang="en-US" sz="4800" b="1" dirty="0">
                <a:sym typeface="+mn-ea"/>
              </a:rPr>
              <a:t>PRIVATE PERSONS (CONT’D)</a:t>
            </a:r>
            <a:endParaRPr lang="en-GB" sz="4400" dirty="0"/>
          </a:p>
        </p:txBody>
      </p:sp>
      <p:sp>
        <p:nvSpPr>
          <p:cNvPr id="1048669" name="Content Placeholder 3"/>
          <p:cNvSpPr>
            <a:spLocks noGrp="1"/>
          </p:cNvSpPr>
          <p:nvPr>
            <p:ph idx="1"/>
          </p:nvPr>
        </p:nvSpPr>
        <p:spPr>
          <a:xfrm>
            <a:off x="1981200" y="1600200"/>
            <a:ext cx="8229600" cy="4854608"/>
          </a:xfrm>
        </p:spPr>
        <p:txBody>
          <a:bodyPr>
            <a:normAutofit/>
          </a:bodyPr>
          <a:lstStyle/>
          <a:p>
            <a:pPr algn="just"/>
            <a:r>
              <a:rPr lang="en-US" sz="4000" dirty="0"/>
              <a:t>The first is that there must be an endorsement by the Attorney-General stating that he has seen the information and declines to prosecute at the public instance, the offence(s) contained in the information.</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21725"/>
    </mc:Choice>
    <mc:Fallback>
      <p:transition spd="slow" advTm="21725"/>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2"/>
          <p:cNvSpPr>
            <a:spLocks noGrp="1"/>
          </p:cNvSpPr>
          <p:nvPr>
            <p:ph type="title"/>
          </p:nvPr>
        </p:nvSpPr>
        <p:spPr/>
        <p:txBody>
          <a:bodyPr>
            <a:normAutofit/>
          </a:bodyPr>
          <a:lstStyle/>
          <a:p>
            <a:pPr algn="ctr"/>
            <a:r>
              <a:rPr lang="en-US" sz="4800" b="1" dirty="0">
                <a:sym typeface="+mn-ea"/>
              </a:rPr>
              <a:t>PRIVATE PERSONS (CONT’D)</a:t>
            </a:r>
            <a:endParaRPr lang="en-GB" sz="4400" dirty="0"/>
          </a:p>
        </p:txBody>
      </p:sp>
      <p:sp>
        <p:nvSpPr>
          <p:cNvPr id="1048671" name="Content Placeholder 3"/>
          <p:cNvSpPr>
            <a:spLocks noGrp="1"/>
          </p:cNvSpPr>
          <p:nvPr>
            <p:ph idx="1"/>
          </p:nvPr>
        </p:nvSpPr>
        <p:spPr>
          <a:xfrm>
            <a:off x="1981200" y="1600200"/>
            <a:ext cx="8229600" cy="4854608"/>
          </a:xfrm>
        </p:spPr>
        <p:txBody>
          <a:bodyPr>
            <a:normAutofit/>
          </a:bodyPr>
          <a:lstStyle/>
          <a:p>
            <a:pPr algn="just"/>
            <a:r>
              <a:rPr lang="en-US" sz="4000" dirty="0"/>
              <a:t>Secondly, the private person shall enter into a </a:t>
            </a:r>
            <a:r>
              <a:rPr lang="en-US" sz="4000" dirty="0" err="1"/>
              <a:t>recognisance</a:t>
            </a:r>
            <a:r>
              <a:rPr lang="en-US" sz="4000" dirty="0"/>
              <a:t> in the sum prescribed by the statute, together with a surety in the like sum.</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11952"/>
    </mc:Choice>
    <mc:Fallback>
      <p:transition spd="slow" advTm="11952"/>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t>OTHER STATUTORY LIMITATIONS TO THE RIGHT OF A PRIVATE PERSON TO PROSECUTE</a:t>
            </a:r>
            <a:endParaRPr lang="en-US" sz="3600" b="1" dirty="0" smtClean="0"/>
          </a:p>
        </p:txBody>
      </p:sp>
      <p:sp>
        <p:nvSpPr>
          <p:cNvPr id="3" name="Content Placeholder 2"/>
          <p:cNvSpPr>
            <a:spLocks noGrp="1"/>
          </p:cNvSpPr>
          <p:nvPr>
            <p:ph idx="1"/>
          </p:nvPr>
        </p:nvSpPr>
        <p:spPr/>
        <p:txBody>
          <a:bodyPr>
            <a:normAutofit/>
          </a:bodyPr>
          <a:lstStyle/>
          <a:p>
            <a:pPr lvl="0" algn="just"/>
            <a:r>
              <a:rPr lang="en-US" sz="4000" dirty="0" smtClean="0"/>
              <a:t>Proceedings for an offence of official corruption against a judicial officer- the information must be signed by the A</a:t>
            </a:r>
            <a:r>
              <a:rPr lang="en-US" altLang="en-GB" sz="4000" dirty="0" smtClean="0"/>
              <a:t>.-</a:t>
            </a:r>
            <a:r>
              <a:rPr lang="en-US" sz="4000" dirty="0" smtClean="0"/>
              <a:t>G.</a:t>
            </a:r>
            <a:endParaRPr lang="en-GB" sz="4000" dirty="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endParaRPr>
          </a:p>
          <a:p>
            <a:pPr algn="just"/>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Subtitle 2"/>
          <p:cNvSpPr>
            <a:spLocks noGrp="1"/>
          </p:cNvSpPr>
          <p:nvPr>
            <p:ph type="ctrTitle"/>
          </p:nvPr>
        </p:nvSpPr>
        <p:spPr>
          <a:xfrm>
            <a:off x="2286000" y="762000"/>
            <a:ext cx="8061325" cy="5638800"/>
          </a:xfrm>
        </p:spPr>
        <p:txBody>
          <a:bodyPr>
            <a:normAutofit/>
          </a:bodyPr>
          <a:lstStyle/>
          <a:p>
            <a:pPr algn="just">
              <a:buFont typeface="Wingdings" panose="05000000000000000000" pitchFamily="2" charset="2"/>
              <a:buChar char="§"/>
            </a:pPr>
            <a:r>
              <a:rPr lang="en-US" sz="4000" dirty="0" smtClean="0">
                <a:solidFill>
                  <a:schemeClr val="tx1"/>
                </a:solidFill>
              </a:rPr>
              <a:t>For the offence of sedition, the private person must seek the consent of the A</a:t>
            </a:r>
            <a:r>
              <a:rPr lang="en-US" altLang="en-GB" sz="4000" dirty="0" smtClean="0">
                <a:solidFill>
                  <a:schemeClr val="tx1"/>
                </a:solidFill>
              </a:rPr>
              <a:t>.-</a:t>
            </a:r>
            <a:r>
              <a:rPr lang="en-US" sz="4000" dirty="0" smtClean="0">
                <a:solidFill>
                  <a:schemeClr val="tx1"/>
                </a:solidFill>
              </a:rPr>
              <a:t>G.</a:t>
            </a:r>
            <a:endParaRPr lang="zh-CN" altLang="en-US" sz="5400" dirty="0" smtClean="0"/>
          </a:p>
          <a:p>
            <a:pPr algn="just">
              <a:buFont typeface="Wingdings" panose="05000000000000000000" pitchFamily="2" charset="2"/>
              <a:buChar char="§"/>
            </a:pPr>
            <a:r>
              <a:rPr lang="en-US" sz="4000" dirty="0" smtClean="0">
                <a:solidFill>
                  <a:schemeClr val="tx1"/>
                </a:solidFill>
              </a:rPr>
              <a:t>Adultery </a:t>
            </a:r>
            <a:r>
              <a:rPr lang="en-US" sz="4000" dirty="0">
                <a:solidFill>
                  <a:schemeClr val="tx1"/>
                </a:solidFill>
              </a:rPr>
              <a:t>and related offences under </a:t>
            </a:r>
            <a:r>
              <a:rPr lang="en-US" sz="4000" dirty="0">
                <a:solidFill>
                  <a:schemeClr val="accent1"/>
                </a:solidFill>
              </a:rPr>
              <a:t>sections 387,388</a:t>
            </a:r>
            <a:r>
              <a:rPr lang="en-US" altLang="en-GB" sz="4000" dirty="0">
                <a:solidFill>
                  <a:schemeClr val="accent1"/>
                </a:solidFill>
              </a:rPr>
              <a:t> </a:t>
            </a:r>
            <a:r>
              <a:rPr lang="en-US" sz="4000" dirty="0">
                <a:solidFill>
                  <a:schemeClr val="accent1"/>
                </a:solidFill>
              </a:rPr>
              <a:t>&amp;</a:t>
            </a:r>
            <a:r>
              <a:rPr lang="en-US" altLang="en-GB" sz="4000" dirty="0">
                <a:solidFill>
                  <a:schemeClr val="accent1"/>
                </a:solidFill>
              </a:rPr>
              <a:t> </a:t>
            </a:r>
            <a:r>
              <a:rPr lang="en-US" sz="4000" dirty="0">
                <a:solidFill>
                  <a:schemeClr val="accent1"/>
                </a:solidFill>
              </a:rPr>
              <a:t>389</a:t>
            </a:r>
            <a:r>
              <a:rPr lang="en-US" sz="4000" dirty="0">
                <a:solidFill>
                  <a:schemeClr val="tx1"/>
                </a:solidFill>
              </a:rPr>
              <a:t> of the</a:t>
            </a:r>
            <a:r>
              <a:rPr lang="en-US" altLang="en-GB" sz="4000" dirty="0">
                <a:solidFill>
                  <a:schemeClr val="tx1"/>
                </a:solidFill>
              </a:rPr>
              <a:t> P</a:t>
            </a:r>
            <a:r>
              <a:rPr lang="en-US" sz="4000" dirty="0">
                <a:solidFill>
                  <a:schemeClr val="tx1"/>
                </a:solidFill>
              </a:rPr>
              <a:t>enal </a:t>
            </a:r>
            <a:r>
              <a:rPr lang="en-US" altLang="en-GB" sz="4000" dirty="0">
                <a:solidFill>
                  <a:schemeClr val="tx1"/>
                </a:solidFill>
              </a:rPr>
              <a:t>C</a:t>
            </a:r>
            <a:r>
              <a:rPr lang="en-US" sz="4000" dirty="0">
                <a:solidFill>
                  <a:schemeClr val="tx1"/>
                </a:solidFill>
              </a:rPr>
              <a:t>ode only the persons specified therein can institute the action.</a:t>
            </a:r>
            <a:endParaRPr lang="zh-CN" altLang="en-US" sz="5400" dirty="0"/>
          </a:p>
          <a:p>
            <a:pPr>
              <a:buFont typeface="Wingdings" panose="05000000000000000000" pitchFamily="2" charset="2"/>
              <a:buChar char="§"/>
            </a:pPr>
            <a:endParaRPr lang="en-US" sz="5400" dirty="0">
              <a:solidFill>
                <a:schemeClr val="tx1"/>
              </a:solidFill>
            </a:endParaRPr>
          </a:p>
          <a:p>
            <a:pPr>
              <a:buFont typeface="Wingdings" panose="05000000000000000000" pitchFamily="2" charset="2"/>
              <a:buChar char="§"/>
            </a:pPr>
            <a:endParaRPr lang="en-US" sz="5400" dirty="0">
              <a:solidFill>
                <a:schemeClr val="tx1"/>
              </a:solidFill>
            </a:endParaRPr>
          </a:p>
          <a:p>
            <a:pPr>
              <a:buFont typeface="Wingdings" panose="05000000000000000000" pitchFamily="2" charset="2"/>
              <a:buChar char="§"/>
            </a:pPr>
            <a:endParaRPr lang="en-US" sz="5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9079"/>
    </mc:Choice>
    <mc:Fallback>
      <p:transition spd="slow" advTm="29079"/>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Title 3"/>
          <p:cNvSpPr>
            <a:spLocks noGrp="1"/>
          </p:cNvSpPr>
          <p:nvPr>
            <p:ph type="title"/>
          </p:nvPr>
        </p:nvSpPr>
        <p:spPr>
          <a:xfrm>
            <a:off x="1981200" y="2514600"/>
            <a:ext cx="8229600" cy="1752600"/>
          </a:xfrm>
        </p:spPr>
        <p:txBody>
          <a:bodyPr>
            <a:noAutofit/>
          </a:bodyPr>
          <a:lstStyle/>
          <a:p>
            <a:pPr algn="ctr"/>
            <a:r>
              <a:rPr lang="en-US" sz="5400" b="1" dirty="0"/>
              <a:t>SPECIAL PROSECUTORS</a:t>
            </a:r>
            <a:endParaRPr lang="en-GB" sz="5400" b="1" dirty="0"/>
          </a:p>
        </p:txBody>
      </p:sp>
    </p:spTree>
  </p:cSld>
  <p:clrMapOvr>
    <a:masterClrMapping/>
  </p:clrMapOvr>
  <mc:AlternateContent xmlns:mc="http://schemas.openxmlformats.org/markup-compatibility/2006">
    <mc:Choice xmlns:p14="http://schemas.microsoft.com/office/powerpoint/2010/main" Requires="p14">
      <p:transition spd="slow" p14:dur="2000" advTm="3902"/>
    </mc:Choice>
    <mc:Fallback>
      <p:transition spd="slow" advTm="3902"/>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Title 2"/>
          <p:cNvSpPr>
            <a:spLocks noGrp="1"/>
          </p:cNvSpPr>
          <p:nvPr>
            <p:ph type="title"/>
          </p:nvPr>
        </p:nvSpPr>
        <p:spPr/>
        <p:txBody>
          <a:bodyPr/>
          <a:lstStyle/>
          <a:p>
            <a:pPr algn="ctr"/>
            <a:r>
              <a:rPr lang="en-US" sz="4400" b="1" dirty="0"/>
              <a:t>SPECIAL PROSECUTORS</a:t>
            </a:r>
            <a:endParaRPr lang="en-GB" dirty="0"/>
          </a:p>
        </p:txBody>
      </p:sp>
      <p:sp>
        <p:nvSpPr>
          <p:cNvPr id="1048677" name="Content Placeholder 3"/>
          <p:cNvSpPr>
            <a:spLocks noGrp="1"/>
          </p:cNvSpPr>
          <p:nvPr>
            <p:ph idx="1"/>
          </p:nvPr>
        </p:nvSpPr>
        <p:spPr/>
        <p:txBody>
          <a:bodyPr>
            <a:normAutofit/>
          </a:bodyPr>
          <a:lstStyle/>
          <a:p>
            <a:pPr algn="just"/>
            <a:r>
              <a:rPr lang="en-GB" sz="4000" dirty="0"/>
              <a:t>The statute creating an offence may designate a particular person or officer as the appropriate person to initiate proceedings.</a:t>
            </a:r>
            <a:endParaRPr lang="en-GB" sz="4000" dirty="0"/>
          </a:p>
          <a:p>
            <a:pPr algn="just"/>
            <a:r>
              <a:rPr lang="en-US" sz="4000" dirty="0"/>
              <a:t>Statutes that create special prosecutors include:</a:t>
            </a:r>
            <a:endParaRPr lang="en-GB" sz="4000" dirty="0"/>
          </a:p>
          <a:p>
            <a:pPr algn="just"/>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23551"/>
    </mc:Choice>
    <mc:Fallback>
      <p:transition spd="slow" advTm="23551"/>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Title 2"/>
          <p:cNvSpPr>
            <a:spLocks noGrp="1"/>
          </p:cNvSpPr>
          <p:nvPr>
            <p:ph type="title"/>
          </p:nvPr>
        </p:nvSpPr>
        <p:spPr/>
        <p:txBody>
          <a:bodyPr/>
          <a:lstStyle/>
          <a:p>
            <a:pPr algn="ctr"/>
            <a:r>
              <a:rPr lang="en-US" sz="4400" b="1" dirty="0"/>
              <a:t>SPECIAL PROSECUTORS</a:t>
            </a:r>
            <a:endParaRPr lang="en-GB" dirty="0"/>
          </a:p>
        </p:txBody>
      </p:sp>
      <p:sp>
        <p:nvSpPr>
          <p:cNvPr id="1048679" name="Content Placeholder 3"/>
          <p:cNvSpPr>
            <a:spLocks noGrp="1"/>
          </p:cNvSpPr>
          <p:nvPr>
            <p:ph idx="1"/>
          </p:nvPr>
        </p:nvSpPr>
        <p:spPr/>
        <p:txBody>
          <a:bodyPr>
            <a:normAutofit/>
          </a:bodyPr>
          <a:lstStyle/>
          <a:p>
            <a:pPr algn="just"/>
            <a:r>
              <a:rPr lang="en-US" sz="4000" dirty="0"/>
              <a:t>The EFCC (Establishment)Act See Ibrahim </a:t>
            </a:r>
            <a:r>
              <a:rPr lang="en-US" sz="4000" dirty="0" err="1"/>
              <a:t>Shehu</a:t>
            </a:r>
            <a:r>
              <a:rPr lang="en-US" sz="4000" dirty="0"/>
              <a:t> </a:t>
            </a:r>
            <a:r>
              <a:rPr lang="en-US" sz="4000" dirty="0" err="1"/>
              <a:t>Shema</a:t>
            </a:r>
            <a:r>
              <a:rPr lang="en-US" sz="4000" dirty="0"/>
              <a:t> v. FRN (2018) LPELR-43723(SC)</a:t>
            </a:r>
            <a:endParaRPr lang="en-US" sz="4000" dirty="0"/>
          </a:p>
          <a:p>
            <a:pPr algn="just"/>
            <a:r>
              <a:rPr lang="en-US" sz="4000" dirty="0"/>
              <a:t>Customs and Excise Management Act See Customs &amp; Excise v. </a:t>
            </a:r>
            <a:r>
              <a:rPr lang="en-US" sz="4000" dirty="0" err="1"/>
              <a:t>Barau</a:t>
            </a:r>
            <a:r>
              <a:rPr lang="en-US" sz="4000" dirty="0"/>
              <a:t> (1982) 2 NCR 1</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22654"/>
    </mc:Choice>
    <mc:Fallback>
      <p:transition spd="slow" advTm="22654"/>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Title 2"/>
          <p:cNvSpPr>
            <a:spLocks noGrp="1"/>
          </p:cNvSpPr>
          <p:nvPr>
            <p:ph type="title"/>
          </p:nvPr>
        </p:nvSpPr>
        <p:spPr/>
        <p:txBody>
          <a:bodyPr/>
          <a:lstStyle/>
          <a:p>
            <a:pPr algn="ctr"/>
            <a:r>
              <a:rPr lang="en-US" sz="4400" b="1" dirty="0"/>
              <a:t>SPECIAL PROSECUTORS</a:t>
            </a:r>
            <a:endParaRPr lang="en-GB" dirty="0"/>
          </a:p>
        </p:txBody>
      </p:sp>
      <p:sp>
        <p:nvSpPr>
          <p:cNvPr id="1048681" name="Content Placeholder 3"/>
          <p:cNvSpPr>
            <a:spLocks noGrp="1"/>
          </p:cNvSpPr>
          <p:nvPr>
            <p:ph idx="1"/>
          </p:nvPr>
        </p:nvSpPr>
        <p:spPr/>
        <p:txBody>
          <a:bodyPr>
            <a:normAutofit/>
          </a:bodyPr>
          <a:lstStyle/>
          <a:p>
            <a:pPr algn="just"/>
            <a:r>
              <a:rPr lang="en-GB" sz="4000" dirty="0"/>
              <a:t>The special prosecutor need not be a lawyer E.g. Section 66 of the Factories Act vests the power of criminal proceedings in respect of factory offences on the Inspector of Factories</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23022"/>
    </mc:Choice>
    <mc:Fallback>
      <p:transition spd="slow" advTm="23022"/>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Title 1"/>
          <p:cNvSpPr>
            <a:spLocks noGrp="1"/>
          </p:cNvSpPr>
          <p:nvPr>
            <p:ph type="ctrTitle"/>
          </p:nvPr>
        </p:nvSpPr>
        <p:spPr>
          <a:xfrm>
            <a:off x="1527048" y="2438400"/>
            <a:ext cx="9144000" cy="1470025"/>
          </a:xfrm>
        </p:spPr>
        <p:txBody>
          <a:bodyPr>
            <a:normAutofit fontScale="90000"/>
          </a:bodyPr>
          <a:lstStyle/>
          <a:p>
            <a:r>
              <a:rPr lang="en-US" b="1" dirty="0"/>
              <a:t>PRIVATE LEGAL PRACTITIONERS</a:t>
            </a:r>
            <a:endParaRPr lang="en-GB" b="1" dirty="0"/>
          </a:p>
        </p:txBody>
      </p:sp>
    </p:spTree>
  </p:cSld>
  <p:clrMapOvr>
    <a:masterClrMapping/>
  </p:clrMapOvr>
  <mc:AlternateContent xmlns:mc="http://schemas.openxmlformats.org/markup-compatibility/2006">
    <mc:Choice xmlns:p14="http://schemas.microsoft.com/office/powerpoint/2010/main" Requires="p14">
      <p:transition spd="slow" p14:dur="2000" advTm="2317"/>
    </mc:Choice>
    <mc:Fallback>
      <p:transition spd="slow" advTm="2317"/>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0"/>
            <a:ext cx="8229600" cy="5516563"/>
          </a:xfrm>
        </p:spPr>
        <p:txBody>
          <a:bodyPr>
            <a:noAutofit/>
          </a:bodyPr>
          <a:lstStyle/>
          <a:p>
            <a:pPr algn="just"/>
            <a:r>
              <a:rPr lang="en-US" sz="4000" dirty="0" smtClean="0"/>
              <a:t>By section 381(</a:t>
            </a:r>
            <a:r>
              <a:rPr lang="en-US" altLang="en-GB" sz="4000" dirty="0" smtClean="0"/>
              <a:t>c</a:t>
            </a:r>
            <a:r>
              <a:rPr lang="en-US" sz="4000" dirty="0" smtClean="0"/>
              <a:t>) of the ACJA, an information may be fi</a:t>
            </a:r>
            <a:r>
              <a:rPr lang="en-US" altLang="en-GB" sz="4000" dirty="0" smtClean="0"/>
              <a:t>l</a:t>
            </a:r>
            <a:r>
              <a:rPr lang="en-US" sz="4000" dirty="0" smtClean="0"/>
              <a:t>ed by a private legal practitioner authorized by the AGF. Where a legal practitioner is so engaged, he is said to enjoy the fiat of the A</a:t>
            </a:r>
            <a:r>
              <a:rPr lang="en-US" altLang="en-GB" sz="4000" dirty="0" smtClean="0"/>
              <a:t>.-</a:t>
            </a:r>
            <a:r>
              <a:rPr lang="en-US" sz="4000" dirty="0" smtClean="0"/>
              <a:t>G. See FRN v ADEWUNMI, GEORGE v FRN, etc. </a:t>
            </a:r>
            <a:endParaRPr lang="en-US" sz="4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Title 3"/>
          <p:cNvSpPr>
            <a:spLocks noGrp="1"/>
          </p:cNvSpPr>
          <p:nvPr>
            <p:ph type="title"/>
          </p:nvPr>
        </p:nvSpPr>
        <p:spPr>
          <a:xfrm>
            <a:off x="1981200" y="2514600"/>
            <a:ext cx="8229600" cy="1399032"/>
          </a:xfrm>
        </p:spPr>
        <p:txBody>
          <a:bodyPr>
            <a:noAutofit/>
          </a:bodyPr>
          <a:lstStyle/>
          <a:p>
            <a:pPr algn="ctr"/>
            <a:r>
              <a:rPr lang="en-US" sz="4800" b="1" dirty="0"/>
              <a:t>LIMITATION OF TIME TO COMMENCE CRIMINAL PROCEEDINGS</a:t>
            </a:r>
            <a:endParaRPr lang="en-GB" sz="4800" b="1" dirty="0"/>
          </a:p>
        </p:txBody>
      </p:sp>
    </p:spTree>
  </p:cSld>
  <p:clrMapOvr>
    <a:masterClrMapping/>
  </p:clrMapOvr>
  <mc:AlternateContent xmlns:mc="http://schemas.openxmlformats.org/markup-compatibility/2006">
    <mc:Choice xmlns:p14="http://schemas.microsoft.com/office/powerpoint/2010/main" Requires="p14">
      <p:transition spd="slow" p14:dur="2000" advTm="5447"/>
    </mc:Choice>
    <mc:Fallback>
      <p:transition spd="slow" advTm="5447"/>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
          <p:cNvSpPr>
            <a:spLocks noGrp="1"/>
          </p:cNvSpPr>
          <p:nvPr>
            <p:ph type="title"/>
          </p:nvPr>
        </p:nvSpPr>
        <p:spPr/>
        <p:txBody>
          <a:bodyPr>
            <a:normAutofit fontScale="90000"/>
          </a:bodyPr>
          <a:lstStyle/>
          <a:p>
            <a:pPr algn="ctr"/>
            <a:r>
              <a:rPr lang="en-US" b="1" dirty="0"/>
              <a:t>LIMITATION OF TIME TO COMMENCE CRIMINAL PROCEEDINGS</a:t>
            </a:r>
            <a:endParaRPr lang="en-GB" b="1" dirty="0"/>
          </a:p>
        </p:txBody>
      </p:sp>
      <p:sp>
        <p:nvSpPr>
          <p:cNvPr id="1048686" name="Content Placeholder 2"/>
          <p:cNvSpPr>
            <a:spLocks noGrp="1"/>
          </p:cNvSpPr>
          <p:nvPr>
            <p:ph idx="1"/>
          </p:nvPr>
        </p:nvSpPr>
        <p:spPr>
          <a:xfrm>
            <a:off x="1981200" y="1600200"/>
            <a:ext cx="8229600" cy="5105400"/>
          </a:xfrm>
        </p:spPr>
        <p:txBody>
          <a:bodyPr>
            <a:noAutofit/>
          </a:bodyPr>
          <a:lstStyle/>
          <a:p>
            <a:pPr algn="just"/>
            <a:r>
              <a:rPr lang="en-GB" sz="4000" dirty="0"/>
              <a:t>As a general rule, there is no time limit within which to commence criminal proceedings against a person. </a:t>
            </a:r>
            <a:endParaRPr lang="en-GB" sz="4000" dirty="0"/>
          </a:p>
          <a:p>
            <a:pPr algn="just"/>
            <a:r>
              <a:rPr lang="en-GB" sz="4000" dirty="0"/>
              <a:t>Certain exceptions are, however, provided by statutes and include:</a:t>
            </a:r>
            <a:endParaRPr lang="en-GB" sz="4000" dirty="0"/>
          </a:p>
          <a:p>
            <a:pPr algn="just"/>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35080"/>
    </mc:Choice>
    <mc:Fallback>
      <p:transition spd="slow" advTm="35080"/>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a:xfrm>
            <a:off x="1981200" y="274638"/>
            <a:ext cx="8229600" cy="944562"/>
          </a:xfrm>
        </p:spPr>
        <p:txBody>
          <a:bodyPr>
            <a:noAutofit/>
          </a:bodyPr>
          <a:lstStyle/>
          <a:p>
            <a:pPr algn="ctr"/>
            <a:r>
              <a:rPr lang="en-US" sz="3600" b="1" dirty="0"/>
              <a:t>LIMITATION OF TIME TO COMMENCE CRIMINAL PROCEEDINGS</a:t>
            </a:r>
            <a:endParaRPr lang="en-GB" sz="3600" b="1" dirty="0"/>
          </a:p>
        </p:txBody>
      </p:sp>
      <p:sp>
        <p:nvSpPr>
          <p:cNvPr id="1048688" name="Content Placeholder 2"/>
          <p:cNvSpPr>
            <a:spLocks noGrp="1"/>
          </p:cNvSpPr>
          <p:nvPr>
            <p:ph idx="1"/>
          </p:nvPr>
        </p:nvSpPr>
        <p:spPr>
          <a:xfrm>
            <a:off x="1981200" y="1219200"/>
            <a:ext cx="8229600" cy="5410200"/>
          </a:xfrm>
        </p:spPr>
        <p:txBody>
          <a:bodyPr>
            <a:noAutofit/>
          </a:bodyPr>
          <a:lstStyle/>
          <a:p>
            <a:pPr marL="514350" indent="-514350" algn="just"/>
            <a:r>
              <a:rPr lang="en-GB" sz="4000" b="1" dirty="0"/>
              <a:t>Treason and Treasonable Felonies:  </a:t>
            </a:r>
            <a:r>
              <a:rPr lang="en-GB" sz="4000" dirty="0"/>
              <a:t>within 2 years of the commission of the offence</a:t>
            </a:r>
            <a:r>
              <a:rPr lang="en-GB" sz="4000" dirty="0">
                <a:effectLst>
                  <a:outerShdw blurRad="38100" dist="38100" dir="2700000" algn="tl">
                    <a:srgbClr val="000000">
                      <a:alpha val="43137"/>
                    </a:srgbClr>
                  </a:outerShdw>
                </a:effectLst>
              </a:rPr>
              <a:t>( Note however, that there is no limitation of time with respect to the offence of conspiracy)</a:t>
            </a:r>
            <a:r>
              <a:rPr lang="en-US" altLang="en-GB" sz="4000" dirty="0">
                <a:effectLst>
                  <a:outerShdw blurRad="38100" dist="38100" dir="2700000" algn="tl">
                    <a:srgbClr val="000000">
                      <a:alpha val="43137"/>
                    </a:srgbClr>
                  </a:outerShdw>
                </a:effectLst>
              </a:rPr>
              <a:t> - s</a:t>
            </a:r>
            <a:r>
              <a:rPr lang="en-GB" sz="4000" dirty="0">
                <a:effectLst>
                  <a:outerShdw blurRad="38100" dist="38100" dir="2700000" algn="tl">
                    <a:srgbClr val="000000">
                      <a:alpha val="43137"/>
                    </a:srgbClr>
                  </a:outerShdw>
                </a:effectLst>
              </a:rPr>
              <a:t> 43 CC</a:t>
            </a:r>
            <a:r>
              <a:rPr lang="en-US" altLang="en-GB" sz="4000" dirty="0">
                <a:effectLst>
                  <a:outerShdw blurRad="38100" dist="38100" dir="2700000" algn="tl">
                    <a:srgbClr val="000000">
                      <a:alpha val="43137"/>
                    </a:srgbClr>
                  </a:outerShdw>
                </a:effectLst>
              </a:rPr>
              <a:t>.</a:t>
            </a:r>
            <a:endParaRPr lang="zh-CN" altLang="en-US" sz="4000" dirty="0"/>
          </a:p>
          <a:p>
            <a:pPr marL="514350" indent="-514350" algn="just"/>
            <a:r>
              <a:rPr lang="en-GB" sz="4000" b="1" dirty="0"/>
              <a:t>Sedition: </a:t>
            </a:r>
            <a:r>
              <a:rPr lang="en-GB" sz="4000" dirty="0"/>
              <a:t>within 6 months of the commission of the offence</a:t>
            </a:r>
            <a:r>
              <a:rPr lang="en-US" altLang="en-GB" sz="4000" dirty="0"/>
              <a:t> - s</a:t>
            </a:r>
            <a:r>
              <a:rPr lang="en-GB" sz="4000" dirty="0"/>
              <a:t> 52(1) CC</a:t>
            </a:r>
            <a:r>
              <a:rPr lang="en-US" altLang="en-GB" sz="4000" dirty="0"/>
              <a:t>.</a:t>
            </a:r>
            <a:endParaRPr lang="en-GB" sz="4000" dirty="0"/>
          </a:p>
          <a:p>
            <a:pPr marL="514350" indent="-514350" algn="just"/>
            <a:endParaRPr lang="en-GB" sz="4000" dirty="0">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advTm="43268"/>
    </mc:Choice>
    <mc:Fallback>
      <p:transition spd="slow" advTm="43268"/>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
          <p:cNvSpPr>
            <a:spLocks noGrp="1"/>
          </p:cNvSpPr>
          <p:nvPr>
            <p:ph type="title"/>
          </p:nvPr>
        </p:nvSpPr>
        <p:spPr/>
        <p:txBody>
          <a:bodyPr>
            <a:normAutofit fontScale="90000"/>
          </a:bodyPr>
          <a:lstStyle/>
          <a:p>
            <a:pPr algn="ctr"/>
            <a:r>
              <a:rPr lang="en-US" b="1" dirty="0"/>
              <a:t>LIMITATION OF TIME TO COMMENCE CRIMINAL PROCEEDINGS</a:t>
            </a:r>
            <a:endParaRPr lang="en-GB" b="1" dirty="0"/>
          </a:p>
        </p:txBody>
      </p:sp>
      <p:sp>
        <p:nvSpPr>
          <p:cNvPr id="1048690" name="Content Placeholder 2"/>
          <p:cNvSpPr>
            <a:spLocks noGrp="1"/>
          </p:cNvSpPr>
          <p:nvPr>
            <p:ph idx="1"/>
          </p:nvPr>
        </p:nvSpPr>
        <p:spPr>
          <a:xfrm>
            <a:off x="1981200" y="1322705"/>
            <a:ext cx="8229600" cy="4803775"/>
          </a:xfrm>
        </p:spPr>
        <p:txBody>
          <a:bodyPr>
            <a:noAutofit/>
          </a:bodyPr>
          <a:lstStyle/>
          <a:p>
            <a:pPr marL="514350" indent="-514350" algn="just"/>
            <a:r>
              <a:rPr lang="en-GB" sz="4000" b="1" dirty="0"/>
              <a:t>Proceedings under the Customs and Excise Management Act (CEMA): </a:t>
            </a:r>
            <a:r>
              <a:rPr lang="en-GB" sz="4000" dirty="0"/>
              <a:t>within 7 years of the commission of the offence</a:t>
            </a:r>
            <a:r>
              <a:rPr lang="en-US" altLang="en-GB" sz="4000" dirty="0"/>
              <a:t> -</a:t>
            </a:r>
            <a:r>
              <a:rPr lang="en-GB" sz="4000" dirty="0"/>
              <a:t> </a:t>
            </a:r>
            <a:r>
              <a:rPr lang="en-US" altLang="en-GB" sz="4000" dirty="0"/>
              <a:t>s </a:t>
            </a:r>
            <a:r>
              <a:rPr lang="en-GB" sz="4000" dirty="0"/>
              <a:t>176(3) CEMA</a:t>
            </a:r>
            <a:r>
              <a:rPr lang="en-US" altLang="en-GB" sz="4000" dirty="0"/>
              <a:t>.</a:t>
            </a:r>
            <a:endParaRPr lang="zh-CN" altLang="en-US" dirty="0"/>
          </a:p>
          <a:p>
            <a:pPr marL="514350" indent="-514350" algn="just"/>
            <a:r>
              <a:rPr lang="en-GB" sz="4000" b="1" dirty="0"/>
              <a:t>Private complaint</a:t>
            </a:r>
            <a:r>
              <a:rPr lang="en-GB" sz="4000" dirty="0"/>
              <a:t> under s</a:t>
            </a:r>
            <a:r>
              <a:rPr lang="en-US" altLang="en-GB" sz="4000" dirty="0"/>
              <a:t> </a:t>
            </a:r>
            <a:r>
              <a:rPr lang="en-GB" sz="4000" dirty="0"/>
              <a:t>92 of ACJA, private complaint must be made within 6 years</a:t>
            </a:r>
            <a:r>
              <a:rPr lang="en-US" altLang="en-GB" sz="4000" dirty="0"/>
              <a:t>.</a:t>
            </a:r>
            <a:endParaRPr lang="zh-CN" altLang="en-US" dirty="0"/>
          </a:p>
          <a:p>
            <a:pPr marL="0" indent="0" algn="just">
              <a:buNone/>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2732"/>
    </mc:Choice>
    <mc:Fallback>
      <p:transition spd="slow" advTm="32732"/>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Title 1"/>
          <p:cNvSpPr>
            <a:spLocks noGrp="1"/>
          </p:cNvSpPr>
          <p:nvPr>
            <p:ph type="title"/>
          </p:nvPr>
        </p:nvSpPr>
        <p:spPr/>
        <p:txBody>
          <a:bodyPr>
            <a:normAutofit fontScale="90000"/>
          </a:bodyPr>
          <a:lstStyle/>
          <a:p>
            <a:pPr algn="ctr"/>
            <a:r>
              <a:rPr lang="en-US" b="1" dirty="0"/>
              <a:t>LIMITATION OF TIME TO COMMENCE CRIMINAL PROCEEDINGS</a:t>
            </a:r>
            <a:endParaRPr lang="en-GB" b="1" dirty="0"/>
          </a:p>
        </p:txBody>
      </p:sp>
      <p:sp>
        <p:nvSpPr>
          <p:cNvPr id="1048692" name="Content Placeholder 2"/>
          <p:cNvSpPr>
            <a:spLocks noGrp="1"/>
          </p:cNvSpPr>
          <p:nvPr>
            <p:ph idx="1"/>
          </p:nvPr>
        </p:nvSpPr>
        <p:spPr/>
        <p:txBody>
          <a:bodyPr>
            <a:noAutofit/>
          </a:bodyPr>
          <a:lstStyle/>
          <a:p>
            <a:pPr marL="514350" indent="-514350" algn="just"/>
            <a:r>
              <a:rPr lang="en-GB" sz="4000" b="1" dirty="0"/>
              <a:t>Sexual offences </a:t>
            </a:r>
            <a:r>
              <a:rPr lang="en-GB" sz="4000" dirty="0"/>
              <a:t>provided for in ss</a:t>
            </a:r>
            <a:r>
              <a:rPr lang="en-US" altLang="en-GB" sz="4000" dirty="0"/>
              <a:t> </a:t>
            </a:r>
            <a:r>
              <a:rPr lang="en-GB" sz="4000" dirty="0"/>
              <a:t>218 and 221 of the Criminal Code Law must be commenced within 2 months of the commission of the offence</a:t>
            </a:r>
            <a:endParaRPr lang="zh-CN" altLang="en-US" sz="3600" dirty="0"/>
          </a:p>
          <a:p>
            <a:pPr marL="514350" indent="-514350" algn="just"/>
            <a:r>
              <a:rPr lang="en-US" sz="4000" b="1" dirty="0"/>
              <a:t>Service men (after retirement): </a:t>
            </a:r>
            <a:r>
              <a:rPr lang="en-US" sz="4000" dirty="0"/>
              <a:t>3 months</a:t>
            </a:r>
            <a:r>
              <a:rPr lang="en-US" altLang="en-GB" sz="4000" dirty="0"/>
              <a:t> -</a:t>
            </a:r>
            <a:r>
              <a:rPr lang="en-US" sz="4000" dirty="0"/>
              <a:t> </a:t>
            </a:r>
            <a:r>
              <a:rPr lang="en-US" altLang="en-GB" sz="4000" dirty="0"/>
              <a:t>s</a:t>
            </a:r>
            <a:r>
              <a:rPr lang="en-GB" sz="4000" dirty="0"/>
              <a:t> 169(2) Armed Forces Act</a:t>
            </a:r>
            <a:r>
              <a:rPr lang="en-US" altLang="en-GB" sz="4000" dirty="0"/>
              <a:t>.</a:t>
            </a:r>
            <a:endParaRPr lang="en-US" altLang="en-GB" sz="4000" b="1" dirty="0"/>
          </a:p>
        </p:txBody>
      </p:sp>
    </p:spTree>
  </p:cSld>
  <p:clrMapOvr>
    <a:masterClrMapping/>
  </p:clrMapOvr>
  <mc:AlternateContent xmlns:mc="http://schemas.openxmlformats.org/markup-compatibility/2006">
    <mc:Choice xmlns:p14="http://schemas.microsoft.com/office/powerpoint/2010/main" Requires="p14">
      <p:transition spd="slow" p14:dur="2000" advTm="42320"/>
    </mc:Choice>
    <mc:Fallback>
      <p:transition spd="slow" advTm="42320"/>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Title 1"/>
          <p:cNvSpPr>
            <a:spLocks noGrp="1"/>
          </p:cNvSpPr>
          <p:nvPr>
            <p:ph type="title"/>
          </p:nvPr>
        </p:nvSpPr>
        <p:spPr>
          <a:xfrm>
            <a:off x="2057400" y="2667000"/>
            <a:ext cx="8229600" cy="1399032"/>
          </a:xfrm>
        </p:spPr>
        <p:txBody>
          <a:bodyPr>
            <a:noAutofit/>
          </a:bodyPr>
          <a:lstStyle/>
          <a:p>
            <a:pPr algn="ctr"/>
            <a:r>
              <a:rPr lang="en-US" sz="4400" b="1" dirty="0"/>
              <a:t>MODES OF INSTITUTING CRIMINAL PROCEEDINGS IN NIGERIA</a:t>
            </a:r>
            <a:endParaRPr lang="en-GB" sz="4400" b="1" dirty="0"/>
          </a:p>
        </p:txBody>
      </p:sp>
    </p:spTree>
  </p:cSld>
  <p:clrMapOvr>
    <a:masterClrMapping/>
  </p:clrMapOvr>
  <mc:AlternateContent xmlns:mc="http://schemas.openxmlformats.org/markup-compatibility/2006">
    <mc:Choice xmlns:p14="http://schemas.microsoft.com/office/powerpoint/2010/main" Requires="p14">
      <p:transition spd="slow" p14:dur="2000" advTm="8597"/>
    </mc:Choice>
    <mc:Fallback>
      <p:transition spd="slow" advTm="8597"/>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Title 1"/>
          <p:cNvSpPr>
            <a:spLocks noGrp="1"/>
          </p:cNvSpPr>
          <p:nvPr>
            <p:ph type="title"/>
          </p:nvPr>
        </p:nvSpPr>
        <p:spPr>
          <a:xfrm>
            <a:off x="1981200" y="13335"/>
            <a:ext cx="8229600" cy="1085215"/>
          </a:xfrm>
        </p:spPr>
        <p:txBody>
          <a:bodyPr>
            <a:normAutofit fontScale="90000"/>
          </a:bodyPr>
          <a:lstStyle/>
          <a:p>
            <a:pPr algn="ctr"/>
            <a:r>
              <a:rPr lang="en-US" b="1" dirty="0"/>
              <a:t>MAGISTRATES’ COURTS </a:t>
            </a:r>
            <a:r>
              <a:rPr lang="en-US" altLang="en-GB" b="1" dirty="0"/>
              <a:t>IN THE SOUTH</a:t>
            </a:r>
            <a:endParaRPr lang="en-GB" b="1" dirty="0"/>
          </a:p>
        </p:txBody>
      </p:sp>
      <p:sp>
        <p:nvSpPr>
          <p:cNvPr id="1048695" name="Content Placeholder 2"/>
          <p:cNvSpPr>
            <a:spLocks noGrp="1"/>
          </p:cNvSpPr>
          <p:nvPr>
            <p:ph idx="1"/>
          </p:nvPr>
        </p:nvSpPr>
        <p:spPr>
          <a:xfrm>
            <a:off x="1795145" y="890270"/>
            <a:ext cx="8577580" cy="5594985"/>
          </a:xfrm>
        </p:spPr>
        <p:txBody>
          <a:bodyPr>
            <a:noAutofit/>
          </a:bodyPr>
          <a:lstStyle/>
          <a:p>
            <a:pPr algn="just"/>
            <a:r>
              <a:rPr lang="en-US" sz="4000" dirty="0"/>
              <a:t>By bringing a person arrested without warrant before the Magistrates’ court upon a charge signed by a police officer </a:t>
            </a:r>
            <a:r>
              <a:rPr lang="en-US" altLang="en-GB" sz="4000" dirty="0"/>
              <a:t>- ss 77(1)</a:t>
            </a:r>
            <a:r>
              <a:rPr lang="en-US" sz="4000" dirty="0"/>
              <a:t> 78</a:t>
            </a:r>
            <a:r>
              <a:rPr lang="en-US" altLang="en-GB" sz="4000" dirty="0"/>
              <a:t> </a:t>
            </a:r>
            <a:r>
              <a:rPr lang="en-US" sz="4000" dirty="0"/>
              <a:t>(</a:t>
            </a:r>
            <a:r>
              <a:rPr lang="en-US" altLang="en-GB" sz="4000" dirty="0"/>
              <a:t>1, 2</a:t>
            </a:r>
            <a:r>
              <a:rPr lang="en-US" sz="4000" dirty="0"/>
              <a:t>)</a:t>
            </a:r>
            <a:r>
              <a:rPr lang="en-US" altLang="en-GB" sz="4000" dirty="0"/>
              <a:t> ACJL Lagos. Cf  109 (a), 110 (1)(a), (2-4) ACJA.</a:t>
            </a:r>
            <a:endParaRPr lang="zh-CN" altLang="en-US" sz="4000" dirty="0"/>
          </a:p>
          <a:p>
            <a:pPr algn="just"/>
            <a:r>
              <a:rPr lang="en-US" sz="4000" dirty="0"/>
              <a:t>By laying a complaint before a Magistrate</a:t>
            </a:r>
            <a:r>
              <a:rPr lang="en-US" altLang="en-GB" sz="4000" dirty="0"/>
              <a:t>. This is not provided for under ACJL Lagos. See ss 37, 88, 89, 110(1), (c) ACJA.</a:t>
            </a:r>
            <a:endParaRPr lang="zh-CN" altLang="en-US" sz="4000" dirty="0"/>
          </a:p>
          <a:p>
            <a:pPr algn="just"/>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29879"/>
    </mc:Choice>
    <mc:Fallback>
      <p:transition spd="slow" advTm="29879"/>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Title 1"/>
          <p:cNvSpPr>
            <a:spLocks noGrp="1"/>
          </p:cNvSpPr>
          <p:nvPr>
            <p:ph type="title"/>
          </p:nvPr>
        </p:nvSpPr>
        <p:spPr>
          <a:xfrm>
            <a:off x="1981200" y="267494"/>
            <a:ext cx="8229600" cy="948532"/>
          </a:xfrm>
        </p:spPr>
        <p:txBody>
          <a:bodyPr>
            <a:normAutofit fontScale="90000"/>
          </a:bodyPr>
          <a:lstStyle/>
          <a:p>
            <a:pPr algn="ctr"/>
            <a:r>
              <a:rPr lang="en-US" b="1" dirty="0"/>
              <a:t>MAGISTRATES’ COURTS </a:t>
            </a:r>
            <a:r>
              <a:rPr lang="en-US" altLang="en-GB" b="1" dirty="0"/>
              <a:t>IN</a:t>
            </a:r>
            <a:r>
              <a:rPr lang="en-US" b="1" dirty="0"/>
              <a:t> THE </a:t>
            </a:r>
            <a:r>
              <a:rPr lang="en-US" altLang="en-GB" b="1" dirty="0"/>
              <a:t>NORTH</a:t>
            </a:r>
            <a:endParaRPr lang="en-GB" dirty="0"/>
          </a:p>
        </p:txBody>
      </p:sp>
      <p:sp>
        <p:nvSpPr>
          <p:cNvPr id="1048697" name="Content Placeholder 2"/>
          <p:cNvSpPr>
            <a:spLocks noGrp="1"/>
          </p:cNvSpPr>
          <p:nvPr>
            <p:ph idx="1"/>
          </p:nvPr>
        </p:nvSpPr>
        <p:spPr>
          <a:xfrm>
            <a:off x="2042318" y="1331120"/>
            <a:ext cx="8229600" cy="5259386"/>
          </a:xfrm>
        </p:spPr>
        <p:txBody>
          <a:bodyPr>
            <a:noAutofit/>
          </a:bodyPr>
          <a:lstStyle/>
          <a:p>
            <a:pPr algn="just"/>
            <a:r>
              <a:rPr lang="en-US" sz="3800" dirty="0"/>
              <a:t>By laying a </a:t>
            </a:r>
            <a:r>
              <a:rPr lang="en-US" altLang="en-GB" sz="3800" dirty="0"/>
              <a:t>Complaint</a:t>
            </a:r>
            <a:r>
              <a:rPr lang="en-US" sz="3800" dirty="0"/>
              <a:t> before a Magistrate</a:t>
            </a:r>
            <a:r>
              <a:rPr lang="en-US" altLang="en-GB" sz="3800" dirty="0"/>
              <a:t> - ss 126 (a, f), 127 (1), (a, c), 131, 348 (2) ACJL Kano.</a:t>
            </a:r>
            <a:endParaRPr lang="zh-CN" altLang="en-US" sz="3800" dirty="0"/>
          </a:p>
          <a:p>
            <a:pPr algn="just"/>
            <a:r>
              <a:rPr lang="en-US" sz="3800" dirty="0"/>
              <a:t>By laying a</a:t>
            </a:r>
            <a:r>
              <a:rPr lang="en-US" altLang="en-GB" sz="3800" dirty="0"/>
              <a:t> First Information Report</a:t>
            </a:r>
            <a:r>
              <a:rPr lang="en-US" sz="3800" dirty="0"/>
              <a:t> complaint before a Magistrate whether or not on oath </a:t>
            </a:r>
            <a:r>
              <a:rPr lang="en-US" altLang="en-GB" sz="3800" dirty="0"/>
              <a:t>- 126 (a), 127 (b), 143 (b), 117, 118 ACJL Kano.</a:t>
            </a:r>
            <a:endParaRPr lang="zh-CN" altLang="en-US" sz="3800" dirty="0"/>
          </a:p>
          <a:p>
            <a:pPr algn="just"/>
            <a:r>
              <a:rPr lang="en-US" altLang="en-GB" sz="3800" dirty="0"/>
              <a:t>By Charge- ss 121 (1), 126 (c, d, e), 127 (2-3) ACJL Kano.</a:t>
            </a:r>
            <a:endParaRPr lang="zh-CN" altLang="en-US" sz="3800" dirty="0"/>
          </a:p>
          <a:p>
            <a:pPr algn="just"/>
            <a:endParaRPr lang="zh-CN" altLang="en-US" sz="3800" dirty="0"/>
          </a:p>
        </p:txBody>
      </p:sp>
    </p:spTree>
  </p:cSld>
  <p:clrMapOvr>
    <a:masterClrMapping/>
  </p:clrMapOvr>
  <mc:AlternateContent xmlns:mc="http://schemas.openxmlformats.org/markup-compatibility/2006">
    <mc:Choice xmlns:p14="http://schemas.microsoft.com/office/powerpoint/2010/main" Requires="p14">
      <p:transition spd="slow" p14:dur="2000" advTm="28287"/>
    </mc:Choice>
    <mc:Fallback>
      <p:transition spd="slow" advTm="28287"/>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Title 1"/>
          <p:cNvSpPr>
            <a:spLocks noGrp="1"/>
          </p:cNvSpPr>
          <p:nvPr>
            <p:ph type="title"/>
          </p:nvPr>
        </p:nvSpPr>
        <p:spPr/>
        <p:txBody>
          <a:bodyPr>
            <a:normAutofit/>
          </a:bodyPr>
          <a:lstStyle/>
          <a:p>
            <a:pPr algn="ctr"/>
            <a:r>
              <a:rPr lang="en-US" b="1" dirty="0"/>
              <a:t>MAGISTRATES’ COURTS UNDER THE ACJL</a:t>
            </a:r>
            <a:endParaRPr lang="en-GB" dirty="0"/>
          </a:p>
        </p:txBody>
      </p:sp>
      <p:sp>
        <p:nvSpPr>
          <p:cNvPr id="1048699" name="Content Placeholder 2"/>
          <p:cNvSpPr>
            <a:spLocks noGrp="1"/>
          </p:cNvSpPr>
          <p:nvPr>
            <p:ph idx="1"/>
          </p:nvPr>
        </p:nvSpPr>
        <p:spPr/>
        <p:txBody>
          <a:bodyPr>
            <a:normAutofit/>
          </a:bodyPr>
          <a:lstStyle/>
          <a:p>
            <a:pPr algn="just"/>
            <a:r>
              <a:rPr lang="en-US" sz="4400" dirty="0"/>
              <a:t>By bringing a person arrested with or without a warrant before the Magistrates’ court upon a charge contained in a charge sheet </a:t>
            </a:r>
            <a:r>
              <a:rPr lang="en-US" altLang="en-GB" sz="4400" dirty="0"/>
              <a:t>- </a:t>
            </a:r>
            <a:r>
              <a:rPr lang="en-US" sz="4400" dirty="0"/>
              <a:t>78 ACJL</a:t>
            </a:r>
            <a:r>
              <a:rPr lang="en-US" altLang="en-GB" sz="4400" dirty="0"/>
              <a:t> Lagos.</a:t>
            </a:r>
            <a:endParaRPr lang="zh-CN" altLang="en-US" sz="3600" dirty="0"/>
          </a:p>
          <a:p>
            <a:pPr algn="just"/>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Tm="17860"/>
    </mc:Choice>
    <mc:Fallback>
      <p:transition spd="slow" advTm="17860"/>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0" name="Title 1"/>
          <p:cNvSpPr>
            <a:spLocks noGrp="1"/>
          </p:cNvSpPr>
          <p:nvPr>
            <p:ph type="title"/>
          </p:nvPr>
        </p:nvSpPr>
        <p:spPr/>
        <p:txBody>
          <a:bodyPr>
            <a:normAutofit/>
          </a:bodyPr>
          <a:lstStyle/>
          <a:p>
            <a:pPr algn="ctr"/>
            <a:r>
              <a:rPr lang="en-US" b="1" dirty="0"/>
              <a:t>MAGISTRATES’ COURTS UNDER THE ACJA</a:t>
            </a:r>
            <a:endParaRPr lang="en-GB" dirty="0"/>
          </a:p>
        </p:txBody>
      </p:sp>
      <p:sp>
        <p:nvSpPr>
          <p:cNvPr id="1048701" name="Content Placeholder 2"/>
          <p:cNvSpPr>
            <a:spLocks noGrp="1"/>
          </p:cNvSpPr>
          <p:nvPr>
            <p:ph idx="1"/>
          </p:nvPr>
        </p:nvSpPr>
        <p:spPr/>
        <p:txBody>
          <a:bodyPr>
            <a:noAutofit/>
          </a:bodyPr>
          <a:lstStyle/>
          <a:p>
            <a:pPr algn="just"/>
            <a:r>
              <a:rPr lang="en-US" sz="4000" dirty="0"/>
              <a:t>By bringing a person arrested upon a charge contained in a charge sheet</a:t>
            </a:r>
            <a:r>
              <a:rPr lang="en-US" altLang="en-GB" sz="4000" dirty="0"/>
              <a:t> - </a:t>
            </a:r>
            <a:r>
              <a:rPr lang="en-US" sz="4000" dirty="0"/>
              <a:t>110(1)(a) ACJA</a:t>
            </a:r>
            <a:r>
              <a:rPr lang="en-US" altLang="en-GB" sz="4000" dirty="0"/>
              <a:t>.</a:t>
            </a:r>
            <a:endParaRPr lang="en-US" sz="4000" dirty="0"/>
          </a:p>
          <a:p>
            <a:pPr algn="just"/>
            <a:r>
              <a:rPr lang="en-US" sz="4000" dirty="0"/>
              <a:t>By laying a First Information Report before a Magistrate </a:t>
            </a:r>
            <a:r>
              <a:rPr lang="en-US" altLang="en-GB" sz="4000" dirty="0"/>
              <a:t>-</a:t>
            </a:r>
            <a:r>
              <a:rPr lang="en-US" sz="4000" dirty="0"/>
              <a:t> 110(1)(b) ACJA</a:t>
            </a:r>
            <a:r>
              <a:rPr lang="en-US" altLang="en-GB" sz="4000" dirty="0"/>
              <a:t>.</a:t>
            </a:r>
            <a:endParaRPr lang="en-US" sz="4000" dirty="0"/>
          </a:p>
          <a:p>
            <a:pPr algn="just"/>
            <a:r>
              <a:rPr lang="en-US" sz="4000" dirty="0"/>
              <a:t>By laying a complaint before a Magistrate </a:t>
            </a:r>
            <a:r>
              <a:rPr lang="en-US" altLang="en-GB" sz="4000" dirty="0"/>
              <a:t>-</a:t>
            </a:r>
            <a:r>
              <a:rPr lang="en-US" sz="4000" dirty="0"/>
              <a:t>110(1)(c) ACJA</a:t>
            </a:r>
            <a:r>
              <a:rPr lang="en-US" altLang="en-GB" sz="4000" dirty="0"/>
              <a:t>.</a:t>
            </a:r>
            <a:endParaRPr lang="en-US" sz="4000" dirty="0"/>
          </a:p>
          <a:p>
            <a:pPr algn="just"/>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46304"/>
    </mc:Choice>
    <mc:Fallback>
      <p:transition spd="slow" advTm="46304"/>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Title 1"/>
          <p:cNvSpPr>
            <a:spLocks noGrp="1"/>
          </p:cNvSpPr>
          <p:nvPr>
            <p:ph type="title"/>
          </p:nvPr>
        </p:nvSpPr>
        <p:spPr/>
        <p:txBody>
          <a:bodyPr/>
          <a:lstStyle/>
          <a:p>
            <a:pPr algn="ctr"/>
            <a:r>
              <a:rPr lang="en-US" b="1" dirty="0"/>
              <a:t>HIGH COURTS</a:t>
            </a:r>
            <a:r>
              <a:rPr lang="en-US" altLang="en-GB" b="1" dirty="0"/>
              <a:t> IN</a:t>
            </a:r>
            <a:r>
              <a:rPr lang="en-US" b="1" dirty="0"/>
              <a:t> THE </a:t>
            </a:r>
            <a:r>
              <a:rPr lang="en-US" altLang="en-GB" b="1" dirty="0"/>
              <a:t>SOUTH</a:t>
            </a:r>
            <a:endParaRPr lang="en-GB" dirty="0"/>
          </a:p>
        </p:txBody>
      </p:sp>
      <p:sp>
        <p:nvSpPr>
          <p:cNvPr id="1048703" name="Content Placeholder 2"/>
          <p:cNvSpPr>
            <a:spLocks noGrp="1"/>
          </p:cNvSpPr>
          <p:nvPr>
            <p:ph idx="1"/>
          </p:nvPr>
        </p:nvSpPr>
        <p:spPr/>
        <p:txBody>
          <a:bodyPr>
            <a:noAutofit/>
          </a:bodyPr>
          <a:lstStyle/>
          <a:p>
            <a:pPr algn="just"/>
            <a:r>
              <a:rPr lang="en-US" sz="4000" dirty="0"/>
              <a:t>Information of the Attorney-General of the </a:t>
            </a:r>
            <a:r>
              <a:rPr lang="en-US" altLang="en-GB" sz="4000" dirty="0"/>
              <a:t>S</a:t>
            </a:r>
            <a:r>
              <a:rPr lang="en-US" sz="4000" dirty="0"/>
              <a:t>tate filed by a law officer or a private prosecutor </a:t>
            </a:r>
            <a:r>
              <a:rPr lang="en-US" altLang="en-GB" sz="4000" dirty="0"/>
              <a:t>.</a:t>
            </a:r>
            <a:endParaRPr lang="zh-CN" altLang="en-US" sz="4000"/>
          </a:p>
          <a:p>
            <a:pPr algn="just"/>
            <a:r>
              <a:rPr lang="en-US" sz="4000" dirty="0"/>
              <a:t>Information filed in the court after the </a:t>
            </a:r>
            <a:r>
              <a:rPr lang="en-US" altLang="en-GB" sz="4000" dirty="0"/>
              <a:t>defendant</a:t>
            </a:r>
            <a:r>
              <a:rPr lang="en-US" sz="4000" dirty="0"/>
              <a:t> has been summarily committed for perjury</a:t>
            </a:r>
            <a:r>
              <a:rPr lang="en-US" altLang="en-GB" sz="4000" dirty="0"/>
              <a:t>.</a:t>
            </a:r>
            <a:endParaRPr lang="en-US" alt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3004"/>
    </mc:Choice>
    <mc:Fallback>
      <p:transition spd="slow" advTm="3004"/>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Title 1"/>
          <p:cNvSpPr>
            <a:spLocks noGrp="1"/>
          </p:cNvSpPr>
          <p:nvPr>
            <p:ph type="title"/>
          </p:nvPr>
        </p:nvSpPr>
        <p:spPr/>
        <p:txBody>
          <a:bodyPr>
            <a:normAutofit/>
          </a:bodyPr>
          <a:lstStyle/>
          <a:p>
            <a:pPr algn="ctr"/>
            <a:r>
              <a:rPr lang="en-US" b="1" dirty="0"/>
              <a:t>HIGH COURTS </a:t>
            </a:r>
            <a:r>
              <a:rPr lang="en-US" altLang="en-GB" b="1" dirty="0"/>
              <a:t>IN</a:t>
            </a:r>
            <a:r>
              <a:rPr lang="en-US" b="1" dirty="0"/>
              <a:t> THE</a:t>
            </a:r>
            <a:r>
              <a:rPr lang="en-US" altLang="en-GB" b="1" dirty="0"/>
              <a:t> SOUTH</a:t>
            </a:r>
            <a:r>
              <a:rPr lang="en-US" b="1" dirty="0"/>
              <a:t> (CONTD.)</a:t>
            </a:r>
            <a:endParaRPr lang="en-GB" dirty="0"/>
          </a:p>
        </p:txBody>
      </p:sp>
      <p:sp>
        <p:nvSpPr>
          <p:cNvPr id="1048705" name="Content Placeholder 2"/>
          <p:cNvSpPr>
            <a:spLocks noGrp="1"/>
          </p:cNvSpPr>
          <p:nvPr>
            <p:ph idx="1"/>
          </p:nvPr>
        </p:nvSpPr>
        <p:spPr/>
        <p:txBody>
          <a:bodyPr>
            <a:noAutofit/>
          </a:bodyPr>
          <a:lstStyle/>
          <a:p>
            <a:pPr algn="just"/>
            <a:r>
              <a:rPr lang="en-US" sz="4000" dirty="0"/>
              <a:t>Information filed in the court after the </a:t>
            </a:r>
            <a:r>
              <a:rPr lang="en-US" altLang="en-GB" sz="4000" dirty="0"/>
              <a:t>defendant</a:t>
            </a:r>
            <a:r>
              <a:rPr lang="en-US" sz="4000" dirty="0"/>
              <a:t> has been committed for trial by a Magistrate</a:t>
            </a:r>
            <a:r>
              <a:rPr lang="en-US" altLang="en-GB" sz="4000" dirty="0"/>
              <a:t>.</a:t>
            </a:r>
            <a:endParaRPr lang="zh-CN" altLang="en-US"/>
          </a:p>
          <a:p>
            <a:pPr algn="just"/>
            <a:r>
              <a:rPr lang="en-US" sz="4000" dirty="0"/>
              <a:t>Filing a complaint, whether or not on oath</a:t>
            </a:r>
            <a:r>
              <a:rPr lang="en-US" altLang="en-GB" sz="4000" dirty="0"/>
              <a:t>. See ss 37, 88, 89, 494 (1) ACJA.</a:t>
            </a:r>
            <a:endParaRPr lang="en-GB" sz="40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6571"/>
    </mc:Choice>
    <mc:Fallback>
      <p:transition spd="slow" advTm="26571"/>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Title 1"/>
          <p:cNvSpPr>
            <a:spLocks noGrp="1"/>
          </p:cNvSpPr>
          <p:nvPr>
            <p:ph type="title"/>
          </p:nvPr>
        </p:nvSpPr>
        <p:spPr/>
        <p:txBody>
          <a:bodyPr/>
          <a:lstStyle/>
          <a:p>
            <a:pPr algn="ctr"/>
            <a:r>
              <a:rPr lang="en-US" b="1" dirty="0"/>
              <a:t>HIGH COURTS </a:t>
            </a:r>
            <a:r>
              <a:rPr lang="en-US" altLang="en-GB" b="1" dirty="0"/>
              <a:t>IN</a:t>
            </a:r>
            <a:r>
              <a:rPr lang="en-US" b="1" dirty="0"/>
              <a:t> THE </a:t>
            </a:r>
            <a:r>
              <a:rPr lang="en-US" altLang="en-GB" b="1" dirty="0"/>
              <a:t>NORTH</a:t>
            </a:r>
            <a:endParaRPr lang="en-GB" dirty="0"/>
          </a:p>
        </p:txBody>
      </p:sp>
      <p:sp>
        <p:nvSpPr>
          <p:cNvPr id="1048707" name="Content Placeholder 2"/>
          <p:cNvSpPr>
            <a:spLocks noGrp="1"/>
          </p:cNvSpPr>
          <p:nvPr>
            <p:ph idx="1"/>
          </p:nvPr>
        </p:nvSpPr>
        <p:spPr/>
        <p:txBody>
          <a:bodyPr>
            <a:noAutofit/>
          </a:bodyPr>
          <a:lstStyle/>
          <a:p>
            <a:pPr algn="just"/>
            <a:r>
              <a:rPr lang="en-US" sz="4000" dirty="0"/>
              <a:t>By a charge filed </a:t>
            </a:r>
            <a:r>
              <a:rPr lang="en-US" altLang="en-GB" sz="4000" dirty="0"/>
              <a:t>- 121(1), 126(b-e), 348 (1) ACJL Kano.</a:t>
            </a:r>
            <a:endParaRPr lang="zh-CN" altLang="en-US"/>
          </a:p>
          <a:p>
            <a:pPr algn="just"/>
            <a:r>
              <a:rPr lang="en-US" sz="4000" dirty="0"/>
              <a:t>By laying a complaint before a High Court Judge</a:t>
            </a:r>
            <a:r>
              <a:rPr lang="en-US" altLang="en-GB" sz="4000" dirty="0"/>
              <a:t> - s 126 (f) ACJL Kano.</a:t>
            </a:r>
            <a:endParaRPr lang="en-GB" sz="4000" dirty="0">
              <a:solidFill>
                <a:schemeClr val="accent2">
                  <a:lumMod val="60000"/>
                  <a:lumOff val="4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3681"/>
    </mc:Choice>
    <mc:Fallback>
      <p:transition spd="slow" advTm="23681"/>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Title 1"/>
          <p:cNvSpPr>
            <a:spLocks noGrp="1"/>
          </p:cNvSpPr>
          <p:nvPr>
            <p:ph type="title"/>
          </p:nvPr>
        </p:nvSpPr>
        <p:spPr/>
        <p:txBody>
          <a:bodyPr/>
          <a:lstStyle/>
          <a:p>
            <a:pPr algn="ctr"/>
            <a:r>
              <a:rPr lang="en-US" b="1" dirty="0"/>
              <a:t>HIGH COURTS UNDER THE ACJL</a:t>
            </a:r>
            <a:endParaRPr lang="en-GB" dirty="0"/>
          </a:p>
        </p:txBody>
      </p:sp>
      <p:sp>
        <p:nvSpPr>
          <p:cNvPr id="1048710" name="Content Placeholder 2"/>
          <p:cNvSpPr>
            <a:spLocks noGrp="1"/>
          </p:cNvSpPr>
          <p:nvPr>
            <p:ph idx="1"/>
          </p:nvPr>
        </p:nvSpPr>
        <p:spPr/>
        <p:txBody>
          <a:bodyPr>
            <a:noAutofit/>
          </a:bodyPr>
          <a:lstStyle/>
          <a:p>
            <a:pPr algn="just"/>
            <a:r>
              <a:rPr lang="en-US" sz="4400" dirty="0"/>
              <a:t>By information of the Attorney-General of the state</a:t>
            </a:r>
            <a:r>
              <a:rPr lang="en-US" altLang="en-GB" sz="4400" dirty="0"/>
              <a:t>-</a:t>
            </a:r>
            <a:r>
              <a:rPr lang="en-US" sz="4400" dirty="0"/>
              <a:t> </a:t>
            </a:r>
            <a:r>
              <a:rPr lang="en-US" altLang="en-GB" sz="4400" dirty="0"/>
              <a:t>s </a:t>
            </a:r>
            <a:r>
              <a:rPr lang="en-US" sz="4400" dirty="0"/>
              <a:t>77(1)(b)(</a:t>
            </a:r>
            <a:r>
              <a:rPr lang="en-US" sz="4400" dirty="0" err="1"/>
              <a:t>i</a:t>
            </a:r>
            <a:r>
              <a:rPr lang="en-US" sz="4400" dirty="0"/>
              <a:t>) ACJL</a:t>
            </a:r>
            <a:r>
              <a:rPr lang="en-US" altLang="en-GB" sz="4400" dirty="0"/>
              <a:t>.</a:t>
            </a:r>
            <a:endParaRPr lang="en-US" sz="4400" dirty="0"/>
          </a:p>
          <a:p>
            <a:pPr algn="just"/>
            <a:r>
              <a:rPr lang="en-US" sz="4400" dirty="0"/>
              <a:t>By information, filed by a private prosecutor</a:t>
            </a:r>
            <a:r>
              <a:rPr lang="en-US" altLang="en-GB" sz="4400" dirty="0"/>
              <a:t>- s</a:t>
            </a:r>
            <a:r>
              <a:rPr lang="en-US" sz="4400" dirty="0"/>
              <a:t> 77(1)(b)(ii) ACJL</a:t>
            </a:r>
            <a:endParaRPr lang="en-GB" sz="4400" dirty="0"/>
          </a:p>
          <a:p>
            <a:pPr algn="just"/>
            <a:endParaRPr lang="en-US" sz="4400" dirty="0"/>
          </a:p>
        </p:txBody>
      </p:sp>
    </p:spTree>
  </p:cSld>
  <p:clrMapOvr>
    <a:masterClrMapping/>
  </p:clrMapOvr>
  <mc:AlternateContent xmlns:mc="http://schemas.openxmlformats.org/markup-compatibility/2006">
    <mc:Choice xmlns:p14="http://schemas.microsoft.com/office/powerpoint/2010/main" Requires="p14">
      <p:transition spd="slow" p14:dur="2000" advTm="23869"/>
    </mc:Choice>
    <mc:Fallback>
      <p:transition spd="slow" advTm="23869"/>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Title 1"/>
          <p:cNvSpPr>
            <a:spLocks noGrp="1"/>
          </p:cNvSpPr>
          <p:nvPr>
            <p:ph type="title"/>
          </p:nvPr>
        </p:nvSpPr>
        <p:spPr/>
        <p:txBody>
          <a:bodyPr>
            <a:normAutofit/>
          </a:bodyPr>
          <a:lstStyle/>
          <a:p>
            <a:pPr algn="ctr"/>
            <a:r>
              <a:rPr lang="en-US" b="1" dirty="0"/>
              <a:t>HIGH COURTS UNDER THE ACJL (CONTD.)</a:t>
            </a:r>
            <a:endParaRPr lang="en-GB" dirty="0"/>
          </a:p>
        </p:txBody>
      </p:sp>
      <p:sp>
        <p:nvSpPr>
          <p:cNvPr id="1048712" name="Content Placeholder 2"/>
          <p:cNvSpPr>
            <a:spLocks noGrp="1"/>
          </p:cNvSpPr>
          <p:nvPr>
            <p:ph idx="1"/>
          </p:nvPr>
        </p:nvSpPr>
        <p:spPr/>
        <p:txBody>
          <a:bodyPr>
            <a:noAutofit/>
          </a:bodyPr>
          <a:lstStyle/>
          <a:p>
            <a:pPr algn="just"/>
            <a:r>
              <a:rPr lang="en-US" sz="4000" dirty="0"/>
              <a:t>By information filed in the court after the accused person has been summarily committed for perjury</a:t>
            </a:r>
            <a:r>
              <a:rPr lang="en-US" altLang="en-GB" sz="4000" dirty="0"/>
              <a:t>- s </a:t>
            </a:r>
            <a:r>
              <a:rPr lang="en-US" sz="4000" dirty="0"/>
              <a:t>77(1)(b)(iii) ACJL</a:t>
            </a:r>
            <a:r>
              <a:rPr lang="en-US" altLang="en-GB" sz="4000" dirty="0"/>
              <a:t>.</a:t>
            </a:r>
            <a:endParaRPr lang="en-GB" sz="4000" dirty="0"/>
          </a:p>
          <a:p>
            <a:pPr algn="just"/>
            <a:r>
              <a:rPr lang="en-US" sz="4000" dirty="0"/>
              <a:t>Summarily in respect of contempt </a:t>
            </a:r>
            <a:r>
              <a:rPr lang="en-US" altLang="en-GB" sz="4000" dirty="0"/>
              <a:t>- s </a:t>
            </a:r>
            <a:r>
              <a:rPr lang="en-US" sz="4000" dirty="0"/>
              <a:t>77(1)(b)(iv) ACJL</a:t>
            </a:r>
            <a:r>
              <a:rPr lang="en-US" altLang="en-GB" sz="4000" dirty="0"/>
              <a:t>.</a:t>
            </a:r>
            <a:endParaRPr lang="en-GB" sz="4000" dirty="0"/>
          </a:p>
          <a:p>
            <a:pPr algn="just"/>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27954"/>
    </mc:Choice>
    <mc:Fallback>
      <p:transition spd="slow" advTm="27954"/>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pPr algn="ctr"/>
            <a:r>
              <a:rPr lang="en-US" b="1" dirty="0"/>
              <a:t>HIGH COURTS UNDER THE ACJA</a:t>
            </a:r>
            <a:endParaRPr lang="en-GB" dirty="0"/>
          </a:p>
        </p:txBody>
      </p:sp>
      <p:sp>
        <p:nvSpPr>
          <p:cNvPr id="1048714" name="Content Placeholder 2"/>
          <p:cNvSpPr>
            <a:spLocks noGrp="1"/>
          </p:cNvSpPr>
          <p:nvPr>
            <p:ph idx="1"/>
          </p:nvPr>
        </p:nvSpPr>
        <p:spPr>
          <a:xfrm>
            <a:off x="1981200" y="1447800"/>
            <a:ext cx="8229600" cy="5007008"/>
          </a:xfrm>
        </p:spPr>
        <p:txBody>
          <a:bodyPr>
            <a:noAutofit/>
          </a:bodyPr>
          <a:lstStyle/>
          <a:p>
            <a:pPr algn="just"/>
            <a:r>
              <a:rPr lang="en-US" sz="4000" dirty="0"/>
              <a:t>In the High Court, by information of the Attorney-General of the Federation </a:t>
            </a:r>
            <a:r>
              <a:rPr lang="en-US" altLang="en-GB" sz="4000" dirty="0"/>
              <a:t>-</a:t>
            </a:r>
            <a:r>
              <a:rPr lang="en-US" sz="4000" dirty="0"/>
              <a:t>109(b) ACJA</a:t>
            </a:r>
            <a:r>
              <a:rPr lang="en-US" altLang="en-GB" sz="4000" dirty="0"/>
              <a:t>.</a:t>
            </a:r>
            <a:endParaRPr lang="zh-CN" altLang="en-US" sz="3600" dirty="0"/>
          </a:p>
          <a:p>
            <a:pPr algn="just"/>
            <a:r>
              <a:rPr lang="en-US" sz="4000" dirty="0"/>
              <a:t>By information or charge filed in the court after the defendant has been summarily committed for perjury </a:t>
            </a:r>
            <a:r>
              <a:rPr lang="en-US" altLang="en-GB" sz="4000" dirty="0"/>
              <a:t>-s </a:t>
            </a:r>
            <a:r>
              <a:rPr lang="en-US" sz="4000" dirty="0"/>
              <a:t>109(c) ACJA</a:t>
            </a:r>
            <a:endParaRPr lang="en-US"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Tm="25922"/>
    </mc:Choice>
    <mc:Fallback>
      <p:transition spd="slow" advTm="25922"/>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Title 1"/>
          <p:cNvSpPr>
            <a:spLocks noGrp="1"/>
          </p:cNvSpPr>
          <p:nvPr>
            <p:ph type="title"/>
          </p:nvPr>
        </p:nvSpPr>
        <p:spPr/>
        <p:txBody>
          <a:bodyPr>
            <a:normAutofit/>
          </a:bodyPr>
          <a:lstStyle/>
          <a:p>
            <a:pPr algn="ctr"/>
            <a:r>
              <a:rPr lang="en-US" sz="3600" b="1" dirty="0"/>
              <a:t>HIGH COURTS UNDER THE ACJA (CONTD.)</a:t>
            </a:r>
            <a:endParaRPr lang="en-GB" sz="3600" dirty="0"/>
          </a:p>
        </p:txBody>
      </p:sp>
      <p:sp>
        <p:nvSpPr>
          <p:cNvPr id="1048716" name="Content Placeholder 2"/>
          <p:cNvSpPr>
            <a:spLocks noGrp="1"/>
          </p:cNvSpPr>
          <p:nvPr>
            <p:ph idx="1"/>
          </p:nvPr>
        </p:nvSpPr>
        <p:spPr>
          <a:xfrm>
            <a:off x="1981200" y="1447800"/>
            <a:ext cx="8229600" cy="5007008"/>
          </a:xfrm>
        </p:spPr>
        <p:txBody>
          <a:bodyPr>
            <a:noAutofit/>
          </a:bodyPr>
          <a:lstStyle/>
          <a:p>
            <a:pPr algn="just"/>
            <a:r>
              <a:rPr lang="en-US" sz="4400" dirty="0"/>
              <a:t>By information or charge filed in the court by any other prosecuting authority </a:t>
            </a:r>
            <a:r>
              <a:rPr lang="en-US" altLang="en-GB" sz="4400" dirty="0"/>
              <a:t>- s</a:t>
            </a:r>
            <a:r>
              <a:rPr lang="en-US" sz="4400" dirty="0"/>
              <a:t>109(d) ACJA</a:t>
            </a:r>
            <a:r>
              <a:rPr lang="en-US" altLang="en-GB" sz="4400" dirty="0"/>
              <a:t>.</a:t>
            </a:r>
            <a:endParaRPr lang="zh-CN" altLang="en-US" sz="3600" dirty="0"/>
          </a:p>
          <a:p>
            <a:pPr algn="just"/>
            <a:r>
              <a:rPr lang="en-US" sz="4400" dirty="0"/>
              <a:t>By information or charge filed by a private prosecutor </a:t>
            </a:r>
            <a:r>
              <a:rPr lang="en-US" altLang="en-GB" sz="4400" dirty="0"/>
              <a:t>-</a:t>
            </a:r>
            <a:r>
              <a:rPr lang="en-US" sz="4400" dirty="0"/>
              <a:t>109</a:t>
            </a:r>
            <a:r>
              <a:rPr lang="en-US" altLang="en-GB" sz="4400" dirty="0"/>
              <a:t> </a:t>
            </a:r>
            <a:r>
              <a:rPr lang="en-US" sz="4400" dirty="0"/>
              <a:t>(e) ACJA</a:t>
            </a:r>
            <a:r>
              <a:rPr lang="en-US" altLang="en-GB" sz="4400" dirty="0"/>
              <a:t>.</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Tm="17143"/>
    </mc:Choice>
    <mc:Fallback>
      <p:transition spd="slow" advTm="17143"/>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Title 1"/>
          <p:cNvSpPr>
            <a:spLocks noGrp="1"/>
          </p:cNvSpPr>
          <p:nvPr>
            <p:ph type="title"/>
          </p:nvPr>
        </p:nvSpPr>
        <p:spPr>
          <a:xfrm>
            <a:off x="1981200" y="101609"/>
            <a:ext cx="8229600" cy="1073859"/>
          </a:xfrm>
        </p:spPr>
        <p:txBody>
          <a:bodyPr>
            <a:normAutofit/>
          </a:bodyPr>
          <a:lstStyle/>
          <a:p>
            <a:pPr algn="ctr"/>
            <a:r>
              <a:rPr lang="en-US" sz="4400" b="1" dirty="0"/>
              <a:t>FEDERAL HIGH COURT</a:t>
            </a:r>
            <a:endParaRPr lang="en-GB" sz="4400" b="1" dirty="0"/>
          </a:p>
        </p:txBody>
      </p:sp>
      <p:sp>
        <p:nvSpPr>
          <p:cNvPr id="1048718" name="Content Placeholder 2"/>
          <p:cNvSpPr>
            <a:spLocks noGrp="1"/>
          </p:cNvSpPr>
          <p:nvPr>
            <p:ph idx="1"/>
          </p:nvPr>
        </p:nvSpPr>
        <p:spPr>
          <a:xfrm>
            <a:off x="1752600" y="1066800"/>
            <a:ext cx="8621395" cy="5387975"/>
          </a:xfrm>
        </p:spPr>
        <p:txBody>
          <a:bodyPr>
            <a:normAutofit/>
          </a:bodyPr>
          <a:lstStyle/>
          <a:p>
            <a:pPr algn="just"/>
            <a:r>
              <a:rPr lang="en-US" sz="4000" dirty="0"/>
              <a:t>Actions can be commenced before the FHC by way of a charge; This is inspite of the provision of S.109 of ACJA which has a general provision Se</a:t>
            </a:r>
            <a:r>
              <a:rPr lang="en-US" altLang="en-GB" sz="4000" dirty="0"/>
              <a:t>e s </a:t>
            </a:r>
            <a:r>
              <a:rPr lang="en-US" sz="4000" dirty="0"/>
              <a:t>33 of the FHC Act, which has a specific provision on commencement of action at FHC</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68478"/>
    </mc:Choice>
    <mc:Fallback>
      <p:transition spd="slow" advTm="68478"/>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Title 1"/>
          <p:cNvSpPr>
            <a:spLocks noGrp="1"/>
          </p:cNvSpPr>
          <p:nvPr>
            <p:ph type="title"/>
          </p:nvPr>
        </p:nvSpPr>
        <p:spPr/>
        <p:txBody>
          <a:bodyPr>
            <a:noAutofit/>
          </a:bodyPr>
          <a:lstStyle/>
          <a:p>
            <a:pPr algn="ctr"/>
            <a:r>
              <a:rPr lang="en-US" altLang="en-GB" sz="4400" b="1" dirty="0"/>
              <a:t>FCT HIGH COURT, </a:t>
            </a:r>
            <a:r>
              <a:rPr lang="en-US" sz="4400" b="1" dirty="0"/>
              <a:t>NATIONAL INDUSTRIAL COURT</a:t>
            </a:r>
            <a:endParaRPr lang="en-GB" sz="4400" b="1" dirty="0"/>
          </a:p>
        </p:txBody>
      </p:sp>
      <p:sp>
        <p:nvSpPr>
          <p:cNvPr id="1048720" name="Content Placeholder 2"/>
          <p:cNvSpPr>
            <a:spLocks noGrp="1"/>
          </p:cNvSpPr>
          <p:nvPr>
            <p:ph idx="1"/>
          </p:nvPr>
        </p:nvSpPr>
        <p:spPr>
          <a:xfrm>
            <a:off x="1981200" y="1747344"/>
            <a:ext cx="8229600" cy="4572000"/>
          </a:xfrm>
        </p:spPr>
        <p:txBody>
          <a:bodyPr>
            <a:normAutofit/>
          </a:bodyPr>
          <a:lstStyle/>
          <a:p>
            <a:pPr algn="just"/>
            <a:r>
              <a:rPr lang="en-US" sz="4000" dirty="0"/>
              <a:t>Section 109 of the ACJA is applicable.</a:t>
            </a:r>
            <a:endParaRPr lang="en-US" sz="4000" dirty="0"/>
          </a:p>
          <a:p>
            <a:pPr algn="just"/>
            <a:r>
              <a:rPr lang="en-US" sz="4000" dirty="0"/>
              <a:t>Therefore, by </a:t>
            </a:r>
            <a:r>
              <a:rPr lang="en-US" altLang="en-GB" sz="4000" dirty="0"/>
              <a:t>I</a:t>
            </a:r>
            <a:r>
              <a:rPr lang="en-US" sz="4000" dirty="0"/>
              <a:t>nformation where the </a:t>
            </a:r>
            <a:r>
              <a:rPr lang="en-US" altLang="en-GB" sz="4000" dirty="0"/>
              <a:t>A.-</a:t>
            </a:r>
            <a:r>
              <a:rPr lang="en-US" sz="4000" dirty="0"/>
              <a:t>G is initiating the proceedings</a:t>
            </a:r>
            <a:endParaRPr lang="zh-CN" altLang="en-US" dirty="0"/>
          </a:p>
          <a:p>
            <a:pPr algn="just"/>
            <a:r>
              <a:rPr lang="en-US" sz="4000" dirty="0"/>
              <a:t>Where any other person or authority is prosecuting, a charge or information would be filed.</a:t>
            </a:r>
            <a:endParaRPr lang="en-GB" sz="4000" dirty="0"/>
          </a:p>
        </p:txBody>
      </p:sp>
    </p:spTree>
  </p:cSld>
  <p:clrMapOvr>
    <a:masterClrMapping/>
  </p:clrMapOvr>
  <mc:AlternateContent xmlns:mc="http://schemas.openxmlformats.org/markup-compatibility/2006">
    <mc:Choice xmlns:p14="http://schemas.microsoft.com/office/powerpoint/2010/main" Requires="p14">
      <p:transition spd="slow" p14:dur="2000" advTm="31471"/>
    </mc:Choice>
    <mc:Fallback>
      <p:transition spd="slow" advTm="31471"/>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Title 1"/>
          <p:cNvSpPr>
            <a:spLocks noGrp="1"/>
          </p:cNvSpPr>
          <p:nvPr>
            <p:ph type="title"/>
          </p:nvPr>
        </p:nvSpPr>
        <p:spPr/>
        <p:txBody>
          <a:bodyPr>
            <a:normAutofit fontScale="90000"/>
          </a:bodyPr>
          <a:lstStyle/>
          <a:p>
            <a:pPr algn="ctr"/>
            <a:r>
              <a:rPr lang="en-US" b="1" dirty="0"/>
              <a:t>EFFECT OF THE FEDERAL HIGH COURT AND FCT HIGH COURT PRACTICE DIRECTIONS</a:t>
            </a:r>
            <a:endParaRPr lang="en-GB" b="1" dirty="0"/>
          </a:p>
        </p:txBody>
      </p:sp>
      <p:sp>
        <p:nvSpPr>
          <p:cNvPr id="1048740" name="Content Placeholder 2"/>
          <p:cNvSpPr>
            <a:spLocks noGrp="1"/>
          </p:cNvSpPr>
          <p:nvPr>
            <p:ph idx="1"/>
          </p:nvPr>
        </p:nvSpPr>
        <p:spPr/>
        <p:txBody>
          <a:bodyPr>
            <a:normAutofit lnSpcReduction="10000"/>
          </a:bodyPr>
          <a:lstStyle/>
          <a:p>
            <a:pPr algn="just"/>
            <a:r>
              <a:rPr lang="en-US" dirty="0"/>
              <a:t>The Federal High Court practice directions relate to the offences of terrorism, trafficking in persons, rape, corruption and money laundering.</a:t>
            </a:r>
            <a:endParaRPr lang="en-US" dirty="0"/>
          </a:p>
          <a:p>
            <a:pPr algn="just"/>
            <a:r>
              <a:rPr lang="en-US" dirty="0"/>
              <a:t>The FCT High Court Practice Directions relate to applications for leave to prefer a criminal charge by the EFCC, ICPC or any other agency charged with the prosecution of criminal offences.</a:t>
            </a:r>
            <a:endParaRPr lang="en-GB" dirty="0"/>
          </a:p>
        </p:txBody>
      </p:sp>
    </p:spTree>
  </p:cSld>
  <p:clrMapOvr>
    <a:masterClrMapping/>
  </p:clrMapOvr>
  <mc:AlternateContent xmlns:mc="http://schemas.openxmlformats.org/markup-compatibility/2006">
    <mc:Choice xmlns:p14="http://schemas.microsoft.com/office/powerpoint/2010/main" Requires="p14">
      <p:transition spd="slow" p14:dur="2000" advTm="38181"/>
    </mc:Choice>
    <mc:Fallback>
      <p:transition spd="slow" advTm="38181"/>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Subtitle 2"/>
          <p:cNvSpPr>
            <a:spLocks noGrp="1"/>
          </p:cNvSpPr>
          <p:nvPr>
            <p:ph type="subTitle" idx="1"/>
          </p:nvPr>
        </p:nvSpPr>
        <p:spPr>
          <a:xfrm>
            <a:off x="2064544" y="685800"/>
            <a:ext cx="8062912" cy="5105400"/>
          </a:xfrm>
        </p:spPr>
        <p:txBody>
          <a:bodyPr>
            <a:noAutofit/>
          </a:bodyPr>
          <a:lstStyle/>
          <a:p>
            <a:pPr algn="just"/>
            <a:r>
              <a:rPr lang="en-US" dirty="0">
                <a:solidFill>
                  <a:schemeClr val="tx1"/>
                </a:solidFill>
              </a:rPr>
              <a:t>Under the High Court of the FCT Practice Directions, in all applications seeking leave to prefer a criminal charge, a court may not hear the application until the accused person is brought before it. It also requires, in addition to other provisions, that such application must be accompanied by an affidavit stating that all investigations have been concluded and that there is a prima facie case against the defendant.</a:t>
            </a:r>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GB"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38336"/>
    </mc:Choice>
    <mc:Fallback>
      <p:transition spd="slow" advTm="38336"/>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ctrTitle"/>
          </p:nvPr>
        </p:nvSpPr>
        <p:spPr>
          <a:xfrm>
            <a:off x="1905000" y="609600"/>
            <a:ext cx="8443912" cy="5486400"/>
          </a:xfrm>
        </p:spPr>
        <p:txBody>
          <a:bodyPr>
            <a:noAutofit/>
          </a:bodyPr>
          <a:lstStyle/>
          <a:p>
            <a:pPr algn="just"/>
            <a:r>
              <a:rPr lang="en-US" sz="3600" dirty="0">
                <a:solidFill>
                  <a:schemeClr val="tx1"/>
                </a:solidFill>
                <a:effectLst/>
              </a:rPr>
              <a:t>The Federal High Court Practice Direction makes similar provisions regarding presence of the defendant and supporting affidavit.</a:t>
            </a:r>
            <a:br>
              <a:rPr lang="en-US" sz="3600" dirty="0">
                <a:solidFill>
                  <a:schemeClr val="tx1"/>
                </a:solidFill>
                <a:effectLst/>
              </a:rPr>
            </a:br>
            <a:r>
              <a:rPr lang="en-US" sz="3600" dirty="0">
                <a:solidFill>
                  <a:schemeClr val="tx1"/>
                </a:solidFill>
                <a:effectLst/>
              </a:rPr>
              <a:t>However, while the FCT HC Practice Direction relates to application for  leave before preferring a charge, the FHC Practice Direction relates to procedure to be adopted in proceedings before the court during hearing.</a:t>
            </a:r>
            <a:br>
              <a:rPr lang="en-US" sz="2800" dirty="0">
                <a:solidFill>
                  <a:schemeClr val="tx1"/>
                </a:solidFill>
                <a:effectLst/>
              </a:rPr>
            </a:br>
            <a:endParaRPr lang="en-GB" sz="2800" dirty="0">
              <a:solidFill>
                <a:schemeClr val="tx1"/>
              </a:solidFill>
              <a:effectLst/>
            </a:endParaRPr>
          </a:p>
        </p:txBody>
      </p:sp>
    </p:spTree>
  </p:cSld>
  <p:clrMapOvr>
    <a:masterClrMapping/>
  </p:clrMapOvr>
  <mc:AlternateContent xmlns:mc="http://schemas.openxmlformats.org/markup-compatibility/2006">
    <mc:Choice xmlns:p14="http://schemas.microsoft.com/office/powerpoint/2010/main" Requires="p14">
      <p:transition spd="slow" p14:dur="2000" advTm="28893"/>
    </mc:Choice>
    <mc:Fallback>
      <p:transition spd="slow" advTm="28893"/>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endParaRPr lang="en-US"/>
          </a:p>
        </p:txBody>
      </p:sp>
      <p:sp>
        <p:nvSpPr>
          <p:cNvPr id="1048597" name="Content Placeholder 2"/>
          <p:cNvSpPr>
            <a:spLocks noGrp="1"/>
          </p:cNvSpPr>
          <p:nvPr>
            <p:ph idx="1"/>
          </p:nvPr>
        </p:nvSpPr>
        <p:spPr/>
        <p:txBody>
          <a:bodyPr/>
          <a:lstStyle/>
          <a:p>
            <a:pPr algn="just"/>
            <a:r>
              <a:rPr lang="en-US" dirty="0"/>
              <a:t>These Practice Directions whether of the FHC or FCT High Court are made to ensure speedy dispensation of justice.</a:t>
            </a:r>
            <a:endParaRPr lang="en-US" dirty="0"/>
          </a:p>
          <a:p>
            <a:pPr algn="just"/>
            <a:r>
              <a:rPr lang="en-US" dirty="0"/>
              <a:t>Where there is a conflict between the Practice Directions and the Rules of Courts, the Rules of Courts will prevail over Practice Directions.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22256"/>
    </mc:Choice>
    <mc:Fallback>
      <p:transition spd="slow" advTm="22256"/>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p:txBody>
          <a:bodyPr/>
          <a:lstStyle/>
          <a:p>
            <a:endParaRPr lang="en-US"/>
          </a:p>
        </p:txBody>
      </p:sp>
      <p:sp>
        <p:nvSpPr>
          <p:cNvPr id="1048595" name="Content Placeholder 2"/>
          <p:cNvSpPr>
            <a:spLocks noGrp="1"/>
          </p:cNvSpPr>
          <p:nvPr>
            <p:ph idx="1"/>
          </p:nvPr>
        </p:nvSpPr>
        <p:spPr/>
        <p:txBody>
          <a:bodyPr/>
          <a:lstStyle/>
          <a:p>
            <a:r>
              <a:rPr lang="en-US" sz="3600" dirty="0"/>
              <a:t>Some of the Practice Directions made by these courts bothers on existing law. For instance, the provision that an accused person must be present in court on the arraignment has been taken care of by the case of </a:t>
            </a:r>
            <a:r>
              <a:rPr lang="en-US" sz="3600" dirty="0" err="1"/>
              <a:t>Adeoye</a:t>
            </a:r>
            <a:r>
              <a:rPr lang="en-US" sz="3600" dirty="0"/>
              <a:t> v The State [1999] 6 NWLR (Pt. 605) 64</a:t>
            </a:r>
            <a:r>
              <a:rPr lang="en-US" dirty="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20287"/>
    </mc:Choice>
    <mc:Fallback>
      <p:transition spd="slow" advTm="20287"/>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14457</Words>
  <Application>WPS Slides</Application>
  <PresentationFormat>Widescreen</PresentationFormat>
  <Paragraphs>303</Paragraphs>
  <Slides>66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66</vt:i4>
      </vt:variant>
    </vt:vector>
  </HeadingPairs>
  <TitlesOfParts>
    <vt:vector size="74" baseType="lpstr">
      <vt:lpstr>Arial</vt:lpstr>
      <vt:lpstr>SimSun</vt:lpstr>
      <vt:lpstr>Wingdings</vt:lpstr>
      <vt:lpstr>Arial Unicode MS</vt:lpstr>
      <vt:lpstr>Calibri Light</vt:lpstr>
      <vt:lpstr>Calibri</vt:lpstr>
      <vt:lpstr>Microsoft YaHei</vt:lpstr>
      <vt:lpstr>Office Theme</vt:lpstr>
      <vt:lpstr>PowerPoint 演示文稿</vt:lpstr>
      <vt:lpstr>PowerPoint 演示文稿</vt:lpstr>
      <vt:lpstr>WHO CAN INSTITUTE  CRIMINAL PROCEEDINGS?</vt:lpstr>
      <vt:lpstr>PERSONS  THAT CAN COMMENCE CRIMINAL PROCEEDINGS IN NIGERIA</vt:lpstr>
      <vt:lpstr>THE ATTORNEY-GENERAL</vt:lpstr>
      <vt:lpstr>THE ATTORNEY-GENERAL</vt:lpstr>
      <vt:lpstr>THE ATTORNEY-GENERAL</vt:lpstr>
      <vt:lpstr>POWER TO INSTITUTE AND UNDERTAKE CRIMINAL PROCEEDINGS</vt:lpstr>
      <vt:lpstr>POWER TO INSTITUTE AND UNDERTAKE CRIMINAL PROCEEDINGS (CONTD.)</vt:lpstr>
      <vt:lpstr>POWER TO INSTITUTE AND UNDERTAKE CRIMINAL PROCEEDINGS (CONTD.)</vt:lpstr>
      <vt:lpstr>POWER TO TAKE OVER AND CONTINUE CRIMINAL PROCEEDINGS</vt:lpstr>
      <vt:lpstr>POWER TO DISCONTINUE CRIMINAL PROCEEDINGS</vt:lpstr>
      <vt:lpstr>POWER TO DISCONTINUE CRIMINAL PROCEEDINGS</vt:lpstr>
      <vt:lpstr>POWER TO DISCONTINUE CRIMINAL PROCEEDINGS</vt:lpstr>
      <vt:lpstr>DELEGATION OF POWERS OF THE ATTORNEY-GENERAL</vt:lpstr>
      <vt:lpstr>DELEGATION OF POWERS OF THE ATTORNEY-GENERAL(CONT’D)</vt:lpstr>
      <vt:lpstr>THE POWER OF THE AG TO ENTER NOLLE(CONT’D)</vt:lpstr>
      <vt:lpstr>PowerPoint 演示文稿</vt:lpstr>
      <vt:lpstr>DELEGATION OF POWERS OF THE ATTORNEY-GENERAL</vt:lpstr>
      <vt:lpstr>NOLLE PROSEQUI/POWER OF DISCONTINUANCE</vt:lpstr>
      <vt:lpstr>NOLLE PROSEQUI/POWER OF DISCONTINUANCE</vt:lpstr>
      <vt:lpstr>NOLLE PROSEQUI/POWER OF DISCONTINUANCE</vt:lpstr>
      <vt:lpstr>NOLLE PROSEQUI/POWER OF DISCONTINUANCE</vt:lpstr>
      <vt:lpstr>THE POLICE</vt:lpstr>
      <vt:lpstr>THE POLICE</vt:lpstr>
      <vt:lpstr>THE POLICE</vt:lpstr>
      <vt:lpstr>PowerPoint 演示文稿</vt:lpstr>
      <vt:lpstr>PowerPoint 演示文稿</vt:lpstr>
      <vt:lpstr>PRIVATE PERSONS</vt:lpstr>
      <vt:lpstr>PRIVATE PERSONS</vt:lpstr>
      <vt:lpstr>PRIVATE PERSONS (CONT’D)</vt:lpstr>
      <vt:lpstr>PRIVATE PERSONS (CONT’D)</vt:lpstr>
      <vt:lpstr>PRIVATE PERSONS (CONT’D)</vt:lpstr>
      <vt:lpstr>PRIVATE PERSONS (CONT’D)</vt:lpstr>
      <vt:lpstr>OTHER STATUTORY LIMITATIONS TO THE RIGHT OF A PRIVATE PERSON TO PROSECUTE</vt:lpstr>
      <vt:lpstr>Adultery and related offences under sections 387,388 &amp; 389 of the Penal Code only the persons specified therein can institute the action.</vt:lpstr>
      <vt:lpstr>SPECIAL PROSECUTORS</vt:lpstr>
      <vt:lpstr>SPECIAL PROSECUTORS</vt:lpstr>
      <vt:lpstr>SPECIAL PROSECUTORS</vt:lpstr>
      <vt:lpstr>SPECIAL PROSECUTORS</vt:lpstr>
      <vt:lpstr>PRIVATE LEGAL PRACTITIONERS</vt:lpstr>
      <vt:lpstr>PowerPoint 演示文稿</vt:lpstr>
      <vt:lpstr>LIMITATION OF TIME TO COMMENCE CRIMINAL PROCEEDINGS</vt:lpstr>
      <vt:lpstr>LIMITATION OF TIME TO COMMENCE CRIMINAL PROCEEDINGS</vt:lpstr>
      <vt:lpstr>LIMITATION OF TIME TO COMMENCE CRIMINAL PROCEEDINGS</vt:lpstr>
      <vt:lpstr>LIMITATION OF TIME TO COMMENCE CRIMINAL PROCEEDINGS</vt:lpstr>
      <vt:lpstr>LIMITATION OF TIME TO COMMENCE CRIMINAL PROCEEDINGS</vt:lpstr>
      <vt:lpstr>MODES OF INSTITUTING CRIMINAL PROCEEDINGS IN NIGERIA</vt:lpstr>
      <vt:lpstr>MAGISTRATES’ COURTS IN THE SOUTH</vt:lpstr>
      <vt:lpstr>MAGISTRATES’ COURTS IN THE NORTH</vt:lpstr>
      <vt:lpstr>MAGISTRATES’ COURTS UNDER THE ACJL</vt:lpstr>
      <vt:lpstr>MAGISTRATES’ COURTS UNDER THE ACJA</vt:lpstr>
      <vt:lpstr>HIGH COURTS IN THE SOUTH</vt:lpstr>
      <vt:lpstr>HIGH COURTS IN THE SOUTH (CONTD.)</vt:lpstr>
      <vt:lpstr>HIGH COURTS IN THE NORTH</vt:lpstr>
      <vt:lpstr>HIGH COURTS UNDER THE ACJL</vt:lpstr>
      <vt:lpstr>HIGH COURTS UNDER THE ACJL (CONTD.)</vt:lpstr>
      <vt:lpstr>HIGH COURTS UNDER THE ACJA</vt:lpstr>
      <vt:lpstr>HIGH COURTS UNDER THE ACJA (CONTD.)</vt:lpstr>
      <vt:lpstr>FEDERAL HIGH COURT</vt:lpstr>
      <vt:lpstr>FCT HIGH COURT, NATIONAL INDUSTRIAL COURT</vt:lpstr>
      <vt:lpstr>EFFECT OF THE FEDERAL HIGH COURT AND FCT HIGH COURT PRACTICE DIRECTIONS</vt:lpstr>
      <vt:lpstr>PowerPoint 演示文稿</vt:lpstr>
      <vt:lpstr>The Federal High Court Practice Direction makes similar provisions regarding presence of the defendant and supporting affidavit. However, while the FCT HC Practice Direction relates to application for  leave before preferring a charge, the FHC Practice Direction relates to procedure to be adopted in proceedings before the court during hearing.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HomePC</dc:creator>
  <cp:lastModifiedBy>HomePC</cp:lastModifiedBy>
  <cp:revision>1</cp:revision>
  <dcterms:created xsi:type="dcterms:W3CDTF">2025-05-25T22:21:35Z</dcterms:created>
  <dcterms:modified xsi:type="dcterms:W3CDTF">2025-05-25T22:21:35Z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7018F89948A641B99A3803D1E489B3B2_11</vt:lpwstr>
  </property>
  <property fmtid="{D5CDD505-2E9C-101B-9397-08002B2CF9AE}" pid="3" name="KSOProductBuildVer">
    <vt:lpwstr>1033-12.2.0.20795</vt:lpwstr>
  </property>
</Properties>
</file>