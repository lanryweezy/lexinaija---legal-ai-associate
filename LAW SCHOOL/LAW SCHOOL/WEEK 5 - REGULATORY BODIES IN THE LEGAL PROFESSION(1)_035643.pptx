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7"/>
  </p:notesMasterIdLst>
  <p:sldIdLst>
    <p:sldId id="257" r:id="rId2"/>
    <p:sldId id="258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273C2B-0DE5-42D0-A870-B406ED366AA8}">
          <p14:sldIdLst>
            <p14:sldId id="257"/>
            <p14:sldId id="258"/>
            <p14:sldId id="260"/>
            <p14:sldId id="261"/>
            <p14:sldId id="262"/>
          </p14:sldIdLst>
        </p14:section>
        <p14:section name="Untitled Section" id="{C47A59BB-3080-451C-86A2-36BA888DD9C8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BD9D1-6024-4616-AD16-631034E8287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50C95-E285-469B-97B9-F282A1FF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6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E50C95-E285-469B-97B9-F282A1FFF0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5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E50C95-E285-469B-97B9-F282A1FFF0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78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E50C95-E285-469B-97B9-F282A1FFF0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39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E50C95-E285-469B-97B9-F282A1FFF0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27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E50C95-E285-469B-97B9-F282A1FFF0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56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F05EED-7BF2-4F90-BE45-51F435474A1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E70CC25-768C-48F0-8D31-CC412E1E07DA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wc2p:\C:\Law%20school2\text\777e60ed-13.html777e60ed-1144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32656"/>
          </a:xfrm>
        </p:spPr>
        <p:txBody>
          <a:bodyPr>
            <a:normAutofit/>
          </a:bodyPr>
          <a:lstStyle/>
          <a:p>
            <a:pPr algn="ctr"/>
            <a:r>
              <a:rPr lang="en-US" sz="1200" dirty="0" smtClean="0"/>
              <a:t>WEEK 4 – TOPICS/CONTENT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40871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200" b="1" dirty="0" smtClean="0"/>
              <a:t>REGULATORY </a:t>
            </a:r>
            <a:r>
              <a:rPr lang="en-US" sz="1200" b="1" dirty="0"/>
              <a:t>BODIES IN THE LEGAL </a:t>
            </a:r>
            <a:r>
              <a:rPr lang="en-US" sz="1200" b="1" dirty="0" smtClean="0"/>
              <a:t>PROFESSION</a:t>
            </a:r>
          </a:p>
          <a:p>
            <a:pPr>
              <a:buFont typeface="Wingdings" pitchFamily="2" charset="2"/>
              <a:buChar char="v"/>
            </a:pPr>
            <a:r>
              <a:rPr lang="en-US" sz="1200" b="1" dirty="0" smtClean="0"/>
              <a:t>EXCLUSIVE </a:t>
            </a:r>
            <a:r>
              <a:rPr lang="en-US" sz="1200" b="1" dirty="0"/>
              <a:t>RIGHTS OF LEGAL </a:t>
            </a:r>
            <a:r>
              <a:rPr lang="en-US" sz="1200" b="1" dirty="0" smtClean="0"/>
              <a:t>PRACTITIONERS</a:t>
            </a:r>
          </a:p>
          <a:p>
            <a:pPr>
              <a:buFont typeface="Wingdings" pitchFamily="2" charset="2"/>
              <a:buChar char="v"/>
            </a:pPr>
            <a:r>
              <a:rPr lang="en-US" sz="1200" b="1" dirty="0" smtClean="0"/>
              <a:t>RESTRICTIONS </a:t>
            </a:r>
            <a:r>
              <a:rPr lang="en-US" sz="1200" b="1" dirty="0"/>
              <a:t>ON THE EXCLUSIVE RIGHTS;</a:t>
            </a:r>
            <a:br>
              <a:rPr lang="en-US" sz="1200" b="1" dirty="0"/>
            </a:br>
            <a:r>
              <a:rPr lang="en-US" sz="1200" b="1" dirty="0"/>
              <a:t>IMPERSONATION OF A </a:t>
            </a:r>
            <a:r>
              <a:rPr lang="en-US" sz="1200" b="1" dirty="0" smtClean="0"/>
              <a:t>LAWYER</a:t>
            </a:r>
          </a:p>
          <a:p>
            <a:pPr algn="ctr">
              <a:buFont typeface="Wingdings" pitchFamily="2" charset="2"/>
              <a:buChar char="v"/>
            </a:pPr>
            <a:r>
              <a:rPr lang="en-US" sz="1200" dirty="0"/>
              <a:t>Regulatory Bodies in the Legal </a:t>
            </a:r>
            <a:r>
              <a:rPr lang="en-US" sz="1200" dirty="0" smtClean="0"/>
              <a:t>Profession</a:t>
            </a:r>
          </a:p>
          <a:p>
            <a:pPr lvl="0"/>
            <a:r>
              <a:rPr lang="en-US" sz="1200" dirty="0"/>
              <a:t>General Council of the Bar, </a:t>
            </a:r>
          </a:p>
          <a:p>
            <a:pPr lvl="0"/>
            <a:r>
              <a:rPr lang="en-US" sz="1200" dirty="0"/>
              <a:t>Body of Benchers </a:t>
            </a:r>
          </a:p>
          <a:p>
            <a:pPr lvl="0"/>
            <a:r>
              <a:rPr lang="en-US" sz="1200" dirty="0"/>
              <a:t>Legal Practitioners Privileges Committee</a:t>
            </a:r>
          </a:p>
          <a:p>
            <a:pPr lvl="0"/>
            <a:r>
              <a:rPr lang="en-US" sz="1200" dirty="0"/>
              <a:t>Legal Practitioners Disciplinary Committee</a:t>
            </a:r>
          </a:p>
          <a:p>
            <a:pPr lvl="0"/>
            <a:r>
              <a:rPr lang="en-US" sz="1200" dirty="0"/>
              <a:t>Legal Practitioners Remuneration </a:t>
            </a:r>
            <a:r>
              <a:rPr lang="en-US" sz="1200" dirty="0" smtClean="0"/>
              <a:t>Committee</a:t>
            </a:r>
          </a:p>
          <a:p>
            <a:pPr lvl="0"/>
            <a:r>
              <a:rPr lang="en-US" sz="1200" dirty="0"/>
              <a:t>Council of Legal Education, </a:t>
            </a:r>
          </a:p>
          <a:p>
            <a:pPr lvl="0"/>
            <a:r>
              <a:rPr lang="en-US" sz="1200" dirty="0"/>
              <a:t>National Judicial Council,  </a:t>
            </a:r>
          </a:p>
          <a:p>
            <a:r>
              <a:rPr lang="en-US" sz="1200" dirty="0"/>
              <a:t>Nigerian Bar </a:t>
            </a:r>
            <a:r>
              <a:rPr lang="en-US" sz="1200" dirty="0" smtClean="0"/>
              <a:t>Association</a:t>
            </a:r>
          </a:p>
          <a:p>
            <a:pPr algn="ctr"/>
            <a:r>
              <a:rPr lang="en-US" sz="1200" dirty="0"/>
              <a:t>General Council of the </a:t>
            </a:r>
            <a:r>
              <a:rPr lang="en-US" sz="1200" dirty="0" smtClean="0"/>
              <a:t>Bar</a:t>
            </a:r>
          </a:p>
          <a:p>
            <a:r>
              <a:rPr lang="en-US" sz="1200" dirty="0"/>
              <a:t>Establishment – Section 1 of the Legal Practitioners </a:t>
            </a:r>
            <a:r>
              <a:rPr lang="en-US" sz="1200" dirty="0" smtClean="0"/>
              <a:t>Act</a:t>
            </a:r>
          </a:p>
          <a:p>
            <a:pPr algn="ctr">
              <a:buFont typeface="Wingdings" pitchFamily="2" charset="2"/>
              <a:buNone/>
            </a:pPr>
            <a:r>
              <a:rPr lang="en-US" sz="1200" dirty="0" smtClean="0"/>
              <a:t>Functions </a:t>
            </a:r>
            <a:r>
              <a:rPr lang="en-US" sz="1200" dirty="0"/>
              <a:t>of the </a:t>
            </a:r>
            <a:r>
              <a:rPr lang="en-US" sz="1200" dirty="0" smtClean="0"/>
              <a:t>GCOB</a:t>
            </a:r>
          </a:p>
          <a:p>
            <a:r>
              <a:rPr lang="en-US" sz="1200" dirty="0"/>
              <a:t>The Body is  empowered to make and revise the Rules </a:t>
            </a:r>
            <a:r>
              <a:rPr lang="en-US" sz="1200" dirty="0" smtClean="0"/>
              <a:t>of </a:t>
            </a:r>
            <a:r>
              <a:rPr lang="en-US" sz="1200" dirty="0"/>
              <a:t>professional Conduct. S.12(4) LPA</a:t>
            </a:r>
            <a:r>
              <a:rPr lang="en-US" sz="1200" dirty="0" smtClean="0"/>
              <a:t>.</a:t>
            </a:r>
            <a:endParaRPr lang="en-US" sz="1200" dirty="0"/>
          </a:p>
          <a:p>
            <a:r>
              <a:rPr lang="en-US" sz="1200" dirty="0"/>
              <a:t>The power to make rules of Accounts to be kept by legal practitioners. S.20(1) </a:t>
            </a:r>
            <a:r>
              <a:rPr lang="en-US" sz="1200" dirty="0" smtClean="0"/>
              <a:t>LPA</a:t>
            </a:r>
          </a:p>
          <a:p>
            <a:pPr algn="ctr"/>
            <a:r>
              <a:rPr lang="en-US" sz="1200" dirty="0" smtClean="0"/>
              <a:t>Body of Benchers</a:t>
            </a:r>
          </a:p>
          <a:p>
            <a:r>
              <a:rPr lang="en-US" sz="1200" dirty="0" smtClean="0"/>
              <a:t>Establishment: S. 3 of </a:t>
            </a:r>
            <a:r>
              <a:rPr lang="en-US" sz="1200" dirty="0" smtClean="0"/>
              <a:t>LPA</a:t>
            </a:r>
          </a:p>
          <a:p>
            <a:r>
              <a:rPr lang="en-US" sz="1200" dirty="0"/>
              <a:t>Functions of the Body of Benchers</a:t>
            </a:r>
          </a:p>
          <a:p>
            <a:r>
              <a:rPr lang="en-US" sz="1200" dirty="0"/>
              <a:t>Formal Call to Bar of persons seeking to become legal practitioners. S.3 (1) LPA</a:t>
            </a:r>
          </a:p>
          <a:p>
            <a:r>
              <a:rPr lang="en-US" sz="1200" dirty="0"/>
              <a:t>Issuance of Certificate of Call to Bar. S.4 (4) LPA</a:t>
            </a:r>
          </a:p>
          <a:p>
            <a:r>
              <a:rPr lang="en-US" sz="1200" dirty="0"/>
              <a:t>Prescription of its own regulations. S.3 (5) of the LP Act</a:t>
            </a:r>
          </a:p>
          <a:p>
            <a:r>
              <a:rPr lang="en-US" sz="1200" dirty="0"/>
              <a:t>The exercise of disciplinary jurisdiction over members of the legal profession and aspirants seeking to become legal practitioners. S.10(1)(b) of the LP Act.</a:t>
            </a:r>
            <a:endParaRPr lang="en-US" sz="800" dirty="0"/>
          </a:p>
          <a:p>
            <a:r>
              <a:rPr lang="en-US" sz="1200" dirty="0"/>
              <a:t>By Section 10 (1) (c) of the LPA, they are empowered to take measures necessary or expedient for maintaining at all times the traditional values of the legal profession.</a:t>
            </a:r>
          </a:p>
          <a:p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endParaRPr lang="en-US" sz="1200" dirty="0" smtClean="0"/>
          </a:p>
          <a:p>
            <a:pPr>
              <a:buFont typeface="Wingdings" pitchFamily="2" charset="2"/>
              <a:buNone/>
            </a:pPr>
            <a:endParaRPr lang="en-US" sz="1200" dirty="0"/>
          </a:p>
          <a:p>
            <a:pPr algn="ctr"/>
            <a:endParaRPr lang="en-US" sz="1200" dirty="0" smtClean="0"/>
          </a:p>
          <a:p>
            <a:pPr>
              <a:buFont typeface="Wingdings" pitchFamily="2" charset="2"/>
              <a:buChar char="v"/>
            </a:pPr>
            <a:endParaRPr lang="en-US" sz="1200" dirty="0" smtClean="0"/>
          </a:p>
          <a:p>
            <a:pPr>
              <a:buFont typeface="Wingdings" pitchFamily="2" charset="2"/>
              <a:buChar char="v"/>
            </a:pPr>
            <a:endParaRPr lang="en-US" sz="1200" b="1" dirty="0" smtClean="0"/>
          </a:p>
        </p:txBody>
      </p:sp>
    </p:spTree>
    <p:extLst>
      <p:ext uri="{BB962C8B-B14F-4D97-AF65-F5344CB8AC3E}">
        <p14:creationId xmlns:p14="http://schemas.microsoft.com/office/powerpoint/2010/main" val="8883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732837"/>
          </a:xfrm>
        </p:spPr>
        <p:txBody>
          <a:bodyPr>
            <a:noAutofit/>
          </a:bodyPr>
          <a:lstStyle/>
          <a:p>
            <a:r>
              <a:rPr lang="en-US" sz="1200" dirty="0"/>
              <a:t>The keeping of 3 dinning terms by aspirants to the Bar.</a:t>
            </a:r>
          </a:p>
          <a:p>
            <a:r>
              <a:rPr lang="en-US" sz="1200" dirty="0"/>
              <a:t>Prescription of unblemished conduct as a pre-requisite for Call to Bar.</a:t>
            </a:r>
          </a:p>
          <a:p>
            <a:r>
              <a:rPr lang="en-US" sz="1200" dirty="0"/>
              <a:t>Sponsorship in writing of aspirants by 2 members of the Body of Benchers.</a:t>
            </a:r>
          </a:p>
          <a:p>
            <a:r>
              <a:rPr lang="en-US" sz="1200" dirty="0"/>
              <a:t>It consults with the Nigerian Law School with regards to training of aspirants to the Bar.</a:t>
            </a:r>
          </a:p>
          <a:p>
            <a:r>
              <a:rPr lang="en-US" sz="1200" dirty="0"/>
              <a:t>h) Prescribes Annual </a:t>
            </a:r>
            <a:r>
              <a:rPr lang="en-US" sz="1200" dirty="0" err="1"/>
              <a:t>Practising</a:t>
            </a:r>
            <a:r>
              <a:rPr lang="en-US" sz="1200" dirty="0"/>
              <a:t> fees to be paid by legal practitioners after consultation with NBA. S. 10 (1) (d) of LPA</a:t>
            </a:r>
          </a:p>
          <a:p>
            <a:r>
              <a:rPr lang="en-US" sz="1200" dirty="0"/>
              <a:t>i) Exercise oversight over NBA NEC in case of dispute, crisis and other exigencies</a:t>
            </a:r>
          </a:p>
          <a:p>
            <a:pPr algn="ctr"/>
            <a:r>
              <a:rPr lang="en-US" sz="1200" dirty="0"/>
              <a:t>Legal Practitioners Privileges Committee</a:t>
            </a:r>
          </a:p>
          <a:p>
            <a:r>
              <a:rPr lang="en-US" sz="1200" dirty="0"/>
              <a:t>Establishment – S. 5 (3) LPA </a:t>
            </a:r>
            <a:r>
              <a:rPr lang="en-US" sz="1200" dirty="0" smtClean="0"/>
              <a:t>2004</a:t>
            </a:r>
          </a:p>
          <a:p>
            <a:r>
              <a:rPr lang="en-US" sz="1200" dirty="0"/>
              <a:t>Functions of the </a:t>
            </a:r>
            <a:r>
              <a:rPr lang="en-US" sz="1200" dirty="0" smtClean="0"/>
              <a:t>LPPC</a:t>
            </a:r>
            <a:endParaRPr lang="en-US" sz="3600" dirty="0"/>
          </a:p>
          <a:p>
            <a:r>
              <a:rPr lang="en-US" sz="1200" dirty="0"/>
              <a:t>Conferment of the rank of SAN on legal practitioners</a:t>
            </a:r>
          </a:p>
          <a:p>
            <a:r>
              <a:rPr lang="en-US" sz="1200" dirty="0"/>
              <a:t>Making rules as to obligations and privileges to be conferred on SAN</a:t>
            </a:r>
          </a:p>
          <a:p>
            <a:r>
              <a:rPr lang="en-US" sz="1200" dirty="0"/>
              <a:t>The body apply sanctions on holders of the rank of SAN as the case may be</a:t>
            </a:r>
          </a:p>
          <a:p>
            <a:pPr algn="ctr"/>
            <a:r>
              <a:rPr lang="en-US" sz="1200" dirty="0"/>
              <a:t>Privileges of Holders of the rank of SAN</a:t>
            </a:r>
          </a:p>
          <a:p>
            <a:r>
              <a:rPr lang="en-US" sz="1200" dirty="0"/>
              <a:t>Exclusive right to sit at the inner Bar or front row</a:t>
            </a:r>
          </a:p>
          <a:p>
            <a:r>
              <a:rPr lang="en-US" sz="1200" dirty="0"/>
              <a:t>Right to mention an application or motion which is on the list for mention, and not otherwise listed for hearing out of turn.</a:t>
            </a:r>
          </a:p>
          <a:p>
            <a:pPr algn="ctr"/>
            <a:r>
              <a:rPr lang="en-US" sz="1200" dirty="0"/>
              <a:t>LEGAL PRACITIONERS DISCIPLINARY COMMITTEE</a:t>
            </a:r>
          </a:p>
          <a:p>
            <a:r>
              <a:rPr lang="en-US" sz="1200" dirty="0"/>
              <a:t>Establishment: S. 11 of the LPA 2004 </a:t>
            </a:r>
          </a:p>
          <a:p>
            <a:pPr algn="ctr"/>
            <a:r>
              <a:rPr lang="en-US" sz="1200" dirty="0"/>
              <a:t>Functions of the LPDC</a:t>
            </a:r>
          </a:p>
          <a:p>
            <a:pPr algn="ctr"/>
            <a:r>
              <a:rPr lang="en-US" sz="1200" dirty="0"/>
              <a:t>The body exercises disciplinary jurisdiction over erring legal practitioners found in breach of professional conduct.</a:t>
            </a:r>
          </a:p>
          <a:p>
            <a:pPr algn="ctr"/>
            <a:r>
              <a:rPr lang="en-US" sz="1200" dirty="0"/>
              <a:t>LEGAL PRATITIONERS REMUNERATION COMMITTEE</a:t>
            </a:r>
          </a:p>
          <a:p>
            <a:r>
              <a:rPr lang="en-US" sz="1200" dirty="0"/>
              <a:t>Establishment </a:t>
            </a:r>
          </a:p>
          <a:p>
            <a:r>
              <a:rPr lang="en-US" sz="1200" dirty="0"/>
              <a:t>	S.15 </a:t>
            </a:r>
            <a:r>
              <a:rPr lang="en-US" sz="1200" dirty="0" smtClean="0"/>
              <a:t>LPA</a:t>
            </a:r>
          </a:p>
          <a:p>
            <a:r>
              <a:rPr lang="en-US" sz="1200" dirty="0"/>
              <a:t>Functions of LPRC- S. 15(3) LPA </a:t>
            </a:r>
            <a:r>
              <a:rPr lang="en-US" sz="1200" dirty="0" smtClean="0"/>
              <a:t>2004</a:t>
            </a:r>
          </a:p>
          <a:p>
            <a:r>
              <a:rPr lang="en-US" sz="1200" dirty="0"/>
              <a:t>To make orders regulating generally the charges of legal practitioners.</a:t>
            </a:r>
          </a:p>
          <a:p>
            <a:r>
              <a:rPr lang="en-US" sz="1200" dirty="0"/>
              <a:t>Ascertainment of charges appropriate for any transaction or activity by the legal practitioner</a:t>
            </a:r>
          </a:p>
          <a:p>
            <a:r>
              <a:rPr lang="en-US" sz="1200" dirty="0"/>
              <a:t>Agreements between legal practitioners and clients with respect to charges.</a:t>
            </a:r>
          </a:p>
          <a:p>
            <a:pPr marL="0" indent="0" algn="ctr">
              <a:buNone/>
            </a:pPr>
            <a:r>
              <a:rPr lang="en-US" sz="1200" dirty="0"/>
              <a:t>COUNCIL OF LEGAL EDUCATION</a:t>
            </a:r>
          </a:p>
          <a:p>
            <a:pPr marL="0" indent="0">
              <a:buNone/>
            </a:pPr>
            <a:r>
              <a:rPr lang="en-US" sz="1200" dirty="0"/>
              <a:t>Establishment: S. 1 (1) Legal Education(Consolidation) Act 2004</a:t>
            </a:r>
          </a:p>
          <a:p>
            <a:pPr marL="0" indent="0">
              <a:buNone/>
            </a:pPr>
            <a:endParaRPr lang="en-US" sz="1200" dirty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215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-576421"/>
            <a:ext cx="8640960" cy="1152841"/>
          </a:xfrm>
        </p:spPr>
        <p:txBody>
          <a:bodyPr>
            <a:normAutofit/>
          </a:bodyPr>
          <a:lstStyle/>
          <a:p>
            <a:pPr algn="ctr"/>
            <a:r>
              <a:rPr lang="en-US" sz="1200" dirty="0"/>
              <a:t>Functions of LPRC- S. 15(3) LPA 2004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856984" cy="63093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400" dirty="0"/>
              <a:t>Functions of CLE</a:t>
            </a:r>
          </a:p>
          <a:p>
            <a:r>
              <a:rPr lang="en-US" sz="1200" dirty="0"/>
              <a:t>1)Responsibility for the legal education of persons seeking to become members 	of the legal profession. S.1(2) LEA.</a:t>
            </a:r>
          </a:p>
          <a:p>
            <a:r>
              <a:rPr lang="en-US" sz="1200" dirty="0"/>
              <a:t>2)Continuing legal education for legal practitioners. S.3 LEA.</a:t>
            </a:r>
          </a:p>
          <a:p>
            <a:r>
              <a:rPr lang="en-US" sz="1200" dirty="0"/>
              <a:t>3)Issuance of Qualifying Certificate to persons qualified for Call to Bar. S.5 </a:t>
            </a:r>
            <a:r>
              <a:rPr lang="en-US" sz="1200" dirty="0" smtClean="0"/>
              <a:t>LEA</a:t>
            </a:r>
          </a:p>
          <a:p>
            <a:r>
              <a:rPr lang="en-US" sz="1200" dirty="0" smtClean="0"/>
              <a:t>4)The </a:t>
            </a:r>
            <a:r>
              <a:rPr lang="en-US" sz="1200" dirty="0"/>
              <a:t>CLE liaises with the Body of Benchers in 	matters of training, policy and conditions for 	admission to the Bar of aspirants.</a:t>
            </a:r>
          </a:p>
          <a:p>
            <a:r>
              <a:rPr lang="en-US" sz="1200" dirty="0" smtClean="0"/>
              <a:t>5)Prescribed </a:t>
            </a:r>
            <a:r>
              <a:rPr lang="en-US" sz="1200" dirty="0"/>
              <a:t>conditions which a Universities must comply with before its products are eligible for 	admission into the Nigerian Law School.</a:t>
            </a:r>
          </a:p>
          <a:p>
            <a:r>
              <a:rPr lang="en-US" sz="1200" dirty="0" smtClean="0"/>
              <a:t>6)The </a:t>
            </a:r>
            <a:r>
              <a:rPr lang="en-US" sz="1200" dirty="0"/>
              <a:t>Council is empowered to perform incidental matters in furtherance of its 	establishment. See OKONJO </a:t>
            </a:r>
            <a:r>
              <a:rPr lang="en-US" sz="1200" dirty="0" err="1"/>
              <a:t>vs</a:t>
            </a:r>
            <a:r>
              <a:rPr lang="en-US" sz="1200" dirty="0"/>
              <a:t> CLE (1979) Digest of Appeal Cases 28</a:t>
            </a:r>
          </a:p>
          <a:p>
            <a:pPr algn="ctr"/>
            <a:r>
              <a:rPr lang="en-US" sz="1200" dirty="0"/>
              <a:t>National Judicial Council</a:t>
            </a:r>
          </a:p>
          <a:p>
            <a:r>
              <a:rPr lang="en-US" sz="1200" dirty="0"/>
              <a:t>Established by S. 153 of 1999 CFRN</a:t>
            </a:r>
          </a:p>
          <a:p>
            <a:r>
              <a:rPr lang="en-US" sz="1200" dirty="0"/>
              <a:t>The 3</a:t>
            </a:r>
            <a:r>
              <a:rPr lang="en-US" sz="1200" baseline="30000" dirty="0"/>
              <a:t>rd</a:t>
            </a:r>
            <a:r>
              <a:rPr lang="en-US" sz="1200" dirty="0"/>
              <a:t> Schedule Part 1, paragraph 1 item 20 of the 1999 </a:t>
            </a:r>
            <a:r>
              <a:rPr lang="en-US" sz="1200" dirty="0" smtClean="0"/>
              <a:t>CFRN</a:t>
            </a:r>
          </a:p>
          <a:p>
            <a:pPr algn="ctr"/>
            <a:r>
              <a:rPr lang="en-US" sz="1200" dirty="0"/>
              <a:t>Powers of NJC</a:t>
            </a:r>
          </a:p>
          <a:p>
            <a:r>
              <a:rPr lang="en-US" sz="1200" dirty="0"/>
              <a:t>Recommend appointments of judicial officers to the President/Governors as the case may be;</a:t>
            </a:r>
          </a:p>
          <a:p>
            <a:r>
              <a:rPr lang="en-US" sz="1200" dirty="0"/>
              <a:t>Recommend to the President/Governors the removal of certain categories of judicial officers;</a:t>
            </a:r>
          </a:p>
          <a:p>
            <a:r>
              <a:rPr lang="en-US" sz="1200" dirty="0"/>
              <a:t>Collect, control, and disburse all moneys, capital and recurrent for the Judiciary;</a:t>
            </a:r>
          </a:p>
          <a:p>
            <a:r>
              <a:rPr lang="en-US" sz="1200" dirty="0"/>
              <a:t>Advise the President/Governors on any matter pertaining to the judiciary</a:t>
            </a:r>
          </a:p>
          <a:p>
            <a:r>
              <a:rPr lang="en-US" sz="1200" dirty="0"/>
              <a:t>To exercise disciplinary measures over judicial officers;</a:t>
            </a:r>
          </a:p>
          <a:p>
            <a:r>
              <a:rPr lang="en-US" sz="1200" dirty="0"/>
              <a:t>Control and disburse all monies, capital and recurrent for the services of the Council; and</a:t>
            </a:r>
          </a:p>
          <a:p>
            <a:r>
              <a:rPr lang="en-US" sz="1200" dirty="0"/>
              <a:t>Deal with other matters relating to broad issues of policy and administration</a:t>
            </a:r>
            <a:r>
              <a:rPr lang="en-US" sz="1200" dirty="0" smtClean="0"/>
              <a:t>.</a:t>
            </a:r>
          </a:p>
          <a:p>
            <a:pPr algn="ctr"/>
            <a:r>
              <a:rPr lang="en-US" sz="1200" dirty="0"/>
              <a:t>NIGERIAN BAR ASSOCIATION</a:t>
            </a:r>
          </a:p>
          <a:p>
            <a:r>
              <a:rPr lang="en-US" sz="1200" dirty="0"/>
              <a:t>The NBA is not established by Statute unlike other controlling bodies. However it is a registered association and is recognized by Statute.</a:t>
            </a:r>
          </a:p>
          <a:p>
            <a:r>
              <a:rPr lang="en-US" sz="1200" dirty="0"/>
              <a:t>It is a registered association, with the corporate name “Registered Trustees of Nigerian Bar Association”.  </a:t>
            </a:r>
          </a:p>
          <a:p>
            <a:r>
              <a:rPr lang="en-US" sz="1200" dirty="0"/>
              <a:t>The NBA </a:t>
            </a:r>
            <a:r>
              <a:rPr lang="yo-NG" sz="1200" dirty="0"/>
              <a:t>is a juristic personality and not a juridical personality</a:t>
            </a:r>
            <a:r>
              <a:rPr lang="en-US" sz="1200" dirty="0"/>
              <a:t>. See </a:t>
            </a:r>
            <a:r>
              <a:rPr lang="en-US" sz="1200" dirty="0" err="1"/>
              <a:t>Fawehinmi</a:t>
            </a:r>
            <a:r>
              <a:rPr lang="en-US" sz="1200" dirty="0"/>
              <a:t> v. NBA (No. 2) 1989 2 NSCC 43.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914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Membership of NBA</a:t>
            </a:r>
          </a:p>
          <a:p>
            <a:r>
              <a:rPr lang="en-US" sz="1200" dirty="0"/>
              <a:t>Every person duly enrolled as a legal practitioner in Nigeria is a member of NBA</a:t>
            </a:r>
          </a:p>
          <a:p>
            <a:r>
              <a:rPr lang="en-US" sz="1200" dirty="0"/>
              <a:t>There are full members and honorary members. S. 4 NBA Constitution 2015</a:t>
            </a:r>
          </a:p>
          <a:p>
            <a:pPr algn="ctr"/>
            <a:r>
              <a:rPr lang="en-US" sz="1200" dirty="0"/>
              <a:t>Aims and Objectives of NBA</a:t>
            </a:r>
          </a:p>
          <a:p>
            <a:pPr marL="609600" indent="-609600"/>
            <a:r>
              <a:rPr lang="en-US" sz="1200" dirty="0"/>
              <a:t>S. 3 NBA Constitution 2015 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sz="1200" dirty="0"/>
              <a:t>Maintenance of the honor and independence of the Bar</a:t>
            </a:r>
          </a:p>
          <a:p>
            <a:pPr marL="609600" indent="-609600">
              <a:buFontTx/>
              <a:buAutoNum type="arabicPeriod"/>
            </a:pPr>
            <a:r>
              <a:rPr lang="en-US" sz="1200" dirty="0"/>
              <a:t>Maintenance of the highest standards of professional conduct, etiquette and discipline </a:t>
            </a:r>
          </a:p>
          <a:p>
            <a:pPr marL="609600" indent="-609600">
              <a:buFontTx/>
              <a:buAutoNum type="arabicPeriod"/>
            </a:pPr>
            <a:r>
              <a:rPr lang="en-US" sz="1200" dirty="0"/>
              <a:t>Defense of the Bar in its relations with the judiciary and the executive </a:t>
            </a:r>
          </a:p>
          <a:p>
            <a:pPr marL="0" indent="0">
              <a:buNone/>
            </a:pPr>
            <a:r>
              <a:rPr lang="en-US" sz="1200" dirty="0"/>
              <a:t>4. Promotion of the rule of law</a:t>
            </a:r>
          </a:p>
          <a:p>
            <a:pPr marL="0" indent="0">
              <a:buNone/>
            </a:pPr>
            <a:r>
              <a:rPr lang="en-US" sz="1200" dirty="0"/>
              <a:t>5. Promotion and advancement of legal education, continuing legal education, advocacy and jurisprudence.</a:t>
            </a:r>
          </a:p>
          <a:p>
            <a:pPr marL="0" indent="0">
              <a:buNone/>
            </a:pPr>
            <a:r>
              <a:rPr lang="en-US" sz="1200" dirty="0"/>
              <a:t>6. Improvement of the system of administration of justice, its procedures and arrangement of court business and regular law reporting etc</a:t>
            </a:r>
            <a:r>
              <a:rPr lang="en-US" sz="1200" dirty="0" smtClean="0"/>
              <a:t>.</a:t>
            </a:r>
          </a:p>
          <a:p>
            <a:pPr algn="ctr"/>
            <a:r>
              <a:rPr lang="en-US" sz="1200" dirty="0"/>
              <a:t>Exclusive Rights of Legal Practitioners</a:t>
            </a:r>
          </a:p>
          <a:p>
            <a:r>
              <a:rPr lang="en-US" sz="1200" dirty="0"/>
              <a:t>Appointment as judicial officers, S. 231 (3) for SC, 238 (3) for COA &amp; 271 (3) for HC of the 1999 CFRN</a:t>
            </a:r>
          </a:p>
          <a:p>
            <a:r>
              <a:rPr lang="en-US" sz="1200" dirty="0"/>
              <a:t>Right of audience in court S. 36 (6) (c) of the 1999 CFRN &amp; S. 8 &amp; 22 (1) (d) of LPA Cap L.11 LFN 2004</a:t>
            </a:r>
          </a:p>
          <a:p>
            <a:r>
              <a:rPr lang="en-US" sz="1200" dirty="0"/>
              <a:t>Preparation of documents of Probate or Letters of Administration S. 22 (1) (d) of LPA</a:t>
            </a:r>
          </a:p>
          <a:p>
            <a:r>
              <a:rPr lang="en-US" sz="1200" dirty="0"/>
              <a:t>Preparation of land instruments for a fee and </a:t>
            </a:r>
            <a:r>
              <a:rPr lang="en-US" sz="1200" dirty="0" err="1"/>
              <a:t>conveyancing</a:t>
            </a:r>
            <a:r>
              <a:rPr lang="en-US" sz="1200" dirty="0"/>
              <a:t> S. 22 (1) (d) LPA,</a:t>
            </a:r>
          </a:p>
          <a:p>
            <a:r>
              <a:rPr lang="en-US" sz="1200" dirty="0"/>
              <a:t>Conferment of the rank of Senior Advocates of Nigeria, Section 5 (2) LPA 2004 and;</a:t>
            </a:r>
          </a:p>
          <a:p>
            <a:r>
              <a:rPr lang="en-US" sz="1200" dirty="0"/>
              <a:t>Appointment as Attorney-General of the Federation or State. S 150 &amp; 195 of 1999 CFRN</a:t>
            </a:r>
          </a:p>
          <a:p>
            <a:r>
              <a:rPr lang="en-US" sz="1200" dirty="0"/>
              <a:t>Preparation of Statutory Declaration of compliance under CAMA in incorporation, Section 35 (3) of CAMA  </a:t>
            </a:r>
          </a:p>
          <a:p>
            <a:r>
              <a:rPr lang="en-US" sz="1200" dirty="0"/>
              <a:t>Appointment as a Notary Public. </a:t>
            </a:r>
            <a:r>
              <a:rPr lang="en-US" sz="1200" dirty="0" err="1"/>
              <a:t>Sc</a:t>
            </a:r>
            <a:r>
              <a:rPr lang="en-US" sz="1200" dirty="0"/>
              <a:t> 2 of the Notary Public Act Cap N141 L.F.N. 2010.</a:t>
            </a:r>
          </a:p>
          <a:p>
            <a:pPr algn="ctr"/>
            <a:r>
              <a:rPr lang="en-US" sz="1200" dirty="0"/>
              <a:t>Restrictions on the Rights of a </a:t>
            </a:r>
            <a:r>
              <a:rPr lang="en-US" sz="1200" dirty="0" smtClean="0"/>
              <a:t>Lawyer</a:t>
            </a:r>
          </a:p>
          <a:p>
            <a:r>
              <a:rPr lang="en-US" sz="1200" dirty="0"/>
              <a:t>Engaging in business - Rule 7 RPC 2007 </a:t>
            </a:r>
          </a:p>
          <a:p>
            <a:r>
              <a:rPr lang="en-US" sz="1200" dirty="0"/>
              <a:t>Salaried employment - Rule 8 RPC 2007</a:t>
            </a:r>
          </a:p>
          <a:p>
            <a:r>
              <a:rPr lang="en-US" sz="1200" dirty="0"/>
              <a:t>Non-payment of </a:t>
            </a:r>
            <a:r>
              <a:rPr lang="en-US" sz="1200" dirty="0" err="1"/>
              <a:t>practising</a:t>
            </a:r>
            <a:r>
              <a:rPr lang="en-US" sz="1200" dirty="0"/>
              <a:t> fees - Rule 9 of RPC 2007</a:t>
            </a:r>
          </a:p>
          <a:p>
            <a:r>
              <a:rPr lang="en-US" sz="1200" dirty="0"/>
              <a:t>Use of Stamp and Seal – Rule 10 of RPC 2007</a:t>
            </a:r>
          </a:p>
          <a:p>
            <a:pPr algn="ctr"/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4017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6632"/>
            <a:ext cx="8964488" cy="6741368"/>
          </a:xfrm>
        </p:spPr>
        <p:txBody>
          <a:bodyPr>
            <a:normAutofit lnSpcReduction="10000"/>
          </a:bodyPr>
          <a:lstStyle/>
          <a:p>
            <a:pPr algn="ctr"/>
            <a:endParaRPr lang="en-US" sz="1400" dirty="0"/>
          </a:p>
          <a:p>
            <a:pPr algn="ctr"/>
            <a:r>
              <a:rPr lang="en-US" sz="1400" dirty="0"/>
              <a:t>Restrictions on the Rights of a Lawyer</a:t>
            </a:r>
          </a:p>
          <a:p>
            <a:r>
              <a:rPr lang="en-US" sz="1400" dirty="0"/>
              <a:t>Mandatory Continuing Professional Development </a:t>
            </a:r>
            <a:r>
              <a:rPr lang="en-US" sz="1400" dirty="0" err="1"/>
              <a:t>Programme</a:t>
            </a:r>
            <a:r>
              <a:rPr lang="en-US" sz="1400" dirty="0"/>
              <a:t> (MCPD) - </a:t>
            </a:r>
            <a:r>
              <a:rPr lang="en-GB" sz="1400" dirty="0"/>
              <a:t>Rule 11 of the RPC 2007</a:t>
            </a:r>
            <a:r>
              <a:rPr lang="en-US" sz="1400" dirty="0"/>
              <a:t> </a:t>
            </a:r>
          </a:p>
          <a:p>
            <a:r>
              <a:rPr lang="en-US" sz="1400" dirty="0"/>
              <a:t>Annual </a:t>
            </a:r>
            <a:r>
              <a:rPr lang="en-US" sz="1400" dirty="0" err="1"/>
              <a:t>Practising</a:t>
            </a:r>
            <a:r>
              <a:rPr lang="en-US" sz="1400" dirty="0"/>
              <a:t> Certificate - Rule 12 of RPC 2007</a:t>
            </a:r>
          </a:p>
          <a:p>
            <a:pPr algn="ctr"/>
            <a:r>
              <a:rPr lang="en-US" sz="1400" dirty="0"/>
              <a:t>Restrictions on SAN</a:t>
            </a:r>
          </a:p>
          <a:p>
            <a:r>
              <a:rPr lang="en-US" sz="1400" dirty="0"/>
              <a:t>Sec. 5(8) Legal Practitioners Act  </a:t>
            </a:r>
          </a:p>
          <a:p>
            <a:r>
              <a:rPr lang="en-US" sz="1400" dirty="0"/>
              <a:t>(2)      A Senior Advocate of Nigeria shall not appear as counsel in any civil case before any superior court of record except with a junior or another Senior Advocate of Nigeria Rule 2(1) Senior Advocate of Nigeria (Privileges and Functions) Rules 1990 </a:t>
            </a:r>
          </a:p>
          <a:p>
            <a:r>
              <a:rPr lang="en-US" sz="1400" dirty="0"/>
              <a:t>He cannot take briefs below N400</a:t>
            </a:r>
          </a:p>
          <a:p>
            <a:r>
              <a:rPr lang="en-US" sz="1400" dirty="0"/>
              <a:t>SAN cannot appear in inferior courts in civil cases. See </a:t>
            </a:r>
            <a:r>
              <a:rPr lang="en-US" sz="1400" dirty="0" err="1"/>
              <a:t>Ijesha</a:t>
            </a:r>
            <a:r>
              <a:rPr lang="en-US" sz="1400" dirty="0"/>
              <a:t> </a:t>
            </a:r>
            <a:r>
              <a:rPr lang="en-US" sz="1400" dirty="0" err="1"/>
              <a:t>vs</a:t>
            </a:r>
            <a:r>
              <a:rPr lang="en-US" sz="1400" dirty="0"/>
              <a:t> </a:t>
            </a:r>
            <a:r>
              <a:rPr lang="en-US" sz="1400" dirty="0" err="1"/>
              <a:t>Reg’d</a:t>
            </a:r>
            <a:r>
              <a:rPr lang="en-US" sz="1400" dirty="0"/>
              <a:t> Trustees of ECWA </a:t>
            </a:r>
            <a:endParaRPr lang="en-US" sz="1400" dirty="0" smtClean="0"/>
          </a:p>
          <a:p>
            <a:r>
              <a:rPr lang="en-US" sz="1400" dirty="0"/>
              <a:t>Restrictions on Serving and Retired Judicial Officer</a:t>
            </a:r>
          </a:p>
          <a:p>
            <a:pPr lvl="0"/>
            <a:r>
              <a:rPr lang="en-GB" sz="1400" dirty="0"/>
              <a:t>A judicial officer who has retired shall not practice or </a:t>
            </a:r>
            <a:r>
              <a:rPr lang="yo-NG" sz="1400" dirty="0"/>
              <a:t>appear before a court or </a:t>
            </a:r>
            <a:r>
              <a:rPr lang="en-GB" sz="1400" dirty="0"/>
              <a:t>judicial tribunal in Nigeria as an advocate. S. 292 (2) of 1999 CFRN</a:t>
            </a:r>
            <a:endParaRPr lang="en-US" sz="1400" dirty="0"/>
          </a:p>
          <a:p>
            <a:pPr lvl="0"/>
            <a:r>
              <a:rPr lang="en-GB" sz="1400" dirty="0"/>
              <a:t>A judicial officer who has retired shall not sign any pleading in any court.</a:t>
            </a:r>
            <a:endParaRPr lang="en-US" sz="1400" dirty="0"/>
          </a:p>
          <a:p>
            <a:pPr lvl="0"/>
            <a:r>
              <a:rPr lang="en-US" sz="1400" dirty="0"/>
              <a:t>A</a:t>
            </a:r>
            <a:r>
              <a:rPr lang="yo-NG" sz="1400" dirty="0"/>
              <a:t> retired judicial officer may practise as a legal consultant and solicitor.</a:t>
            </a:r>
            <a:endParaRPr lang="en-US" sz="1400" dirty="0"/>
          </a:p>
          <a:p>
            <a:r>
              <a:rPr lang="en-US" sz="1400" dirty="0"/>
              <a:t>Improper dressing. Rule 45 (2) (b) &amp; (c) RPC</a:t>
            </a:r>
          </a:p>
          <a:p>
            <a:r>
              <a:rPr lang="en-US" sz="1400" dirty="0"/>
              <a:t>Public Officers in Public Service.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effect, the current position of the law is as stated in S. l (PART 1) of the 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5</a:t>
            </a:r>
            <a:r>
              <a:rPr lang="en-GB" sz="1400" baseline="300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th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Schedule of the 1999 Constitution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See the case of Ahmed </a:t>
            </a:r>
            <a:r>
              <a:rPr lang="en-GB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vs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Ahmed (2013) 15 NWLR (Pt. 1377) 274</a:t>
            </a:r>
            <a:endParaRPr lang="en-US" sz="1400" dirty="0"/>
          </a:p>
          <a:p>
            <a:pPr lvl="0" algn="ctr"/>
            <a:r>
              <a:rPr lang="en-US" sz="1400" dirty="0"/>
              <a:t>Impersonating a Lawyer</a:t>
            </a:r>
          </a:p>
          <a:p>
            <a:r>
              <a:rPr lang="en-US" sz="1400" dirty="0"/>
              <a:t>It is a crime to impersonate a lawyer in whatever form. Section 22 (1) of LPA </a:t>
            </a:r>
          </a:p>
          <a:p>
            <a:r>
              <a:rPr lang="en-US" sz="1400" dirty="0"/>
              <a:t>Various ways of impersonating a lawyer are:</a:t>
            </a:r>
          </a:p>
          <a:p>
            <a:r>
              <a:rPr lang="en-US" sz="1400" dirty="0"/>
              <a:t>Appearance in court</a:t>
            </a:r>
          </a:p>
          <a:p>
            <a:r>
              <a:rPr lang="en-US" sz="1400" dirty="0"/>
              <a:t>Preparation of land instruments for a fee</a:t>
            </a:r>
          </a:p>
          <a:p>
            <a:r>
              <a:rPr lang="en-US" sz="1400" dirty="0"/>
              <a:t>Usage of title exclusive to the profession</a:t>
            </a:r>
          </a:p>
          <a:p>
            <a:r>
              <a:rPr lang="en-US" sz="1400" dirty="0"/>
              <a:t>Affixing of the NBA membership stickers </a:t>
            </a:r>
            <a:r>
              <a:rPr lang="en-US" sz="1400" dirty="0" err="1"/>
              <a:t>etc</a:t>
            </a:r>
            <a:endParaRPr lang="en-US" sz="1400" dirty="0"/>
          </a:p>
          <a:p>
            <a:pPr algn="ctr"/>
            <a:r>
              <a:rPr lang="en-US" sz="1400" dirty="0"/>
              <a:t>2022 GUIDELINES SET OUT BY THE LPPC for applicants to the rank of SAN</a:t>
            </a:r>
            <a:r>
              <a:rPr lang="en-US" sz="1400" dirty="0" smtClean="0"/>
              <a:t>.</a:t>
            </a:r>
          </a:p>
          <a:p>
            <a:pPr algn="ctr"/>
            <a:r>
              <a:rPr lang="en-US" sz="1400"/>
              <a:t>Physical Inspection of the Law Office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710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231</TotalTime>
  <Words>679</Words>
  <Application>Microsoft Office PowerPoint</Application>
  <PresentationFormat>On-screen Show (4:3)</PresentationFormat>
  <Paragraphs>143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WEEK 4 – TOPICS/CONTENT</vt:lpstr>
      <vt:lpstr>PowerPoint Presentation</vt:lpstr>
      <vt:lpstr>Functions of LPRC- S. 15(3) LPA 2004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NIGERIAN LAW SCHOOL   ONLINE LECTURE PRESENTATION  PROFESSIONAL ETHICS &amp; SKILLS  Presented by Dr. O. B. Akinola</dc:title>
  <dc:creator>Windows User</dc:creator>
  <cp:lastModifiedBy>NCC</cp:lastModifiedBy>
  <cp:revision>49</cp:revision>
  <dcterms:created xsi:type="dcterms:W3CDTF">2020-04-18T18:23:38Z</dcterms:created>
  <dcterms:modified xsi:type="dcterms:W3CDTF">2025-05-20T14:55:51Z</dcterms:modified>
</cp:coreProperties>
</file>