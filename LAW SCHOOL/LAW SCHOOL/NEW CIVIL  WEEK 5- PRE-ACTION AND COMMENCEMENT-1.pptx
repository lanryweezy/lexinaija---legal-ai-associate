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98" r:id="rId3"/>
    <p:sldId id="29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799" autoAdjust="0"/>
  </p:normalViewPr>
  <p:slideViewPr>
    <p:cSldViewPr snapToGrid="0">
      <p:cViewPr varScale="1">
        <p:scale>
          <a:sx n="77" d="100"/>
          <a:sy n="77" d="100"/>
        </p:scale>
        <p:origin x="504" y="78"/>
      </p:cViewPr>
      <p:guideLst/>
    </p:cSldViewPr>
  </p:slideViewPr>
  <p:outlineViewPr>
    <p:cViewPr>
      <p:scale>
        <a:sx n="33" d="100"/>
        <a:sy n="33" d="100"/>
      </p:scale>
      <p:origin x="0" y="-2329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65C5C-3FD2-4FA2-865A-8BD013028BC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7F12-543A-4C45-BC1D-BE08A9CB8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5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89D01-A16D-4948-B450-EC00BB3F189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4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0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4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7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3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06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4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93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8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6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5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0F5B1-9CF9-4021-86AA-64950C2125F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6547-4776-4D0F-9B2A-399065766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6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CIVIL LITIGATION </a:t>
            </a:r>
            <a:br>
              <a:rPr lang="en-GB" dirty="0" smtClean="0"/>
            </a:br>
            <a:r>
              <a:rPr lang="en-GB" dirty="0" smtClean="0"/>
              <a:t>WEEK 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PRE-ACTION CONSIDERATIONS AND COMMENCEMENT OF ACTIONS IN MAGISTRATES’ COURT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9418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1.Preliminary </a:t>
            </a:r>
            <a:r>
              <a:rPr lang="en-US" dirty="0"/>
              <a:t>consideration before commencing an action or defending an action </a:t>
            </a:r>
            <a:r>
              <a:rPr lang="en-US" dirty="0" err="1"/>
              <a:t>viz</a:t>
            </a:r>
            <a:r>
              <a:rPr lang="en-US" dirty="0"/>
              <a:t>: limitation periods, pre-action notices/conditions precedent, </a:t>
            </a:r>
            <a:r>
              <a:rPr lang="en-US" i="1" dirty="0"/>
              <a:t>locus </a:t>
            </a:r>
            <a:r>
              <a:rPr lang="en-US" i="1" dirty="0" err="1"/>
              <a:t>standi</a:t>
            </a:r>
            <a:r>
              <a:rPr lang="en-US" dirty="0"/>
              <a:t>,  the appropriate venue for an action, cause of action, exhaustion of available remedies and their effect on the jurisdiction of a court, litigation costs, availability of alternative dispute resolution method and pre-action counselling, enforceability of judgment, immunities, Parties and legal capacities, ethics against frivolous actions or avoiding abuse of court process. </a:t>
            </a:r>
          </a:p>
          <a:p>
            <a:pPr marL="0" indent="0">
              <a:buNone/>
            </a:pPr>
            <a:r>
              <a:rPr lang="en-US" dirty="0"/>
              <a:t>2.Reflections on the relevance of the following matters to preliminary considerations: interviewing and counselling skills, letter writing, duty to client, accountability, cost and charges.</a:t>
            </a:r>
          </a:p>
          <a:p>
            <a:pPr marL="0" indent="0">
              <a:buNone/>
            </a:pPr>
            <a:r>
              <a:rPr lang="en-US" dirty="0"/>
              <a:t>3.Commencement of action in the Magistrates Court including the Small Claims Court in Lagos State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09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Outcomes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At </a:t>
            </a:r>
            <a:r>
              <a:rPr lang="en-US" dirty="0"/>
              <a:t>the end of this lesson students would be able to: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. list and explain various matters that need to be considered before commencing or defending an action;</a:t>
            </a:r>
          </a:p>
          <a:p>
            <a:pPr marL="0" indent="0">
              <a:buNone/>
            </a:pPr>
            <a:r>
              <a:rPr lang="en-US" dirty="0"/>
              <a:t>ii. identify preliminary issues in a given case studies;</a:t>
            </a:r>
          </a:p>
          <a:p>
            <a:pPr marL="0" indent="0">
              <a:buNone/>
            </a:pPr>
            <a:r>
              <a:rPr lang="en-US" dirty="0"/>
              <a:t>iii. discuss the relevance of the following subjects to preliminary consideration: interviewing and counselling skills, letter writing, duty to client, accountability, cost and charges; </a:t>
            </a:r>
          </a:p>
          <a:p>
            <a:pPr marL="0" indent="0">
              <a:buNone/>
            </a:pPr>
            <a:r>
              <a:rPr lang="en-US" dirty="0"/>
              <a:t>iv. explain the general principles and procedure for commencing actions in the Magistrates Court and the Small Claims Court of Lagos State</a:t>
            </a:r>
          </a:p>
          <a:p>
            <a:pPr marL="0" indent="0">
              <a:buNone/>
            </a:pPr>
            <a:r>
              <a:rPr lang="en-US" dirty="0"/>
              <a:t>v. draft originating processes in Magistrates Court of Lagos State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18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Preliminary Considerations before Commencement of Actions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544036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Cause of action</a:t>
            </a:r>
          </a:p>
          <a:p>
            <a:pPr marL="0" indent="0">
              <a:buNone/>
            </a:pPr>
            <a:r>
              <a:rPr lang="en-GB" b="1" dirty="0"/>
              <a:t>		Nwosu V APP (2019) LPELR- 49206 (CA); AG 	Adamawa v A G Federation (2014) LPELR -	23221 (SC) </a:t>
            </a:r>
          </a:p>
          <a:p>
            <a:pPr marL="0" indent="0" algn="just">
              <a:buNone/>
            </a:pPr>
            <a:r>
              <a:rPr lang="en-GB" dirty="0"/>
              <a:t>See also </a:t>
            </a:r>
            <a:r>
              <a:rPr lang="en-GB" b="1" i="1" dirty="0" err="1"/>
              <a:t>Oshoboja</a:t>
            </a:r>
            <a:r>
              <a:rPr lang="en-GB" b="1" i="1" dirty="0"/>
              <a:t> v. </a:t>
            </a:r>
            <a:r>
              <a:rPr lang="en-GB" b="1" i="1" dirty="0" err="1"/>
              <a:t>Amuda</a:t>
            </a:r>
            <a:r>
              <a:rPr lang="en-GB" b="1" i="1" dirty="0"/>
              <a:t> (1992) NWLR (pt. 250) 690; Military Administrator of Benue State &amp; ORS v. </a:t>
            </a:r>
            <a:r>
              <a:rPr lang="en-GB" b="1" i="1" dirty="0" err="1"/>
              <a:t>Capt</a:t>
            </a:r>
            <a:r>
              <a:rPr lang="en-GB" b="1" i="1" dirty="0"/>
              <a:t> Clement </a:t>
            </a:r>
            <a:r>
              <a:rPr lang="en-GB" b="1" i="1" dirty="0" err="1"/>
              <a:t>Abayilo</a:t>
            </a:r>
            <a:r>
              <a:rPr lang="en-GB" b="1" i="1" dirty="0"/>
              <a:t> (2001) FWLR (Pt. 45) 602 at 615 </a:t>
            </a:r>
          </a:p>
        </p:txBody>
      </p:sp>
    </p:spTree>
    <p:extLst>
      <p:ext uri="{BB962C8B-B14F-4D97-AF65-F5344CB8AC3E}">
        <p14:creationId xmlns:p14="http://schemas.microsoft.com/office/powerpoint/2010/main" val="1498444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Limitation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44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Parties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029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Exhaustion of available Remedies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Internal mechanisms </a:t>
            </a:r>
          </a:p>
          <a:p>
            <a:r>
              <a:rPr lang="en-GB" dirty="0"/>
              <a:t>Contract term.</a:t>
            </a:r>
          </a:p>
        </p:txBody>
      </p:sp>
    </p:spTree>
    <p:extLst>
      <p:ext uri="{BB962C8B-B14F-4D97-AF65-F5344CB8AC3E}">
        <p14:creationId xmlns:p14="http://schemas.microsoft.com/office/powerpoint/2010/main" val="574715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70656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Availability of Alternative Dispute Resolution 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47800"/>
            <a:ext cx="8229600" cy="5181600"/>
          </a:xfrm>
        </p:spPr>
        <p:txBody>
          <a:bodyPr>
            <a:normAutofit/>
          </a:bodyPr>
          <a:lstStyle/>
          <a:p>
            <a:r>
              <a:rPr lang="en-GB" dirty="0"/>
              <a:t>See Rule 15(3)(d) RPC 2007. </a:t>
            </a:r>
          </a:p>
          <a:p>
            <a:pPr marL="0" indent="0">
              <a:buNone/>
            </a:pPr>
            <a:r>
              <a:rPr lang="en-GB" dirty="0"/>
              <a:t>	</a:t>
            </a:r>
          </a:p>
          <a:p>
            <a:r>
              <a:rPr lang="en-GB" dirty="0"/>
              <a:t>See also ADR screening in Or. 2 R. 7 Abuja Rules, Or. 5 R. 8 Lagos Rules &amp; Section 38(1) Magistrates’ Court Law of Lagos State 2009 on duty of lawyer.</a:t>
            </a:r>
          </a:p>
        </p:txBody>
      </p:sp>
    </p:spTree>
    <p:extLst>
      <p:ext uri="{BB962C8B-B14F-4D97-AF65-F5344CB8AC3E}">
        <p14:creationId xmlns:p14="http://schemas.microsoft.com/office/powerpoint/2010/main" val="28450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Locus </a:t>
            </a:r>
            <a:r>
              <a:rPr lang="en-GB" b="1" dirty="0" err="1"/>
              <a:t>Standi</a:t>
            </a:r>
            <a:r>
              <a:rPr lang="en-GB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292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	‘… sufficient right and/or interest to 	maintain an action...’ </a:t>
            </a:r>
          </a:p>
          <a:p>
            <a:pPr marL="0" indent="0">
              <a:buNone/>
            </a:pPr>
            <a:r>
              <a:rPr lang="en-GB" b="1" i="1" dirty="0"/>
              <a:t>	</a:t>
            </a:r>
            <a:r>
              <a:rPr lang="en-GB" b="1" i="1" dirty="0" err="1"/>
              <a:t>Adetono</a:t>
            </a:r>
            <a:r>
              <a:rPr lang="en-GB" b="1" i="1" dirty="0"/>
              <a:t> &amp; </a:t>
            </a:r>
            <a:r>
              <a:rPr lang="en-GB" b="1" i="1" dirty="0" err="1"/>
              <a:t>Anor</a:t>
            </a:r>
            <a:r>
              <a:rPr lang="en-GB" b="1" i="1" dirty="0"/>
              <a:t>. Zenith Intl Bank </a:t>
            </a:r>
            <a:r>
              <a:rPr lang="en-GB" b="1" i="1" dirty="0" err="1"/>
              <a:t>Plc</a:t>
            </a:r>
            <a:r>
              <a:rPr lang="en-GB" b="1" i="1" dirty="0"/>
              <a:t> 	(2011) LPELR-8237 (SC) </a:t>
            </a:r>
          </a:p>
          <a:p>
            <a:pPr marL="0" indent="0">
              <a:buNone/>
            </a:pPr>
            <a:r>
              <a:rPr lang="en-GB" b="1" i="1" dirty="0"/>
              <a:t>	See also </a:t>
            </a:r>
            <a:r>
              <a:rPr lang="en-GB" b="1" i="1" dirty="0" err="1"/>
              <a:t>Uwazuruonye</a:t>
            </a:r>
            <a:r>
              <a:rPr lang="en-GB" b="1" i="1" dirty="0"/>
              <a:t> v. Gov., Imo State 	(2013) 8 NWLR (Pt.1355) 32 at 57; 	</a:t>
            </a:r>
            <a:r>
              <a:rPr lang="en-GB" b="1" i="1" dirty="0" err="1"/>
              <a:t>Adesanya</a:t>
            </a:r>
            <a:r>
              <a:rPr lang="en-GB" b="1" i="1" dirty="0"/>
              <a:t> v President of the Federal 	Republic &amp; </a:t>
            </a:r>
            <a:r>
              <a:rPr lang="en-GB" b="1" i="1" dirty="0" err="1"/>
              <a:t>Anor</a:t>
            </a:r>
            <a:r>
              <a:rPr lang="en-GB" b="1" i="1" dirty="0"/>
              <a:t> . Cf. Ag Kaduna v Hassan; 	</a:t>
            </a:r>
            <a:r>
              <a:rPr lang="en-GB" b="1" i="1" dirty="0" err="1"/>
              <a:t>Fawehinmi</a:t>
            </a:r>
            <a:r>
              <a:rPr lang="en-GB" b="1" i="1" dirty="0"/>
              <a:t> v </a:t>
            </a:r>
            <a:r>
              <a:rPr lang="en-GB" b="1" i="1" dirty="0" err="1"/>
              <a:t>Akilu</a:t>
            </a:r>
            <a:r>
              <a:rPr lang="en-GB" b="1" i="1" dirty="0"/>
              <a:t>.   </a:t>
            </a:r>
          </a:p>
        </p:txBody>
      </p:sp>
    </p:spTree>
    <p:extLst>
      <p:ext uri="{BB962C8B-B14F-4D97-AF65-F5344CB8AC3E}">
        <p14:creationId xmlns:p14="http://schemas.microsoft.com/office/powerpoint/2010/main" val="2509448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Jurisdiction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29200"/>
          </a:xfrm>
        </p:spPr>
        <p:txBody>
          <a:bodyPr/>
          <a:lstStyle/>
          <a:p>
            <a:r>
              <a:rPr lang="en-GB" dirty="0"/>
              <a:t>Subject matter, financial limit, geographical limit, parties etc.</a:t>
            </a:r>
          </a:p>
          <a:p>
            <a:r>
              <a:rPr lang="en-GB" dirty="0"/>
              <a:t> </a:t>
            </a:r>
            <a:r>
              <a:rPr lang="en-GB" i="1" dirty="0" err="1"/>
              <a:t>Madukolum</a:t>
            </a:r>
            <a:r>
              <a:rPr lang="en-GB" i="1" dirty="0"/>
              <a:t> v </a:t>
            </a:r>
            <a:r>
              <a:rPr lang="en-GB" i="1" dirty="0" err="1"/>
              <a:t>Nkemdilim</a:t>
            </a:r>
            <a:r>
              <a:rPr lang="en-GB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385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See Judicial Divisions and Districts.</a:t>
            </a:r>
          </a:p>
        </p:txBody>
      </p:sp>
    </p:spTree>
    <p:extLst>
      <p:ext uri="{BB962C8B-B14F-4D97-AF65-F5344CB8AC3E}">
        <p14:creationId xmlns:p14="http://schemas.microsoft.com/office/powerpoint/2010/main" val="2543856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Condition Precedent/ Pre action Notice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See s. 12(2)  NNPC Act. </a:t>
            </a:r>
          </a:p>
          <a:p>
            <a:r>
              <a:rPr lang="en-GB" dirty="0"/>
              <a:t>See also Pre-action Certificate/ Protocol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1326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Cost of Litigation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437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Immunity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S. 308 CFRN 1999</a:t>
            </a:r>
          </a:p>
          <a:p>
            <a:r>
              <a:rPr lang="en-GB" dirty="0"/>
              <a:t>DIPA 2004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7769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Enforceability of Judgement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707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2011362"/>
          </a:xfrm>
        </p:spPr>
        <p:txBody>
          <a:bodyPr>
            <a:normAutofit/>
          </a:bodyPr>
          <a:lstStyle/>
          <a:p>
            <a:r>
              <a:rPr lang="en-GB" b="1" dirty="0"/>
              <a:t>Commencement of action in the Magistrates’ Court.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124200"/>
            <a:ext cx="8229600" cy="3429000"/>
          </a:xfrm>
        </p:spPr>
        <p:txBody>
          <a:bodyPr/>
          <a:lstStyle/>
          <a:p>
            <a:pPr marL="0" indent="0" algn="ctr">
              <a:buNone/>
            </a:pPr>
            <a:endParaRPr lang="en-GB" b="1" dirty="0"/>
          </a:p>
          <a:p>
            <a:pPr marL="0" indent="0" algn="r">
              <a:buNone/>
            </a:pPr>
            <a:endParaRPr lang="en-GB" sz="1800" dirty="0">
              <a:solidFill>
                <a:prstClr val="black"/>
              </a:solidFill>
            </a:endParaRPr>
          </a:p>
          <a:p>
            <a:pPr marL="0" indent="0" algn="r">
              <a:buNone/>
            </a:pPr>
            <a:endParaRPr lang="en-GB" sz="1800" dirty="0">
              <a:solidFill>
                <a:prstClr val="black"/>
              </a:solidFill>
            </a:endParaRPr>
          </a:p>
          <a:p>
            <a:pPr marL="0" indent="0" algn="r">
              <a:buNone/>
            </a:pPr>
            <a:endParaRPr lang="en-GB" sz="1800" dirty="0">
              <a:solidFill>
                <a:prstClr val="black"/>
              </a:solidFill>
            </a:endParaRPr>
          </a:p>
          <a:p>
            <a:pPr marL="0" indent="0" algn="r">
              <a:buNone/>
            </a:pPr>
            <a:endParaRPr lang="en-GB" sz="1800" dirty="0">
              <a:solidFill>
                <a:prstClr val="black"/>
              </a:solidFill>
            </a:endParaRPr>
          </a:p>
          <a:p>
            <a:pPr marL="0" indent="0" algn="r">
              <a:buNone/>
            </a:pPr>
            <a:endParaRPr lang="en-GB" sz="1800" dirty="0">
              <a:solidFill>
                <a:prstClr val="black"/>
              </a:solidFill>
            </a:endParaRPr>
          </a:p>
          <a:p>
            <a:pPr marL="0" indent="0" algn="r">
              <a:buNone/>
            </a:pPr>
            <a:endParaRPr lang="en-GB" sz="1800" dirty="0">
              <a:solidFill>
                <a:prstClr val="black"/>
              </a:solidFill>
            </a:endParaRPr>
          </a:p>
          <a:p>
            <a:pPr marL="0" indent="0" algn="r">
              <a:buNone/>
            </a:pPr>
            <a:endParaRPr lang="en-GB" sz="1800" dirty="0">
              <a:solidFill>
                <a:prstClr val="black"/>
              </a:solidFill>
            </a:endParaRPr>
          </a:p>
          <a:p>
            <a:pPr marL="0" indent="0"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376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Applicable Laws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GB" dirty="0"/>
              <a:t>Lagos State Magistrates’ Court Law 2009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Magistrates’ Court (Civil Procedure) Rules 2009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9590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</a:t>
            </a:r>
            <a:r>
              <a:rPr lang="en-GB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521176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Establishment:</a:t>
            </a:r>
          </a:p>
          <a:p>
            <a:pPr>
              <a:buFont typeface="Wingdings" pitchFamily="2" charset="2"/>
              <a:buChar char="ü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Section 2 MCL, 2009, Lagos.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0882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90600"/>
          </a:xfrm>
        </p:spPr>
        <p:txBody>
          <a:bodyPr/>
          <a:lstStyle/>
          <a:p>
            <a:r>
              <a:rPr lang="en-GB" b="1" dirty="0"/>
              <a:t>Jurisdiction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90600"/>
            <a:ext cx="82296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600" b="1" dirty="0"/>
              <a:t>s. 28(1) MCL</a:t>
            </a:r>
            <a:endParaRPr lang="en-GB" sz="2380" dirty="0"/>
          </a:p>
        </p:txBody>
      </p:sp>
    </p:spTree>
    <p:extLst>
      <p:ext uri="{BB962C8B-B14F-4D97-AF65-F5344CB8AC3E}">
        <p14:creationId xmlns:p14="http://schemas.microsoft.com/office/powerpoint/2010/main" val="83409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F9321A-6DC0-B3E9-F145-0B18D9F0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WHERE THE MAGISTRATE COURT HAS NO JURISDICTION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670FD2-14DA-6563-0DB8-7DA000A19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s. 28(7) MCL 2009</a:t>
            </a:r>
          </a:p>
          <a:p>
            <a:pPr marL="571500" indent="-571500">
              <a:buFont typeface="+mj-lt"/>
              <a:buAutoNum type="alphaLcPeriod"/>
            </a:pPr>
            <a:r>
              <a:rPr lang="en-GB" dirty="0"/>
              <a:t>the title to land, or to any interest in land; or </a:t>
            </a:r>
          </a:p>
          <a:p>
            <a:pPr marL="571500" indent="-571500">
              <a:buFont typeface="+mj-lt"/>
              <a:buAutoNum type="alphaLcPeriod"/>
            </a:pPr>
            <a:r>
              <a:rPr lang="en-GB" dirty="0"/>
              <a:t>the validity of any devise, bequest or limitation under any will or settlement.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4264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Pre-Trial Considerations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1"/>
            <a:ext cx="7696200" cy="4525963"/>
          </a:xfrm>
        </p:spPr>
        <p:txBody>
          <a:bodyPr/>
          <a:lstStyle/>
          <a:p>
            <a:pPr marL="400050" indent="-400050">
              <a:buFont typeface="+mj-lt"/>
              <a:buAutoNum type="romanLcPeriod"/>
            </a:pPr>
            <a:r>
              <a:rPr lang="en-GB" dirty="0"/>
              <a:t>Advise the parties on the need for ADR and the process of ADR that may be used.</a:t>
            </a:r>
          </a:p>
          <a:p>
            <a:pPr marL="400050" indent="-400050">
              <a:buFont typeface="+mj-lt"/>
              <a:buAutoNum type="romanLcPeriod"/>
            </a:pPr>
            <a:r>
              <a:rPr lang="en-GB" dirty="0"/>
              <a:t>Write a demand letter before commencing action in all civil proceedings. </a:t>
            </a:r>
            <a:r>
              <a:rPr lang="en-GB" u="sng" dirty="0"/>
              <a:t>S. 38 MCL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3685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PLACE OF INSTITUTION &amp; TRIAL OF SUITS (Or. 1 r. 1 &amp; 2 MCCPRs)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76400"/>
            <a:ext cx="82296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6352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274638"/>
            <a:ext cx="7239000" cy="1143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Mode of Commencement of Action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1600201"/>
            <a:ext cx="7772400" cy="4525963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GB" dirty="0"/>
              <a:t> </a:t>
            </a:r>
            <a:r>
              <a:rPr lang="en-GB" b="1" dirty="0"/>
              <a:t>By Claim  </a:t>
            </a:r>
            <a:r>
              <a:rPr lang="en-GB" dirty="0"/>
              <a:t>(Or. 1 r. 4)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/>
              <a:t>Originating Application </a:t>
            </a:r>
            <a:r>
              <a:rPr lang="en-GB" dirty="0"/>
              <a:t>(Or. 1 r. 8)</a:t>
            </a:r>
          </a:p>
          <a:p>
            <a:pPr marL="514350" indent="-514350">
              <a:buFont typeface="+mj-lt"/>
              <a:buAutoNum type="alphaUcPeriod"/>
            </a:pPr>
            <a:endParaRPr lang="en-GB" dirty="0"/>
          </a:p>
          <a:p>
            <a:pPr marL="514350" indent="-514350">
              <a:buFont typeface="+mj-lt"/>
              <a:buAutoNum type="alphaUcPeriod"/>
            </a:pPr>
            <a:endParaRPr lang="en-GB" dirty="0"/>
          </a:p>
          <a:p>
            <a:pPr marL="514350" indent="-514350">
              <a:buFont typeface="+mj-lt"/>
              <a:buAutoNum type="alphaUcPeriod"/>
            </a:pPr>
            <a:endParaRPr lang="en-GB" dirty="0"/>
          </a:p>
          <a:p>
            <a:pPr marL="0" indent="0" algn="r">
              <a:buNone/>
            </a:pPr>
            <a:endParaRPr lang="en-GB" sz="1800" dirty="0">
              <a:solidFill>
                <a:prstClr val="black"/>
              </a:solidFill>
            </a:endParaRPr>
          </a:p>
          <a:p>
            <a:pPr marL="0" indent="0" algn="r">
              <a:buNone/>
            </a:pPr>
            <a:endParaRPr lang="en-GB" sz="1800" dirty="0">
              <a:solidFill>
                <a:prstClr val="black"/>
              </a:solidFill>
            </a:endParaRPr>
          </a:p>
          <a:p>
            <a:pPr marL="0" indent="0" algn="r">
              <a:buNone/>
            </a:pPr>
            <a:endParaRPr lang="en-GB" sz="18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9661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Action by Claim</a:t>
            </a:r>
            <a:r>
              <a:rPr lang="en-GB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5059362"/>
          </a:xfrm>
        </p:spPr>
        <p:txBody>
          <a:bodyPr>
            <a:normAutofit/>
          </a:bodyPr>
          <a:lstStyle/>
          <a:p>
            <a:r>
              <a:rPr lang="en-GB" dirty="0"/>
              <a:t> </a:t>
            </a:r>
            <a:r>
              <a:rPr lang="en-GB" b="1" dirty="0"/>
              <a:t>Or. 1 r. 4 MCCPRs 2009</a:t>
            </a:r>
          </a:p>
        </p:txBody>
      </p:sp>
    </p:spTree>
    <p:extLst>
      <p:ext uri="{BB962C8B-B14F-4D97-AF65-F5344CB8AC3E}">
        <p14:creationId xmlns:p14="http://schemas.microsoft.com/office/powerpoint/2010/main" val="879950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935162"/>
          </a:xfrm>
        </p:spPr>
        <p:txBody>
          <a:bodyPr/>
          <a:lstStyle/>
          <a:p>
            <a:r>
              <a:rPr lang="en-GB" b="1" dirty="0"/>
              <a:t>Particulars of Claim. </a:t>
            </a:r>
            <a:br>
              <a:rPr lang="en-GB" b="1" dirty="0"/>
            </a:br>
            <a:r>
              <a:rPr lang="en-GB" b="1" dirty="0"/>
              <a:t>How drafted?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692" y="2743201"/>
            <a:ext cx="4510617" cy="3382963"/>
          </a:xfrm>
        </p:spPr>
      </p:pic>
    </p:spTree>
    <p:extLst>
      <p:ext uri="{BB962C8B-B14F-4D97-AF65-F5344CB8AC3E}">
        <p14:creationId xmlns:p14="http://schemas.microsoft.com/office/powerpoint/2010/main" val="922899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73162"/>
          </a:xfrm>
        </p:spPr>
        <p:txBody>
          <a:bodyPr>
            <a:normAutofit fontScale="90000"/>
          </a:bodyPr>
          <a:lstStyle/>
          <a:p>
            <a:r>
              <a:rPr lang="en-GB" dirty="0"/>
              <a:t>Procedure after Particulars is Drafted</a:t>
            </a:r>
            <a:br>
              <a:rPr lang="en-GB" dirty="0"/>
            </a:br>
            <a:r>
              <a:rPr lang="en-GB" b="1" dirty="0"/>
              <a:t>See Or. 1 r. 6 (a)-(d) MCCPRs 2009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81201"/>
            <a:ext cx="8229600" cy="4144963"/>
          </a:xfrm>
        </p:spPr>
        <p:txBody>
          <a:bodyPr/>
          <a:lstStyle/>
          <a:p>
            <a:r>
              <a:rPr lang="en-GB" dirty="0"/>
              <a:t>It is filed and requisite fees paid.  </a:t>
            </a:r>
          </a:p>
          <a:p>
            <a:r>
              <a:rPr lang="en-GB" dirty="0"/>
              <a:t>Registrar enters claim into court book kept for that purpose.</a:t>
            </a:r>
          </a:p>
          <a:p>
            <a:r>
              <a:rPr lang="en-GB" dirty="0"/>
              <a:t>Number action </a:t>
            </a:r>
          </a:p>
          <a:p>
            <a:r>
              <a:rPr lang="en-GB" dirty="0"/>
              <a:t>Direct service and,</a:t>
            </a:r>
          </a:p>
          <a:p>
            <a:r>
              <a:rPr lang="en-GB" dirty="0"/>
              <a:t>Deliver the claim on the date of filing to the Designating Magistrate.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1800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Summons to Issue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Or. 2 r. 1 MCCPRs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u="sng" dirty="0">
                <a:solidFill>
                  <a:srgbClr val="FF0000"/>
                </a:solidFill>
              </a:rPr>
              <a:t>Ordinary Summons</a:t>
            </a:r>
            <a:r>
              <a:rPr lang="en-GB" dirty="0"/>
              <a:t>, (Form 1) unless a 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>
                <a:solidFill>
                  <a:srgbClr val="FF0000"/>
                </a:solidFill>
              </a:rPr>
              <a:t>Summary </a:t>
            </a:r>
            <a:r>
              <a:rPr lang="en-GB" dirty="0">
                <a:solidFill>
                  <a:srgbClr val="FF0000"/>
                </a:solidFill>
              </a:rPr>
              <a:t>Summons </a:t>
            </a:r>
            <a:r>
              <a:rPr lang="en-GB" dirty="0"/>
              <a:t>(FORM 4) is applied for. </a:t>
            </a:r>
          </a:p>
          <a:p>
            <a:pPr marL="514350" indent="-514350">
              <a:buFont typeface="+mj-lt"/>
              <a:buAutoNum type="arabicPeriod"/>
            </a:pPr>
            <a:endParaRPr lang="en-GB" sz="1800" dirty="0"/>
          </a:p>
          <a:p>
            <a:pPr marL="0" indent="0">
              <a:buNone/>
            </a:pPr>
            <a:r>
              <a:rPr lang="en-GB" dirty="0"/>
              <a:t>For a summary summons to be issued, an application letter is required in addition to the claim and particulars of claim. </a:t>
            </a:r>
          </a:p>
        </p:txBody>
      </p:sp>
    </p:spTree>
    <p:extLst>
      <p:ext uri="{BB962C8B-B14F-4D97-AF65-F5344CB8AC3E}">
        <p14:creationId xmlns:p14="http://schemas.microsoft.com/office/powerpoint/2010/main" val="596257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When Summary Summon Issues and Exceptions Or. 3 r.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GB" dirty="0"/>
              <a:t>Action for debt or liquidated money demand. See </a:t>
            </a:r>
            <a:r>
              <a:rPr lang="en-GB" i="1" dirty="0" err="1"/>
              <a:t>Maja</a:t>
            </a:r>
            <a:r>
              <a:rPr lang="en-GB" i="1" dirty="0"/>
              <a:t> v </a:t>
            </a:r>
            <a:r>
              <a:rPr lang="en-GB" i="1" dirty="0" err="1"/>
              <a:t>Samouris</a:t>
            </a:r>
            <a:r>
              <a:rPr lang="en-GB" i="1" dirty="0"/>
              <a:t> </a:t>
            </a:r>
            <a:r>
              <a:rPr lang="en-GB" dirty="0"/>
              <a:t>(2002) 2 SCNJ 39. </a:t>
            </a:r>
          </a:p>
          <a:p>
            <a:r>
              <a:rPr lang="en-GB" b="1" dirty="0"/>
              <a:t>Exceptions; 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7946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Time for Appearance to Summons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Court to fix time not to be less than 5 days after service.</a:t>
            </a:r>
          </a:p>
        </p:txBody>
      </p:sp>
    </p:spTree>
    <p:extLst>
      <p:ext uri="{BB962C8B-B14F-4D97-AF65-F5344CB8AC3E}">
        <p14:creationId xmlns:p14="http://schemas.microsoft.com/office/powerpoint/2010/main" val="4162585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Service</a:t>
            </a:r>
            <a:r>
              <a:rPr lang="en-GB" dirty="0"/>
              <a:t> (Or. 5 r.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3340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2473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Life Span of Summons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3 months without option of renewal. See </a:t>
            </a:r>
            <a:r>
              <a:rPr lang="en-GB" b="1" dirty="0"/>
              <a:t>Or. 2 r. 3</a:t>
            </a:r>
          </a:p>
          <a:p>
            <a:r>
              <a:rPr lang="en-GB" dirty="0"/>
              <a:t>Note that Summary Summons may be exchanged with ordinary summons before its expiration. </a:t>
            </a:r>
            <a:r>
              <a:rPr lang="en-GB" b="1" dirty="0"/>
              <a:t>Or. 3 r. 9</a:t>
            </a:r>
          </a:p>
        </p:txBody>
      </p:sp>
    </p:spTree>
    <p:extLst>
      <p:ext uri="{BB962C8B-B14F-4D97-AF65-F5344CB8AC3E}">
        <p14:creationId xmlns:p14="http://schemas.microsoft.com/office/powerpoint/2010/main" val="2118985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Options open to Defendant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See </a:t>
            </a:r>
            <a:r>
              <a:rPr lang="en-GB" b="1" dirty="0"/>
              <a:t>Form 4 A</a:t>
            </a:r>
          </a:p>
        </p:txBody>
      </p:sp>
    </p:spTree>
    <p:extLst>
      <p:ext uri="{BB962C8B-B14F-4D97-AF65-F5344CB8AC3E}">
        <p14:creationId xmlns:p14="http://schemas.microsoft.com/office/powerpoint/2010/main" val="24760236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Trial, Evidence &amp; Judgement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29200"/>
          </a:xfrm>
        </p:spPr>
        <p:txBody>
          <a:bodyPr/>
          <a:lstStyle/>
          <a:p>
            <a:r>
              <a:rPr lang="en-GB" dirty="0"/>
              <a:t>Claimant shall Not later than 10 days write to fix date for hearing</a:t>
            </a:r>
          </a:p>
          <a:p>
            <a:r>
              <a:rPr lang="en-GB" dirty="0"/>
              <a:t>Notice of hearing to be served at least 3 days to date fixed for hearing.</a:t>
            </a:r>
          </a:p>
          <a:p>
            <a:r>
              <a:rPr lang="en-GB" dirty="0"/>
              <a:t>Trial to be in open.</a:t>
            </a:r>
          </a:p>
          <a:p>
            <a:r>
              <a:rPr lang="en-GB" dirty="0"/>
              <a:t>Evidence to be oral. </a:t>
            </a:r>
          </a:p>
          <a:p>
            <a:r>
              <a:rPr lang="en-GB" dirty="0"/>
              <a:t>Oral closing address.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b="1" dirty="0">
                <a:solidFill>
                  <a:prstClr val="black"/>
                </a:solidFill>
              </a:rPr>
              <a:t>20 minutes</a:t>
            </a:r>
            <a:endParaRPr lang="en-GB" b="1" dirty="0"/>
          </a:p>
          <a:p>
            <a:r>
              <a:rPr lang="en-GB" dirty="0"/>
              <a:t>Judgment to be in writing.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62455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Originating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where a law states an action be commenced by it.</a:t>
            </a:r>
          </a:p>
        </p:txBody>
      </p:sp>
    </p:spTree>
    <p:extLst>
      <p:ext uri="{BB962C8B-B14F-4D97-AF65-F5344CB8AC3E}">
        <p14:creationId xmlns:p14="http://schemas.microsoft.com/office/powerpoint/2010/main" val="1861813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Small Claims Court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5440362"/>
          </a:xfrm>
        </p:spPr>
        <p:txBody>
          <a:bodyPr>
            <a:normAutofit/>
          </a:bodyPr>
          <a:lstStyle/>
          <a:p>
            <a:r>
              <a:rPr lang="en-GB" dirty="0"/>
              <a:t>Designed to deal with small claims, debt recovery in a simple and inexpensive manner. See </a:t>
            </a:r>
            <a:r>
              <a:rPr lang="en-GB" b="1" dirty="0"/>
              <a:t>Small Claims Practice Direction 2018</a:t>
            </a:r>
          </a:p>
          <a:p>
            <a:r>
              <a:rPr lang="en-GB" dirty="0"/>
              <a:t>Qualification  </a:t>
            </a:r>
          </a:p>
          <a:p>
            <a:pPr lvl="1"/>
            <a:r>
              <a:rPr lang="en-GB" dirty="0"/>
              <a:t>One of claimant resides or carries on business in Lagos</a:t>
            </a:r>
          </a:p>
          <a:p>
            <a:pPr lvl="1"/>
            <a:r>
              <a:rPr lang="en-GB" dirty="0"/>
              <a:t>One of defendant resides or does business in </a:t>
            </a:r>
            <a:r>
              <a:rPr lang="en-GB" dirty="0" err="1"/>
              <a:t>lagos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Cause of action arose wholly or in part in Lagos.</a:t>
            </a:r>
          </a:p>
          <a:p>
            <a:pPr lvl="1"/>
            <a:r>
              <a:rPr lang="en-GB" dirty="0"/>
              <a:t>Liquidated demand not exceeding N5 million</a:t>
            </a:r>
          </a:p>
          <a:p>
            <a:pPr lvl="1"/>
            <a:r>
              <a:rPr lang="en-GB" dirty="0"/>
              <a:t>Must have served demand letter as nearly as in Form SCA 1</a:t>
            </a:r>
          </a:p>
        </p:txBody>
      </p:sp>
    </p:spTree>
    <p:extLst>
      <p:ext uri="{BB962C8B-B14F-4D97-AF65-F5344CB8AC3E}">
        <p14:creationId xmlns:p14="http://schemas.microsoft.com/office/powerpoint/2010/main" val="3463517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Filing &amp; Service (Art. 2,3 4 &amp;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410200"/>
          </a:xfrm>
        </p:spPr>
        <p:txBody>
          <a:bodyPr>
            <a:normAutofit/>
          </a:bodyPr>
          <a:lstStyle/>
          <a:p>
            <a:r>
              <a:rPr lang="en-GB" dirty="0"/>
              <a:t>Commenced by Claim - Prepare and file </a:t>
            </a:r>
            <a:r>
              <a:rPr lang="en-GB" b="1" dirty="0"/>
              <a:t>Small Claims Complaint Form – Form SCA 2</a:t>
            </a:r>
            <a:r>
              <a:rPr lang="en-GB" dirty="0"/>
              <a:t>.</a:t>
            </a:r>
          </a:p>
          <a:p>
            <a:r>
              <a:rPr lang="en-GB" dirty="0"/>
              <a:t>Where claim qualifies, Registrar or person in charge of Registry </a:t>
            </a:r>
            <a:r>
              <a:rPr lang="en-GB" b="1" dirty="0"/>
              <a:t>marks the Claim </a:t>
            </a:r>
            <a:r>
              <a:rPr lang="en-GB" dirty="0"/>
              <a:t>‘QUALIFIED FOR SMALL CLAIMS’ and directs payment of fees.</a:t>
            </a:r>
          </a:p>
          <a:p>
            <a:r>
              <a:rPr lang="en-GB" b="1" dirty="0"/>
              <a:t>Summons</a:t>
            </a:r>
            <a:r>
              <a:rPr lang="en-GB" dirty="0"/>
              <a:t> in Form </a:t>
            </a:r>
            <a:r>
              <a:rPr lang="en-GB" b="1" dirty="0"/>
              <a:t>SCA 3</a:t>
            </a:r>
            <a:r>
              <a:rPr lang="en-GB" dirty="0"/>
              <a:t> is issued.</a:t>
            </a:r>
          </a:p>
          <a:p>
            <a:r>
              <a:rPr lang="en-GB" dirty="0"/>
              <a:t>Within 24 registrar sends file to Designating Magistrate who assigns within 24 hours.</a:t>
            </a:r>
          </a:p>
          <a:p>
            <a:r>
              <a:rPr lang="en-GB" dirty="0"/>
              <a:t>Personal Service to be within 7 days of filing.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786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34962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52600"/>
            <a:ext cx="8229600" cy="4724400"/>
          </a:xfrm>
        </p:spPr>
        <p:txBody>
          <a:bodyPr/>
          <a:lstStyle/>
          <a:p>
            <a:r>
              <a:rPr lang="en-GB" dirty="0"/>
              <a:t>Affidavit of service - Form SCA 6</a:t>
            </a:r>
          </a:p>
          <a:p>
            <a:r>
              <a:rPr lang="en-GB" dirty="0"/>
              <a:t>Affidavit of non service - Form SCA 4. </a:t>
            </a:r>
          </a:p>
          <a:p>
            <a:r>
              <a:rPr lang="en-GB" dirty="0"/>
              <a:t>Forms SCA 6 &amp; 4 must be filed within 2 days of service or non service.</a:t>
            </a:r>
          </a:p>
          <a:p>
            <a:r>
              <a:rPr lang="en-GB" dirty="0"/>
              <a:t>Application for substituted service is in Form SCA 7 </a:t>
            </a:r>
          </a:p>
        </p:txBody>
      </p:sp>
    </p:spTree>
    <p:extLst>
      <p:ext uri="{BB962C8B-B14F-4D97-AF65-F5344CB8AC3E}">
        <p14:creationId xmlns:p14="http://schemas.microsoft.com/office/powerpoint/2010/main" val="12527861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Defence, Admission and Counterclaim</a:t>
            </a:r>
            <a:br>
              <a:rPr lang="en-GB" b="1" dirty="0"/>
            </a:br>
            <a:r>
              <a:rPr lang="en-GB" b="1" dirty="0"/>
              <a:t>(Art. 6,7)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GB" dirty="0"/>
              <a:t>Admission, defence, counterclaim  - Form SCA 5 within 7days of service.</a:t>
            </a:r>
          </a:p>
          <a:p>
            <a:r>
              <a:rPr lang="en-GB" dirty="0"/>
              <a:t>Counterclaim could exceed N5m or N10m the jurisdiction of Magistrate but judgment will </a:t>
            </a:r>
            <a:r>
              <a:rPr lang="en-GB" dirty="0" smtClean="0"/>
              <a:t>not </a:t>
            </a:r>
            <a:r>
              <a:rPr lang="en-GB" dirty="0"/>
              <a:t>exceed N10m.</a:t>
            </a:r>
          </a:p>
          <a:p>
            <a:r>
              <a:rPr lang="en-GB" dirty="0"/>
              <a:t>Counterclaim limited to claimants on the record.</a:t>
            </a:r>
          </a:p>
          <a:p>
            <a:r>
              <a:rPr lang="en-GB" dirty="0"/>
              <a:t>Reply to defence, counterclaim may be filed in 5 days after service.</a:t>
            </a:r>
          </a:p>
        </p:txBody>
      </p:sp>
    </p:spTree>
    <p:extLst>
      <p:ext uri="{BB962C8B-B14F-4D97-AF65-F5344CB8AC3E}">
        <p14:creationId xmlns:p14="http://schemas.microsoft.com/office/powerpoint/2010/main" val="41679125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Hearing, Judgment &amp; Appeals</a:t>
            </a:r>
            <a:br>
              <a:rPr lang="en-GB" b="1" dirty="0"/>
            </a:br>
            <a:r>
              <a:rPr lang="en-GB" b="1" dirty="0"/>
              <a:t>(Art. 8,9)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GB" dirty="0"/>
              <a:t>See where parties are absent.</a:t>
            </a:r>
          </a:p>
          <a:p>
            <a:r>
              <a:rPr lang="en-GB" dirty="0"/>
              <a:t>Court to encourage ADR at first hearing not exceeding 7days.</a:t>
            </a:r>
          </a:p>
          <a:p>
            <a:r>
              <a:rPr lang="en-GB" dirty="0"/>
              <a:t>Where settlement fails preliminary hearing is held to give hearing direction. </a:t>
            </a:r>
          </a:p>
          <a:p>
            <a:r>
              <a:rPr lang="en-GB" dirty="0"/>
              <a:t>Hearing day to day. Adjournment  allowed only as last resort.</a:t>
            </a:r>
          </a:p>
          <a:p>
            <a:r>
              <a:rPr lang="en-GB" dirty="0"/>
              <a:t>Hearing + settlement not to exceed 30 days.</a:t>
            </a:r>
          </a:p>
          <a:p>
            <a:r>
              <a:rPr lang="en-GB" dirty="0"/>
              <a:t>Judgment 14 days. Filing to judgment not to exceed 60days. Failure not fatal.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54488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Judgment be complied with within 14 days, else it is enforced like regular judgment.</a:t>
            </a:r>
          </a:p>
          <a:p>
            <a:r>
              <a:rPr lang="en-GB" dirty="0"/>
              <a:t>Appeal is in form SCA 8 within 14 days.</a:t>
            </a:r>
          </a:p>
          <a:p>
            <a:r>
              <a:rPr lang="en-GB" dirty="0"/>
              <a:t>Records to be compiled and transmitted within 14 days to Fast Track Court (High Court)</a:t>
            </a:r>
          </a:p>
          <a:p>
            <a:r>
              <a:rPr lang="en-GB" dirty="0"/>
              <a:t>Hearing of appeal is oral on the records and duration of appeal from assignment to judgment not to exceed 30 days.</a:t>
            </a:r>
          </a:p>
        </p:txBody>
      </p:sp>
    </p:spTree>
    <p:extLst>
      <p:ext uri="{BB962C8B-B14F-4D97-AF65-F5344CB8AC3E}">
        <p14:creationId xmlns:p14="http://schemas.microsoft.com/office/powerpoint/2010/main" val="2207903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Interviewing, Counselling Skills, Duty to client, cost, Letter Writing skills etc</a:t>
            </a:r>
            <a:r>
              <a:rPr lang="en-GB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Communication skills</a:t>
            </a:r>
          </a:p>
          <a:p>
            <a:r>
              <a:rPr lang="en-GB" dirty="0"/>
              <a:t>Writing skills</a:t>
            </a:r>
          </a:p>
          <a:p>
            <a:r>
              <a:rPr lang="en-GB" dirty="0"/>
              <a:t>Listening skills</a:t>
            </a:r>
          </a:p>
          <a:p>
            <a:r>
              <a:rPr lang="en-GB" dirty="0"/>
              <a:t>Duty of dedication and devotion, competence etc., r. 14, 15 RPC.</a:t>
            </a:r>
          </a:p>
        </p:txBody>
      </p:sp>
    </p:spTree>
    <p:extLst>
      <p:ext uri="{BB962C8B-B14F-4D97-AF65-F5344CB8AC3E}">
        <p14:creationId xmlns:p14="http://schemas.microsoft.com/office/powerpoint/2010/main" val="206934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1229</Words>
  <Application>Microsoft Office PowerPoint</Application>
  <PresentationFormat>Widescreen</PresentationFormat>
  <Paragraphs>151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Times New Roman</vt:lpstr>
      <vt:lpstr>Wingdings</vt:lpstr>
      <vt:lpstr>Office Theme</vt:lpstr>
      <vt:lpstr>CIVIL LITIGATION  WEEK 5</vt:lpstr>
      <vt:lpstr>Contents </vt:lpstr>
      <vt:lpstr>Outcomes </vt:lpstr>
      <vt:lpstr>Preliminary Considerations before Commencement of Actions </vt:lpstr>
      <vt:lpstr>Limitation Period</vt:lpstr>
      <vt:lpstr>Parties </vt:lpstr>
      <vt:lpstr>Exhaustion of available Remedies </vt:lpstr>
      <vt:lpstr>Availability of Alternative Dispute Resolution  </vt:lpstr>
      <vt:lpstr>Locus Standi </vt:lpstr>
      <vt:lpstr>Jurisdiction </vt:lpstr>
      <vt:lpstr>Venue</vt:lpstr>
      <vt:lpstr>Condition Precedent/ Pre action Notice </vt:lpstr>
      <vt:lpstr>Cost of Litigation </vt:lpstr>
      <vt:lpstr>Immunity </vt:lpstr>
      <vt:lpstr>Enforceability of Judgement </vt:lpstr>
      <vt:lpstr>Commencement of action in the Magistrates’ Court.</vt:lpstr>
      <vt:lpstr>Applicable Laws</vt:lpstr>
      <vt:lpstr>Introduction </vt:lpstr>
      <vt:lpstr>Jurisdiction</vt:lpstr>
      <vt:lpstr>WHERE THE MAGISTRATE COURT HAS NO JURISDICTION</vt:lpstr>
      <vt:lpstr>Pre-Trial Considerations </vt:lpstr>
      <vt:lpstr>PLACE OF INSTITUTION &amp; TRIAL OF SUITS (Or. 1 r. 1 &amp; 2 MCCPRs)</vt:lpstr>
      <vt:lpstr>Mode of Commencement of Action </vt:lpstr>
      <vt:lpstr>Action by Claim </vt:lpstr>
      <vt:lpstr>Particulars of Claim.  How drafted?</vt:lpstr>
      <vt:lpstr>Procedure after Particulars is Drafted See Or. 1 r. 6 (a)-(d) MCCPRs 2009  </vt:lpstr>
      <vt:lpstr>Summons to Issue  Or. 2 r. 1 MCCPRs </vt:lpstr>
      <vt:lpstr>When Summary Summon Issues and Exceptions Or. 3 r. 1</vt:lpstr>
      <vt:lpstr>Time for Appearance to Summons</vt:lpstr>
      <vt:lpstr>Service (Or. 5 r. 1)</vt:lpstr>
      <vt:lpstr>Life Span of Summons </vt:lpstr>
      <vt:lpstr>Options open to Defendant</vt:lpstr>
      <vt:lpstr>Trial, Evidence &amp; Judgement </vt:lpstr>
      <vt:lpstr>Originating Application</vt:lpstr>
      <vt:lpstr>Small Claims Court Procedure</vt:lpstr>
      <vt:lpstr>Filing &amp; Service (Art. 2,3 4 &amp; 5)</vt:lpstr>
      <vt:lpstr>PowerPoint Presentation</vt:lpstr>
      <vt:lpstr>Defence, Admission and Counterclaim (Art. 6,7)</vt:lpstr>
      <vt:lpstr>Hearing, Judgment &amp; Appeals (Art. 8,9) </vt:lpstr>
      <vt:lpstr>PowerPoint Presentation</vt:lpstr>
      <vt:lpstr>Interviewing, Counselling Skills, Duty to client, cost, Letter Writing skills etc.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COMMENT</dc:creator>
  <cp:lastModifiedBy>COMMENT</cp:lastModifiedBy>
  <cp:revision>4</cp:revision>
  <dcterms:created xsi:type="dcterms:W3CDTF">2025-03-30T19:30:33Z</dcterms:created>
  <dcterms:modified xsi:type="dcterms:W3CDTF">2025-05-01T22:09:56Z</dcterms:modified>
</cp:coreProperties>
</file>