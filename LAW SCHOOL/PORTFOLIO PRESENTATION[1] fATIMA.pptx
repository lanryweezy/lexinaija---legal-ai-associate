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7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 snapToGrid="0" showGuides="1">
      <p:cViewPr>
        <p:scale>
          <a:sx n="62" d="100"/>
          <a:sy n="62" d="100"/>
        </p:scale>
        <p:origin x="828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0" name="Rectangle 2"/>
          <p:cNvSpPr>
            <a:spLocks noGrp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31" name="Rectangle 3"/>
          <p:cNvSpPr>
            <a:spLocks noGrp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32" name="Rectangle 4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1048733" name="Rectangle 5"/>
          <p:cNvSpPr>
            <a:spLocks noGrp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34" name="Rectangle 6"/>
          <p:cNvSpPr>
            <a:spLocks noGrp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35" name="Rectangle 7"/>
          <p:cNvSpPr>
            <a:spLocks noGrp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21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2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2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4862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E48EE-D146-42D9-9CDF-4DF4E07E237D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104862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2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20455-8B43-4FC6-9573-EAD516AF6562}" type="slidenum">
              <a:rPr lang="en-US" smtClean="0"/>
              <a:t>‹#›</a:t>
            </a:fld>
            <a:endParaRPr lang="en-US"/>
          </a:p>
        </p:txBody>
      </p:sp>
      <p:cxnSp>
        <p:nvCxnSpPr>
          <p:cNvPr id="314572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3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58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58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E48EE-D146-42D9-9CDF-4DF4E07E237D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104858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8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20455-8B43-4FC6-9573-EAD516AF65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6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97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98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99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0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E48EE-D146-42D9-9CDF-4DF4E07E237D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104870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0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20455-8B43-4FC6-9573-EAD516AF6562}" type="slidenum">
              <a:rPr lang="en-US" smtClean="0"/>
              <a:t>‹#›</a:t>
            </a:fld>
            <a:endParaRPr lang="en-US"/>
          </a:p>
        </p:txBody>
      </p:sp>
      <p:cxnSp>
        <p:nvCxnSpPr>
          <p:cNvPr id="3145730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3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04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05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0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E48EE-D146-42D9-9CDF-4DF4E07E237D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104870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0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20455-8B43-4FC6-9573-EAD516AF65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9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10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1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1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3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14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E48EE-D146-42D9-9CDF-4DF4E07E237D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1048715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16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20455-8B43-4FC6-9573-EAD516AF65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7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E48EE-D146-42D9-9CDF-4DF4E07E237D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104867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7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20455-8B43-4FC6-9573-EAD516AF65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718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71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E48EE-D146-42D9-9CDF-4DF4E07E237D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1048720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1048721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20455-8B43-4FC6-9573-EAD516AF65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2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723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724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25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26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27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/>
          </a:lstStyle>
          <a:p>
            <a:fld id="{A06E48EE-D146-42D9-9CDF-4DF4E07E237D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104872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04872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4820455-8B43-4FC6-9573-EAD516AF65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3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84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85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86" name="Picture Placeholder 2"/>
          <p:cNvSpPr>
            <a:spLocks noGrp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48687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E48EE-D146-42D9-9CDF-4DF4E07E237D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104868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9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20455-8B43-4FC6-9573-EAD516AF65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92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9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E48EE-D146-42D9-9CDF-4DF4E07E237D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104869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9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20455-8B43-4FC6-9573-EAD516AF65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77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78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79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8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E48EE-D146-42D9-9CDF-4DF4E07E237D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104868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8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20455-8B43-4FC6-9573-EAD516AF65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577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578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579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580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06E48EE-D146-42D9-9CDF-4DF4E07E237D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104858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104858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4820455-8B43-4FC6-9573-EAD516AF6562}" type="slidenum">
              <a:rPr lang="en-US" smtClean="0"/>
              <a:t>‹#›</a:t>
            </a:fld>
            <a:endParaRPr lang="en-US"/>
          </a:p>
        </p:txBody>
      </p:sp>
      <p:cxnSp>
        <p:nvCxnSpPr>
          <p:cNvPr id="3145728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Title 1"/>
          <p:cNvSpPr>
            <a:spLocks noGrp="1"/>
          </p:cNvSpPr>
          <p:nvPr>
            <p:ph type="title"/>
          </p:nvPr>
        </p:nvSpPr>
        <p:spPr>
          <a:xfrm>
            <a:off x="838200" y="3148666"/>
            <a:ext cx="10515600" cy="1325563"/>
          </a:xfrm>
        </p:spPr>
        <p:txBody>
          <a:bodyPr>
            <a:normAutofit fontScale="98485"/>
          </a:bodyPr>
          <a:lstStyle/>
          <a:p>
            <a:pPr algn="ctr"/>
            <a:r>
              <a:rPr lang="en-US" sz="6600" b="1" dirty="0"/>
              <a:t>PORTFOLIO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46816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/>
              <a:t>CONTENTS</a:t>
            </a:r>
          </a:p>
        </p:txBody>
      </p:sp>
      <p:sp>
        <p:nvSpPr>
          <p:cNvPr id="1048619" name="Title 1"/>
          <p:cNvSpPr txBox="1"/>
          <p:nvPr/>
        </p:nvSpPr>
        <p:spPr>
          <a:xfrm>
            <a:off x="838199" y="3039035"/>
            <a:ext cx="10753165" cy="14926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COMMENCEMENT AND ATTENDANCE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THE GOALS OF THE EXTERNSHIP PROGRAMME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SKILLS ACQUIRED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ETHICS IN COURT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ACTIVITIES WITNESS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OBSERVATION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REMARK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CONCLUSION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RECOMMENDATION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Title 1"/>
          <p:cNvSpPr>
            <a:spLocks noGrp="1"/>
          </p:cNvSpPr>
          <p:nvPr>
            <p:ph type="ctrTitle"/>
          </p:nvPr>
        </p:nvSpPr>
        <p:spPr>
          <a:xfrm>
            <a:off x="2719342" y="1426895"/>
            <a:ext cx="9144000" cy="2387600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 A REPORT ON THE COURT AND LAW  OFFICE ATTACHMENT</a:t>
            </a:r>
            <a:br>
              <a:rPr lang="en-US" sz="4000" b="1" dirty="0">
                <a:latin typeface="Times New Roman" pitchFamily="18" charset="0"/>
                <a:cs typeface="Times New Roman" pitchFamily="18" charset="0"/>
              </a:rPr>
            </a:br>
            <a:br>
              <a:rPr lang="en-US" sz="4000" b="1" dirty="0">
                <a:latin typeface="Times New Roman" pitchFamily="18" charset="0"/>
                <a:cs typeface="Times New Roman" pitchFamily="18" charset="0"/>
              </a:rPr>
            </a:br>
            <a:br>
              <a:rPr lang="en-US" sz="40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PRESENTED BY</a:t>
            </a:r>
            <a:br>
              <a:rPr lang="en-US" sz="4000" b="1" dirty="0">
                <a:latin typeface="Times New Roman" pitchFamily="18" charset="0"/>
                <a:cs typeface="Times New Roman" pitchFamily="18" charset="0"/>
              </a:rPr>
            </a:br>
            <a:br>
              <a:rPr lang="en-US" sz="4000" b="1" dirty="0">
                <a:latin typeface="Times New Roman" pitchFamily="18" charset="0"/>
                <a:cs typeface="Times New Roman" pitchFamily="18" charset="0"/>
              </a:rPr>
            </a:br>
            <a:br>
              <a:rPr lang="en-US" sz="40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NAME: </a:t>
            </a:r>
            <a:r>
              <a:rPr lang="en-GB" sz="4000" b="1" dirty="0">
                <a:latin typeface="Times New Roman" pitchFamily="18" charset="0"/>
                <a:cs typeface="Times New Roman" pitchFamily="18" charset="0"/>
              </a:rPr>
              <a:t>ADAMU FATIMA MIRACLE</a:t>
            </a:r>
            <a:br>
              <a:rPr lang="en-US" sz="40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REG NO:  </a:t>
            </a:r>
            <a:r>
              <a:rPr lang="en-GB" sz="4000" b="1" dirty="0">
                <a:latin typeface="Times New Roman" pitchFamily="18" charset="0"/>
                <a:cs typeface="Times New Roman" pitchFamily="18" charset="0"/>
              </a:rPr>
              <a:t>786</a:t>
            </a:r>
            <a:endParaRPr lang="en-AU" alt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28" name="Title 1"/>
          <p:cNvSpPr txBox="1"/>
          <p:nvPr/>
        </p:nvSpPr>
        <p:spPr>
          <a:xfrm>
            <a:off x="2347680" y="5486398"/>
            <a:ext cx="9144000" cy="80836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CAMPUS: </a:t>
            </a:r>
            <a:r>
              <a:rPr lang="en-GB" sz="4000" b="1" dirty="0">
                <a:latin typeface="Times New Roman" pitchFamily="18" charset="0"/>
                <a:cs typeface="Times New Roman" pitchFamily="18" charset="0"/>
              </a:rPr>
              <a:t>YENOGOA </a:t>
            </a:r>
            <a:r>
              <a:rPr lang="en-AU" altLang="en-US" sz="4000" b="1" dirty="0">
                <a:latin typeface="Times New Roman" pitchFamily="18" charset="0"/>
                <a:cs typeface="Times New Roman" pitchFamily="18" charset="0"/>
              </a:rPr>
              <a:t>CAMPUS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Title 1"/>
          <p:cNvSpPr>
            <a:spLocks noGrp="1"/>
          </p:cNvSpPr>
          <p:nvPr>
            <p:ph type="title"/>
          </p:nvPr>
        </p:nvSpPr>
        <p:spPr>
          <a:xfrm>
            <a:off x="468122" y="1935022"/>
            <a:ext cx="10515600" cy="1325563"/>
          </a:xfrm>
        </p:spPr>
        <p:txBody>
          <a:bodyPr>
            <a:noAutofit/>
          </a:bodyPr>
          <a:lstStyle/>
          <a:p>
            <a:pPr marL="2797175" indent="-2339975" algn="just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NAME OF COURT:</a:t>
            </a:r>
            <a:r>
              <a:rPr lang="en-GB" sz="3200" b="1" dirty="0">
                <a:latin typeface="Times New Roman" pitchFamily="18" charset="0"/>
                <a:cs typeface="Times New Roman" pitchFamily="18" charset="0"/>
              </a:rPr>
              <a:t> HIGH COURT 55, ASOKORO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30" name="Title 1"/>
          <p:cNvSpPr txBox="1"/>
          <p:nvPr/>
        </p:nvSpPr>
        <p:spPr>
          <a:xfrm>
            <a:off x="1273935" y="50464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COMMENCEMENT AND ATTENDANCE</a:t>
            </a:r>
          </a:p>
        </p:txBody>
      </p:sp>
      <p:sp>
        <p:nvSpPr>
          <p:cNvPr id="1048631" name="Title 1"/>
          <p:cNvSpPr txBox="1"/>
          <p:nvPr/>
        </p:nvSpPr>
        <p:spPr>
          <a:xfrm>
            <a:off x="838200" y="237575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797175" indent="-2339975" algn="just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NAME OF JUDGE: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HON. JUSTICE </a:t>
            </a:r>
            <a:r>
              <a:rPr lang="en-GB" sz="3200" dirty="0">
                <a:latin typeface="Times New Roman" pitchFamily="18" charset="0"/>
                <a:cs typeface="Times New Roman" pitchFamily="18" charset="0"/>
              </a:rPr>
              <a:t>B.M.BASSI</a:t>
            </a:r>
            <a:endParaRPr lang="en-AU" alt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32" name="Title 1"/>
          <p:cNvSpPr txBox="1"/>
          <p:nvPr/>
        </p:nvSpPr>
        <p:spPr>
          <a:xfrm>
            <a:off x="468122" y="411400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797175" indent="-2339975" algn="just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DURATION: FIVE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WEEKS</a:t>
            </a:r>
          </a:p>
        </p:txBody>
      </p:sp>
      <p:sp>
        <p:nvSpPr>
          <p:cNvPr id="1048633" name="Title 1"/>
          <p:cNvSpPr txBox="1"/>
          <p:nvPr/>
        </p:nvSpPr>
        <p:spPr>
          <a:xfrm>
            <a:off x="562251" y="512142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797175" indent="-2339975" algn="just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ABSENT: 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NIL</a:t>
            </a:r>
            <a:r>
              <a:rPr lang="en-GB" sz="3200" dirty="0">
                <a:latin typeface="Times New Roman" pitchFamily="18" charset="0"/>
                <a:cs typeface="Times New Roman" pitchFamily="18" charset="0"/>
              </a:rPr>
              <a:t> (Except for Public Holiday)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Title 1"/>
          <p:cNvSpPr txBox="1">
            <a:spLocks noGrp="1"/>
          </p:cNvSpPr>
          <p:nvPr>
            <p:ph type="title"/>
          </p:nvPr>
        </p:nvSpPr>
        <p:spPr>
          <a:xfrm>
            <a:off x="354107" y="1645069"/>
            <a:ext cx="10515600" cy="10115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196975" indent="-739775" algn="just">
              <a:buFont typeface="Arial" charset="0"/>
              <a:buChar char="•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DEVELOP THE EXTERNS LAWYERING SKILLS</a:t>
            </a:r>
          </a:p>
        </p:txBody>
      </p:sp>
      <p:sp>
        <p:nvSpPr>
          <p:cNvPr id="1048635" name="Title 1"/>
          <p:cNvSpPr txBox="1"/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797175" indent="-2339975" algn="just"/>
            <a:r>
              <a:rPr lang="en-US" sz="3200" b="1">
                <a:latin typeface="Times New Roman" pitchFamily="18" charset="0"/>
                <a:cs typeface="Times New Roman" pitchFamily="18" charset="0"/>
              </a:rPr>
              <a:t>THE GOALS OF THE EXTERNSHIP PROGRAMME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36" name="Title 1"/>
          <p:cNvSpPr txBox="1"/>
          <p:nvPr/>
        </p:nvSpPr>
        <p:spPr>
          <a:xfrm>
            <a:off x="354107" y="2688443"/>
            <a:ext cx="10515600" cy="10115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196975" indent="-739775" algn="just">
              <a:buFont typeface="Arial" charset="0"/>
              <a:buChar char="•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THE EXTERNS UNDERSTAND VARIOUS ASPECT OF THE LEGAL PROFESSION</a:t>
            </a:r>
          </a:p>
        </p:txBody>
      </p:sp>
      <p:sp>
        <p:nvSpPr>
          <p:cNvPr id="1048637" name="Title 1"/>
          <p:cNvSpPr txBox="1"/>
          <p:nvPr/>
        </p:nvSpPr>
        <p:spPr>
          <a:xfrm>
            <a:off x="354107" y="4025970"/>
            <a:ext cx="10515600" cy="10115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196975" indent="-739775" algn="just">
              <a:buFont typeface="Arial" charset="0"/>
              <a:buChar char="•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INCULCATE IN THE EXTERNS A SENSE OF PROFESSIONAL RESPONSIBILITY AND VALUE</a:t>
            </a:r>
            <a:br>
              <a:rPr lang="en-US" sz="3200" dirty="0">
                <a:latin typeface="Times New Roman" pitchFamily="18" charset="0"/>
                <a:cs typeface="Times New Roman" pitchFamily="18" charset="0"/>
              </a:rPr>
            </a:b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38" name="Title 1"/>
          <p:cNvSpPr txBox="1"/>
          <p:nvPr/>
        </p:nvSpPr>
        <p:spPr>
          <a:xfrm>
            <a:off x="354107" y="4978446"/>
            <a:ext cx="10515600" cy="10115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196975" indent="-739775" algn="just">
              <a:buFont typeface="Arial" charset="0"/>
              <a:buChar char="•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DEVELOP THE EXTERNS ABILITY TO REFLECT AND LEARN FROM THEIR EXPERIENCE.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9922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SKILL ACQUIRED</a:t>
            </a:r>
            <a:endParaRPr lang="en-US" b="1" dirty="0"/>
          </a:p>
        </p:txBody>
      </p:sp>
      <p:sp>
        <p:nvSpPr>
          <p:cNvPr id="1048640" name="Title 1"/>
          <p:cNvSpPr txBox="1"/>
          <p:nvPr/>
        </p:nvSpPr>
        <p:spPr>
          <a:xfrm>
            <a:off x="627529" y="1458820"/>
            <a:ext cx="10515600" cy="10199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just">
              <a:buFont typeface="Arial" charset="0"/>
              <a:buChar char="•"/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MOVING OF APPLICATION</a:t>
            </a:r>
            <a:endParaRPr lang="en-US" sz="3000" dirty="0"/>
          </a:p>
        </p:txBody>
      </p:sp>
      <p:sp>
        <p:nvSpPr>
          <p:cNvPr id="1048641" name="Title 1"/>
          <p:cNvSpPr txBox="1"/>
          <p:nvPr/>
        </p:nvSpPr>
        <p:spPr>
          <a:xfrm>
            <a:off x="627529" y="1993246"/>
            <a:ext cx="10515600" cy="10199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just">
              <a:buFont typeface="Arial" charset="0"/>
              <a:buChar char="•"/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ADVOCACY</a:t>
            </a:r>
            <a:endParaRPr lang="en-US" sz="3000" dirty="0"/>
          </a:p>
        </p:txBody>
      </p:sp>
      <p:sp>
        <p:nvSpPr>
          <p:cNvPr id="1048642" name="Title 1"/>
          <p:cNvSpPr txBox="1"/>
          <p:nvPr/>
        </p:nvSpPr>
        <p:spPr>
          <a:xfrm>
            <a:off x="627529" y="3013168"/>
            <a:ext cx="10515600" cy="10199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just">
              <a:buFont typeface="Arial" charset="0"/>
              <a:buChar char="•"/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HOW TO ADDRESS JUDGES, MAGISTRATES AND COLLEAGUES AT THE BAR</a:t>
            </a:r>
            <a:endParaRPr lang="en-US" sz="3000" dirty="0"/>
          </a:p>
        </p:txBody>
      </p:sp>
      <p:sp>
        <p:nvSpPr>
          <p:cNvPr id="1048643" name="Title 1"/>
          <p:cNvSpPr txBox="1"/>
          <p:nvPr/>
        </p:nvSpPr>
        <p:spPr>
          <a:xfrm>
            <a:off x="627529" y="4057555"/>
            <a:ext cx="10515600" cy="10199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6667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just">
              <a:buFont typeface="Arial" charset="0"/>
              <a:buChar char="•"/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READING OF JUDGEMENT AND RULING LANGUAGE OF THE COURT E.G “AS THE COURT PLEASES” MOST OBLIGED MY LORD</a:t>
            </a:r>
            <a:endParaRPr lang="en-US" sz="3000" dirty="0"/>
          </a:p>
        </p:txBody>
      </p:sp>
      <p:sp>
        <p:nvSpPr>
          <p:cNvPr id="1048644" name="Title 1"/>
          <p:cNvSpPr txBox="1"/>
          <p:nvPr/>
        </p:nvSpPr>
        <p:spPr>
          <a:xfrm>
            <a:off x="627529" y="5199528"/>
            <a:ext cx="10515600" cy="10199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just">
              <a:buFont typeface="Arial" charset="0"/>
              <a:buChar char="•"/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HOW TO OBSERVE COURT DECORUM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27499"/>
          </a:xfrm>
        </p:spPr>
        <p:txBody>
          <a:bodyPr>
            <a:normAutofit/>
          </a:bodyPr>
          <a:lstStyle/>
          <a:p>
            <a:pPr algn="ctr"/>
            <a:r>
              <a:rPr lang="en-US" sz="6600" b="1" dirty="0"/>
              <a:t>ETHICS IN COURT</a:t>
            </a:r>
            <a:endParaRPr lang="en-US" sz="11500" b="1" dirty="0"/>
          </a:p>
        </p:txBody>
      </p:sp>
      <p:sp>
        <p:nvSpPr>
          <p:cNvPr id="1048614" name="Title 1"/>
          <p:cNvSpPr txBox="1"/>
          <p:nvPr/>
        </p:nvSpPr>
        <p:spPr>
          <a:xfrm>
            <a:off x="600635" y="1492624"/>
            <a:ext cx="10515600" cy="11274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charset="0"/>
              <a:buChar char="•"/>
            </a:pPr>
            <a:r>
              <a:rPr lang="en-US" sz="4000" b="1" dirty="0"/>
              <a:t>SENIOR LAWYER’S CASE ARE CALLED FIRST</a:t>
            </a:r>
          </a:p>
        </p:txBody>
      </p:sp>
      <p:sp>
        <p:nvSpPr>
          <p:cNvPr id="1048615" name="Title 1"/>
          <p:cNvSpPr txBox="1"/>
          <p:nvPr/>
        </p:nvSpPr>
        <p:spPr>
          <a:xfrm>
            <a:off x="600635" y="2910261"/>
            <a:ext cx="10515600" cy="11274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charset="0"/>
              <a:buChar char="•"/>
            </a:pPr>
            <a:r>
              <a:rPr lang="en-US" sz="4000" b="1" dirty="0"/>
              <a:t>JUNIOR LAWYERS ADDRESSES SENIOR ONES AS “MY SENIOR COLLEAGUE”</a:t>
            </a:r>
          </a:p>
        </p:txBody>
      </p:sp>
      <p:sp>
        <p:nvSpPr>
          <p:cNvPr id="1048616" name="Title 1"/>
          <p:cNvSpPr txBox="1"/>
          <p:nvPr/>
        </p:nvSpPr>
        <p:spPr>
          <a:xfrm>
            <a:off x="600635" y="4327899"/>
            <a:ext cx="10515600" cy="11274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charset="0"/>
              <a:buChar char="•"/>
            </a:pPr>
            <a:r>
              <a:rPr lang="en-US" sz="4000" b="1" dirty="0"/>
              <a:t>JUDGE ROBED WITH A BLACK ROBE &amp; WIG &amp; LAWYERS WITH BLACK ROBE &amp; A WIG.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Title 1"/>
          <p:cNvSpPr>
            <a:spLocks noGrp="1"/>
          </p:cNvSpPr>
          <p:nvPr>
            <p:ph type="title"/>
          </p:nvPr>
        </p:nvSpPr>
        <p:spPr>
          <a:xfrm>
            <a:off x="721659" y="2857313"/>
            <a:ext cx="10515600" cy="1325563"/>
          </a:xfrm>
        </p:spPr>
        <p:txBody>
          <a:bodyPr>
            <a:normAutofit/>
          </a:bodyPr>
          <a:lstStyle/>
          <a:p>
            <a:pPr marL="457200" indent="-457200">
              <a:buFont typeface="Arial" charset="0"/>
              <a:buChar char="•"/>
            </a:pPr>
            <a:r>
              <a:rPr lang="en-US" sz="2800" b="1" dirty="0"/>
              <a:t>LAWYER ENGAGING IN BUSINESS AND PRACTICE OF LAW-RULE 7 RPC</a:t>
            </a:r>
          </a:p>
        </p:txBody>
      </p:sp>
      <p:sp>
        <p:nvSpPr>
          <p:cNvPr id="1048608" name="Title 1"/>
          <p:cNvSpPr txBox="1"/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/>
              <a:t>HIGHLIGHTS OF ESSAY ON ETHICAL DILEMMA</a:t>
            </a:r>
            <a:endParaRPr lang="en-US" b="1" dirty="0"/>
          </a:p>
        </p:txBody>
      </p:sp>
      <p:sp>
        <p:nvSpPr>
          <p:cNvPr id="1048609" name="Title 1"/>
          <p:cNvSpPr txBox="1"/>
          <p:nvPr/>
        </p:nvSpPr>
        <p:spPr>
          <a:xfrm>
            <a:off x="721659" y="168741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charset="0"/>
              <a:buChar char="•"/>
            </a:pPr>
            <a:r>
              <a:rPr lang="en-US" sz="2800" b="1"/>
              <a:t>LAWYER GOING TO CLIENT'S PLACE OF RESIDENCE TO TAKE INSTRUCTIONS – RULE 22 RPC</a:t>
            </a:r>
            <a:endParaRPr lang="en-US" sz="2800" b="1" dirty="0"/>
          </a:p>
        </p:txBody>
      </p:sp>
      <p:sp>
        <p:nvSpPr>
          <p:cNvPr id="1048610" name="Title 1"/>
          <p:cNvSpPr txBox="1"/>
          <p:nvPr/>
        </p:nvSpPr>
        <p:spPr>
          <a:xfrm>
            <a:off x="721659" y="418287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charset="0"/>
              <a:buChar char="•"/>
            </a:pPr>
            <a:r>
              <a:rPr lang="en-US" sz="2800" b="1" dirty="0"/>
              <a:t>LAWYER UPHOLDING AND OBSERVING THE RULE OF LAW - RULE 1 RPC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Title 1"/>
          <p:cNvSpPr>
            <a:spLocks noGrp="1"/>
          </p:cNvSpPr>
          <p:nvPr>
            <p:ph type="title"/>
          </p:nvPr>
        </p:nvSpPr>
        <p:spPr>
          <a:xfrm>
            <a:off x="475129" y="1843088"/>
            <a:ext cx="10515600" cy="1325563"/>
          </a:xfrm>
        </p:spPr>
        <p:txBody>
          <a:bodyPr>
            <a:normAutofit/>
          </a:bodyPr>
          <a:lstStyle/>
          <a:p>
            <a:pPr marL="342900" indent="-342900">
              <a:buFont typeface="Arial" charset="0"/>
              <a:buChar char="•"/>
            </a:pPr>
            <a:r>
              <a:rPr lang="en-US" sz="4000" b="1" dirty="0"/>
              <a:t>ARRAIGNMENT</a:t>
            </a:r>
          </a:p>
        </p:txBody>
      </p:sp>
      <p:sp>
        <p:nvSpPr>
          <p:cNvPr id="1048597" name="Title 1"/>
          <p:cNvSpPr txBox="1"/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b="1"/>
              <a:t>ACTIVITIES WITNESS</a:t>
            </a:r>
            <a:endParaRPr lang="en-US" sz="6600" b="1" dirty="0"/>
          </a:p>
        </p:txBody>
      </p:sp>
      <p:sp>
        <p:nvSpPr>
          <p:cNvPr id="1048598" name="Title 1"/>
          <p:cNvSpPr txBox="1"/>
          <p:nvPr/>
        </p:nvSpPr>
        <p:spPr>
          <a:xfrm>
            <a:off x="475129" y="293678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charset="0"/>
              <a:buChar char="•"/>
            </a:pPr>
            <a:r>
              <a:rPr lang="en-US" sz="4000" b="1" dirty="0"/>
              <a:t>PLEA IN BOTH CIVIL AND CRIMINAL MATTERS</a:t>
            </a:r>
          </a:p>
        </p:txBody>
      </p:sp>
      <p:sp>
        <p:nvSpPr>
          <p:cNvPr id="1048599" name="Title 1"/>
          <p:cNvSpPr txBox="1"/>
          <p:nvPr/>
        </p:nvSpPr>
        <p:spPr>
          <a:xfrm>
            <a:off x="475129" y="400381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charset="0"/>
              <a:buChar char="•"/>
            </a:pPr>
            <a:r>
              <a:rPr lang="en-US" sz="4000" b="1" dirty="0"/>
              <a:t>MOTION APPLICATION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 b="1" dirty="0"/>
              <a:t>OBSERVATION</a:t>
            </a:r>
          </a:p>
        </p:txBody>
      </p:sp>
      <p:sp>
        <p:nvSpPr>
          <p:cNvPr id="1048589" name="Title 1"/>
          <p:cNvSpPr txBox="1"/>
          <p:nvPr/>
        </p:nvSpPr>
        <p:spPr>
          <a:xfrm>
            <a:off x="640976" y="149773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>
              <a:buFont typeface="Arial" charset="0"/>
              <a:buChar char="•"/>
            </a:pPr>
            <a:r>
              <a:rPr lang="en-US" sz="3200" b="1" dirty="0"/>
              <a:t>THE COURTS SITS AT 9:00 AM</a:t>
            </a:r>
          </a:p>
        </p:txBody>
      </p:sp>
      <p:sp>
        <p:nvSpPr>
          <p:cNvPr id="1048590" name="Title 1"/>
          <p:cNvSpPr txBox="1"/>
          <p:nvPr/>
        </p:nvSpPr>
        <p:spPr>
          <a:xfrm>
            <a:off x="640976" y="294289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6875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 algn="just">
              <a:buFont typeface="Arial" charset="0"/>
              <a:buChar char="•"/>
            </a:pPr>
            <a:r>
              <a:rPr lang="en-US" sz="3200" b="1" dirty="0"/>
              <a:t>THE JUDGE SOMETIMES DOES NOT SIT ON FRIDAYS UNLIKE OTHER JUDGES THAT SIT EVERYDAY.</a:t>
            </a:r>
          </a:p>
        </p:txBody>
      </p:sp>
      <p:sp>
        <p:nvSpPr>
          <p:cNvPr id="1048591" name="Title 1"/>
          <p:cNvSpPr txBox="1"/>
          <p:nvPr/>
        </p:nvSpPr>
        <p:spPr>
          <a:xfrm>
            <a:off x="744070" y="45076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 algn="just">
              <a:buFont typeface="Arial" charset="0"/>
              <a:buChar char="•"/>
            </a:pPr>
            <a:r>
              <a:rPr lang="en-US" sz="3200" b="1" dirty="0"/>
              <a:t>THE COURT’S ENVIRONMENT WAS CONDUCIVE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 b="1" dirty="0"/>
              <a:t>REMARK</a:t>
            </a:r>
          </a:p>
        </p:txBody>
      </p:sp>
      <p:sp>
        <p:nvSpPr>
          <p:cNvPr id="1048593" name="Title 1"/>
          <p:cNvSpPr txBox="1"/>
          <p:nvPr/>
        </p:nvSpPr>
        <p:spPr>
          <a:xfrm>
            <a:off x="887506" y="280231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 algn="just">
              <a:buFont typeface="Arial" charset="0"/>
              <a:buChar char="•"/>
            </a:pPr>
            <a:r>
              <a:rPr lang="en-US" sz="2500" b="1" dirty="0"/>
              <a:t>JUDGES ADVICE FOR UP COMING LAWYERS</a:t>
            </a:r>
          </a:p>
        </p:txBody>
      </p:sp>
      <p:sp>
        <p:nvSpPr>
          <p:cNvPr id="1048594" name="Title 1"/>
          <p:cNvSpPr txBox="1"/>
          <p:nvPr/>
        </p:nvSpPr>
        <p:spPr>
          <a:xfrm>
            <a:off x="887506" y="147674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 algn="just">
              <a:buFont typeface="Arial" charset="0"/>
              <a:buChar char="•"/>
            </a:pPr>
            <a:r>
              <a:rPr lang="en-US" sz="2500" b="1" dirty="0"/>
              <a:t>MEETING WITH THE JUDGE FOR CLARIFICATION OF ISSUES DURING PROCEEDINGS</a:t>
            </a:r>
          </a:p>
        </p:txBody>
      </p:sp>
      <p:sp>
        <p:nvSpPr>
          <p:cNvPr id="1048595" name="Title 1"/>
          <p:cNvSpPr txBox="1"/>
          <p:nvPr/>
        </p:nvSpPr>
        <p:spPr>
          <a:xfrm>
            <a:off x="1039906" y="412787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 algn="just">
              <a:buFont typeface="Arial" charset="0"/>
              <a:buChar char="•"/>
            </a:pPr>
            <a:r>
              <a:rPr lang="en-US" sz="2500" b="1" dirty="0"/>
              <a:t>JUDGE OPINION ON CONDUCT OF COUNSEL.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CONCLUSION</a:t>
            </a:r>
          </a:p>
        </p:txBody>
      </p:sp>
      <p:sp>
        <p:nvSpPr>
          <p:cNvPr id="1048601" name="Title 1"/>
          <p:cNvSpPr txBox="1"/>
          <p:nvPr/>
        </p:nvSpPr>
        <p:spPr>
          <a:xfrm>
            <a:off x="654424" y="139158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>
              <a:buFont typeface="Arial" charset="0"/>
              <a:buChar char="•"/>
            </a:pPr>
            <a:r>
              <a:rPr lang="en-US" sz="2600" b="1" dirty="0"/>
              <a:t>THE EXERCISE WAS HIGHLY IMPACTFUL</a:t>
            </a:r>
          </a:p>
        </p:txBody>
      </p:sp>
      <p:sp>
        <p:nvSpPr>
          <p:cNvPr id="1048602" name="Title 1"/>
          <p:cNvSpPr txBox="1"/>
          <p:nvPr/>
        </p:nvSpPr>
        <p:spPr>
          <a:xfrm>
            <a:off x="654424" y="202754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>
              <a:buFont typeface="Arial" charset="0"/>
              <a:buChar char="•"/>
            </a:pPr>
            <a:r>
              <a:rPr lang="en-US" sz="2600" b="1" dirty="0"/>
              <a:t>I APPRECIATED THE PROFESSION MORE</a:t>
            </a:r>
          </a:p>
        </p:txBody>
      </p:sp>
      <p:sp>
        <p:nvSpPr>
          <p:cNvPr id="1048603" name="Title 1"/>
          <p:cNvSpPr txBox="1"/>
          <p:nvPr/>
        </p:nvSpPr>
        <p:spPr>
          <a:xfrm>
            <a:off x="654424" y="261883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>
              <a:buFont typeface="Arial" charset="0"/>
              <a:buChar char="•"/>
            </a:pPr>
            <a:r>
              <a:rPr lang="en-US" sz="2600" b="1" dirty="0"/>
              <a:t>WORDS OF ADVISE FROM THE JUDGE</a:t>
            </a:r>
          </a:p>
        </p:txBody>
      </p:sp>
      <p:sp>
        <p:nvSpPr>
          <p:cNvPr id="1048604" name="Title 1"/>
          <p:cNvSpPr txBox="1"/>
          <p:nvPr/>
        </p:nvSpPr>
        <p:spPr>
          <a:xfrm>
            <a:off x="654424" y="335310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>
              <a:buFont typeface="Arial" charset="0"/>
              <a:buChar char="•"/>
            </a:pPr>
            <a:r>
              <a:rPr lang="en-US" sz="2600" b="1" dirty="0"/>
              <a:t>THE EXTERNSHIP PROGRAMME ENABLES STUDENTS TO UNDERSTAND THE LEGAL PRACTICE</a:t>
            </a:r>
          </a:p>
        </p:txBody>
      </p:sp>
      <p:sp>
        <p:nvSpPr>
          <p:cNvPr id="1048605" name="Title 1"/>
          <p:cNvSpPr txBox="1"/>
          <p:nvPr/>
        </p:nvSpPr>
        <p:spPr>
          <a:xfrm>
            <a:off x="654424" y="510377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>
              <a:buFont typeface="Arial" charset="0"/>
              <a:buChar char="•"/>
            </a:pPr>
            <a:r>
              <a:rPr lang="en-US" sz="2600" b="1" dirty="0"/>
              <a:t>I STRONGLY BELIEVE THAT ANY STUDENT WHO GOES THROUGH THE EXTERNSHIP PROGRAMME WILL BE WELL EQUIPPED FOR PRACTICE AFTER BEING CALL TO THE BAR.</a:t>
            </a:r>
          </a:p>
        </p:txBody>
      </p:sp>
      <p:sp>
        <p:nvSpPr>
          <p:cNvPr id="1048606" name="Title 1"/>
          <p:cNvSpPr txBox="1"/>
          <p:nvPr/>
        </p:nvSpPr>
        <p:spPr>
          <a:xfrm>
            <a:off x="654424" y="412932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>
              <a:buFont typeface="Arial" charset="0"/>
              <a:buChar char="•"/>
            </a:pPr>
            <a:r>
              <a:rPr lang="en-US" sz="2600" b="1" dirty="0"/>
              <a:t>LIGHT ENTERTAINMENT WITH THE JUDGE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RECOMMENDATION</a:t>
            </a:r>
          </a:p>
        </p:txBody>
      </p:sp>
      <p:sp>
        <p:nvSpPr>
          <p:cNvPr id="1048612" name="Title 1"/>
          <p:cNvSpPr txBox="1"/>
          <p:nvPr/>
        </p:nvSpPr>
        <p:spPr>
          <a:xfrm>
            <a:off x="479612" y="157984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>
              <a:buFont typeface="Arial" charset="0"/>
              <a:buChar char="•"/>
            </a:pPr>
            <a:r>
              <a:rPr lang="en-US" sz="3600" b="1" dirty="0"/>
              <a:t>COUNSEL SHOULD BE DEDICATED TO CLIENTS CASE.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/>
              <a:t>SKILL ACQURIED</a:t>
            </a:r>
          </a:p>
        </p:txBody>
      </p:sp>
      <p:sp>
        <p:nvSpPr>
          <p:cNvPr id="1048656" name="Title 1"/>
          <p:cNvSpPr txBox="1"/>
          <p:nvPr/>
        </p:nvSpPr>
        <p:spPr>
          <a:xfrm>
            <a:off x="838200" y="132434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>
              <a:buFont typeface="Arial" charset="0"/>
              <a:buChar char="•"/>
            </a:pPr>
            <a:r>
              <a:rPr lang="en-US" sz="2800" b="1" dirty="0"/>
              <a:t>RESEARCH SKILL</a:t>
            </a:r>
          </a:p>
        </p:txBody>
      </p:sp>
      <p:sp>
        <p:nvSpPr>
          <p:cNvPr id="1048657" name="Title 1"/>
          <p:cNvSpPr txBox="1"/>
          <p:nvPr/>
        </p:nvSpPr>
        <p:spPr>
          <a:xfrm>
            <a:off x="838200" y="228357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>
              <a:buFont typeface="Arial" charset="0"/>
              <a:buChar char="•"/>
            </a:pPr>
            <a:r>
              <a:rPr lang="en-US" sz="2800" b="1" dirty="0"/>
              <a:t>DRAFTING SKILLS</a:t>
            </a:r>
          </a:p>
        </p:txBody>
      </p:sp>
      <p:sp>
        <p:nvSpPr>
          <p:cNvPr id="1048658" name="Title 1"/>
          <p:cNvSpPr txBox="1"/>
          <p:nvPr/>
        </p:nvSpPr>
        <p:spPr>
          <a:xfrm>
            <a:off x="838200" y="437828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>
              <a:buFont typeface="Arial" charset="0"/>
              <a:buChar char="•"/>
            </a:pPr>
            <a:r>
              <a:rPr lang="en-US" sz="2800" b="1" dirty="0"/>
              <a:t>HOW TO OBSERVE COURT DECORUM</a:t>
            </a:r>
          </a:p>
        </p:txBody>
      </p:sp>
      <p:sp>
        <p:nvSpPr>
          <p:cNvPr id="1048659" name="Title 1"/>
          <p:cNvSpPr txBox="1"/>
          <p:nvPr/>
        </p:nvSpPr>
        <p:spPr>
          <a:xfrm>
            <a:off x="735106" y="334787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>
              <a:buFont typeface="Arial" charset="0"/>
              <a:buChar char="•"/>
            </a:pPr>
            <a:r>
              <a:rPr lang="en-US" sz="2800" b="1" dirty="0"/>
              <a:t>COMMUNICATION SKILLS (CLIENT INTERVIEW)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Title 1"/>
          <p:cNvSpPr>
            <a:spLocks noGrp="1"/>
          </p:cNvSpPr>
          <p:nvPr>
            <p:ph type="title"/>
          </p:nvPr>
        </p:nvSpPr>
        <p:spPr>
          <a:xfrm>
            <a:off x="878541" y="275870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8000" b="1" dirty="0"/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409</Words>
  <Application>Microsoft Office PowerPoint</Application>
  <PresentationFormat>Widescreen</PresentationFormat>
  <Paragraphs>65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Retrospect</vt:lpstr>
      <vt:lpstr>PORTFOLIO PRESENTATION</vt:lpstr>
      <vt:lpstr>CONTENTS</vt:lpstr>
      <vt:lpstr> A REPORT ON THE COURT AND LAW  OFFICE ATTACHMENT   PRESENTED BY   NAME: ADAMU FATIMA MIRACLE REG NO:  786</vt:lpstr>
      <vt:lpstr>NAME OF COURT: HIGH COURT 55, ASOKORO</vt:lpstr>
      <vt:lpstr>DEVELOP THE EXTERNS LAWYERING SKILLS</vt:lpstr>
      <vt:lpstr>SKILL ACQUIRED</vt:lpstr>
      <vt:lpstr>ETHICS IN COURT</vt:lpstr>
      <vt:lpstr>LAWYER ENGAGING IN BUSINESS AND PRACTICE OF LAW-RULE 7 RPC</vt:lpstr>
      <vt:lpstr>ARRAIGNMENT</vt:lpstr>
      <vt:lpstr>OBSERVATION</vt:lpstr>
      <vt:lpstr>REMARK</vt:lpstr>
      <vt:lpstr>CONCLUSION</vt:lpstr>
      <vt:lpstr>RECOMMENDATION</vt:lpstr>
      <vt:lpstr>SKILL ACQURIED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REPORT ON THE COURT AND CHAIN OFFICE ATTACHMENT    PRESENTED BY   MUHAMMAD ISHAKU CLE/NLS/KN/23/755</dc:title>
  <dc:creator>PC</dc:creator>
  <cp:lastModifiedBy>Samsudeen Adebayo</cp:lastModifiedBy>
  <cp:revision>2</cp:revision>
  <dcterms:created xsi:type="dcterms:W3CDTF">1900-01-01T00:00:00Z</dcterms:created>
  <dcterms:modified xsi:type="dcterms:W3CDTF">2025-07-29T19:33:00Z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753E275B7312DEBB68A4D86628063D88_33</vt:lpwstr>
  </property>
  <property fmtid="{D5CDD505-2E9C-101B-9397-08002B2CF9AE}" pid="3" name="KSOProductBuildVer">
    <vt:lpwstr>3081-11.33.8</vt:lpwstr>
  </property>
</Properties>
</file>