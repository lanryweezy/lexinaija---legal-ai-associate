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77" r:id="rId4"/>
    <p:sldId id="263" r:id="rId5"/>
    <p:sldId id="267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78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08928-8C26-4626-B9DB-F5E7B7647FE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14B62-1A0A-4DC7-AF0D-9D01BD13884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4159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1.	DUTIES OF LAWYER TO:</a:t>
            </a:r>
            <a:br>
              <a:rPr lang="en-US" sz="4400" b="1" dirty="0"/>
            </a:br>
            <a:r>
              <a:rPr lang="en-US" sz="4400" b="1" dirty="0"/>
              <a:t> 	a.	COURT </a:t>
            </a:r>
            <a:br>
              <a:rPr lang="en-US" sz="4400" b="1" dirty="0"/>
            </a:br>
            <a:r>
              <a:rPr lang="en-US" b="1" dirty="0"/>
              <a:t>	</a:t>
            </a:r>
            <a:r>
              <a:rPr lang="en-US" sz="4400" b="1" dirty="0"/>
              <a:t>b.	STATE</a:t>
            </a:r>
            <a:br>
              <a:rPr lang="en-US" sz="4400" b="1" dirty="0"/>
            </a:br>
            <a:r>
              <a:rPr lang="en-US" b="1" dirty="0"/>
              <a:t>	</a:t>
            </a:r>
            <a:r>
              <a:rPr lang="en-US" sz="4400" b="1" dirty="0"/>
              <a:t>c.	COLLEAGUES, AND</a:t>
            </a:r>
            <a:br>
              <a:rPr lang="en-US" sz="4400" b="1" dirty="0"/>
            </a:br>
            <a:r>
              <a:rPr lang="en-US" sz="4400" b="1" dirty="0"/>
              <a:t> 	d.	 PROFESSION</a:t>
            </a:r>
            <a:br>
              <a:rPr lang="en-US" sz="4400" b="1" dirty="0"/>
            </a:br>
            <a:r>
              <a:rPr lang="en-US" sz="4400" b="1" dirty="0"/>
              <a:t>2.	DUTIES OF COURT TO LAWYER</a:t>
            </a:r>
            <a:br>
              <a:rPr lang="en-US" sz="4400" b="1" dirty="0"/>
            </a:br>
            <a:r>
              <a:rPr lang="en-US" sz="4400" b="1" dirty="0"/>
              <a:t>3. 	CONTEMPT OF COURT BY LAWYERS</a:t>
            </a:r>
            <a:br>
              <a:rPr lang="en-US" sz="4400" b="1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2" y="110837"/>
            <a:ext cx="3034144" cy="886690"/>
          </a:xfrm>
        </p:spPr>
        <p:txBody>
          <a:bodyPr>
            <a:normAutofit/>
          </a:bodyPr>
          <a:lstStyle/>
          <a:p>
            <a:r>
              <a:rPr lang="en-US" sz="1400" b="1" dirty="0"/>
              <a:t>A. DUTIES TO COURT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831273"/>
            <a:ext cx="11145982" cy="5888182"/>
          </a:xfrm>
        </p:spPr>
        <p:txBody>
          <a:bodyPr>
            <a:normAutofit fontScale="95000"/>
          </a:bodyPr>
          <a:lstStyle/>
          <a:p>
            <a:r>
              <a:rPr lang="en-US" sz="1200" dirty="0"/>
              <a:t>Punctuality – 30 mins before sitting.</a:t>
            </a:r>
          </a:p>
          <a:p>
            <a:r>
              <a:rPr lang="en-US" sz="1200" dirty="0"/>
              <a:t>Attend  all sittings unless leave is obtained.</a:t>
            </a:r>
          </a:p>
          <a:p>
            <a:r>
              <a:rPr lang="en-US" sz="1200" dirty="0"/>
              <a:t>Dress properly – Rule 36 RPC.</a:t>
            </a:r>
          </a:p>
          <a:p>
            <a:pPr marL="0" indent="0" algn="just">
              <a:buNone/>
            </a:pPr>
            <a:r>
              <a:rPr lang="en-US" sz="1200" dirty="0"/>
              <a:t>	- Superior Courts of Record (SC, CA, HC, NIC, SCA, CCA):</a:t>
            </a:r>
          </a:p>
          <a:p>
            <a:pPr marL="0" indent="0" algn="just">
              <a:buNone/>
            </a:pPr>
            <a:r>
              <a:rPr lang="en-US" sz="1200" dirty="0"/>
              <a:t>	 a). Men</a:t>
            </a:r>
          </a:p>
          <a:p>
            <a:pPr marL="0" indent="0">
              <a:buNone/>
            </a:pPr>
            <a:r>
              <a:rPr lang="en-US" sz="1200" dirty="0"/>
              <a:t>	- Black or dark - blue 2/3 - piece suit, white collarless shirt, white 	winged collar, white bib 	(elastic/lawn), 2 studs ( back &amp; front), 	black shoes with black stockings.</a:t>
            </a:r>
          </a:p>
          <a:p>
            <a:r>
              <a:rPr lang="en-GB" altLang="en-US" sz="1200" dirty="0"/>
              <a:t>INFERIOR COURTS(MEN)</a:t>
            </a:r>
            <a:endParaRPr lang="en-US" sz="1200" dirty="0"/>
          </a:p>
          <a:p>
            <a:r>
              <a:rPr lang="en-US" sz="1200" dirty="0"/>
              <a:t>White shirt, long black, dark blue or grey tie.</a:t>
            </a:r>
          </a:p>
          <a:p>
            <a:r>
              <a:rPr lang="en-US" sz="1200" dirty="0"/>
              <a:t>No wig &amp; gown.</a:t>
            </a:r>
          </a:p>
          <a:p>
            <a:pPr marL="0" indent="0">
              <a:buNone/>
            </a:pPr>
            <a:r>
              <a:rPr lang="en-GB" altLang="en-US" sz="1200" dirty="0"/>
              <a:t>b. </a:t>
            </a:r>
            <a:r>
              <a:rPr lang="en-US" sz="1200" dirty="0"/>
              <a:t>WOMEN:</a:t>
            </a:r>
          </a:p>
          <a:p>
            <a:pPr marL="0" indent="0">
              <a:buNone/>
            </a:pPr>
            <a:r>
              <a:rPr lang="en-GB" altLang="en-US" sz="1200" dirty="0"/>
              <a:t>*Superior courts</a:t>
            </a:r>
            <a:endParaRPr lang="en-US" sz="1200" dirty="0"/>
          </a:p>
          <a:p>
            <a:r>
              <a:rPr lang="en-US" sz="1200" dirty="0"/>
              <a:t>Black or </a:t>
            </a:r>
            <a:r>
              <a:rPr lang="en-US" sz="1200" dirty="0" err="1"/>
              <a:t>dak</a:t>
            </a:r>
            <a:r>
              <a:rPr lang="en-US" sz="1200" dirty="0"/>
              <a:t> blue suit or straight long sleeve dress or knee-length skirt &amp; jacket, white blouse, white collaret, or ladies’ white band &amp; black shoes.</a:t>
            </a:r>
            <a:r>
              <a:rPr lang="en-GB" altLang="en-US" sz="1200" dirty="0"/>
              <a:t> With robes(wig and gown).</a:t>
            </a:r>
          </a:p>
          <a:p>
            <a:r>
              <a:rPr lang="en-GB" altLang="en-US" sz="1200" dirty="0"/>
              <a:t>inferior courts: same dressing except collaret or white band and wig and </a:t>
            </a:r>
            <a:r>
              <a:rPr lang="en-GB" altLang="en-US" sz="1200" dirty="0" smtClean="0"/>
              <a:t>gown</a:t>
            </a:r>
          </a:p>
          <a:p>
            <a:r>
              <a:rPr lang="en-US" sz="1200" dirty="0"/>
              <a:t>Be conversant with the appropriate mode of addressing judges &amp; colleagues.</a:t>
            </a:r>
          </a:p>
          <a:p>
            <a:pPr marL="0" indent="0" algn="just">
              <a:buNone/>
            </a:pPr>
            <a:r>
              <a:rPr lang="en-US" sz="1200" dirty="0"/>
              <a:t>	- S C/C A   -   My Lords.</a:t>
            </a:r>
          </a:p>
          <a:p>
            <a:pPr marL="0" indent="0" algn="just">
              <a:buNone/>
            </a:pPr>
            <a:r>
              <a:rPr lang="en-US" sz="1200" dirty="0"/>
              <a:t>	- H C Judge (Male)                  -   My Lord/Your Lordship</a:t>
            </a:r>
          </a:p>
          <a:p>
            <a:pPr marL="0" indent="0" algn="just">
              <a:buNone/>
            </a:pPr>
            <a:r>
              <a:rPr lang="en-US" sz="1200" dirty="0"/>
              <a:t>	- H C Judge (Female)             -   </a:t>
            </a:r>
            <a:r>
              <a:rPr lang="en-GB" altLang="en-US" sz="1200" dirty="0"/>
              <a:t>My lord/</a:t>
            </a:r>
            <a:r>
              <a:rPr lang="en-US" sz="1200" dirty="0"/>
              <a:t>My Lady/Your Ladyship</a:t>
            </a:r>
          </a:p>
          <a:p>
            <a:pPr marL="0" indent="0" algn="just">
              <a:buNone/>
            </a:pPr>
            <a:r>
              <a:rPr lang="en-US" sz="1200" dirty="0"/>
              <a:t>	- Magistrates (Male and Female)  - Your Worship.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-1" y="124692"/>
            <a:ext cx="12192001" cy="6553200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4800" b="1" dirty="0" smtClean="0"/>
              <a:t>NB</a:t>
            </a:r>
            <a:r>
              <a:rPr lang="en-US" sz="4800" dirty="0"/>
              <a:t>: Lagos Magistrates -  ‘Your </a:t>
            </a:r>
            <a:r>
              <a:rPr lang="en-US" sz="4800" dirty="0" err="1"/>
              <a:t>Honour</a:t>
            </a:r>
            <a:r>
              <a:rPr lang="en-US" sz="4800" dirty="0"/>
              <a:t>’. </a:t>
            </a:r>
            <a:endParaRPr lang="en-US" sz="4800" dirty="0" smtClean="0"/>
          </a:p>
          <a:p>
            <a:pPr marL="0" indent="0">
              <a:buNone/>
            </a:pPr>
            <a:r>
              <a:rPr lang="en-US" sz="4800" dirty="0"/>
              <a:t> - Area/ C. C. Judge       -  Your </a:t>
            </a:r>
            <a:r>
              <a:rPr lang="en-US" sz="4800" dirty="0" err="1"/>
              <a:t>Honour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  - Tribunals</a:t>
            </a:r>
            <a:r>
              <a:rPr lang="en-GB" altLang="en-US" sz="4800" dirty="0"/>
              <a:t> presided by a Judge</a:t>
            </a:r>
            <a:r>
              <a:rPr lang="en-US" sz="4800" dirty="0"/>
              <a:t>          -  Your Lordship/ ladyship</a:t>
            </a:r>
          </a:p>
          <a:p>
            <a:pPr marL="0" indent="0" algn="just">
              <a:buNone/>
            </a:pPr>
            <a:r>
              <a:rPr lang="en-US" sz="4800" dirty="0"/>
              <a:t> - Legal Practitioner (professional colleagues)  -  My Learned 	Friend.</a:t>
            </a:r>
          </a:p>
          <a:p>
            <a:pPr algn="just"/>
            <a:r>
              <a:rPr lang="en-US" sz="4800" dirty="0"/>
              <a:t> Courtroom decorum - Rule 36 RPC 2023</a:t>
            </a:r>
            <a:r>
              <a:rPr lang="en-US" sz="4800" dirty="0" smtClean="0"/>
              <a:t>.</a:t>
            </a:r>
          </a:p>
          <a:p>
            <a:pPr algn="just"/>
            <a:r>
              <a:rPr lang="en-US" sz="4800" dirty="0"/>
              <a:t>Conduct in court – respect, dignity, and </a:t>
            </a:r>
            <a:r>
              <a:rPr lang="en-US" sz="4800" dirty="0" err="1"/>
              <a:t>honour</a:t>
            </a:r>
            <a:r>
              <a:rPr lang="en-US" sz="4800" dirty="0"/>
              <a:t> -  Rule 31(1) RPC 2023.</a:t>
            </a:r>
          </a:p>
          <a:p>
            <a:pPr algn="just"/>
            <a:r>
              <a:rPr lang="en-US" sz="4800" dirty="0"/>
              <a:t>Be fully prepared to go on with the case.</a:t>
            </a:r>
          </a:p>
          <a:p>
            <a:pPr algn="just"/>
            <a:r>
              <a:rPr lang="en-US" sz="4800" dirty="0"/>
              <a:t> Logical &amp; sequential conduct of cases.</a:t>
            </a:r>
          </a:p>
          <a:p>
            <a:pPr algn="just"/>
            <a:r>
              <a:rPr lang="en-US" sz="4800" dirty="0"/>
              <a:t> Candid and fairness.</a:t>
            </a:r>
          </a:p>
          <a:p>
            <a:pPr algn="just"/>
            <a:r>
              <a:rPr lang="en-US" sz="4800" dirty="0"/>
              <a:t>Avoid trial publicity - Rule 33. </a:t>
            </a:r>
            <a:endParaRPr lang="en-US" sz="4800" dirty="0" smtClean="0"/>
          </a:p>
          <a:p>
            <a:pPr algn="just"/>
            <a:r>
              <a:rPr lang="en-US" sz="4800" dirty="0"/>
              <a:t> Relation with Judges - Rule 34 RPC.</a:t>
            </a:r>
          </a:p>
          <a:p>
            <a:pPr algn="just"/>
            <a:r>
              <a:rPr lang="en-US" sz="4800" dirty="0"/>
              <a:t>Officer of the court - Rule 30 RPC.</a:t>
            </a:r>
          </a:p>
          <a:p>
            <a:pPr algn="just"/>
            <a:r>
              <a:rPr lang="en-US" sz="4800" dirty="0"/>
              <a:t>Avoid perpetration of despicable acts</a:t>
            </a:r>
            <a:r>
              <a:rPr lang="en-US" sz="4800" dirty="0" smtClean="0"/>
              <a:t>.</a:t>
            </a:r>
          </a:p>
          <a:p>
            <a:pPr marL="0" indent="0" algn="just">
              <a:buNone/>
            </a:pPr>
            <a:r>
              <a:rPr lang="en-US" sz="4800" b="1" dirty="0"/>
              <a:t>DUTY IN CRIMINAL CASES - R. 37 </a:t>
            </a:r>
            <a:r>
              <a:rPr lang="en-US" sz="4800" b="1" dirty="0" smtClean="0"/>
              <a:t>RPC</a:t>
            </a:r>
          </a:p>
          <a:p>
            <a:pPr marL="0" indent="0">
              <a:buNone/>
            </a:pPr>
            <a:r>
              <a:rPr lang="en-US" sz="4800" dirty="0"/>
              <a:t>A. DUTY OF PROSECUTING COUNSEL.</a:t>
            </a:r>
          </a:p>
          <a:p>
            <a:pPr algn="just"/>
            <a:r>
              <a:rPr lang="en-US" sz="4800" dirty="0"/>
              <a:t>Not to </a:t>
            </a:r>
            <a:r>
              <a:rPr lang="en-GB" altLang="en-US" sz="4800" dirty="0"/>
              <a:t>secure </a:t>
            </a:r>
            <a:r>
              <a:rPr lang="en-US" sz="4800" dirty="0"/>
              <a:t>convict</a:t>
            </a:r>
            <a:r>
              <a:rPr lang="en-GB" altLang="en-US" sz="4800" dirty="0"/>
              <a:t>ion at all cost</a:t>
            </a:r>
            <a:r>
              <a:rPr lang="en-US" sz="4800" dirty="0"/>
              <a:t> but to see that justice is done. Rule 37(6) RPC 2023.</a:t>
            </a:r>
          </a:p>
          <a:p>
            <a:pPr algn="just"/>
            <a:r>
              <a:rPr lang="en-US" sz="4800" dirty="0"/>
              <a:t> Suppression of facts or secreting of witnesses unethical &amp; unprofessional -  Rule 37(6) RPC.</a:t>
            </a:r>
          </a:p>
          <a:p>
            <a:pPr algn="just"/>
            <a:r>
              <a:rPr lang="en-US" sz="4800" dirty="0"/>
              <a:t>Timely disclosure to defense counsel</a:t>
            </a:r>
          </a:p>
          <a:p>
            <a:pPr marL="0" indent="0" algn="just">
              <a:buNone/>
            </a:pPr>
            <a:r>
              <a:rPr lang="en-US" sz="4800" dirty="0"/>
              <a:t>See: i. </a:t>
            </a:r>
            <a:r>
              <a:rPr lang="en-US" sz="4800" dirty="0" err="1"/>
              <a:t>Atanda</a:t>
            </a:r>
            <a:r>
              <a:rPr lang="en-US" sz="4800" dirty="0"/>
              <a:t> v A.G 1965 NMLR 225 ii. </a:t>
            </a:r>
            <a:r>
              <a:rPr lang="en-US" sz="4800" dirty="0" err="1"/>
              <a:t>Layonu</a:t>
            </a:r>
            <a:r>
              <a:rPr lang="en-US" sz="4800" dirty="0"/>
              <a:t> v State (1967)1 ALL NLR 198, iii. </a:t>
            </a:r>
            <a:r>
              <a:rPr lang="en-US" sz="4800" dirty="0" err="1"/>
              <a:t>Odofin</a:t>
            </a:r>
            <a:r>
              <a:rPr lang="en-US" sz="4800" dirty="0"/>
              <a:t> Bello v State 1967 NMLR, iv. </a:t>
            </a:r>
            <a:r>
              <a:rPr lang="en-US" sz="4800" dirty="0" err="1"/>
              <a:t>Enahoro</a:t>
            </a:r>
            <a:r>
              <a:rPr lang="en-US" sz="4800" dirty="0"/>
              <a:t> v. The State 1965 1 ALL NLR 125</a:t>
            </a:r>
            <a:r>
              <a:rPr lang="en-US" sz="4800" dirty="0" smtClean="0"/>
              <a:t>.</a:t>
            </a:r>
          </a:p>
          <a:p>
            <a:pPr marL="0" indent="0" algn="just">
              <a:buNone/>
            </a:pPr>
            <a:r>
              <a:rPr lang="en-US" sz="4800" b="1" dirty="0"/>
              <a:t>DUTY OF DEFEN</a:t>
            </a:r>
            <a:r>
              <a:rPr lang="en-GB" altLang="en-US" sz="4800" b="1" dirty="0"/>
              <a:t>C</a:t>
            </a:r>
            <a:r>
              <a:rPr lang="en-US" sz="4800" b="1" dirty="0"/>
              <a:t>E </a:t>
            </a:r>
            <a:r>
              <a:rPr lang="en-US" sz="4800" b="1" dirty="0" smtClean="0"/>
              <a:t>COUNSEL</a:t>
            </a:r>
          </a:p>
          <a:p>
            <a:pPr algn="just"/>
            <a:r>
              <a:rPr lang="en-US" sz="4800" dirty="0"/>
              <a:t> Defend the accused regardless of personal opinion as to the guilt. </a:t>
            </a:r>
          </a:p>
          <a:p>
            <a:pPr marL="0" indent="0" algn="just">
              <a:buNone/>
            </a:pPr>
            <a:r>
              <a:rPr lang="en-US" sz="4800" dirty="0"/>
              <a:t>   -  innocent persons, &amp;</a:t>
            </a:r>
          </a:p>
          <a:p>
            <a:pPr marL="0" indent="0" algn="just">
              <a:buNone/>
            </a:pPr>
            <a:r>
              <a:rPr lang="en-GB" altLang="en-US" sz="4800" dirty="0"/>
              <a:t>   </a:t>
            </a:r>
            <a:r>
              <a:rPr lang="en-US" sz="4800" dirty="0"/>
              <a:t>- victims only of suspicious circumstances not to be denied proper </a:t>
            </a:r>
            <a:r>
              <a:rPr lang="en-US" sz="4800" dirty="0" err="1"/>
              <a:t>defence</a:t>
            </a:r>
            <a:r>
              <a:rPr lang="en-US" sz="4800" dirty="0"/>
              <a:t>. </a:t>
            </a:r>
          </a:p>
          <a:p>
            <a:pPr algn="just"/>
            <a:r>
              <a:rPr lang="en-US" sz="4800" dirty="0"/>
              <a:t> Fairly &amp; </a:t>
            </a:r>
            <a:r>
              <a:rPr lang="en-US" sz="4800" dirty="0" err="1"/>
              <a:t>honourably</a:t>
            </a:r>
            <a:r>
              <a:rPr lang="en-US" sz="4800" dirty="0"/>
              <a:t> present every defense permissible by law. </a:t>
            </a:r>
          </a:p>
          <a:p>
            <a:pPr algn="just"/>
            <a:r>
              <a:rPr lang="en-US" sz="4800" dirty="0"/>
              <a:t>No person to be deprived of life or liberty </a:t>
            </a:r>
            <a:r>
              <a:rPr lang="en-GB" altLang="en-US" sz="4800" dirty="0"/>
              <a:t>except</a:t>
            </a:r>
            <a:r>
              <a:rPr lang="en-US" sz="4800" dirty="0"/>
              <a:t> by the due process of law. </a:t>
            </a:r>
          </a:p>
          <a:p>
            <a:pPr marL="0" indent="0" algn="just">
              <a:buNone/>
            </a:pPr>
            <a:endParaRPr lang="en-US" sz="2500" b="1" dirty="0"/>
          </a:p>
          <a:p>
            <a:pPr marL="0" indent="0" algn="just">
              <a:buNone/>
            </a:pPr>
            <a:endParaRPr lang="en-US" sz="2500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83" y="110837"/>
            <a:ext cx="3311235" cy="512618"/>
          </a:xfrm>
        </p:spPr>
        <p:txBody>
          <a:bodyPr>
            <a:normAutofit/>
          </a:bodyPr>
          <a:lstStyle/>
          <a:p>
            <a:r>
              <a:rPr lang="en-US" sz="1200" b="1" dirty="0"/>
              <a:t>DUTY WHEN CLIENT CONFESSES GUILT.</a:t>
            </a:r>
            <a:br>
              <a:rPr lang="en-US" sz="1200" b="1" dirty="0"/>
            </a:br>
            <a:endParaRPr lang="en-US" sz="1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443345"/>
            <a:ext cx="11956473" cy="573361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200" dirty="0"/>
              <a:t>Confidential disclosure of guilt, no withdrawal from the case.</a:t>
            </a:r>
          </a:p>
          <a:p>
            <a:pPr algn="just"/>
            <a:r>
              <a:rPr lang="en-US" sz="1200" dirty="0"/>
              <a:t>Withdraw, if the accused: </a:t>
            </a:r>
          </a:p>
          <a:p>
            <a:pPr marL="0" indent="0" algn="just">
              <a:buNone/>
            </a:pPr>
            <a:r>
              <a:rPr lang="en-GB" altLang="en-US" sz="1200" dirty="0"/>
              <a:t> </a:t>
            </a:r>
            <a:r>
              <a:rPr lang="en-US" sz="1200" dirty="0"/>
              <a:t>a)  insists that he shall give </a:t>
            </a:r>
            <a:r>
              <a:rPr lang="en-GB" altLang="en-US" sz="1200" dirty="0"/>
              <a:t>false </a:t>
            </a:r>
            <a:r>
              <a:rPr lang="en-US" sz="1200" dirty="0"/>
              <a:t>evidence of innocence; or</a:t>
            </a:r>
          </a:p>
          <a:p>
            <a:pPr marL="0" indent="0" algn="just">
              <a:buNone/>
            </a:pPr>
            <a:r>
              <a:rPr lang="en-GB" altLang="en-US" sz="1200" dirty="0"/>
              <a:t> </a:t>
            </a:r>
            <a:r>
              <a:rPr lang="en-US" sz="1200" dirty="0"/>
              <a:t>b) </a:t>
            </a:r>
            <a:r>
              <a:rPr lang="en-GB" altLang="en-US" sz="1200" dirty="0"/>
              <a:t>present a witness to give </a:t>
            </a:r>
            <a:r>
              <a:rPr lang="en-US" sz="1200" dirty="0"/>
              <a:t>false evidence to establish his innocence.</a:t>
            </a:r>
          </a:p>
          <a:p>
            <a:pPr algn="just"/>
            <a:r>
              <a:rPr lang="en-US" sz="1200" dirty="0"/>
              <a:t>  Do not put forward a case which on the prisoner’s confession he knows is false or perjured. See Rule 15(3)(f) RPC 2023</a:t>
            </a:r>
            <a:r>
              <a:rPr 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b="1" dirty="0"/>
              <a:t>DUTY IN CIVIL </a:t>
            </a:r>
            <a:r>
              <a:rPr lang="en-US" sz="1200" b="1" dirty="0" smtClean="0"/>
              <a:t>CASES</a:t>
            </a:r>
          </a:p>
          <a:p>
            <a:pPr marL="0" indent="0">
              <a:buNone/>
            </a:pPr>
            <a:endParaRPr lang="en-US" sz="1200" dirty="0"/>
          </a:p>
          <a:p>
            <a:pPr algn="just"/>
            <a:r>
              <a:rPr lang="en-US" sz="1200" dirty="0"/>
              <a:t>Hopeless case, decline to bring the action- Rule 24(2)(3) RPC, 2023.</a:t>
            </a:r>
          </a:p>
          <a:p>
            <a:pPr algn="just"/>
            <a:r>
              <a:rPr lang="en-US" sz="1200" dirty="0"/>
              <a:t>An abuse of court process to issue a writ with no real cause of action.</a:t>
            </a:r>
          </a:p>
          <a:p>
            <a:pPr algn="just"/>
            <a:r>
              <a:rPr lang="en-US" sz="1200" dirty="0"/>
              <a:t>  </a:t>
            </a:r>
            <a:r>
              <a:rPr lang="en-GB" altLang="en-US" sz="1200" dirty="0"/>
              <a:t>Counsel</a:t>
            </a:r>
            <a:r>
              <a:rPr lang="en-US" sz="1200" dirty="0"/>
              <a:t>  to pay the costs - </a:t>
            </a:r>
            <a:r>
              <a:rPr lang="en-US" sz="1200" dirty="0" err="1"/>
              <a:t>Cocottonpoulous</a:t>
            </a:r>
            <a:r>
              <a:rPr lang="en-US" sz="1200" dirty="0"/>
              <a:t> v P.Z Co Ltd (1965) LLR No. 170;  Lyon &amp; </a:t>
            </a:r>
            <a:r>
              <a:rPr lang="en-US" sz="1200" dirty="0" err="1"/>
              <a:t>Ors</a:t>
            </a:r>
            <a:r>
              <a:rPr lang="en-US" sz="1200" dirty="0"/>
              <a:t> v </a:t>
            </a:r>
            <a:r>
              <a:rPr lang="en-US" sz="1200" dirty="0" err="1"/>
              <a:t>Diri</a:t>
            </a:r>
            <a:r>
              <a:rPr lang="en-US" sz="1200" dirty="0"/>
              <a:t> relating to the </a:t>
            </a:r>
            <a:r>
              <a:rPr lang="en-US" sz="1200" dirty="0" err="1"/>
              <a:t>Bayelsa</a:t>
            </a:r>
            <a:r>
              <a:rPr lang="en-US" sz="1200" dirty="0"/>
              <a:t> State gubernatorial election.</a:t>
            </a:r>
          </a:p>
          <a:p>
            <a:pPr algn="just"/>
            <a:r>
              <a:rPr lang="en-US" sz="1200" dirty="0"/>
              <a:t>Where litigation is advised, refrain from bold and confident assurances.</a:t>
            </a:r>
          </a:p>
          <a:p>
            <a:pPr algn="just"/>
            <a:r>
              <a:rPr lang="en-US" sz="1200" dirty="0"/>
              <a:t> Hopeless case, advise against its continuance but if the client insists on it, </a:t>
            </a:r>
            <a:r>
              <a:rPr lang="en-GB" altLang="en-US" sz="1200" dirty="0"/>
              <a:t>Counsel should withdraw as </a:t>
            </a:r>
            <a:r>
              <a:rPr lang="en-GB" altLang="en-US" sz="1200" dirty="0" err="1"/>
              <a:t>cousel</a:t>
            </a:r>
            <a:r>
              <a:rPr lang="en-GB" altLang="en-US" sz="1200" dirty="0"/>
              <a:t> is not relieved from </a:t>
            </a:r>
            <a:r>
              <a:rPr lang="en-GB" altLang="en-US" sz="1200" dirty="0" err="1"/>
              <a:t>liabiliy</a:t>
            </a:r>
            <a:r>
              <a:rPr lang="en-GB" altLang="en-US" sz="1200" dirty="0"/>
              <a:t> by mere fact that he is following client’s instructions</a:t>
            </a:r>
            <a:r>
              <a:rPr lang="en-US" sz="1200" dirty="0"/>
              <a:t>. See </a:t>
            </a:r>
            <a:r>
              <a:rPr lang="en-GB" altLang="en-US" sz="1200" dirty="0"/>
              <a:t>Rule 24(3) RPC 2023</a:t>
            </a:r>
            <a:r>
              <a:rPr lang="en-GB" alt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b="1" dirty="0"/>
              <a:t>DUTY TO EXERCISE PROFESSIONAL </a:t>
            </a:r>
            <a:r>
              <a:rPr lang="en-US" sz="1200" b="1" dirty="0" smtClean="0"/>
              <a:t>COMPETENCE SECTION 9 LPA</a:t>
            </a:r>
            <a:endParaRPr lang="en-GB" altLang="en-US" sz="1200" dirty="0" smtClean="0"/>
          </a:p>
          <a:p>
            <a:pPr algn="just"/>
            <a:r>
              <a:rPr lang="en-US" sz="1200" dirty="0"/>
              <a:t>Liability for damages in negligence. </a:t>
            </a:r>
          </a:p>
          <a:p>
            <a:pPr algn="just"/>
            <a:r>
              <a:rPr lang="en-US" sz="1200" dirty="0"/>
              <a:t>Except </a:t>
            </a:r>
            <a:r>
              <a:rPr lang="en-US" sz="1200" i="1" dirty="0"/>
              <a:t>pro bono </a:t>
            </a:r>
            <a:r>
              <a:rPr lang="en-US" sz="1200" dirty="0"/>
              <a:t>services.</a:t>
            </a:r>
          </a:p>
          <a:p>
            <a:pPr algn="just"/>
            <a:r>
              <a:rPr lang="en-US" sz="1200" dirty="0"/>
              <a:t>Duty to devote reasonable care and skill from, a normally competent and careful practitioner</a:t>
            </a:r>
            <a:r>
              <a:rPr 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b="1" dirty="0"/>
              <a:t>DEGREE OF “CARE AND SKILL</a:t>
            </a:r>
            <a:r>
              <a:rPr lang="en-US" sz="1200" b="1" dirty="0" smtClean="0"/>
              <a:t>”</a:t>
            </a:r>
          </a:p>
          <a:p>
            <a:pPr algn="just"/>
            <a:r>
              <a:rPr lang="en-US" sz="1200" dirty="0"/>
              <a:t>No attorney is bound to know all the law. - </a:t>
            </a:r>
            <a:r>
              <a:rPr lang="en-US" sz="1200" dirty="0" err="1"/>
              <a:t>Montriou</a:t>
            </a:r>
            <a:r>
              <a:rPr lang="en-US" sz="1200" dirty="0"/>
              <a:t> v </a:t>
            </a:r>
            <a:r>
              <a:rPr lang="en-US" sz="1200" dirty="0" err="1"/>
              <a:t>Jeffereys</a:t>
            </a:r>
            <a:r>
              <a:rPr lang="en-US" sz="1200" dirty="0"/>
              <a:t> 1825.</a:t>
            </a:r>
          </a:p>
          <a:p>
            <a:pPr algn="just"/>
            <a:r>
              <a:rPr lang="en-US" sz="1200" dirty="0"/>
              <a:t>A solicitor should not be judged by the standards of a particularly meticulous and conscientious practitioner, the standard is what a reasonably competent practitioner would do having regard to the standard normally adopted in his profession”. See Midland Bank v. </a:t>
            </a:r>
            <a:r>
              <a:rPr lang="en-US" sz="1200" dirty="0" err="1"/>
              <a:t>Stubb</a:t>
            </a:r>
            <a:r>
              <a:rPr lang="en-US" sz="1200" dirty="0"/>
              <a:t> &amp; Kemp 1979 </a:t>
            </a:r>
            <a:r>
              <a:rPr lang="en-US" sz="1200" dirty="0" err="1"/>
              <a:t>Ch</a:t>
            </a:r>
            <a:r>
              <a:rPr lang="en-US" sz="1200" dirty="0"/>
              <a:t> 384.</a:t>
            </a:r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6982"/>
            <a:ext cx="4862945" cy="332509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CASES OF LIABILITY</a:t>
            </a:r>
            <a:br>
              <a:rPr lang="en-US" sz="1200" b="1" dirty="0"/>
            </a:br>
            <a:endParaRPr lang="en-US" sz="1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11887200" cy="6553200"/>
          </a:xfrm>
        </p:spPr>
        <p:txBody>
          <a:bodyPr>
            <a:noAutofit/>
          </a:bodyPr>
          <a:lstStyle/>
          <a:p>
            <a:r>
              <a:rPr lang="en-US" sz="1200" dirty="0"/>
              <a:t>Giving wrong advice: Otter v. Church Adam </a:t>
            </a:r>
            <a:r>
              <a:rPr lang="en-US" sz="1200" dirty="0" err="1"/>
              <a:t>Atham</a:t>
            </a:r>
            <a:r>
              <a:rPr lang="en-US" sz="1200" dirty="0"/>
              <a:t> &amp; Co. (1953) Ch 280.</a:t>
            </a:r>
          </a:p>
          <a:p>
            <a:pPr algn="just"/>
            <a:r>
              <a:rPr lang="en-US" sz="1200" dirty="0"/>
              <a:t>Bringing action which is </a:t>
            </a:r>
            <a:r>
              <a:rPr lang="en-US" sz="1200" dirty="0" err="1"/>
              <a:t>satute</a:t>
            </a:r>
            <a:r>
              <a:rPr lang="en-US" sz="1200" dirty="0"/>
              <a:t> barred: Bello Raji v X (a legal practitioner) (1946) 18 NLR 74.</a:t>
            </a:r>
          </a:p>
          <a:p>
            <a:pPr algn="just"/>
            <a:r>
              <a:rPr lang="en-US" sz="1200" dirty="0"/>
              <a:t>Delay in instituting proceedings so that the action became statute-barred unless client neglected to give lawyer instructions or to put lawyer in funds: Clayton v Kearsey (1935) 79 SJI 180</a:t>
            </a:r>
          </a:p>
          <a:p>
            <a:pPr algn="just"/>
            <a:r>
              <a:rPr lang="en-US" sz="1200" dirty="0"/>
              <a:t>Delay in entering an appearance or serving </a:t>
            </a:r>
            <a:r>
              <a:rPr lang="en-US" sz="1200" dirty="0" err="1"/>
              <a:t>defence</a:t>
            </a:r>
            <a:r>
              <a:rPr lang="en-US" sz="1200" dirty="0"/>
              <a:t> so that default judgment is obtained by Plaintiff</a:t>
            </a:r>
            <a:r>
              <a:rPr lang="en-US" sz="1200" dirty="0" smtClean="0"/>
              <a:t>.</a:t>
            </a:r>
          </a:p>
          <a:p>
            <a:pPr algn="just"/>
            <a:r>
              <a:rPr lang="en-US" sz="1200" dirty="0"/>
              <a:t>Failure to prosecute case with due diligence so that case is struck out for want of prosecution: Fitzpatrick v. </a:t>
            </a:r>
            <a:r>
              <a:rPr lang="en-US" sz="1200" dirty="0" err="1"/>
              <a:t>Batget</a:t>
            </a:r>
            <a:r>
              <a:rPr lang="en-US" sz="1200" dirty="0"/>
              <a:t> &amp; Co Ltd 1967 QWLR 706; </a:t>
            </a:r>
          </a:p>
          <a:p>
            <a:pPr algn="just"/>
            <a:r>
              <a:rPr lang="en-US" sz="1200" dirty="0"/>
              <a:t> Failure to make searches in </a:t>
            </a:r>
            <a:r>
              <a:rPr lang="en-US" sz="1200" dirty="0" err="1"/>
              <a:t>conveyancing</a:t>
            </a:r>
            <a:r>
              <a:rPr lang="en-US" sz="1200" dirty="0"/>
              <a:t>: Allen v Clark (1863) 7 LT7 81 (Solicitor acting for purchaser failed to discover that property was mortgaged)</a:t>
            </a:r>
          </a:p>
          <a:p>
            <a:pPr algn="just"/>
            <a:r>
              <a:rPr lang="en-US" sz="1200" dirty="0"/>
              <a:t> Bringing an action against wrong parties: </a:t>
            </a:r>
            <a:r>
              <a:rPr lang="en-US" sz="1200" dirty="0" err="1"/>
              <a:t>Salf</a:t>
            </a:r>
            <a:r>
              <a:rPr lang="en-US" sz="1200" dirty="0"/>
              <a:t> </a:t>
            </a:r>
            <a:r>
              <a:rPr lang="en-US" sz="1200" dirty="0" err="1"/>
              <a:t>Alli</a:t>
            </a:r>
            <a:r>
              <a:rPr lang="en-US" sz="1200" dirty="0"/>
              <a:t> v. Sidney Mitchel &amp; Co (1980) AC 1980</a:t>
            </a:r>
          </a:p>
          <a:p>
            <a:pPr algn="just"/>
            <a:r>
              <a:rPr lang="en-US" sz="1200" dirty="0"/>
              <a:t> Counsel may be liable to third parties: Ross v. </a:t>
            </a:r>
            <a:r>
              <a:rPr lang="en-US" sz="1200" dirty="0" err="1"/>
              <a:t>Caunters</a:t>
            </a:r>
            <a:r>
              <a:rPr lang="en-US" sz="1200" dirty="0"/>
              <a:t> 1980 1 </a:t>
            </a:r>
            <a:r>
              <a:rPr lang="en-US" sz="1200" dirty="0" err="1"/>
              <a:t>Ch</a:t>
            </a:r>
            <a:r>
              <a:rPr lang="en-US" sz="1200" dirty="0"/>
              <a:t> 207</a:t>
            </a:r>
            <a:r>
              <a:rPr 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dirty="0" smtClean="0"/>
              <a:t>EXCEPTIONS</a:t>
            </a:r>
          </a:p>
          <a:p>
            <a:pPr algn="just"/>
            <a:r>
              <a:rPr lang="en-US" sz="1200" dirty="0"/>
              <a:t> Section 9(2) and (3) LPA</a:t>
            </a:r>
            <a:r>
              <a:rPr 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dirty="0"/>
              <a:t>ii. The possibility of a case being retried all over again to sustain an action in negligence against counsel.</a:t>
            </a:r>
          </a:p>
          <a:p>
            <a:pPr marL="0" indent="0" algn="just">
              <a:buNone/>
            </a:pPr>
            <a:r>
              <a:rPr lang="en-US" sz="1200" dirty="0"/>
              <a:t>iii. The need to forestall endless litigation as every lawyer who losses a case will invariably be sued by the client</a:t>
            </a:r>
            <a:r>
              <a:rPr lang="en-US" sz="1200" dirty="0" smtClean="0"/>
              <a:t>.</a:t>
            </a:r>
          </a:p>
          <a:p>
            <a:pPr marL="0" indent="0" algn="just">
              <a:buNone/>
            </a:pPr>
            <a:r>
              <a:rPr lang="en-US" sz="1200" b="1" dirty="0"/>
              <a:t>DUTY OF COUNSEL TO COURT ON THE USE OF </a:t>
            </a:r>
            <a:r>
              <a:rPr lang="en-US" sz="1200" b="1" dirty="0" smtClean="0"/>
              <a:t>AI</a:t>
            </a:r>
          </a:p>
          <a:p>
            <a:pPr algn="just"/>
            <a:r>
              <a:rPr lang="en-GB" sz="1200" dirty="0"/>
              <a:t>To verify information from AI before use in court  </a:t>
            </a:r>
          </a:p>
          <a:p>
            <a:pPr algn="just"/>
            <a:r>
              <a:rPr lang="en-GB" sz="1200" dirty="0"/>
              <a:t>Not to mislead the court by relying on AI in his argument in court.</a:t>
            </a:r>
          </a:p>
          <a:p>
            <a:pPr marL="0" indent="0">
              <a:buNone/>
            </a:pPr>
            <a:r>
              <a:rPr lang="en-US" sz="1200" b="1" dirty="0"/>
              <a:t>DUTY TO FELLOW COUNSEL</a:t>
            </a:r>
          </a:p>
          <a:p>
            <a:pPr algn="just"/>
            <a:r>
              <a:rPr lang="en-US" sz="1200" dirty="0"/>
              <a:t>Treat with utmost courtesy &amp; respect– Rule 26(1) RPC, 2023.</a:t>
            </a:r>
          </a:p>
          <a:p>
            <a:pPr algn="just"/>
            <a:r>
              <a:rPr lang="en-US" sz="1200" dirty="0"/>
              <a:t>Keep Promises – Rule 27(2)(a) RPC 2023</a:t>
            </a:r>
          </a:p>
          <a:p>
            <a:pPr algn="just"/>
            <a:r>
              <a:rPr lang="en-US" sz="1200" dirty="0"/>
              <a:t> Avoid sharp practices –  Rule 27(2)(c) 2023.</a:t>
            </a:r>
          </a:p>
          <a:p>
            <a:pPr algn="just"/>
            <a:r>
              <a:rPr lang="en-US" sz="1200" dirty="0"/>
              <a:t>Equality at the Bar.</a:t>
            </a:r>
          </a:p>
          <a:p>
            <a:pPr algn="just"/>
            <a:r>
              <a:rPr lang="en-US" sz="1200" dirty="0"/>
              <a:t> Not to covet clients.</a:t>
            </a:r>
          </a:p>
          <a:p>
            <a:pPr algn="just"/>
            <a:r>
              <a:rPr lang="en-US" sz="1200" dirty="0"/>
              <a:t>Duty to opponents</a:t>
            </a:r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endParaRPr lang="en-US" sz="1200" dirty="0" smtClean="0"/>
          </a:p>
          <a:p>
            <a:pPr marL="0" indent="0" algn="just">
              <a:buNone/>
            </a:pPr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  <a:p>
            <a:pPr algn="just"/>
            <a:endParaRPr lang="en-US" sz="1200" dirty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36" y="124692"/>
            <a:ext cx="2964873" cy="720436"/>
          </a:xfrm>
        </p:spPr>
        <p:txBody>
          <a:bodyPr/>
          <a:lstStyle/>
          <a:p>
            <a:r>
              <a:rPr lang="en-US" sz="1200" b="1" dirty="0"/>
              <a:t>DUTY TO THE STATE.</a:t>
            </a:r>
            <a:br>
              <a:rPr lang="en-US" sz="1200" b="1" dirty="0"/>
            </a:br>
            <a:endParaRPr lang="en-US" sz="1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581891"/>
            <a:ext cx="11901055" cy="559507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Duty to uphold the Law (General Responsibility of a Lawyer) - Rule 1 RPC, 2023.</a:t>
            </a:r>
          </a:p>
          <a:p>
            <a:r>
              <a:rPr lang="en-US" dirty="0"/>
              <a:t> Duty not to advise or assist in violation of the Law.</a:t>
            </a:r>
          </a:p>
          <a:p>
            <a:pPr marL="0" indent="0">
              <a:buNone/>
            </a:pPr>
            <a:r>
              <a:rPr lang="en-US" sz="3000" b="1" dirty="0"/>
              <a:t>DUTY TO THE PROFESSION </a:t>
            </a:r>
            <a:r>
              <a:rPr lang="en-US" dirty="0"/>
              <a:t>- Rules 1,2,3,4,47,53 &amp; 55(2)RPC 2023.</a:t>
            </a:r>
          </a:p>
          <a:p>
            <a:pPr algn="just"/>
            <a:r>
              <a:rPr lang="en-US" dirty="0"/>
              <a:t> Admission of unqualified legal practitioner.</a:t>
            </a:r>
          </a:p>
          <a:p>
            <a:pPr algn="just"/>
            <a:r>
              <a:rPr lang="en-US" dirty="0"/>
              <a:t>Intermediary in the practice of law.</a:t>
            </a:r>
          </a:p>
          <a:p>
            <a:pPr algn="just"/>
            <a:r>
              <a:rPr lang="en-US" dirty="0"/>
              <a:t>Unauthorized practice of law.</a:t>
            </a:r>
          </a:p>
          <a:p>
            <a:pPr algn="just"/>
            <a:r>
              <a:rPr lang="en-US" dirty="0"/>
              <a:t>Association of legal practice.</a:t>
            </a:r>
          </a:p>
          <a:p>
            <a:pPr algn="just"/>
            <a:r>
              <a:rPr lang="en-US" dirty="0"/>
              <a:t>Holding brief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 CONTEMPT OF COURT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002060"/>
                </a:solidFill>
              </a:rPr>
              <a:t>BY </a:t>
            </a:r>
            <a:r>
              <a:rPr lang="en-US" sz="3200" dirty="0" smtClean="0">
                <a:solidFill>
                  <a:srgbClr val="002060"/>
                </a:solidFill>
              </a:rPr>
              <a:t>LAWYERS</a:t>
            </a:r>
          </a:p>
          <a:p>
            <a:r>
              <a:rPr lang="en-US" dirty="0"/>
              <a:t>Meaning of Contempt of Court</a:t>
            </a:r>
          </a:p>
          <a:p>
            <a:r>
              <a:rPr lang="en-US" dirty="0"/>
              <a:t>Purpose of Contempt of Court</a:t>
            </a:r>
          </a:p>
          <a:p>
            <a:r>
              <a:rPr lang="en-US" dirty="0"/>
              <a:t>Classification of Contempt of Court</a:t>
            </a:r>
          </a:p>
          <a:p>
            <a:r>
              <a:rPr lang="en-US" dirty="0"/>
              <a:t>Types of Contempt of Court</a:t>
            </a:r>
          </a:p>
          <a:p>
            <a:r>
              <a:rPr lang="en-US" dirty="0"/>
              <a:t>Conducts or Acts that constitute Contempt</a:t>
            </a:r>
          </a:p>
          <a:p>
            <a:r>
              <a:rPr lang="en-US" dirty="0"/>
              <a:t>Procedure for trial of Contempt of Court</a:t>
            </a:r>
          </a:p>
          <a:p>
            <a:r>
              <a:rPr lang="en-US" dirty="0"/>
              <a:t>Proof of Contempt of Court</a:t>
            </a:r>
          </a:p>
          <a:p>
            <a:r>
              <a:rPr lang="en-US" dirty="0"/>
              <a:t>Jurisdiction of Court to punish for Contempt</a:t>
            </a:r>
          </a:p>
          <a:p>
            <a:r>
              <a:rPr lang="en-US" dirty="0"/>
              <a:t>Punishment for Contempt of Court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853</Words>
  <Application>Microsoft Office PowerPoint</Application>
  <PresentationFormat>Custom</PresentationFormat>
  <Paragraphs>118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1. DUTIES OF LAWYER TO:   a. COURT   b. STATE  c. COLLEAGUES, AND   d.  PROFESSION 2. DUTIES OF COURT TO LAWYER 3.  CONTEMPT OF COURT BY LAWYERS </vt:lpstr>
      <vt:lpstr>A. DUTIES TO COURT</vt:lpstr>
      <vt:lpstr>PowerPoint Presentation</vt:lpstr>
      <vt:lpstr>DUTY WHEN CLIENT CONFESSES GUILT. </vt:lpstr>
      <vt:lpstr>CASES OF LIABILITY </vt:lpstr>
      <vt:lpstr>DUTY TO THE STATE.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DUTIES OF LAWYER TO:   a. COURT   b. STATE  c. COLLEAGUES, AND   d.  PROFESSION 2. DUTIES OF COURT TO LAWYER 3.  CONTEMPT OF COURT BY LAWYERS </dc:title>
  <dc:creator>Eric Nnadozie</dc:creator>
  <cp:lastModifiedBy>NCC</cp:lastModifiedBy>
  <cp:revision>12</cp:revision>
  <dcterms:created xsi:type="dcterms:W3CDTF">2025-04-30T09:29:00Z</dcterms:created>
  <dcterms:modified xsi:type="dcterms:W3CDTF">2025-05-20T15:38:28Z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E0CD25A8F1D647989DE9515BFBB13434_12</vt:lpwstr>
  </property>
  <property fmtid="{D5CDD505-2E9C-101B-9397-08002B2CF9AE}" pid="3" name="KSOProductBuildVer">
    <vt:lpwstr>2057-12.2.0.20795</vt:lpwstr>
  </property>
</Properties>
</file>