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9" r:id="rId4"/>
    <p:sldId id="261"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6626DC-F8A6-432C-9ABD-856B07B67974}" type="datetimeFigureOut">
              <a:rPr lang="en-US" smtClean="0"/>
              <a:t>4/28/2025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1B3FCD-EB98-4D34-A98F-ADC50673F3C8}" type="slidenum">
              <a:rPr lang="en-US" smtClean="0"/>
              <a:t>‹#›</a:t>
            </a:fld>
            <a:endParaRPr lang="en-US"/>
          </a:p>
        </p:txBody>
      </p:sp>
    </p:spTree>
    <p:extLst>
      <p:ext uri="{BB962C8B-B14F-4D97-AF65-F5344CB8AC3E}">
        <p14:creationId xmlns:p14="http://schemas.microsoft.com/office/powerpoint/2010/main" val="92729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b="1" dirty="0" smtClean="0"/>
          </a:p>
          <a:p>
            <a:endParaRPr lang="en-US" dirty="0"/>
          </a:p>
        </p:txBody>
      </p:sp>
      <p:sp>
        <p:nvSpPr>
          <p:cNvPr id="4" name="Slide Number Placeholder 3"/>
          <p:cNvSpPr>
            <a:spLocks noGrp="1"/>
          </p:cNvSpPr>
          <p:nvPr>
            <p:ph type="sldNum" sz="quarter" idx="10"/>
          </p:nvPr>
        </p:nvSpPr>
        <p:spPr/>
        <p:txBody>
          <a:bodyPr/>
          <a:lstStyle/>
          <a:p>
            <a:fld id="{441B3FCD-EB98-4D34-A98F-ADC50673F3C8}" type="slidenum">
              <a:rPr lang="en-US" smtClean="0"/>
              <a:t>19</a:t>
            </a:fld>
            <a:endParaRPr lang="en-US"/>
          </a:p>
        </p:txBody>
      </p:sp>
    </p:spTree>
    <p:extLst>
      <p:ext uri="{BB962C8B-B14F-4D97-AF65-F5344CB8AC3E}">
        <p14:creationId xmlns:p14="http://schemas.microsoft.com/office/powerpoint/2010/main" val="2119175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BC8AAE-2D89-4FD3-B0B6-7BA6724E876A}"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929819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C8AAE-2D89-4FD3-B0B6-7BA6724E876A}"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1814561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BC8AAE-2D89-4FD3-B0B6-7BA6724E876A}"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3583780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BC8AAE-2D89-4FD3-B0B6-7BA6724E876A}"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2478534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BC8AAE-2D89-4FD3-B0B6-7BA6724E876A}"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3196707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BC8AAE-2D89-4FD3-B0B6-7BA6724E876A}"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4272364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BC8AAE-2D89-4FD3-B0B6-7BA6724E876A}"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1599999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BC8AAE-2D89-4FD3-B0B6-7BA6724E876A}"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220555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BC8AAE-2D89-4FD3-B0B6-7BA6724E876A}"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2577955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C8AAE-2D89-4FD3-B0B6-7BA6724E876A}"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819277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BC8AAE-2D89-4FD3-B0B6-7BA6724E876A}"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379C4A-2882-456F-BDF9-AFDAC924BD7B}" type="slidenum">
              <a:rPr lang="en-US" smtClean="0"/>
              <a:t>‹#›</a:t>
            </a:fld>
            <a:endParaRPr lang="en-US"/>
          </a:p>
        </p:txBody>
      </p:sp>
    </p:spTree>
    <p:extLst>
      <p:ext uri="{BB962C8B-B14F-4D97-AF65-F5344CB8AC3E}">
        <p14:creationId xmlns:p14="http://schemas.microsoft.com/office/powerpoint/2010/main" val="158897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C8AAE-2D89-4FD3-B0B6-7BA6724E876A}" type="datetimeFigureOut">
              <a:rPr lang="en-US" smtClean="0"/>
              <a:t>4/28/2025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379C4A-2882-456F-BDF9-AFDAC924BD7B}" type="slidenum">
              <a:rPr lang="en-US" smtClean="0"/>
              <a:t>‹#›</a:t>
            </a:fld>
            <a:endParaRPr lang="en-US"/>
          </a:p>
        </p:txBody>
      </p:sp>
    </p:spTree>
    <p:extLst>
      <p:ext uri="{BB962C8B-B14F-4D97-AF65-F5344CB8AC3E}">
        <p14:creationId xmlns:p14="http://schemas.microsoft.com/office/powerpoint/2010/main" val="2576107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smtClean="0"/>
              <a:t/>
            </a:r>
            <a:br>
              <a:rPr lang="en-GB"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GB" b="1" dirty="0" smtClean="0"/>
              <a:t>DRAFTING 1</a:t>
            </a:r>
            <a:br>
              <a:rPr lang="en-GB" b="1" dirty="0" smtClean="0"/>
            </a:br>
            <a:r>
              <a:rPr lang="en-GB" b="1" dirty="0" smtClean="0"/>
              <a:t>(i) BASIC DRAFTING PRINCIPLES </a:t>
            </a:r>
            <a:br>
              <a:rPr lang="en-GB" b="1" dirty="0" smtClean="0"/>
            </a:br>
            <a:r>
              <a:rPr lang="en-GB" b="1" dirty="0" smtClean="0"/>
              <a:t>(ii) STAGES OF DRAFTING</a:t>
            </a:r>
            <a:br>
              <a:rPr lang="en-GB" b="1" dirty="0" smtClean="0"/>
            </a:br>
            <a:r>
              <a:rPr lang="en-GB" b="1" dirty="0" smtClean="0"/>
              <a:t>(iii) LEGISLATIVE DRAFTING.</a:t>
            </a:r>
            <a:r>
              <a:rPr lang="en-GB" b="1" dirty="0" smtClean="0"/>
              <a:t/>
            </a:r>
            <a:br>
              <a:rPr lang="en-GB" b="1" dirty="0" smtClean="0"/>
            </a:br>
            <a:endParaRPr lang="en-US" dirty="0"/>
          </a:p>
        </p:txBody>
      </p:sp>
    </p:spTree>
    <p:extLst>
      <p:ext uri="{BB962C8B-B14F-4D97-AF65-F5344CB8AC3E}">
        <p14:creationId xmlns:p14="http://schemas.microsoft.com/office/powerpoint/2010/main" val="958232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
            </a:r>
            <a:br>
              <a:rPr lang="en-GB"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GB" sz="3600" b="1" dirty="0" smtClean="0"/>
              <a:t>STAGES OF DRAFTING:</a:t>
            </a:r>
            <a:r>
              <a:rPr lang="en-GB" sz="3600" dirty="0" smtClean="0"/>
              <a:t> 1. Taking and understanding instruction 2. Analysing, classification and research 3. Design and planning the outline 4. Composition. </a:t>
            </a:r>
            <a:br>
              <a:rPr lang="en-GB" sz="3600" dirty="0" smtClean="0"/>
            </a:br>
            <a:r>
              <a:rPr lang="en-GB" sz="3600" dirty="0" smtClean="0"/>
              <a:t>5. Scrutinizing, editing and checking the draft.</a:t>
            </a:r>
            <a:br>
              <a:rPr lang="en-GB" sz="3600" dirty="0" smtClean="0"/>
            </a:br>
            <a:r>
              <a:rPr lang="en-GB" sz="3100" b="1" dirty="0" smtClean="0"/>
              <a:t>TAKING AND UNDERSTANDING INSTRUCTIONS:</a:t>
            </a:r>
            <a:r>
              <a:rPr lang="en-GB" sz="3600" dirty="0" smtClean="0"/>
              <a:t>(a) Conducting Interview (b) The use of checklists (c) Listening and Questioning clients (d) Advising the client</a:t>
            </a:r>
            <a:br>
              <a:rPr lang="en-GB" sz="3600" dirty="0" smtClean="0"/>
            </a:br>
            <a:r>
              <a:rPr lang="en-GB" sz="2700" b="1" dirty="0" smtClean="0"/>
              <a:t>ANALYSIS, CLASSIFICATION AND RESEARCH:</a:t>
            </a:r>
            <a:r>
              <a:rPr lang="en-GB" sz="3600" b="1" dirty="0" smtClean="0"/>
              <a:t> </a:t>
            </a:r>
            <a:r>
              <a:rPr lang="en-GB" sz="3600" dirty="0" smtClean="0"/>
              <a:t>This is the stage where the lawyer should classify the instruction he has received into the proper legal category, and carry out research on the applicable law.</a:t>
            </a:r>
            <a:endParaRPr lang="en-US" sz="3600" dirty="0"/>
          </a:p>
        </p:txBody>
      </p:sp>
    </p:spTree>
    <p:extLst>
      <p:ext uri="{BB962C8B-B14F-4D97-AF65-F5344CB8AC3E}">
        <p14:creationId xmlns:p14="http://schemas.microsoft.com/office/powerpoint/2010/main" val="361755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GB" sz="3100" b="1" dirty="0" smtClean="0"/>
              <a:t>DESIGN, PLANNING AND OUTLINE:</a:t>
            </a:r>
            <a:r>
              <a:rPr lang="en-GB" sz="3100" dirty="0"/>
              <a:t> </a:t>
            </a:r>
            <a:r>
              <a:rPr lang="en-GB" sz="3100" dirty="0" smtClean="0"/>
              <a:t>An outline gives the lawyer the opportunity to plan his work.</a:t>
            </a:r>
            <a:br>
              <a:rPr lang="en-GB" sz="3100" dirty="0" smtClean="0"/>
            </a:br>
            <a:r>
              <a:rPr lang="en-GB" sz="3100" b="1" dirty="0" smtClean="0"/>
              <a:t>COMPOSITION:</a:t>
            </a:r>
            <a:r>
              <a:rPr lang="en-GB" sz="3100" b="1" dirty="0"/>
              <a:t> </a:t>
            </a:r>
            <a:r>
              <a:rPr lang="en-GB" sz="3100" dirty="0" smtClean="0"/>
              <a:t>It is the stage where you flesh up the dry bones of your design</a:t>
            </a:r>
            <a:br>
              <a:rPr lang="en-GB" sz="3100" dirty="0" smtClean="0"/>
            </a:br>
            <a:r>
              <a:rPr lang="en-GB" sz="3100" b="1" dirty="0" smtClean="0"/>
              <a:t>SCRUTINY, EDITING AND CHECKING THE DRAFT:</a:t>
            </a:r>
            <a:r>
              <a:rPr lang="en-GB" sz="3100" b="1" dirty="0"/>
              <a:t> </a:t>
            </a:r>
            <a:r>
              <a:rPr lang="en-GB" sz="3100" dirty="0"/>
              <a:t>S</a:t>
            </a:r>
            <a:r>
              <a:rPr lang="en-GB" sz="3100" dirty="0" smtClean="0"/>
              <a:t>omeone else, who should revise and check for thoroughness, consistency, figures, punctuations, typographical errors etc.</a:t>
            </a:r>
            <a:br>
              <a:rPr lang="en-GB" sz="3100" dirty="0" smtClean="0"/>
            </a:br>
            <a:r>
              <a:rPr lang="en-GB" sz="3100" b="1" dirty="0" smtClean="0"/>
              <a:t>HABITS TO AVOID IN DRAFTING: </a:t>
            </a:r>
            <a:r>
              <a:rPr lang="en-GB" sz="3100" dirty="0" smtClean="0"/>
              <a:t>Archaic words, Passive language, Verbosity, Excessive and Intricate Expressions, Unfamiliar words, Inconsistency, </a:t>
            </a:r>
            <a:br>
              <a:rPr lang="en-GB" sz="3100" dirty="0" smtClean="0"/>
            </a:br>
            <a:r>
              <a:rPr lang="en-GB" sz="3100" b="1" dirty="0" smtClean="0"/>
              <a:t>AID TO CLEARNESS AND ACCURACY:</a:t>
            </a:r>
            <a:r>
              <a:rPr lang="en-GB" sz="3100" dirty="0" smtClean="0"/>
              <a:t>1. Avoid ambiguities 2. Document should be well planned</a:t>
            </a:r>
            <a:br>
              <a:rPr lang="en-GB" sz="3100" dirty="0" smtClean="0"/>
            </a:br>
            <a:endParaRPr lang="en-US" sz="3100" dirty="0"/>
          </a:p>
        </p:txBody>
      </p:sp>
    </p:spTree>
    <p:extLst>
      <p:ext uri="{BB962C8B-B14F-4D97-AF65-F5344CB8AC3E}">
        <p14:creationId xmlns:p14="http://schemas.microsoft.com/office/powerpoint/2010/main" val="184332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b="1" dirty="0" smtClean="0"/>
              <a:t/>
            </a:r>
            <a:br>
              <a:rPr lang="en-GB" b="1" dirty="0" smtClean="0"/>
            </a:br>
            <a:r>
              <a:rPr lang="en-GB" b="1" dirty="0"/>
              <a:t/>
            </a:r>
            <a:br>
              <a:rPr lang="en-GB" b="1" dirty="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b="1" dirty="0"/>
              <a:t/>
            </a:r>
            <a:br>
              <a:rPr lang="en-GB" b="1" dirty="0"/>
            </a:br>
            <a:r>
              <a:rPr lang="en-GB" b="1" dirty="0" smtClean="0"/>
              <a:t/>
            </a:r>
            <a:br>
              <a:rPr lang="en-GB" b="1" dirty="0" smtClean="0"/>
            </a:br>
            <a:r>
              <a:rPr lang="en-GB" sz="3100" b="1" dirty="0" smtClean="0"/>
              <a:t>AID TO CLEARNESS AND ACCURACY:</a:t>
            </a:r>
            <a:r>
              <a:rPr lang="en-GB" sz="3100" dirty="0"/>
              <a:t> </a:t>
            </a:r>
            <a:r>
              <a:rPr lang="en-GB" sz="3100" dirty="0" smtClean="0"/>
              <a:t>3. Use proper language and Grammar 4. Use precedent in appropriate cases 5. Proper use of English Concepts that aid clearness and accuracy. E.g. Punctuations, Capitalisation, Use of Definition/Interpretation clause, Schedule, Enumerating Particulars, Computation of time, Marginal Notes and Cross Headings, and Descriptive words.</a:t>
            </a:r>
            <a:br>
              <a:rPr lang="en-GB" sz="3100" dirty="0" smtClean="0"/>
            </a:br>
            <a:r>
              <a:rPr lang="en-GB" sz="3100" b="1" dirty="0" smtClean="0"/>
              <a:t>COMPUTATION OF TIME: </a:t>
            </a:r>
            <a:r>
              <a:rPr lang="en-GB" sz="3100" dirty="0" smtClean="0"/>
              <a:t>The rights, liabilities, duties, and privileges of parties in a legal relationship are often expressed in relation to time and it is important to know when a stated period of time begins to run and when it expires. Most of the expressions relating to time have acquired a technical meaning different from their grammatical usage; hence the computation of time is a question of law and not a question of measurement. </a:t>
            </a:r>
            <a:br>
              <a:rPr lang="en-GB" sz="3100" dirty="0" smtClean="0"/>
            </a:br>
            <a:endParaRPr lang="en-US" sz="3100" dirty="0"/>
          </a:p>
        </p:txBody>
      </p:sp>
    </p:spTree>
    <p:extLst>
      <p:ext uri="{BB962C8B-B14F-4D97-AF65-F5344CB8AC3E}">
        <p14:creationId xmlns:p14="http://schemas.microsoft.com/office/powerpoint/2010/main" val="413304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For better understanding, those expressions that concern a day, week, month, year are discussed together before discussing certain expressions commonly used in legal documents to indicate time.</a:t>
            </a:r>
            <a:br>
              <a:rPr lang="en-GB" sz="3200" dirty="0" smtClean="0"/>
            </a:br>
            <a:r>
              <a:rPr lang="en-GB" sz="2800" b="1" dirty="0" smtClean="0"/>
              <a:t>‘ON’</a:t>
            </a:r>
            <a:r>
              <a:rPr lang="en-GB" sz="2800" dirty="0" smtClean="0"/>
              <a:t> – INCLUDED</a:t>
            </a:r>
            <a:br>
              <a:rPr lang="en-GB" sz="2800" dirty="0" smtClean="0"/>
            </a:br>
            <a:r>
              <a:rPr lang="en-GB" sz="2800" b="1" dirty="0" smtClean="0"/>
              <a:t>‘FROM’</a:t>
            </a:r>
            <a:r>
              <a:rPr lang="en-GB" sz="2800" dirty="0" smtClean="0"/>
              <a:t> – EXCLUDED</a:t>
            </a:r>
            <a:br>
              <a:rPr lang="en-GB" sz="2800" dirty="0" smtClean="0"/>
            </a:br>
            <a:r>
              <a:rPr lang="en-GB" sz="2400" b="1" dirty="0" smtClean="0"/>
              <a:t>‘BY’</a:t>
            </a:r>
            <a:r>
              <a:rPr lang="en-GB" sz="2400" dirty="0" smtClean="0"/>
              <a:t> – INCLUDED</a:t>
            </a:r>
            <a:br>
              <a:rPr lang="en-GB" sz="2400" dirty="0" smtClean="0"/>
            </a:br>
            <a:r>
              <a:rPr lang="en-GB" sz="2400" b="1" dirty="0" smtClean="0"/>
              <a:t>AFTER and BEFORE’</a:t>
            </a:r>
            <a:r>
              <a:rPr lang="en-GB" sz="2400" dirty="0" smtClean="0"/>
              <a:t> – EXCLUDED</a:t>
            </a:r>
            <a:br>
              <a:rPr lang="en-GB" sz="2400" dirty="0" smtClean="0"/>
            </a:br>
            <a:r>
              <a:rPr lang="en-GB" sz="2400" b="1" dirty="0" smtClean="0"/>
              <a:t>‘WITHIN’</a:t>
            </a:r>
            <a:r>
              <a:rPr lang="en-GB" sz="2400" dirty="0" smtClean="0"/>
              <a:t> – EXCLUDED</a:t>
            </a:r>
            <a:br>
              <a:rPr lang="en-GB" sz="2400" dirty="0" smtClean="0"/>
            </a:br>
            <a:r>
              <a:rPr lang="en-GB" sz="2400" b="1" dirty="0" smtClean="0"/>
              <a:t>‘BETWEEN (a given date) TO (another date)’</a:t>
            </a:r>
            <a:r>
              <a:rPr lang="en-GB" sz="2400" dirty="0" smtClean="0"/>
              <a:t> – EXCLUDED</a:t>
            </a:r>
            <a:br>
              <a:rPr lang="en-GB" sz="2400" dirty="0" smtClean="0"/>
            </a:br>
            <a:r>
              <a:rPr lang="en-GB" sz="2400" b="1" dirty="0" smtClean="0"/>
              <a:t>‘TILL and UNTIL’</a:t>
            </a:r>
            <a:r>
              <a:rPr lang="en-GB" sz="2400" dirty="0" smtClean="0"/>
              <a:t> – AMBIGUOUS</a:t>
            </a:r>
            <a:br>
              <a:rPr lang="en-GB" sz="2400" dirty="0" smtClean="0"/>
            </a:br>
            <a:r>
              <a:rPr lang="en-GB" sz="2400" b="1" dirty="0" smtClean="0"/>
              <a:t>‘AT THE EXPIRATION OF’- </a:t>
            </a:r>
            <a:r>
              <a:rPr lang="en-GB" sz="2400" dirty="0" smtClean="0"/>
              <a:t>INCLUDED</a:t>
            </a:r>
            <a:br>
              <a:rPr lang="en-GB" sz="2400" dirty="0" smtClean="0"/>
            </a:br>
            <a:r>
              <a:rPr lang="en-GB" sz="2400" b="1" dirty="0" smtClean="0"/>
              <a:t>‘NOT LATER THAN and NOT EARLIER THAN’</a:t>
            </a:r>
            <a:r>
              <a:rPr lang="en-GB" sz="2400" dirty="0" smtClean="0"/>
              <a:t> – INCLUDED</a:t>
            </a:r>
            <a:br>
              <a:rPr lang="en-GB" sz="2400" dirty="0" smtClean="0"/>
            </a:br>
            <a:r>
              <a:rPr lang="en-GB" sz="2400" b="1" dirty="0" smtClean="0"/>
              <a:t>‘FORTHWITH and IMMEDIATELY’</a:t>
            </a:r>
            <a:r>
              <a:rPr lang="en-GB" sz="2400" dirty="0" smtClean="0"/>
              <a:t>- IMPRECISE</a:t>
            </a:r>
            <a:br>
              <a:rPr lang="en-GB" sz="2400" dirty="0" smtClean="0"/>
            </a:br>
            <a:r>
              <a:rPr lang="en-GB" sz="2400" b="1" dirty="0" smtClean="0"/>
              <a:t>‘WITHIN A REASONABLE TIME’</a:t>
            </a:r>
            <a:r>
              <a:rPr lang="en-GB" sz="2400" dirty="0" smtClean="0"/>
              <a:t> – IMPRECISE</a:t>
            </a:r>
            <a:br>
              <a:rPr lang="en-GB" sz="2400" dirty="0" smtClean="0"/>
            </a:br>
            <a:r>
              <a:rPr lang="en-GB" sz="2400" b="1" dirty="0" smtClean="0"/>
              <a:t>‘AS SOON AS POSSIBLE’</a:t>
            </a:r>
            <a:r>
              <a:rPr lang="en-GB" sz="2400" dirty="0" smtClean="0"/>
              <a:t> - IMPRECISE</a:t>
            </a:r>
            <a:r>
              <a:rPr lang="en-GB" sz="2800" dirty="0" smtClean="0"/>
              <a:t/>
            </a:r>
            <a:br>
              <a:rPr lang="en-GB" sz="2800" dirty="0" smtClean="0"/>
            </a:br>
            <a:r>
              <a:rPr lang="en-GB" sz="3200" dirty="0" smtClean="0"/>
              <a:t/>
            </a:r>
            <a:br>
              <a:rPr lang="en-GB" sz="3200" dirty="0" smtClean="0"/>
            </a:br>
            <a:endParaRPr lang="en-US" sz="3200" dirty="0"/>
          </a:p>
        </p:txBody>
      </p:sp>
    </p:spTree>
    <p:extLst>
      <p:ext uri="{BB962C8B-B14F-4D97-AF65-F5344CB8AC3E}">
        <p14:creationId xmlns:p14="http://schemas.microsoft.com/office/powerpoint/2010/main" val="793653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PARAGRAPHING TECHNIQUE</a:t>
            </a:r>
            <a:br>
              <a:rPr lang="en-GB" sz="3200" b="1" dirty="0" smtClean="0"/>
            </a:br>
            <a:r>
              <a:rPr lang="en-GB" sz="2800" dirty="0" smtClean="0"/>
              <a:t>“Paragraphing” means tabulation of sentence. In other words, a sentence is arranged in a series of paragraphs to aid readability and understanding. A long sentence may be divided into paragraphs, sub-paragraphs, sub-sub paragraphs and so on. (e.g. sub, sub, sub).</a:t>
            </a:r>
            <a:br>
              <a:rPr lang="en-GB" sz="2800" dirty="0" smtClean="0"/>
            </a:br>
            <a:r>
              <a:rPr lang="en-GB" sz="2800" b="1" dirty="0" smtClean="0"/>
              <a:t>NUMBERING AND INDENTATION</a:t>
            </a:r>
            <a:br>
              <a:rPr lang="en-GB" sz="2800" b="1" dirty="0" smtClean="0"/>
            </a:br>
            <a:r>
              <a:rPr lang="en-GB" sz="2800" dirty="0" smtClean="0"/>
              <a:t>Numbering plays the role of a signpost in a document. It aids the reader in finding his way around the document. It makes the structure of the sentence more apparent to the reader. Numbering is used to direct the reader to other parts of the document. Numbering is good for lists, because it indicates how many things there are in a list.</a:t>
            </a:r>
            <a:br>
              <a:rPr lang="en-GB" sz="2800" dirty="0" smtClean="0"/>
            </a:br>
            <a:r>
              <a:rPr lang="en-GB" sz="2800" dirty="0" smtClean="0"/>
              <a:t>1. The paragraphs must be numbered in bracketed lower case (small letters) such as (a) (b) (c) </a:t>
            </a:r>
            <a:r>
              <a:rPr lang="en-GB" sz="2800" dirty="0" err="1" smtClean="0"/>
              <a:t>etc</a:t>
            </a:r>
            <a:r>
              <a:rPr lang="en-GB" sz="2800" dirty="0" smtClean="0"/>
              <a:t/>
            </a:r>
            <a:br>
              <a:rPr lang="en-GB" sz="2800" dirty="0" smtClean="0"/>
            </a:br>
            <a:r>
              <a:rPr lang="en-GB" sz="2800" dirty="0" smtClean="0"/>
              <a:t>2. The sub-paragraphs should be bracketed in Roman numerals, such as (i) (ii) (iii) etc.</a:t>
            </a:r>
            <a:br>
              <a:rPr lang="en-GB" sz="2800" dirty="0" smtClean="0"/>
            </a:br>
            <a:r>
              <a:rPr lang="en-GB" sz="3200" b="1" dirty="0" smtClean="0"/>
              <a:t/>
            </a:r>
            <a:br>
              <a:rPr lang="en-GB" sz="3200" b="1" dirty="0" smtClean="0"/>
            </a:br>
            <a:endParaRPr lang="en-US" sz="3200" dirty="0"/>
          </a:p>
        </p:txBody>
      </p:sp>
    </p:spTree>
    <p:extLst>
      <p:ext uri="{BB962C8B-B14F-4D97-AF65-F5344CB8AC3E}">
        <p14:creationId xmlns:p14="http://schemas.microsoft.com/office/powerpoint/2010/main" val="4252245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3. The sub-sub-paragraph must be numbered in bracketed upper case (capital letters) such as capital (A) (B) (C) (D) etc. </a:t>
            </a:r>
            <a:r>
              <a:rPr lang="en-GB" sz="3200" dirty="0" err="1" smtClean="0"/>
              <a:t>E.g</a:t>
            </a:r>
            <a:r>
              <a:rPr lang="en-GB" sz="3200" dirty="0" smtClean="0"/>
              <a:t>   </a:t>
            </a:r>
            <a:r>
              <a:rPr lang="en-GB" sz="3200" b="1" dirty="0" smtClean="0"/>
              <a:t>1(1)(a)(i)(A) </a:t>
            </a:r>
            <a:r>
              <a:rPr lang="en-GB" sz="3200" dirty="0" smtClean="0"/>
              <a:t>represents Section 1, Sub-Section 1, paragraph a, sub-paragraph i, and sub-sub-paragraph A. </a:t>
            </a:r>
            <a:br>
              <a:rPr lang="en-GB" sz="3200" dirty="0" smtClean="0"/>
            </a:br>
            <a:r>
              <a:rPr lang="en-GB" sz="2800" b="1" dirty="0" smtClean="0"/>
              <a:t>INDENTATION.</a:t>
            </a:r>
            <a:br>
              <a:rPr lang="en-GB" sz="2800" b="1" dirty="0" smtClean="0"/>
            </a:br>
            <a:r>
              <a:rPr lang="en-GB" sz="2800" dirty="0" smtClean="0"/>
              <a:t>Indentation is basically useful in paragraphing technique where the sentence is redrafted to consist of introductory words, paragraphs, sub-paragraphs and concluding words. Independent numbered clauses cannot be aligned with the opening clause and the closing clause.</a:t>
            </a:r>
            <a:br>
              <a:rPr lang="en-GB" sz="2800" dirty="0" smtClean="0"/>
            </a:br>
            <a:r>
              <a:rPr lang="en-GB" sz="2400" dirty="0" smtClean="0"/>
              <a:t>The independent clauses must be indented inwards. Where there exists an introductory clause without a closing clause, the independent numbered clauses are simply indented inwards from the introductory clause. However, where there exists a closing clause, it must be aligned to be on the same horizontal line with the introductory clause although the independent numbered clauses are indented inwards.</a:t>
            </a:r>
            <a:r>
              <a:rPr lang="en-GB" sz="2800" dirty="0" smtClean="0"/>
              <a:t> </a:t>
            </a:r>
            <a:endParaRPr lang="en-US" sz="3200" dirty="0"/>
          </a:p>
        </p:txBody>
      </p:sp>
    </p:spTree>
    <p:extLst>
      <p:ext uri="{BB962C8B-B14F-4D97-AF65-F5344CB8AC3E}">
        <p14:creationId xmlns:p14="http://schemas.microsoft.com/office/powerpoint/2010/main" val="1582245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133350" indent="0"/>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smtClean="0"/>
              <a:t/>
            </a:r>
            <a:br>
              <a:rPr lang="en-GB" sz="3200" b="1" dirty="0" smtClean="0"/>
            </a:br>
            <a:r>
              <a:rPr lang="en-GB" sz="3200" b="1" dirty="0" smtClean="0"/>
              <a:t>LEGISLATIVE DRAFTING</a:t>
            </a:r>
            <a:r>
              <a:rPr lang="en-GB" b="1" dirty="0"/>
              <a:t/>
            </a:r>
            <a:br>
              <a:rPr lang="en-GB" b="1" dirty="0"/>
            </a:br>
            <a:r>
              <a:rPr lang="en-GB" sz="800" b="1" dirty="0" smtClean="0"/>
              <a:t/>
            </a:r>
            <a:br>
              <a:rPr lang="en-GB" sz="800" b="1" dirty="0" smtClean="0"/>
            </a:br>
            <a:r>
              <a:rPr lang="en-GB" sz="3200" dirty="0" smtClean="0"/>
              <a:t>It is the process through which the instruction of the sponsor of a bill is written in the form of a bill. </a:t>
            </a:r>
            <a:br>
              <a:rPr lang="en-GB" sz="3200" dirty="0" smtClean="0"/>
            </a:br>
            <a:r>
              <a:rPr lang="en-GB" sz="3200" dirty="0" smtClean="0"/>
              <a:t>It involves clearly understanding the instruction and the intention of the sponsor and to ensure that the intention is put in a legal format, namely a bill.</a:t>
            </a:r>
            <a:br>
              <a:rPr lang="en-GB" sz="3200" dirty="0" smtClean="0"/>
            </a:br>
            <a:r>
              <a:rPr lang="en-GB" sz="3200" dirty="0" smtClean="0"/>
              <a:t>It is  different from legislative process, which involves the procedure for the transformation of a bill to a law in a legislative house.</a:t>
            </a:r>
            <a:br>
              <a:rPr lang="en-GB" sz="3200" dirty="0" smtClean="0"/>
            </a:br>
            <a:r>
              <a:rPr lang="en-GB" sz="3200" dirty="0" smtClean="0"/>
              <a:t>Difference with legislative process include:</a:t>
            </a:r>
            <a:br>
              <a:rPr lang="en-GB" sz="3200" dirty="0" smtClean="0"/>
            </a:br>
            <a:r>
              <a:rPr lang="en-GB" sz="2800" dirty="0" smtClean="0"/>
              <a:t>Legislative Process is the business of legislators</a:t>
            </a:r>
            <a:br>
              <a:rPr lang="en-GB" sz="2800" dirty="0" smtClean="0"/>
            </a:br>
            <a:r>
              <a:rPr lang="en-GB" sz="2800" dirty="0" smtClean="0"/>
              <a:t> legislative process culminates in a law </a:t>
            </a:r>
            <a:br>
              <a:rPr lang="en-GB" sz="2800" dirty="0" smtClean="0"/>
            </a:br>
            <a:r>
              <a:rPr lang="en-GB" sz="2800" dirty="0" smtClean="0"/>
              <a:t>The stages are different. Etc.</a:t>
            </a:r>
            <a:br>
              <a:rPr lang="en-GB" sz="2800" dirty="0" smtClean="0"/>
            </a:br>
            <a:r>
              <a:rPr lang="en-GB" sz="3200" dirty="0" smtClean="0"/>
              <a:t> </a:t>
            </a:r>
            <a:r>
              <a:rPr lang="en-GB" sz="4000" b="1" dirty="0" smtClean="0"/>
              <a:t>Qualities of a Good Draftsman</a:t>
            </a:r>
            <a:r>
              <a:rPr lang="en-GB" sz="800" b="1" dirty="0" smtClean="0"/>
              <a:t/>
            </a:r>
            <a:br>
              <a:rPr lang="en-GB" sz="800" b="1" dirty="0" smtClean="0"/>
            </a:br>
            <a:r>
              <a:rPr lang="en-GB" sz="3600" dirty="0" smtClean="0"/>
              <a:t>The qualities include but not limited to:</a:t>
            </a:r>
            <a:br>
              <a:rPr lang="en-GB" sz="3600" dirty="0" smtClean="0"/>
            </a:br>
            <a:r>
              <a:rPr lang="en-GB" sz="800" dirty="0" smtClean="0"/>
              <a:t/>
            </a:r>
            <a:br>
              <a:rPr lang="en-GB" sz="800" dirty="0" smtClean="0"/>
            </a:br>
            <a:endParaRPr lang="en-US" sz="3200" dirty="0"/>
          </a:p>
        </p:txBody>
      </p:sp>
    </p:spTree>
    <p:extLst>
      <p:ext uri="{BB962C8B-B14F-4D97-AF65-F5344CB8AC3E}">
        <p14:creationId xmlns:p14="http://schemas.microsoft.com/office/powerpoint/2010/main" val="2096677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GB" dirty="0" smtClean="0"/>
              <a:t/>
            </a:r>
            <a:br>
              <a:rPr lang="en-GB" dirty="0" smtClean="0"/>
            </a:br>
            <a:r>
              <a:rPr lang="en-GB" dirty="0" smtClean="0"/>
              <a:t/>
            </a:r>
            <a:br>
              <a:rPr lang="en-GB"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sz="3600" dirty="0" smtClean="0"/>
              <a:t>Good command of English A sound knowledge of the principle of law</a:t>
            </a:r>
            <a:br>
              <a:rPr lang="en-GB" sz="3600" dirty="0" smtClean="0"/>
            </a:br>
            <a:r>
              <a:rPr lang="en-GB" sz="3600" dirty="0" smtClean="0"/>
              <a:t>Understanding the society of operation</a:t>
            </a:r>
            <a:br>
              <a:rPr lang="en-GB" sz="3600" dirty="0" smtClean="0"/>
            </a:br>
            <a:r>
              <a:rPr lang="en-GB" sz="3600" dirty="0" smtClean="0"/>
              <a:t>Hard work and Dedication</a:t>
            </a:r>
            <a:br>
              <a:rPr lang="en-GB" sz="3600" dirty="0" smtClean="0"/>
            </a:br>
            <a:r>
              <a:rPr lang="en-GB" sz="3600" dirty="0" smtClean="0"/>
              <a:t>Patience.</a:t>
            </a:r>
            <a:br>
              <a:rPr lang="en-GB" sz="3600" dirty="0" smtClean="0"/>
            </a:br>
            <a:r>
              <a:rPr lang="en-GB" sz="3800" b="1" dirty="0" smtClean="0"/>
              <a:t>Formalities and Arrangement of a Bill in Legislative Drafting: </a:t>
            </a:r>
            <a:r>
              <a:rPr lang="en-GB" sz="3600" dirty="0" smtClean="0"/>
              <a:t>Legislations are usually arranged in Chapters Parts Sections  &amp; Subsections Paragraphs, sub-paragraphs and sub sub-paragraphs.</a:t>
            </a:r>
            <a:br>
              <a:rPr lang="en-GB" sz="3600" dirty="0" smtClean="0"/>
            </a:br>
            <a:r>
              <a:rPr lang="en-GB" sz="3200" b="1" dirty="0" smtClean="0"/>
              <a:t>Chapters</a:t>
            </a:r>
            <a:r>
              <a:rPr lang="en-GB" sz="3200" dirty="0" smtClean="0"/>
              <a:t> and </a:t>
            </a:r>
            <a:r>
              <a:rPr lang="en-GB" sz="3200" b="1" dirty="0" smtClean="0"/>
              <a:t>Parts</a:t>
            </a:r>
            <a:r>
              <a:rPr lang="en-GB" sz="3200" dirty="0" smtClean="0"/>
              <a:t> are usually written or numbered in </a:t>
            </a:r>
            <a:r>
              <a:rPr lang="en-GB" sz="3200" b="1" dirty="0" smtClean="0">
                <a:solidFill>
                  <a:srgbClr val="0070C0"/>
                </a:solidFill>
              </a:rPr>
              <a:t>Capital Roman numerals</a:t>
            </a:r>
            <a:r>
              <a:rPr lang="en-GB" sz="3200" dirty="0" smtClean="0"/>
              <a:t>. </a:t>
            </a:r>
            <a:br>
              <a:rPr lang="en-GB" sz="3200" dirty="0" smtClean="0"/>
            </a:br>
            <a:r>
              <a:rPr lang="en-GB" sz="3200" dirty="0" smtClean="0"/>
              <a:t>For example:</a:t>
            </a:r>
            <a:br>
              <a:rPr lang="en-GB" sz="3200" dirty="0" smtClean="0"/>
            </a:br>
            <a:r>
              <a:rPr lang="en-GB" sz="900" dirty="0" smtClean="0"/>
              <a:t/>
            </a:r>
            <a:br>
              <a:rPr lang="en-GB" sz="900" dirty="0" smtClean="0"/>
            </a:br>
            <a:r>
              <a:rPr lang="en-GB" sz="3200" dirty="0" smtClean="0"/>
              <a:t>‘</a:t>
            </a:r>
            <a:r>
              <a:rPr lang="en-GB" sz="3200" b="1" dirty="0" smtClean="0"/>
              <a:t>Chapter I</a:t>
            </a:r>
            <a:r>
              <a:rPr lang="en-GB" sz="3200" dirty="0" smtClean="0"/>
              <a:t>’, or ‘</a:t>
            </a:r>
            <a:r>
              <a:rPr lang="en-GB" sz="3200" b="1" dirty="0" smtClean="0"/>
              <a:t>Part II’</a:t>
            </a:r>
            <a:r>
              <a:rPr lang="en-GB" sz="3200" dirty="0" smtClean="0"/>
              <a:t>, </a:t>
            </a:r>
            <a:r>
              <a:rPr lang="en-NG" sz="3200" dirty="0" smtClean="0"/>
              <a:t/>
            </a:r>
            <a:br>
              <a:rPr lang="en-NG" sz="3200" dirty="0" smtClean="0"/>
            </a:br>
            <a:r>
              <a:rPr lang="en-GB" sz="3600" dirty="0" smtClean="0"/>
              <a:t/>
            </a:r>
            <a:br>
              <a:rPr lang="en-GB" sz="3600" dirty="0" smtClean="0"/>
            </a:br>
            <a:r>
              <a:rPr lang="en-GB" sz="3600" dirty="0" smtClean="0"/>
              <a:t/>
            </a:r>
            <a:br>
              <a:rPr lang="en-GB" sz="3600" dirty="0" smtClean="0"/>
            </a:br>
            <a:r>
              <a:rPr lang="en-GB" sz="3600" dirty="0" smtClean="0"/>
              <a:t/>
            </a:r>
            <a:br>
              <a:rPr lang="en-GB" sz="3600" dirty="0" smtClean="0"/>
            </a:br>
            <a:r>
              <a:rPr lang="en-GB" sz="3600" dirty="0" smtClean="0"/>
              <a:t/>
            </a:r>
            <a:br>
              <a:rPr lang="en-GB" sz="3600" dirty="0" smtClean="0"/>
            </a:br>
            <a:r>
              <a:rPr lang="en-GB" sz="3600" dirty="0" smtClean="0"/>
              <a:t/>
            </a:r>
            <a:br>
              <a:rPr lang="en-GB" sz="3600" dirty="0" smtClean="0"/>
            </a:br>
            <a:endParaRPr lang="en-US" sz="3600" dirty="0"/>
          </a:p>
        </p:txBody>
      </p:sp>
    </p:spTree>
    <p:extLst>
      <p:ext uri="{BB962C8B-B14F-4D97-AF65-F5344CB8AC3E}">
        <p14:creationId xmlns:p14="http://schemas.microsoft.com/office/powerpoint/2010/main" val="2971747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Sections</a:t>
            </a:r>
            <a:r>
              <a:rPr lang="en-GB" sz="3200" dirty="0" smtClean="0"/>
              <a:t> are usually numbered in </a:t>
            </a:r>
            <a:r>
              <a:rPr lang="en-GB" sz="3200" b="1" dirty="0" smtClean="0">
                <a:solidFill>
                  <a:srgbClr val="0070C0"/>
                </a:solidFill>
              </a:rPr>
              <a:t>Arabic numerals</a:t>
            </a:r>
            <a:r>
              <a:rPr lang="en-GB" sz="3200" b="1" dirty="0" smtClean="0"/>
              <a:t> </a:t>
            </a:r>
            <a:r>
              <a:rPr lang="en-GB" sz="3200" b="1" dirty="0" smtClean="0">
                <a:solidFill>
                  <a:srgbClr val="0070C0"/>
                </a:solidFill>
              </a:rPr>
              <a:t>without bracket</a:t>
            </a:r>
            <a:r>
              <a:rPr lang="en-GB" sz="3200" dirty="0" smtClean="0">
                <a:solidFill>
                  <a:srgbClr val="0070C0"/>
                </a:solidFill>
              </a:rPr>
              <a:t> </a:t>
            </a:r>
            <a:r>
              <a:rPr lang="en-GB" sz="3200" dirty="0" smtClean="0"/>
              <a:t>while </a:t>
            </a:r>
            <a:r>
              <a:rPr lang="en-GB" sz="3200" b="1" dirty="0" smtClean="0"/>
              <a:t>Subsections</a:t>
            </a:r>
            <a:r>
              <a:rPr lang="en-GB" sz="3200" dirty="0" smtClean="0"/>
              <a:t> are in </a:t>
            </a:r>
            <a:r>
              <a:rPr lang="en-GB" sz="3200" b="1" dirty="0" smtClean="0">
                <a:solidFill>
                  <a:srgbClr val="0070C0"/>
                </a:solidFill>
              </a:rPr>
              <a:t>Arabic numerals in bracket</a:t>
            </a:r>
            <a:r>
              <a:rPr lang="en-GB" sz="3200" dirty="0" smtClean="0"/>
              <a:t>. For example: </a:t>
            </a:r>
            <a:r>
              <a:rPr lang="en-GB" sz="3200" b="1" dirty="0" smtClean="0"/>
              <a:t>Section 6</a:t>
            </a:r>
            <a:br>
              <a:rPr lang="en-GB" sz="3200" b="1" dirty="0" smtClean="0"/>
            </a:br>
            <a:r>
              <a:rPr lang="en-GB" sz="2800" b="1" dirty="0" smtClean="0"/>
              <a:t>Paragraphs</a:t>
            </a:r>
            <a:r>
              <a:rPr lang="en-GB" sz="2800" dirty="0" smtClean="0"/>
              <a:t> are written in </a:t>
            </a:r>
            <a:r>
              <a:rPr lang="en-GB" sz="2800" b="1" dirty="0" smtClean="0">
                <a:solidFill>
                  <a:srgbClr val="0070C0"/>
                </a:solidFill>
              </a:rPr>
              <a:t>small letter alphabet in bracket</a:t>
            </a:r>
            <a:r>
              <a:rPr lang="en-GB" sz="2800" dirty="0" smtClean="0"/>
              <a:t>, the </a:t>
            </a:r>
            <a:r>
              <a:rPr lang="en-GB" sz="2800" b="1" dirty="0" smtClean="0"/>
              <a:t>Sub-paragraphs</a:t>
            </a:r>
            <a:r>
              <a:rPr lang="en-GB" sz="2800" dirty="0" smtClean="0"/>
              <a:t> in </a:t>
            </a:r>
            <a:r>
              <a:rPr lang="en-GB" sz="2800" b="1" dirty="0" smtClean="0">
                <a:solidFill>
                  <a:srgbClr val="0070C0"/>
                </a:solidFill>
              </a:rPr>
              <a:t>small letter Roman numeral in bracket</a:t>
            </a:r>
            <a:r>
              <a:rPr lang="en-GB" sz="2800" dirty="0" smtClean="0">
                <a:solidFill>
                  <a:srgbClr val="0070C0"/>
                </a:solidFill>
              </a:rPr>
              <a:t> </a:t>
            </a:r>
            <a:r>
              <a:rPr lang="en-GB" sz="2800" dirty="0" smtClean="0"/>
              <a:t>and the </a:t>
            </a:r>
            <a:r>
              <a:rPr lang="en-GB" sz="2800" b="1" dirty="0" smtClean="0"/>
              <a:t>Sub Sub-paragraphs</a:t>
            </a:r>
            <a:r>
              <a:rPr lang="en-GB" sz="2800" dirty="0" smtClean="0"/>
              <a:t> in </a:t>
            </a:r>
            <a:r>
              <a:rPr lang="en-GB" sz="2800" b="1" dirty="0" smtClean="0">
                <a:solidFill>
                  <a:srgbClr val="0070C0"/>
                </a:solidFill>
              </a:rPr>
              <a:t>capital letter alphabet in bracket</a:t>
            </a:r>
            <a:r>
              <a:rPr lang="en-GB" sz="2800" dirty="0" smtClean="0"/>
              <a:t>. </a:t>
            </a:r>
            <a:br>
              <a:rPr lang="en-GB" sz="2800" dirty="0" smtClean="0"/>
            </a:br>
            <a:r>
              <a:rPr lang="en-GB" sz="2800" b="1" dirty="0" smtClean="0"/>
              <a:t>Headings</a:t>
            </a:r>
            <a:r>
              <a:rPr lang="en-GB" sz="2800" dirty="0" smtClean="0"/>
              <a:t> - Should be in </a:t>
            </a:r>
            <a:r>
              <a:rPr lang="en-GB" sz="2800" b="1" dirty="0" smtClean="0">
                <a:solidFill>
                  <a:srgbClr val="0070C0"/>
                </a:solidFill>
              </a:rPr>
              <a:t>bold print</a:t>
            </a:r>
            <a:r>
              <a:rPr lang="en-GB" sz="2800" dirty="0" smtClean="0">
                <a:solidFill>
                  <a:srgbClr val="0070C0"/>
                </a:solidFill>
              </a:rPr>
              <a:t>,</a:t>
            </a:r>
            <a:r>
              <a:rPr lang="en-GB" sz="2800" dirty="0" smtClean="0"/>
              <a:t> S</a:t>
            </a:r>
            <a:r>
              <a:rPr lang="en-GB" sz="2800" b="1" dirty="0" smtClean="0"/>
              <a:t>ub-headings</a:t>
            </a:r>
            <a:r>
              <a:rPr lang="en-GB" sz="2800" dirty="0" smtClean="0"/>
              <a:t> should be in </a:t>
            </a:r>
            <a:r>
              <a:rPr lang="en-GB" sz="2800" b="1" dirty="0" smtClean="0">
                <a:solidFill>
                  <a:srgbClr val="0070C0"/>
                </a:solidFill>
              </a:rPr>
              <a:t>italics</a:t>
            </a:r>
            <a:r>
              <a:rPr lang="en-GB" sz="2800" dirty="0" smtClean="0"/>
              <a:t>. For example:</a:t>
            </a:r>
            <a:br>
              <a:rPr lang="en-GB" sz="2800" dirty="0" smtClean="0"/>
            </a:br>
            <a:r>
              <a:rPr lang="en-GB" sz="2800" dirty="0" smtClean="0"/>
              <a:t>See Chapter V, Part I of the 1999 Constitution as amended</a:t>
            </a:r>
            <a:r>
              <a:rPr lang="en-GB" sz="2400" dirty="0" smtClean="0"/>
              <a:t>.</a:t>
            </a:r>
            <a:br>
              <a:rPr lang="en-GB" sz="2400" dirty="0" smtClean="0"/>
            </a:br>
            <a:r>
              <a:rPr lang="en-GB" sz="3600" b="1" dirty="0" smtClean="0"/>
              <a:t>MARGINAL NOTES:</a:t>
            </a:r>
            <a:r>
              <a:rPr lang="en-GB" sz="2400" b="1" dirty="0" smtClean="0"/>
              <a:t> </a:t>
            </a:r>
            <a:r>
              <a:rPr lang="en-GB" sz="3600" dirty="0" smtClean="0"/>
              <a:t>It gives concise indication of the content of a section.  It is also known as </a:t>
            </a:r>
            <a:r>
              <a:rPr lang="en-GB" sz="3600" b="1" dirty="0" smtClean="0">
                <a:solidFill>
                  <a:srgbClr val="0070C0"/>
                </a:solidFill>
              </a:rPr>
              <a:t>Section Heads </a:t>
            </a:r>
            <a:r>
              <a:rPr lang="en-GB" sz="3600" dirty="0" smtClean="0"/>
              <a:t>or </a:t>
            </a:r>
            <a:r>
              <a:rPr lang="en-GB" sz="3600" b="1" dirty="0" smtClean="0">
                <a:solidFill>
                  <a:srgbClr val="0070C0"/>
                </a:solidFill>
              </a:rPr>
              <a:t>Section Head Notes</a:t>
            </a:r>
            <a:r>
              <a:rPr lang="en-GB" sz="3600" dirty="0" smtClean="0"/>
              <a:t>.  It can be written on the left or right, above or beside the section. It does  not form part of the law.</a:t>
            </a:r>
            <a:r>
              <a:rPr lang="en-GB" sz="2000" dirty="0" smtClean="0"/>
              <a:t/>
            </a:r>
            <a:br>
              <a:rPr lang="en-GB" sz="2000" dirty="0" smtClean="0"/>
            </a:br>
            <a:r>
              <a:rPr lang="en-GB" sz="2400" dirty="0" smtClean="0"/>
              <a:t/>
            </a:r>
            <a:br>
              <a:rPr lang="en-GB" sz="2400" dirty="0" smtClean="0"/>
            </a:br>
            <a:r>
              <a:rPr lang="en-GB" sz="2800" dirty="0" smtClean="0"/>
              <a:t/>
            </a:r>
            <a:br>
              <a:rPr lang="en-GB" sz="2800" dirty="0" smtClean="0"/>
            </a:br>
            <a:r>
              <a:rPr lang="en-GB" sz="3200" b="1" dirty="0" smtClean="0"/>
              <a:t> </a:t>
            </a:r>
            <a:br>
              <a:rPr lang="en-GB" sz="3200" b="1" dirty="0" smtClean="0"/>
            </a:br>
            <a:endParaRPr lang="en-US" sz="3200" dirty="0"/>
          </a:p>
        </p:txBody>
      </p:sp>
    </p:spTree>
    <p:extLst>
      <p:ext uri="{BB962C8B-B14F-4D97-AF65-F5344CB8AC3E}">
        <p14:creationId xmlns:p14="http://schemas.microsoft.com/office/powerpoint/2010/main" val="2892602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l"/>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SEGMENTS OF A LEGISLATION: </a:t>
            </a:r>
            <a:r>
              <a:rPr lang="en-GB" sz="3200" dirty="0" smtClean="0"/>
              <a:t>A</a:t>
            </a:r>
            <a:r>
              <a:rPr lang="en-NG" sz="3200" dirty="0" smtClean="0"/>
              <a:t> legislation may have four (4) broad segments/parts, namely:</a:t>
            </a:r>
            <a:br>
              <a:rPr lang="en-NG" sz="3200" dirty="0" smtClean="0"/>
            </a:br>
            <a:r>
              <a:rPr lang="en-GB" sz="3200" b="1" dirty="0" smtClean="0"/>
              <a:t>P</a:t>
            </a:r>
            <a:r>
              <a:rPr lang="en-NG" sz="3200" b="1" dirty="0" smtClean="0"/>
              <a:t>reliminary Segment </a:t>
            </a:r>
            <a:r>
              <a:rPr lang="en-NG" sz="3200" dirty="0" smtClean="0"/>
              <a:t>– long title, preamble, short title, enacting formula, application, commencement, interpretation and duration.</a:t>
            </a:r>
            <a:br>
              <a:rPr lang="en-NG" sz="3200" dirty="0" smtClean="0"/>
            </a:br>
            <a:r>
              <a:rPr lang="en-GB" sz="3200" b="1" dirty="0" smtClean="0"/>
              <a:t>P</a:t>
            </a:r>
            <a:r>
              <a:rPr lang="en-NG" sz="3200" b="1" dirty="0" smtClean="0"/>
              <a:t>rincipal Segment </a:t>
            </a:r>
            <a:r>
              <a:rPr lang="en-NG" sz="3200" dirty="0" smtClean="0"/>
              <a:t>– establishment clause, administrative provisions.</a:t>
            </a:r>
            <a:br>
              <a:rPr lang="en-NG" sz="3200" dirty="0" smtClean="0"/>
            </a:br>
            <a:r>
              <a:rPr lang="en-GB" sz="3200" b="1" dirty="0" smtClean="0"/>
              <a:t>M</a:t>
            </a:r>
            <a:r>
              <a:rPr lang="en-NG" sz="3200" b="1" dirty="0" smtClean="0"/>
              <a:t>iscellaneous Segment </a:t>
            </a:r>
            <a:r>
              <a:rPr lang="en-NG" sz="3200" dirty="0" smtClean="0"/>
              <a:t>–</a:t>
            </a:r>
            <a:br>
              <a:rPr lang="en-NG" sz="3200" dirty="0" smtClean="0"/>
            </a:br>
            <a:r>
              <a:rPr lang="en-NG" sz="3200" b="1" dirty="0" smtClean="0"/>
              <a:t>Final Segment </a:t>
            </a:r>
            <a:r>
              <a:rPr lang="en-NG" sz="3200" dirty="0" smtClean="0"/>
              <a:t>-  </a:t>
            </a:r>
            <a:r>
              <a:rPr lang="en-GB" sz="3200" dirty="0" smtClean="0"/>
              <a:t/>
            </a:r>
            <a:br>
              <a:rPr lang="en-GB" sz="3200" dirty="0" smtClean="0"/>
            </a:br>
            <a:r>
              <a:rPr lang="en-GB" sz="2800" dirty="0" smtClean="0"/>
              <a:t>The preliminary segment includes the following:</a:t>
            </a:r>
            <a:br>
              <a:rPr lang="en-GB" sz="2800" dirty="0" smtClean="0"/>
            </a:br>
            <a:r>
              <a:rPr lang="en-GB" sz="800" dirty="0" smtClean="0"/>
              <a:t> </a:t>
            </a:r>
            <a:r>
              <a:rPr lang="en-GB" sz="2800" b="1" dirty="0" smtClean="0"/>
              <a:t>Long Title</a:t>
            </a:r>
            <a:br>
              <a:rPr lang="en-GB" sz="2800" b="1" dirty="0" smtClean="0"/>
            </a:br>
            <a:r>
              <a:rPr lang="en-GB" sz="2800" dirty="0" smtClean="0"/>
              <a:t>The long title states the general purpose of the statutes.  In a statute it normally begin with the phrase: </a:t>
            </a:r>
            <a:r>
              <a:rPr lang="en-GB" sz="2800" b="1" dirty="0" smtClean="0">
                <a:solidFill>
                  <a:srgbClr val="0070C0"/>
                </a:solidFill>
              </a:rPr>
              <a:t>AN ACT </a:t>
            </a:r>
            <a:r>
              <a:rPr lang="en-GB" sz="2800" dirty="0" smtClean="0"/>
              <a:t>and </a:t>
            </a:r>
            <a:r>
              <a:rPr lang="en-GB" sz="2800" b="1" dirty="0" smtClean="0">
                <a:solidFill>
                  <a:srgbClr val="0070C0"/>
                </a:solidFill>
              </a:rPr>
              <a:t>A LAW</a:t>
            </a:r>
            <a:r>
              <a:rPr lang="en-GB" sz="2800" b="1" dirty="0" smtClean="0"/>
              <a:t> </a:t>
            </a:r>
            <a:r>
              <a:rPr lang="en-GB" sz="2800" dirty="0" smtClean="0"/>
              <a:t>for legislation by the National Assembly and State House of Assembly respectively</a:t>
            </a:r>
            <a:br>
              <a:rPr lang="en-GB" sz="2800" dirty="0" smtClean="0"/>
            </a:br>
            <a:r>
              <a:rPr lang="en-NG" sz="3200" dirty="0" smtClean="0"/>
              <a:t> </a:t>
            </a:r>
            <a:br>
              <a:rPr lang="en-NG" sz="3200" dirty="0" smtClean="0"/>
            </a:br>
            <a:endParaRPr lang="en-US" sz="3200" dirty="0"/>
          </a:p>
        </p:txBody>
      </p:sp>
    </p:spTree>
    <p:extLst>
      <p:ext uri="{BB962C8B-B14F-4D97-AF65-F5344CB8AC3E}">
        <p14:creationId xmlns:p14="http://schemas.microsoft.com/office/powerpoint/2010/main" val="154918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When drafting a Bill, you begin with the phrase</a:t>
            </a:r>
            <a:r>
              <a:rPr lang="en-GB" sz="3200" i="1" dirty="0" smtClean="0"/>
              <a:t>:</a:t>
            </a:r>
            <a:br>
              <a:rPr lang="en-GB" sz="3200" i="1" dirty="0" smtClean="0"/>
            </a:br>
            <a:r>
              <a:rPr lang="en-GB" sz="3200" b="1" dirty="0" smtClean="0">
                <a:solidFill>
                  <a:srgbClr val="0070C0"/>
                </a:solidFill>
              </a:rPr>
              <a:t>A BILL FOR AN ACT </a:t>
            </a:r>
            <a:r>
              <a:rPr lang="en-GB" sz="3200" i="1" dirty="0" smtClean="0"/>
              <a:t>or </a:t>
            </a:r>
            <a:r>
              <a:rPr lang="en-GB" sz="3200" b="1" dirty="0" smtClean="0">
                <a:solidFill>
                  <a:srgbClr val="0070C0"/>
                </a:solidFill>
              </a:rPr>
              <a:t>A BILL FOR A LAW</a:t>
            </a:r>
            <a:r>
              <a:rPr lang="en-GB" sz="3200" dirty="0" smtClean="0"/>
              <a:t> </a:t>
            </a:r>
            <a:br>
              <a:rPr lang="en-GB" sz="3200" dirty="0" smtClean="0"/>
            </a:br>
            <a:r>
              <a:rPr lang="en-GB" sz="3200" dirty="0" smtClean="0"/>
              <a:t>for the National and State Houses of Assembly respectively.  It should end with any of the followings: </a:t>
            </a:r>
            <a:br>
              <a:rPr lang="en-GB" sz="3200" dirty="0" smtClean="0"/>
            </a:br>
            <a:r>
              <a:rPr lang="en-GB" sz="3200" b="1" dirty="0" smtClean="0">
                <a:solidFill>
                  <a:srgbClr val="0070C0"/>
                </a:solidFill>
              </a:rPr>
              <a:t>and for related matters; </a:t>
            </a:r>
            <a:br>
              <a:rPr lang="en-GB" sz="3200" b="1" dirty="0" smtClean="0">
                <a:solidFill>
                  <a:srgbClr val="0070C0"/>
                </a:solidFill>
              </a:rPr>
            </a:br>
            <a:r>
              <a:rPr lang="en-GB" sz="3200" b="1" dirty="0" smtClean="0">
                <a:solidFill>
                  <a:srgbClr val="0070C0"/>
                </a:solidFill>
              </a:rPr>
              <a:t>and for matters connected therewith; </a:t>
            </a:r>
            <a:br>
              <a:rPr lang="en-GB" sz="3200" b="1" dirty="0" smtClean="0">
                <a:solidFill>
                  <a:srgbClr val="0070C0"/>
                </a:solidFill>
              </a:rPr>
            </a:br>
            <a:r>
              <a:rPr lang="en-GB" sz="3200" b="1" dirty="0" smtClean="0">
                <a:solidFill>
                  <a:srgbClr val="0070C0"/>
                </a:solidFill>
              </a:rPr>
              <a:t>and for purposes connected therewith; </a:t>
            </a:r>
            <a:br>
              <a:rPr lang="en-GB" sz="3200" b="1" dirty="0" smtClean="0">
                <a:solidFill>
                  <a:srgbClr val="0070C0"/>
                </a:solidFill>
              </a:rPr>
            </a:br>
            <a:r>
              <a:rPr lang="en-GB" sz="3200" b="1" dirty="0" smtClean="0">
                <a:solidFill>
                  <a:srgbClr val="0070C0"/>
                </a:solidFill>
              </a:rPr>
              <a:t>and for connected matters. </a:t>
            </a:r>
            <a:br>
              <a:rPr lang="en-GB" sz="3200" b="1" dirty="0" smtClean="0">
                <a:solidFill>
                  <a:srgbClr val="0070C0"/>
                </a:solidFill>
              </a:rPr>
            </a:br>
            <a:r>
              <a:rPr lang="en-GB" sz="2800" dirty="0" smtClean="0"/>
              <a:t>It can be relied upon to interpret an ambiguous part of a legislation.  </a:t>
            </a:r>
            <a:br>
              <a:rPr lang="en-GB" sz="2800" dirty="0" smtClean="0"/>
            </a:br>
            <a:r>
              <a:rPr lang="en-GB" sz="2800" dirty="0" smtClean="0"/>
              <a:t>See </a:t>
            </a:r>
            <a:r>
              <a:rPr lang="en-GB" sz="2800" i="1" dirty="0" smtClean="0"/>
              <a:t>Bello v AG Oyo State (1986)5 NWLR (Pt.45) 828.</a:t>
            </a:r>
            <a:br>
              <a:rPr lang="en-GB" sz="2800" i="1" dirty="0" smtClean="0"/>
            </a:br>
            <a:r>
              <a:rPr lang="en-GB" sz="2800" b="1" dirty="0" smtClean="0"/>
              <a:t>PREAMBLE: </a:t>
            </a:r>
            <a:r>
              <a:rPr lang="en-GB" sz="3600" dirty="0" smtClean="0"/>
              <a:t>A preamble is used instead of a long title to explain the reason for a particular legislation and its desirability.</a:t>
            </a:r>
            <a:r>
              <a:rPr lang="en-GB" sz="2400" dirty="0" smtClean="0"/>
              <a:t> </a:t>
            </a:r>
            <a:br>
              <a:rPr lang="en-GB" sz="2400" dirty="0" smtClean="0"/>
            </a:br>
            <a:r>
              <a:rPr lang="en-GB" sz="2800" b="1" i="1" dirty="0" smtClean="0"/>
              <a:t/>
            </a:r>
            <a:br>
              <a:rPr lang="en-GB" sz="2800" b="1" i="1" dirty="0" smtClean="0"/>
            </a:br>
            <a:r>
              <a:rPr lang="en-GB" sz="3200" b="1" dirty="0" smtClean="0">
                <a:solidFill>
                  <a:srgbClr val="0070C0"/>
                </a:solidFill>
              </a:rPr>
              <a:t> </a:t>
            </a:r>
            <a:r>
              <a:rPr lang="en-NG" sz="3200" b="1" dirty="0" smtClean="0">
                <a:solidFill>
                  <a:srgbClr val="0070C0"/>
                </a:solidFill>
              </a:rPr>
              <a:t/>
            </a:r>
            <a:br>
              <a:rPr lang="en-NG" sz="3200" b="1" dirty="0" smtClean="0">
                <a:solidFill>
                  <a:srgbClr val="0070C0"/>
                </a:solidFill>
              </a:rPr>
            </a:br>
            <a:endParaRPr lang="en-US" sz="3200" dirty="0"/>
          </a:p>
        </p:txBody>
      </p:sp>
    </p:spTree>
    <p:extLst>
      <p:ext uri="{BB962C8B-B14F-4D97-AF65-F5344CB8AC3E}">
        <p14:creationId xmlns:p14="http://schemas.microsoft.com/office/powerpoint/2010/main" val="1580107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182563" indent="0" algn="l"/>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It is used  where the subject matter is to remedy exceptional local problems; legislation  of constitutional or international importance;  in decrees and edits by military regimes and international treaties.</a:t>
            </a:r>
            <a:br>
              <a:rPr lang="en-GB" sz="3200" dirty="0" smtClean="0"/>
            </a:br>
            <a:r>
              <a:rPr lang="en-GB" sz="3200" b="1" dirty="0" smtClean="0"/>
              <a:t>SHORT TITLE:</a:t>
            </a:r>
            <a:r>
              <a:rPr lang="en-GB" sz="3200" dirty="0" smtClean="0"/>
              <a:t> The short title  underscores the name that a legislation is known. It is the statutory nickname of a legislation. It is usually drafted as</a:t>
            </a:r>
            <a:r>
              <a:rPr lang="en-GB" sz="3200" i="1" dirty="0" smtClean="0"/>
              <a:t> </a:t>
            </a:r>
            <a:r>
              <a:rPr lang="en-GB" sz="3200" dirty="0" smtClean="0"/>
              <a:t>follows</a:t>
            </a:r>
            <a:r>
              <a:rPr lang="en-GB" sz="3200" i="1" dirty="0" smtClean="0"/>
              <a:t>:</a:t>
            </a:r>
            <a:r>
              <a:rPr lang="en-GB" sz="3200" i="1" dirty="0"/>
              <a:t> </a:t>
            </a:r>
            <a:r>
              <a:rPr lang="en-GB" sz="3200" b="1" u="sng" dirty="0" smtClean="0">
                <a:solidFill>
                  <a:schemeClr val="tx2"/>
                </a:solidFill>
              </a:rPr>
              <a:t>This Law may be cited as the Street Hawking Prohibition Law of Kaduna State 2020.</a:t>
            </a:r>
            <a:br>
              <a:rPr lang="en-GB" sz="3200" b="1" u="sng" dirty="0" smtClean="0">
                <a:solidFill>
                  <a:schemeClr val="tx2"/>
                </a:solidFill>
              </a:rPr>
            </a:br>
            <a:endParaRPr lang="en-US" sz="3200" dirty="0">
              <a:solidFill>
                <a:schemeClr val="bg2">
                  <a:lumMod val="10000"/>
                </a:schemeClr>
              </a:solidFill>
            </a:endParaRPr>
          </a:p>
        </p:txBody>
      </p:sp>
    </p:spTree>
    <p:extLst>
      <p:ext uri="{BB962C8B-B14F-4D97-AF65-F5344CB8AC3E}">
        <p14:creationId xmlns:p14="http://schemas.microsoft.com/office/powerpoint/2010/main" val="351265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l"/>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a:solidFill>
                  <a:schemeClr val="bg2">
                    <a:lumMod val="10000"/>
                  </a:schemeClr>
                </a:solidFill>
              </a:rPr>
              <a:t/>
            </a:r>
            <a:br>
              <a:rPr lang="en-GB" sz="3200" b="1" dirty="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a:solidFill>
                  <a:schemeClr val="bg2">
                    <a:lumMod val="10000"/>
                  </a:schemeClr>
                </a:solidFill>
              </a:rPr>
              <a:t/>
            </a:r>
            <a:br>
              <a:rPr lang="en-GB" sz="3200" b="1" dirty="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a:solidFill>
                  <a:schemeClr val="bg2">
                    <a:lumMod val="10000"/>
                  </a:schemeClr>
                </a:solidFill>
              </a:rPr>
              <a:t/>
            </a:r>
            <a:br>
              <a:rPr lang="en-GB" sz="3200" b="1" dirty="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a:solidFill>
                  <a:schemeClr val="bg2">
                    <a:lumMod val="10000"/>
                  </a:schemeClr>
                </a:solidFill>
              </a:rPr>
              <a:t/>
            </a:r>
            <a:br>
              <a:rPr lang="en-GB" sz="3200" b="1" dirty="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a:solidFill>
                  <a:schemeClr val="bg2">
                    <a:lumMod val="10000"/>
                  </a:schemeClr>
                </a:solidFill>
              </a:rPr>
              <a:t/>
            </a:r>
            <a:br>
              <a:rPr lang="en-GB" sz="3200" b="1" dirty="0">
                <a:solidFill>
                  <a:schemeClr val="bg2">
                    <a:lumMod val="10000"/>
                  </a:schemeClr>
                </a:solidFill>
              </a:rPr>
            </a:br>
            <a:r>
              <a:rPr lang="en-GB" sz="3200" b="1" dirty="0" smtClean="0">
                <a:solidFill>
                  <a:schemeClr val="bg2">
                    <a:lumMod val="10000"/>
                  </a:schemeClr>
                </a:solidFill>
              </a:rPr>
              <a:t/>
            </a:r>
            <a:br>
              <a:rPr lang="en-GB" sz="3200" b="1" dirty="0" smtClean="0">
                <a:solidFill>
                  <a:schemeClr val="bg2">
                    <a:lumMod val="10000"/>
                  </a:schemeClr>
                </a:solidFill>
              </a:rPr>
            </a:br>
            <a:r>
              <a:rPr lang="en-GB" sz="3200" b="1" dirty="0" smtClean="0">
                <a:solidFill>
                  <a:schemeClr val="bg2">
                    <a:lumMod val="10000"/>
                  </a:schemeClr>
                </a:solidFill>
              </a:rPr>
              <a:t>COMMENCEMENT: </a:t>
            </a:r>
            <a:r>
              <a:rPr lang="en-GB" sz="3200" dirty="0" smtClean="0"/>
              <a:t>This indicates the date when the law will come in to force or effect. A legislation may come in to force: On the date stated; On the occurrence of an event; Where  an authority is to specify; Where no provision is made, it will commence on the day it is assented to.</a:t>
            </a:r>
            <a:br>
              <a:rPr lang="en-GB" sz="3200" dirty="0" smtClean="0"/>
            </a:br>
            <a:r>
              <a:rPr lang="en-GB" sz="3600" dirty="0" smtClean="0"/>
              <a:t>There are various ways of drafting the commencement clause on the stated date:</a:t>
            </a:r>
            <a:br>
              <a:rPr lang="en-GB" sz="3600" dirty="0" smtClean="0"/>
            </a:br>
            <a:r>
              <a:rPr lang="en-GB" sz="800" dirty="0" smtClean="0"/>
              <a:t/>
            </a:r>
            <a:br>
              <a:rPr lang="en-GB" sz="800" dirty="0" smtClean="0"/>
            </a:br>
            <a:r>
              <a:rPr lang="en-GB" sz="3600" dirty="0" smtClean="0"/>
              <a:t>Usually  written at the right hand side in either of these two ways - </a:t>
            </a:r>
            <a:r>
              <a:rPr lang="en-GB" sz="3600" dirty="0" smtClean="0">
                <a:solidFill>
                  <a:srgbClr val="0070C0"/>
                </a:solidFill>
              </a:rPr>
              <a:t>[13</a:t>
            </a:r>
            <a:r>
              <a:rPr lang="en-GB" sz="3600" baseline="30000" dirty="0" smtClean="0">
                <a:solidFill>
                  <a:srgbClr val="0070C0"/>
                </a:solidFill>
              </a:rPr>
              <a:t>th</a:t>
            </a:r>
            <a:r>
              <a:rPr lang="en-GB" sz="3600" dirty="0" smtClean="0">
                <a:solidFill>
                  <a:srgbClr val="0070C0"/>
                </a:solidFill>
              </a:rPr>
              <a:t> July 2020] </a:t>
            </a:r>
            <a:r>
              <a:rPr lang="en-GB" sz="3600" dirty="0" smtClean="0"/>
              <a:t>or </a:t>
            </a:r>
            <a:r>
              <a:rPr lang="en-GB" sz="3600" dirty="0" smtClean="0">
                <a:solidFill>
                  <a:srgbClr val="0070C0"/>
                </a:solidFill>
              </a:rPr>
              <a:t>Commencement   [13</a:t>
            </a:r>
            <a:r>
              <a:rPr lang="en-GB" sz="3600" baseline="30000" dirty="0" smtClean="0">
                <a:solidFill>
                  <a:srgbClr val="0070C0"/>
                </a:solidFill>
              </a:rPr>
              <a:t>th</a:t>
            </a:r>
            <a:r>
              <a:rPr lang="en-GB" sz="3600" dirty="0" smtClean="0">
                <a:solidFill>
                  <a:srgbClr val="0070C0"/>
                </a:solidFill>
              </a:rPr>
              <a:t>  July 2020]</a:t>
            </a:r>
            <a:br>
              <a:rPr lang="en-GB" sz="3600" dirty="0" smtClean="0">
                <a:solidFill>
                  <a:srgbClr val="0070C0"/>
                </a:solidFill>
              </a:rPr>
            </a:br>
            <a:r>
              <a:rPr lang="en-GB" sz="3600" dirty="0" smtClean="0"/>
              <a:t>Sometimes it forms a section of the law. For</a:t>
            </a:r>
            <a:r>
              <a:rPr lang="en-GB" sz="3600" i="1" dirty="0" smtClean="0"/>
              <a:t> </a:t>
            </a:r>
            <a:r>
              <a:rPr lang="en-GB" sz="3600" dirty="0" smtClean="0"/>
              <a:t>instance</a:t>
            </a:r>
            <a:r>
              <a:rPr lang="en-GB" sz="3600" i="1" dirty="0" smtClean="0"/>
              <a:t>: </a:t>
            </a:r>
            <a:r>
              <a:rPr lang="en-GB" sz="3600" dirty="0" smtClean="0">
                <a:solidFill>
                  <a:srgbClr val="0070C0"/>
                </a:solidFill>
              </a:rPr>
              <a:t>This Law shall come in to force on the 13</a:t>
            </a:r>
            <a:r>
              <a:rPr lang="en-GB" sz="3600" baseline="30000" dirty="0" smtClean="0">
                <a:solidFill>
                  <a:srgbClr val="0070C0"/>
                </a:solidFill>
              </a:rPr>
              <a:t>th</a:t>
            </a:r>
            <a:r>
              <a:rPr lang="en-GB" sz="3600" dirty="0" smtClean="0">
                <a:solidFill>
                  <a:srgbClr val="0070C0"/>
                </a:solidFill>
              </a:rPr>
              <a:t> July 2020.</a:t>
            </a:r>
            <a:br>
              <a:rPr lang="en-GB" sz="3600" dirty="0" smtClean="0">
                <a:solidFill>
                  <a:srgbClr val="0070C0"/>
                </a:solidFill>
              </a:rPr>
            </a:br>
            <a:r>
              <a:rPr lang="en-GB" sz="3200" dirty="0" smtClean="0"/>
              <a:t/>
            </a:r>
            <a:br>
              <a:rPr lang="en-GB" sz="3200" dirty="0" smtClean="0"/>
            </a:br>
            <a:endParaRPr lang="en-US" sz="3200" dirty="0"/>
          </a:p>
        </p:txBody>
      </p:sp>
    </p:spTree>
    <p:extLst>
      <p:ext uri="{BB962C8B-B14F-4D97-AF65-F5344CB8AC3E}">
        <p14:creationId xmlns:p14="http://schemas.microsoft.com/office/powerpoint/2010/main" val="3467714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l"/>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b="1" dirty="0" smtClean="0"/>
              <a:t>When an authority is to specify date or on occurrence of an event: </a:t>
            </a:r>
            <a:r>
              <a:rPr lang="en-GB" sz="3200" dirty="0" smtClean="0"/>
              <a:t>The legislation will come into force on a date to be stated by a particular authority or the occurrence of an event. For instance</a:t>
            </a:r>
            <a:r>
              <a:rPr lang="en-GB" sz="3200" i="1" dirty="0" smtClean="0"/>
              <a:t>:</a:t>
            </a:r>
            <a:r>
              <a:rPr lang="en-GB" sz="3200" i="1" dirty="0"/>
              <a:t> </a:t>
            </a:r>
            <a:r>
              <a:rPr lang="en-GB" sz="3200" b="1" u="sng" dirty="0" smtClean="0">
                <a:solidFill>
                  <a:schemeClr val="tx2"/>
                </a:solidFill>
              </a:rPr>
              <a:t>The Act shall come in to force on a date to be stated by </a:t>
            </a:r>
            <a:r>
              <a:rPr lang="en-GB" sz="3200" b="1" dirty="0" smtClean="0">
                <a:solidFill>
                  <a:srgbClr val="0070C0"/>
                </a:solidFill>
              </a:rPr>
              <a:t>(</a:t>
            </a:r>
            <a:r>
              <a:rPr lang="en-GB" sz="3200" b="1" dirty="0" smtClean="0"/>
              <a:t>State the authority or the event</a:t>
            </a:r>
            <a:r>
              <a:rPr lang="en-GB" sz="3200" b="1" dirty="0" smtClean="0">
                <a:solidFill>
                  <a:srgbClr val="0070C0"/>
                </a:solidFill>
              </a:rPr>
              <a:t>)</a:t>
            </a:r>
            <a:br>
              <a:rPr lang="en-GB" sz="3200" b="1" dirty="0" smtClean="0">
                <a:solidFill>
                  <a:srgbClr val="0070C0"/>
                </a:solidFill>
              </a:rPr>
            </a:br>
            <a:r>
              <a:rPr lang="en-GB" sz="3200" b="1" dirty="0" smtClean="0"/>
              <a:t>Where no provision is made. It will commence on the day it is assented to. </a:t>
            </a:r>
            <a:r>
              <a:rPr lang="en-GB" sz="2800" dirty="0" smtClean="0"/>
              <a:t>May be drafted as follows</a:t>
            </a:r>
            <a:r>
              <a:rPr lang="en-GB" sz="2800" i="1" dirty="0" smtClean="0"/>
              <a:t>: </a:t>
            </a:r>
            <a:r>
              <a:rPr lang="en-GB" sz="2800" i="1" dirty="0"/>
              <a:t> </a:t>
            </a:r>
            <a:r>
              <a:rPr lang="en-GB" sz="2800" b="1" u="sng" dirty="0" smtClean="0">
                <a:solidFill>
                  <a:schemeClr val="tx2"/>
                </a:solidFill>
              </a:rPr>
              <a:t>The Act shall come in to force the day the President assents to it.</a:t>
            </a:r>
            <a:br>
              <a:rPr lang="en-GB" sz="2800" b="1" u="sng" dirty="0" smtClean="0">
                <a:solidFill>
                  <a:schemeClr val="tx2"/>
                </a:solidFill>
              </a:rPr>
            </a:br>
            <a:r>
              <a:rPr lang="en-GB" sz="2400" b="1" dirty="0" smtClean="0"/>
              <a:t>v. Enacting Formula: </a:t>
            </a:r>
            <a:r>
              <a:rPr lang="en-GB" sz="2400" dirty="0" smtClean="0"/>
              <a:t>The enacting formula states the authority that enacts the legislation.</a:t>
            </a:r>
            <a:br>
              <a:rPr lang="en-GB" sz="2400" dirty="0" smtClean="0"/>
            </a:br>
            <a:r>
              <a:rPr lang="en-GB" sz="2400" dirty="0" smtClean="0"/>
              <a:t>In a democratic setting, it is usually drafted by using the following phrases: </a:t>
            </a:r>
            <a:r>
              <a:rPr lang="en-GB" sz="2400" b="1" dirty="0" smtClean="0"/>
              <a:t>ENACTED by </a:t>
            </a:r>
            <a:r>
              <a:rPr lang="en-GB" sz="2400" dirty="0" smtClean="0"/>
              <a:t>or</a:t>
            </a:r>
            <a:r>
              <a:rPr lang="en-GB" sz="2400" i="1" dirty="0" smtClean="0"/>
              <a:t> </a:t>
            </a:r>
            <a:r>
              <a:rPr lang="en-GB" sz="2400" b="1" dirty="0" smtClean="0"/>
              <a:t>IT  IS HEREBY ENACTED by</a:t>
            </a:r>
            <a:r>
              <a:rPr lang="en-GB" sz="2400" i="1" dirty="0" smtClean="0"/>
              <a:t>. </a:t>
            </a:r>
            <a:r>
              <a:rPr lang="en-GB" sz="2400" dirty="0" smtClean="0"/>
              <a:t>For instance:</a:t>
            </a:r>
            <a:br>
              <a:rPr lang="en-GB" sz="2400" dirty="0" smtClean="0"/>
            </a:br>
            <a:r>
              <a:rPr lang="en-GB" sz="1100" i="1" dirty="0" smtClean="0"/>
              <a:t/>
            </a:r>
            <a:br>
              <a:rPr lang="en-GB" sz="1100" i="1" dirty="0" smtClean="0"/>
            </a:br>
            <a:r>
              <a:rPr lang="en-GB" sz="2400" b="1" u="sng" dirty="0" smtClean="0">
                <a:solidFill>
                  <a:schemeClr val="tx2"/>
                </a:solidFill>
              </a:rPr>
              <a:t>ENACTED by the National Assembly of the Federal Republic of Nigeria as follows</a:t>
            </a:r>
            <a:r>
              <a:rPr lang="en-GB" sz="2400" u="sng" dirty="0" smtClean="0">
                <a:solidFill>
                  <a:schemeClr val="tx2"/>
                </a:solidFill>
              </a:rPr>
              <a:t>:</a:t>
            </a:r>
            <a:r>
              <a:rPr lang="en-GB" sz="2400" b="1" dirty="0" smtClean="0">
                <a:solidFill>
                  <a:schemeClr val="tx2"/>
                </a:solidFill>
              </a:rPr>
              <a:t>  </a:t>
            </a:r>
            <a:r>
              <a:rPr lang="en-GB" sz="2400" b="1" dirty="0" smtClean="0">
                <a:solidFill>
                  <a:schemeClr val="tx1">
                    <a:lumMod val="95000"/>
                    <a:lumOff val="5000"/>
                  </a:schemeClr>
                </a:solidFill>
              </a:rPr>
              <a:t>or</a:t>
            </a:r>
            <a:r>
              <a:rPr lang="en-GB" sz="2400" b="1" dirty="0" smtClean="0">
                <a:solidFill>
                  <a:schemeClr val="tx2"/>
                </a:solidFill>
              </a:rPr>
              <a:t> </a:t>
            </a:r>
            <a:r>
              <a:rPr lang="en-GB" sz="2400" b="1" u="sng" dirty="0" smtClean="0">
                <a:solidFill>
                  <a:schemeClr val="tx2"/>
                </a:solidFill>
              </a:rPr>
              <a:t>The Lagos State House of Assembly enacts as follows</a:t>
            </a:r>
            <a:r>
              <a:rPr lang="en-GB" sz="2400" b="1" i="1" dirty="0" smtClean="0">
                <a:solidFill>
                  <a:srgbClr val="0070C0"/>
                </a:solidFill>
              </a:rPr>
              <a:t>:</a:t>
            </a:r>
            <a:br>
              <a:rPr lang="en-GB" sz="2400" b="1" i="1" dirty="0" smtClean="0">
                <a:solidFill>
                  <a:srgbClr val="0070C0"/>
                </a:solidFill>
              </a:rPr>
            </a:br>
            <a:r>
              <a:rPr lang="en-GB" sz="2800" b="1" u="sng" dirty="0" smtClean="0">
                <a:solidFill>
                  <a:schemeClr val="tx2"/>
                </a:solidFill>
              </a:rPr>
              <a:t/>
            </a:r>
            <a:br>
              <a:rPr lang="en-GB" sz="2800" b="1" u="sng" dirty="0" smtClean="0">
                <a:solidFill>
                  <a:schemeClr val="tx2"/>
                </a:solidFill>
              </a:rPr>
            </a:br>
            <a:r>
              <a:rPr lang="en-GB" sz="3200" b="1" dirty="0" smtClean="0">
                <a:solidFill>
                  <a:srgbClr val="0070C0"/>
                </a:solidFill>
              </a:rPr>
              <a:t/>
            </a:r>
            <a:br>
              <a:rPr lang="en-GB" sz="3200" b="1" dirty="0" smtClean="0">
                <a:solidFill>
                  <a:srgbClr val="0070C0"/>
                </a:solidFill>
              </a:rPr>
            </a:br>
            <a:endParaRPr lang="en-US" sz="3200" dirty="0"/>
          </a:p>
        </p:txBody>
      </p:sp>
    </p:spTree>
    <p:extLst>
      <p:ext uri="{BB962C8B-B14F-4D97-AF65-F5344CB8AC3E}">
        <p14:creationId xmlns:p14="http://schemas.microsoft.com/office/powerpoint/2010/main" val="495085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l"/>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
            </a:r>
            <a:br>
              <a:rPr lang="en-GB" sz="3200" dirty="0" smtClean="0"/>
            </a:br>
            <a:r>
              <a:rPr lang="en-GB" sz="3200" dirty="0"/>
              <a:t/>
            </a:r>
            <a:br>
              <a:rPr lang="en-GB" sz="3200" dirty="0"/>
            </a:br>
            <a:r>
              <a:rPr lang="en-GB" sz="3200" dirty="0" smtClean="0"/>
              <a:t>In the military era, decrees (usually promulgated by the Federal Military Government) and edicts (usually promulgated by Military Governor) are drafted as follows</a:t>
            </a:r>
            <a:r>
              <a:rPr lang="en-GB" sz="3200" i="1" dirty="0" smtClean="0"/>
              <a:t>: </a:t>
            </a:r>
            <a:r>
              <a:rPr lang="en-GB" sz="3200" b="1" u="sng" dirty="0" smtClean="0">
                <a:solidFill>
                  <a:schemeClr val="tx2"/>
                </a:solidFill>
              </a:rPr>
              <a:t>The Federal  Military Government hereby decrees as follows</a:t>
            </a:r>
            <a:r>
              <a:rPr lang="en-GB" sz="3200" b="1" dirty="0" smtClean="0">
                <a:solidFill>
                  <a:schemeClr val="accent1"/>
                </a:solidFill>
              </a:rPr>
              <a:t>: </a:t>
            </a:r>
            <a:r>
              <a:rPr lang="en-GB" sz="3200" b="1" dirty="0" smtClean="0">
                <a:solidFill>
                  <a:schemeClr val="tx1">
                    <a:lumMod val="95000"/>
                    <a:lumOff val="5000"/>
                  </a:schemeClr>
                </a:solidFill>
              </a:rPr>
              <a:t>or</a:t>
            </a:r>
            <a:r>
              <a:rPr lang="en-GB" sz="3200" b="1" dirty="0" smtClean="0">
                <a:solidFill>
                  <a:schemeClr val="accent1"/>
                </a:solidFill>
              </a:rPr>
              <a:t> </a:t>
            </a:r>
            <a:r>
              <a:rPr lang="en-GB" sz="3200" b="1" u="sng" dirty="0" smtClean="0">
                <a:solidFill>
                  <a:schemeClr val="tx2"/>
                </a:solidFill>
              </a:rPr>
              <a:t>The Military Governor of Lagos State of Nigeria makes the following Edict.</a:t>
            </a:r>
            <a:br>
              <a:rPr lang="en-GB" sz="3200" b="1" u="sng" dirty="0" smtClean="0">
                <a:solidFill>
                  <a:schemeClr val="tx2"/>
                </a:solidFill>
              </a:rPr>
            </a:br>
            <a:r>
              <a:rPr lang="en-GB" sz="2800" b="1" dirty="0" smtClean="0"/>
              <a:t>vi. Interpretation Clause: </a:t>
            </a:r>
            <a:r>
              <a:rPr lang="en-GB" sz="3200" dirty="0" smtClean="0"/>
              <a:t>Interpretation clause gives meanings and explanations to words used in a legislation.  In drafting it usually begins with the phrase: </a:t>
            </a:r>
            <a:r>
              <a:rPr lang="en-GB" sz="2800" b="1" dirty="0" smtClean="0">
                <a:solidFill>
                  <a:schemeClr val="tx2"/>
                </a:solidFill>
              </a:rPr>
              <a:t>In this Act/Law </a:t>
            </a:r>
            <a:r>
              <a:rPr lang="en-GB" sz="2800" b="1" i="1" dirty="0" smtClean="0"/>
              <a:t>Or  </a:t>
            </a:r>
            <a:r>
              <a:rPr lang="en-GB" sz="2800" b="1" dirty="0" smtClean="0">
                <a:solidFill>
                  <a:schemeClr val="tx2"/>
                </a:solidFill>
              </a:rPr>
              <a:t>In this Act/Law, unless the context otherwise requires or provides. </a:t>
            </a:r>
            <a:r>
              <a:rPr lang="en-GB" sz="2800" dirty="0" smtClean="0"/>
              <a:t>The words used to define or give meaning are:</a:t>
            </a:r>
            <a:br>
              <a:rPr lang="en-GB" sz="2800" dirty="0" smtClean="0"/>
            </a:br>
            <a:r>
              <a:rPr lang="en-GB" sz="2800" b="1" dirty="0" smtClean="0">
                <a:solidFill>
                  <a:srgbClr val="0070C0"/>
                </a:solidFill>
              </a:rPr>
              <a:t>Means - </a:t>
            </a:r>
            <a:r>
              <a:rPr lang="en-GB" sz="2800" b="1" dirty="0" smtClean="0"/>
              <a:t>Where the meaning is closed or restricted.</a:t>
            </a:r>
            <a:br>
              <a:rPr lang="en-GB" sz="2800" b="1" dirty="0" smtClean="0"/>
            </a:br>
            <a:r>
              <a:rPr lang="en-GB" sz="2800" b="1" dirty="0" smtClean="0">
                <a:solidFill>
                  <a:schemeClr val="accent1"/>
                </a:solidFill>
              </a:rPr>
              <a:t>Includes</a:t>
            </a:r>
            <a:r>
              <a:rPr lang="en-GB" sz="2800" dirty="0" smtClean="0"/>
              <a:t> - </a:t>
            </a:r>
            <a:r>
              <a:rPr lang="en-GB" sz="2800" b="1" dirty="0" smtClean="0"/>
              <a:t>Where the meaning is open or in exhaustive</a:t>
            </a:r>
            <a:r>
              <a:rPr lang="en-GB" sz="2800" dirty="0" smtClean="0"/>
              <a:t>.</a:t>
            </a:r>
            <a:br>
              <a:rPr lang="en-GB" sz="2800" dirty="0" smtClean="0"/>
            </a:br>
            <a:r>
              <a:rPr lang="en-GB" sz="2800" dirty="0" smtClean="0"/>
              <a:t>For instance,</a:t>
            </a:r>
            <a:r>
              <a:rPr lang="en-GB" sz="2800" i="1" dirty="0" smtClean="0"/>
              <a:t> </a:t>
            </a:r>
            <a:r>
              <a:rPr lang="en-GB" sz="2800" dirty="0" smtClean="0"/>
              <a:t>In this Act, unless the context otherwise requires: </a:t>
            </a:r>
            <a:r>
              <a:rPr lang="en-GB" sz="2800" b="1" dirty="0" smtClean="0">
                <a:solidFill>
                  <a:schemeClr val="accent1"/>
                </a:solidFill>
              </a:rPr>
              <a:t>Regulation, means ---</a:t>
            </a:r>
            <a:r>
              <a:rPr lang="en-GB" sz="2800" b="1" dirty="0">
                <a:solidFill>
                  <a:schemeClr val="accent1"/>
                </a:solidFill>
              </a:rPr>
              <a:t> </a:t>
            </a:r>
            <a:r>
              <a:rPr lang="en-GB" sz="2800" b="1" dirty="0" smtClean="0">
                <a:solidFill>
                  <a:schemeClr val="accent1"/>
                </a:solidFill>
              </a:rPr>
              <a:t>Corporation, includes ----</a:t>
            </a:r>
            <a:br>
              <a:rPr lang="en-GB" sz="2800" b="1" dirty="0" smtClean="0">
                <a:solidFill>
                  <a:schemeClr val="accent1"/>
                </a:solidFill>
              </a:rPr>
            </a:br>
            <a:r>
              <a:rPr lang="en-GB" sz="2800" b="1" dirty="0" smtClean="0">
                <a:solidFill>
                  <a:schemeClr val="tx2"/>
                </a:solidFill>
              </a:rPr>
              <a:t/>
            </a:r>
            <a:br>
              <a:rPr lang="en-GB" sz="2800" b="1" dirty="0" smtClean="0">
                <a:solidFill>
                  <a:schemeClr val="tx2"/>
                </a:solidFill>
              </a:rPr>
            </a:br>
            <a:r>
              <a:rPr lang="en-GB" sz="3200" b="1" u="sng" dirty="0" smtClean="0">
                <a:solidFill>
                  <a:schemeClr val="tx2"/>
                </a:solidFill>
              </a:rPr>
              <a:t/>
            </a:r>
            <a:br>
              <a:rPr lang="en-GB" sz="3200" b="1" u="sng" dirty="0" smtClean="0">
                <a:solidFill>
                  <a:schemeClr val="tx2"/>
                </a:solidFill>
              </a:rPr>
            </a:br>
            <a:endParaRPr lang="en-US" sz="3200" dirty="0"/>
          </a:p>
        </p:txBody>
      </p:sp>
    </p:spTree>
    <p:extLst>
      <p:ext uri="{BB962C8B-B14F-4D97-AF65-F5344CB8AC3E}">
        <p14:creationId xmlns:p14="http://schemas.microsoft.com/office/powerpoint/2010/main" val="3231340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vii. Application: </a:t>
            </a:r>
            <a:r>
              <a:rPr lang="en-GB" sz="3200" dirty="0" smtClean="0"/>
              <a:t>Application indicates, the persons, territory or subject matter which the legislation shall apply to. For instance:</a:t>
            </a:r>
            <a:r>
              <a:rPr lang="en-GB" sz="3200" i="1" dirty="0" smtClean="0"/>
              <a:t>  </a:t>
            </a:r>
            <a:r>
              <a:rPr lang="en-GB" sz="3200" b="1" u="sng" dirty="0" smtClean="0">
                <a:solidFill>
                  <a:schemeClr val="tx2"/>
                </a:solidFill>
              </a:rPr>
              <a:t>This law shall apply to all disable persons in Lagos State.</a:t>
            </a:r>
            <a:br>
              <a:rPr lang="en-GB" sz="3200" b="1" u="sng" dirty="0" smtClean="0">
                <a:solidFill>
                  <a:schemeClr val="tx2"/>
                </a:solidFill>
              </a:rPr>
            </a:br>
            <a:r>
              <a:rPr lang="en-GB" sz="2800" b="1" dirty="0" smtClean="0"/>
              <a:t>viii. Duration: </a:t>
            </a:r>
            <a:r>
              <a:rPr lang="en-GB" sz="2800" dirty="0" smtClean="0"/>
              <a:t>Duration indicates the period of time that a legislation will be in force. For instance: </a:t>
            </a:r>
            <a:r>
              <a:rPr lang="en-GB" sz="2800" b="1" u="sng" dirty="0" smtClean="0">
                <a:solidFill>
                  <a:schemeClr val="tx2"/>
                </a:solidFill>
              </a:rPr>
              <a:t>This Law shall continue in force until the 30</a:t>
            </a:r>
            <a:r>
              <a:rPr lang="en-GB" sz="2800" b="1" u="sng" baseline="30000" dirty="0" smtClean="0">
                <a:solidFill>
                  <a:schemeClr val="tx2"/>
                </a:solidFill>
              </a:rPr>
              <a:t>th</a:t>
            </a:r>
            <a:r>
              <a:rPr lang="en-GB" sz="2800" b="1" u="sng" dirty="0" smtClean="0">
                <a:solidFill>
                  <a:schemeClr val="tx2"/>
                </a:solidFill>
              </a:rPr>
              <a:t> June 2023; </a:t>
            </a:r>
            <a:r>
              <a:rPr lang="en-GB" sz="2800" b="1" i="1" dirty="0" smtClean="0"/>
              <a:t>Or </a:t>
            </a:r>
            <a:r>
              <a:rPr lang="en-GB" sz="2800" b="1" u="sng" dirty="0" smtClean="0">
                <a:solidFill>
                  <a:schemeClr val="tx2"/>
                </a:solidFill>
              </a:rPr>
              <a:t>This Act shall  continue be in force until it is repealed</a:t>
            </a:r>
            <a:r>
              <a:rPr lang="en-GB" sz="2800" b="1" i="1" dirty="0" smtClean="0">
                <a:solidFill>
                  <a:schemeClr val="accent1"/>
                </a:solidFill>
              </a:rPr>
              <a:t>; </a:t>
            </a:r>
            <a:r>
              <a:rPr lang="en-GB" sz="3000" b="1" i="1" dirty="0" smtClean="0"/>
              <a:t>Or</a:t>
            </a:r>
            <a:r>
              <a:rPr lang="en-GB" sz="3000" b="1" i="1" dirty="0" smtClean="0">
                <a:solidFill>
                  <a:schemeClr val="accent1"/>
                </a:solidFill>
              </a:rPr>
              <a:t> </a:t>
            </a:r>
            <a:r>
              <a:rPr lang="en-GB" sz="2800" b="1" u="sng" dirty="0" smtClean="0">
                <a:solidFill>
                  <a:schemeClr val="tx2"/>
                </a:solidFill>
              </a:rPr>
              <a:t>This Law shall come in to force on the 1</a:t>
            </a:r>
            <a:r>
              <a:rPr lang="en-GB" sz="2800" b="1" u="sng" baseline="30000" dirty="0" smtClean="0">
                <a:solidFill>
                  <a:schemeClr val="tx2"/>
                </a:solidFill>
              </a:rPr>
              <a:t>st</a:t>
            </a:r>
            <a:r>
              <a:rPr lang="en-GB" sz="2800" b="1" u="sng" dirty="0" smtClean="0">
                <a:solidFill>
                  <a:schemeClr val="tx2"/>
                </a:solidFill>
              </a:rPr>
              <a:t> August 2023 and shall continue in force for 5 years</a:t>
            </a:r>
            <a:r>
              <a:rPr lang="en-GB" sz="2800" b="1" i="1" dirty="0" smtClean="0">
                <a:solidFill>
                  <a:schemeClr val="accent1"/>
                </a:solidFill>
              </a:rPr>
              <a:t>.</a:t>
            </a:r>
            <a:br>
              <a:rPr lang="en-GB" sz="2800" b="1" i="1" dirty="0" smtClean="0">
                <a:solidFill>
                  <a:schemeClr val="accent1"/>
                </a:solidFill>
              </a:rPr>
            </a:br>
            <a:r>
              <a:rPr lang="en-GB" sz="2800" b="1" dirty="0" smtClean="0"/>
              <a:t>B. Principal Segment: </a:t>
            </a:r>
            <a:r>
              <a:rPr lang="en-GB" sz="2800" dirty="0" smtClean="0"/>
              <a:t>This segment provides for substantive and administrative matters which includes establishment and administrative provisions. </a:t>
            </a:r>
            <a:r>
              <a:rPr lang="en-GB" sz="2400" dirty="0" smtClean="0"/>
              <a:t/>
            </a:r>
            <a:br>
              <a:rPr lang="en-GB" sz="2400" dirty="0" smtClean="0"/>
            </a:br>
            <a:r>
              <a:rPr lang="en-GB" sz="2400" dirty="0" smtClean="0"/>
              <a:t>i. </a:t>
            </a:r>
            <a:r>
              <a:rPr lang="en-GB" sz="2400" b="1" dirty="0" smtClean="0"/>
              <a:t>Establishment Provisions</a:t>
            </a:r>
            <a:r>
              <a:rPr lang="en-GB" sz="2400" dirty="0" smtClean="0"/>
              <a:t> </a:t>
            </a:r>
            <a:br>
              <a:rPr lang="en-GB" sz="2400" dirty="0" smtClean="0"/>
            </a:br>
            <a:r>
              <a:rPr lang="en-GB" sz="2400" dirty="0" smtClean="0"/>
              <a:t>The establishment provisions is used where the </a:t>
            </a:r>
            <a:r>
              <a:rPr lang="en-GB" sz="2400" b="1" dirty="0" smtClean="0"/>
              <a:t>legislation establishes a statutory or regulatory body</a:t>
            </a:r>
            <a:r>
              <a:rPr lang="en-GB" sz="2400" dirty="0" smtClean="0"/>
              <a:t>. It includes the </a:t>
            </a:r>
            <a:r>
              <a:rPr lang="en-GB" sz="2400" b="1" dirty="0" smtClean="0"/>
              <a:t>Establishment clause</a:t>
            </a:r>
            <a:r>
              <a:rPr lang="en-GB" sz="2400" dirty="0" smtClean="0"/>
              <a:t>, </a:t>
            </a:r>
            <a:r>
              <a:rPr lang="en-GB" sz="2400" b="1" dirty="0" smtClean="0"/>
              <a:t>Membership</a:t>
            </a:r>
            <a:r>
              <a:rPr lang="en-GB" sz="2400" dirty="0" smtClean="0"/>
              <a:t>, </a:t>
            </a:r>
            <a:r>
              <a:rPr lang="en-GB" sz="2400" b="1" dirty="0" smtClean="0"/>
              <a:t>Management</a:t>
            </a:r>
            <a:r>
              <a:rPr lang="en-GB" sz="2400" dirty="0" smtClean="0"/>
              <a:t>, </a:t>
            </a:r>
            <a:r>
              <a:rPr lang="en-GB" sz="2400" b="1" dirty="0" smtClean="0"/>
              <a:t>General duties</a:t>
            </a:r>
            <a:r>
              <a:rPr lang="en-GB" sz="2400" dirty="0" smtClean="0"/>
              <a:t>, </a:t>
            </a:r>
            <a:r>
              <a:rPr lang="en-GB" sz="2400" b="1" dirty="0" smtClean="0"/>
              <a:t>Finance and Tenure of office</a:t>
            </a:r>
            <a:r>
              <a:rPr lang="en-GB" sz="2400" dirty="0" smtClean="0"/>
              <a:t>.</a:t>
            </a:r>
            <a:br>
              <a:rPr lang="en-GB" sz="2400" dirty="0" smtClean="0"/>
            </a:br>
            <a:r>
              <a:rPr lang="en-GB" sz="2800" dirty="0" smtClean="0"/>
              <a:t/>
            </a:r>
            <a:br>
              <a:rPr lang="en-GB" sz="2800" dirty="0" smtClean="0"/>
            </a:br>
            <a:r>
              <a:rPr lang="en-GB" sz="3200" b="1" u="sng" dirty="0" smtClean="0">
                <a:solidFill>
                  <a:schemeClr val="tx2"/>
                </a:solidFill>
              </a:rPr>
              <a:t/>
            </a:r>
            <a:br>
              <a:rPr lang="en-GB" sz="3200" b="1" u="sng" dirty="0" smtClean="0">
                <a:solidFill>
                  <a:schemeClr val="tx2"/>
                </a:solidFill>
              </a:rPr>
            </a:br>
            <a:endParaRPr lang="en-US" sz="3200" dirty="0"/>
          </a:p>
        </p:txBody>
      </p:sp>
    </p:spTree>
    <p:extLst>
      <p:ext uri="{BB962C8B-B14F-4D97-AF65-F5344CB8AC3E}">
        <p14:creationId xmlns:p14="http://schemas.microsoft.com/office/powerpoint/2010/main" val="464531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65125" indent="0" algn="l"/>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Establishment Clause</a:t>
            </a:r>
            <a:br>
              <a:rPr lang="en-GB" sz="3200" b="1" dirty="0" smtClean="0"/>
            </a:br>
            <a:r>
              <a:rPr lang="en-GB" sz="3200" dirty="0" smtClean="0"/>
              <a:t>It provides the name of the body or the agency established under the law. It is usually drafted by using the following phrases:</a:t>
            </a:r>
            <a:r>
              <a:rPr lang="en-GB" sz="3200" i="1" dirty="0" smtClean="0"/>
              <a:t> </a:t>
            </a:r>
            <a:r>
              <a:rPr lang="en-GB" sz="3500" b="1" u="sng" dirty="0" smtClean="0">
                <a:solidFill>
                  <a:schemeClr val="tx2"/>
                </a:solidFill>
              </a:rPr>
              <a:t>There is hereby established a body to be known  </a:t>
            </a:r>
            <a:r>
              <a:rPr lang="en-GB" sz="3500" b="1" u="sng" dirty="0" smtClean="0">
                <a:solidFill>
                  <a:schemeClr val="tx1">
                    <a:lumMod val="85000"/>
                    <a:lumOff val="15000"/>
                  </a:schemeClr>
                </a:solidFill>
              </a:rPr>
              <a:t>as</a:t>
            </a:r>
            <a:r>
              <a:rPr lang="en-GB" sz="3500" b="1" dirty="0" smtClean="0">
                <a:solidFill>
                  <a:schemeClr val="tx1">
                    <a:lumMod val="85000"/>
                    <a:lumOff val="15000"/>
                  </a:schemeClr>
                </a:solidFill>
              </a:rPr>
              <a:t>;</a:t>
            </a:r>
            <a:r>
              <a:rPr lang="en-GB" sz="3200" b="1" dirty="0">
                <a:solidFill>
                  <a:schemeClr val="tx2"/>
                </a:solidFill>
              </a:rPr>
              <a:t> </a:t>
            </a:r>
            <a:r>
              <a:rPr lang="en-GB" sz="3200" b="1" dirty="0" smtClean="0">
                <a:solidFill>
                  <a:schemeClr val="tx2"/>
                </a:solidFill>
              </a:rPr>
              <a:t>or </a:t>
            </a:r>
            <a:r>
              <a:rPr lang="en-GB" sz="3500" b="1" u="sng" dirty="0" smtClean="0">
                <a:solidFill>
                  <a:schemeClr val="tx1">
                    <a:lumMod val="85000"/>
                    <a:lumOff val="15000"/>
                  </a:schemeClr>
                </a:solidFill>
              </a:rPr>
              <a:t>There</a:t>
            </a:r>
            <a:r>
              <a:rPr lang="en-GB" sz="3500" b="1" u="sng" dirty="0" smtClean="0">
                <a:solidFill>
                  <a:schemeClr val="tx2"/>
                </a:solidFill>
              </a:rPr>
              <a:t> is established a body to be known as</a:t>
            </a:r>
            <a:r>
              <a:rPr lang="en-GB" sz="3200" b="1" dirty="0" smtClean="0">
                <a:solidFill>
                  <a:schemeClr val="tx2"/>
                </a:solidFill>
              </a:rPr>
              <a:t>; </a:t>
            </a:r>
            <a:r>
              <a:rPr lang="en-GB" sz="2600" b="1" dirty="0" smtClean="0"/>
              <a:t>Or</a:t>
            </a:r>
            <a:r>
              <a:rPr lang="en-GB" sz="2600" b="1" dirty="0"/>
              <a:t> </a:t>
            </a:r>
            <a:r>
              <a:rPr lang="en-GB" sz="3500" b="1" u="sng" dirty="0" smtClean="0">
                <a:solidFill>
                  <a:schemeClr val="tx2"/>
                </a:solidFill>
              </a:rPr>
              <a:t>There shall be a body to be known as; </a:t>
            </a:r>
            <a:r>
              <a:rPr lang="en-GB" sz="3200" i="1" dirty="0" smtClean="0"/>
              <a:t>Or </a:t>
            </a:r>
            <a:br>
              <a:rPr lang="en-GB" sz="3200" i="1" dirty="0" smtClean="0"/>
            </a:br>
            <a:r>
              <a:rPr lang="en-GB" sz="3200" b="1" u="sng" dirty="0" smtClean="0">
                <a:solidFill>
                  <a:schemeClr val="tx2"/>
                </a:solidFill>
              </a:rPr>
              <a:t>There shall continue to be established a body to be known as </a:t>
            </a:r>
            <a:r>
              <a:rPr lang="en-GB" sz="3200" dirty="0" smtClean="0"/>
              <a:t>(This is in the circumstance where the body is already in existence). For instance:</a:t>
            </a:r>
            <a:r>
              <a:rPr lang="en-GB" sz="3200" i="1" dirty="0" smtClean="0"/>
              <a:t> </a:t>
            </a:r>
            <a:r>
              <a:rPr lang="en-GB" sz="3200" b="1" u="sng" dirty="0" smtClean="0">
                <a:solidFill>
                  <a:schemeClr val="tx2"/>
                </a:solidFill>
              </a:rPr>
              <a:t>There is established a body to be known as  the Environmental Sanitation Regulatory Agency Adamawa State.</a:t>
            </a:r>
            <a:br>
              <a:rPr lang="en-GB" sz="3200" b="1" u="sng" dirty="0" smtClean="0">
                <a:solidFill>
                  <a:schemeClr val="tx2"/>
                </a:solidFill>
              </a:rPr>
            </a:br>
            <a:r>
              <a:rPr lang="en-GB" sz="3500" b="1" u="sng" dirty="0" smtClean="0">
                <a:solidFill>
                  <a:schemeClr val="tx2"/>
                </a:solidFill>
              </a:rPr>
              <a:t/>
            </a:r>
            <a:br>
              <a:rPr lang="en-GB" sz="3500" b="1" u="sng" dirty="0" smtClean="0">
                <a:solidFill>
                  <a:schemeClr val="tx2"/>
                </a:solidFill>
              </a:rPr>
            </a:br>
            <a:endParaRPr lang="en-US" sz="3200" dirty="0"/>
          </a:p>
        </p:txBody>
      </p:sp>
    </p:spTree>
    <p:extLst>
      <p:ext uri="{BB962C8B-B14F-4D97-AF65-F5344CB8AC3E}">
        <p14:creationId xmlns:p14="http://schemas.microsoft.com/office/powerpoint/2010/main" val="1704730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1440"/>
            <a:ext cx="8229600" cy="1143000"/>
          </a:xfrm>
        </p:spPr>
        <p:txBody>
          <a:bodyPr>
            <a:normAutofit fontScale="90000"/>
          </a:bodyPr>
          <a:lstStyle/>
          <a:p>
            <a:pPr algn="l"/>
            <a:r>
              <a:rPr lang="en-GB" sz="3200" b="1" dirty="0" smtClean="0"/>
              <a:t/>
            </a:r>
            <a:br>
              <a:rPr lang="en-GB" sz="3200" b="1" dirty="0" smtClean="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II. Administration provisions</a:t>
            </a:r>
            <a:br>
              <a:rPr lang="en-GB" sz="3200" b="1" dirty="0" smtClean="0"/>
            </a:br>
            <a:r>
              <a:rPr lang="en-GB" sz="3200" dirty="0" smtClean="0"/>
              <a:t>Administrative provisions consists of the execution of documents, the use and custody of seal, the staff of the corporation, meetings etc.</a:t>
            </a:r>
            <a:br>
              <a:rPr lang="en-GB" sz="3200" dirty="0" smtClean="0"/>
            </a:br>
            <a:r>
              <a:rPr lang="en-GB" sz="2800" b="1" dirty="0" smtClean="0"/>
              <a:t>C. Miscellaneous Segment: </a:t>
            </a:r>
            <a:r>
              <a:rPr lang="en-GB" sz="3200" dirty="0" smtClean="0"/>
              <a:t>This segment deals with offences and penalties, miscellaneous and supplementary provisions, power to make subsidiary legislation etc.</a:t>
            </a:r>
            <a:br>
              <a:rPr lang="en-GB" sz="3200" dirty="0" smtClean="0"/>
            </a:br>
            <a:r>
              <a:rPr lang="en-GB" sz="2800" b="1" dirty="0" smtClean="0"/>
              <a:t>D. Final Segment: </a:t>
            </a:r>
            <a:r>
              <a:rPr lang="en-GB" sz="3200" dirty="0" smtClean="0"/>
              <a:t>Final segment consists of  Savings, Repeals, Transitional Provisions, Schedules, Citation, Explanatory notes etc. </a:t>
            </a:r>
            <a:br>
              <a:rPr lang="en-GB" sz="3200" dirty="0" smtClean="0"/>
            </a:br>
            <a:r>
              <a:rPr lang="en-GB" sz="3200" b="1" dirty="0" smtClean="0"/>
              <a:t>Savings</a:t>
            </a:r>
            <a:r>
              <a:rPr lang="en-GB" sz="3200" dirty="0" smtClean="0"/>
              <a:t> is usually as follows:</a:t>
            </a:r>
            <a:r>
              <a:rPr lang="en-GB" sz="3200" i="1" dirty="0" smtClean="0"/>
              <a:t> </a:t>
            </a:r>
            <a:r>
              <a:rPr lang="en-GB" sz="3200" b="1" u="sng" dirty="0" smtClean="0">
                <a:solidFill>
                  <a:schemeClr val="tx2"/>
                </a:solidFill>
              </a:rPr>
              <a:t>Save and except as otherwise provided, section 3 shall not be repealed under this amendment</a:t>
            </a:r>
            <a:r>
              <a:rPr lang="en-GB" sz="3200" b="1" dirty="0" smtClean="0">
                <a:solidFill>
                  <a:schemeClr val="tx2"/>
                </a:solidFill>
              </a:rPr>
              <a:t>.</a:t>
            </a:r>
            <a:br>
              <a:rPr lang="en-GB" sz="3200" b="1" dirty="0" smtClean="0">
                <a:solidFill>
                  <a:schemeClr val="tx2"/>
                </a:solidFill>
              </a:rPr>
            </a:br>
            <a:r>
              <a:rPr lang="en-GB" sz="3200" b="1" dirty="0" smtClean="0"/>
              <a:t>Schedule</a:t>
            </a:r>
            <a:r>
              <a:rPr lang="en-GB" sz="3200" dirty="0" smtClean="0"/>
              <a:t> is used to banish details from the body of a  legislation.  It constitutes a  part of  a legislation.</a:t>
            </a:r>
            <a:r>
              <a:rPr lang="en-GB" sz="3200" b="1" dirty="0" smtClean="0"/>
              <a:t/>
            </a:r>
            <a:br>
              <a:rPr lang="en-GB" sz="3200" b="1" dirty="0" smtClean="0"/>
            </a:br>
            <a:r>
              <a:rPr lang="en-GB" sz="3200" b="1" dirty="0" smtClean="0"/>
              <a:t/>
            </a:r>
            <a:br>
              <a:rPr lang="en-GB" sz="3200" b="1" dirty="0" smtClean="0"/>
            </a:br>
            <a:r>
              <a:rPr lang="en-GB" sz="3200" dirty="0" smtClean="0"/>
              <a:t/>
            </a:r>
            <a:br>
              <a:rPr lang="en-GB" sz="3200" dirty="0" smtClean="0"/>
            </a:br>
            <a:endParaRPr lang="en-US" sz="3200" dirty="0"/>
          </a:p>
        </p:txBody>
      </p:sp>
    </p:spTree>
    <p:extLst>
      <p:ext uri="{BB962C8B-B14F-4D97-AF65-F5344CB8AC3E}">
        <p14:creationId xmlns:p14="http://schemas.microsoft.com/office/powerpoint/2010/main" val="1366392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l"/>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a:t/>
            </a:r>
            <a:br>
              <a:rPr lang="en-GB" sz="3200" b="1" dirty="0"/>
            </a:br>
            <a:r>
              <a:rPr lang="en-GB" sz="3200" b="1" dirty="0" smtClean="0"/>
              <a:t/>
            </a:r>
            <a:br>
              <a:rPr lang="en-GB" sz="3200" b="1" dirty="0" smtClean="0"/>
            </a:br>
            <a:r>
              <a:rPr lang="en-GB" sz="3200" b="1" dirty="0" smtClean="0"/>
              <a:t>Aids to Good </a:t>
            </a:r>
            <a:r>
              <a:rPr lang="en-GB" sz="3200" b="1" dirty="0" err="1" smtClean="0"/>
              <a:t>Draftsmanship</a:t>
            </a:r>
            <a:r>
              <a:rPr lang="en-GB" sz="3200" b="1" dirty="0" smtClean="0"/>
              <a:t>: </a:t>
            </a:r>
            <a:r>
              <a:rPr lang="en-GB" sz="3200" dirty="0" smtClean="0"/>
              <a:t>A drafts man should be able to:</a:t>
            </a:r>
            <a:r>
              <a:rPr lang="en-GB" sz="3200" dirty="0"/>
              <a:t> </a:t>
            </a:r>
            <a:r>
              <a:rPr lang="en-GB" sz="3200" dirty="0" smtClean="0"/>
              <a:t>Adequately elicit the relevant instruction and capture the intention of the sponsor</a:t>
            </a:r>
            <a:br>
              <a:rPr lang="en-GB" sz="3200" dirty="0" smtClean="0"/>
            </a:br>
            <a:r>
              <a:rPr lang="en-GB" sz="3200" dirty="0" smtClean="0"/>
              <a:t>Use proper language and grammar</a:t>
            </a:r>
            <a:br>
              <a:rPr lang="en-GB" sz="3200" dirty="0" smtClean="0"/>
            </a:br>
            <a:r>
              <a:rPr lang="en-GB" sz="3200" dirty="0" smtClean="0"/>
              <a:t>Demonstrate skill, ingenuity and creativity</a:t>
            </a:r>
            <a:br>
              <a:rPr lang="en-GB" sz="3200" dirty="0" smtClean="0"/>
            </a:br>
            <a:r>
              <a:rPr lang="en-GB" sz="3200" dirty="0" smtClean="0"/>
              <a:t>Use relevant existing precedents.</a:t>
            </a:r>
            <a:br>
              <a:rPr lang="en-GB" sz="3200" dirty="0" smtClean="0"/>
            </a:br>
            <a:r>
              <a:rPr lang="en-GB" sz="3200" dirty="0" smtClean="0"/>
              <a:t>Be brief, concise and precise</a:t>
            </a:r>
            <a:br>
              <a:rPr lang="en-GB" sz="3200" dirty="0" smtClean="0"/>
            </a:br>
            <a:endParaRPr lang="en-US" sz="3200" dirty="0"/>
          </a:p>
        </p:txBody>
      </p:sp>
    </p:spTree>
    <p:extLst>
      <p:ext uri="{BB962C8B-B14F-4D97-AF65-F5344CB8AC3E}">
        <p14:creationId xmlns:p14="http://schemas.microsoft.com/office/powerpoint/2010/main" val="4218237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TotalTime>
  <Words>1</Words>
  <Application>Microsoft Office PowerPoint</Application>
  <PresentationFormat>On-screen Show (4:3)</PresentationFormat>
  <Paragraphs>21</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DRAFTING 1 (i) BASIC DRAFTING PRINCIPLES  (ii) STAGES OF DRAFTING (iii) LEGISLATIVE DRAFTING. </vt:lpstr>
      <vt:lpstr>        STAGES OF DRAFTING: 1. Taking and understanding instruction 2. Analysing, classification and research 3. Design and planning the outline 4. Composition.  5. Scrutinizing, editing and checking the draft. TAKING AND UNDERSTANDING INSTRUCTIONS:(a) Conducting Interview (b) The use of checklists (c) Listening and Questioning clients (d) Advising the client ANALYSIS, CLASSIFICATION AND RESEARCH: This is the stage where the lawyer should classify the instruction he has received into the proper legal category, and carry out research on the applicable law.</vt:lpstr>
      <vt:lpstr>        DESIGN, PLANNING AND OUTLINE: An outline gives the lawyer the opportunity to plan his work. COMPOSITION: It is the stage where you flesh up the dry bones of your design SCRUTINY, EDITING AND CHECKING THE DRAFT: Someone else, who should revise and check for thoroughness, consistency, figures, punctuations, typographical errors etc. HABITS TO AVOID IN DRAFTING: Archaic words, Passive language, Verbosity, Excessive and Intricate Expressions, Unfamiliar words, Inconsistency,  AID TO CLEARNESS AND ACCURACY:1. Avoid ambiguities 2. Document should be well planned </vt:lpstr>
      <vt:lpstr>          AID TO CLEARNESS AND ACCURACY: 3. Use proper language and Grammar 4. Use precedent in appropriate cases 5. Proper use of English Concepts that aid clearness and accuracy. E.g. Punctuations, Capitalisation, Use of Definition/Interpretation clause, Schedule, Enumerating Particulars, Computation of time, Marginal Notes and Cross Headings, and Descriptive words. COMPUTATION OF TIME: The rights, liabilities, duties, and privileges of parties in a legal relationship are often expressed in relation to time and it is important to know when a stated period of time begins to run and when it expires. Most of the expressions relating to time have acquired a technical meaning different from their grammatical usage; hence the computation of time is a question of law and not a question of measurement.  </vt:lpstr>
      <vt:lpstr>             For better understanding, those expressions that concern a day, week, month, year are discussed together before discussing certain expressions commonly used in legal documents to indicate time. ‘ON’ – INCLUDED ‘FROM’ – EXCLUDED ‘BY’ – INCLUDED AFTER and BEFORE’ – EXCLUDED ‘WITHIN’ – EXCLUDED ‘BETWEEN (a given date) TO (another date)’ – EXCLUDED ‘TILL and UNTIL’ – AMBIGUOUS ‘AT THE EXPIRATION OF’- INCLUDED ‘NOT LATER THAN and NOT EARLIER THAN’ – INCLUDED ‘FORTHWITH and IMMEDIATELY’- IMPRECISE ‘WITHIN A REASONABLE TIME’ – IMPRECISE ‘AS SOON AS POSSIBLE’ - IMPRECISE  </vt:lpstr>
      <vt:lpstr>             PARAGRAPHING TECHNIQUE “Paragraphing” means tabulation of sentence. In other words, a sentence is arranged in a series of paragraphs to aid readability and understanding. A long sentence may be divided into paragraphs, sub-paragraphs, sub-sub paragraphs and so on. (e.g. sub, sub, sub). NUMBERING AND INDENTATION Numbering plays the role of a signpost in a document. It aids the reader in finding his way around the document. It makes the structure of the sentence more apparent to the reader. Numbering is used to direct the reader to other parts of the document. Numbering is good for lists, because it indicates how many things there are in a list. 1. The paragraphs must be numbered in bracketed lower case (small letters) such as (a) (b) (c) etc 2. The sub-paragraphs should be bracketed in Roman numerals, such as (i) (ii) (iii) etc.  </vt:lpstr>
      <vt:lpstr>           3. The sub-sub-paragraph must be numbered in bracketed upper case (capital letters) such as capital (A) (B) (C) (D) etc. E.g   1(1)(a)(i)(A) represents Section 1, Sub-Section 1, paragraph a, sub-paragraph i, and sub-sub-paragraph A.  INDENTATION. Indentation is basically useful in paragraphing technique where the sentence is redrafted to consist of introductory words, paragraphs, sub-paragraphs and concluding words. Independent numbered clauses cannot be aligned with the opening clause and the closing clause. The independent clauses must be indented inwards. Where there exists an introductory clause without a closing clause, the independent numbered clauses are simply indented inwards from the introductory clause. However, where there exists a closing clause, it must be aligned to be on the same horizontal line with the introductory clause although the independent numbered clauses are indented inwards. </vt:lpstr>
      <vt:lpstr>             LEGISLATIVE DRAFTING  It is the process through which the instruction of the sponsor of a bill is written in the form of a bill.  It involves clearly understanding the instruction and the intention of the sponsor and to ensure that the intention is put in a legal format, namely a bill. It is  different from legislative process, which involves the procedure for the transformation of a bill to a law in a legislative house. Difference with legislative process include: Legislative Process is the business of legislators  legislative process culminates in a law  The stages are different. Etc.  Qualities of a Good Draftsman The qualities include but not limited to:  </vt:lpstr>
      <vt:lpstr>             Good command of English A sound knowledge of the principle of law Understanding the society of operation Hard work and Dedication Patience. Formalities and Arrangement of a Bill in Legislative Drafting: Legislations are usually arranged in Chapters Parts Sections  &amp; Subsections Paragraphs, sub-paragraphs and sub sub-paragraphs. Chapters and Parts are usually written or numbered in Capital Roman numerals.  For example:  ‘Chapter I’, or ‘Part II’,       </vt:lpstr>
      <vt:lpstr>              Sections are usually numbered in Arabic numerals without bracket while Subsections are in Arabic numerals in bracket. For example: Section 6 Paragraphs are written in small letter alphabet in bracket, the Sub-paragraphs in small letter Roman numeral in bracket and the Sub Sub-paragraphs in capital letter alphabet in bracket.  Headings - Should be in bold print, Sub-headings should be in italics. For example: See Chapter V, Part I of the 1999 Constitution as amended. MARGINAL NOTES: It gives concise indication of the content of a section.  It is also known as Section Heads or Section Head Notes.  It can be written on the left or right, above or beside the section. It does  not form part of the law.     </vt:lpstr>
      <vt:lpstr>             SEGMENTS OF A LEGISLATION: A legislation may have four (4) broad segments/parts, namely: Preliminary Segment – long title, preamble, short title, enacting formula, application, commencement, interpretation and duration. Principal Segment – establishment clause, administrative provisions. Miscellaneous Segment – Final Segment -   The preliminary segment includes the following:  Long Title The long title states the general purpose of the statutes.  In a statute it normally begin with the phrase: AN ACT and A LAW for legislation by the National Assembly and State House of Assembly respectively   </vt:lpstr>
      <vt:lpstr>              When drafting a Bill, you begin with the phrase: A BILL FOR AN ACT or A BILL FOR A LAW  for the National and State Houses of Assembly respectively.  It should end with any of the followings:  and for related matters;  and for matters connected therewith;  and for purposes connected therewith;  and for connected matters.  It can be relied upon to interpret an ambiguous part of a legislation.   See Bello v AG Oyo State (1986)5 NWLR (Pt.45) 828. PREAMBLE: A preamble is used instead of a long title to explain the reason for a particular legislation and its desirability.     </vt:lpstr>
      <vt:lpstr>          It is used  where the subject matter is to remedy exceptional local problems; legislation  of constitutional or international importance;  in decrees and edits by military regimes and international treaties. SHORT TITLE: The short title  underscores the name that a legislation is known. It is the statutory nickname of a legislation. It is usually drafted as follows: This Law may be cited as the Street Hawking Prohibition Law of Kaduna State 2020. </vt:lpstr>
      <vt:lpstr>             COMMENCEMENT: This indicates the date when the law will come in to force or effect. A legislation may come in to force: On the date stated; On the occurrence of an event; Where  an authority is to specify; Where no provision is made, it will commence on the day it is assented to. There are various ways of drafting the commencement clause on the stated date:  Usually  written at the right hand side in either of these two ways - [13th July 2020] or Commencement   [13th  July 2020] Sometimes it forms a section of the law. For instance: This Law shall come in to force on the 13th July 2020.  </vt:lpstr>
      <vt:lpstr>              When an authority is to specify date or on occurrence of an event: The legislation will come into force on a date to be stated by a particular authority or the occurrence of an event. For instance: The Act shall come in to force on a date to be stated by (State the authority or the event) Where no provision is made. It will commence on the day it is assented to. May be drafted as follows:  The Act shall come in to force the day the President assents to it. v. Enacting Formula: The enacting formula states the authority that enacts the legislation. In a democratic setting, it is usually drafted by using the following phrases: ENACTED by or IT  IS HEREBY ENACTED by. For instance:  ENACTED by the National Assembly of the Federal Republic of Nigeria as follows:  or The Lagos State House of Assembly enacts as follows:   </vt:lpstr>
      <vt:lpstr>              In the military era, decrees (usually promulgated by the Federal Military Government) and edicts (usually promulgated by Military Governor) are drafted as follows: The Federal  Military Government hereby decrees as follows: or The Military Governor of Lagos State of Nigeria makes the following Edict. vi. Interpretation Clause: Interpretation clause gives meanings and explanations to words used in a legislation.  In drafting it usually begins with the phrase: In this Act/Law Or  In this Act/Law, unless the context otherwise requires or provides. The words used to define or give meaning are: Means - Where the meaning is closed or restricted. Includes - Where the meaning is open or in exhaustive. For instance, In this Act, unless the context otherwise requires: Regulation, means --- Corporation, includes ----   </vt:lpstr>
      <vt:lpstr>              vii. Application: Application indicates, the persons, territory or subject matter which the legislation shall apply to. For instance:  This law shall apply to all disable persons in Lagos State. viii. Duration: Duration indicates the period of time that a legislation will be in force. For instance: This Law shall continue in force until the 30th June 2023; Or This Act shall  continue be in force until it is repealed; Or This Law shall come in to force on the 1st August 2023 and shall continue in force for 5 years. B. Principal Segment: This segment provides for substantive and administrative matters which includes establishment and administrative provisions.  i. Establishment Provisions  The establishment provisions is used where the legislation establishes a statutory or regulatory body. It includes the Establishment clause, Membership, Management, General duties, Finance and Tenure of office.   </vt:lpstr>
      <vt:lpstr>            Establishment Clause It provides the name of the body or the agency established under the law. It is usually drafted by using the following phrases: There is hereby established a body to be known  as; or There is established a body to be known as; Or There shall be a body to be known as; Or  There shall continue to be established a body to be known as (This is in the circumstance where the body is already in existence). For instance: There is established a body to be known as  the Environmental Sanitation Regulatory Agency Adamawa State.  </vt:lpstr>
      <vt:lpstr>                  II. Administration provisions Administrative provisions consists of the execution of documents, the use and custody of seal, the staff of the corporation, meetings etc. C. Miscellaneous Segment: This segment deals with offences and penalties, miscellaneous and supplementary provisions, power to make subsidiary legislation etc. D. Final Segment: Final segment consists of  Savings, Repeals, Transitional Provisions, Schedules, Citation, Explanatory notes etc.  Savings is usually as follows: Save and except as otherwise provided, section 3 shall not be repealed under this amendment. Schedule is used to banish details from the body of a  legislation.  It constitutes a  part of  a legislation.   </vt:lpstr>
      <vt:lpstr>       Aids to Good Draftsmanship: A drafts man should be able to: Adequately elicit the relevant instruction and capture the intention of the sponsor Use proper language and grammar Demonstrate skill, ingenuity and creativity Use relevant existing precedents. Be brief, concise and precise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DRAFTING 1 (i) BASIC DRAFTING PRINCIPLES  (ii) STAGES OF DRAFTING (iii) LEGISLATIVE DRAFTING.</dc:title>
  <dc:creator>YUSUF TAOFIK</dc:creator>
  <cp:lastModifiedBy>YUSUF TAOFIK</cp:lastModifiedBy>
  <cp:revision>29</cp:revision>
  <dcterms:created xsi:type="dcterms:W3CDTF">2025-04-28T13:17:09Z</dcterms:created>
  <dcterms:modified xsi:type="dcterms:W3CDTF">2025-04-28T17:05:14Z</dcterms:modified>
</cp:coreProperties>
</file>