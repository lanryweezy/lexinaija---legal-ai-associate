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188e32325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188e32325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188e32325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2188e32325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2188e32325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2188e32325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2188e32325_0_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2188e32325_0_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188e32325_0_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2188e32325_0_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2188e32325_0_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2188e32325_0_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188e32325_0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188e32325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188e32325_0_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188e32325_0_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188e32325_0_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188e32325_0_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188e32325_0_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2188e32325_0_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19b44097c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219b44097c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19b44097c_1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219b44097c_1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19b44097c_1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219b44097c_1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19b44097c_1_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19b44097c_1_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19b44097c_1_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219b44097c_1_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19b44097c_1_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219b44097c_1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19b44097c_1_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219b44097c_1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 spd="med">
    <p:push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85" y="664845"/>
            <a:ext cx="8592185" cy="36328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GB" sz="3110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NIGERIAN LAW SCHOOL</a:t>
            </a:r>
            <a:br>
              <a:rPr lang="en-US" altLang="en-GB" sz="3110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US" altLang="en-GB" sz="3110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ABUJA CAMPUS</a:t>
            </a:r>
            <a:br>
              <a:rPr lang="en-US" altLang="en-GB" sz="3110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GB" sz="3110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PORTFOLIO</a:t>
            </a:r>
            <a:endParaRPr sz="3110"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10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ASSESSMENT</a:t>
            </a:r>
            <a:br>
              <a:rPr lang="en-GB" sz="2220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US" altLang="en-GB" sz="2220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BY</a:t>
            </a:r>
            <a:br>
              <a:rPr lang="en-US" altLang="en-GB" sz="2220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US" altLang="en-GB" sz="2220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KOLAWOLE KOFOWOROLA RUTH</a:t>
            </a:r>
            <a:br>
              <a:rPr lang="en-US" altLang="en-GB" sz="2220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US" altLang="en-GB" sz="2220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REGISTRATION NO:120</a:t>
            </a:r>
            <a:endParaRPr lang="en-US" altLang="en-GB" sz="2220"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55" name="Google Shape;55;p13"/>
          <p:cNvSpPr txBox="1"/>
          <p:nvPr>
            <p:ph type="subTitle" idx="1"/>
          </p:nvPr>
        </p:nvSpPr>
        <p:spPr>
          <a:xfrm>
            <a:off x="311700" y="2834125"/>
            <a:ext cx="8520600" cy="13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4002405" lvl="0" indent="0" algn="r" rtl="0">
              <a:lnSpc>
                <a:spcPct val="80000"/>
              </a:lnSpc>
              <a:spcBef>
                <a:spcPts val="1555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 panose="020B0604020202020204"/>
              <a:buNone/>
            </a:pPr>
            <a:endParaRPr lang="en-US" altLang="en-GB" sz="1725" b="1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CONTENTS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61" name="Google Shape;61;p14"/>
          <p:cNvSpPr txBox="1"/>
          <p:nvPr>
            <p:ph type="body" idx="1"/>
          </p:nvPr>
        </p:nvSpPr>
        <p:spPr>
          <a:xfrm>
            <a:off x="311700" y="1152475"/>
            <a:ext cx="8520600" cy="37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 panose="020B0604020202020204"/>
              <a:buNone/>
            </a:pPr>
            <a:r>
              <a:rPr lang="en-GB" sz="173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1. Introduction</a:t>
            </a:r>
            <a:endParaRPr sz="173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73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2. Placement details</a:t>
            </a:r>
            <a:endParaRPr sz="173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 panose="020B0604020202020204"/>
              <a:buNone/>
            </a:pPr>
            <a:r>
              <a:rPr lang="en-GB" sz="173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3. Goals of the Externship Programme</a:t>
            </a:r>
            <a:endParaRPr sz="173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 panose="020B0604020202020204"/>
              <a:buNone/>
            </a:pPr>
            <a:r>
              <a:rPr lang="en-GB" sz="173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4. Evaluation of court placement</a:t>
            </a:r>
            <a:endParaRPr sz="173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 panose="020B0604020202020204"/>
              <a:buNone/>
            </a:pPr>
            <a:r>
              <a:rPr lang="en-GB" sz="173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5. Evaluation of law firm placement</a:t>
            </a:r>
            <a:endParaRPr sz="173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 panose="020B0604020202020204"/>
              <a:buNone/>
            </a:pPr>
            <a:r>
              <a:rPr lang="en-GB" sz="173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6. Highlights of the reflective essay on “Law office management”</a:t>
            </a:r>
            <a:endParaRPr sz="173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 panose="020B0604020202020204"/>
              <a:buNone/>
            </a:pPr>
            <a:r>
              <a:rPr lang="en-GB" sz="173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7. Highlights of the reflective essay on “An Ethical Dilemma”</a:t>
            </a:r>
            <a:endParaRPr sz="173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 sz="173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8. Conclusion</a:t>
            </a:r>
            <a:endParaRPr sz="173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62" name="Google Shape;62;p14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INTRODUCTION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68" name="Google Shape;68;p15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This is a portfolio presentation made in fulfilment of the externship programme of the Bar Part II examinations of the Nigerian Law School.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69" name="Google Shape;69;p15"/>
          <p:cNvCxnSpPr/>
          <p:nvPr/>
        </p:nvCxnSpPr>
        <p:spPr>
          <a:xfrm>
            <a:off x="311700" y="101772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GOALS OF THE EXTERNSHIP PROGRAMME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75" name="Google Shape;75;p16"/>
          <p:cNvSpPr txBox="1"/>
          <p:nvPr>
            <p:ph type="body" idx="1"/>
          </p:nvPr>
        </p:nvSpPr>
        <p:spPr>
          <a:xfrm>
            <a:off x="311700" y="1316275"/>
            <a:ext cx="8520600" cy="35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To develop the externs’ lawyering skills.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To make externs understand the legal system as well as the legal profession.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To inculcate in the externs a sense of professional responsibility and values;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To develop the externs’ ability to reflect on and learn from their experiences.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76" name="Google Shape;76;p16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PLACEMENT DETAILS FOR COURT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82" name="Google Shape;82;p17"/>
          <p:cNvSpPr txBox="1"/>
          <p:nvPr>
            <p:ph type="body" idx="1"/>
          </p:nvPr>
        </p:nvSpPr>
        <p:spPr>
          <a:xfrm>
            <a:off x="217085" y="117213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NAME OF COURT: 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Ikeja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High Court, 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Ikeja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Judicial Division.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ADDRESS: O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ba Akinjobi Way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, Ik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eja GRA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, Lagos State.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NAME OF JUDGE: Honourable Justice 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L.A.M Folami (PhD)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NAME OF SUPERVISOR: 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Otitiosa Kalu 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Esq.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DURATION: 5 weeks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83" name="Google Shape;83;p17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PLACEMENT DETAILS FOR LAW OFFICE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89" name="Google Shape;89;p18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NAME OF LAW OFFICE: 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Ade Adeoye &amp; Co.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ADDRESS: 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16a, Ayoola Coker Street, Ikeja GRA, Lagos State</a:t>
            </a:r>
            <a:endParaRPr lang="en-US" altLang="en-GB"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NAME OF PRINCIPAL: 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Chief Ade Adeoye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NAME OF SUPERVISOR: 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Joseph Opute Esq.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DURATION: 6 weeks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90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90" name="Google Shape;90;p18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HIGHLIGHTS OF COURT PLACEMENT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96" name="Google Shape;96;p19"/>
          <p:cNvSpPr txBox="1"/>
          <p:nvPr>
            <p:ph type="body" idx="1"/>
          </p:nvPr>
        </p:nvSpPr>
        <p:spPr>
          <a:xfrm>
            <a:off x="311700" y="1152475"/>
            <a:ext cx="8520600" cy="38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I was posted to 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Ikeja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High Court 2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6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, 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Ikeja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Judicial Division, which was presided over by Honourable Justice 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L.A.M Folami (PhD)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Court has a Registrar, Deputy-Registrar, Sheriff, Legal assistants and other court officer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Court is a superior court of justice, having both civil and criminal jurisdiction.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practice and procedure of the court is primarily governed by High Court (Civil Procedure) Rules 2019.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97" name="Google Shape;97;p19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A. Activities Observed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3" name="Google Shape;103;p20"/>
          <p:cNvSpPr txBox="1"/>
          <p:nvPr>
            <p:ph type="body" idx="1"/>
          </p:nvPr>
        </p:nvSpPr>
        <p:spPr>
          <a:xfrm>
            <a:off x="311700" y="1072175"/>
            <a:ext cx="8520600" cy="3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Calling of Cases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Announcing Appearances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Moving of motions and oral applications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Examination of witnesses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Delivering of Rulings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Adjournment of cases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Administering of oath on witnesses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04" name="Google Shape;104;p20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B. Skills Learnt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0" name="Google Shape;110;p2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How to announce appearance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How to move a motion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How to tender documentary evidence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How to conduct cross-examination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Courtroom decorum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11" name="Google Shape;111;p21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C. Challenges</a:t>
            </a:r>
            <a:endParaRPr b="1"/>
          </a:p>
        </p:txBody>
      </p:sp>
      <p:sp>
        <p:nvSpPr>
          <p:cNvPr id="117" name="Google Shape;117;p22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Courtroom was very small.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Lack of diligence from the legal practitioners.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Lack of technology to automate tasks.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Longhand system of recording court proceedings by the Judges which was very time consuming and slow.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US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Shortage of power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1016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None/>
            </a:pP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18" name="Google Shape;118;p22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HIGHLIGHTS OF </a:t>
            </a: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LAW OFFICE</a:t>
            </a: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PLACEMENT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24" name="Google Shape;124;p23"/>
          <p:cNvSpPr txBox="1"/>
          <p:nvPr>
            <p:ph type="body" idx="1"/>
          </p:nvPr>
        </p:nvSpPr>
        <p:spPr>
          <a:xfrm>
            <a:off x="311700" y="1152475"/>
            <a:ext cx="8520600" cy="38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I was posted to 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Ade Adeoye &amp; Co.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, Ik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eja GRA, 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Lagos state.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firm is a sole-Proprietorship comprising 0f 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4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lawyers and 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4 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support staff.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official working days were Monday- Friday.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official working hours were 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8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am-5pm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firm majorly handled 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Civil cases</a:t>
            </a:r>
            <a:endParaRPr lang="en-US" altLang="en-GB"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25" name="Google Shape;125;p23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A. Activities Observed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31" name="Google Shape;131;p24"/>
          <p:cNvSpPr txBox="1"/>
          <p:nvPr>
            <p:ph type="body" idx="1"/>
          </p:nvPr>
        </p:nvSpPr>
        <p:spPr>
          <a:xfrm>
            <a:off x="311700" y="1072175"/>
            <a:ext cx="8520600" cy="3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Legal Research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Studying of case files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Drafting of court processes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Drafting of legal documents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Client Interview and Trial preparation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Attendance in court with Principal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32" name="Google Shape;132;p24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B. Skills Learnt</a:t>
            </a:r>
            <a:endParaRPr b="1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38" name="Google Shape;138;p25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Research skills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Drafting skills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Client interviewing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Advocacy skills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Punctuality and Diligence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39" name="Google Shape;139;p25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C. Challenges</a:t>
            </a:r>
            <a:endParaRPr b="1"/>
          </a:p>
        </p:txBody>
      </p:sp>
      <p:sp>
        <p:nvSpPr>
          <p:cNvPr id="145" name="Google Shape;145;p2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Limitation in exposure to legal practice areas.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High cost of transportation 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46" name="Google Shape;146;p26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9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r>
              <a:rPr lang="en-GB" b="1"/>
              <a:t>HIGHLIGHTS OF ESSAY ON LAW OFFICE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r>
              <a:rPr lang="en-GB" b="1"/>
              <a:t>MANAGEMENT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52" name="Google Shape;152;p27"/>
          <p:cNvSpPr txBox="1"/>
          <p:nvPr>
            <p:ph type="body" idx="1"/>
          </p:nvPr>
        </p:nvSpPr>
        <p:spPr>
          <a:xfrm>
            <a:off x="311700" y="16708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Sole Proprietorship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Core litigation and 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Corporate fi</a:t>
            </a:r>
            <a:r>
              <a:rPr lang="en-US" alt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rm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firm largely managed by an admin manager 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Use of photocopier, printer, and office supplies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Use of firm-wide and personal reminder system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53" name="Google Shape;153;p27"/>
          <p:cNvCxnSpPr/>
          <p:nvPr/>
        </p:nvCxnSpPr>
        <p:spPr>
          <a:xfrm>
            <a:off x="402100" y="141462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258950"/>
            <a:ext cx="85206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HIGHLIGHTS OF ESSAY ON ETHICAL DILEMMA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59" name="Google Shape;159;p28"/>
          <p:cNvSpPr txBox="1"/>
          <p:nvPr>
            <p:ph type="body" idx="1"/>
          </p:nvPr>
        </p:nvSpPr>
        <p:spPr>
          <a:xfrm>
            <a:off x="311700" y="1046175"/>
            <a:ext cx="8520600" cy="3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b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Rule 19 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of the Rules of Professional Conduct on the privilege and confidence of a client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b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Rule 14 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of the Rules of Professional Conduct on dedication and devotion to the cause of the client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 b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Rule 30 </a:t>
            </a: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of the Rules of Professional Conduct on Lawyer as officer of the court.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 panose="02040502050405020303"/>
              <a:buChar char="●"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lawyer-client privilege vis-a-vis the duty of the lawyer to be dedicated to his client and to act in the interest of justice,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60" name="Google Shape;160;p28"/>
          <p:cNvCxnSpPr/>
          <p:nvPr/>
        </p:nvCxnSpPr>
        <p:spPr>
          <a:xfrm>
            <a:off x="388800" y="890450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CONCLUSION</a:t>
            </a:r>
            <a:endParaRPr b="1"/>
          </a:p>
        </p:txBody>
      </p:sp>
      <p:sp>
        <p:nvSpPr>
          <p:cNvPr id="166" name="Google Shape;166;p29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The externship enabled students to get practical experience of all that is taught in the classroom.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It is a pleasant experience for all bar aspirants.</a:t>
            </a:r>
            <a:endParaRPr sz="2000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67" name="Google Shape;167;p29"/>
          <p:cNvCxnSpPr/>
          <p:nvPr/>
        </p:nvCxnSpPr>
        <p:spPr>
          <a:xfrm>
            <a:off x="402100" y="1042475"/>
            <a:ext cx="85782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body" idx="1"/>
          </p:nvPr>
        </p:nvSpPr>
        <p:spPr>
          <a:xfrm>
            <a:off x="245250" y="1790425"/>
            <a:ext cx="8520600" cy="19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7200" b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THANK YOU</a:t>
            </a:r>
            <a:endParaRPr sz="7200" b="1"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3821</Words>
  <Application>WPS Presentation</Application>
  <PresentationFormat/>
  <Paragraphs>132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SimSun</vt:lpstr>
      <vt:lpstr>Wingdings</vt:lpstr>
      <vt:lpstr>Arial</vt:lpstr>
      <vt:lpstr>Georgia</vt:lpstr>
      <vt:lpstr>Microsoft YaHei</vt:lpstr>
      <vt:lpstr>Arial Unicode MS</vt:lpstr>
      <vt:lpstr>Simple Light</vt:lpstr>
      <vt:lpstr>ASSESSMENT</vt:lpstr>
      <vt:lpstr>CONTENTS</vt:lpstr>
      <vt:lpstr>INTRODUCTION</vt:lpstr>
      <vt:lpstr>GOALS OF THE EXTERNSHIP PROGRAMME</vt:lpstr>
      <vt:lpstr>PLACEMENT DETAILS FOR COURT</vt:lpstr>
      <vt:lpstr>PLACEMENT DETAILS FOR LAW OFFICE</vt:lpstr>
      <vt:lpstr>HIGHLIGHTS OF COURT PLACEMENT</vt:lpstr>
      <vt:lpstr>A. Activities Observed</vt:lpstr>
      <vt:lpstr>B. Skills Learnt</vt:lpstr>
      <vt:lpstr>C. Challenges</vt:lpstr>
      <vt:lpstr>HIGHLIGHTS OF LAW OFFICE PLACEMENT</vt:lpstr>
      <vt:lpstr>A. Activities Observed</vt:lpstr>
      <vt:lpstr>B. Skills Learnt</vt:lpstr>
      <vt:lpstr>C. Challenges</vt:lpstr>
      <vt:lpstr>MANAGEMENT</vt:lpstr>
      <vt:lpstr>HIGHLIGHTS OF ESSAY ON ETHICAL DILEMMA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ASSESSMENT</dc:title>
  <dc:creator/>
  <cp:lastModifiedBy>user</cp:lastModifiedBy>
  <cp:revision>5</cp:revision>
  <dcterms:created xsi:type="dcterms:W3CDTF">2024-12-31T12:45:00Z</dcterms:created>
  <dcterms:modified xsi:type="dcterms:W3CDTF">2024-12-31T13:51:05Z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FD0287052DE942F8874E693570211EF1_12</vt:lpwstr>
  </property>
  <property fmtid="{D5CDD505-2E9C-101B-9397-08002B2CF9AE}" pid="3" name="KSOProductBuildVer">
    <vt:lpwstr>1033-12.2.0.19307</vt:lpwstr>
  </property>
</Properties>
</file>