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338" autoAdjust="0"/>
    <p:restoredTop sz="94799" autoAdjust="0"/>
  </p:normalViewPr>
  <p:slideViewPr>
    <p:cSldViewPr snapToGrid="0">
      <p:cViewPr varScale="1">
        <p:scale>
          <a:sx n="75" d="100"/>
          <a:sy n="75" d="100"/>
        </p:scale>
        <p:origin x="564" y="78"/>
      </p:cViewPr>
    </p:cSldViewPr>
  </p:slideViewPr>
  <p:outlineViewPr>
    <p:cViewPr>
      <p:scale>
        <a:sx n="33" d="100"/>
        <a:sy n="33" d="100"/>
      </p:scale>
      <p:origin x="0" y="-7644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tableStyles" Target="tableStyles.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79" name=""/>
        <p:cNvGrpSpPr/>
        <p:nvPr/>
      </p:nvGrpSpPr>
      <p:grpSpPr>
        <a:xfrm>
          <a:off x="0" y="0"/>
          <a:ext cx="0" cy="0"/>
          <a:chOff x="0" y="0"/>
          <a:chExt cx="0" cy="0"/>
        </a:xfrm>
      </p:grpSpPr>
      <p:sp>
        <p:nvSpPr>
          <p:cNvPr id="1048793"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94"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95"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96"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97"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98"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98" name=""/>
        <p:cNvGrpSpPr/>
        <p:nvPr/>
      </p:nvGrpSpPr>
      <p:grpSpPr>
        <a:xfrm>
          <a:off x="0" y="0"/>
          <a:ext cx="0" cy="0"/>
          <a:chOff x="0" y="0"/>
          <a:chExt cx="0" cy="0"/>
        </a:xfrm>
      </p:grpSpPr>
      <p:sp>
        <p:nvSpPr>
          <p:cNvPr id="1048600"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601"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602" name="Date Placeholder 3"/>
          <p:cNvSpPr>
            <a:spLocks noGrp="1"/>
          </p:cNvSpPr>
          <p:nvPr>
            <p:ph type="dt" sz="half" idx="10"/>
          </p:nvPr>
        </p:nvSpPr>
        <p:spPr/>
        <p:txBody>
          <a:bodyPr/>
          <a:p>
            <a:fld id="{D80763E4-CF8F-4700-87F2-32225CA49E5F}" type="datetimeFigureOut">
              <a:rPr lang="en-US" smtClean="0"/>
              <a:t>7/24/2025</a:t>
            </a:fld>
            <a:endParaRPr lang="en-US"/>
          </a:p>
        </p:txBody>
      </p:sp>
      <p:sp>
        <p:nvSpPr>
          <p:cNvPr id="1048603" name="Footer Placeholder 4"/>
          <p:cNvSpPr>
            <a:spLocks noGrp="1"/>
          </p:cNvSpPr>
          <p:nvPr>
            <p:ph type="ftr" sz="quarter" idx="11"/>
          </p:nvPr>
        </p:nvSpPr>
        <p:spPr/>
        <p:txBody>
          <a:bodyPr/>
          <a:p>
            <a:endParaRPr lang="en-US"/>
          </a:p>
        </p:txBody>
      </p:sp>
      <p:sp>
        <p:nvSpPr>
          <p:cNvPr id="1048604" name="Slide Number Placeholder 5"/>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82"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p>
        </p:txBody>
      </p:sp>
      <p:sp>
        <p:nvSpPr>
          <p:cNvPr id="1048582"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p>
            <a:fld id="{D80763E4-CF8F-4700-87F2-32225CA49E5F}" type="datetimeFigureOut">
              <a:rPr lang="en-US" smtClean="0"/>
              <a:t>7/24/2025</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73" name=""/>
        <p:cNvGrpSpPr/>
        <p:nvPr/>
      </p:nvGrpSpPr>
      <p:grpSpPr>
        <a:xfrm>
          <a:off x="0" y="0"/>
          <a:ext cx="0" cy="0"/>
          <a:chOff x="0" y="0"/>
          <a:chExt cx="0" cy="0"/>
        </a:xfrm>
      </p:grpSpPr>
      <p:sp>
        <p:nvSpPr>
          <p:cNvPr id="1048765"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766"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767" name="Date Placeholder 3"/>
          <p:cNvSpPr>
            <a:spLocks noGrp="1"/>
          </p:cNvSpPr>
          <p:nvPr>
            <p:ph type="dt" sz="half" idx="10"/>
          </p:nvPr>
        </p:nvSpPr>
        <p:spPr/>
        <p:txBody>
          <a:bodyPr/>
          <a:p>
            <a:fld id="{D80763E4-CF8F-4700-87F2-32225CA49E5F}" type="datetimeFigureOut">
              <a:rPr lang="en-US" smtClean="0"/>
              <a:t>7/24/2025</a:t>
            </a:fld>
            <a:endParaRPr lang="en-US"/>
          </a:p>
        </p:txBody>
      </p:sp>
      <p:sp>
        <p:nvSpPr>
          <p:cNvPr id="1048768" name="Footer Placeholder 4"/>
          <p:cNvSpPr>
            <a:spLocks noGrp="1"/>
          </p:cNvSpPr>
          <p:nvPr>
            <p:ph type="ftr" sz="quarter" idx="11"/>
          </p:nvPr>
        </p:nvSpPr>
        <p:spPr/>
        <p:txBody>
          <a:bodyPr/>
          <a:p>
            <a:endParaRPr lang="en-US"/>
          </a:p>
        </p:txBody>
      </p:sp>
      <p:sp>
        <p:nvSpPr>
          <p:cNvPr id="1048769" name="Slide Number Placeholder 5"/>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74" name=""/>
        <p:cNvGrpSpPr/>
        <p:nvPr/>
      </p:nvGrpSpPr>
      <p:grpSpPr>
        <a:xfrm>
          <a:off x="0" y="0"/>
          <a:ext cx="0" cy="0"/>
          <a:chOff x="0" y="0"/>
          <a:chExt cx="0" cy="0"/>
        </a:xfrm>
      </p:grpSpPr>
      <p:sp>
        <p:nvSpPr>
          <p:cNvPr id="1048770" name="Title 1"/>
          <p:cNvSpPr>
            <a:spLocks noGrp="1"/>
          </p:cNvSpPr>
          <p:nvPr>
            <p:ph type="title"/>
          </p:nvPr>
        </p:nvSpPr>
        <p:spPr/>
        <p:txBody>
          <a:bodyPr/>
          <a:p>
            <a:r>
              <a:rPr lang="en-US"/>
              <a:t>Click to edit Master title style</a:t>
            </a:r>
          </a:p>
        </p:txBody>
      </p:sp>
      <p:sp>
        <p:nvSpPr>
          <p:cNvPr id="1048771"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2"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3" name="Date Placeholder 4"/>
          <p:cNvSpPr>
            <a:spLocks noGrp="1"/>
          </p:cNvSpPr>
          <p:nvPr>
            <p:ph type="dt" sz="half" idx="10"/>
          </p:nvPr>
        </p:nvSpPr>
        <p:spPr/>
        <p:txBody>
          <a:bodyPr/>
          <a:p>
            <a:fld id="{D80763E4-CF8F-4700-87F2-32225CA49E5F}" type="datetimeFigureOut">
              <a:rPr lang="en-US" smtClean="0"/>
              <a:t>7/24/2025</a:t>
            </a:fld>
            <a:endParaRPr lang="en-US"/>
          </a:p>
        </p:txBody>
      </p:sp>
      <p:sp>
        <p:nvSpPr>
          <p:cNvPr id="1048774" name="Footer Placeholder 5"/>
          <p:cNvSpPr>
            <a:spLocks noGrp="1"/>
          </p:cNvSpPr>
          <p:nvPr>
            <p:ph type="ftr" sz="quarter" idx="11"/>
          </p:nvPr>
        </p:nvSpPr>
        <p:spPr/>
        <p:txBody>
          <a:bodyPr/>
          <a:p>
            <a:endParaRPr lang="en-US"/>
          </a:p>
        </p:txBody>
      </p:sp>
      <p:sp>
        <p:nvSpPr>
          <p:cNvPr id="1048775" name="Slide Number Placeholder 6"/>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75" name=""/>
        <p:cNvGrpSpPr/>
        <p:nvPr/>
      </p:nvGrpSpPr>
      <p:grpSpPr>
        <a:xfrm>
          <a:off x="0" y="0"/>
          <a:ext cx="0" cy="0"/>
          <a:chOff x="0" y="0"/>
          <a:chExt cx="0" cy="0"/>
        </a:xfrm>
      </p:grpSpPr>
      <p:sp>
        <p:nvSpPr>
          <p:cNvPr id="1048776" name="Title 1"/>
          <p:cNvSpPr>
            <a:spLocks noGrp="1"/>
          </p:cNvSpPr>
          <p:nvPr>
            <p:ph type="title"/>
          </p:nvPr>
        </p:nvSpPr>
        <p:spPr>
          <a:xfrm>
            <a:off x="839788" y="365125"/>
            <a:ext cx="10515600" cy="1325563"/>
          </a:xfrm>
        </p:spPr>
        <p:txBody>
          <a:bodyPr/>
          <a:p>
            <a:r>
              <a:rPr lang="en-US"/>
              <a:t>Click to edit Master title style</a:t>
            </a:r>
          </a:p>
        </p:txBody>
      </p:sp>
      <p:sp>
        <p:nvSpPr>
          <p:cNvPr id="104877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78"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80"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1" name="Date Placeholder 6"/>
          <p:cNvSpPr>
            <a:spLocks noGrp="1"/>
          </p:cNvSpPr>
          <p:nvPr>
            <p:ph type="dt" sz="half" idx="10"/>
          </p:nvPr>
        </p:nvSpPr>
        <p:spPr/>
        <p:txBody>
          <a:bodyPr/>
          <a:p>
            <a:fld id="{D80763E4-CF8F-4700-87F2-32225CA49E5F}" type="datetimeFigureOut">
              <a:rPr lang="en-US" smtClean="0"/>
              <a:t>7/24/2025</a:t>
            </a:fld>
            <a:endParaRPr lang="en-US"/>
          </a:p>
        </p:txBody>
      </p:sp>
      <p:sp>
        <p:nvSpPr>
          <p:cNvPr id="1048782" name="Footer Placeholder 7"/>
          <p:cNvSpPr>
            <a:spLocks noGrp="1"/>
          </p:cNvSpPr>
          <p:nvPr>
            <p:ph type="ftr" sz="quarter" idx="11"/>
          </p:nvPr>
        </p:nvSpPr>
        <p:spPr/>
        <p:txBody>
          <a:bodyPr/>
          <a:p>
            <a:endParaRPr lang="en-US"/>
          </a:p>
        </p:txBody>
      </p:sp>
      <p:sp>
        <p:nvSpPr>
          <p:cNvPr id="1048783" name="Slide Number Placeholder 8"/>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69" name=""/>
        <p:cNvGrpSpPr/>
        <p:nvPr/>
      </p:nvGrpSpPr>
      <p:grpSpPr>
        <a:xfrm>
          <a:off x="0" y="0"/>
          <a:ext cx="0" cy="0"/>
          <a:chOff x="0" y="0"/>
          <a:chExt cx="0" cy="0"/>
        </a:xfrm>
      </p:grpSpPr>
      <p:sp>
        <p:nvSpPr>
          <p:cNvPr id="1048745" name="Title 1"/>
          <p:cNvSpPr>
            <a:spLocks noGrp="1"/>
          </p:cNvSpPr>
          <p:nvPr>
            <p:ph type="title"/>
          </p:nvPr>
        </p:nvSpPr>
        <p:spPr/>
        <p:txBody>
          <a:bodyPr/>
          <a:p>
            <a:r>
              <a:rPr lang="en-US"/>
              <a:t>Click to edit Master title style</a:t>
            </a:r>
          </a:p>
        </p:txBody>
      </p:sp>
      <p:sp>
        <p:nvSpPr>
          <p:cNvPr id="1048746" name="Date Placeholder 2"/>
          <p:cNvSpPr>
            <a:spLocks noGrp="1"/>
          </p:cNvSpPr>
          <p:nvPr>
            <p:ph type="dt" sz="half" idx="10"/>
          </p:nvPr>
        </p:nvSpPr>
        <p:spPr/>
        <p:txBody>
          <a:bodyPr/>
          <a:p>
            <a:fld id="{D80763E4-CF8F-4700-87F2-32225CA49E5F}" type="datetimeFigureOut">
              <a:rPr lang="en-US" smtClean="0"/>
              <a:t>7/24/2025</a:t>
            </a:fld>
            <a:endParaRPr lang="en-US"/>
          </a:p>
        </p:txBody>
      </p:sp>
      <p:sp>
        <p:nvSpPr>
          <p:cNvPr id="1048747" name="Footer Placeholder 3"/>
          <p:cNvSpPr>
            <a:spLocks noGrp="1"/>
          </p:cNvSpPr>
          <p:nvPr>
            <p:ph type="ftr" sz="quarter" idx="11"/>
          </p:nvPr>
        </p:nvSpPr>
        <p:spPr/>
        <p:txBody>
          <a:bodyPr/>
          <a:p>
            <a:endParaRPr lang="en-US"/>
          </a:p>
        </p:txBody>
      </p:sp>
      <p:sp>
        <p:nvSpPr>
          <p:cNvPr id="1048748" name="Slide Number Placeholder 4"/>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76" name=""/>
        <p:cNvGrpSpPr/>
        <p:nvPr/>
      </p:nvGrpSpPr>
      <p:grpSpPr>
        <a:xfrm>
          <a:off x="0" y="0"/>
          <a:ext cx="0" cy="0"/>
          <a:chOff x="0" y="0"/>
          <a:chExt cx="0" cy="0"/>
        </a:xfrm>
      </p:grpSpPr>
      <p:sp>
        <p:nvSpPr>
          <p:cNvPr id="1048784" name="Date Placeholder 1"/>
          <p:cNvSpPr>
            <a:spLocks noGrp="1"/>
          </p:cNvSpPr>
          <p:nvPr>
            <p:ph type="dt" sz="half" idx="10"/>
          </p:nvPr>
        </p:nvSpPr>
        <p:spPr/>
        <p:txBody>
          <a:bodyPr/>
          <a:p>
            <a:fld id="{D80763E4-CF8F-4700-87F2-32225CA49E5F}" type="datetimeFigureOut">
              <a:rPr lang="en-US" smtClean="0"/>
              <a:t>7/24/2025</a:t>
            </a:fld>
            <a:endParaRPr lang="en-US"/>
          </a:p>
        </p:txBody>
      </p:sp>
      <p:sp>
        <p:nvSpPr>
          <p:cNvPr id="1048785" name="Footer Placeholder 2"/>
          <p:cNvSpPr>
            <a:spLocks noGrp="1"/>
          </p:cNvSpPr>
          <p:nvPr>
            <p:ph type="ftr" sz="quarter" idx="11"/>
          </p:nvPr>
        </p:nvSpPr>
        <p:spPr/>
        <p:txBody>
          <a:bodyPr/>
          <a:p>
            <a:endParaRPr lang="en-US"/>
          </a:p>
        </p:txBody>
      </p:sp>
      <p:sp>
        <p:nvSpPr>
          <p:cNvPr id="1048786" name="Slide Number Placeholder 3"/>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77" name=""/>
        <p:cNvGrpSpPr/>
        <p:nvPr/>
      </p:nvGrpSpPr>
      <p:grpSpPr>
        <a:xfrm>
          <a:off x="0" y="0"/>
          <a:ext cx="0" cy="0"/>
          <a:chOff x="0" y="0"/>
          <a:chExt cx="0" cy="0"/>
        </a:xfrm>
      </p:grpSpPr>
      <p:sp>
        <p:nvSpPr>
          <p:cNvPr id="104878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8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90" name="Date Placeholder 4"/>
          <p:cNvSpPr>
            <a:spLocks noGrp="1"/>
          </p:cNvSpPr>
          <p:nvPr>
            <p:ph type="dt" sz="half" idx="10"/>
          </p:nvPr>
        </p:nvSpPr>
        <p:spPr/>
        <p:txBody>
          <a:bodyPr/>
          <a:p>
            <a:fld id="{D80763E4-CF8F-4700-87F2-32225CA49E5F}" type="datetimeFigureOut">
              <a:rPr lang="en-US" smtClean="0"/>
              <a:t>7/24/2025</a:t>
            </a:fld>
            <a:endParaRPr lang="en-US"/>
          </a:p>
        </p:txBody>
      </p:sp>
      <p:sp>
        <p:nvSpPr>
          <p:cNvPr id="1048791" name="Footer Placeholder 5"/>
          <p:cNvSpPr>
            <a:spLocks noGrp="1"/>
          </p:cNvSpPr>
          <p:nvPr>
            <p:ph type="ftr" sz="quarter" idx="11"/>
          </p:nvPr>
        </p:nvSpPr>
        <p:spPr/>
        <p:txBody>
          <a:bodyPr/>
          <a:p>
            <a:endParaRPr lang="en-US"/>
          </a:p>
        </p:txBody>
      </p:sp>
      <p:sp>
        <p:nvSpPr>
          <p:cNvPr id="1048792" name="Slide Number Placeholder 6"/>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71" name=""/>
        <p:cNvGrpSpPr/>
        <p:nvPr/>
      </p:nvGrpSpPr>
      <p:grpSpPr>
        <a:xfrm>
          <a:off x="0" y="0"/>
          <a:ext cx="0" cy="0"/>
          <a:chOff x="0" y="0"/>
          <a:chExt cx="0" cy="0"/>
        </a:xfrm>
      </p:grpSpPr>
      <p:sp>
        <p:nvSpPr>
          <p:cNvPr id="104875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55"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75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57" name="Date Placeholder 4"/>
          <p:cNvSpPr>
            <a:spLocks noGrp="1"/>
          </p:cNvSpPr>
          <p:nvPr>
            <p:ph type="dt" sz="half" idx="10"/>
          </p:nvPr>
        </p:nvSpPr>
        <p:spPr/>
        <p:txBody>
          <a:bodyPr/>
          <a:p>
            <a:fld id="{D80763E4-CF8F-4700-87F2-32225CA49E5F}" type="datetimeFigureOut">
              <a:rPr lang="en-US" smtClean="0"/>
              <a:t>7/24/2025</a:t>
            </a:fld>
            <a:endParaRPr lang="en-US"/>
          </a:p>
        </p:txBody>
      </p:sp>
      <p:sp>
        <p:nvSpPr>
          <p:cNvPr id="1048758" name="Footer Placeholder 5"/>
          <p:cNvSpPr>
            <a:spLocks noGrp="1"/>
          </p:cNvSpPr>
          <p:nvPr>
            <p:ph type="ftr" sz="quarter" idx="11"/>
          </p:nvPr>
        </p:nvSpPr>
        <p:spPr/>
        <p:txBody>
          <a:bodyPr/>
          <a:p>
            <a:endParaRPr lang="en-US"/>
          </a:p>
        </p:txBody>
      </p:sp>
      <p:sp>
        <p:nvSpPr>
          <p:cNvPr id="1048759" name="Slide Number Placeholder 6"/>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72" name=""/>
        <p:cNvGrpSpPr/>
        <p:nvPr/>
      </p:nvGrpSpPr>
      <p:grpSpPr>
        <a:xfrm>
          <a:off x="0" y="0"/>
          <a:ext cx="0" cy="0"/>
          <a:chOff x="0" y="0"/>
          <a:chExt cx="0" cy="0"/>
        </a:xfrm>
      </p:grpSpPr>
      <p:sp>
        <p:nvSpPr>
          <p:cNvPr id="1048760" name="Title 1"/>
          <p:cNvSpPr>
            <a:spLocks noGrp="1"/>
          </p:cNvSpPr>
          <p:nvPr>
            <p:ph type="title"/>
          </p:nvPr>
        </p:nvSpPr>
        <p:spPr/>
        <p:txBody>
          <a:bodyPr/>
          <a:p>
            <a:r>
              <a:rPr lang="en-US"/>
              <a:t>Click to edit Master title style</a:t>
            </a:r>
          </a:p>
        </p:txBody>
      </p:sp>
      <p:sp>
        <p:nvSpPr>
          <p:cNvPr id="1048761"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2" name="Date Placeholder 3"/>
          <p:cNvSpPr>
            <a:spLocks noGrp="1"/>
          </p:cNvSpPr>
          <p:nvPr>
            <p:ph type="dt" sz="half" idx="10"/>
          </p:nvPr>
        </p:nvSpPr>
        <p:spPr/>
        <p:txBody>
          <a:bodyPr/>
          <a:p>
            <a:fld id="{D80763E4-CF8F-4700-87F2-32225CA49E5F}" type="datetimeFigureOut">
              <a:rPr lang="en-US" smtClean="0"/>
              <a:t>7/24/2025</a:t>
            </a:fld>
            <a:endParaRPr lang="en-US"/>
          </a:p>
        </p:txBody>
      </p:sp>
      <p:sp>
        <p:nvSpPr>
          <p:cNvPr id="1048763" name="Footer Placeholder 4"/>
          <p:cNvSpPr>
            <a:spLocks noGrp="1"/>
          </p:cNvSpPr>
          <p:nvPr>
            <p:ph type="ftr" sz="quarter" idx="11"/>
          </p:nvPr>
        </p:nvSpPr>
        <p:spPr/>
        <p:txBody>
          <a:bodyPr/>
          <a:p>
            <a:endParaRPr lang="en-US"/>
          </a:p>
        </p:txBody>
      </p:sp>
      <p:sp>
        <p:nvSpPr>
          <p:cNvPr id="1048764" name="Slide Number Placeholder 5"/>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70" name=""/>
        <p:cNvGrpSpPr/>
        <p:nvPr/>
      </p:nvGrpSpPr>
      <p:grpSpPr>
        <a:xfrm>
          <a:off x="0" y="0"/>
          <a:ext cx="0" cy="0"/>
          <a:chOff x="0" y="0"/>
          <a:chExt cx="0" cy="0"/>
        </a:xfrm>
      </p:grpSpPr>
      <p:sp>
        <p:nvSpPr>
          <p:cNvPr id="1048749"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750"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1" name="Date Placeholder 3"/>
          <p:cNvSpPr>
            <a:spLocks noGrp="1"/>
          </p:cNvSpPr>
          <p:nvPr>
            <p:ph type="dt" sz="half" idx="10"/>
          </p:nvPr>
        </p:nvSpPr>
        <p:spPr/>
        <p:txBody>
          <a:bodyPr/>
          <a:p>
            <a:fld id="{D80763E4-CF8F-4700-87F2-32225CA49E5F}" type="datetimeFigureOut">
              <a:rPr lang="en-US" smtClean="0"/>
              <a:t>7/24/2025</a:t>
            </a:fld>
            <a:endParaRPr lang="en-US"/>
          </a:p>
        </p:txBody>
      </p:sp>
      <p:sp>
        <p:nvSpPr>
          <p:cNvPr id="1048752" name="Footer Placeholder 4"/>
          <p:cNvSpPr>
            <a:spLocks noGrp="1"/>
          </p:cNvSpPr>
          <p:nvPr>
            <p:ph type="ftr" sz="quarter" idx="11"/>
          </p:nvPr>
        </p:nvSpPr>
        <p:spPr/>
        <p:txBody>
          <a:bodyPr/>
          <a:p>
            <a:endParaRPr lang="en-US"/>
          </a:p>
        </p:txBody>
      </p:sp>
      <p:sp>
        <p:nvSpPr>
          <p:cNvPr id="1048753" name="Slide Number Placeholder 5"/>
          <p:cNvSpPr>
            <a:spLocks noGrp="1"/>
          </p:cNvSpPr>
          <p:nvPr>
            <p:ph type="sldNum" sz="quarter" idx="12"/>
          </p:nvPr>
        </p:nvSpPr>
        <p:spPr/>
        <p:txBody>
          <a:bodyPr/>
          <a:p>
            <a:fld id="{CB04A25E-D401-424D-861E-0E5DD97053D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70"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D80763E4-CF8F-4700-87F2-32225CA49E5F}" type="datetimeFigureOut">
              <a:rPr lang="en-US" smtClean="0"/>
              <a:t>7/24/2025</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CB04A25E-D401-424D-861E-0E5DD97053D7}"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05" name="Title 1"/>
          <p:cNvSpPr>
            <a:spLocks noGrp="1"/>
          </p:cNvSpPr>
          <p:nvPr>
            <p:ph type="ctrTitle"/>
          </p:nvPr>
        </p:nvSpPr>
        <p:spPr/>
        <p:txBody>
          <a:bodyPr/>
          <a:p>
            <a:r>
              <a:rPr dirty="0" lang="en-GB"/>
              <a:t>CIVIL LITIGATION</a:t>
            </a:r>
            <a:br>
              <a:rPr dirty="0" lang="en-GB"/>
            </a:br>
            <a:r>
              <a:rPr dirty="0" lang="en-GB"/>
              <a:t>WEEK 10</a:t>
            </a:r>
            <a:endParaRPr dirty="0" lang="en-US"/>
          </a:p>
        </p:txBody>
      </p:sp>
      <p:sp>
        <p:nvSpPr>
          <p:cNvPr id="1048606" name="Subtitle 2"/>
          <p:cNvSpPr>
            <a:spLocks noGrp="1"/>
          </p:cNvSpPr>
          <p:nvPr>
            <p:ph type="subTitle" idx="1"/>
          </p:nvPr>
        </p:nvSpPr>
        <p:spPr/>
        <p:txBody>
          <a:bodyPr>
            <a:normAutofit fontScale="97917"/>
          </a:bodyPr>
          <a:p>
            <a:r>
              <a:rPr b="1" dirty="0" sz="4800" lang="en-US"/>
              <a:t>PRE-TRIAL PROCEEDINGS, TRIAL PREPARATION, AND EVIDENCE </a:t>
            </a:r>
            <a:endParaRPr dirty="0" sz="48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607" name="Title 1"/>
          <p:cNvSpPr>
            <a:spLocks noGrp="1"/>
          </p:cNvSpPr>
          <p:nvPr>
            <p:ph type="title"/>
          </p:nvPr>
        </p:nvSpPr>
        <p:spPr/>
        <p:txBody>
          <a:bodyPr/>
          <a:p>
            <a:r>
              <a:rPr b="1" dirty="0" lang="en-US"/>
              <a:t>Contents</a:t>
            </a:r>
            <a:r>
              <a:rPr dirty="0" lang="en-US"/>
              <a:t/>
            </a:r>
            <a:br>
              <a:rPr dirty="0" lang="en-US"/>
            </a:br>
            <a:endParaRPr dirty="0" lang="en-US"/>
          </a:p>
        </p:txBody>
      </p:sp>
      <p:sp>
        <p:nvSpPr>
          <p:cNvPr id="1048608" name="Content Placeholder 2"/>
          <p:cNvSpPr>
            <a:spLocks noGrp="1"/>
          </p:cNvSpPr>
          <p:nvPr>
            <p:ph idx="1"/>
          </p:nvPr>
        </p:nvSpPr>
        <p:spPr/>
        <p:txBody>
          <a:bodyPr>
            <a:normAutofit/>
          </a:bodyPr>
          <a:p>
            <a:pPr indent="0" marL="0">
              <a:buNone/>
            </a:pPr>
            <a:r>
              <a:rPr dirty="0" lang="en-US"/>
              <a:t>1. </a:t>
            </a:r>
            <a:r>
              <a:rPr b="1" dirty="0" lang="en-US"/>
              <a:t>Pre-trial Issues and Proceedings </a:t>
            </a:r>
          </a:p>
          <a:p>
            <a:pPr indent="0" marL="0">
              <a:buNone/>
            </a:pPr>
            <a:r>
              <a:rPr dirty="0" lang="en-US" err="1"/>
              <a:t>a.Case</a:t>
            </a:r>
            <a:r>
              <a:rPr dirty="0" lang="en-US"/>
              <a:t> Management Conference and Scheduling</a:t>
            </a:r>
          </a:p>
          <a:p>
            <a:pPr indent="0" marL="0">
              <a:buNone/>
            </a:pPr>
            <a:r>
              <a:rPr dirty="0" lang="en-US" err="1"/>
              <a:t>b.Settlement</a:t>
            </a:r>
            <a:r>
              <a:rPr dirty="0" lang="en-US"/>
              <a:t> of Issues</a:t>
            </a:r>
          </a:p>
          <a:p>
            <a:pPr indent="0" marL="0">
              <a:buNone/>
            </a:pPr>
            <a:r>
              <a:rPr dirty="0" lang="en-US" err="1"/>
              <a:t>c.Proceedings</a:t>
            </a:r>
            <a:r>
              <a:rPr dirty="0" lang="en-US"/>
              <a:t> in Lieu of Demurrer</a:t>
            </a:r>
          </a:p>
          <a:p>
            <a:pPr indent="0" marL="0">
              <a:buNone/>
            </a:pPr>
            <a:r>
              <a:rPr dirty="0" lang="en-US" err="1"/>
              <a:t>d.Striking</a:t>
            </a:r>
            <a:r>
              <a:rPr dirty="0" lang="en-US"/>
              <a:t> out pleadings </a:t>
            </a:r>
          </a:p>
          <a:p>
            <a:pPr indent="0" marL="0">
              <a:buNone/>
            </a:pPr>
            <a:r>
              <a:rPr dirty="0" lang="en-US" err="1"/>
              <a:t>e.Discovery</a:t>
            </a:r>
            <a:r>
              <a:rPr dirty="0" lang="en-US"/>
              <a:t> of facts and documents</a:t>
            </a:r>
          </a:p>
          <a:p>
            <a:pPr indent="0" marL="0">
              <a:buNone/>
            </a:pP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09" name="Title 1"/>
          <p:cNvSpPr>
            <a:spLocks noGrp="1"/>
          </p:cNvSpPr>
          <p:nvPr>
            <p:ph type="title"/>
          </p:nvPr>
        </p:nvSpPr>
        <p:spPr>
          <a:xfrm>
            <a:off x="838200" y="352425"/>
            <a:ext cx="10515600" cy="1325563"/>
          </a:xfrm>
        </p:spPr>
        <p:txBody>
          <a:bodyPr/>
          <a:p>
            <a:r>
              <a:rPr b="1" dirty="0" lang="en-US"/>
              <a:t>Contents contd.</a:t>
            </a:r>
            <a:r>
              <a:rPr dirty="0" lang="en-US"/>
              <a:t/>
            </a:r>
            <a:br>
              <a:rPr dirty="0" lang="en-US"/>
            </a:br>
            <a:endParaRPr dirty="0" lang="en-US"/>
          </a:p>
        </p:txBody>
      </p:sp>
      <p:sp>
        <p:nvSpPr>
          <p:cNvPr id="1048610" name="Content Placeholder 2"/>
          <p:cNvSpPr>
            <a:spLocks noGrp="1"/>
          </p:cNvSpPr>
          <p:nvPr>
            <p:ph idx="1"/>
          </p:nvPr>
        </p:nvSpPr>
        <p:spPr>
          <a:xfrm>
            <a:off x="838200" y="1136469"/>
            <a:ext cx="10515600" cy="5040494"/>
          </a:xfrm>
        </p:spPr>
        <p:txBody>
          <a:bodyPr>
            <a:normAutofit fontScale="85714" lnSpcReduction="20000"/>
          </a:bodyPr>
          <a:p>
            <a:pPr indent="0" marL="0">
              <a:buNone/>
            </a:pPr>
            <a:r>
              <a:rPr b="1" dirty="0" lang="en-US"/>
              <a:t>2.Trial  Preparation</a:t>
            </a:r>
          </a:p>
          <a:p>
            <a:pPr indent="0" marL="0">
              <a:buNone/>
            </a:pPr>
            <a:r>
              <a:rPr dirty="0" lang="en-US" err="1"/>
              <a:t>a.Meaning</a:t>
            </a:r>
            <a:r>
              <a:rPr dirty="0" lang="en-US"/>
              <a:t> of case analysis/theory and trial plan</a:t>
            </a:r>
          </a:p>
          <a:p>
            <a:pPr indent="0" marL="0">
              <a:buNone/>
            </a:pPr>
            <a:r>
              <a:rPr dirty="0" lang="en-US" err="1"/>
              <a:t>b.Preparation</a:t>
            </a:r>
            <a:r>
              <a:rPr dirty="0" lang="en-US"/>
              <a:t> of case theory and trial plan</a:t>
            </a:r>
          </a:p>
          <a:p>
            <a:pPr indent="0" marL="0">
              <a:buNone/>
            </a:pPr>
            <a:r>
              <a:rPr dirty="0" lang="en-US" err="1"/>
              <a:t>c.Ethical</a:t>
            </a:r>
            <a:r>
              <a:rPr dirty="0" lang="en-US"/>
              <a:t> issues regarding case theory and trial plan</a:t>
            </a:r>
          </a:p>
          <a:p>
            <a:pPr indent="0" marL="0">
              <a:buNone/>
            </a:pPr>
            <a:r>
              <a:rPr dirty="0" lang="en-US" err="1"/>
              <a:t>d.Meaning</a:t>
            </a:r>
            <a:r>
              <a:rPr dirty="0" lang="en-US"/>
              <a:t> and Principles of burden of proof-general and evidential burden.</a:t>
            </a:r>
          </a:p>
          <a:p>
            <a:pPr indent="0" marL="0">
              <a:buNone/>
            </a:pPr>
            <a:r>
              <a:rPr dirty="0" lang="en-US"/>
              <a:t>e. Standard of Proof- on the balance of probability; beyond reasonable doubt</a:t>
            </a:r>
          </a:p>
          <a:p>
            <a:pPr indent="0" marL="0">
              <a:buNone/>
            </a:pPr>
            <a:r>
              <a:rPr dirty="0" lang="en-US" err="1"/>
              <a:t>f.The</a:t>
            </a:r>
            <a:r>
              <a:rPr dirty="0" lang="en-US"/>
              <a:t> doctrine of severance of pleadings</a:t>
            </a:r>
          </a:p>
          <a:p>
            <a:pPr indent="0" marL="0">
              <a:buNone/>
            </a:pPr>
            <a:r>
              <a:rPr dirty="0" lang="en-US" err="1"/>
              <a:t>g.Competence</a:t>
            </a:r>
            <a:r>
              <a:rPr dirty="0" lang="en-US"/>
              <a:t> and Compellability of Witnesses</a:t>
            </a:r>
          </a:p>
          <a:p>
            <a:pPr indent="0" marL="0">
              <a:buNone/>
            </a:pPr>
            <a:r>
              <a:rPr dirty="0" lang="en-US"/>
              <a:t>h. Preparation of evidence of special witnesses like experts,  children and hostile witnesses</a:t>
            </a:r>
          </a:p>
          <a:p>
            <a:pPr indent="0" marL="0">
              <a:buNone/>
            </a:pPr>
            <a:r>
              <a:rPr dirty="0" lang="en-US" err="1"/>
              <a:t>i.Processes</a:t>
            </a:r>
            <a:r>
              <a:rPr dirty="0" lang="en-US"/>
              <a:t> for compelling the attendance of witnesses in court-Subpoenas and witness summons.</a:t>
            </a:r>
          </a:p>
          <a:p>
            <a:pPr indent="0" marL="0">
              <a:buNone/>
            </a:pPr>
            <a:r>
              <a:rPr dirty="0" lang="en-US" err="1"/>
              <a:t>j.Principles</a:t>
            </a:r>
            <a:r>
              <a:rPr dirty="0" lang="en-US"/>
              <a:t> relating to the preparation of written statement on oath of a witness and its difference with an affidavit. 	</a:t>
            </a:r>
          </a:p>
          <a:p>
            <a:pPr indent="0" marL="0">
              <a:buNone/>
            </a:pPr>
            <a:endParaRPr dirty="0" lang="en-US"/>
          </a:p>
          <a:p>
            <a:pPr indent="0" marL="0">
              <a:buNone/>
            </a:pPr>
            <a:endParaRPr dirty="0" lang="en-US"/>
          </a:p>
          <a:p>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611" name="Title 1"/>
          <p:cNvSpPr>
            <a:spLocks noGrp="1"/>
          </p:cNvSpPr>
          <p:nvPr>
            <p:ph type="title"/>
          </p:nvPr>
        </p:nvSpPr>
        <p:spPr/>
        <p:txBody>
          <a:bodyPr/>
          <a:p>
            <a:r>
              <a:rPr b="1" dirty="0" lang="en-US"/>
              <a:t>Outcomes</a:t>
            </a:r>
            <a:r>
              <a:rPr dirty="0" lang="en-US"/>
              <a:t/>
            </a:r>
            <a:br>
              <a:rPr dirty="0" lang="en-US"/>
            </a:br>
            <a:endParaRPr dirty="0" lang="en-US"/>
          </a:p>
        </p:txBody>
      </p:sp>
      <p:sp>
        <p:nvSpPr>
          <p:cNvPr id="1048612" name="Content Placeholder 2"/>
          <p:cNvSpPr>
            <a:spLocks noGrp="1"/>
          </p:cNvSpPr>
          <p:nvPr>
            <p:ph idx="1"/>
          </p:nvPr>
        </p:nvSpPr>
        <p:spPr/>
        <p:txBody>
          <a:bodyPr>
            <a:normAutofit/>
          </a:bodyPr>
          <a:p>
            <a:pPr indent="0" marL="0">
              <a:buNone/>
            </a:pPr>
            <a:r>
              <a:rPr dirty="0" lang="en-US"/>
              <a:t>At the end of this lesson Students would be able to:</a:t>
            </a:r>
          </a:p>
          <a:p>
            <a:pPr indent="0" marL="0">
              <a:buNone/>
            </a:pPr>
            <a:r>
              <a:rPr dirty="0" lang="en-US" err="1"/>
              <a:t>i</a:t>
            </a:r>
            <a:r>
              <a:rPr dirty="0" lang="en-US"/>
              <a:t>. explain the principles and procedure relating to Striking out Pleading where no reasonable cause of action is disclosed, etc., interrogatories, discovery of documents, inspection of documents, notices to admit, and settlement of issues;</a:t>
            </a:r>
          </a:p>
          <a:p>
            <a:pPr indent="0" marL="0">
              <a:buNone/>
            </a:pPr>
            <a:r>
              <a:rPr dirty="0" lang="en-US"/>
              <a:t>ii. explain the general principles of Case Management Conference/ Pre-trial Conference and scheduling and list orders that the court may make;</a:t>
            </a:r>
          </a:p>
          <a:p>
            <a:pPr indent="0" marL="0">
              <a:buNone/>
            </a:pPr>
            <a:r>
              <a:rPr dirty="0" lang="en-US"/>
              <a:t>iii. conduct a Case Management Conference </a:t>
            </a:r>
          </a:p>
          <a:p>
            <a:pPr indent="0" marL="0">
              <a:buNone/>
            </a:pPr>
            <a:r>
              <a:rPr dirty="0" lang="en-US"/>
              <a:t>iv. prepare a trial plan and case theory and identify relevant evidence in a case;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13" name="Title 1"/>
          <p:cNvSpPr>
            <a:spLocks noGrp="1"/>
          </p:cNvSpPr>
          <p:nvPr>
            <p:ph type="title"/>
          </p:nvPr>
        </p:nvSpPr>
        <p:spPr/>
        <p:txBody>
          <a:bodyPr/>
          <a:p>
            <a:r>
              <a:rPr b="1" dirty="0" lang="en-US"/>
              <a:t>Outcomes contd.</a:t>
            </a:r>
            <a:r>
              <a:rPr dirty="0" lang="en-US"/>
              <a:t/>
            </a:r>
            <a:br>
              <a:rPr dirty="0" lang="en-US"/>
            </a:br>
            <a:endParaRPr dirty="0" lang="en-US"/>
          </a:p>
        </p:txBody>
      </p:sp>
      <p:sp>
        <p:nvSpPr>
          <p:cNvPr id="1048614" name="Content Placeholder 2"/>
          <p:cNvSpPr>
            <a:spLocks noGrp="1"/>
          </p:cNvSpPr>
          <p:nvPr>
            <p:ph idx="1"/>
          </p:nvPr>
        </p:nvSpPr>
        <p:spPr/>
        <p:txBody>
          <a:bodyPr/>
          <a:p>
            <a:pPr indent="0" marL="0">
              <a:buNone/>
            </a:pPr>
            <a:r>
              <a:rPr dirty="0" lang="en-US"/>
              <a:t>v. explain and apply rules of evidence as to the burden and standard of proof, and use of primary and secondary evidence;</a:t>
            </a:r>
          </a:p>
          <a:p>
            <a:pPr indent="0" marL="0">
              <a:buNone/>
            </a:pPr>
            <a:r>
              <a:rPr dirty="0" lang="en-US"/>
              <a:t>vi. explain the principles regulating the evidence of special witnesses like children, experts and hostile witnesses;</a:t>
            </a:r>
          </a:p>
          <a:p>
            <a:pPr indent="0" marL="0">
              <a:buNone/>
            </a:pPr>
            <a:r>
              <a:rPr dirty="0" lang="en-US"/>
              <a:t>vii. prepare witness statements obeying ethical rules;</a:t>
            </a:r>
          </a:p>
          <a:p>
            <a:pPr indent="0" marL="0">
              <a:buNone/>
            </a:pPr>
            <a:r>
              <a:rPr dirty="0" lang="en-US"/>
              <a:t>viii. explain the principles regarding competence and compellability of witnesses and the use of subpoenas and witness summons;</a:t>
            </a:r>
          </a:p>
          <a:p>
            <a:pPr indent="0" marL="0">
              <a:buNone/>
            </a:pPr>
            <a:r>
              <a:rPr dirty="0" lang="en-US"/>
              <a:t>ix. identify, explain, and apply ethical issues relating to the lesson.</a:t>
            </a:r>
          </a:p>
          <a:p>
            <a:pPr indent="0" marL="0">
              <a:buNone/>
            </a:pPr>
            <a:endParaRPr dirty="0" lang="en-US"/>
          </a:p>
          <a:p>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615" name="Title 1"/>
          <p:cNvSpPr>
            <a:spLocks noGrp="1"/>
          </p:cNvSpPr>
          <p:nvPr>
            <p:ph type="title"/>
          </p:nvPr>
        </p:nvSpPr>
        <p:spPr/>
        <p:txBody>
          <a:bodyPr/>
          <a:p>
            <a:pPr algn="ctr"/>
            <a:r>
              <a:rPr b="1" dirty="0" lang="en-GB" smtClean="0"/>
              <a:t>1. PRE-TRIAL </a:t>
            </a:r>
            <a:r>
              <a:rPr b="1" dirty="0" lang="en-GB"/>
              <a:t>ISSUES AND PROCEEDINGS</a:t>
            </a:r>
            <a:endParaRPr dirty="0" lang="en-US"/>
          </a:p>
        </p:txBody>
      </p:sp>
      <p:sp>
        <p:nvSpPr>
          <p:cNvPr id="1048616" name="Content Placeholder 2"/>
          <p:cNvSpPr>
            <a:spLocks noGrp="1"/>
          </p:cNvSpPr>
          <p:nvPr>
            <p:ph idx="1"/>
          </p:nvPr>
        </p:nvSpPr>
        <p:spPr/>
        <p:txBody>
          <a:bodyPr/>
          <a:p>
            <a:pPr indent="0" marL="0">
              <a:buNone/>
            </a:pPr>
            <a:r>
              <a:rPr dirty="0" lang="en-US" err="1"/>
              <a:t>a.Case</a:t>
            </a:r>
            <a:r>
              <a:rPr dirty="0" lang="en-US"/>
              <a:t> Management Conference and Scheduling</a:t>
            </a:r>
          </a:p>
          <a:p>
            <a:pPr indent="0" marL="0">
              <a:buNone/>
            </a:pPr>
            <a:r>
              <a:rPr dirty="0" lang="en-US" err="1"/>
              <a:t>b.Settlement</a:t>
            </a:r>
            <a:r>
              <a:rPr dirty="0" lang="en-US"/>
              <a:t> of Issues</a:t>
            </a:r>
          </a:p>
          <a:p>
            <a:pPr indent="0" marL="0">
              <a:buNone/>
            </a:pPr>
            <a:r>
              <a:rPr dirty="0" lang="en-US" err="1"/>
              <a:t>c.Proceedings</a:t>
            </a:r>
            <a:r>
              <a:rPr dirty="0" lang="en-US"/>
              <a:t> in Lieu of Demurrer</a:t>
            </a:r>
          </a:p>
          <a:p>
            <a:pPr indent="0" marL="0">
              <a:buNone/>
            </a:pPr>
            <a:r>
              <a:rPr dirty="0" lang="en-US" err="1"/>
              <a:t>d.Striking</a:t>
            </a:r>
            <a:r>
              <a:rPr dirty="0" lang="en-US"/>
              <a:t> out pleadings </a:t>
            </a:r>
          </a:p>
          <a:p>
            <a:pPr indent="0" marL="0">
              <a:buNone/>
            </a:pPr>
            <a:r>
              <a:rPr dirty="0" lang="en-US" err="1"/>
              <a:t>e.Discovery</a:t>
            </a:r>
            <a:r>
              <a:rPr dirty="0" lang="en-US"/>
              <a:t> of facts and documents</a:t>
            </a:r>
          </a:p>
          <a:p>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17" name="Title 1"/>
          <p:cNvSpPr>
            <a:spLocks noGrp="1"/>
          </p:cNvSpPr>
          <p:nvPr>
            <p:ph type="title"/>
          </p:nvPr>
        </p:nvSpPr>
        <p:spPr>
          <a:xfrm>
            <a:off x="493295" y="365125"/>
            <a:ext cx="10860505" cy="1325563"/>
          </a:xfrm>
        </p:spPr>
        <p:txBody>
          <a:bodyPr>
            <a:normAutofit fontScale="90909"/>
          </a:bodyPr>
          <a:p>
            <a:pPr algn="ctr"/>
            <a:r>
              <a:rPr b="1" dirty="0" lang="en-GB"/>
              <a:t/>
            </a:r>
            <a:br>
              <a:rPr b="1" dirty="0" lang="en-GB"/>
            </a:br>
            <a:r>
              <a:rPr b="1" dirty="0" lang="en-GB"/>
              <a:t>Case Management Conference and Scheduling</a:t>
            </a:r>
            <a:endParaRPr b="1" dirty="0" lang="en-US"/>
          </a:p>
        </p:txBody>
      </p:sp>
      <p:sp>
        <p:nvSpPr>
          <p:cNvPr id="1048618" name="Content Placeholder 2"/>
          <p:cNvSpPr>
            <a:spLocks noGrp="1"/>
          </p:cNvSpPr>
          <p:nvPr>
            <p:ph idx="1"/>
          </p:nvPr>
        </p:nvSpPr>
        <p:spPr/>
        <p:txBody>
          <a:bodyPr>
            <a:normAutofit/>
          </a:bodyPr>
          <a:p>
            <a:pPr algn="just"/>
            <a:endParaRPr dirty="0" lang="en-US">
              <a:cs typeface="Times New Roman" pitchFamily="18" charset="0"/>
            </a:endParaRPr>
          </a:p>
          <a:p>
            <a:pPr indent="0" marL="0">
              <a:buNone/>
            </a:pPr>
            <a:endParaRPr dirty="0" lang="en-US">
              <a:cs typeface="Times New Roman" pitchFamily="18" charset="0"/>
            </a:endParaRPr>
          </a:p>
          <a:p>
            <a:pPr indent="0" marL="0">
              <a:buNone/>
            </a:pPr>
            <a:endParaRPr dirty="0" lang="en-GB">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19" name="Title 1"/>
          <p:cNvSpPr>
            <a:spLocks noGrp="1"/>
          </p:cNvSpPr>
          <p:nvPr>
            <p:ph type="title"/>
          </p:nvPr>
        </p:nvSpPr>
        <p:spPr/>
        <p:txBody>
          <a:bodyPr/>
          <a:p>
            <a:pPr algn="ctr"/>
            <a:r>
              <a:rPr b="1" dirty="0" lang="en-US" smtClean="0">
                <a:cs typeface="Times New Roman" pitchFamily="18" charset="0"/>
              </a:rPr>
              <a:t>Meaning</a:t>
            </a:r>
            <a:r>
              <a:rPr dirty="0" lang="en-US" smtClean="0">
                <a:cs typeface="Times New Roman" pitchFamily="18" charset="0"/>
              </a:rPr>
              <a:t> </a:t>
            </a:r>
            <a:r>
              <a:rPr dirty="0" lang="en-US">
                <a:solidFill>
                  <a:srgbClr val="FF0000"/>
                </a:solidFill>
                <a:cs typeface="Times New Roman" pitchFamily="18" charset="0"/>
              </a:rPr>
              <a:t/>
            </a:r>
            <a:br>
              <a:rPr dirty="0" lang="en-US">
                <a:solidFill>
                  <a:srgbClr val="FF0000"/>
                </a:solidFill>
                <a:cs typeface="Times New Roman" pitchFamily="18" charset="0"/>
              </a:rPr>
            </a:br>
            <a:endParaRPr dirty="0" lang="en-US"/>
          </a:p>
        </p:txBody>
      </p:sp>
      <p:sp>
        <p:nvSpPr>
          <p:cNvPr id="1048620" name="Content Placeholder 2"/>
          <p:cNvSpPr>
            <a:spLocks noGrp="1"/>
          </p:cNvSpPr>
          <p:nvPr>
            <p:ph idx="1"/>
          </p:nvPr>
        </p:nvSpPr>
        <p:spPr/>
        <p:txBody>
          <a:bodyPr>
            <a:normAutofit/>
          </a:bodyPr>
          <a:p>
            <a:pPr algn="just"/>
            <a:r>
              <a:rPr dirty="0" lang="en-US" smtClean="0">
                <a:cs typeface="Times New Roman" pitchFamily="18" charset="0"/>
              </a:rPr>
              <a:t>A </a:t>
            </a:r>
            <a:r>
              <a:rPr dirty="0" lang="en-US">
                <a:cs typeface="Times New Roman" pitchFamily="18" charset="0"/>
              </a:rPr>
              <a:t>case management mechanism for dealing with preliminary issues at a less formal and time bound forum. It is resorted to at the close of pleadings when issues have been joined and before the commencement of trial.</a:t>
            </a:r>
            <a:r>
              <a:rPr dirty="0" lang="en-US"/>
              <a:t> In general, the rules on pre-trial proceedings are similar across jurisdictions. In this lesson the specific provisions of the Lagos Rules on pre-trial proceedings will be highlighted.  Order 27 of the Lagos Rules 2019.</a:t>
            </a:r>
          </a:p>
          <a:p>
            <a:pPr algn="just"/>
            <a:r>
              <a:rPr dirty="0" lang="en-US"/>
              <a:t>Note that the High Court of the Federal Capital Territory, Abuja (Civil Procedure) Rules 2025 does not make specific provisions on pre-trial proceedings. Therefore, the discussion will be limited to Lagos.</a:t>
            </a:r>
          </a:p>
          <a:p>
            <a:pPr algn="just"/>
            <a:endParaRPr dirty="0" lang="en-US">
              <a:cs typeface="Times New Roman" pitchFamily="18" charset="0"/>
            </a:endParaRPr>
          </a:p>
          <a:p>
            <a:endParaRPr dirty="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621" name="Title 1"/>
          <p:cNvSpPr>
            <a:spLocks noGrp="1"/>
          </p:cNvSpPr>
          <p:nvPr>
            <p:ph type="title"/>
          </p:nvPr>
        </p:nvSpPr>
        <p:spPr>
          <a:xfrm>
            <a:off x="1371599" y="206630"/>
            <a:ext cx="9248503" cy="751914"/>
          </a:xfrm>
        </p:spPr>
        <p:txBody>
          <a:bodyPr>
            <a:normAutofit fontScale="90625"/>
          </a:bodyPr>
          <a:p>
            <a:pPr algn="ctr"/>
            <a:r>
              <a:rPr b="1" dirty="0" sz="3200" lang="en-GB"/>
              <a:t>Benefits Case Management Conference and Scheduling</a:t>
            </a:r>
            <a:endParaRPr b="1" dirty="0" sz="3200" lang="en-US"/>
          </a:p>
        </p:txBody>
      </p:sp>
      <p:sp>
        <p:nvSpPr>
          <p:cNvPr id="1048622" name="Content Placeholder 2"/>
          <p:cNvSpPr>
            <a:spLocks noGrp="1"/>
          </p:cNvSpPr>
          <p:nvPr>
            <p:ph idx="1"/>
          </p:nvPr>
        </p:nvSpPr>
        <p:spPr>
          <a:xfrm>
            <a:off x="1981200" y="1000109"/>
            <a:ext cx="8229600" cy="5126056"/>
          </a:xfrm>
        </p:spPr>
        <p:txBody>
          <a:bodyPr>
            <a:normAutofit/>
          </a:bodyPr>
          <a:p>
            <a:pPr indent="0" marL="0">
              <a:buNone/>
            </a:pPr>
            <a:r>
              <a:rPr dirty="0" sz="3600" lang="en-US">
                <a:cs typeface="Times New Roman" pitchFamily="18" charset="0"/>
              </a:rPr>
              <a:t>Benefits of  Case Management Conference includes the following:</a:t>
            </a:r>
          </a:p>
          <a:p>
            <a:pPr indent="-514350" marL="514350">
              <a:buAutoNum type="alphaLcParenBoth"/>
            </a:pPr>
            <a:r>
              <a:rPr dirty="0" sz="3600" lang="en-US">
                <a:cs typeface="Times New Roman" pitchFamily="18" charset="0"/>
              </a:rPr>
              <a:t>It allows for effective case management so that only the real issues in controversy between the parties will be dealt with at the trial.</a:t>
            </a:r>
          </a:p>
          <a:p>
            <a:pPr indent="-514350" marL="514350">
              <a:buAutoNum type="alphaLcParenBoth"/>
            </a:pPr>
            <a:r>
              <a:rPr dirty="0" sz="3600" lang="en-US">
                <a:cs typeface="Times New Roman" pitchFamily="18" charset="0"/>
              </a:rPr>
              <a:t>It helps to eliminate issues that are not in contention between the parties, thereby helping the court to focus on the main issues;</a:t>
            </a:r>
          </a:p>
          <a:p>
            <a:pPr indent="-514350" marL="514350">
              <a:buAutoNum type="alphaLcParenBoth"/>
            </a:pPr>
            <a:r>
              <a:rPr dirty="0" sz="3600" lang="en-US">
                <a:cs typeface="Times New Roman" pitchFamily="18" charset="0"/>
              </a:rPr>
              <a:t>It helps the court to achieve speedy trial of the real issues;</a:t>
            </a:r>
          </a:p>
          <a:p>
            <a:endParaRPr dirty="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23" name="Title 1"/>
          <p:cNvSpPr>
            <a:spLocks noGrp="1"/>
          </p:cNvSpPr>
          <p:nvPr>
            <p:ph type="title"/>
          </p:nvPr>
        </p:nvSpPr>
        <p:spPr/>
        <p:txBody>
          <a:bodyPr/>
          <a:p>
            <a:r>
              <a:rPr b="1" dirty="0" lang="en-GB"/>
              <a:t>Purpose of Case Management Conference and Scheduling</a:t>
            </a:r>
            <a:endParaRPr b="1" dirty="0" lang="en-US"/>
          </a:p>
        </p:txBody>
      </p:sp>
      <p:sp>
        <p:nvSpPr>
          <p:cNvPr id="1048624" name="Content Placeholder 2"/>
          <p:cNvSpPr>
            <a:spLocks noGrp="1"/>
          </p:cNvSpPr>
          <p:nvPr>
            <p:ph idx="1"/>
          </p:nvPr>
        </p:nvSpPr>
        <p:spPr/>
        <p:txBody>
          <a:bodyPr/>
          <a:p>
            <a:pPr algn="just" indent="0" marL="0">
              <a:buNone/>
            </a:pPr>
            <a:r>
              <a:rPr dirty="0" lang="en-GB"/>
              <a:t>The Purpose of Case Management includes:</a:t>
            </a:r>
          </a:p>
          <a:p>
            <a:pPr algn="just" indent="-514350" marL="514350">
              <a:buAutoNum type="alphaLcParenBoth"/>
            </a:pPr>
            <a:r>
              <a:rPr dirty="0" lang="en-GB"/>
              <a:t>Disposing of matters which can be dealt with on interlocutory application;</a:t>
            </a:r>
          </a:p>
          <a:p>
            <a:pPr algn="just" indent="-514350" marL="514350">
              <a:buAutoNum type="alphaLcParenBoth"/>
            </a:pPr>
            <a:r>
              <a:rPr dirty="0" lang="en-GB"/>
              <a:t>Giving such direction as to the future course of action as appears best adapted to secure its just, expeditious and economical disposal;</a:t>
            </a:r>
          </a:p>
          <a:p>
            <a:pPr algn="just" indent="-514350" marL="514350">
              <a:buAutoNum type="alphaLcParenBoth"/>
            </a:pPr>
            <a:r>
              <a:rPr dirty="0" lang="en-GB"/>
              <a:t>Promoting amicable settlement of the matters or adoption of alternative dispute resolution.</a:t>
            </a:r>
          </a:p>
          <a:p>
            <a:pPr indent="0" marL="0">
              <a:buNone/>
            </a:pPr>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25" name="Title 1"/>
          <p:cNvSpPr>
            <a:spLocks noGrp="1"/>
          </p:cNvSpPr>
          <p:nvPr>
            <p:ph type="title"/>
          </p:nvPr>
        </p:nvSpPr>
        <p:spPr>
          <a:xfrm>
            <a:off x="1981200" y="285728"/>
            <a:ext cx="8229600" cy="500066"/>
          </a:xfrm>
        </p:spPr>
        <p:txBody>
          <a:bodyPr>
            <a:noAutofit/>
          </a:bodyPr>
          <a:p>
            <a:pPr algn="ctr"/>
            <a:r>
              <a:rPr b="1" dirty="0" sz="3600" lang="en-US"/>
              <a:t>Agenda for Case Management Conference</a:t>
            </a:r>
          </a:p>
        </p:txBody>
      </p:sp>
      <p:sp>
        <p:nvSpPr>
          <p:cNvPr id="1048626" name="Content Placeholder 2"/>
          <p:cNvSpPr>
            <a:spLocks noGrp="1"/>
          </p:cNvSpPr>
          <p:nvPr>
            <p:ph idx="1"/>
          </p:nvPr>
        </p:nvSpPr>
        <p:spPr>
          <a:xfrm>
            <a:off x="1952596" y="928670"/>
            <a:ext cx="8229600" cy="5357850"/>
          </a:xfrm>
        </p:spPr>
        <p:txBody>
          <a:bodyPr/>
          <a:p>
            <a:pPr algn="just">
              <a:buNone/>
            </a:pPr>
            <a:r>
              <a:rPr dirty="0" sz="3000" lang="en-US"/>
              <a:t>The CMC Agenda includes the following:</a:t>
            </a:r>
          </a:p>
          <a:p>
            <a:pPr algn="just" indent="-514350" marL="514350">
              <a:buAutoNum type="alphaLcParenBoth"/>
            </a:pPr>
            <a:r>
              <a:rPr dirty="0" sz="3000" lang="en-US"/>
              <a:t>Formulation/ settlement of issues;</a:t>
            </a:r>
          </a:p>
          <a:p>
            <a:pPr algn="just" indent="-514350" marL="514350">
              <a:buAutoNum type="alphaLcParenBoth"/>
            </a:pPr>
            <a:r>
              <a:rPr dirty="0" sz="3000" lang="en-US"/>
              <a:t>Amendments, further/better particulars;</a:t>
            </a:r>
          </a:p>
          <a:p>
            <a:pPr algn="just" indent="-514350" marL="514350">
              <a:buAutoNum type="alphaLcParenBoth"/>
            </a:pPr>
            <a:r>
              <a:rPr dirty="0" sz="3000" lang="en-US"/>
              <a:t>Admissions; etc</a:t>
            </a:r>
          </a:p>
          <a:p>
            <a:pPr algn="just" indent="-514350" marL="514350">
              <a:buAutoNum type="alphaLcParenBoth"/>
            </a:pPr>
            <a:r>
              <a:rPr dirty="0" sz="3000" lang="en-US"/>
              <a:t>Control/scheduling of discovery, inspection &amp; production of documents;</a:t>
            </a:r>
          </a:p>
          <a:p>
            <a:pPr algn="just" indent="-514350" marL="514350">
              <a:buAutoNum type="alphaLcParenBoth"/>
            </a:pPr>
            <a:r>
              <a:rPr dirty="0" sz="3000" lang="en-US"/>
              <a:t>Settlements of documents to be admitted;</a:t>
            </a:r>
          </a:p>
          <a:p>
            <a:pPr algn="just" indent="-514350" marL="514350">
              <a:buAutoNum type="alphaLcParenBoth"/>
            </a:pPr>
            <a:r>
              <a:rPr dirty="0" sz="3000" lang="en-US"/>
              <a:t>Narrowing the field of dispute b/w expert witnesses by involving them in CMC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627" name="Title 1"/>
          <p:cNvSpPr>
            <a:spLocks noGrp="1"/>
          </p:cNvSpPr>
          <p:nvPr>
            <p:ph type="title"/>
          </p:nvPr>
        </p:nvSpPr>
        <p:spPr>
          <a:xfrm>
            <a:off x="1981200" y="285728"/>
            <a:ext cx="8229600" cy="357190"/>
          </a:xfrm>
        </p:spPr>
        <p:txBody>
          <a:bodyPr/>
          <a:p>
            <a:endParaRPr dirty="0" sz="1400" lang="en-US"/>
          </a:p>
        </p:txBody>
      </p:sp>
      <p:sp>
        <p:nvSpPr>
          <p:cNvPr id="1048628" name="Content Placeholder 2"/>
          <p:cNvSpPr>
            <a:spLocks noGrp="1"/>
          </p:cNvSpPr>
          <p:nvPr>
            <p:ph idx="1"/>
          </p:nvPr>
        </p:nvSpPr>
        <p:spPr>
          <a:xfrm>
            <a:off x="1981200" y="785794"/>
            <a:ext cx="8229600" cy="5643602"/>
          </a:xfrm>
        </p:spPr>
        <p:txBody>
          <a:bodyPr/>
          <a:p>
            <a:pPr algn="just" indent="-514350" marL="514350">
              <a:buFont typeface="Wingdings" pitchFamily="2" charset="2"/>
              <a:buAutoNum type="alphaLcParenBoth" startAt="7"/>
            </a:pPr>
            <a:r>
              <a:rPr dirty="0" sz="3000" lang="en-US"/>
              <a:t>Hearing motion /objections on law;</a:t>
            </a:r>
          </a:p>
          <a:p>
            <a:pPr algn="just" indent="-514350" marL="514350">
              <a:buFont typeface="Wingdings" pitchFamily="2" charset="2"/>
              <a:buAutoNum type="alphaLcParenBoth" startAt="7"/>
            </a:pPr>
            <a:r>
              <a:rPr dirty="0" sz="3000" lang="en-US"/>
              <a:t>Orders for separate trials of Claim, Counterclaim, Set-off, Third Party Claim;</a:t>
            </a:r>
          </a:p>
          <a:p>
            <a:pPr algn="just" indent="-514350" marL="514350">
              <a:buFont typeface="Wingdings" pitchFamily="2" charset="2"/>
              <a:buAutoNum type="alphaLcParenBoth" startAt="7"/>
            </a:pPr>
            <a:r>
              <a:rPr dirty="0" sz="3000" lang="en-US"/>
              <a:t>Settlement of issues, inquiries, accounts;</a:t>
            </a:r>
          </a:p>
          <a:p>
            <a:pPr algn="just" indent="-514350" marL="514350">
              <a:buFont typeface="Wingdings" pitchFamily="2" charset="2"/>
              <a:buAutoNum type="alphaLcParenBoth" startAt="7"/>
            </a:pPr>
            <a:r>
              <a:rPr dirty="0" sz="3000" lang="en-US"/>
              <a:t>Case stated under Order 31;</a:t>
            </a:r>
          </a:p>
          <a:p>
            <a:pPr algn="just" indent="-514350" marL="514350">
              <a:buFont typeface="Wingdings" pitchFamily="2" charset="2"/>
              <a:buAutoNum type="alphaLcParenBoth" startAt="7"/>
            </a:pPr>
            <a:r>
              <a:rPr dirty="0" sz="3000" lang="en-US"/>
              <a:t>Referrals to Lagos Multi-Door Court House or other ADR bodies;</a:t>
            </a:r>
          </a:p>
          <a:p>
            <a:pPr algn="just" indent="-514350" marL="514350">
              <a:buFont typeface="Wingdings" pitchFamily="2" charset="2"/>
              <a:buAutoNum type="alphaLcParenBoth" startAt="7"/>
            </a:pPr>
            <a:r>
              <a:rPr dirty="0" sz="3000" lang="en-US"/>
              <a:t>Implementing any ADR orders;</a:t>
            </a:r>
          </a:p>
          <a:p>
            <a:pPr algn="just" indent="-514350" marL="514350">
              <a:buFont typeface="Wingdings" pitchFamily="2" charset="2"/>
              <a:buAutoNum type="alphaLcParenBoth" startAt="7"/>
            </a:pPr>
            <a:r>
              <a:rPr dirty="0" sz="3000" lang="en-US"/>
              <a:t>Any other matters.</a:t>
            </a:r>
          </a:p>
          <a:p>
            <a:pPr algn="just" indent="-514350" marL="514350">
              <a:buNone/>
            </a:pPr>
            <a:r>
              <a:rPr b="1" dirty="0" lang="en-GB"/>
              <a:t>Or. 27 r. 2, Lagos Rules 2019</a:t>
            </a:r>
          </a:p>
          <a:p>
            <a:pPr indent="-514350" marL="514350">
              <a:buNone/>
            </a:pPr>
            <a:endParaRPr dirty="0" sz="3000" lang="en-US"/>
          </a:p>
          <a:p>
            <a:pPr indent="-514350" marL="514350">
              <a:buNone/>
            </a:pPr>
            <a:endParaRPr dirty="0" sz="30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29" name="Title 1"/>
          <p:cNvSpPr>
            <a:spLocks noGrp="1"/>
          </p:cNvSpPr>
          <p:nvPr>
            <p:ph type="title"/>
          </p:nvPr>
        </p:nvSpPr>
        <p:spPr>
          <a:xfrm>
            <a:off x="1981200" y="357165"/>
            <a:ext cx="8229600" cy="882087"/>
          </a:xfrm>
        </p:spPr>
        <p:txBody>
          <a:bodyPr>
            <a:normAutofit fontScale="90000"/>
          </a:bodyPr>
          <a:p>
            <a:r>
              <a:rPr b="1" dirty="0" sz="3600" lang="en-US"/>
              <a:t>Procedure for Case Management Conference</a:t>
            </a:r>
            <a:endParaRPr b="1" dirty="0" sz="1800" lang="en-US"/>
          </a:p>
        </p:txBody>
      </p:sp>
      <p:sp>
        <p:nvSpPr>
          <p:cNvPr id="1048630" name="Content Placeholder 2"/>
          <p:cNvSpPr>
            <a:spLocks noGrp="1"/>
          </p:cNvSpPr>
          <p:nvPr>
            <p:ph idx="1"/>
          </p:nvPr>
        </p:nvSpPr>
        <p:spPr>
          <a:xfrm>
            <a:off x="1981200" y="1142985"/>
            <a:ext cx="8229600" cy="4983179"/>
          </a:xfrm>
        </p:spPr>
        <p:txBody>
          <a:bodyPr>
            <a:normAutofit/>
          </a:bodyPr>
          <a:p>
            <a:pPr algn="just" indent="0" marL="0">
              <a:buNone/>
            </a:pPr>
            <a:endParaRPr b="1" dirty="0" lang="en-US"/>
          </a:p>
          <a:p>
            <a:pPr algn="just" indent="-514350" marL="514350">
              <a:buAutoNum type="alphaLcParenBoth"/>
            </a:pPr>
            <a:r>
              <a:rPr dirty="0" lang="en-US"/>
              <a:t>Within 14 days after close of pleadings, the claimant shall apply for issuance of Case Management Conference Notice and the court shall issue same (Form 17) with Case Mgt Info. Sheet in Form 18- Or. 27 r. 1 (1) &amp; (2), Lagos Rules, 2019.</a:t>
            </a:r>
          </a:p>
          <a:p>
            <a:pPr algn="just" indent="-514350" marL="514350">
              <a:buNone/>
            </a:pPr>
            <a:r>
              <a:rPr dirty="0" lang="en-US"/>
              <a:t>At this time the court shall also fix a date for the conference</a:t>
            </a:r>
          </a:p>
          <a:p>
            <a:pPr algn="just"/>
            <a:r>
              <a:rPr dirty="0" lang="en-US"/>
              <a:t>Q: In what form is the application made?</a:t>
            </a:r>
          </a:p>
          <a:p>
            <a:pPr algn="just"/>
            <a:r>
              <a:rPr dirty="0" lang="en-US"/>
              <a:t>A: It is usually an oral application in court.</a:t>
            </a:r>
          </a:p>
          <a:p>
            <a:pPr>
              <a:buNone/>
            </a:pPr>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31" name="Title 1"/>
          <p:cNvSpPr>
            <a:spLocks noGrp="1"/>
          </p:cNvSpPr>
          <p:nvPr>
            <p:ph type="title"/>
          </p:nvPr>
        </p:nvSpPr>
        <p:spPr>
          <a:xfrm>
            <a:off x="2238348" y="274638"/>
            <a:ext cx="7715304" cy="439718"/>
          </a:xfrm>
        </p:spPr>
        <p:txBody>
          <a:bodyPr/>
          <a:p>
            <a:endParaRPr dirty="0" sz="1800" lang="en-US"/>
          </a:p>
        </p:txBody>
      </p:sp>
      <p:sp>
        <p:nvSpPr>
          <p:cNvPr id="1048632" name="Content Placeholder 2"/>
          <p:cNvSpPr>
            <a:spLocks noGrp="1"/>
          </p:cNvSpPr>
          <p:nvPr>
            <p:ph idx="1"/>
          </p:nvPr>
        </p:nvSpPr>
        <p:spPr>
          <a:xfrm>
            <a:off x="2309786" y="857232"/>
            <a:ext cx="7572428" cy="5357850"/>
          </a:xfrm>
        </p:spPr>
        <p:txBody>
          <a:bodyPr>
            <a:normAutofit fontScale="83333" lnSpcReduction="20000"/>
          </a:bodyPr>
          <a:p>
            <a:pPr algn="just" indent="0" marL="0">
              <a:buNone/>
            </a:pPr>
            <a:r>
              <a:rPr dirty="0" sz="3600" lang="en-US"/>
              <a:t>(b) If the claimant fails to apply for the issuance of Case Management Conference Notice within the stipulated 14 days after close of pleadings, the defendant may either apply for the issuance of Case Management Conference Notice or apply for the action to be dismissed. Or. 27 r. 1 (3) Lagos Rules, 2019.</a:t>
            </a:r>
            <a:endParaRPr dirty="0" sz="3600" lang="en-US">
              <a:cs typeface="Times New Roman" pitchFamily="18" charset="0"/>
            </a:endParaRPr>
          </a:p>
          <a:p>
            <a:pPr algn="just"/>
            <a:r>
              <a:rPr dirty="0" sz="3600" lang="en-US">
                <a:cs typeface="Times New Roman" pitchFamily="18" charset="0"/>
              </a:rPr>
              <a:t>Within that same 14 days after close of pleadings, each party is required to draw up the issues in dispute and file same. – Or. 30 r. 1 Lagos Rules 2019</a:t>
            </a:r>
            <a:endParaRPr dirty="0" sz="3600" lang="en-GB">
              <a:cs typeface="Times New Roman" pitchFamily="18" charset="0"/>
            </a:endParaRPr>
          </a:p>
          <a:p>
            <a:pPr algn="just"/>
            <a:r>
              <a:rPr dirty="0" sz="3600" lang="en-US">
                <a:cs typeface="Times New Roman" pitchFamily="18" charset="0"/>
              </a:rPr>
              <a:t>The issues drawn up by parties will then be ‘settled’ (i.e. the points of the dispute will be narrowed down) at the case management conference.</a:t>
            </a:r>
            <a:endParaRPr dirty="0" sz="3600" lang="en-US"/>
          </a:p>
          <a:p>
            <a:pPr algn="just">
              <a:buNone/>
            </a:pPr>
            <a:endParaRPr dirty="0" sz="3600" lang="en-US" u="sn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8633" name="Title 1"/>
          <p:cNvSpPr>
            <a:spLocks noGrp="1"/>
          </p:cNvSpPr>
          <p:nvPr>
            <p:ph type="title"/>
          </p:nvPr>
        </p:nvSpPr>
        <p:spPr>
          <a:xfrm>
            <a:off x="1952596" y="357166"/>
            <a:ext cx="8229600" cy="571504"/>
          </a:xfrm>
        </p:spPr>
        <p:txBody>
          <a:bodyPr>
            <a:noAutofit/>
          </a:bodyPr>
          <a:p>
            <a:pPr algn="ctr"/>
            <a:r>
              <a:rPr b="1" dirty="0" sz="3200" lang="en-US"/>
              <a:t>Time Table for Case Management Conference</a:t>
            </a:r>
          </a:p>
        </p:txBody>
      </p:sp>
      <p:sp>
        <p:nvSpPr>
          <p:cNvPr id="1048634" name="Content Placeholder 2"/>
          <p:cNvSpPr>
            <a:spLocks noGrp="1"/>
          </p:cNvSpPr>
          <p:nvPr>
            <p:ph idx="1"/>
          </p:nvPr>
        </p:nvSpPr>
        <p:spPr>
          <a:xfrm>
            <a:off x="1981200" y="1071546"/>
            <a:ext cx="8229600" cy="5357850"/>
          </a:xfrm>
        </p:spPr>
        <p:txBody>
          <a:bodyPr/>
          <a:p>
            <a:pPr algn="just" indent="-514350" marL="514350">
              <a:buAutoNum type="alphaLcParenBoth"/>
            </a:pPr>
            <a:r>
              <a:rPr dirty="0" lang="en-US">
                <a:cs typeface="Times New Roman" pitchFamily="18" charset="0"/>
              </a:rPr>
              <a:t>Case management case shall be completed within 3 months of commencement unless extended by the judge;</a:t>
            </a:r>
          </a:p>
          <a:p>
            <a:pPr algn="just" indent="-514350" marL="514350">
              <a:buAutoNum type="alphaLcParenBoth"/>
            </a:pPr>
            <a:r>
              <a:rPr dirty="0" lang="en-US">
                <a:cs typeface="Times New Roman" pitchFamily="18" charset="0"/>
              </a:rPr>
              <a:t>Case management conference shall be held from day to day or adjourned only for the purpose of complying with the Case management Conference.</a:t>
            </a:r>
          </a:p>
          <a:p>
            <a:pPr algn="just" indent="-514350" marL="514350">
              <a:buAutoNum type="alphaLcParenBoth"/>
            </a:pPr>
            <a:r>
              <a:rPr dirty="0" lang="en-US">
                <a:cs typeface="Times New Roman" pitchFamily="18" charset="0"/>
              </a:rPr>
              <a:t>At the end of the case management conference, the judge will give a report.  Or. 27 r. 3 Lagos Rules 2019.</a:t>
            </a:r>
            <a:endParaRPr b="1" dirty="0" lang="en-US">
              <a:cs typeface="Times New Roman" pitchFamily="18" charset="0"/>
            </a:endParaRPr>
          </a:p>
          <a:p>
            <a:pPr indent="0" marL="0">
              <a:buNone/>
            </a:pPr>
            <a:endParaRPr b="1" dirty="0" lang="en-US">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635" name="Title 1"/>
          <p:cNvSpPr>
            <a:spLocks noGrp="1"/>
          </p:cNvSpPr>
          <p:nvPr>
            <p:ph type="title"/>
          </p:nvPr>
        </p:nvSpPr>
        <p:spPr>
          <a:xfrm>
            <a:off x="1981200" y="271873"/>
            <a:ext cx="8229600" cy="500066"/>
          </a:xfrm>
        </p:spPr>
        <p:txBody>
          <a:bodyPr>
            <a:noAutofit/>
          </a:bodyPr>
          <a:p>
            <a:pPr algn="ctr"/>
            <a:r>
              <a:rPr b="1" dirty="0" sz="2800" lang="en-US"/>
              <a:t>Sanctions for Default in Case Management Conference</a:t>
            </a:r>
          </a:p>
        </p:txBody>
      </p:sp>
      <p:sp>
        <p:nvSpPr>
          <p:cNvPr id="1048636" name="Content Placeholder 2"/>
          <p:cNvSpPr>
            <a:spLocks noGrp="1"/>
          </p:cNvSpPr>
          <p:nvPr>
            <p:ph idx="1"/>
          </p:nvPr>
        </p:nvSpPr>
        <p:spPr>
          <a:xfrm>
            <a:off x="1981200" y="857232"/>
            <a:ext cx="8229600" cy="5500726"/>
          </a:xfrm>
        </p:spPr>
        <p:txBody>
          <a:bodyPr/>
          <a:p>
            <a:pPr algn="just">
              <a:buNone/>
            </a:pPr>
            <a:r>
              <a:rPr dirty="0" lang="en-US">
                <a:cs typeface="Times New Roman" pitchFamily="18" charset="0"/>
              </a:rPr>
              <a:t>Parties and their counsel shall co-operate with the court to work within the case management conference timetable. If they default to attend the case management conference in good faith the Judge shall:</a:t>
            </a:r>
          </a:p>
          <a:p>
            <a:pPr algn="just" indent="-514350" marL="514350">
              <a:buAutoNum type="alphaLcParenBoth"/>
            </a:pPr>
            <a:r>
              <a:rPr dirty="0" lang="en-US">
                <a:cs typeface="Times New Roman" pitchFamily="18" charset="0"/>
              </a:rPr>
              <a:t>Dismiss the claim in the case of a claimant;</a:t>
            </a:r>
          </a:p>
          <a:p>
            <a:pPr algn="just" indent="-514350" marL="514350">
              <a:buAutoNum type="alphaLcParenBoth"/>
            </a:pPr>
            <a:r>
              <a:rPr dirty="0" lang="en-US">
                <a:cs typeface="Times New Roman" pitchFamily="18" charset="0"/>
              </a:rPr>
              <a:t>Enter judgment in the case of a defendant. Or. 27 r. 5 Lagos Rules 2019</a:t>
            </a:r>
          </a:p>
          <a:p>
            <a:pPr algn="just" indent="0" marL="0">
              <a:buNone/>
            </a:pPr>
            <a:r>
              <a:rPr dirty="0" lang="en-US">
                <a:cs typeface="Times New Roman" pitchFamily="18" charset="0"/>
              </a:rPr>
              <a:t>Such judgment may be set aside on application within 7days, or within time as may be allowed by the ADR Judge - Or. 27 r. 6 Lagos Rules 2019.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637" name="Title 1"/>
          <p:cNvSpPr>
            <a:spLocks noGrp="1"/>
          </p:cNvSpPr>
          <p:nvPr>
            <p:ph type="title"/>
          </p:nvPr>
        </p:nvSpPr>
        <p:spPr/>
        <p:txBody>
          <a:bodyPr>
            <a:normAutofit/>
          </a:bodyPr>
          <a:p>
            <a:pPr algn="ctr"/>
            <a:r>
              <a:rPr b="1" dirty="0" sz="5400" lang="en-US"/>
              <a:t>Settlement of Issues</a:t>
            </a:r>
            <a:endParaRPr dirty="0" sz="5400" lang="en-US"/>
          </a:p>
        </p:txBody>
      </p:sp>
      <p:sp>
        <p:nvSpPr>
          <p:cNvPr id="1048638" name="Content Placeholder 2"/>
          <p:cNvSpPr>
            <a:spLocks noGrp="1"/>
          </p:cNvSpPr>
          <p:nvPr>
            <p:ph idx="1"/>
          </p:nvPr>
        </p:nvSpPr>
        <p:spPr/>
        <p:txBody>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048639" name="Title 1"/>
          <p:cNvSpPr>
            <a:spLocks noGrp="1"/>
          </p:cNvSpPr>
          <p:nvPr>
            <p:ph type="title"/>
          </p:nvPr>
        </p:nvSpPr>
        <p:spPr>
          <a:xfrm>
            <a:off x="1981200" y="252663"/>
            <a:ext cx="8229600" cy="806116"/>
          </a:xfrm>
        </p:spPr>
        <p:txBody>
          <a:bodyPr>
            <a:normAutofit/>
          </a:bodyPr>
          <a:p>
            <a:pPr algn="ctr"/>
            <a:r>
              <a:rPr b="1" dirty="0" sz="3600" lang="en-GB" smtClean="0"/>
              <a:t>Meaning</a:t>
            </a:r>
            <a:endParaRPr b="1" dirty="0" sz="3600" lang="en-US"/>
          </a:p>
        </p:txBody>
      </p:sp>
      <p:sp>
        <p:nvSpPr>
          <p:cNvPr id="1048640" name="Content Placeholder 2"/>
          <p:cNvSpPr>
            <a:spLocks noGrp="1"/>
          </p:cNvSpPr>
          <p:nvPr>
            <p:ph idx="1"/>
          </p:nvPr>
        </p:nvSpPr>
        <p:spPr>
          <a:xfrm>
            <a:off x="1981200" y="1214423"/>
            <a:ext cx="8229600" cy="4911741"/>
          </a:xfrm>
        </p:spPr>
        <p:txBody>
          <a:bodyPr/>
          <a:p>
            <a:pPr algn="just"/>
            <a:r>
              <a:rPr dirty="0" lang="en-GB"/>
              <a:t>It is the procedure in which the parties in conjunction with the court ascertain what the material questions in controversy are; and settle them in form of issues for determination. It is done at the Case Management Conference.</a:t>
            </a:r>
          </a:p>
          <a:p>
            <a:pPr indent="0" marL="0">
              <a:buNone/>
            </a:pPr>
            <a:endParaRPr dirty="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8641" name="Title 1"/>
          <p:cNvSpPr>
            <a:spLocks noGrp="1"/>
          </p:cNvSpPr>
          <p:nvPr>
            <p:ph type="title"/>
          </p:nvPr>
        </p:nvSpPr>
        <p:spPr/>
        <p:txBody>
          <a:bodyPr/>
          <a:p>
            <a:pPr algn="ctr"/>
            <a:r>
              <a:rPr b="1" dirty="0" lang="en-US"/>
              <a:t>Purpose of Settlement of Issues</a:t>
            </a:r>
          </a:p>
        </p:txBody>
      </p:sp>
      <p:sp>
        <p:nvSpPr>
          <p:cNvPr id="1048642" name="Content Placeholder 2"/>
          <p:cNvSpPr>
            <a:spLocks noGrp="1"/>
          </p:cNvSpPr>
          <p:nvPr>
            <p:ph idx="1"/>
          </p:nvPr>
        </p:nvSpPr>
        <p:spPr/>
        <p:txBody>
          <a:bodyPr/>
          <a:p>
            <a:pPr algn="just"/>
            <a:r>
              <a:rPr dirty="0" lang="en-US"/>
              <a:t>It is to save cost.</a:t>
            </a:r>
          </a:p>
          <a:p>
            <a:pPr algn="just"/>
            <a:r>
              <a:rPr dirty="0" lang="en-US"/>
              <a:t>To save time by narrowing the area of dispute.</a:t>
            </a:r>
          </a:p>
          <a:p>
            <a:pPr algn="just"/>
            <a:r>
              <a:rPr dirty="0" lang="en-US"/>
              <a:t>To prevent the distraction of the court by inconsequential issues/points.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643" name="Title 1"/>
          <p:cNvSpPr>
            <a:spLocks noGrp="1"/>
          </p:cNvSpPr>
          <p:nvPr>
            <p:ph type="title"/>
          </p:nvPr>
        </p:nvSpPr>
        <p:spPr/>
        <p:txBody>
          <a:bodyPr/>
          <a:p>
            <a:pPr algn="ctr"/>
            <a:r>
              <a:rPr b="1" dirty="0" lang="en-US"/>
              <a:t>Procedure for Settlement of Issues</a:t>
            </a:r>
          </a:p>
        </p:txBody>
      </p:sp>
      <p:sp>
        <p:nvSpPr>
          <p:cNvPr id="1048644" name="Content Placeholder 2"/>
          <p:cNvSpPr>
            <a:spLocks noGrp="1"/>
          </p:cNvSpPr>
          <p:nvPr>
            <p:ph idx="1"/>
          </p:nvPr>
        </p:nvSpPr>
        <p:spPr/>
        <p:txBody>
          <a:bodyPr/>
          <a:p>
            <a:pPr algn="just"/>
            <a:r>
              <a:rPr dirty="0" lang="en-US"/>
              <a:t>Parties required to file issues within 14 days of close of pleadings. Order 30 r. 1 (1) Lagos Rules 2019</a:t>
            </a:r>
          </a:p>
          <a:p>
            <a:pPr algn="just"/>
            <a:r>
              <a:rPr dirty="0" lang="en-US"/>
              <a:t>The issues are settled at the case management conference.</a:t>
            </a:r>
          </a:p>
          <a:p>
            <a:pPr algn="just"/>
            <a:r>
              <a:rPr dirty="0" lang="en-US"/>
              <a:t>If parties differ in the issue they framed, the judge may settle the issues. Or 30 r. 1 (2), Lagos Rules 2019</a:t>
            </a:r>
          </a:p>
          <a:p>
            <a:pPr algn="just"/>
            <a:r>
              <a:rPr dirty="0" lang="en-US"/>
              <a:t>After the conclusion of the conference, the matter is set down for hearing based on the settled issues.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sp>
        <p:nvSpPr>
          <p:cNvPr id="1048645" name="Title 1"/>
          <p:cNvSpPr>
            <a:spLocks noGrp="1"/>
          </p:cNvSpPr>
          <p:nvPr>
            <p:ph type="title"/>
          </p:nvPr>
        </p:nvSpPr>
        <p:spPr/>
        <p:txBody>
          <a:bodyPr>
            <a:normAutofit/>
          </a:bodyPr>
          <a:p>
            <a:pPr algn="ctr"/>
            <a:r>
              <a:rPr b="1" dirty="0" sz="5400" lang="en-US"/>
              <a:t>Proceedings in Lieu of Demurrer</a:t>
            </a:r>
            <a:endParaRPr dirty="0" sz="5400" lang="en-US"/>
          </a:p>
        </p:txBody>
      </p:sp>
      <p:sp>
        <p:nvSpPr>
          <p:cNvPr id="1048646" name="Content Placeholder 2"/>
          <p:cNvSpPr>
            <a:spLocks noGrp="1"/>
          </p:cNvSpPr>
          <p:nvPr>
            <p:ph idx="1"/>
          </p:nvPr>
        </p:nvSpPr>
        <p:spPr/>
        <p:txBody>
          <a:bodyPr/>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647" name="Title 1"/>
          <p:cNvSpPr>
            <a:spLocks noGrp="1"/>
          </p:cNvSpPr>
          <p:nvPr>
            <p:ph type="title"/>
          </p:nvPr>
        </p:nvSpPr>
        <p:spPr>
          <a:xfrm>
            <a:off x="414338" y="365125"/>
            <a:ext cx="10939462" cy="1325563"/>
          </a:xfrm>
        </p:spPr>
        <p:txBody>
          <a:bodyPr>
            <a:normAutofit fontScale="90000"/>
          </a:bodyPr>
          <a:p>
            <a:pPr algn="ctr"/>
            <a:r>
              <a:rPr b="1" dirty="0" lang="en-GB" smtClean="0"/>
              <a:t/>
            </a:r>
            <a:br>
              <a:rPr b="1" dirty="0" lang="en-GB" smtClean="0"/>
            </a:br>
            <a:r>
              <a:rPr b="1" dirty="0" lang="en-GB" smtClean="0"/>
              <a:t>Meaning  </a:t>
            </a:r>
            <a:r>
              <a:rPr b="1" dirty="0" lang="en-GB"/>
              <a:t>and Purpose of Proceedings in Lieu of Demurrer</a:t>
            </a:r>
            <a:r>
              <a:rPr b="1" dirty="0" lang="en-US"/>
              <a:t/>
            </a:r>
            <a:br>
              <a:rPr b="1" dirty="0" lang="en-US"/>
            </a:br>
            <a:r>
              <a:rPr b="1" dirty="0" lang="en-US"/>
              <a:t> </a:t>
            </a:r>
            <a:endParaRPr dirty="0" lang="en-US"/>
          </a:p>
        </p:txBody>
      </p:sp>
      <p:sp>
        <p:nvSpPr>
          <p:cNvPr id="1048648" name="Content Placeholder 2"/>
          <p:cNvSpPr>
            <a:spLocks noGrp="1"/>
          </p:cNvSpPr>
          <p:nvPr>
            <p:ph idx="1"/>
          </p:nvPr>
        </p:nvSpPr>
        <p:spPr>
          <a:xfrm>
            <a:off x="838200" y="1825625"/>
            <a:ext cx="10515600" cy="4667250"/>
          </a:xfrm>
        </p:spPr>
        <p:txBody>
          <a:bodyPr>
            <a:normAutofit/>
          </a:bodyPr>
          <a:p>
            <a:pPr algn="just"/>
            <a:r>
              <a:rPr dirty="0" sz="3200" lang="en-US" smtClean="0"/>
              <a:t>It </a:t>
            </a:r>
            <a:r>
              <a:rPr dirty="0" sz="3200" lang="en-US"/>
              <a:t>is a procedure through which a  party attacks an opponent’s pleadings by an application showing  that  the pleadings even if true,  suffers a legal defect</a:t>
            </a:r>
            <a:r>
              <a:rPr dirty="0" sz="3200" lang="en-US"/>
              <a:t>,</a:t>
            </a:r>
            <a:r>
              <a:rPr dirty="0" sz="3200" lang="en-US"/>
              <a:t> </a:t>
            </a:r>
            <a:r>
              <a:rPr dirty="0" sz="3200" lang="en-US"/>
              <a:t>which warrants striking out of the pleadings and dismissal of the suit. The procedure abolished the old common law procedure of Demurrer.</a:t>
            </a:r>
            <a:endParaRPr altLang="en-US" lang="zh-CN"/>
          </a:p>
          <a:p>
            <a:pPr algn="just"/>
            <a:r>
              <a:rPr dirty="0" sz="3200" lang="en-US"/>
              <a:t> It enables a party who believes that a part or the whole matter can be disposed of on a point of law to raise the point of law in his pleadings and apply to the court to dismiss the suit on the point of law before the matter is set down for trial or at the trial.  </a:t>
            </a:r>
            <a:endParaRPr dirty="0" sz="3200" lang="en-US" smtClean="0"/>
          </a:p>
          <a:p>
            <a:pPr algn="just" indent="0" marL="0">
              <a:buNone/>
            </a:pPr>
            <a:r>
              <a:rPr b="1" dirty="0" sz="3200" lang="en-GB" smtClean="0"/>
              <a:t>Or </a:t>
            </a:r>
            <a:r>
              <a:rPr b="1" dirty="0" sz="3200" lang="en-GB"/>
              <a:t>24 Lagos, Or 22 Abuja Rules 2025.</a:t>
            </a:r>
          </a:p>
          <a:p>
            <a:pPr algn="just"/>
            <a:endParaRPr dirty="0" sz="3200" lang="en-US"/>
          </a:p>
          <a:p>
            <a:pPr indent="0" marL="0">
              <a:buNone/>
            </a:pPr>
            <a:endParaRPr dirty="0" sz="3200" lang="en-US"/>
          </a:p>
          <a:p>
            <a:pPr indent="0" marL="0">
              <a:buNone/>
            </a:pPr>
            <a:r>
              <a:rPr dirty="0" sz="3200" lang="en-US"/>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649" name="Title 1"/>
          <p:cNvSpPr>
            <a:spLocks noGrp="1"/>
          </p:cNvSpPr>
          <p:nvPr>
            <p:ph type="title"/>
          </p:nvPr>
        </p:nvSpPr>
        <p:spPr>
          <a:xfrm>
            <a:off x="613611" y="365125"/>
            <a:ext cx="10876547" cy="1325563"/>
          </a:xfrm>
        </p:spPr>
        <p:txBody>
          <a:bodyPr/>
          <a:p>
            <a:endParaRPr dirty="0" lang="en-US"/>
          </a:p>
        </p:txBody>
      </p:sp>
      <p:sp>
        <p:nvSpPr>
          <p:cNvPr id="1048650" name="Content Placeholder 2"/>
          <p:cNvSpPr>
            <a:spLocks noGrp="1"/>
          </p:cNvSpPr>
          <p:nvPr>
            <p:ph idx="1"/>
          </p:nvPr>
        </p:nvSpPr>
        <p:spPr/>
        <p:txBody>
          <a:bodyPr>
            <a:normAutofit/>
          </a:bodyPr>
          <a:p>
            <a:pPr algn="just" indent="0" marL="0">
              <a:buNone/>
            </a:pPr>
            <a:endParaRPr dirty="0" lang="en-GB"/>
          </a:p>
          <a:p>
            <a:pPr algn="just"/>
            <a:r>
              <a:rPr dirty="0" lang="en-GB"/>
              <a:t>An exception to the proceedings in lieu of demurrer is </a:t>
            </a:r>
            <a:r>
              <a:rPr dirty="0" lang="en-US"/>
              <a:t>the raising of a preliminary objection on a point of law, especially on the </a:t>
            </a:r>
            <a:r>
              <a:rPr dirty="0" lang="en-GB"/>
              <a:t>ground of lack of substantive jurisdiction. See EGUAMWENSE v, AMAGHIZEMWEN (1993) 11 SCNJ 27; ANYAH v, IYAYI (1993) 9 SCNJ 53; KOTOYE v SARAKI (1994) 7-8 SCNJ 524, AJAKAIYE v. MILITARY GOVERNOR, BENDEL STATE (1993) 9 SCNJ 242, YUSUF v. CO-OPERATIVE BANK LTD (1994) 9 SCNJ 67; NWOSU v. IMO STATE ENVIRONMENTAL SANITATION AUTHORITY (1990) 2 NWLR (Pt. 135) 688 at 701.</a:t>
            </a:r>
          </a:p>
          <a:p>
            <a:endParaRPr dirty="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651" name="Title 1"/>
          <p:cNvSpPr>
            <a:spLocks noGrp="1"/>
          </p:cNvSpPr>
          <p:nvPr>
            <p:ph type="title"/>
          </p:nvPr>
        </p:nvSpPr>
        <p:spPr/>
        <p:txBody>
          <a:bodyPr/>
          <a:p>
            <a:pPr algn="ctr"/>
            <a:r>
              <a:rPr b="1" dirty="0" lang="en-US"/>
              <a:t>Initiation of Proceedings in lieu of Demurrer</a:t>
            </a:r>
          </a:p>
        </p:txBody>
      </p:sp>
      <p:sp>
        <p:nvSpPr>
          <p:cNvPr id="1048652" name="Content Placeholder 2"/>
          <p:cNvSpPr>
            <a:spLocks noGrp="1"/>
          </p:cNvSpPr>
          <p:nvPr>
            <p:ph idx="1"/>
          </p:nvPr>
        </p:nvSpPr>
        <p:spPr/>
        <p:txBody>
          <a:bodyPr/>
          <a:p>
            <a:pPr algn="just"/>
            <a:r>
              <a:rPr dirty="0" lang="en-GB"/>
              <a:t>A party who has a point of law may raise it in his pleading to be disposed before or at trial via a motion on notice, affidavit and address and the court may make any decision as may be just/dismiss the action. Or 24 </a:t>
            </a:r>
            <a:r>
              <a:rPr dirty="0" lang="en-GB" err="1"/>
              <a:t>rr</a:t>
            </a:r>
            <a:r>
              <a:rPr dirty="0" lang="en-GB"/>
              <a:t> 1,2 (1) (2) Lagos Rules 2019, Or 22 </a:t>
            </a:r>
            <a:r>
              <a:rPr dirty="0" lang="en-GB" err="1"/>
              <a:t>rr</a:t>
            </a:r>
            <a:r>
              <a:rPr dirty="0" lang="en-GB"/>
              <a:t> 1, 2 (2) Abuja Rules 2025.</a:t>
            </a:r>
            <a:endParaRPr dirty="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653" name="Title 1"/>
          <p:cNvSpPr>
            <a:spLocks noGrp="1"/>
          </p:cNvSpPr>
          <p:nvPr>
            <p:ph type="title"/>
          </p:nvPr>
        </p:nvSpPr>
        <p:spPr/>
        <p:txBody>
          <a:bodyPr/>
          <a:p>
            <a:pPr algn="ctr"/>
            <a:r>
              <a:rPr b="1" dirty="0" lang="en-US"/>
              <a:t>The Orders the Court May Make</a:t>
            </a:r>
          </a:p>
        </p:txBody>
      </p:sp>
      <p:sp>
        <p:nvSpPr>
          <p:cNvPr id="1048654" name="Content Placeholder 2"/>
          <p:cNvSpPr>
            <a:spLocks noGrp="1"/>
          </p:cNvSpPr>
          <p:nvPr>
            <p:ph idx="1"/>
          </p:nvPr>
        </p:nvSpPr>
        <p:spPr/>
        <p:txBody>
          <a:bodyPr/>
          <a:p>
            <a:pPr algn="just"/>
            <a:r>
              <a:rPr dirty="0" lang="en-GB"/>
              <a:t>The court may make any decision as may be just/dismiss the action. Or 24 </a:t>
            </a:r>
            <a:r>
              <a:rPr dirty="0" lang="en-GB" err="1"/>
              <a:t>rr</a:t>
            </a:r>
            <a:r>
              <a:rPr dirty="0" lang="en-GB"/>
              <a:t> 1,2 (1) (2) Lagos Rules 2019, Or 22 </a:t>
            </a:r>
            <a:r>
              <a:rPr dirty="0" lang="en-GB" err="1"/>
              <a:t>rr</a:t>
            </a:r>
            <a:r>
              <a:rPr dirty="0" lang="en-GB"/>
              <a:t> 1, 2 (2) Abuja Rules 2025.</a:t>
            </a:r>
          </a:p>
          <a:p>
            <a:pPr algn="just"/>
            <a:r>
              <a:rPr dirty="0" lang="en-GB"/>
              <a:t>By Or 22 r 1 (3)Abuja Rules 2025 Court may strike out a pleading for non disclosure of reasonable cause of action or answer or it is frivolous or vexatious.</a:t>
            </a:r>
          </a:p>
          <a:p>
            <a:endParaRPr dirty="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655" name="Title 1"/>
          <p:cNvSpPr>
            <a:spLocks noGrp="1"/>
          </p:cNvSpPr>
          <p:nvPr>
            <p:ph type="title"/>
          </p:nvPr>
        </p:nvSpPr>
        <p:spPr/>
        <p:txBody>
          <a:bodyPr>
            <a:normAutofit/>
          </a:bodyPr>
          <a:p>
            <a:pPr algn="ctr"/>
            <a:r>
              <a:rPr b="1" dirty="0" sz="4800" lang="en-ZA"/>
              <a:t>Striking out of Pleadings </a:t>
            </a:r>
            <a:endParaRPr dirty="0" sz="4800" lang="en-US"/>
          </a:p>
        </p:txBody>
      </p:sp>
      <p:sp>
        <p:nvSpPr>
          <p:cNvPr id="1048656" name="Content Placeholder 2"/>
          <p:cNvSpPr>
            <a:spLocks noGrp="1"/>
          </p:cNvSpPr>
          <p:nvPr>
            <p:ph idx="1"/>
          </p:nvPr>
        </p:nvSpPr>
        <p:spPr/>
        <p:txBody>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
        <p:nvSpPr>
          <p:cNvPr id="1048657" name="Title 1"/>
          <p:cNvSpPr>
            <a:spLocks noGrp="1"/>
          </p:cNvSpPr>
          <p:nvPr>
            <p:ph type="title"/>
          </p:nvPr>
        </p:nvSpPr>
        <p:spPr/>
        <p:txBody>
          <a:bodyPr/>
          <a:p>
            <a:pPr algn="ctr"/>
            <a:r>
              <a:rPr b="1" dirty="0" lang="en-ZA"/>
              <a:t>Meaning</a:t>
            </a:r>
            <a:br>
              <a:rPr b="1" dirty="0" lang="en-ZA"/>
            </a:br>
            <a:endParaRPr dirty="0" lang="en-US"/>
          </a:p>
        </p:txBody>
      </p:sp>
      <p:sp>
        <p:nvSpPr>
          <p:cNvPr id="1048658" name="Content Placeholder 2"/>
          <p:cNvSpPr>
            <a:spLocks noGrp="1"/>
          </p:cNvSpPr>
          <p:nvPr>
            <p:ph idx="1"/>
          </p:nvPr>
        </p:nvSpPr>
        <p:spPr/>
        <p:txBody>
          <a:bodyPr>
            <a:normAutofit/>
          </a:bodyPr>
          <a:p>
            <a:pPr algn="just" indent="-571500" marL="571500"/>
            <a:r>
              <a:rPr dirty="0" sz="4000" lang="en-ZA"/>
              <a:t>It is the striking out of a pleading or any part thereof by the court  on any of the grounds enumerated by the Rules of Court.</a:t>
            </a:r>
          </a:p>
          <a:p>
            <a:pPr algn="just" indent="-571500" marL="571500"/>
            <a:r>
              <a:rPr dirty="0" sz="4000" lang="en-ZA"/>
              <a:t>This is considered before the trial commences.</a:t>
            </a:r>
          </a:p>
          <a:p>
            <a:endParaRPr dirty="0" sz="40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659" name="Title 1"/>
          <p:cNvSpPr>
            <a:spLocks noGrp="1"/>
          </p:cNvSpPr>
          <p:nvPr>
            <p:ph type="title"/>
          </p:nvPr>
        </p:nvSpPr>
        <p:spPr>
          <a:xfrm>
            <a:off x="1981200" y="274638"/>
            <a:ext cx="8229600" cy="582594"/>
          </a:xfrm>
        </p:spPr>
        <p:txBody>
          <a:bodyPr>
            <a:normAutofit fontScale="90000"/>
          </a:bodyPr>
          <a:p>
            <a:r>
              <a:rPr b="1" dirty="0" lang="en-US"/>
              <a:t>Grounds for striking out of Pleadings</a:t>
            </a:r>
            <a:endParaRPr b="1" dirty="0" sz="2000" lang="en-US"/>
          </a:p>
        </p:txBody>
      </p:sp>
      <p:sp>
        <p:nvSpPr>
          <p:cNvPr id="1048660" name="Content Placeholder 2"/>
          <p:cNvSpPr>
            <a:spLocks noGrp="1"/>
          </p:cNvSpPr>
          <p:nvPr>
            <p:ph idx="1"/>
          </p:nvPr>
        </p:nvSpPr>
        <p:spPr>
          <a:xfrm>
            <a:off x="1981200" y="1000108"/>
            <a:ext cx="8229600" cy="5357850"/>
          </a:xfrm>
        </p:spPr>
        <p:txBody>
          <a:bodyPr>
            <a:normAutofit/>
          </a:bodyPr>
          <a:p>
            <a:pPr indent="-571500" marL="571500">
              <a:buAutoNum type="romanLcParenBoth"/>
            </a:pPr>
            <a:r>
              <a:rPr dirty="0" lang="en-GB"/>
              <a:t>If it is ‘frivolous’ or ‘vexatious’;</a:t>
            </a:r>
          </a:p>
          <a:p>
            <a:pPr indent="-571500" marL="571500">
              <a:buAutoNum type="romanLcParenBoth"/>
            </a:pPr>
            <a:r>
              <a:rPr dirty="0" lang="en-GB"/>
              <a:t>If it is scandalous;</a:t>
            </a:r>
          </a:p>
          <a:p>
            <a:pPr indent="-571500" marL="571500">
              <a:buAutoNum type="romanLcParenBoth"/>
            </a:pPr>
            <a:r>
              <a:rPr dirty="0" lang="en-GB"/>
              <a:t>If it is prejudicial, embarrassing, or merely intended to delay the trial;</a:t>
            </a:r>
          </a:p>
          <a:p>
            <a:pPr indent="-571500" marL="571500">
              <a:buAutoNum type="romanLcParenBoth"/>
            </a:pPr>
            <a:r>
              <a:rPr dirty="0" lang="en-GB"/>
              <a:t>If it discloses no reasonable cause of action;</a:t>
            </a:r>
          </a:p>
          <a:p>
            <a:pPr indent="-571500" marL="571500">
              <a:buAutoNum type="romanLcParenBoth" startAt="5"/>
            </a:pPr>
            <a:r>
              <a:rPr dirty="0" lang="en-GB"/>
              <a:t>If it discloses no defence to the action;</a:t>
            </a:r>
          </a:p>
          <a:p>
            <a:pPr>
              <a:buNone/>
            </a:pPr>
            <a:r>
              <a:rPr dirty="0" lang="en-GB"/>
              <a:t>(vi) If it is an abuse of the court’s process; </a:t>
            </a:r>
          </a:p>
          <a:p>
            <a:r>
              <a:rPr dirty="0" lang="en-GB"/>
              <a:t>Or. 17 r. 15 Lagos Rules; Or 15 r 17 Abuja Rules, 2025.</a:t>
            </a:r>
            <a:endParaRPr dirty="0" lang="en-US"/>
          </a:p>
          <a:p>
            <a:pPr indent="0" marL="0">
              <a:buNone/>
            </a:pPr>
            <a:endParaRPr dirty="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661" name="Rectangle 2"/>
          <p:cNvSpPr>
            <a:spLocks noGrp="1" noChangeArrowheads="1"/>
          </p:cNvSpPr>
          <p:nvPr>
            <p:ph type="title"/>
          </p:nvPr>
        </p:nvSpPr>
        <p:spPr>
          <a:xfrm>
            <a:off x="1881158" y="214292"/>
            <a:ext cx="8501122" cy="571503"/>
          </a:xfrm>
        </p:spPr>
        <p:txBody>
          <a:bodyPr/>
          <a:p>
            <a:pPr eaLnBrk="1" hangingPunct="1"/>
            <a:endParaRPr dirty="0" sz="3200" lang="en-US"/>
          </a:p>
        </p:txBody>
      </p:sp>
      <p:sp>
        <p:nvSpPr>
          <p:cNvPr id="1048662" name="Rectangle 3"/>
          <p:cNvSpPr>
            <a:spLocks noGrp="1" noChangeArrowheads="1"/>
          </p:cNvSpPr>
          <p:nvPr>
            <p:ph idx="1"/>
          </p:nvPr>
        </p:nvSpPr>
        <p:spPr>
          <a:xfrm>
            <a:off x="1881158" y="714356"/>
            <a:ext cx="8429684" cy="5715040"/>
          </a:xfrm>
        </p:spPr>
        <p:txBody>
          <a:bodyPr/>
          <a:p>
            <a:pPr algn="just" eaLnBrk="1" hangingPunct="1">
              <a:lnSpc>
                <a:spcPct val="90000"/>
              </a:lnSpc>
              <a:buNone/>
            </a:pPr>
            <a:r>
              <a:rPr b="1" dirty="0" sz="3600" lang="en-US" u="sng"/>
              <a:t>Pleadings may be struck out if:</a:t>
            </a:r>
            <a:r>
              <a:rPr dirty="0" sz="3600" lang="en-US"/>
              <a:t>:</a:t>
            </a:r>
          </a:p>
          <a:p>
            <a:pPr algn="just" indent="-571500" marL="571500">
              <a:buAutoNum type="romanLcParenBoth"/>
            </a:pPr>
            <a:r>
              <a:rPr dirty="0" sz="3600" lang="en-GB"/>
              <a:t>It is ‘frivolous’ or ‘vexatious’;</a:t>
            </a:r>
          </a:p>
          <a:p>
            <a:pPr algn="just" indent="-571500" marL="571500">
              <a:buNone/>
            </a:pPr>
            <a:r>
              <a:rPr dirty="0" sz="3600" lang="en-US">
                <a:cs typeface="Times New Roman" pitchFamily="18" charset="0"/>
              </a:rPr>
              <a:t>The Rules do not define the term “frivolous” or “vexatious.” but in </a:t>
            </a:r>
            <a:r>
              <a:rPr b="1" dirty="0" sz="3600" lang="en-US">
                <a:cs typeface="Times New Roman" pitchFamily="18" charset="0"/>
              </a:rPr>
              <a:t>Willis v. Earl Beauchamp (1896) 11 PD 39</a:t>
            </a:r>
            <a:r>
              <a:rPr dirty="0" sz="3600" lang="en-US">
                <a:cs typeface="Times New Roman" pitchFamily="18" charset="0"/>
              </a:rPr>
              <a:t> a </a:t>
            </a:r>
            <a:r>
              <a:rPr dirty="0" sz="3600" lang="en-GB"/>
              <a:t>‘frivolous’ or ‘vexatious’ suit </a:t>
            </a:r>
            <a:r>
              <a:rPr dirty="0" sz="3600" lang="en-US">
                <a:cs typeface="Times New Roman" pitchFamily="18" charset="0"/>
              </a:rPr>
              <a:t>was held to be a suit not meant to serve any useful purpose other than to waste the time of the court.</a:t>
            </a:r>
            <a:endParaRPr dirty="0" sz="3600"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663" name="Title 1"/>
          <p:cNvSpPr>
            <a:spLocks noGrp="1"/>
          </p:cNvSpPr>
          <p:nvPr>
            <p:ph type="title"/>
          </p:nvPr>
        </p:nvSpPr>
        <p:spPr>
          <a:xfrm>
            <a:off x="1981200" y="428604"/>
            <a:ext cx="8229600" cy="571504"/>
          </a:xfrm>
        </p:spPr>
        <p:txBody>
          <a:bodyPr>
            <a:normAutofit fontScale="90000"/>
          </a:bodyPr>
          <a:p>
            <a:endParaRPr dirty="0" lang="en-US"/>
          </a:p>
        </p:txBody>
      </p:sp>
      <p:sp>
        <p:nvSpPr>
          <p:cNvPr id="1048664" name="Content Placeholder 2"/>
          <p:cNvSpPr>
            <a:spLocks noGrp="1"/>
          </p:cNvSpPr>
          <p:nvPr>
            <p:ph idx="1"/>
          </p:nvPr>
        </p:nvSpPr>
        <p:spPr>
          <a:xfrm>
            <a:off x="1981200" y="1142984"/>
            <a:ext cx="8229600" cy="5214974"/>
          </a:xfrm>
        </p:spPr>
        <p:txBody>
          <a:bodyPr/>
          <a:p>
            <a:pPr algn="just"/>
            <a:r>
              <a:rPr dirty="0" sz="3000" lang="en-US">
                <a:cs typeface="Times New Roman" pitchFamily="18" charset="0"/>
              </a:rPr>
              <a:t>Under the Abuja and Lagos Rules if it is the whole claim that is frivolous and vexatious, the court may strike out the claim</a:t>
            </a:r>
          </a:p>
          <a:p>
            <a:pPr algn="just"/>
            <a:r>
              <a:rPr dirty="0" sz="3000" lang="en-US">
                <a:cs typeface="Times New Roman" pitchFamily="18" charset="0"/>
              </a:rPr>
              <a:t>Where it is only part of the claim that is frivolous, the Judge may strike out or order for amendment.</a:t>
            </a:r>
            <a:r>
              <a:rPr dirty="0" sz="3000" i="1" lang="en-US">
                <a:cs typeface="Times New Roman" pitchFamily="18" charset="0"/>
              </a:rPr>
              <a:t> </a:t>
            </a:r>
          </a:p>
          <a:p>
            <a:pPr algn="just"/>
            <a:r>
              <a:rPr dirty="0" sz="3000" lang="en-US">
                <a:cs typeface="Times New Roman" pitchFamily="18" charset="0"/>
              </a:rPr>
              <a:t>The court may also order costs against the defaulting party.</a:t>
            </a:r>
            <a:r>
              <a:rPr dirty="0" sz="3000" lang="en-US"/>
              <a:t> Or 17 r. 15 Lagos Rules 2019, Order 15 r. 17 Abuja Rules 2025. </a:t>
            </a:r>
          </a:p>
          <a:p>
            <a:pPr algn="just" indent="0" marL="0">
              <a:buNone/>
            </a:pPr>
            <a:endParaRPr dirty="0" sz="3000" lang="en-US"/>
          </a:p>
          <a:p>
            <a:pPr algn="just" indent="0" marL="0">
              <a:buNone/>
            </a:pPr>
            <a:endParaRPr dirty="0" sz="3000"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665" name="Title 1"/>
          <p:cNvSpPr>
            <a:spLocks noGrp="1"/>
          </p:cNvSpPr>
          <p:nvPr>
            <p:ph type="title"/>
          </p:nvPr>
        </p:nvSpPr>
        <p:spPr/>
        <p:txBody>
          <a:bodyPr/>
          <a:p>
            <a:endParaRPr dirty="0" lang="en-US"/>
          </a:p>
        </p:txBody>
      </p:sp>
      <p:sp>
        <p:nvSpPr>
          <p:cNvPr id="1048666" name="Content Placeholder 2"/>
          <p:cNvSpPr>
            <a:spLocks noGrp="1"/>
          </p:cNvSpPr>
          <p:nvPr>
            <p:ph idx="1"/>
          </p:nvPr>
        </p:nvSpPr>
        <p:spPr/>
        <p:txBody>
          <a:bodyPr/>
          <a:p>
            <a:pPr algn="just" indent="-857250" marL="857250">
              <a:buFont typeface="Wingdings" pitchFamily="2" charset="2"/>
              <a:buAutoNum type="romanLcParenBoth" startAt="2"/>
            </a:pPr>
            <a:r>
              <a:rPr dirty="0" sz="4400" lang="en-GB"/>
              <a:t>If it is scandalous;</a:t>
            </a:r>
          </a:p>
          <a:p>
            <a:pPr algn="just">
              <a:buNone/>
            </a:pPr>
            <a:r>
              <a:rPr dirty="0" sz="4400" lang="en-US">
                <a:cs typeface="Times New Roman" pitchFamily="18" charset="0"/>
              </a:rPr>
              <a:t>This refers to situations where the allegations contained in the  Pleadings are false and merely employed to harass the adverse party.</a:t>
            </a:r>
            <a:endParaRPr dirty="0" sz="4400" lang="en-GB">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667" name="Title 1"/>
          <p:cNvSpPr>
            <a:spLocks noGrp="1"/>
          </p:cNvSpPr>
          <p:nvPr>
            <p:ph type="title"/>
          </p:nvPr>
        </p:nvSpPr>
        <p:spPr/>
        <p:txBody>
          <a:bodyPr/>
          <a:p>
            <a:endParaRPr dirty="0" lang="en-US"/>
          </a:p>
        </p:txBody>
      </p:sp>
      <p:sp>
        <p:nvSpPr>
          <p:cNvPr id="1048668" name="Content Placeholder 2"/>
          <p:cNvSpPr>
            <a:spLocks noGrp="1"/>
          </p:cNvSpPr>
          <p:nvPr>
            <p:ph idx="1"/>
          </p:nvPr>
        </p:nvSpPr>
        <p:spPr/>
        <p:txBody>
          <a:bodyPr/>
          <a:p>
            <a:pPr algn="just" indent="-857250" marL="857250">
              <a:buFont typeface="Wingdings" pitchFamily="2" charset="2"/>
              <a:buAutoNum type="romanLcParenBoth" startAt="3"/>
            </a:pPr>
            <a:r>
              <a:rPr dirty="0" sz="3600" lang="en-GB"/>
              <a:t>If it is prejudicial, embarrassing, or merely intended to delay the trial;</a:t>
            </a:r>
          </a:p>
          <a:p>
            <a:pPr algn="just">
              <a:buNone/>
            </a:pPr>
            <a:r>
              <a:rPr dirty="0" sz="4000" lang="en-US">
                <a:cs typeface="Times New Roman" pitchFamily="18" charset="0"/>
              </a:rPr>
              <a:t>This means when the pleadings do not meet the case; or pleadings that is incoherent, illogical, diversionary or evasive. In such cases it is liable to be struck out.</a:t>
            </a:r>
            <a:endParaRPr dirty="0" sz="4000" lang="en-GB">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8669" name="Title 1"/>
          <p:cNvSpPr>
            <a:spLocks noGrp="1"/>
          </p:cNvSpPr>
          <p:nvPr>
            <p:ph type="title"/>
          </p:nvPr>
        </p:nvSpPr>
        <p:spPr>
          <a:xfrm>
            <a:off x="1981200" y="428604"/>
            <a:ext cx="8229600" cy="571504"/>
          </a:xfrm>
        </p:spPr>
        <p:txBody>
          <a:bodyPr>
            <a:normAutofit fontScale="90000"/>
          </a:bodyPr>
          <a:p>
            <a:endParaRPr dirty="0" lang="en-US"/>
          </a:p>
        </p:txBody>
      </p:sp>
      <p:sp>
        <p:nvSpPr>
          <p:cNvPr id="1048670" name="Content Placeholder 2"/>
          <p:cNvSpPr>
            <a:spLocks noGrp="1"/>
          </p:cNvSpPr>
          <p:nvPr>
            <p:ph idx="1"/>
          </p:nvPr>
        </p:nvSpPr>
        <p:spPr>
          <a:xfrm>
            <a:off x="1981200" y="1285861"/>
            <a:ext cx="8229600" cy="4840303"/>
          </a:xfrm>
        </p:spPr>
        <p:txBody>
          <a:bodyPr/>
          <a:p>
            <a:pPr algn="just" indent="-857250" marL="857250">
              <a:buFont typeface="Wingdings" pitchFamily="2" charset="2"/>
              <a:buAutoNum type="romanLcParenBoth" startAt="4"/>
            </a:pPr>
            <a:r>
              <a:rPr b="1" dirty="0" sz="3600" lang="en-GB"/>
              <a:t>If it discloses no reasonable cause of action</a:t>
            </a:r>
            <a:endParaRPr b="1" dirty="0" sz="3600" lang="en-US"/>
          </a:p>
          <a:p>
            <a:pPr algn="just" indent="-857250" marL="857250">
              <a:buNone/>
            </a:pPr>
            <a:r>
              <a:rPr dirty="0" sz="3600" lang="en-US">
                <a:cs typeface="Times New Roman" pitchFamily="18" charset="0"/>
              </a:rPr>
              <a:t>If a party’s pleadings fail to disclose any reasonable cause of action or defence, the other party will apply to have the pleadings struck out. Or 17 </a:t>
            </a:r>
            <a:r>
              <a:rPr dirty="0" sz="3600" lang="en-US" err="1">
                <a:cs typeface="Times New Roman" pitchFamily="18" charset="0"/>
              </a:rPr>
              <a:t>rr</a:t>
            </a:r>
            <a:r>
              <a:rPr dirty="0" sz="3600" lang="en-US">
                <a:cs typeface="Times New Roman" pitchFamily="18" charset="0"/>
              </a:rPr>
              <a:t>. 15 &amp; 17 Lagos Rules 2019; Or 15r 17 and Or 22 r. 2(3) Abuja Rules 2025.</a:t>
            </a:r>
            <a:endParaRPr dirty="0" sz="3600" i="1" lang="en-US">
              <a:cs typeface="Times New Roman" pitchFamily="18" charset="0"/>
            </a:endParaRPr>
          </a:p>
          <a:p>
            <a:endParaRPr dirty="0"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671" name="Title 1"/>
          <p:cNvSpPr>
            <a:spLocks noGrp="1"/>
          </p:cNvSpPr>
          <p:nvPr>
            <p:ph type="title"/>
          </p:nvPr>
        </p:nvSpPr>
        <p:spPr/>
        <p:txBody>
          <a:bodyPr/>
          <a:p>
            <a:endParaRPr dirty="0" lang="en-US"/>
          </a:p>
        </p:txBody>
      </p:sp>
      <p:sp>
        <p:nvSpPr>
          <p:cNvPr id="1048672" name="Content Placeholder 2"/>
          <p:cNvSpPr>
            <a:spLocks noGrp="1"/>
          </p:cNvSpPr>
          <p:nvPr>
            <p:ph idx="1"/>
          </p:nvPr>
        </p:nvSpPr>
        <p:spPr/>
        <p:txBody>
          <a:bodyPr/>
          <a:p>
            <a:pPr indent="-857250" marL="857250">
              <a:buFont typeface="Wingdings" pitchFamily="2" charset="2"/>
              <a:buAutoNum type="romanLcParenBoth" startAt="5"/>
            </a:pPr>
            <a:r>
              <a:rPr b="1" dirty="0" sz="4400" lang="en-GB"/>
              <a:t>If it discloses no defence to the action</a:t>
            </a:r>
          </a:p>
          <a:p>
            <a:pPr>
              <a:buNone/>
            </a:pPr>
            <a:r>
              <a:rPr dirty="0" sz="4400" lang="en-US">
                <a:cs typeface="Times New Roman" pitchFamily="18" charset="0"/>
              </a:rPr>
              <a:t>See </a:t>
            </a:r>
            <a:r>
              <a:rPr b="1" dirty="0" sz="4400" i="1" lang="en-US">
                <a:cs typeface="Times New Roman" pitchFamily="18" charset="0"/>
              </a:rPr>
              <a:t>IBRAHIM V. OSIM</a:t>
            </a:r>
            <a:r>
              <a:rPr b="1" dirty="0" sz="4400" lang="en-US">
                <a:cs typeface="Times New Roman" pitchFamily="18" charset="0"/>
              </a:rPr>
              <a:t> (1987) 4 NWLR (PT 67) 965.</a:t>
            </a:r>
            <a:endParaRPr b="1" dirty="0" sz="4400" lang="en-GB"/>
          </a:p>
          <a:p>
            <a:endParaRPr dirty="0"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
        <p:nvSpPr>
          <p:cNvPr id="1048673" name="Title 1"/>
          <p:cNvSpPr>
            <a:spLocks noGrp="1"/>
          </p:cNvSpPr>
          <p:nvPr>
            <p:ph type="title"/>
          </p:nvPr>
        </p:nvSpPr>
        <p:spPr>
          <a:xfrm>
            <a:off x="1981200" y="428604"/>
            <a:ext cx="8229600" cy="500066"/>
          </a:xfrm>
        </p:spPr>
        <p:txBody>
          <a:bodyPr/>
          <a:p>
            <a:endParaRPr dirty="0" sz="2000" lang="en-US"/>
          </a:p>
        </p:txBody>
      </p:sp>
      <p:sp>
        <p:nvSpPr>
          <p:cNvPr id="1048674" name="Content Placeholder 2"/>
          <p:cNvSpPr>
            <a:spLocks noGrp="1"/>
          </p:cNvSpPr>
          <p:nvPr>
            <p:ph idx="1"/>
          </p:nvPr>
        </p:nvSpPr>
        <p:spPr>
          <a:xfrm>
            <a:off x="1981200" y="1071546"/>
            <a:ext cx="8229600" cy="5357850"/>
          </a:xfrm>
        </p:spPr>
        <p:txBody>
          <a:bodyPr/>
          <a:p>
            <a:pPr algn="just" indent="-571500" marL="571500">
              <a:buFont typeface="Wingdings" pitchFamily="2" charset="2"/>
              <a:buAutoNum type="romanLcParenBoth" startAt="6"/>
            </a:pPr>
            <a:r>
              <a:rPr b="1" dirty="0" lang="en-GB"/>
              <a:t>If it is an abuse of the court’s process </a:t>
            </a:r>
          </a:p>
          <a:p>
            <a:pPr algn="just">
              <a:buNone/>
            </a:pPr>
            <a:r>
              <a:rPr dirty="0" sz="3600" lang="en-US">
                <a:cs typeface="Times New Roman" pitchFamily="18" charset="0"/>
              </a:rPr>
              <a:t>“Abuse of court process“ means that the process of court has not been used </a:t>
            </a:r>
            <a:r>
              <a:rPr dirty="0" sz="3600" i="1" lang="en-US">
                <a:cs typeface="Times New Roman" pitchFamily="18" charset="0"/>
              </a:rPr>
              <a:t>bona fide </a:t>
            </a:r>
            <a:r>
              <a:rPr dirty="0" sz="3600" lang="en-US">
                <a:cs typeface="Times New Roman" pitchFamily="18" charset="0"/>
              </a:rPr>
              <a:t>(i.e. the process of the court was used in bad faith. see </a:t>
            </a:r>
            <a:r>
              <a:rPr b="1" dirty="0" sz="3600" lang="en-US">
                <a:cs typeface="Times New Roman" pitchFamily="18" charset="0"/>
              </a:rPr>
              <a:t>IKINE V.EDJERODE (2001) 8 NSCQR 374</a:t>
            </a:r>
            <a:r>
              <a:rPr dirty="0" sz="3600" lang="en-US">
                <a:cs typeface="Times New Roman" pitchFamily="18" charset="0"/>
              </a:rPr>
              <a:t>. For example, filing of multiple actions between the same parties on the same subject matters.</a:t>
            </a:r>
            <a:endParaRPr dirty="0" sz="3600" lang="en-GB">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048675" name="Title 1"/>
          <p:cNvSpPr>
            <a:spLocks noGrp="1"/>
          </p:cNvSpPr>
          <p:nvPr>
            <p:ph type="title"/>
          </p:nvPr>
        </p:nvSpPr>
        <p:spPr/>
        <p:txBody>
          <a:bodyPr/>
          <a:p>
            <a:pPr algn="ctr"/>
            <a:r>
              <a:rPr dirty="0" lang="en-ZA"/>
              <a:t>Orders the Court May Make</a:t>
            </a:r>
            <a:endParaRPr dirty="0" lang="en-US"/>
          </a:p>
        </p:txBody>
      </p:sp>
      <p:sp>
        <p:nvSpPr>
          <p:cNvPr id="1048676" name="Content Placeholder 2"/>
          <p:cNvSpPr>
            <a:spLocks noGrp="1"/>
          </p:cNvSpPr>
          <p:nvPr>
            <p:ph idx="1"/>
          </p:nvPr>
        </p:nvSpPr>
        <p:spPr/>
        <p:txBody>
          <a:bodyPr/>
          <a:p>
            <a:pPr algn="just">
              <a:buNone/>
            </a:pPr>
            <a:r>
              <a:rPr b="1" dirty="0" sz="3200" lang="en-ZA"/>
              <a:t>Question:</a:t>
            </a:r>
            <a:endParaRPr dirty="0" sz="3200" lang="en-ZA"/>
          </a:p>
          <a:p>
            <a:pPr algn="just">
              <a:buNone/>
            </a:pPr>
            <a:r>
              <a:rPr dirty="0" sz="3200" lang="en-ZA"/>
              <a:t> What are the possible orders a Judge may make during the pre-trial proceedings?</a:t>
            </a:r>
            <a:endParaRPr b="1" dirty="0" sz="3200" lang="en-US" u="sng"/>
          </a:p>
          <a:p>
            <a:pPr algn="just">
              <a:buNone/>
            </a:pPr>
            <a:r>
              <a:rPr b="1" dirty="0" sz="3200" lang="en-US" u="sng"/>
              <a:t>If a party so applies, a Judge may make order:</a:t>
            </a:r>
            <a:endParaRPr b="1" dirty="0" sz="3200" lang="en-US"/>
          </a:p>
          <a:p>
            <a:pPr algn="just" indent="-571500" marL="571500">
              <a:buAutoNum type="romanLcParenBoth"/>
            </a:pPr>
            <a:r>
              <a:rPr dirty="0" lang="en-GB"/>
              <a:t>Striking out the pleadings;</a:t>
            </a:r>
          </a:p>
          <a:p>
            <a:pPr algn="just" indent="-571500" marL="571500">
              <a:buAutoNum type="romanLcParenBoth"/>
            </a:pPr>
            <a:r>
              <a:rPr dirty="0" lang="en-GB"/>
              <a:t>Granting leave to amend such pleadings;</a:t>
            </a:r>
          </a:p>
          <a:p>
            <a:pPr algn="just" indent="-571500" marL="571500">
              <a:buAutoNum type="romanLcParenBoth"/>
            </a:pPr>
            <a:r>
              <a:rPr dirty="0" lang="en-GB"/>
              <a:t>Entering judgment for either party;</a:t>
            </a:r>
          </a:p>
          <a:p>
            <a:pPr algn="just" indent="-571500" marL="571500">
              <a:buAutoNum type="romanLcParenBoth"/>
            </a:pPr>
            <a:r>
              <a:rPr dirty="0" lang="en-GB"/>
              <a:t>Ordering that the action be stayed;</a:t>
            </a:r>
          </a:p>
          <a:p>
            <a:pPr>
              <a:buNone/>
            </a:pPr>
            <a:endParaRPr b="1" dirty="0" sz="3200" lang="en-ZA"/>
          </a:p>
          <a:p>
            <a:endParaRPr dirty="0"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677" name="Title 1"/>
          <p:cNvSpPr>
            <a:spLocks noGrp="1"/>
          </p:cNvSpPr>
          <p:nvPr>
            <p:ph type="title"/>
          </p:nvPr>
        </p:nvSpPr>
        <p:spPr>
          <a:xfrm>
            <a:off x="1981200" y="274638"/>
            <a:ext cx="8229600" cy="511156"/>
          </a:xfrm>
        </p:spPr>
        <p:txBody>
          <a:bodyPr>
            <a:normAutofit fontScale="90000"/>
          </a:bodyPr>
          <a:p>
            <a:endParaRPr dirty="0" lang="en-US"/>
          </a:p>
        </p:txBody>
      </p:sp>
      <p:sp>
        <p:nvSpPr>
          <p:cNvPr id="1048678" name="Content Placeholder 2"/>
          <p:cNvSpPr>
            <a:spLocks noGrp="1"/>
          </p:cNvSpPr>
          <p:nvPr>
            <p:ph idx="1"/>
          </p:nvPr>
        </p:nvSpPr>
        <p:spPr>
          <a:xfrm>
            <a:off x="1981200" y="1000108"/>
            <a:ext cx="8229600" cy="5357850"/>
          </a:xfrm>
        </p:spPr>
        <p:txBody>
          <a:bodyPr/>
          <a:p>
            <a:pPr indent="-571500" marL="571500">
              <a:buFont typeface="Wingdings" pitchFamily="2" charset="2"/>
              <a:buAutoNum type="romanLcParenBoth" startAt="5"/>
            </a:pPr>
            <a:r>
              <a:rPr dirty="0" sz="4400" lang="en-GB"/>
              <a:t>Ordering that the action be dismissed; or</a:t>
            </a:r>
          </a:p>
          <a:p>
            <a:pPr indent="-571500" marL="571500">
              <a:buAutoNum type="romanLcParenBoth" startAt="5"/>
            </a:pPr>
            <a:r>
              <a:rPr dirty="0" sz="4400" lang="en-GB"/>
              <a:t>Make such order as it thinks fit in the circumstances of the case.</a:t>
            </a:r>
          </a:p>
          <a:p>
            <a:pPr>
              <a:buNone/>
            </a:pPr>
            <a:r>
              <a:rPr dirty="0" sz="4400" lang="en-GB"/>
              <a:t>   </a:t>
            </a:r>
            <a:endParaRPr dirty="0" sz="4400"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36" name=""/>
        <p:cNvGrpSpPr/>
        <p:nvPr/>
      </p:nvGrpSpPr>
      <p:grpSpPr>
        <a:xfrm>
          <a:off x="0" y="0"/>
          <a:ext cx="0" cy="0"/>
          <a:chOff x="0" y="0"/>
          <a:chExt cx="0" cy="0"/>
        </a:xfrm>
      </p:grpSpPr>
      <p:sp>
        <p:nvSpPr>
          <p:cNvPr id="1048679" name="Title 1"/>
          <p:cNvSpPr>
            <a:spLocks noGrp="1"/>
          </p:cNvSpPr>
          <p:nvPr>
            <p:ph type="title"/>
          </p:nvPr>
        </p:nvSpPr>
        <p:spPr/>
        <p:txBody>
          <a:bodyPr>
            <a:normAutofit/>
          </a:bodyPr>
          <a:p>
            <a:pPr algn="ctr"/>
            <a:r>
              <a:rPr b="1" dirty="0" sz="4800" lang="en-ZA"/>
              <a:t>Discovery of Facts and Documents</a:t>
            </a:r>
            <a:endParaRPr dirty="0" sz="4800" lang="en-US"/>
          </a:p>
        </p:txBody>
      </p:sp>
      <p:sp>
        <p:nvSpPr>
          <p:cNvPr id="1048680" name="Content Placeholder 2"/>
          <p:cNvSpPr>
            <a:spLocks noGrp="1"/>
          </p:cNvSpPr>
          <p:nvPr>
            <p:ph idx="1"/>
          </p:nvPr>
        </p:nvSpPr>
        <p:spPr/>
        <p:txBody>
          <a:bodyPr/>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37" name=""/>
        <p:cNvGrpSpPr/>
        <p:nvPr/>
      </p:nvGrpSpPr>
      <p:grpSpPr>
        <a:xfrm>
          <a:off x="0" y="0"/>
          <a:ext cx="0" cy="0"/>
          <a:chOff x="0" y="0"/>
          <a:chExt cx="0" cy="0"/>
        </a:xfrm>
      </p:grpSpPr>
      <p:sp>
        <p:nvSpPr>
          <p:cNvPr id="1048681" name="Title 1"/>
          <p:cNvSpPr>
            <a:spLocks noGrp="1"/>
          </p:cNvSpPr>
          <p:nvPr>
            <p:ph type="title"/>
          </p:nvPr>
        </p:nvSpPr>
        <p:spPr/>
        <p:txBody>
          <a:bodyPr>
            <a:normAutofit fontScale="90000"/>
          </a:bodyPr>
          <a:p>
            <a:pPr algn="ctr"/>
            <a:r>
              <a:rPr dirty="0" lang="en-ZA"/>
              <a:t>Meaning of Discovery of Facts (Interrogatories)</a:t>
            </a:r>
            <a:br>
              <a:rPr dirty="0" lang="en-ZA"/>
            </a:br>
            <a:endParaRPr dirty="0" lang="en-US"/>
          </a:p>
        </p:txBody>
      </p:sp>
      <p:sp>
        <p:nvSpPr>
          <p:cNvPr id="1048682" name="Content Placeholder 2"/>
          <p:cNvSpPr>
            <a:spLocks noGrp="1"/>
          </p:cNvSpPr>
          <p:nvPr>
            <p:ph idx="1"/>
          </p:nvPr>
        </p:nvSpPr>
        <p:spPr/>
        <p:txBody>
          <a:bodyPr>
            <a:normAutofit/>
          </a:bodyPr>
          <a:p>
            <a:r>
              <a:rPr dirty="0" sz="4400" lang="en-ZA"/>
              <a:t>Written questionnaire drawn up by an opposing party in a lawsuit and directed to the adverse party, requiring the adverse party to answer them in order to furnish information on the issues raised.</a:t>
            </a:r>
          </a:p>
          <a:p>
            <a:endParaRPr dirty="0" sz="4400"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683" name="Title 1"/>
          <p:cNvSpPr>
            <a:spLocks noGrp="1"/>
          </p:cNvSpPr>
          <p:nvPr>
            <p:ph type="title"/>
          </p:nvPr>
        </p:nvSpPr>
        <p:spPr>
          <a:xfrm>
            <a:off x="1981200" y="274638"/>
            <a:ext cx="8229600" cy="511156"/>
          </a:xfrm>
        </p:spPr>
        <p:txBody>
          <a:bodyPr>
            <a:normAutofit fontScale="90000"/>
          </a:bodyPr>
          <a:p>
            <a:pPr algn="ctr"/>
            <a:r>
              <a:rPr b="1" dirty="0" lang="en-US"/>
              <a:t>Objects of Interrogatories</a:t>
            </a:r>
          </a:p>
        </p:txBody>
      </p:sp>
      <p:sp>
        <p:nvSpPr>
          <p:cNvPr id="1048684" name="Content Placeholder 2"/>
          <p:cNvSpPr>
            <a:spLocks noGrp="1"/>
          </p:cNvSpPr>
          <p:nvPr>
            <p:ph idx="1"/>
          </p:nvPr>
        </p:nvSpPr>
        <p:spPr>
          <a:xfrm>
            <a:off x="1981200" y="928670"/>
            <a:ext cx="8229600" cy="5429288"/>
          </a:xfrm>
        </p:spPr>
        <p:txBody>
          <a:bodyPr/>
          <a:p>
            <a:pPr algn="just">
              <a:buNone/>
            </a:pPr>
            <a:r>
              <a:rPr dirty="0" lang="en-ZA"/>
              <a:t>The party ‘interrogating’ i.e. the party asking the question will use the information obtained to prepare his own case. </a:t>
            </a:r>
            <a:r>
              <a:rPr dirty="0" lang="en-US">
                <a:cs typeface="Times New Roman" pitchFamily="18" charset="0"/>
              </a:rPr>
              <a:t>Such questions must relate to the fact in issue or relevant to the fact in issue. </a:t>
            </a:r>
            <a:endParaRPr b="1" dirty="0" lang="en-ZA"/>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685" name="Title 1"/>
          <p:cNvSpPr>
            <a:spLocks noGrp="1"/>
          </p:cNvSpPr>
          <p:nvPr>
            <p:ph type="title"/>
          </p:nvPr>
        </p:nvSpPr>
        <p:spPr/>
        <p:txBody>
          <a:bodyPr/>
          <a:p>
            <a:pPr algn="ctr"/>
            <a:r>
              <a:rPr b="1" dirty="0" lang="en-US"/>
              <a:t>Procedure for Interrogatories</a:t>
            </a:r>
          </a:p>
        </p:txBody>
      </p:sp>
      <p:sp>
        <p:nvSpPr>
          <p:cNvPr id="1048686" name="Content Placeholder 2"/>
          <p:cNvSpPr>
            <a:spLocks noGrp="1"/>
          </p:cNvSpPr>
          <p:nvPr>
            <p:ph idx="1"/>
          </p:nvPr>
        </p:nvSpPr>
        <p:spPr/>
        <p:txBody>
          <a:bodyPr/>
          <a:p>
            <a:r>
              <a:rPr dirty="0" lang="en-US">
                <a:cs typeface="Times New Roman" pitchFamily="18" charset="0"/>
              </a:rPr>
              <a:t>In Lagos, the questions are contained in Form 19 and delivered within 7 of close of pleadings to the interrogated party.</a:t>
            </a:r>
          </a:p>
          <a:p>
            <a:r>
              <a:rPr dirty="0" lang="en-US">
                <a:cs typeface="Times New Roman" pitchFamily="18" charset="0"/>
              </a:rPr>
              <a:t>It shall form part of the agenda of the case management Conference. See Or. </a:t>
            </a:r>
            <a:r>
              <a:rPr b="1" dirty="0" lang="en-US">
                <a:cs typeface="Times New Roman" pitchFamily="18" charset="0"/>
              </a:rPr>
              <a:t>29 </a:t>
            </a:r>
            <a:r>
              <a:rPr b="1" dirty="0" lang="en-US" err="1">
                <a:cs typeface="Times New Roman" pitchFamily="18" charset="0"/>
              </a:rPr>
              <a:t>rr</a:t>
            </a:r>
            <a:r>
              <a:rPr b="1" dirty="0" lang="en-US">
                <a:cs typeface="Times New Roman" pitchFamily="18" charset="0"/>
              </a:rPr>
              <a:t>. 1, 6(2) and 8  Lagos Rules 2019</a:t>
            </a:r>
            <a:r>
              <a:rPr dirty="0" lang="en-US">
                <a:cs typeface="Times New Roman" pitchFamily="18" charset="0"/>
              </a:rPr>
              <a:t>. </a:t>
            </a:r>
            <a:r>
              <a:rPr b="1" dirty="0" lang="en-US">
                <a:cs typeface="Times New Roman" pitchFamily="18" charset="0"/>
              </a:rPr>
              <a:t>ABUBAKAR V YAR ADUA [2008] 4 NWLR (Pt. 1078) 465</a:t>
            </a:r>
            <a:r>
              <a:rPr dirty="0" lang="en-US">
                <a:cs typeface="Times New Roman" pitchFamily="18" charset="0"/>
              </a:rPr>
              <a:t>.</a:t>
            </a:r>
            <a:endParaRPr dirty="0"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40" name=""/>
        <p:cNvGrpSpPr/>
        <p:nvPr/>
      </p:nvGrpSpPr>
      <p:grpSpPr>
        <a:xfrm>
          <a:off x="0" y="0"/>
          <a:ext cx="0" cy="0"/>
          <a:chOff x="0" y="0"/>
          <a:chExt cx="0" cy="0"/>
        </a:xfrm>
      </p:grpSpPr>
      <p:sp>
        <p:nvSpPr>
          <p:cNvPr id="1048687" name="Title 1"/>
          <p:cNvSpPr>
            <a:spLocks noGrp="1"/>
          </p:cNvSpPr>
          <p:nvPr>
            <p:ph type="title"/>
          </p:nvPr>
        </p:nvSpPr>
        <p:spPr>
          <a:xfrm>
            <a:off x="1981200" y="274638"/>
            <a:ext cx="8229600" cy="582594"/>
          </a:xfrm>
        </p:spPr>
        <p:txBody>
          <a:bodyPr>
            <a:normAutofit/>
          </a:bodyPr>
          <a:p>
            <a:pPr algn="ctr"/>
            <a:r>
              <a:rPr b="1" dirty="0" sz="3200" lang="en-US"/>
              <a:t>Questions prohibited in Interrogatories</a:t>
            </a:r>
          </a:p>
        </p:txBody>
      </p:sp>
      <p:sp>
        <p:nvSpPr>
          <p:cNvPr id="1048688" name="Content Placeholder 2"/>
          <p:cNvSpPr>
            <a:spLocks noGrp="1"/>
          </p:cNvSpPr>
          <p:nvPr>
            <p:ph idx="1"/>
          </p:nvPr>
        </p:nvSpPr>
        <p:spPr>
          <a:xfrm>
            <a:off x="1981200" y="1000108"/>
            <a:ext cx="8229600" cy="5572164"/>
          </a:xfrm>
        </p:spPr>
        <p:txBody>
          <a:bodyPr/>
          <a:p>
            <a:pPr algn="just" indent="-514350" marL="514350">
              <a:buFont typeface="+mj-lt"/>
              <a:buAutoNum type="alphaLcParenR"/>
            </a:pPr>
            <a:r>
              <a:rPr dirty="0" sz="3000" lang="en-US">
                <a:cs typeface="Times New Roman" pitchFamily="18" charset="0"/>
              </a:rPr>
              <a:t>Questions as to contents of documents. See section 128 Evidence Act;</a:t>
            </a:r>
          </a:p>
          <a:p>
            <a:pPr algn="just" indent="-514350" marL="514350">
              <a:buFont typeface="+mj-lt"/>
              <a:buAutoNum type="alphaLcParenR"/>
            </a:pPr>
            <a:r>
              <a:rPr dirty="0" sz="3000" lang="en-US">
                <a:cs typeface="Times New Roman" pitchFamily="18" charset="0"/>
              </a:rPr>
              <a:t>Scandalous questions(insulting questions);</a:t>
            </a:r>
          </a:p>
          <a:p>
            <a:pPr algn="just" indent="-514350" marL="514350">
              <a:buFont typeface="+mj-lt"/>
              <a:buAutoNum type="alphaLcParenR"/>
            </a:pPr>
            <a:r>
              <a:rPr dirty="0" sz="3000" lang="en-US">
                <a:cs typeface="Times New Roman" pitchFamily="18" charset="0"/>
              </a:rPr>
              <a:t>Questions in the form of cross examination;</a:t>
            </a:r>
          </a:p>
          <a:p>
            <a:pPr algn="just" indent="-514350" marL="514350">
              <a:buFont typeface="+mj-lt"/>
              <a:buAutoNum type="alphaLcParenR"/>
            </a:pPr>
            <a:r>
              <a:rPr dirty="0" sz="3000" lang="en-US">
                <a:cs typeface="Times New Roman" pitchFamily="18" charset="0"/>
              </a:rPr>
              <a:t>Interrogatories as to evidence of the other party interrogated;</a:t>
            </a:r>
          </a:p>
          <a:p>
            <a:pPr algn="just" indent="-514350" marL="514350">
              <a:buFont typeface="+mj-lt"/>
              <a:buAutoNum type="alphaLcParenR"/>
            </a:pPr>
            <a:r>
              <a:rPr dirty="0" sz="3000" lang="en-US">
                <a:cs typeface="Times New Roman" pitchFamily="18" charset="0"/>
              </a:rPr>
              <a:t>Fishing interrogatories (interrogatories which are completely outside the pleadings);</a:t>
            </a:r>
          </a:p>
          <a:p>
            <a:pPr algn="just" indent="-514350" marL="514350">
              <a:buFont typeface="+mj-lt"/>
              <a:buAutoNum type="alphaLcParenR"/>
            </a:pPr>
            <a:r>
              <a:rPr dirty="0" sz="3000" lang="en-US">
                <a:cs typeface="Times New Roman" pitchFamily="18" charset="0"/>
              </a:rPr>
              <a:t>Oppressive interrogatories (questions that are administered </a:t>
            </a:r>
            <a:r>
              <a:rPr dirty="0" sz="3000" i="1" lang="en-US">
                <a:cs typeface="Times New Roman" pitchFamily="18" charset="0"/>
              </a:rPr>
              <a:t>mala fide</a:t>
            </a:r>
            <a:r>
              <a:rPr dirty="0" sz="3000" lang="en-US">
                <a:cs typeface="Times New Roman" pitchFamily="18" charset="0"/>
              </a:rPr>
              <a:t>).</a:t>
            </a:r>
            <a:endParaRPr dirty="0" sz="3000" lang="en-US"/>
          </a:p>
          <a:p>
            <a:pPr>
              <a:buNone/>
            </a:pPr>
            <a:endParaRPr dirty="0" lang="en-US"/>
          </a:p>
          <a:p>
            <a:pPr>
              <a:buNone/>
            </a:pPr>
            <a:endParaRPr dirty="0" lang="en-US"/>
          </a:p>
          <a:p>
            <a:pPr>
              <a:buNone/>
            </a:pPr>
            <a:endParaRPr dirty="0" lang="en-US"/>
          </a:p>
          <a:p>
            <a:pPr>
              <a:buNone/>
            </a:pPr>
            <a:endParaRPr dirty="0" lang="en-US"/>
          </a:p>
          <a:p>
            <a:pPr>
              <a:buNone/>
            </a:pPr>
            <a:endParaRPr dirty="0" lang="en-US"/>
          </a:p>
          <a:p>
            <a:pPr>
              <a:buNone/>
            </a:pPr>
            <a:endParaRPr dirty="0" lang="en-US"/>
          </a:p>
          <a:p>
            <a:pPr>
              <a:buNone/>
            </a:pPr>
            <a:endParaRPr dirty="0" lang="en-US"/>
          </a:p>
          <a:p>
            <a:pPr>
              <a:buNone/>
            </a:pPr>
            <a:endParaRPr dirty="0" lang="en-US"/>
          </a:p>
          <a:p>
            <a:pPr>
              <a:buNone/>
            </a:pPr>
            <a:endParaRPr dirty="0" lang="en-US"/>
          </a:p>
          <a:p>
            <a:pPr>
              <a:buNone/>
            </a:pPr>
            <a:endParaRPr dirty="0"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689" name="Title 1"/>
          <p:cNvSpPr>
            <a:spLocks noGrp="1"/>
          </p:cNvSpPr>
          <p:nvPr>
            <p:ph type="title"/>
          </p:nvPr>
        </p:nvSpPr>
        <p:spPr>
          <a:xfrm>
            <a:off x="1981200" y="428604"/>
            <a:ext cx="8229600" cy="642942"/>
          </a:xfrm>
        </p:spPr>
        <p:txBody>
          <a:bodyPr/>
          <a:p>
            <a:r>
              <a:rPr b="1" dirty="0" sz="3200" lang="en-ZA"/>
              <a:t>Affidavit in Answer to Interrogatories</a:t>
            </a:r>
            <a:endParaRPr b="1" dirty="0" sz="3200" lang="en-GB"/>
          </a:p>
        </p:txBody>
      </p:sp>
      <p:sp>
        <p:nvSpPr>
          <p:cNvPr id="1048690" name="Content Placeholder 2"/>
          <p:cNvSpPr>
            <a:spLocks noGrp="1"/>
          </p:cNvSpPr>
          <p:nvPr>
            <p:ph idx="1"/>
          </p:nvPr>
        </p:nvSpPr>
        <p:spPr>
          <a:xfrm>
            <a:off x="1981200" y="1214422"/>
            <a:ext cx="8229600" cy="5286412"/>
          </a:xfrm>
        </p:spPr>
        <p:txBody>
          <a:bodyPr/>
          <a:p>
            <a:pPr algn="just"/>
            <a:r>
              <a:rPr dirty="0" sz="4400" lang="en-GB"/>
              <a:t>An interrogated party shall answer by affidavit in Form 20 within 7 days or such period as allowed by the judge –See </a:t>
            </a:r>
            <a:r>
              <a:rPr b="1" dirty="0" sz="4400" lang="en-ZA"/>
              <a:t>Or. 29 r. 6(1) Lagos Rules 2019</a:t>
            </a:r>
          </a:p>
          <a:p>
            <a:pPr algn="just"/>
            <a:r>
              <a:rPr dirty="0" sz="4400" lang="en-ZA"/>
              <a:t>Two copies to be delivered to registrar for service to the  interrogating party.</a:t>
            </a:r>
          </a:p>
          <a:p>
            <a:pPr>
              <a:buNone/>
            </a:pPr>
            <a:endParaRPr dirty="0" sz="4400"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42" name=""/>
        <p:cNvGrpSpPr/>
        <p:nvPr/>
      </p:nvGrpSpPr>
      <p:grpSpPr>
        <a:xfrm>
          <a:off x="0" y="0"/>
          <a:ext cx="0" cy="0"/>
          <a:chOff x="0" y="0"/>
          <a:chExt cx="0" cy="0"/>
        </a:xfrm>
      </p:grpSpPr>
      <p:sp>
        <p:nvSpPr>
          <p:cNvPr id="1048691" name="Title 1"/>
          <p:cNvSpPr>
            <a:spLocks noGrp="1"/>
          </p:cNvSpPr>
          <p:nvPr>
            <p:ph type="title"/>
          </p:nvPr>
        </p:nvSpPr>
        <p:spPr>
          <a:xfrm>
            <a:off x="1981200" y="274638"/>
            <a:ext cx="8229600" cy="439718"/>
          </a:xfrm>
        </p:spPr>
        <p:txBody>
          <a:bodyPr>
            <a:normAutofit fontScale="90000"/>
          </a:bodyPr>
          <a:p>
            <a:pPr algn="ctr"/>
            <a:r>
              <a:rPr b="1" dirty="0" sz="4900" lang="en-GB"/>
              <a:t>Objections to Interrogatories</a:t>
            </a:r>
            <a:endParaRPr b="1" dirty="0" sz="2800" lang="en-GB"/>
          </a:p>
        </p:txBody>
      </p:sp>
      <p:sp>
        <p:nvSpPr>
          <p:cNvPr id="1048692" name="Content Placeholder 2"/>
          <p:cNvSpPr>
            <a:spLocks noGrp="1"/>
          </p:cNvSpPr>
          <p:nvPr>
            <p:ph idx="1"/>
          </p:nvPr>
        </p:nvSpPr>
        <p:spPr>
          <a:xfrm>
            <a:off x="1981200" y="857232"/>
            <a:ext cx="8229600" cy="5715040"/>
          </a:xfrm>
        </p:spPr>
        <p:txBody>
          <a:bodyPr/>
          <a:p>
            <a:pPr algn="just"/>
            <a:r>
              <a:rPr dirty="0" sz="3600" lang="en-GB"/>
              <a:t>If an interrogatory question is </a:t>
            </a:r>
            <a:r>
              <a:rPr dirty="0" sz="3600" i="1" lang="en-GB"/>
              <a:t>mala</a:t>
            </a:r>
            <a:r>
              <a:rPr dirty="0" sz="3600" lang="en-GB"/>
              <a:t> </a:t>
            </a:r>
            <a:r>
              <a:rPr dirty="0" sz="3600" i="1" lang="en-GB"/>
              <a:t>fide</a:t>
            </a:r>
            <a:r>
              <a:rPr dirty="0" sz="3600" lang="en-GB"/>
              <a:t>, scandalous, irrelevant or beyond the scope of the subject matter of the litigation, etc, the interrogated party may raise objections to such questions in his affidavit in answer.</a:t>
            </a:r>
          </a:p>
          <a:p>
            <a:pPr algn="just"/>
            <a:r>
              <a:rPr dirty="0" sz="3600" lang="en-GB"/>
              <a:t>Such objection may be taken at the case management conference.</a:t>
            </a:r>
            <a:endParaRPr dirty="0" sz="3600" lang="en-GB">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43" name=""/>
        <p:cNvGrpSpPr/>
        <p:nvPr/>
      </p:nvGrpSpPr>
      <p:grpSpPr>
        <a:xfrm>
          <a:off x="0" y="0"/>
          <a:ext cx="0" cy="0"/>
          <a:chOff x="0" y="0"/>
          <a:chExt cx="0" cy="0"/>
        </a:xfrm>
      </p:grpSpPr>
      <p:sp>
        <p:nvSpPr>
          <p:cNvPr id="1048693" name="Title 1"/>
          <p:cNvSpPr>
            <a:spLocks noGrp="1"/>
          </p:cNvSpPr>
          <p:nvPr>
            <p:ph type="title"/>
          </p:nvPr>
        </p:nvSpPr>
        <p:spPr>
          <a:xfrm>
            <a:off x="1981200" y="274638"/>
            <a:ext cx="8229600" cy="439718"/>
          </a:xfrm>
        </p:spPr>
        <p:txBody>
          <a:bodyPr>
            <a:normAutofit fontScale="90000"/>
          </a:bodyPr>
          <a:p>
            <a:r>
              <a:rPr b="1" dirty="0" sz="3600" lang="en-GB"/>
              <a:t>Non-compliance with an Order for interrogatories</a:t>
            </a:r>
            <a:endParaRPr b="1" dirty="0" sz="2400" lang="en-GB"/>
          </a:p>
        </p:txBody>
      </p:sp>
      <p:sp>
        <p:nvSpPr>
          <p:cNvPr id="1048694" name="Content Placeholder 2"/>
          <p:cNvSpPr>
            <a:spLocks noGrp="1"/>
          </p:cNvSpPr>
          <p:nvPr>
            <p:ph idx="1"/>
          </p:nvPr>
        </p:nvSpPr>
        <p:spPr>
          <a:xfrm>
            <a:off x="1981200" y="857232"/>
            <a:ext cx="8229600" cy="5572164"/>
          </a:xfrm>
        </p:spPr>
        <p:txBody>
          <a:bodyPr/>
          <a:p>
            <a:pPr algn="just"/>
            <a:r>
              <a:rPr dirty="0" sz="3600" lang="en-GB"/>
              <a:t>If a person served with interrogatories fails to answer thereto, or if he gives insufficient answer in response to the interrogatories, the interrogating party may apply to the court or Judge in Chambers for an order compelling the interrogated party to answer (or to answer further, as the case may be. Or. 29 r. 5 Lagos Rules 2019.</a:t>
            </a:r>
          </a:p>
          <a:p>
            <a:endParaRPr dirty="0" sz="3600"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695" name="Title 1"/>
          <p:cNvSpPr>
            <a:spLocks noGrp="1"/>
          </p:cNvSpPr>
          <p:nvPr>
            <p:ph type="title"/>
          </p:nvPr>
        </p:nvSpPr>
        <p:spPr/>
        <p:txBody>
          <a:bodyPr/>
          <a:p>
            <a:pPr algn="ctr"/>
            <a:r>
              <a:rPr b="1" dirty="0" lang="en-GB"/>
              <a:t>Discovery of Documents</a:t>
            </a:r>
            <a:endParaRPr dirty="0" lang="en-US"/>
          </a:p>
        </p:txBody>
      </p:sp>
      <p:sp>
        <p:nvSpPr>
          <p:cNvPr id="1048696" name="Content Placeholder 2"/>
          <p:cNvSpPr>
            <a:spLocks noGrp="1"/>
          </p:cNvSpPr>
          <p:nvPr>
            <p:ph idx="1"/>
          </p:nvPr>
        </p:nvSpPr>
        <p:spPr/>
        <p:txBody>
          <a:bodyPr/>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8697" name="Title 1"/>
          <p:cNvSpPr>
            <a:spLocks noGrp="1"/>
          </p:cNvSpPr>
          <p:nvPr>
            <p:ph type="title"/>
          </p:nvPr>
        </p:nvSpPr>
        <p:spPr/>
        <p:txBody>
          <a:bodyPr/>
          <a:p>
            <a:pPr algn="ctr"/>
            <a:r>
              <a:rPr dirty="0" lang="en-GB"/>
              <a:t>Meaning</a:t>
            </a:r>
            <a:br>
              <a:rPr dirty="0" lang="en-GB"/>
            </a:br>
            <a:endParaRPr dirty="0" lang="en-US"/>
          </a:p>
        </p:txBody>
      </p:sp>
      <p:sp>
        <p:nvSpPr>
          <p:cNvPr id="1048698" name="Content Placeholder 2"/>
          <p:cNvSpPr>
            <a:spLocks noGrp="1"/>
          </p:cNvSpPr>
          <p:nvPr>
            <p:ph idx="1"/>
          </p:nvPr>
        </p:nvSpPr>
        <p:spPr/>
        <p:txBody>
          <a:bodyPr>
            <a:normAutofit fontScale="97222"/>
          </a:bodyPr>
          <a:p>
            <a:r>
              <a:rPr dirty="0" sz="3600" lang="en-GB"/>
              <a:t>It is a discovery limited to documents by which a party who wishes to discover nature and contents of documents (or needs to make copies of them for use in the preparation of his claim or defence),may serve a written request on the adverse party to make disclosures on oath about the documents in the adverse party’s possession custody, power or control. </a:t>
            </a:r>
            <a:r>
              <a:rPr b="1" dirty="0" sz="3600" lang="en-GB"/>
              <a:t>Or. 29 r. 6 (1) Lagos Rules 2019.</a:t>
            </a:r>
          </a:p>
          <a:p>
            <a:endParaRPr dirty="0" sz="3600"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46" name=""/>
        <p:cNvGrpSpPr/>
        <p:nvPr/>
      </p:nvGrpSpPr>
      <p:grpSpPr>
        <a:xfrm>
          <a:off x="0" y="0"/>
          <a:ext cx="0" cy="0"/>
          <a:chOff x="0" y="0"/>
          <a:chExt cx="0" cy="0"/>
        </a:xfrm>
      </p:grpSpPr>
      <p:sp>
        <p:nvSpPr>
          <p:cNvPr id="1048699" name="Title 1"/>
          <p:cNvSpPr>
            <a:spLocks noGrp="1"/>
          </p:cNvSpPr>
          <p:nvPr>
            <p:ph type="title"/>
          </p:nvPr>
        </p:nvSpPr>
        <p:spPr/>
        <p:txBody>
          <a:bodyPr>
            <a:normAutofit/>
          </a:bodyPr>
          <a:p>
            <a:pPr algn="ctr"/>
            <a:r>
              <a:rPr b="1" dirty="0" sz="4000" lang="en-GB"/>
              <a:t>Discovery,  Production &amp; Inspection of Documents</a:t>
            </a:r>
            <a:endParaRPr dirty="0" sz="4000" lang="en-US"/>
          </a:p>
        </p:txBody>
      </p:sp>
      <p:sp>
        <p:nvSpPr>
          <p:cNvPr id="1048700" name="Content Placeholder 2"/>
          <p:cNvSpPr>
            <a:spLocks noGrp="1"/>
          </p:cNvSpPr>
          <p:nvPr>
            <p:ph idx="1"/>
          </p:nvPr>
        </p:nvSpPr>
        <p:spPr/>
        <p:txBody>
          <a:bodyPr>
            <a:normAutofit/>
          </a:bodyPr>
          <a:p>
            <a:r>
              <a:rPr dirty="0" sz="3600" lang="en-GB"/>
              <a:t>The court or Judge in Chambers can also order any party on oath during the action to produce any document in his power or possession regarding any matter in question as the Judge or court may deem appropriate. A Judge also has power to order the production and verification (by affidavit) of any business book if a party so applies. Or. 29 r. 8 Lagos Rules 2019</a:t>
            </a:r>
          </a:p>
          <a:p>
            <a:endParaRPr dirty="0" sz="3600"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701" name="Title 1"/>
          <p:cNvSpPr>
            <a:spLocks noGrp="1"/>
          </p:cNvSpPr>
          <p:nvPr>
            <p:ph type="title"/>
          </p:nvPr>
        </p:nvSpPr>
        <p:spPr>
          <a:xfrm>
            <a:off x="1981200" y="357166"/>
            <a:ext cx="8229600" cy="500066"/>
          </a:xfrm>
        </p:spPr>
        <p:txBody>
          <a:bodyPr/>
          <a:p>
            <a:pPr algn="ctr"/>
            <a:r>
              <a:rPr b="1" dirty="0" sz="2400" lang="en-GB"/>
              <a:t>Procedure for Discovery of Documents</a:t>
            </a:r>
          </a:p>
        </p:txBody>
      </p:sp>
      <p:sp>
        <p:nvSpPr>
          <p:cNvPr id="1048702" name="Content Placeholder 2"/>
          <p:cNvSpPr>
            <a:spLocks noGrp="1"/>
          </p:cNvSpPr>
          <p:nvPr>
            <p:ph idx="1"/>
          </p:nvPr>
        </p:nvSpPr>
        <p:spPr>
          <a:xfrm>
            <a:off x="1981200" y="1000108"/>
            <a:ext cx="8229600" cy="5429288"/>
          </a:xfrm>
        </p:spPr>
        <p:txBody>
          <a:bodyPr>
            <a:normAutofit/>
          </a:bodyPr>
          <a:p>
            <a:pPr algn="just"/>
            <a:r>
              <a:rPr dirty="0" lang="en-GB"/>
              <a:t>If a party wishes to make discovery of documents, he may in writing request within 7 days of the close of pleadings to the adverse party to make discovery on oaths of the documents that are in his possession, custody, power or control.  Or. 29 r. 6 (1), Lagos Rules 2019.</a:t>
            </a:r>
          </a:p>
          <a:p>
            <a:pPr algn="just"/>
            <a:r>
              <a:rPr dirty="0" lang="en-GB"/>
              <a:t>The adverse party shall within 7 days of the request answer same on oath in an affidavit in Form 21.</a:t>
            </a:r>
          </a:p>
          <a:p>
            <a:pPr algn="just"/>
            <a:r>
              <a:rPr dirty="0" lang="en-GB"/>
              <a:t>The affidavit cannot be challenged except there is material non disclosure of a document. Or 29 r 6(3) Lagos Rules 2019.</a:t>
            </a:r>
          </a:p>
          <a:p>
            <a:pPr indent="0" marL="0">
              <a:buNone/>
            </a:pPr>
            <a:endParaRPr dirty="0" lang="en-GB"/>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48" name=""/>
        <p:cNvGrpSpPr/>
        <p:nvPr/>
      </p:nvGrpSpPr>
      <p:grpSpPr>
        <a:xfrm>
          <a:off x="0" y="0"/>
          <a:ext cx="0" cy="0"/>
          <a:chOff x="0" y="0"/>
          <a:chExt cx="0" cy="0"/>
        </a:xfrm>
      </p:grpSpPr>
      <p:sp>
        <p:nvSpPr>
          <p:cNvPr id="1048703" name="Title 1"/>
          <p:cNvSpPr>
            <a:spLocks noGrp="1"/>
          </p:cNvSpPr>
          <p:nvPr>
            <p:ph type="title"/>
          </p:nvPr>
        </p:nvSpPr>
        <p:spPr>
          <a:xfrm>
            <a:off x="1981200" y="357166"/>
            <a:ext cx="8229600" cy="928694"/>
          </a:xfrm>
        </p:spPr>
        <p:txBody>
          <a:bodyPr/>
          <a:p>
            <a:pPr algn="ctr"/>
            <a:r>
              <a:rPr b="1" dirty="0" sz="2800" lang="en-US"/>
              <a:t>Grounds for objection to Produce Documents</a:t>
            </a:r>
          </a:p>
        </p:txBody>
      </p:sp>
      <p:sp>
        <p:nvSpPr>
          <p:cNvPr id="1048704" name="Content Placeholder 2"/>
          <p:cNvSpPr>
            <a:spLocks noGrp="1"/>
          </p:cNvSpPr>
          <p:nvPr>
            <p:ph idx="1"/>
          </p:nvPr>
        </p:nvSpPr>
        <p:spPr>
          <a:xfrm>
            <a:off x="1952596" y="1428737"/>
            <a:ext cx="8229600" cy="4768865"/>
          </a:xfrm>
        </p:spPr>
        <p:txBody>
          <a:bodyPr/>
          <a:p>
            <a:pPr algn="just" indent="-514350" marL="514350">
              <a:buFont typeface="+mj-lt"/>
              <a:buAutoNum type="alphaLcParenR"/>
            </a:pPr>
            <a:r>
              <a:rPr dirty="0" sz="3000" lang="en-US">
                <a:cs typeface="Times New Roman" pitchFamily="18" charset="0"/>
              </a:rPr>
              <a:t>Privilege related communication between lawyer and client;</a:t>
            </a:r>
          </a:p>
          <a:p>
            <a:pPr algn="just" indent="-514350" marL="514350">
              <a:buFont typeface="+mj-lt"/>
              <a:buAutoNum type="alphaLcParenR"/>
            </a:pPr>
            <a:r>
              <a:rPr dirty="0" sz="3000" lang="en-US">
                <a:cs typeface="Times New Roman" pitchFamily="18" charset="0"/>
              </a:rPr>
              <a:t>Incriminating documents;</a:t>
            </a:r>
          </a:p>
          <a:p>
            <a:pPr algn="just" indent="-514350" marL="514350">
              <a:buFont typeface="+mj-lt"/>
              <a:buAutoNum type="alphaLcParenR"/>
            </a:pPr>
            <a:r>
              <a:rPr dirty="0" sz="3000" lang="en-US">
                <a:cs typeface="Times New Roman" pitchFamily="18" charset="0"/>
              </a:rPr>
              <a:t>Document relating to national security;</a:t>
            </a:r>
          </a:p>
          <a:p>
            <a:pPr algn="just" indent="-514350" marL="514350">
              <a:buFont typeface="+mj-lt"/>
              <a:buAutoNum type="alphaLcParenR"/>
            </a:pPr>
            <a:r>
              <a:rPr dirty="0" sz="3000" lang="en-US">
                <a:cs typeface="Times New Roman" pitchFamily="18" charset="0"/>
              </a:rPr>
              <a:t>Document the production of which is against public interest;</a:t>
            </a:r>
          </a:p>
          <a:p>
            <a:pPr algn="just" indent="-514350" marL="514350">
              <a:buFont typeface="+mj-lt"/>
              <a:buAutoNum type="alphaLcParenR"/>
            </a:pPr>
            <a:r>
              <a:rPr dirty="0" sz="3000" lang="en-US">
                <a:cs typeface="Times New Roman" pitchFamily="18" charset="0"/>
              </a:rPr>
              <a:t>Documents marked without prejudice.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sp>
        <p:nvSpPr>
          <p:cNvPr id="1048705" name="Title 1"/>
          <p:cNvSpPr>
            <a:spLocks noGrp="1"/>
          </p:cNvSpPr>
          <p:nvPr>
            <p:ph type="title"/>
          </p:nvPr>
        </p:nvSpPr>
        <p:spPr>
          <a:xfrm>
            <a:off x="1981200" y="274638"/>
            <a:ext cx="8229600" cy="939784"/>
          </a:xfrm>
        </p:spPr>
        <p:txBody>
          <a:bodyPr/>
          <a:p>
            <a:pPr algn="ctr"/>
            <a:r>
              <a:rPr b="1" dirty="0" sz="2800" lang="en-GB"/>
              <a:t>Effect of Non-Compliance with order for  Interrogatories, Discovery, Inspection</a:t>
            </a:r>
          </a:p>
        </p:txBody>
      </p:sp>
      <p:sp>
        <p:nvSpPr>
          <p:cNvPr id="1048706" name="Content Placeholder 2"/>
          <p:cNvSpPr>
            <a:spLocks noGrp="1"/>
          </p:cNvSpPr>
          <p:nvPr>
            <p:ph idx="1"/>
          </p:nvPr>
        </p:nvSpPr>
        <p:spPr>
          <a:xfrm>
            <a:off x="1981200" y="1285860"/>
            <a:ext cx="8229600" cy="5143536"/>
          </a:xfrm>
        </p:spPr>
        <p:txBody>
          <a:bodyPr/>
          <a:p>
            <a:pPr algn="just"/>
            <a:r>
              <a:rPr dirty="0" lang="en-GB"/>
              <a:t>Non-compliance with order for interrogatories, discovery or inspection is contempt that would lead to committal to prison;</a:t>
            </a:r>
            <a:endParaRPr dirty="0" lang="en-GB">
              <a:solidFill>
                <a:srgbClr val="FF0000"/>
              </a:solidFill>
            </a:endParaRPr>
          </a:p>
          <a:p>
            <a:pPr algn="just"/>
            <a:r>
              <a:rPr dirty="0" lang="en-GB"/>
              <a:t>If he is the Claimant, his action may be dismissed for default of prosecution;</a:t>
            </a:r>
          </a:p>
          <a:p>
            <a:pPr algn="just"/>
            <a:r>
              <a:rPr dirty="0" lang="en-GB"/>
              <a:t>If he is the Defendant, his defence would be struck out on Claimant’s application. Or. 29 r. Lagos Rules 2019.</a:t>
            </a:r>
          </a:p>
          <a:p>
            <a:pPr indent="0" marL="0">
              <a:buNone/>
            </a:pPr>
            <a:endParaRPr dirty="0"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707" name="Title 1"/>
          <p:cNvSpPr>
            <a:spLocks noGrp="1"/>
          </p:cNvSpPr>
          <p:nvPr>
            <p:ph type="title"/>
          </p:nvPr>
        </p:nvSpPr>
        <p:spPr>
          <a:xfrm>
            <a:off x="1981200" y="357166"/>
            <a:ext cx="8229600" cy="642942"/>
          </a:xfrm>
        </p:spPr>
        <p:txBody>
          <a:bodyPr/>
          <a:p>
            <a:endParaRPr dirty="0" sz="2400" lang="en-US"/>
          </a:p>
        </p:txBody>
      </p:sp>
      <p:sp>
        <p:nvSpPr>
          <p:cNvPr id="1048708" name="Content Placeholder 2"/>
          <p:cNvSpPr>
            <a:spLocks noGrp="1"/>
          </p:cNvSpPr>
          <p:nvPr>
            <p:ph idx="1"/>
          </p:nvPr>
        </p:nvSpPr>
        <p:spPr>
          <a:xfrm>
            <a:off x="1981200" y="1214423"/>
            <a:ext cx="8229600" cy="4911741"/>
          </a:xfrm>
        </p:spPr>
        <p:txBody>
          <a:bodyPr/>
          <a:p>
            <a:pPr algn="just"/>
            <a:r>
              <a:rPr dirty="0" sz="3600" lang="en-US">
                <a:latin typeface="Times New Roman" pitchFamily="18" charset="0"/>
                <a:cs typeface="Times New Roman" pitchFamily="18" charset="0"/>
              </a:rPr>
              <a:t>The party in default cannot give evidence of the contents of such documents</a:t>
            </a:r>
            <a:endParaRPr dirty="0" sz="3400" lang="en-US">
              <a:cs typeface="Times New Roman" pitchFamily="18" charset="0"/>
            </a:endParaRPr>
          </a:p>
          <a:p>
            <a:pPr algn="just"/>
            <a:r>
              <a:rPr dirty="0" sz="3400" lang="en-US">
                <a:cs typeface="Times New Roman" pitchFamily="18" charset="0"/>
              </a:rPr>
              <a:t>In Lagos, if counsel is negligent, he may be committed to prison </a:t>
            </a:r>
            <a:r>
              <a:rPr dirty="0" lang="en-GB"/>
              <a:t>Or. 29 r. 10 Lagos Rules 2019.</a:t>
            </a:r>
          </a:p>
          <a:p>
            <a:endParaRPr dirty="0" sz="3400"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709" name="Title 1"/>
          <p:cNvSpPr>
            <a:spLocks noGrp="1"/>
          </p:cNvSpPr>
          <p:nvPr>
            <p:ph type="title"/>
          </p:nvPr>
        </p:nvSpPr>
        <p:spPr/>
        <p:txBody>
          <a:bodyPr/>
          <a:p>
            <a:pPr algn="ctr"/>
            <a:r>
              <a:rPr b="1" dirty="0" sz="3200" lang="en-GB"/>
              <a:t>Order for Interrogatories etc against Sheriff or Persons under Disability</a:t>
            </a:r>
            <a:endParaRPr dirty="0" sz="3200" lang="en-GB"/>
          </a:p>
        </p:txBody>
      </p:sp>
      <p:sp>
        <p:nvSpPr>
          <p:cNvPr id="1048710" name="Content Placeholder 2"/>
          <p:cNvSpPr>
            <a:spLocks noGrp="1"/>
          </p:cNvSpPr>
          <p:nvPr>
            <p:ph idx="1"/>
          </p:nvPr>
        </p:nvSpPr>
        <p:spPr>
          <a:xfrm>
            <a:off x="1981200" y="1600200"/>
            <a:ext cx="8229600" cy="4829196"/>
          </a:xfrm>
        </p:spPr>
        <p:txBody>
          <a:bodyPr/>
          <a:p>
            <a:pPr algn="just"/>
            <a:r>
              <a:rPr dirty="0" lang="en-GB"/>
              <a:t>In appropriate cases, the Sheriff may be directed to answer to interrogatories, or to disclose facts or allow inspection of documents which are in his possession by way of his official duties. Such orders may also be directed to infants and their guardians, and other persons under legal disability. Or. 29 r. 12 &amp; 13 Lagos Rules 2019.</a:t>
            </a:r>
          </a:p>
          <a:p>
            <a:endParaRPr dirty="0" lang="en-GB">
              <a:solidFill>
                <a:srgbClr val="FF0000"/>
              </a:solidFill>
            </a:endParaRPr>
          </a:p>
          <a:p>
            <a:endParaRPr dirty="0" lang="en-GB">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52" name=""/>
        <p:cNvGrpSpPr/>
        <p:nvPr/>
      </p:nvGrpSpPr>
      <p:grpSpPr>
        <a:xfrm>
          <a:off x="0" y="0"/>
          <a:ext cx="0" cy="0"/>
          <a:chOff x="0" y="0"/>
          <a:chExt cx="0" cy="0"/>
        </a:xfrm>
      </p:grpSpPr>
      <p:sp>
        <p:nvSpPr>
          <p:cNvPr id="1048711" name="Title 1"/>
          <p:cNvSpPr>
            <a:spLocks noGrp="1"/>
          </p:cNvSpPr>
          <p:nvPr>
            <p:ph type="title"/>
          </p:nvPr>
        </p:nvSpPr>
        <p:spPr/>
        <p:txBody>
          <a:bodyPr/>
          <a:p>
            <a:pPr algn="ctr"/>
            <a:r>
              <a:rPr b="1" dirty="0" lang="en-US" smtClean="0"/>
              <a:t>2. TRIAL </a:t>
            </a:r>
            <a:r>
              <a:rPr b="1" dirty="0" lang="en-US"/>
              <a:t>PREPARATION</a:t>
            </a:r>
            <a:endParaRPr dirty="0" lang="en-US"/>
          </a:p>
        </p:txBody>
      </p:sp>
      <p:sp>
        <p:nvSpPr>
          <p:cNvPr id="1048712" name="Content Placeholder 2"/>
          <p:cNvSpPr>
            <a:spLocks noGrp="1"/>
          </p:cNvSpPr>
          <p:nvPr>
            <p:ph idx="1"/>
          </p:nvPr>
        </p:nvSpPr>
        <p:spPr/>
        <p:txBody>
          <a:bodyPr>
            <a:normAutofit fontScale="85714" lnSpcReduction="20000"/>
          </a:bodyPr>
          <a:p>
            <a:pPr indent="0" marL="0">
              <a:buNone/>
            </a:pPr>
            <a:r>
              <a:rPr dirty="0" lang="en-US" err="1"/>
              <a:t>a.Meaning</a:t>
            </a:r>
            <a:r>
              <a:rPr dirty="0" lang="en-US"/>
              <a:t> of case analysis/theory and trial plan</a:t>
            </a:r>
          </a:p>
          <a:p>
            <a:pPr indent="0" marL="0">
              <a:buNone/>
            </a:pPr>
            <a:r>
              <a:rPr dirty="0" lang="en-US" err="1"/>
              <a:t>b.Preparation</a:t>
            </a:r>
            <a:r>
              <a:rPr dirty="0" lang="en-US"/>
              <a:t> of case theory and trial plan</a:t>
            </a:r>
          </a:p>
          <a:p>
            <a:pPr indent="0" marL="0">
              <a:buNone/>
            </a:pPr>
            <a:r>
              <a:rPr dirty="0" lang="en-US" err="1"/>
              <a:t>c.Ethical</a:t>
            </a:r>
            <a:r>
              <a:rPr dirty="0" lang="en-US"/>
              <a:t> issues regarding case theory and trial plan</a:t>
            </a:r>
          </a:p>
          <a:p>
            <a:pPr indent="0" marL="0">
              <a:buNone/>
            </a:pPr>
            <a:r>
              <a:rPr dirty="0" lang="en-US" err="1"/>
              <a:t>d.Meaning</a:t>
            </a:r>
            <a:r>
              <a:rPr dirty="0" lang="en-US"/>
              <a:t> and Principles of burden of proof-general and evidential burden.</a:t>
            </a:r>
          </a:p>
          <a:p>
            <a:pPr indent="0" marL="0">
              <a:buNone/>
            </a:pPr>
            <a:r>
              <a:rPr dirty="0" lang="en-US"/>
              <a:t>e. Standard of Proof- on the balance of probability; beyond reasonable doubt</a:t>
            </a:r>
          </a:p>
          <a:p>
            <a:pPr indent="0" marL="0">
              <a:buNone/>
            </a:pPr>
            <a:r>
              <a:rPr dirty="0" lang="en-US" err="1"/>
              <a:t>f.The</a:t>
            </a:r>
            <a:r>
              <a:rPr dirty="0" lang="en-US"/>
              <a:t> doctrine of severance of pleadings</a:t>
            </a:r>
          </a:p>
          <a:p>
            <a:pPr indent="0" marL="0">
              <a:buNone/>
            </a:pPr>
            <a:r>
              <a:rPr dirty="0" lang="en-US" err="1"/>
              <a:t>g.Competence</a:t>
            </a:r>
            <a:r>
              <a:rPr dirty="0" lang="en-US"/>
              <a:t> and Compellability of Witnesses</a:t>
            </a:r>
          </a:p>
          <a:p>
            <a:pPr indent="0" marL="0">
              <a:buNone/>
            </a:pPr>
            <a:r>
              <a:rPr dirty="0" lang="en-US"/>
              <a:t>h. Preparation of evidence of special witnesses like experts,  children and hostile witnesses</a:t>
            </a:r>
          </a:p>
          <a:p>
            <a:pPr indent="0" marL="0">
              <a:buNone/>
            </a:pPr>
            <a:r>
              <a:rPr dirty="0" lang="en-US" err="1"/>
              <a:t>i.Processes</a:t>
            </a:r>
            <a:r>
              <a:rPr dirty="0" lang="en-US"/>
              <a:t> for compelling the attendance of witnesses in court-Subpoenas and witness summons.</a:t>
            </a:r>
          </a:p>
          <a:p>
            <a:pPr indent="0" marL="0">
              <a:buNone/>
            </a:pPr>
            <a:r>
              <a:rPr dirty="0" lang="en-US" err="1"/>
              <a:t>j.Principles</a:t>
            </a:r>
            <a:r>
              <a:rPr dirty="0" lang="en-US"/>
              <a:t> relating to the preparation of written statement on oath of a witness and its difference with an affidavit. 	</a:t>
            </a:r>
          </a:p>
          <a:p>
            <a:endParaRPr dirty="0"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713" name="Title 1"/>
          <p:cNvSpPr>
            <a:spLocks noGrp="1"/>
          </p:cNvSpPr>
          <p:nvPr>
            <p:ph type="title"/>
          </p:nvPr>
        </p:nvSpPr>
        <p:spPr>
          <a:xfrm>
            <a:off x="838200" y="365125"/>
            <a:ext cx="10515600" cy="886159"/>
          </a:xfrm>
        </p:spPr>
        <p:txBody>
          <a:bodyPr>
            <a:normAutofit fontScale="90000"/>
          </a:bodyPr>
          <a:p>
            <a:r>
              <a:rPr b="1" dirty="0" lang="en-US"/>
              <a:t> Meaning of Case Analysis/Theory and Trial Plan</a:t>
            </a:r>
          </a:p>
        </p:txBody>
      </p:sp>
      <p:sp>
        <p:nvSpPr>
          <p:cNvPr id="1048714" name="Content Placeholder 2"/>
          <p:cNvSpPr>
            <a:spLocks noGrp="1"/>
          </p:cNvSpPr>
          <p:nvPr>
            <p:ph idx="1"/>
          </p:nvPr>
        </p:nvSpPr>
        <p:spPr>
          <a:xfrm>
            <a:off x="838200" y="1335505"/>
            <a:ext cx="10515600" cy="4841458"/>
          </a:xfrm>
        </p:spPr>
        <p:txBody>
          <a:bodyPr>
            <a:noAutofit/>
          </a:bodyPr>
          <a:p>
            <a:pPr algn="just"/>
            <a:r>
              <a:rPr dirty="0" lang="en-US"/>
              <a:t>Case analysis is the examination of the facts and evidence of a case so as to determine facts necessary and which are not having regards to the state of the law in an area and cause of action.</a:t>
            </a:r>
          </a:p>
          <a:p>
            <a:pPr algn="just"/>
            <a:r>
              <a:rPr dirty="0" lang="en-US"/>
              <a:t>Case Theory is a brief and skeletal  analysis  of the case that an advocate ultimately intends (both legal and factual theory) to make before a court either for a claimant or defendant, which if accepted by the court, will lead to </a:t>
            </a:r>
            <a:r>
              <a:rPr dirty="0" lang="en-US" err="1"/>
              <a:t>favourable</a:t>
            </a:r>
            <a:r>
              <a:rPr dirty="0" lang="en-US"/>
              <a:t> decision for his client. This depends on the peculiarity of each case.</a:t>
            </a:r>
          </a:p>
          <a:p>
            <a:pPr indent="0" marL="0">
              <a:buNone/>
            </a:pPr>
            <a:endParaRPr dirty="0" lang="en-US"/>
          </a:p>
          <a:p>
            <a:endParaRPr dirty="0"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8715" name="Title 1"/>
          <p:cNvSpPr>
            <a:spLocks noGrp="1"/>
          </p:cNvSpPr>
          <p:nvPr>
            <p:ph type="title"/>
          </p:nvPr>
        </p:nvSpPr>
        <p:spPr/>
        <p:txBody>
          <a:bodyPr/>
          <a:p>
            <a:pPr algn="ctr"/>
            <a:r>
              <a:rPr b="1" dirty="0" lang="en-US"/>
              <a:t>Meaning of Trial Plan</a:t>
            </a:r>
            <a:r>
              <a:rPr dirty="0" lang="en-US"/>
              <a:t> </a:t>
            </a:r>
          </a:p>
        </p:txBody>
      </p:sp>
      <p:sp>
        <p:nvSpPr>
          <p:cNvPr id="1048716" name="Content Placeholder 2"/>
          <p:cNvSpPr>
            <a:spLocks noGrp="1"/>
          </p:cNvSpPr>
          <p:nvPr>
            <p:ph idx="1"/>
          </p:nvPr>
        </p:nvSpPr>
        <p:spPr/>
        <p:txBody>
          <a:bodyPr>
            <a:normAutofit/>
          </a:bodyPr>
          <a:p>
            <a:pPr algn="just"/>
            <a:r>
              <a:rPr dirty="0" sz="3600" lang="en-US"/>
              <a:t>This is a plan of action, a  blue print or  graphic representation setting out the steps on how an advocate intends to establish his claim or </a:t>
            </a:r>
            <a:r>
              <a:rPr dirty="0" sz="3600" lang="en-US" err="1"/>
              <a:t>defence</a:t>
            </a:r>
            <a:r>
              <a:rPr dirty="0" sz="3600" lang="en-US"/>
              <a:t> in line with the theory of the case. This depends on the peculiarity of the case and to some extent, on the style of the advocate/it is a matter of style.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598" name="Title 1"/>
          <p:cNvSpPr>
            <a:spLocks noGrp="1"/>
          </p:cNvSpPr>
          <p:nvPr>
            <p:ph type="title"/>
          </p:nvPr>
        </p:nvSpPr>
        <p:spPr/>
        <p:txBody>
          <a:bodyPr/>
          <a:p>
            <a:r>
              <a:rPr dirty="0" lang="en-US"/>
              <a:t>Preparation of Case Theory and Trial Plan</a:t>
            </a:r>
          </a:p>
        </p:txBody>
      </p:sp>
      <p:sp>
        <p:nvSpPr>
          <p:cNvPr id="1048599" name="Content Placeholder 2"/>
          <p:cNvSpPr>
            <a:spLocks noGrp="1"/>
          </p:cNvSpPr>
          <p:nvPr>
            <p:ph idx="1"/>
          </p:nvPr>
        </p:nvSpPr>
        <p:spPr/>
        <p:txBody>
          <a:bodyPr/>
          <a:p>
            <a:pPr algn="just"/>
            <a:r>
              <a:rPr dirty="0" lang="en-US"/>
              <a:t>A typical case trial plan is prepared in tabular form </a:t>
            </a:r>
            <a:r>
              <a:rPr dirty="0" lang="en-US" err="1"/>
              <a:t>containng</a:t>
            </a:r>
            <a:r>
              <a:rPr dirty="0" lang="en-US"/>
              <a:t> the following elements:</a:t>
            </a:r>
          </a:p>
          <a:p>
            <a:pPr algn="just" indent="-514350" marL="514350">
              <a:buAutoNum type="arabicPeriod"/>
            </a:pPr>
            <a:r>
              <a:rPr dirty="0" lang="en-US"/>
              <a:t>CAUSE (S) OF ACTION; </a:t>
            </a:r>
          </a:p>
          <a:p>
            <a:pPr algn="just" indent="-514350" marL="514350">
              <a:buAutoNum type="arabicPeriod"/>
            </a:pPr>
            <a:r>
              <a:rPr dirty="0" lang="en-US"/>
              <a:t>APPLICABLE LAW; </a:t>
            </a:r>
          </a:p>
          <a:p>
            <a:pPr algn="just" indent="-514350" marL="514350">
              <a:buAutoNum type="arabicPeriod"/>
            </a:pPr>
            <a:r>
              <a:rPr dirty="0" lang="en-US"/>
              <a:t>EVIDENCE; </a:t>
            </a:r>
          </a:p>
          <a:p>
            <a:pPr algn="just" indent="-514350" marL="514350">
              <a:buAutoNum type="arabicPeriod"/>
            </a:pPr>
            <a:r>
              <a:rPr dirty="0" lang="en-US"/>
              <a:t>STRENGTH/WEAKNESS OF THE CASE. </a:t>
            </a:r>
          </a:p>
          <a:p>
            <a:endParaRPr dirty="0"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594" name="Title 1"/>
          <p:cNvSpPr>
            <a:spLocks noGrp="1"/>
          </p:cNvSpPr>
          <p:nvPr>
            <p:ph type="title"/>
          </p:nvPr>
        </p:nvSpPr>
        <p:spPr>
          <a:xfrm>
            <a:off x="838200" y="365125"/>
            <a:ext cx="10515600" cy="789907"/>
          </a:xfrm>
        </p:spPr>
        <p:txBody>
          <a:bodyPr>
            <a:normAutofit fontScale="90000"/>
          </a:bodyPr>
          <a:p>
            <a:r>
              <a:rPr b="1" dirty="0" lang="en-US"/>
              <a:t>Ethical issues regarding Case Theory &amp; Trial Plan</a:t>
            </a:r>
          </a:p>
        </p:txBody>
      </p:sp>
      <p:sp>
        <p:nvSpPr>
          <p:cNvPr id="1048595" name="Content Placeholder 2"/>
          <p:cNvSpPr>
            <a:spLocks noGrp="1"/>
          </p:cNvSpPr>
          <p:nvPr>
            <p:ph idx="1"/>
          </p:nvPr>
        </p:nvSpPr>
        <p:spPr>
          <a:xfrm>
            <a:off x="838200" y="1275347"/>
            <a:ext cx="10515600" cy="4901616"/>
          </a:xfrm>
        </p:spPr>
        <p:txBody>
          <a:bodyPr>
            <a:normAutofit lnSpcReduction="10000"/>
          </a:bodyPr>
          <a:p>
            <a:pPr algn="just"/>
            <a:r>
              <a:rPr dirty="0" lang="en-US"/>
              <a:t>*R. 14 RPC (Dedication &amp; Devotion) R.32 (Candid &amp; fair dealing)</a:t>
            </a:r>
          </a:p>
          <a:p>
            <a:pPr algn="just"/>
            <a:r>
              <a:rPr dirty="0" lang="en-US"/>
              <a:t>*Or 34, Lagos Rules 2019 requires parties to a case to be diligent in the prosecution of their cases.</a:t>
            </a:r>
          </a:p>
          <a:p>
            <a:pPr algn="just"/>
            <a:r>
              <a:rPr dirty="0" lang="en-US"/>
              <a:t>* Grant of costs against an advocate personally</a:t>
            </a:r>
          </a:p>
          <a:p>
            <a:pPr algn="just"/>
            <a:r>
              <a:rPr dirty="0" lang="en-US"/>
              <a:t>BIOBARAKUMA DEGI-EREMIENYO &amp; ORS V. PDP &amp; ORS (SC 1/2020)-Where costs of about 10m were awarded personally against Applicants’ counsel</a:t>
            </a:r>
          </a:p>
          <a:p>
            <a:pPr algn="just"/>
            <a:r>
              <a:rPr dirty="0" lang="en-US"/>
              <a:t>*Or 53 R.14 Lagos Rules, 2019, Or 49 R 13 Abuja Rules, 2025 permit the grant of costs against a legal practitioner personally. See FORM 6 ABUJA RULES (CERTIFICATE OF PRE-ACTION COUNSELLING-ORD. 2 R.2 e &amp; 8)- “Should this matter turns out to be frivolous</a:t>
            </a:r>
            <a:r>
              <a:rPr dirty="0" lang="is-IS"/>
              <a:t>…</a:t>
            </a:r>
            <a:r>
              <a:rPr dirty="0" lang="en-US"/>
              <a:t>*Professional negligence actions.</a:t>
            </a:r>
          </a:p>
          <a:p>
            <a:endParaRPr dirty="0" lang="en-US"/>
          </a:p>
          <a:p>
            <a:pPr indent="0" marL="0">
              <a:buNone/>
            </a:pPr>
            <a:endParaRPr dirty="0"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590" name="Title 1"/>
          <p:cNvSpPr>
            <a:spLocks noGrp="1"/>
          </p:cNvSpPr>
          <p:nvPr>
            <p:ph type="title"/>
          </p:nvPr>
        </p:nvSpPr>
        <p:spPr/>
        <p:txBody>
          <a:bodyPr/>
          <a:p>
            <a:r>
              <a:rPr b="1" dirty="0" lang="en-US"/>
              <a:t>Meaning and Principle of Burden of Proof-General and Evidential Burden</a:t>
            </a:r>
          </a:p>
        </p:txBody>
      </p:sp>
      <p:sp>
        <p:nvSpPr>
          <p:cNvPr id="1048591" name="Content Placeholder 2"/>
          <p:cNvSpPr>
            <a:spLocks noGrp="1"/>
          </p:cNvSpPr>
          <p:nvPr>
            <p:ph idx="1"/>
          </p:nvPr>
        </p:nvSpPr>
        <p:spPr/>
        <p:txBody>
          <a:bodyPr>
            <a:normAutofit fontScale="94444" lnSpcReduction="20000"/>
          </a:bodyPr>
          <a:p>
            <a:pPr algn="just"/>
            <a:r>
              <a:rPr dirty="0" sz="3600" lang="en-US"/>
              <a:t>Burden- obligation. It is the obligation vested in parties to prove a particular fact or the case. It is classified into general (legal) and evidential burden.</a:t>
            </a:r>
          </a:p>
          <a:p>
            <a:pPr algn="just"/>
            <a:r>
              <a:rPr dirty="0" sz="3600" lang="en-US"/>
              <a:t>Legal burden-on the Plaintiff/Claimant/counter claimant-</a:t>
            </a:r>
          </a:p>
          <a:p>
            <a:pPr algn="just"/>
            <a:r>
              <a:rPr dirty="0" sz="3600" lang="en-US"/>
              <a:t>Ss. 131(1), 132 &amp; 133 (1) E. ACT, 2011-THIS DOES NOT SHIFT but may be altered by state of pleadings or presumptions</a:t>
            </a:r>
          </a:p>
          <a:p>
            <a:pPr algn="just"/>
            <a:r>
              <a:rPr dirty="0" sz="3600" lang="en-US"/>
              <a:t>Evidential Burden-any party who is bound to prove the existence of any fact- Ss, 131(2), 133 (2) &amp; 140 EA-This may shift. </a:t>
            </a:r>
          </a:p>
          <a:p>
            <a:endParaRPr dirty="0" sz="3600" lang="en-US"/>
          </a:p>
          <a:p>
            <a:pPr indent="0" marL="0">
              <a:buNone/>
            </a:pPr>
            <a:endParaRPr dirty="0" sz="3600" lang="en-US"/>
          </a:p>
          <a:p>
            <a:endParaRPr dirty="0" sz="3600" lang="en-US"/>
          </a:p>
          <a:p>
            <a:endParaRPr dirty="0" sz="3600"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586" name="Title 1"/>
          <p:cNvSpPr>
            <a:spLocks noGrp="1"/>
          </p:cNvSpPr>
          <p:nvPr>
            <p:ph type="title"/>
          </p:nvPr>
        </p:nvSpPr>
        <p:spPr/>
        <p:txBody>
          <a:bodyPr/>
          <a:p>
            <a:r>
              <a:rPr b="1" dirty="0" lang="en-US"/>
              <a:t>Standard of Proof</a:t>
            </a:r>
          </a:p>
        </p:txBody>
      </p:sp>
      <p:sp>
        <p:nvSpPr>
          <p:cNvPr id="1048587" name="Content Placeholder 2"/>
          <p:cNvSpPr>
            <a:spLocks noGrp="1"/>
          </p:cNvSpPr>
          <p:nvPr>
            <p:ph idx="1"/>
          </p:nvPr>
        </p:nvSpPr>
        <p:spPr/>
        <p:txBody>
          <a:bodyPr>
            <a:normAutofit/>
          </a:bodyPr>
          <a:p>
            <a:pPr algn="just"/>
            <a:r>
              <a:rPr dirty="0" lang="en-US"/>
              <a:t>Generally, on the preponderance of evidence or balance of probability. However, in circumstance where crime is alleged, is beyond reasonable doubt </a:t>
            </a:r>
          </a:p>
          <a:p>
            <a:r>
              <a:rPr dirty="0" lang="en-US"/>
              <a:t>S.135 (1) EA; NWOBODO V ONU; BENSON IKOKU V. ENOCH OLI</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588" name="Title 1"/>
          <p:cNvSpPr>
            <a:spLocks noGrp="1"/>
          </p:cNvSpPr>
          <p:nvPr>
            <p:ph type="title"/>
          </p:nvPr>
        </p:nvSpPr>
        <p:spPr/>
        <p:txBody>
          <a:bodyPr/>
          <a:p>
            <a:r>
              <a:rPr b="1" dirty="0" lang="en-US"/>
              <a:t>The Doctrine of Severance of Pleadings</a:t>
            </a:r>
          </a:p>
        </p:txBody>
      </p:sp>
      <p:sp>
        <p:nvSpPr>
          <p:cNvPr id="1048589" name="Content Placeholder 2"/>
          <p:cNvSpPr>
            <a:spLocks noGrp="1"/>
          </p:cNvSpPr>
          <p:nvPr>
            <p:ph idx="1"/>
          </p:nvPr>
        </p:nvSpPr>
        <p:spPr/>
        <p:txBody>
          <a:bodyPr>
            <a:normAutofit/>
          </a:bodyPr>
          <a:p>
            <a:r>
              <a:rPr dirty="0" lang="en-US"/>
              <a:t>Separating facts to be proved on the balance of probability &amp; facts to be proved beyond reasonable doubt.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592" name="Title 1"/>
          <p:cNvSpPr>
            <a:spLocks noGrp="1"/>
          </p:cNvSpPr>
          <p:nvPr>
            <p:ph type="title"/>
          </p:nvPr>
        </p:nvSpPr>
        <p:spPr>
          <a:xfrm>
            <a:off x="838200" y="216568"/>
            <a:ext cx="10515600" cy="697832"/>
          </a:xfrm>
        </p:spPr>
        <p:txBody>
          <a:bodyPr>
            <a:normAutofit fontScale="90000"/>
          </a:bodyPr>
          <a:p>
            <a:r>
              <a:rPr dirty="0" lang="en-US"/>
              <a:t>Competence and Compellability of Witnesses</a:t>
            </a:r>
            <a:br>
              <a:rPr dirty="0" lang="en-US"/>
            </a:br>
            <a:endParaRPr dirty="0" sz="1800" lang="en-US"/>
          </a:p>
        </p:txBody>
      </p:sp>
      <p:sp>
        <p:nvSpPr>
          <p:cNvPr id="1048593" name="Content Placeholder 2"/>
          <p:cNvSpPr>
            <a:spLocks noGrp="1"/>
          </p:cNvSpPr>
          <p:nvPr>
            <p:ph idx="1"/>
          </p:nvPr>
        </p:nvSpPr>
        <p:spPr>
          <a:xfrm>
            <a:off x="838200" y="757238"/>
            <a:ext cx="10515600" cy="5419725"/>
          </a:xfrm>
        </p:spPr>
        <p:txBody>
          <a:bodyPr>
            <a:noAutofit/>
          </a:bodyPr>
          <a:p>
            <a:pPr indent="0" marL="0">
              <a:buNone/>
            </a:pPr>
            <a:endParaRPr dirty="0" lang="en-US"/>
          </a:p>
          <a:p>
            <a:pPr indent="0" marL="0">
              <a:buNone/>
            </a:pPr>
            <a:r>
              <a:rPr dirty="0" lang="en-GB"/>
              <a:t>Meaning of Competence</a:t>
            </a:r>
          </a:p>
          <a:p>
            <a:pPr indent="0" marL="0">
              <a:buNone/>
            </a:pPr>
            <a:r>
              <a:rPr dirty="0" lang="en-GB"/>
              <a:t>It is the ability of a witness to testify in court in terms of intelligence.</a:t>
            </a:r>
            <a:endParaRPr dirty="0"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596" name="Title 1"/>
          <p:cNvSpPr>
            <a:spLocks noGrp="1"/>
          </p:cNvSpPr>
          <p:nvPr>
            <p:ph type="title"/>
          </p:nvPr>
        </p:nvSpPr>
        <p:spPr/>
        <p:txBody>
          <a:bodyPr/>
          <a:p>
            <a:r>
              <a:rPr b="1" dirty="0" lang="en-US"/>
              <a:t>Who is Competent to give Evidence-the Qualification and Conditions? </a:t>
            </a:r>
          </a:p>
        </p:txBody>
      </p:sp>
      <p:sp>
        <p:nvSpPr>
          <p:cNvPr id="1048597" name="Content Placeholder 2"/>
          <p:cNvSpPr>
            <a:spLocks noGrp="1"/>
          </p:cNvSpPr>
          <p:nvPr>
            <p:ph idx="1"/>
          </p:nvPr>
        </p:nvSpPr>
        <p:spPr/>
        <p:txBody>
          <a:bodyPr/>
          <a:p>
            <a:r>
              <a:rPr dirty="0" lang="en-US"/>
              <a:t>All persons are competent to testify unless they are prevented from:</a:t>
            </a:r>
          </a:p>
          <a:p>
            <a:pPr indent="0" marL="0">
              <a:buNone/>
            </a:pPr>
            <a:r>
              <a:rPr dirty="0" lang="en-US"/>
              <a:t>a)Understanding questions put to them, or b) Giving rational answers to those questions</a:t>
            </a:r>
          </a:p>
          <a:p>
            <a:pPr indent="0" marL="0">
              <a:buNone/>
            </a:pPr>
            <a:r>
              <a:rPr dirty="0" lang="en-US"/>
              <a:t>By reasons of:</a:t>
            </a:r>
          </a:p>
          <a:p>
            <a:pPr indent="0" marL="0">
              <a:buNone/>
            </a:pPr>
            <a:r>
              <a:rPr dirty="0" lang="en-US" err="1"/>
              <a:t>i</a:t>
            </a:r>
            <a:r>
              <a:rPr dirty="0" lang="en-US"/>
              <a:t>-Tender years; ii-extreme old age</a:t>
            </a:r>
          </a:p>
          <a:p>
            <a:pPr indent="0" marL="0">
              <a:buNone/>
            </a:pPr>
            <a:r>
              <a:rPr dirty="0" lang="en-US"/>
              <a:t>iii-Disease of the mind or body, or </a:t>
            </a:r>
          </a:p>
          <a:p>
            <a:pPr indent="0" marL="0">
              <a:buNone/>
            </a:pPr>
            <a:r>
              <a:rPr dirty="0" lang="en-US"/>
              <a:t>Iv-any other cause of the same kind.</a:t>
            </a:r>
          </a:p>
          <a:p>
            <a:pPr indent="0" marL="0">
              <a:buNone/>
            </a:pPr>
            <a:r>
              <a:rPr dirty="0" lang="en-US"/>
              <a:t>Sections 175 and 209 of the Evidence Act.</a:t>
            </a:r>
          </a:p>
          <a:p>
            <a:pPr indent="0" lvl="1" marL="228600">
              <a:buNone/>
            </a:pPr>
            <a:endParaRPr dirty="0" sz="2000" lang="en-US"/>
          </a:p>
          <a:p>
            <a:endParaRPr dirty="0"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55" name=""/>
        <p:cNvGrpSpPr/>
        <p:nvPr/>
      </p:nvGrpSpPr>
      <p:grpSpPr>
        <a:xfrm>
          <a:off x="0" y="0"/>
          <a:ext cx="0" cy="0"/>
          <a:chOff x="0" y="0"/>
          <a:chExt cx="0" cy="0"/>
        </a:xfrm>
      </p:grpSpPr>
      <p:sp>
        <p:nvSpPr>
          <p:cNvPr id="1048717" name="Title 1"/>
          <p:cNvSpPr>
            <a:spLocks noGrp="1"/>
          </p:cNvSpPr>
          <p:nvPr>
            <p:ph type="title"/>
          </p:nvPr>
        </p:nvSpPr>
        <p:spPr>
          <a:xfrm>
            <a:off x="838200" y="365125"/>
            <a:ext cx="10515600" cy="657559"/>
          </a:xfrm>
        </p:spPr>
        <p:txBody>
          <a:bodyPr>
            <a:normAutofit fontScale="97727"/>
          </a:bodyPr>
          <a:p>
            <a:pPr algn="ctr"/>
            <a:r>
              <a:rPr dirty="0" lang="en-US"/>
              <a:t>Meaning of Compellability.</a:t>
            </a:r>
          </a:p>
        </p:txBody>
      </p:sp>
      <p:sp>
        <p:nvSpPr>
          <p:cNvPr id="1048718" name="Content Placeholder 2"/>
          <p:cNvSpPr>
            <a:spLocks noGrp="1"/>
          </p:cNvSpPr>
          <p:nvPr>
            <p:ph idx="1"/>
          </p:nvPr>
        </p:nvSpPr>
        <p:spPr>
          <a:xfrm>
            <a:off x="838200" y="1263316"/>
            <a:ext cx="10515600" cy="4913647"/>
          </a:xfrm>
        </p:spPr>
        <p:txBody>
          <a:bodyPr>
            <a:normAutofit/>
          </a:bodyPr>
          <a:p>
            <a:pPr algn="just"/>
            <a:r>
              <a:rPr dirty="0" lang="en-US"/>
              <a:t>It is the obligation to testify .</a:t>
            </a:r>
            <a:endParaRPr b="1" dirty="0" lang="en-US"/>
          </a:p>
          <a:p>
            <a:pPr algn="just"/>
            <a:r>
              <a:rPr b="1" dirty="0" lang="en-US"/>
              <a:t>Compellable witnesses</a:t>
            </a:r>
            <a:r>
              <a:rPr dirty="0" lang="en-US"/>
              <a:t>-Those that can be forced to appear either by subpoena or witness summons, and testify in court</a:t>
            </a:r>
          </a:p>
          <a:p>
            <a:pPr algn="just"/>
            <a:r>
              <a:rPr dirty="0" lang="en-US"/>
              <a:t>All compellable witnesses are competent but not all competent witnesses are compellable</a:t>
            </a:r>
          </a:p>
          <a:p>
            <a:pPr algn="just"/>
            <a:r>
              <a:rPr dirty="0" lang="en-US"/>
              <a:t>*A compellable witness who is summoned but refused to appear, may be punished for contempt.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719" name="Title 1"/>
          <p:cNvSpPr>
            <a:spLocks noGrp="1"/>
          </p:cNvSpPr>
          <p:nvPr>
            <p:ph type="title"/>
          </p:nvPr>
        </p:nvSpPr>
        <p:spPr>
          <a:xfrm>
            <a:off x="838200" y="365125"/>
            <a:ext cx="10515600" cy="669591"/>
          </a:xfrm>
        </p:spPr>
        <p:txBody>
          <a:bodyPr>
            <a:normAutofit/>
          </a:bodyPr>
          <a:p>
            <a:pPr algn="ctr"/>
            <a:r>
              <a:rPr b="1" dirty="0" lang="en-US"/>
              <a:t>Persons who are non-compellable</a:t>
            </a:r>
          </a:p>
        </p:txBody>
      </p:sp>
      <p:sp>
        <p:nvSpPr>
          <p:cNvPr id="1048720" name="Content Placeholder 2"/>
          <p:cNvSpPr>
            <a:spLocks noGrp="1"/>
          </p:cNvSpPr>
          <p:nvPr>
            <p:ph idx="1"/>
          </p:nvPr>
        </p:nvSpPr>
        <p:spPr>
          <a:xfrm>
            <a:off x="838200" y="1034716"/>
            <a:ext cx="10515600" cy="5142247"/>
          </a:xfrm>
        </p:spPr>
        <p:txBody>
          <a:bodyPr>
            <a:normAutofit lnSpcReduction="10000"/>
          </a:bodyPr>
          <a:p>
            <a:pPr algn="just" indent="0" marL="0">
              <a:buNone/>
            </a:pPr>
            <a:r>
              <a:rPr dirty="0" lang="en-US"/>
              <a:t>1.Those with Constitutional immunity-S.308 CFRN’99</a:t>
            </a:r>
          </a:p>
          <a:p>
            <a:pPr algn="just" indent="0" marL="0">
              <a:buNone/>
            </a:pPr>
            <a:r>
              <a:rPr dirty="0" lang="en-US"/>
              <a:t>H/E-By A.D V FAYOSE (2004) ALL FWLR (PT. 214)</a:t>
            </a:r>
          </a:p>
          <a:p>
            <a:pPr algn="just" indent="0" marL="0">
              <a:buNone/>
            </a:pPr>
            <a:r>
              <a:rPr dirty="0" lang="en-US"/>
              <a:t>-They can be compelled by subpoena in election matters/tribunal</a:t>
            </a:r>
          </a:p>
          <a:p>
            <a:pPr algn="just" indent="0" marL="0">
              <a:buNone/>
            </a:pPr>
            <a:r>
              <a:rPr dirty="0" lang="en-US"/>
              <a:t>2.Diplomats-Ss.1 (1), 3,4 DIPA 1962-ISHOLA NOAH V BRITISH HC (1980) 8-11 SC</a:t>
            </a:r>
          </a:p>
          <a:p>
            <a:pPr algn="just" indent="-457200" marL="457200">
              <a:buAutoNum type="arabicPeriod" startAt="3"/>
            </a:pPr>
            <a:r>
              <a:rPr dirty="0" lang="en-US"/>
              <a:t>Judges &amp; Magistrates &amp; Lawyers-In relation to their conduct as judges and magistrates -S.188 EA.</a:t>
            </a:r>
          </a:p>
          <a:p>
            <a:pPr algn="just" indent="0" marL="0">
              <a:buNone/>
            </a:pPr>
            <a:r>
              <a:rPr dirty="0" lang="en-US"/>
              <a:t>4. Affairs of State-S.190 EA.</a:t>
            </a:r>
          </a:p>
          <a:p>
            <a:pPr algn="just" indent="0" marL="0">
              <a:buNone/>
            </a:pPr>
            <a:r>
              <a:rPr dirty="0" lang="en-US"/>
              <a:t>5. Official Communication-S.191 EA.</a:t>
            </a:r>
          </a:p>
          <a:p>
            <a:pPr algn="just" indent="0" marL="0">
              <a:buNone/>
            </a:pPr>
            <a:r>
              <a:rPr dirty="0" lang="en-US"/>
              <a:t>6. Privilege Communication-S.192 EA.</a:t>
            </a:r>
          </a:p>
          <a:p>
            <a:pPr algn="just" indent="0" marL="0">
              <a:buNone/>
            </a:pPr>
            <a:r>
              <a:rPr dirty="0" lang="en-US"/>
              <a:t>7. Husband/Wife-Communication during marriage. S. 182 (3) EA.</a:t>
            </a:r>
          </a:p>
          <a:p>
            <a:endParaRPr dirty="0" lang="en-US"/>
          </a:p>
          <a:p>
            <a:pPr indent="0" marL="0">
              <a:buNone/>
            </a:pPr>
            <a:endParaRPr dirty="0" lang="en-US"/>
          </a:p>
          <a:p>
            <a:endParaRPr dirty="0"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57" name=""/>
        <p:cNvGrpSpPr/>
        <p:nvPr/>
      </p:nvGrpSpPr>
      <p:grpSpPr>
        <a:xfrm>
          <a:off x="0" y="0"/>
          <a:ext cx="0" cy="0"/>
          <a:chOff x="0" y="0"/>
          <a:chExt cx="0" cy="0"/>
        </a:xfrm>
      </p:grpSpPr>
      <p:sp>
        <p:nvSpPr>
          <p:cNvPr id="1048721" name="Title 1"/>
          <p:cNvSpPr>
            <a:spLocks noGrp="1"/>
          </p:cNvSpPr>
          <p:nvPr>
            <p:ph type="title"/>
          </p:nvPr>
        </p:nvSpPr>
        <p:spPr/>
        <p:txBody>
          <a:bodyPr/>
          <a:p>
            <a:endParaRPr dirty="0" lang="en-US"/>
          </a:p>
        </p:txBody>
      </p:sp>
      <p:sp>
        <p:nvSpPr>
          <p:cNvPr id="1048722" name="Content Placeholder 2"/>
          <p:cNvSpPr>
            <a:spLocks noGrp="1"/>
          </p:cNvSpPr>
          <p:nvPr>
            <p:ph idx="1"/>
          </p:nvPr>
        </p:nvSpPr>
        <p:spPr/>
        <p:txBody>
          <a:bodyPr>
            <a:normAutofit lnSpcReduction="10000"/>
          </a:bodyPr>
          <a:p>
            <a:pPr algn="just" indent="0" marL="0">
              <a:buNone/>
            </a:pPr>
            <a:r>
              <a:rPr b="1" dirty="0" lang="en-US"/>
              <a:t>Note the </a:t>
            </a:r>
            <a:r>
              <a:rPr b="1" dirty="0" lang="en-US" smtClean="0"/>
              <a:t>Exceptions</a:t>
            </a:r>
          </a:p>
          <a:p>
            <a:pPr algn="just"/>
            <a:r>
              <a:rPr dirty="0" lang="en-US" smtClean="0"/>
              <a:t>Those with immunity</a:t>
            </a:r>
          </a:p>
          <a:p>
            <a:pPr algn="just"/>
            <a:r>
              <a:rPr dirty="0" lang="en-US" smtClean="0"/>
              <a:t>They </a:t>
            </a:r>
            <a:r>
              <a:rPr dirty="0" lang="en-US"/>
              <a:t>can be compelled in Election Petition cases</a:t>
            </a:r>
          </a:p>
          <a:p>
            <a:pPr algn="just"/>
            <a:r>
              <a:rPr dirty="0" lang="en-US"/>
              <a:t>A.D V FAYOSE</a:t>
            </a:r>
          </a:p>
          <a:p>
            <a:pPr algn="just"/>
            <a:r>
              <a:rPr dirty="0" lang="en-US"/>
              <a:t>Diplomats</a:t>
            </a:r>
          </a:p>
          <a:p>
            <a:pPr algn="just"/>
            <a:r>
              <a:rPr dirty="0" lang="en-US"/>
              <a:t>In causes relating to professional/commercial activities</a:t>
            </a:r>
          </a:p>
          <a:p>
            <a:pPr algn="just"/>
            <a:r>
              <a:rPr dirty="0" lang="en-US"/>
              <a:t>ZABUSKY V ISRAEL AIRCRAFT IND. (2007) ALL FWLR (PT.352)</a:t>
            </a:r>
          </a:p>
          <a:p>
            <a:pPr algn="just"/>
            <a:r>
              <a:rPr dirty="0" lang="en-US"/>
              <a:t>Judges &amp; Mag. Except by order of HC</a:t>
            </a:r>
          </a:p>
          <a:p>
            <a:pPr algn="just"/>
            <a:r>
              <a:rPr dirty="0" lang="en-US"/>
              <a:t>Except by the order of HC/FHC</a:t>
            </a:r>
          </a:p>
          <a:p>
            <a:endParaRPr dirty="0"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58" name=""/>
        <p:cNvGrpSpPr/>
        <p:nvPr/>
      </p:nvGrpSpPr>
      <p:grpSpPr>
        <a:xfrm>
          <a:off x="0" y="0"/>
          <a:ext cx="0" cy="0"/>
          <a:chOff x="0" y="0"/>
          <a:chExt cx="0" cy="0"/>
        </a:xfrm>
      </p:grpSpPr>
      <p:sp>
        <p:nvSpPr>
          <p:cNvPr id="1048723" name="Title 1"/>
          <p:cNvSpPr>
            <a:spLocks noGrp="1"/>
          </p:cNvSpPr>
          <p:nvPr>
            <p:ph type="title"/>
          </p:nvPr>
        </p:nvSpPr>
        <p:spPr/>
        <p:txBody>
          <a:bodyPr/>
          <a:p>
            <a:pPr algn="ctr"/>
            <a:r>
              <a:rPr b="1" dirty="0" lang="en-US"/>
              <a:t>Preparation of Evidence of Special Witnesses- Experts,  Children and Hostile Witnesses</a:t>
            </a:r>
            <a:endParaRPr dirty="0" lang="en-US"/>
          </a:p>
        </p:txBody>
      </p:sp>
      <p:sp>
        <p:nvSpPr>
          <p:cNvPr id="1048724" name="Content Placeholder 2"/>
          <p:cNvSpPr>
            <a:spLocks noGrp="1"/>
          </p:cNvSpPr>
          <p:nvPr>
            <p:ph idx="1"/>
          </p:nvPr>
        </p:nvSpPr>
        <p:spPr/>
        <p:txBody>
          <a:bodyPr/>
          <a:p>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725" name="Title 1"/>
          <p:cNvSpPr>
            <a:spLocks noGrp="1"/>
          </p:cNvSpPr>
          <p:nvPr>
            <p:ph type="title"/>
          </p:nvPr>
        </p:nvSpPr>
        <p:spPr/>
        <p:txBody>
          <a:bodyPr/>
          <a:p>
            <a:pPr algn="ctr"/>
            <a:r>
              <a:rPr b="1" dirty="0" lang="en-US" smtClean="0"/>
              <a:t>Children</a:t>
            </a:r>
            <a:endParaRPr b="1" dirty="0" lang="en-US"/>
          </a:p>
        </p:txBody>
      </p:sp>
      <p:sp>
        <p:nvSpPr>
          <p:cNvPr id="1048726" name="Content Placeholder 2"/>
          <p:cNvSpPr>
            <a:spLocks noGrp="1"/>
          </p:cNvSpPr>
          <p:nvPr>
            <p:ph idx="1"/>
          </p:nvPr>
        </p:nvSpPr>
        <p:spPr/>
        <p:txBody>
          <a:bodyPr>
            <a:normAutofit/>
          </a:bodyPr>
          <a:p>
            <a:pPr algn="just"/>
            <a:r>
              <a:rPr dirty="0" sz="2400" lang="en-US" smtClean="0"/>
              <a:t>Who </a:t>
            </a:r>
            <a:r>
              <a:rPr dirty="0" sz="2400" lang="en-US"/>
              <a:t>is a child?</a:t>
            </a:r>
          </a:p>
          <a:p>
            <a:pPr algn="just"/>
            <a:r>
              <a:rPr dirty="0" sz="2400" lang="en-US">
                <a:solidFill>
                  <a:srgbClr val="00B0F0"/>
                </a:solidFill>
              </a:rPr>
              <a:t>S.2, Children &amp; Y.P Act Cap 485,Laws of F.C.T (2007); S. 2, Ch &amp; Y.P Law, Laws of Lagos State; OKON VS THE STATE-Define a child as a person below 14 years of age</a:t>
            </a:r>
          </a:p>
          <a:p>
            <a:pPr algn="just"/>
            <a:r>
              <a:rPr dirty="0" sz="2400" lang="en-US"/>
              <a:t>S. 209 E.A –Allows the reception of evidence of a child below 14, but should not be on oath  and on the condition that:</a:t>
            </a:r>
          </a:p>
          <a:p>
            <a:pPr algn="just"/>
            <a:r>
              <a:rPr dirty="0" sz="2400" lang="en-US"/>
              <a:t>a. he possessed sufficient intelligence, and</a:t>
            </a:r>
          </a:p>
          <a:p>
            <a:pPr algn="just"/>
            <a:r>
              <a:rPr dirty="0" sz="2400" lang="en-US" err="1"/>
              <a:t>b.understands</a:t>
            </a:r>
            <a:r>
              <a:rPr dirty="0" sz="2400" lang="en-US"/>
              <a:t> d duty of speaking d truth.</a:t>
            </a:r>
          </a:p>
          <a:p>
            <a:endParaRPr dirty="0" sz="2400" lang="en-US"/>
          </a:p>
          <a:p>
            <a:endParaRPr dirty="0" sz="2400" lang="en-US"/>
          </a:p>
          <a:p>
            <a:endParaRPr dirty="0" sz="2400" lang="en-US"/>
          </a:p>
          <a:p>
            <a:pPr indent="0" marL="0">
              <a:buNone/>
            </a:pPr>
            <a:endParaRPr dirty="0" sz="3200"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60" name=""/>
        <p:cNvGrpSpPr/>
        <p:nvPr/>
      </p:nvGrpSpPr>
      <p:grpSpPr>
        <a:xfrm>
          <a:off x="0" y="0"/>
          <a:ext cx="0" cy="0"/>
          <a:chOff x="0" y="0"/>
          <a:chExt cx="0" cy="0"/>
        </a:xfrm>
      </p:grpSpPr>
      <p:sp>
        <p:nvSpPr>
          <p:cNvPr id="1048727" name="Title 1"/>
          <p:cNvSpPr>
            <a:spLocks noGrp="1"/>
          </p:cNvSpPr>
          <p:nvPr>
            <p:ph type="title"/>
          </p:nvPr>
        </p:nvSpPr>
        <p:spPr/>
        <p:txBody>
          <a:bodyPr/>
          <a:p>
            <a:endParaRPr dirty="0" lang="en-US"/>
          </a:p>
        </p:txBody>
      </p:sp>
      <p:sp>
        <p:nvSpPr>
          <p:cNvPr id="1048728" name="Content Placeholder 2"/>
          <p:cNvSpPr>
            <a:spLocks noGrp="1"/>
          </p:cNvSpPr>
          <p:nvPr>
            <p:ph idx="1"/>
          </p:nvPr>
        </p:nvSpPr>
        <p:spPr/>
        <p:txBody>
          <a:bodyPr>
            <a:normAutofit/>
          </a:bodyPr>
          <a:p>
            <a:pPr algn="just"/>
            <a:r>
              <a:rPr dirty="0" lang="en-US"/>
              <a:t>S. 209 E.A –Allows the reception of evidence of a person of 14 </a:t>
            </a:r>
            <a:r>
              <a:rPr dirty="0" lang="en-US" err="1"/>
              <a:t>yrs</a:t>
            </a:r>
            <a:r>
              <a:rPr dirty="0" lang="en-US"/>
              <a:t> or more on oath, subject to Ss. 175 &amp; 208 E.A.</a:t>
            </a:r>
          </a:p>
          <a:p>
            <a:pPr algn="just"/>
            <a:r>
              <a:rPr dirty="0" lang="en-US"/>
              <a:t>(S.208-exceptions to taking oath)</a:t>
            </a:r>
          </a:p>
          <a:p>
            <a:pPr algn="just"/>
            <a:r>
              <a:rPr dirty="0" lang="en-US"/>
              <a:t>IBRAHIM V THE STATE (2014) LPELR; IMAUEN V. THE STATE(2014) LPELR</a:t>
            </a:r>
          </a:p>
          <a:p>
            <a:endParaRPr dirty="0" lang="en-US"/>
          </a:p>
          <a:p>
            <a:endParaRPr dirty="0"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61" name=""/>
        <p:cNvGrpSpPr/>
        <p:nvPr/>
      </p:nvGrpSpPr>
      <p:grpSpPr>
        <a:xfrm>
          <a:off x="0" y="0"/>
          <a:ext cx="0" cy="0"/>
          <a:chOff x="0" y="0"/>
          <a:chExt cx="0" cy="0"/>
        </a:xfrm>
      </p:grpSpPr>
      <p:sp>
        <p:nvSpPr>
          <p:cNvPr id="1048729" name="Title 1"/>
          <p:cNvSpPr>
            <a:spLocks noGrp="1"/>
          </p:cNvSpPr>
          <p:nvPr>
            <p:ph type="title"/>
          </p:nvPr>
        </p:nvSpPr>
        <p:spPr/>
        <p:txBody>
          <a:bodyPr/>
          <a:p>
            <a:pPr algn="ctr"/>
            <a:r>
              <a:rPr b="1" dirty="0" lang="en-US"/>
              <a:t>Expert Witness</a:t>
            </a:r>
            <a:br>
              <a:rPr b="1" dirty="0" lang="en-US"/>
            </a:br>
            <a:endParaRPr dirty="0" lang="en-US"/>
          </a:p>
        </p:txBody>
      </p:sp>
      <p:sp>
        <p:nvSpPr>
          <p:cNvPr id="1048730" name="Content Placeholder 2"/>
          <p:cNvSpPr>
            <a:spLocks noGrp="1"/>
          </p:cNvSpPr>
          <p:nvPr>
            <p:ph idx="1"/>
          </p:nvPr>
        </p:nvSpPr>
        <p:spPr/>
        <p:txBody>
          <a:bodyPr/>
          <a:p>
            <a:pPr algn="just"/>
            <a:r>
              <a:rPr dirty="0" lang="en-US" smtClean="0"/>
              <a:t>Admissible-Ss.68-76 </a:t>
            </a:r>
            <a:r>
              <a:rPr dirty="0" lang="en-US"/>
              <a:t>EA</a:t>
            </a:r>
          </a:p>
          <a:p>
            <a:pPr algn="just"/>
            <a:r>
              <a:rPr dirty="0" lang="en-US"/>
              <a:t>Persons </a:t>
            </a:r>
            <a:r>
              <a:rPr b="1" dirty="0" lang="en-US"/>
              <a:t>SPECIALLY SKILLED</a:t>
            </a:r>
            <a:r>
              <a:rPr dirty="0" lang="en-US"/>
              <a:t> in foreign law, custom/customary law, science or art, handwriting/finger impressions</a:t>
            </a:r>
            <a:r>
              <a:rPr dirty="0" lang="en-US" smtClean="0"/>
              <a:t>.</a:t>
            </a:r>
          </a:p>
          <a:p>
            <a:pPr algn="just" indent="0" marL="0">
              <a:buNone/>
            </a:pPr>
            <a:r>
              <a:rPr b="1" dirty="0" lang="en-US"/>
              <a:t>Expert Witness-Conditions</a:t>
            </a:r>
          </a:p>
          <a:p>
            <a:pPr algn="just"/>
            <a:r>
              <a:rPr dirty="0" lang="en-US"/>
              <a:t>The witness must:</a:t>
            </a:r>
          </a:p>
          <a:p>
            <a:pPr algn="just"/>
            <a:r>
              <a:rPr dirty="0" lang="en-US"/>
              <a:t>a. establish his qualification/experience;</a:t>
            </a:r>
          </a:p>
          <a:p>
            <a:pPr algn="just"/>
            <a:r>
              <a:rPr dirty="0" lang="en-US" err="1"/>
              <a:t>b.evidence</a:t>
            </a:r>
            <a:r>
              <a:rPr dirty="0" lang="en-US"/>
              <a:t> must be restricted to his area of specialization</a:t>
            </a:r>
          </a:p>
          <a:p>
            <a:pPr algn="just"/>
            <a:r>
              <a:rPr dirty="0" lang="en-US" err="1"/>
              <a:t>c.the</a:t>
            </a:r>
            <a:r>
              <a:rPr dirty="0" lang="en-US"/>
              <a:t> opinion must be based on proved facts</a:t>
            </a:r>
          </a:p>
          <a:p>
            <a:endParaRPr dirty="0" lang="en-US"/>
          </a:p>
          <a:p>
            <a:pPr algn="just"/>
            <a:endParaRPr dirty="0" lang="en-US"/>
          </a:p>
          <a:p>
            <a:endParaRPr dirty="0"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731" name="Title 1"/>
          <p:cNvSpPr>
            <a:spLocks noGrp="1"/>
          </p:cNvSpPr>
          <p:nvPr>
            <p:ph type="title"/>
          </p:nvPr>
        </p:nvSpPr>
        <p:spPr/>
        <p:txBody>
          <a:bodyPr/>
          <a:p>
            <a:pPr algn="ctr"/>
            <a:r>
              <a:rPr b="1" dirty="0" lang="en-US">
                <a:cs typeface="Times New Roman" panose="02020603050405020304" pitchFamily="18" charset="0"/>
              </a:rPr>
              <a:t>HOSTILE WITNESS</a:t>
            </a:r>
            <a:endParaRPr dirty="0" lang="en-US"/>
          </a:p>
        </p:txBody>
      </p:sp>
      <p:sp>
        <p:nvSpPr>
          <p:cNvPr id="1048732" name="Content Placeholder 2"/>
          <p:cNvSpPr>
            <a:spLocks noGrp="1"/>
          </p:cNvSpPr>
          <p:nvPr>
            <p:ph idx="1"/>
          </p:nvPr>
        </p:nvSpPr>
        <p:spPr/>
        <p:txBody>
          <a:bodyPr>
            <a:normAutofit lnSpcReduction="10000"/>
          </a:bodyPr>
          <a:p>
            <a:pPr algn="just"/>
            <a:endParaRPr b="1" dirty="0" sz="2400" lang="en-US">
              <a:latin typeface="Times New Roman" panose="02020603050405020304" pitchFamily="18" charset="0"/>
              <a:cs typeface="Times New Roman" panose="02020603050405020304" pitchFamily="18" charset="0"/>
            </a:endParaRPr>
          </a:p>
          <a:p>
            <a:pPr algn="just" indent="0" marL="0">
              <a:buNone/>
            </a:pPr>
            <a:r>
              <a:rPr dirty="0" lang="en-US" smtClean="0">
                <a:latin typeface="Times New Roman" panose="02020603050405020304" pitchFamily="18" charset="0"/>
                <a:cs typeface="Times New Roman" panose="02020603050405020304" pitchFamily="18" charset="0"/>
              </a:rPr>
              <a:t>Who </a:t>
            </a:r>
            <a:r>
              <a:rPr dirty="0" lang="en-US">
                <a:latin typeface="Times New Roman" panose="02020603050405020304" pitchFamily="18" charset="0"/>
                <a:cs typeface="Times New Roman" panose="02020603050405020304" pitchFamily="18" charset="0"/>
              </a:rPr>
              <a:t>is a HW?</a:t>
            </a:r>
          </a:p>
          <a:p>
            <a:pPr algn="just"/>
            <a:r>
              <a:rPr dirty="0" lang="en-US">
                <a:latin typeface="Times New Roman" panose="02020603050405020304" pitchFamily="18" charset="0"/>
                <a:cs typeface="Times New Roman" panose="02020603050405020304" pitchFamily="18" charset="0"/>
              </a:rPr>
              <a:t>A witness who becomes hostile to the party who calls him by either refusing to testify or answer questions or answer them correctly.</a:t>
            </a:r>
          </a:p>
          <a:p>
            <a:pPr algn="just"/>
            <a:r>
              <a:rPr dirty="0" lang="en-US">
                <a:latin typeface="Times New Roman" panose="02020603050405020304" pitchFamily="18" charset="0"/>
                <a:cs typeface="Times New Roman" panose="02020603050405020304" pitchFamily="18" charset="0"/>
              </a:rPr>
              <a:t>S. 230 E.A</a:t>
            </a:r>
          </a:p>
          <a:p>
            <a:pPr algn="just"/>
            <a:r>
              <a:rPr b="1" dirty="0" lang="en-US" err="1">
                <a:latin typeface="Times New Roman" panose="02020603050405020304" pitchFamily="18" charset="0"/>
                <a:cs typeface="Times New Roman" panose="02020603050405020304" pitchFamily="18" charset="0"/>
              </a:rPr>
              <a:t>Esan</a:t>
            </a:r>
            <a:r>
              <a:rPr b="1" dirty="0" lang="en-US">
                <a:latin typeface="Times New Roman" panose="02020603050405020304" pitchFamily="18" charset="0"/>
                <a:cs typeface="Times New Roman" panose="02020603050405020304" pitchFamily="18" charset="0"/>
              </a:rPr>
              <a:t> v. The State; </a:t>
            </a:r>
            <a:r>
              <a:rPr b="1" dirty="0" lang="en-US" err="1">
                <a:latin typeface="Times New Roman" panose="02020603050405020304" pitchFamily="18" charset="0"/>
                <a:cs typeface="Times New Roman" panose="02020603050405020304" pitchFamily="18" charset="0"/>
              </a:rPr>
              <a:t>Babatunde</a:t>
            </a:r>
            <a:r>
              <a:rPr b="1" dirty="0" lang="en-US">
                <a:latin typeface="Times New Roman" panose="02020603050405020304" pitchFamily="18" charset="0"/>
                <a:cs typeface="Times New Roman" panose="02020603050405020304" pitchFamily="18" charset="0"/>
              </a:rPr>
              <a:t> v. State; </a:t>
            </a:r>
            <a:r>
              <a:rPr b="1" dirty="0" lang="en-US" err="1">
                <a:latin typeface="Times New Roman" panose="02020603050405020304" pitchFamily="18" charset="0"/>
                <a:cs typeface="Times New Roman" panose="02020603050405020304" pitchFamily="18" charset="0"/>
              </a:rPr>
              <a:t>Gaji</a:t>
            </a:r>
            <a:r>
              <a:rPr b="1" dirty="0" lang="en-US">
                <a:latin typeface="Times New Roman" panose="02020603050405020304" pitchFamily="18" charset="0"/>
                <a:cs typeface="Times New Roman" panose="02020603050405020304" pitchFamily="18" charset="0"/>
              </a:rPr>
              <a:t> v. The State</a:t>
            </a:r>
          </a:p>
          <a:p>
            <a:pPr algn="just"/>
            <a:r>
              <a:rPr dirty="0" lang="en-US">
                <a:latin typeface="Times New Roman" panose="02020603050405020304" pitchFamily="18" charset="0"/>
                <a:cs typeface="Times New Roman" panose="02020603050405020304" pitchFamily="18" charset="0"/>
              </a:rPr>
              <a:t>Treatment of a Hostile Witness</a:t>
            </a:r>
          </a:p>
          <a:p>
            <a:pPr algn="just"/>
            <a:r>
              <a:rPr dirty="0" lang="en-US">
                <a:latin typeface="Times New Roman" panose="02020603050405020304" pitchFamily="18" charset="0"/>
                <a:cs typeface="Times New Roman" panose="02020603050405020304" pitchFamily="18" charset="0"/>
              </a:rPr>
              <a:t>*Who declares a witness hostile?</a:t>
            </a:r>
          </a:p>
          <a:p>
            <a:pPr algn="just"/>
            <a:r>
              <a:rPr dirty="0" lang="en-US">
                <a:latin typeface="Times New Roman" panose="02020603050405020304" pitchFamily="18" charset="0"/>
                <a:cs typeface="Times New Roman" panose="02020603050405020304" pitchFamily="18" charset="0"/>
              </a:rPr>
              <a:t>*What becomes of the evidence of a HW?-</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8733" name="Title 1"/>
          <p:cNvSpPr>
            <a:spLocks noGrp="1"/>
          </p:cNvSpPr>
          <p:nvPr>
            <p:ph type="title"/>
          </p:nvPr>
        </p:nvSpPr>
        <p:spPr>
          <a:xfrm>
            <a:off x="300789" y="365125"/>
            <a:ext cx="11381874" cy="1325563"/>
          </a:xfrm>
        </p:spPr>
        <p:txBody>
          <a:bodyPr>
            <a:normAutofit/>
          </a:bodyPr>
          <a:p>
            <a:pPr algn="ctr"/>
            <a:r>
              <a:rPr b="1" dirty="0" lang="en-US"/>
              <a:t>Processes for Compelling the Attendance of Witnesses in Court-Subpoenas and Witness Summons</a:t>
            </a:r>
          </a:p>
        </p:txBody>
      </p:sp>
      <p:sp>
        <p:nvSpPr>
          <p:cNvPr id="1048734" name="Content Placeholder 2"/>
          <p:cNvSpPr>
            <a:spLocks noGrp="1"/>
          </p:cNvSpPr>
          <p:nvPr>
            <p:ph idx="1"/>
          </p:nvPr>
        </p:nvSpPr>
        <p:spPr/>
        <p:txBody>
          <a:bodyPr>
            <a:normAutofit/>
          </a:bodyPr>
          <a:p>
            <a:r>
              <a:rPr dirty="0" lang="en-US"/>
              <a:t>Securing the appearance of a witness in court is through</a:t>
            </a:r>
          </a:p>
          <a:p>
            <a:pPr indent="-571500" marL="571500">
              <a:buAutoNum type="romanLcPeriod"/>
            </a:pPr>
            <a:r>
              <a:rPr dirty="0" lang="en-US"/>
              <a:t>Subpoena</a:t>
            </a:r>
          </a:p>
          <a:p>
            <a:pPr indent="-571500" marL="571500">
              <a:buAutoNum type="romanLcPeriod"/>
            </a:pPr>
            <a:r>
              <a:rPr dirty="0" lang="en-US"/>
              <a:t>Witness Summons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sp>
        <p:nvSpPr>
          <p:cNvPr id="1048735" name="Title 1"/>
          <p:cNvSpPr>
            <a:spLocks noGrp="1"/>
          </p:cNvSpPr>
          <p:nvPr>
            <p:ph type="title"/>
          </p:nvPr>
        </p:nvSpPr>
        <p:spPr/>
        <p:txBody>
          <a:bodyPr/>
          <a:p>
            <a:pPr algn="ctr"/>
            <a:r>
              <a:rPr b="1" dirty="0" lang="en-US"/>
              <a:t>Subpoena</a:t>
            </a:r>
          </a:p>
        </p:txBody>
      </p:sp>
      <p:sp>
        <p:nvSpPr>
          <p:cNvPr id="1048736" name="Content Placeholder 2"/>
          <p:cNvSpPr>
            <a:spLocks noGrp="1"/>
          </p:cNvSpPr>
          <p:nvPr>
            <p:ph idx="1"/>
          </p:nvPr>
        </p:nvSpPr>
        <p:spPr/>
        <p:txBody>
          <a:bodyPr>
            <a:normAutofit/>
          </a:bodyPr>
          <a:p>
            <a:pPr algn="just"/>
            <a:r>
              <a:rPr dirty="0" lang="en-US"/>
              <a:t>A writ requiring the attendance of a witness in court</a:t>
            </a:r>
          </a:p>
          <a:p>
            <a:pPr algn="just"/>
            <a:r>
              <a:rPr dirty="0" lang="en-US"/>
              <a:t>Ord. 36 R.16, Lagos Rules 2019 (Forms 27,28 &amp; 29), Ord. 40 R. 20 Abuja Rules 2025 (Forms 24, 25 and 26). It is usually used at the High Court.</a:t>
            </a:r>
          </a:p>
          <a:p>
            <a:pPr indent="0" marL="0">
              <a:buNone/>
            </a:pPr>
            <a:endParaRPr dirty="0"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737" name="Title 1"/>
          <p:cNvSpPr>
            <a:spLocks noGrp="1"/>
          </p:cNvSpPr>
          <p:nvPr>
            <p:ph type="title"/>
          </p:nvPr>
        </p:nvSpPr>
        <p:spPr/>
        <p:txBody>
          <a:bodyPr/>
          <a:p>
            <a:pPr algn="ctr"/>
            <a:r>
              <a:rPr b="1" dirty="0" lang="en-US"/>
              <a:t>Types of Subpoena</a:t>
            </a:r>
          </a:p>
        </p:txBody>
      </p:sp>
      <p:sp>
        <p:nvSpPr>
          <p:cNvPr id="1048738" name="Content Placeholder 2"/>
          <p:cNvSpPr>
            <a:spLocks noGrp="1"/>
          </p:cNvSpPr>
          <p:nvPr>
            <p:ph idx="1"/>
          </p:nvPr>
        </p:nvSpPr>
        <p:spPr/>
        <p:txBody>
          <a:bodyPr>
            <a:noAutofit/>
          </a:bodyPr>
          <a:p>
            <a:r>
              <a:rPr b="1" dirty="0" lang="en-US"/>
              <a:t>There are t</a:t>
            </a:r>
            <a:r>
              <a:rPr dirty="0" lang="en-US"/>
              <a:t>hree types:</a:t>
            </a:r>
          </a:p>
          <a:p>
            <a:r>
              <a:rPr dirty="0" lang="en-US"/>
              <a:t>A. Subpoena ad </a:t>
            </a:r>
            <a:r>
              <a:rPr dirty="0" lang="en-US" err="1"/>
              <a:t>testificandum</a:t>
            </a:r>
            <a:r>
              <a:rPr dirty="0" lang="en-US"/>
              <a:t>.</a:t>
            </a:r>
          </a:p>
          <a:p>
            <a:r>
              <a:rPr dirty="0" lang="en-US"/>
              <a:t>B. Subpoena </a:t>
            </a:r>
            <a:r>
              <a:rPr dirty="0" lang="en-US" err="1"/>
              <a:t>duces</a:t>
            </a:r>
            <a:r>
              <a:rPr dirty="0" lang="en-US"/>
              <a:t> </a:t>
            </a:r>
            <a:r>
              <a:rPr dirty="0" lang="en-US" err="1"/>
              <a:t>tecum</a:t>
            </a:r>
            <a:r>
              <a:rPr dirty="0" lang="en-US"/>
              <a:t>. S. 219 E.A.</a:t>
            </a:r>
          </a:p>
          <a:p>
            <a:r>
              <a:rPr dirty="0" lang="en-US"/>
              <a:t>C. Subpoena ad </a:t>
            </a:r>
            <a:r>
              <a:rPr dirty="0" lang="en-US" err="1"/>
              <a:t>testificandum</a:t>
            </a:r>
            <a:r>
              <a:rPr dirty="0" lang="en-US"/>
              <a:t> et deuces </a:t>
            </a:r>
            <a:r>
              <a:rPr dirty="0" lang="en-US" err="1"/>
              <a:t>tecum</a:t>
            </a:r>
            <a:r>
              <a:rPr dirty="0" lang="en-US"/>
              <a:t>.</a:t>
            </a:r>
          </a:p>
          <a:p>
            <a:endParaRPr dirty="0"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66" name=""/>
        <p:cNvGrpSpPr/>
        <p:nvPr/>
      </p:nvGrpSpPr>
      <p:grpSpPr>
        <a:xfrm>
          <a:off x="0" y="0"/>
          <a:ext cx="0" cy="0"/>
          <a:chOff x="0" y="0"/>
          <a:chExt cx="0" cy="0"/>
        </a:xfrm>
      </p:grpSpPr>
      <p:sp>
        <p:nvSpPr>
          <p:cNvPr id="1048739" name="Title 1"/>
          <p:cNvSpPr>
            <a:spLocks noGrp="1"/>
          </p:cNvSpPr>
          <p:nvPr>
            <p:ph type="title"/>
          </p:nvPr>
        </p:nvSpPr>
        <p:spPr/>
        <p:txBody>
          <a:bodyPr/>
          <a:p>
            <a:endParaRPr dirty="0" lang="en-US"/>
          </a:p>
        </p:txBody>
      </p:sp>
      <p:sp>
        <p:nvSpPr>
          <p:cNvPr id="1048740" name="Content Placeholder 2"/>
          <p:cNvSpPr>
            <a:spLocks noGrp="1"/>
          </p:cNvSpPr>
          <p:nvPr>
            <p:ph idx="1"/>
          </p:nvPr>
        </p:nvSpPr>
        <p:spPr/>
        <p:txBody>
          <a:bodyPr>
            <a:normAutofit/>
          </a:bodyPr>
          <a:p>
            <a:r>
              <a:rPr dirty="0" lang="en-US"/>
              <a:t>What is </a:t>
            </a:r>
            <a:r>
              <a:rPr dirty="0" lang="en-US" smtClean="0"/>
              <a:t>the </a:t>
            </a:r>
            <a:r>
              <a:rPr dirty="0" lang="en-US"/>
              <a:t>effect the failure to appear in court after being served with a subpoena?-Warrant of arrest.</a:t>
            </a:r>
          </a:p>
          <a:p>
            <a:r>
              <a:rPr dirty="0" lang="en-US"/>
              <a:t>May be punished for Contempt of court.</a:t>
            </a:r>
          </a:p>
          <a:p>
            <a:r>
              <a:rPr b="1" dirty="0" lang="en-US"/>
              <a:t>Subpoenaed witness &amp; a Suborned witness</a:t>
            </a:r>
          </a:p>
          <a:p>
            <a:r>
              <a:rPr b="1" dirty="0" lang="en-US"/>
              <a:t>What is(are) the difference (s)?</a:t>
            </a:r>
          </a:p>
          <a:p>
            <a:endParaRPr dirty="0"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8741" name="Title 1"/>
          <p:cNvSpPr>
            <a:spLocks noGrp="1"/>
          </p:cNvSpPr>
          <p:nvPr>
            <p:ph type="title"/>
          </p:nvPr>
        </p:nvSpPr>
        <p:spPr/>
        <p:txBody>
          <a:bodyPr/>
          <a:p>
            <a:pPr algn="ctr"/>
            <a:r>
              <a:rPr b="1" dirty="0" lang="en-US"/>
              <a:t>Witness Summons</a:t>
            </a:r>
          </a:p>
        </p:txBody>
      </p:sp>
      <p:sp>
        <p:nvSpPr>
          <p:cNvPr id="1048742" name="Content Placeholder 2"/>
          <p:cNvSpPr>
            <a:spLocks noGrp="1"/>
          </p:cNvSpPr>
          <p:nvPr>
            <p:ph idx="1"/>
          </p:nvPr>
        </p:nvSpPr>
        <p:spPr/>
        <p:txBody>
          <a:bodyPr/>
          <a:p>
            <a:r>
              <a:rPr dirty="0" lang="en-US"/>
              <a:t>Mostly in the magistrate courts but may be used even in the High Court. Forms 143 and 144  Abuja Rules 2025.</a:t>
            </a:r>
          </a:p>
          <a:p>
            <a:pPr indent="0" marL="0">
              <a:buNone/>
            </a:pPr>
            <a:endParaRPr dirty="0"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68" name=""/>
        <p:cNvGrpSpPr/>
        <p:nvPr/>
      </p:nvGrpSpPr>
      <p:grpSpPr>
        <a:xfrm>
          <a:off x="0" y="0"/>
          <a:ext cx="0" cy="0"/>
          <a:chOff x="0" y="0"/>
          <a:chExt cx="0" cy="0"/>
        </a:xfrm>
      </p:grpSpPr>
      <p:sp>
        <p:nvSpPr>
          <p:cNvPr id="1048743" name="Title 1"/>
          <p:cNvSpPr>
            <a:spLocks noGrp="1"/>
          </p:cNvSpPr>
          <p:nvPr>
            <p:ph type="title"/>
          </p:nvPr>
        </p:nvSpPr>
        <p:spPr/>
        <p:txBody>
          <a:bodyPr>
            <a:noAutofit/>
          </a:bodyPr>
          <a:p>
            <a:pPr algn="ctr"/>
            <a:r>
              <a:rPr b="1" dirty="0" sz="3600" lang="en-US"/>
              <a:t>Principles Relating to the preparation of Written Statement on Oath of a Witness and the Difference with an Affidavit </a:t>
            </a:r>
          </a:p>
        </p:txBody>
      </p:sp>
      <p:sp>
        <p:nvSpPr>
          <p:cNvPr id="1048744" name="Content Placeholder 2"/>
          <p:cNvSpPr>
            <a:spLocks noGrp="1"/>
          </p:cNvSpPr>
          <p:nvPr>
            <p:ph idx="1"/>
          </p:nvPr>
        </p:nvSpPr>
        <p:spPr/>
        <p:txBody>
          <a:bodyPr>
            <a:normAutofit/>
          </a:bodyPr>
          <a:p>
            <a:r>
              <a:rPr dirty="0" sz="3200" lang="en-US" smtClean="0"/>
              <a:t>How is written </a:t>
            </a:r>
            <a:r>
              <a:rPr dirty="0" sz="3200" lang="en-US"/>
              <a:t>statement on oath of a </a:t>
            </a:r>
            <a:r>
              <a:rPr dirty="0" sz="3200" lang="en-US" smtClean="0"/>
              <a:t>witness prepared?</a:t>
            </a:r>
          </a:p>
          <a:p>
            <a:r>
              <a:rPr dirty="0" sz="3200" lang="en-GB" smtClean="0"/>
              <a:t>What are the dos and </a:t>
            </a:r>
            <a:r>
              <a:rPr dirty="0" sz="3200" lang="en-GB" err="1" smtClean="0"/>
              <a:t>donts</a:t>
            </a:r>
            <a:r>
              <a:rPr dirty="0" sz="3200" lang="en-GB" smtClean="0"/>
              <a:t>?</a:t>
            </a:r>
            <a:endParaRPr dirty="0" sz="3200" lang="en-US"/>
          </a:p>
          <a:p>
            <a:pPr algn="just"/>
            <a:r>
              <a:rPr dirty="0" sz="3200" lang="en-US"/>
              <a:t>What is the difference Btw Witness Statement on oath and affidavit?</a:t>
            </a:r>
          </a:p>
          <a:p>
            <a:pPr algn="just"/>
            <a:r>
              <a:rPr dirty="0" sz="3200" lang="en-US"/>
              <a:t>TAR &amp; ORS VS MINISTRY OF COMM &amp; IND. (2018) LPELR 44216</a:t>
            </a:r>
          </a:p>
          <a:p>
            <a:pPr algn="just"/>
            <a:r>
              <a:rPr dirty="0" sz="3200" lang="en-US"/>
              <a:t>OKPA VS IREK (2012) LPELR-8033</a:t>
            </a:r>
          </a:p>
          <a:p>
            <a:pPr algn="just"/>
            <a:r>
              <a:rPr dirty="0" sz="3200" lang="en-US"/>
              <a:t>Or. 36 Lagos Rules 2019 and  Or. 40 R. 1(3) Abuja Rules 2025.</a:t>
            </a:r>
          </a:p>
          <a:p>
            <a:pPr indent="0" marL="0">
              <a:buNone/>
            </a:pPr>
            <a:endParaRPr dirty="0" sz="32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HP</Company>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CIVIL LITIGATION WEEK 10</dc:title>
  <dc:creator>COMMENT</dc:creator>
  <cp:lastModifiedBy>COMMENT</cp:lastModifiedBy>
  <dcterms:created xsi:type="dcterms:W3CDTF">2025-03-30T18:13:16Z</dcterms:created>
  <dcterms:modified xsi:type="dcterms:W3CDTF">2025-08-01T11:16:55Z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dc8c43c4ea4e458b903019d23ec30008</vt:lpwstr>
  </property>
</Properties>
</file>