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2" r:id="rId2"/>
    <p:sldId id="321" r:id="rId3"/>
    <p:sldId id="257" r:id="rId4"/>
    <p:sldId id="328" r:id="rId5"/>
    <p:sldId id="259" r:id="rId6"/>
    <p:sldId id="327" r:id="rId7"/>
    <p:sldId id="262" r:id="rId8"/>
    <p:sldId id="263" r:id="rId9"/>
    <p:sldId id="264" r:id="rId10"/>
    <p:sldId id="265" r:id="rId11"/>
    <p:sldId id="306" r:id="rId12"/>
    <p:sldId id="312" r:id="rId13"/>
    <p:sldId id="267" r:id="rId14"/>
    <p:sldId id="269" r:id="rId15"/>
    <p:sldId id="314" r:id="rId16"/>
    <p:sldId id="270" r:id="rId17"/>
    <p:sldId id="272" r:id="rId18"/>
    <p:sldId id="273" r:id="rId19"/>
    <p:sldId id="275" r:id="rId20"/>
    <p:sldId id="276" r:id="rId21"/>
    <p:sldId id="278" r:id="rId22"/>
    <p:sldId id="280" r:id="rId23"/>
    <p:sldId id="281" r:id="rId24"/>
    <p:sldId id="282" r:id="rId25"/>
    <p:sldId id="323" r:id="rId26"/>
    <p:sldId id="283" r:id="rId27"/>
    <p:sldId id="284" r:id="rId28"/>
    <p:sldId id="285" r:id="rId29"/>
    <p:sldId id="286" r:id="rId30"/>
    <p:sldId id="287" r:id="rId31"/>
    <p:sldId id="288" r:id="rId32"/>
    <p:sldId id="305"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25" r:id="rId46"/>
    <p:sldId id="301" r:id="rId47"/>
    <p:sldId id="302" r:id="rId48"/>
    <p:sldId id="326"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95BE340-0B78-4113-967A-32F1C6CA8924}" type="datetimeFigureOut">
              <a:rPr lang="en-US" smtClean="0"/>
              <a:pPr/>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5BE340-0B78-4113-967A-32F1C6CA8924}" type="datetimeFigureOut">
              <a:rPr lang="en-US" smtClean="0"/>
              <a:pPr/>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5BE340-0B78-4113-967A-32F1C6CA8924}" type="datetimeFigureOut">
              <a:rPr lang="en-US" smtClean="0"/>
              <a:pPr/>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95BE340-0B78-4113-967A-32F1C6CA8924}" type="datetimeFigureOut">
              <a:rPr lang="en-US" smtClean="0"/>
              <a:pPr/>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5BE340-0B78-4113-967A-32F1C6CA8924}" type="datetimeFigureOut">
              <a:rPr lang="en-US" smtClean="0"/>
              <a:pPr/>
              <a:t>5/6/2025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95BE340-0B78-4113-967A-32F1C6CA8924}" type="datetimeFigureOut">
              <a:rPr lang="en-US" smtClean="0"/>
              <a:pPr/>
              <a:t>5/6/2025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5BE340-0B78-4113-967A-32F1C6CA8924}" type="datetimeFigureOut">
              <a:rPr lang="en-US" smtClean="0"/>
              <a:pPr/>
              <a:t>5/6/2025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5BE340-0B78-4113-967A-32F1C6CA8924}" type="datetimeFigureOut">
              <a:rPr lang="en-US" smtClean="0"/>
              <a:pPr/>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5BE340-0B78-4113-967A-32F1C6CA8924}" type="datetimeFigureOut">
              <a:rPr lang="en-US" smtClean="0"/>
              <a:pPr/>
              <a:t>5/6/2025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5BE340-0B78-4113-967A-32F1C6CA8924}" type="datetimeFigureOut">
              <a:rPr lang="en-US" smtClean="0"/>
              <a:pPr/>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5BE340-0B78-4113-967A-32F1C6CA8924}" type="datetimeFigureOut">
              <a:rPr lang="en-US" smtClean="0"/>
              <a:pPr/>
              <a:t>5/6/2025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FF5FD3-65C8-42F3-B3CD-798452730C6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5BE340-0B78-4113-967A-32F1C6CA8924}" type="datetimeFigureOut">
              <a:rPr lang="en-US" smtClean="0"/>
              <a:pPr/>
              <a:t>5/6/2025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FF5FD3-65C8-42F3-B3CD-798452730C6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GB" dirty="0"/>
          </a:p>
        </p:txBody>
      </p:sp>
      <p:sp>
        <p:nvSpPr>
          <p:cNvPr id="3" name="Content Placeholder 2"/>
          <p:cNvSpPr>
            <a:spLocks noGrp="1"/>
          </p:cNvSpPr>
          <p:nvPr>
            <p:ph idx="1"/>
          </p:nvPr>
        </p:nvSpPr>
        <p:spPr/>
        <p:txBody>
          <a:bodyPr>
            <a:normAutofit/>
          </a:bodyPr>
          <a:lstStyle/>
          <a:p>
            <a:pPr algn="ctr">
              <a:buNone/>
            </a:pPr>
            <a:r>
              <a:rPr lang="en-US" sz="4800" b="1" dirty="0" smtClean="0"/>
              <a:t>POST INCORPORATION MATTERS  IN BUSINESS AND NON-BUSINESS ORGANIZATIONS</a:t>
            </a:r>
            <a:endParaRPr lang="en-GB" sz="4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LEARNING OUTCOMES</a:t>
            </a:r>
            <a:endParaRPr lang="en-GB" b="1" dirty="0"/>
          </a:p>
        </p:txBody>
      </p:sp>
      <p:sp>
        <p:nvSpPr>
          <p:cNvPr id="3" name="Content Placeholder 2"/>
          <p:cNvSpPr>
            <a:spLocks noGrp="1"/>
          </p:cNvSpPr>
          <p:nvPr>
            <p:ph idx="1"/>
          </p:nvPr>
        </p:nvSpPr>
        <p:spPr/>
        <p:txBody>
          <a:bodyPr>
            <a:normAutofit fontScale="92500"/>
          </a:bodyPr>
          <a:lstStyle/>
          <a:p>
            <a:pPr marL="514350" indent="-514350" algn="just">
              <a:buFont typeface="+mj-lt"/>
              <a:buAutoNum type="arabicPeriod"/>
            </a:pPr>
            <a:r>
              <a:rPr lang="en-US" dirty="0" smtClean="0"/>
              <a:t>Identify the relevant laws and regulatory bodies.</a:t>
            </a:r>
          </a:p>
          <a:p>
            <a:pPr marL="514350" indent="-514350" algn="just">
              <a:buFont typeface="+mj-lt"/>
              <a:buAutoNum type="arabicPeriod"/>
            </a:pPr>
            <a:r>
              <a:rPr lang="en-US" dirty="0" smtClean="0"/>
              <a:t>Identify the necessity and legal requirements for publication of Name and significance for distinction between Corporate name and trade name.</a:t>
            </a:r>
          </a:p>
          <a:p>
            <a:pPr marL="514350" indent="-514350" algn="just">
              <a:buFont typeface="+mj-lt"/>
              <a:buAutoNum type="arabicPeriod"/>
            </a:pPr>
            <a:r>
              <a:rPr lang="en-US" dirty="0" smtClean="0"/>
              <a:t>Prepare a checklist of statutory books and their uses.</a:t>
            </a:r>
          </a:p>
          <a:p>
            <a:pPr marL="514350" indent="-514350" algn="just">
              <a:buFont typeface="+mj-lt"/>
              <a:buAutoNum type="arabicPeriod"/>
            </a:pPr>
            <a:r>
              <a:rPr lang="en-US" dirty="0" smtClean="0"/>
              <a:t>Identify the necessity and procedure for alteration of registered documents.</a:t>
            </a:r>
          </a:p>
          <a:p>
            <a:pPr algn="just"/>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a:buNone/>
            </a:pPr>
            <a:r>
              <a:rPr lang="en-US" dirty="0" smtClean="0"/>
              <a:t>5. Prepare board and company resolutions and other relevant documents in respect of the alteration of status of registered companies (conversion, amendments/alteration of registered documents).</a:t>
            </a:r>
          </a:p>
          <a:p>
            <a:pPr>
              <a:buNone/>
            </a:pPr>
            <a:r>
              <a:rPr lang="en-US" dirty="0" smtClean="0"/>
              <a:t>6. Amendment of incorporation documents for incorporated trustees.</a:t>
            </a:r>
          </a:p>
          <a:p>
            <a:pPr>
              <a:buNone/>
            </a:pPr>
            <a:r>
              <a:rPr lang="en-US" dirty="0" smtClean="0"/>
              <a:t>7. Conduct corporate searches and prepare report.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REGULATORY LAWS/BODIES IN POST INCORPORATION MATTERS</a:t>
            </a:r>
            <a:endParaRPr lang="en-GB" dirty="0"/>
          </a:p>
        </p:txBody>
      </p:sp>
      <p:sp>
        <p:nvSpPr>
          <p:cNvPr id="3" name="Content Placeholder 2"/>
          <p:cNvSpPr>
            <a:spLocks noGrp="1"/>
          </p:cNvSpPr>
          <p:nvPr>
            <p:ph idx="1"/>
          </p:nvPr>
        </p:nvSpPr>
        <p:spPr/>
        <p:txBody>
          <a:bodyPr>
            <a:normAutofit fontScale="85000" lnSpcReduction="20000"/>
          </a:bodyPr>
          <a:lstStyle/>
          <a:p>
            <a:pPr>
              <a:buNone/>
            </a:pPr>
            <a:r>
              <a:rPr lang="en-GB" b="1" dirty="0" smtClean="0"/>
              <a:t>LAWS</a:t>
            </a:r>
          </a:p>
          <a:p>
            <a:r>
              <a:rPr lang="en-GB" dirty="0" smtClean="0"/>
              <a:t>The Companies and Allied Matters Act 2020</a:t>
            </a:r>
          </a:p>
          <a:p>
            <a:r>
              <a:rPr lang="en-GB" dirty="0" smtClean="0"/>
              <a:t>The Nigerian Investment Promotion Act LFN 2004 (where foreigners are involved)</a:t>
            </a:r>
          </a:p>
          <a:p>
            <a:r>
              <a:rPr lang="en-GB" dirty="0" smtClean="0"/>
              <a:t>The Investment and Securities Act (ISA) 2025 </a:t>
            </a:r>
          </a:p>
          <a:p>
            <a:r>
              <a:rPr lang="en-GB" dirty="0" smtClean="0"/>
              <a:t>Foreign Exchange (Monitoring and Miscellaneous Provisions) Act LFN 2004</a:t>
            </a:r>
          </a:p>
          <a:p>
            <a:pPr>
              <a:buNone/>
            </a:pPr>
            <a:r>
              <a:rPr lang="en-GB" b="1" dirty="0" smtClean="0"/>
              <a:t>BODIES</a:t>
            </a:r>
          </a:p>
          <a:p>
            <a:r>
              <a:rPr lang="en-GB" dirty="0" smtClean="0"/>
              <a:t>The Corporate Affairs Commission</a:t>
            </a:r>
          </a:p>
          <a:p>
            <a:r>
              <a:rPr lang="en-GB" dirty="0" smtClean="0"/>
              <a:t>The Nigerian Investment Promotion Act</a:t>
            </a:r>
          </a:p>
          <a:p>
            <a:r>
              <a:rPr lang="en-GB" dirty="0" smtClean="0"/>
              <a:t>The Securities and Exchange Commission</a:t>
            </a:r>
          </a:p>
          <a:p>
            <a:pPr>
              <a:buNone/>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PRELIMINARY STEPS BEFORE COMMENCING BUSINESS</a:t>
            </a:r>
            <a:endParaRPr lang="en-US" dirty="0"/>
          </a:p>
        </p:txBody>
      </p:sp>
      <p:sp>
        <p:nvSpPr>
          <p:cNvPr id="3" name="Content Placeholder 2"/>
          <p:cNvSpPr>
            <a:spLocks noGrp="1"/>
          </p:cNvSpPr>
          <p:nvPr>
            <p:ph idx="1"/>
          </p:nvPr>
        </p:nvSpPr>
        <p:spPr/>
        <p:txBody>
          <a:bodyPr>
            <a:noAutofit/>
          </a:bodyPr>
          <a:lstStyle/>
          <a:p>
            <a:pPr marL="514350" indent="-514350">
              <a:buNone/>
            </a:pPr>
            <a:r>
              <a:rPr lang="en-US" sz="2800" b="1" dirty="0" smtClean="0"/>
              <a:t>PUBLICATION OF NAME BY A COMPANY. 729(1)CAMA.</a:t>
            </a:r>
          </a:p>
          <a:p>
            <a:pPr marL="514350" indent="-514350">
              <a:buNone/>
            </a:pPr>
            <a:r>
              <a:rPr lang="en-US" sz="2800" dirty="0" smtClean="0"/>
              <a:t>A Company before it commences business must:</a:t>
            </a:r>
          </a:p>
          <a:p>
            <a:pPr marL="514350" indent="-514350"/>
            <a:r>
              <a:rPr lang="en-US" sz="2800" dirty="0" smtClean="0"/>
              <a:t>Affix its name and registration number on the outside of every office or place in which  its business is carried on.</a:t>
            </a:r>
          </a:p>
          <a:p>
            <a:pPr marL="514350" indent="-514350"/>
            <a:r>
              <a:rPr lang="en-US" sz="2800" dirty="0" smtClean="0"/>
              <a:t>Have its name engraved on its seal, where the company has a seal.</a:t>
            </a:r>
          </a:p>
          <a:p>
            <a:pPr marL="514350" indent="-514350"/>
            <a:r>
              <a:rPr lang="en-US" sz="2800" dirty="0" smtClean="0"/>
              <a:t>Have its name and registration number mentioned in legible characters in all business letters, notices, advertisements and other official publications.</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FILING OF STATEMENT OF AFFAIRS.</a:t>
            </a:r>
            <a:endParaRPr lang="en-US" b="1" dirty="0"/>
          </a:p>
        </p:txBody>
      </p:sp>
      <p:sp>
        <p:nvSpPr>
          <p:cNvPr id="3" name="Content Placeholder 2"/>
          <p:cNvSpPr>
            <a:spLocks noGrp="1"/>
          </p:cNvSpPr>
          <p:nvPr>
            <p:ph idx="1"/>
          </p:nvPr>
        </p:nvSpPr>
        <p:spPr/>
        <p:txBody>
          <a:bodyPr/>
          <a:lstStyle/>
          <a:p>
            <a:r>
              <a:rPr lang="en-US" dirty="0" smtClean="0"/>
              <a:t>Every bank, insurance, deposit, provident, or benefit society shall before it commences business, and also on the first Monday in every February and first Tuesday in every August in every year during which it carries on business submit to the commission a statement as in schedule 14 to the Act, signed by a Director. S.733 CAMA</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CORPORATE NAME AND TRADE NAME.</a:t>
            </a:r>
            <a:endParaRPr lang="en-US" b="1" dirty="0"/>
          </a:p>
        </p:txBody>
      </p:sp>
      <p:sp>
        <p:nvSpPr>
          <p:cNvPr id="3" name="Content Placeholder 2"/>
          <p:cNvSpPr>
            <a:spLocks noGrp="1"/>
          </p:cNvSpPr>
          <p:nvPr>
            <p:ph idx="1"/>
          </p:nvPr>
        </p:nvSpPr>
        <p:spPr/>
        <p:txBody>
          <a:bodyPr>
            <a:normAutofit lnSpcReduction="10000"/>
          </a:bodyPr>
          <a:lstStyle/>
          <a:p>
            <a:r>
              <a:rPr lang="en-US" dirty="0" smtClean="0"/>
              <a:t>Corporate name is the name by which a corporate body is registered by the CAC.</a:t>
            </a:r>
          </a:p>
          <a:p>
            <a:r>
              <a:rPr lang="en-US" dirty="0" smtClean="0"/>
              <a:t>Trade name is the name by which an organization conducts its business.</a:t>
            </a:r>
          </a:p>
          <a:p>
            <a:pPr>
              <a:buNone/>
            </a:pPr>
            <a:r>
              <a:rPr lang="en-US" dirty="0" smtClean="0"/>
              <a:t>For example, Zenith Bank Plc is a corporate name while Zenith Bank is its Trade Name.</a:t>
            </a:r>
          </a:p>
          <a:p>
            <a:r>
              <a:rPr lang="en-US" dirty="0" smtClean="0"/>
              <a:t>Note that all official transactions must be done in the corporate name and not the trade name.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STATUTORY BOOKS TO BE KEPT BY A COY.</a:t>
            </a:r>
            <a:endParaRPr lang="en-US" dirty="0"/>
          </a:p>
        </p:txBody>
      </p:sp>
      <p:sp>
        <p:nvSpPr>
          <p:cNvPr id="3" name="Content Placeholder 2"/>
          <p:cNvSpPr>
            <a:spLocks noGrp="1"/>
          </p:cNvSpPr>
          <p:nvPr>
            <p:ph idx="1"/>
          </p:nvPr>
        </p:nvSpPr>
        <p:spPr/>
        <p:txBody>
          <a:bodyPr/>
          <a:lstStyle/>
          <a:p>
            <a:r>
              <a:rPr lang="en-US" dirty="0" smtClean="0"/>
              <a:t>Register of members-S.109 CAMA</a:t>
            </a:r>
          </a:p>
          <a:p>
            <a:r>
              <a:rPr lang="en-US" dirty="0" smtClean="0"/>
              <a:t>Index of members-S.111 CAMA</a:t>
            </a:r>
          </a:p>
          <a:p>
            <a:r>
              <a:rPr lang="en-US" dirty="0" smtClean="0"/>
              <a:t>Register of substantial interest in shares- S.122 CAMA</a:t>
            </a:r>
          </a:p>
          <a:p>
            <a:r>
              <a:rPr lang="en-US" dirty="0" smtClean="0"/>
              <a:t>Register of Directors shareholding-S. 301 CAMA</a:t>
            </a:r>
          </a:p>
          <a:p>
            <a:r>
              <a:rPr lang="en-US" dirty="0" smtClean="0"/>
              <a:t>Register of Directors – S. 318 CAMA </a:t>
            </a:r>
          </a:p>
          <a:p>
            <a:r>
              <a:rPr lang="en-US" dirty="0" smtClean="0"/>
              <a:t>Register of Secretaries-S.336 CAMA</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fontScale="92500" lnSpcReduction="10000"/>
          </a:bodyPr>
          <a:lstStyle/>
          <a:p>
            <a:r>
              <a:rPr lang="en-US" dirty="0" smtClean="0"/>
              <a:t>Register of charges-S.216 CAMA</a:t>
            </a:r>
          </a:p>
          <a:p>
            <a:r>
              <a:rPr lang="en-US" dirty="0" smtClean="0"/>
              <a:t>Copies of instrument creating a charge- S.215 CAMA</a:t>
            </a:r>
          </a:p>
          <a:p>
            <a:r>
              <a:rPr lang="en-US" dirty="0" smtClean="0"/>
              <a:t>Register of Debenture Holders-S.218 CAMA</a:t>
            </a:r>
          </a:p>
          <a:p>
            <a:r>
              <a:rPr lang="en-US" dirty="0" smtClean="0"/>
              <a:t>Minutes Book-S. 266 CAMA</a:t>
            </a:r>
          </a:p>
          <a:p>
            <a:r>
              <a:rPr lang="en-US" dirty="0" smtClean="0"/>
              <a:t>Accounting Records- S.374 CAMA</a:t>
            </a:r>
          </a:p>
          <a:p>
            <a:r>
              <a:rPr lang="en-US" dirty="0" smtClean="0"/>
              <a:t>Register of Directors’ Residential Address – S. 320 CAMA</a:t>
            </a:r>
          </a:p>
          <a:p>
            <a:r>
              <a:rPr lang="en-US" dirty="0" smtClean="0"/>
              <a:t>Register of substantial interest in shares – S. 122 CAMA</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ALTERATION IN THE MEMORANDUM/ARTICLES OF ASSOCIATION</a:t>
            </a:r>
            <a:endParaRPr lang="en-US" sz="3200" dirty="0"/>
          </a:p>
        </p:txBody>
      </p:sp>
      <p:sp>
        <p:nvSpPr>
          <p:cNvPr id="3" name="Content Placeholder 2"/>
          <p:cNvSpPr>
            <a:spLocks noGrp="1"/>
          </p:cNvSpPr>
          <p:nvPr>
            <p:ph idx="1"/>
          </p:nvPr>
        </p:nvSpPr>
        <p:spPr>
          <a:xfrm>
            <a:off x="228600" y="1371600"/>
            <a:ext cx="8686800" cy="5105400"/>
          </a:xfrm>
        </p:spPr>
        <p:txBody>
          <a:bodyPr>
            <a:normAutofit/>
          </a:bodyPr>
          <a:lstStyle/>
          <a:p>
            <a:r>
              <a:rPr lang="en-US" dirty="0" smtClean="0"/>
              <a:t>S.50 &amp; 53 CAMA provides for how each clause in the memo/articles may be altered.</a:t>
            </a:r>
          </a:p>
          <a:p>
            <a:r>
              <a:rPr lang="en-US" dirty="0" smtClean="0"/>
              <a:t>The memo/articles may be altered by altering, adding and deleting clauses.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PROCEDURE FOR ALTERATION OF THE MEMO/ ARTICLES . </a:t>
            </a:r>
            <a:endParaRPr lang="en-US" dirty="0"/>
          </a:p>
        </p:txBody>
      </p:sp>
      <p:sp>
        <p:nvSpPr>
          <p:cNvPr id="3" name="Content Placeholder 2"/>
          <p:cNvSpPr>
            <a:spLocks noGrp="1"/>
          </p:cNvSpPr>
          <p:nvPr>
            <p:ph idx="1"/>
          </p:nvPr>
        </p:nvSpPr>
        <p:spPr>
          <a:xfrm>
            <a:off x="228600" y="1371600"/>
            <a:ext cx="8686800" cy="5105400"/>
          </a:xfrm>
        </p:spPr>
        <p:txBody>
          <a:bodyPr>
            <a:normAutofit fontScale="85000" lnSpcReduction="20000"/>
          </a:bodyPr>
          <a:lstStyle/>
          <a:p>
            <a:pPr marL="514350" indent="-514350">
              <a:buFont typeface="+mj-lt"/>
              <a:buAutoNum type="arabicPeriod"/>
            </a:pPr>
            <a:r>
              <a:rPr lang="en-US" dirty="0" smtClean="0"/>
              <a:t>Board of Directors resolution proposing the alteration.</a:t>
            </a:r>
          </a:p>
          <a:p>
            <a:pPr marL="514350" indent="-514350">
              <a:buFont typeface="+mj-lt"/>
              <a:buAutoNum type="arabicPeriod"/>
            </a:pPr>
            <a:r>
              <a:rPr lang="en-US" dirty="0" smtClean="0"/>
              <a:t>Issue 21 Days notice of meeting.</a:t>
            </a:r>
          </a:p>
          <a:p>
            <a:pPr marL="514350" indent="-514350">
              <a:buFont typeface="+mj-lt"/>
              <a:buAutoNum type="arabicPeriod"/>
            </a:pPr>
            <a:r>
              <a:rPr lang="en-US" dirty="0" smtClean="0"/>
              <a:t>Convene a General Meeting of the company, at the general meeting a Special Resolution altering the memo or articles is passed.</a:t>
            </a:r>
          </a:p>
          <a:p>
            <a:pPr marL="514350" indent="-514350">
              <a:buFont typeface="+mj-lt"/>
              <a:buAutoNum type="arabicPeriod"/>
            </a:pPr>
            <a:r>
              <a:rPr lang="en-US" dirty="0" smtClean="0"/>
              <a:t>Alter the memo/articles in line with the Special Resolution.</a:t>
            </a:r>
          </a:p>
          <a:p>
            <a:pPr marL="514350" indent="-514350">
              <a:buFont typeface="+mj-lt"/>
              <a:buAutoNum type="arabicPeriod"/>
            </a:pPr>
            <a:r>
              <a:rPr lang="en-US" dirty="0" smtClean="0"/>
              <a:t>Log on to post.cac.gov.ng and fill the appropriate columns online.</a:t>
            </a:r>
          </a:p>
          <a:p>
            <a:pPr marL="514350" indent="-514350">
              <a:buFont typeface="+mj-lt"/>
              <a:buAutoNum type="arabicPeriod"/>
            </a:pPr>
            <a:r>
              <a:rPr lang="en-US" dirty="0" smtClean="0"/>
              <a:t>Prepare to CAC within 15 days of passing of the resolution by uploading to the website the following documents:</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fontScale="77500" lnSpcReduction="20000"/>
          </a:bodyPr>
          <a:lstStyle/>
          <a:p>
            <a:pPr>
              <a:buNone/>
            </a:pPr>
            <a:endParaRPr lang="en-US" dirty="0" smtClean="0"/>
          </a:p>
          <a:p>
            <a:r>
              <a:rPr lang="en-US" dirty="0" smtClean="0"/>
              <a:t>A copy of the Special resolution.</a:t>
            </a:r>
          </a:p>
          <a:p>
            <a:r>
              <a:rPr lang="en-US" dirty="0" smtClean="0"/>
              <a:t>Updated annual returns.</a:t>
            </a:r>
          </a:p>
          <a:p>
            <a:r>
              <a:rPr lang="en-US" dirty="0" smtClean="0"/>
              <a:t>Evidence of payment of stamp duty.</a:t>
            </a:r>
          </a:p>
          <a:p>
            <a:r>
              <a:rPr lang="en-US" dirty="0" smtClean="0"/>
              <a:t>Evidence of Payment of filing fees</a:t>
            </a:r>
          </a:p>
          <a:p>
            <a:pPr>
              <a:buNone/>
            </a:pPr>
            <a:endParaRPr lang="en-US" dirty="0" smtClean="0"/>
          </a:p>
          <a:p>
            <a:pPr>
              <a:buNone/>
            </a:pPr>
            <a:r>
              <a:rPr lang="en-US" dirty="0" smtClean="0"/>
              <a:t>7. Upon approval, download and print the new memorandum and articles of association within 7days</a:t>
            </a:r>
          </a:p>
          <a:p>
            <a:pPr>
              <a:buNone/>
            </a:pPr>
            <a:r>
              <a:rPr lang="en-US" dirty="0" smtClean="0"/>
              <a:t>NOTE: notice of alteration of </a:t>
            </a:r>
            <a:r>
              <a:rPr lang="en-US" dirty="0" err="1" smtClean="0"/>
              <a:t>memart</a:t>
            </a:r>
            <a:r>
              <a:rPr lang="en-US" dirty="0" smtClean="0"/>
              <a:t> shall be filed with the commission within 15 days of the passing of the resolution except where the alteration relates to the business or object of the company in which case it must be filed with the commission within 15 days after the 28 days for application to court for cancellation of the alteration.</a:t>
            </a:r>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OF NAME.</a:t>
            </a:r>
            <a:endParaRPr lang="en-US" dirty="0"/>
          </a:p>
        </p:txBody>
      </p:sp>
      <p:sp>
        <p:nvSpPr>
          <p:cNvPr id="3" name="Content Placeholder 2"/>
          <p:cNvSpPr>
            <a:spLocks noGrp="1"/>
          </p:cNvSpPr>
          <p:nvPr>
            <p:ph idx="1"/>
          </p:nvPr>
        </p:nvSpPr>
        <p:spPr/>
        <p:txBody>
          <a:bodyPr>
            <a:normAutofit/>
          </a:bodyPr>
          <a:lstStyle/>
          <a:p>
            <a:r>
              <a:rPr lang="en-US" dirty="0" smtClean="0"/>
              <a:t>A Company may change its name under 2 situations:</a:t>
            </a:r>
          </a:p>
          <a:p>
            <a:pPr marL="514350" indent="-514350">
              <a:buFont typeface="+mj-lt"/>
              <a:buAutoNum type="arabicPeriod"/>
            </a:pPr>
            <a:r>
              <a:rPr lang="en-US" dirty="0" smtClean="0"/>
              <a:t>Compulsory change of name</a:t>
            </a:r>
          </a:p>
          <a:p>
            <a:pPr marL="514350" indent="-514350">
              <a:buFont typeface="+mj-lt"/>
              <a:buAutoNum type="arabicPeriod"/>
            </a:pPr>
            <a:r>
              <a:rPr lang="en-US" dirty="0" smtClean="0"/>
              <a:t>Voluntary change of name.</a:t>
            </a:r>
          </a:p>
          <a:p>
            <a:pPr marL="514350" indent="-514350"/>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PROCEDURE FOR CHANGE OF NAME</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smtClean="0"/>
              <a:t>Board resolution recommending the change of name.</a:t>
            </a:r>
          </a:p>
          <a:p>
            <a:pPr marL="514350" indent="-514350">
              <a:buFont typeface="+mj-lt"/>
              <a:buAutoNum type="arabicPeriod"/>
            </a:pPr>
            <a:r>
              <a:rPr lang="en-US" dirty="0" smtClean="0"/>
              <a:t>Online search for availability and reservation of the new name</a:t>
            </a:r>
          </a:p>
          <a:p>
            <a:pPr marL="514350" indent="-514350">
              <a:buFont typeface="+mj-lt"/>
              <a:buAutoNum type="arabicPeriod"/>
            </a:pPr>
            <a:r>
              <a:rPr lang="en-US" dirty="0" smtClean="0"/>
              <a:t>Issue 21 Days notice of meeting.</a:t>
            </a:r>
          </a:p>
          <a:p>
            <a:pPr marL="514350" indent="-514350">
              <a:buFont typeface="+mj-lt"/>
              <a:buAutoNum type="arabicPeriod"/>
            </a:pPr>
            <a:r>
              <a:rPr lang="en-US" dirty="0" smtClean="0"/>
              <a:t>Convene a General Meeting of the company, at the general meeting a Special Resolution changing the name is passed. </a:t>
            </a:r>
          </a:p>
          <a:p>
            <a:pPr marL="514350" indent="-514350">
              <a:buFont typeface="+mj-lt"/>
              <a:buAutoNum type="arabicPeriod"/>
            </a:pPr>
            <a:r>
              <a:rPr lang="en-US" dirty="0" smtClean="0"/>
              <a:t>Online application to the Registrar General of CAC for consent for change of name with the following documents attached:</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a:bodyPr>
          <a:lstStyle/>
          <a:p>
            <a:r>
              <a:rPr lang="en-US" dirty="0" smtClean="0"/>
              <a:t>A copy of the special resolution</a:t>
            </a:r>
          </a:p>
          <a:p>
            <a:r>
              <a:rPr lang="en-US" dirty="0" smtClean="0"/>
              <a:t>Altered memorandum and articles of association</a:t>
            </a:r>
          </a:p>
          <a:p>
            <a:r>
              <a:rPr lang="en-US" dirty="0" smtClean="0"/>
              <a:t>New name reservation</a:t>
            </a:r>
          </a:p>
          <a:p>
            <a:r>
              <a:rPr lang="en-US" dirty="0" smtClean="0"/>
              <a:t>Updated annual returns</a:t>
            </a:r>
          </a:p>
          <a:p>
            <a:r>
              <a:rPr lang="en-US" dirty="0" smtClean="0"/>
              <a:t>Payment of filing fees</a:t>
            </a:r>
          </a:p>
          <a:p>
            <a:r>
              <a:rPr lang="en-US" dirty="0" smtClean="0"/>
              <a:t>Payment of stamp duties</a:t>
            </a:r>
          </a:p>
          <a:p>
            <a:r>
              <a:rPr lang="en-US" dirty="0" smtClean="0"/>
              <a:t>Upon approval, download and print the new certificate of incorporation, memorandum/articles of association and status report reflecting the new name within 7days.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POST CHANGE OF NAME COMPLIANCE BY CAC AND THE COY S. 30 CAMA</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CAC will advertise the change in the official gazette of the federation,</a:t>
            </a:r>
          </a:p>
          <a:p>
            <a:r>
              <a:rPr lang="en-US" dirty="0" smtClean="0"/>
              <a:t>CAC will issue a new certificate in the new name,</a:t>
            </a:r>
          </a:p>
          <a:p>
            <a:r>
              <a:rPr lang="en-US" dirty="0" smtClean="0"/>
              <a:t>CAC will enter the new name in place of the old name in the Register.</a:t>
            </a:r>
          </a:p>
          <a:p>
            <a:r>
              <a:rPr lang="en-US" dirty="0" smtClean="0"/>
              <a:t>The Coy will alter the common seal and get it adopted by the General Meeting,</a:t>
            </a:r>
          </a:p>
          <a:p>
            <a:r>
              <a:rPr lang="en-US" dirty="0" smtClean="0"/>
              <a:t>Coy will alter all papers, documents, Name plates etc to reflect the new name,</a:t>
            </a:r>
          </a:p>
          <a:p>
            <a:r>
              <a:rPr lang="en-US" dirty="0" smtClean="0"/>
              <a:t>Coy will advertise in Newspapers to publicize the change of name.</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ALTERATION OF THE BUSINESS/OBJECT CLAUSE.</a:t>
            </a:r>
            <a:endParaRPr lang="en-US" dirty="0"/>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US" dirty="0" smtClean="0"/>
              <a:t>Board resolution proposing the alteration</a:t>
            </a:r>
          </a:p>
          <a:p>
            <a:pPr marL="514350" indent="-514350">
              <a:buFont typeface="+mj-lt"/>
              <a:buAutoNum type="arabicPeriod"/>
            </a:pPr>
            <a:r>
              <a:rPr lang="en-US" dirty="0" smtClean="0"/>
              <a:t>Company secretary issues 21 Days notice of meeting.</a:t>
            </a:r>
          </a:p>
          <a:p>
            <a:pPr marL="514350" indent="-514350">
              <a:buFont typeface="+mj-lt"/>
              <a:buAutoNum type="arabicPeriod"/>
            </a:pPr>
            <a:r>
              <a:rPr lang="en-US" dirty="0" smtClean="0"/>
              <a:t>Convene a General Meeting of the company, at the general meeting a Special Resolution altering the object.</a:t>
            </a:r>
          </a:p>
          <a:p>
            <a:pPr marL="514350" indent="-514350">
              <a:buFont typeface="+mj-lt"/>
              <a:buAutoNum type="arabicPeriod"/>
            </a:pPr>
            <a:r>
              <a:rPr lang="en-US" dirty="0" smtClean="0"/>
              <a:t>The Coy allows for the expiration of 28 Days after the resolution for any objection and application to Court for the cancellation of the resolution.</a:t>
            </a:r>
          </a:p>
          <a:p>
            <a:pPr marL="514350" indent="-514350">
              <a:buFont typeface="+mj-lt"/>
              <a:buAutoNum type="arabicPeriod"/>
            </a:pPr>
            <a:r>
              <a:rPr lang="en-US" dirty="0" smtClean="0"/>
              <a:t>If no objection within 28 days, 15 days after the expiration of the 28 days the resolution should be delivered to CAC via its website post.cac.gov.ng accompanied by the following:</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85000" lnSpcReduction="10000"/>
          </a:bodyPr>
          <a:lstStyle/>
          <a:p>
            <a:r>
              <a:rPr lang="en-US" dirty="0" smtClean="0"/>
              <a:t>A copy of the Special resolution.</a:t>
            </a:r>
          </a:p>
          <a:p>
            <a:r>
              <a:rPr lang="en-US" dirty="0" smtClean="0"/>
              <a:t>Updated annual returns.</a:t>
            </a:r>
          </a:p>
          <a:p>
            <a:r>
              <a:rPr lang="en-US" dirty="0" smtClean="0"/>
              <a:t>Evidence of payment of stamp duty.</a:t>
            </a:r>
          </a:p>
          <a:p>
            <a:r>
              <a:rPr lang="en-US" dirty="0" smtClean="0"/>
              <a:t>Evidence of Payment of filing fees</a:t>
            </a:r>
          </a:p>
          <a:p>
            <a:pPr>
              <a:buNone/>
            </a:pPr>
            <a:r>
              <a:rPr lang="en-US" dirty="0" smtClean="0"/>
              <a:t>6   If CAC approves the resolution, it will issue a certified   true copy of the altered and stamped memo.</a:t>
            </a:r>
          </a:p>
          <a:p>
            <a:pPr marL="514350" indent="-514350">
              <a:buAutoNum type="arabicPeriod" startAt="7"/>
            </a:pPr>
            <a:r>
              <a:rPr lang="en-US" dirty="0" smtClean="0"/>
              <a:t>If the CAC disapproves of the resolution for the alteration, it will notify the Company and anybody aggrieved can appeal to the FHC within 21 days.</a:t>
            </a:r>
          </a:p>
          <a:p>
            <a:pPr marL="514350" indent="-514350">
              <a:buAutoNum type="arabicPeriod" startAt="7"/>
            </a:pPr>
            <a:r>
              <a:rPr lang="en-US" dirty="0" smtClean="0"/>
              <a:t>If the appeal is successful the CTC of the court order together with the altered memo is forwarded to the CAC within 15 days of the date of the order.</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ALTERATION OF THE SHARE CAPITAL.</a:t>
            </a:r>
            <a:endParaRPr lang="en-US" dirty="0"/>
          </a:p>
        </p:txBody>
      </p:sp>
      <p:sp>
        <p:nvSpPr>
          <p:cNvPr id="3" name="Content Placeholder 2"/>
          <p:cNvSpPr>
            <a:spLocks noGrp="1"/>
          </p:cNvSpPr>
          <p:nvPr>
            <p:ph idx="1"/>
          </p:nvPr>
        </p:nvSpPr>
        <p:spPr/>
        <p:txBody>
          <a:bodyPr>
            <a:normAutofit/>
          </a:bodyPr>
          <a:lstStyle/>
          <a:p>
            <a:r>
              <a:rPr lang="en-US" dirty="0" smtClean="0"/>
              <a:t>The possible alterations to the share capital of the Company are:</a:t>
            </a:r>
          </a:p>
          <a:p>
            <a:pPr marL="514350" indent="-514350">
              <a:buFont typeface="+mj-lt"/>
              <a:buAutoNum type="arabicPeriod"/>
            </a:pPr>
            <a:r>
              <a:rPr lang="en-US" dirty="0" smtClean="0"/>
              <a:t>Consolidation of shares –S.125 (a)</a:t>
            </a:r>
          </a:p>
          <a:p>
            <a:pPr marL="514350" indent="-514350">
              <a:buFont typeface="+mj-lt"/>
              <a:buAutoNum type="arabicPeriod"/>
            </a:pPr>
            <a:r>
              <a:rPr lang="en-US" dirty="0" smtClean="0"/>
              <a:t>Subdivision of shares – S.125 (b)</a:t>
            </a:r>
          </a:p>
          <a:p>
            <a:pPr marL="514350" indent="-514350">
              <a:buFont typeface="+mj-lt"/>
              <a:buAutoNum type="arabicPeriod"/>
            </a:pPr>
            <a:r>
              <a:rPr lang="en-US" dirty="0" smtClean="0"/>
              <a:t>Increase of share capital – S.127</a:t>
            </a:r>
          </a:p>
          <a:p>
            <a:pPr marL="514350" indent="-514350">
              <a:buFont typeface="+mj-lt"/>
              <a:buAutoNum type="arabicPeriod"/>
            </a:pPr>
            <a:r>
              <a:rPr lang="en-US" dirty="0" smtClean="0"/>
              <a:t>Reduction of share capital –S.131</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CONSOLIDATION S.125(a)</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coy may consolidate and subdivide all or any part of its shares into shares of larger amount than its existing shares. It involves the aggregation of shares and dividing them into shares of larger amount.</a:t>
            </a:r>
          </a:p>
          <a:p>
            <a:r>
              <a:rPr lang="en-US" dirty="0" smtClean="0"/>
              <a:t>A coy with an original share structure of 10,000 share of N 1 each may consolidate into  5,000 shares of N2 each.</a:t>
            </a:r>
          </a:p>
          <a:p>
            <a:r>
              <a:rPr lang="en-US" dirty="0" smtClean="0"/>
              <a:t>The value of the shares will increase while the volume of shares will reduce. </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SUBDIVISION OF SHARES S.125(b)</a:t>
            </a:r>
            <a:endParaRPr lang="en-US" dirty="0"/>
          </a:p>
        </p:txBody>
      </p:sp>
      <p:sp>
        <p:nvSpPr>
          <p:cNvPr id="3" name="Content Placeholder 2"/>
          <p:cNvSpPr>
            <a:spLocks noGrp="1"/>
          </p:cNvSpPr>
          <p:nvPr>
            <p:ph idx="1"/>
          </p:nvPr>
        </p:nvSpPr>
        <p:spPr/>
        <p:txBody>
          <a:bodyPr/>
          <a:lstStyle/>
          <a:p>
            <a:r>
              <a:rPr lang="en-US" dirty="0" smtClean="0"/>
              <a:t>A coy can subdivide its shares or any part of it into shares of smaller amount.</a:t>
            </a:r>
          </a:p>
          <a:p>
            <a:r>
              <a:rPr lang="en-US" dirty="0" smtClean="0"/>
              <a:t>A coy with 5000 shares of N1 may subdivide it to 10000 share of 50K each.</a:t>
            </a:r>
          </a:p>
          <a:p>
            <a:r>
              <a:rPr lang="en-US" dirty="0" smtClean="0"/>
              <a:t>The value of the share will reduce while the volume of shares will increase but the capital remains constant.</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INCREASE IN SHARE CAPITAL S.127</a:t>
            </a:r>
            <a:endParaRPr lang="en-US" dirty="0"/>
          </a:p>
        </p:txBody>
      </p:sp>
      <p:sp>
        <p:nvSpPr>
          <p:cNvPr id="3" name="Content Placeholder 2"/>
          <p:cNvSpPr>
            <a:spLocks noGrp="1"/>
          </p:cNvSpPr>
          <p:nvPr>
            <p:ph idx="1"/>
          </p:nvPr>
        </p:nvSpPr>
        <p:spPr>
          <a:xfrm>
            <a:off x="228600" y="1295400"/>
            <a:ext cx="8686800" cy="5334000"/>
          </a:xfrm>
        </p:spPr>
        <p:txBody>
          <a:bodyPr>
            <a:normAutofit fontScale="85000" lnSpcReduction="20000"/>
          </a:bodyPr>
          <a:lstStyle/>
          <a:p>
            <a:r>
              <a:rPr lang="en-US" dirty="0" smtClean="0"/>
              <a:t>S. 3 of the Business Facilitation Act (BFA) 2023 amends S.127(1) CAMA to the effect that a company having a share capital may increase its issued share capital by the allotment of new shares. </a:t>
            </a:r>
          </a:p>
          <a:p>
            <a:r>
              <a:rPr lang="en-US" dirty="0" smtClean="0"/>
              <a:t>The increase in share capital may be done in a general meeting or by a resolution of the board of directors subject to the conditions in the articles of association or by the company in general meeting.</a:t>
            </a:r>
          </a:p>
          <a:p>
            <a:pPr marL="514350" indent="-514350"/>
            <a:r>
              <a:rPr lang="en-US" dirty="0" smtClean="0"/>
              <a:t>The need to increase may arise from:</a:t>
            </a:r>
          </a:p>
          <a:p>
            <a:pPr marL="514350" indent="-514350">
              <a:buFont typeface="+mj-lt"/>
              <a:buAutoNum type="arabicPeriod"/>
            </a:pPr>
            <a:r>
              <a:rPr lang="en-US" dirty="0" smtClean="0"/>
              <a:t>Over subscription of public offer,</a:t>
            </a:r>
          </a:p>
          <a:p>
            <a:pPr marL="514350" indent="-514350">
              <a:buFont typeface="+mj-lt"/>
              <a:buAutoNum type="arabicPeriod"/>
            </a:pPr>
            <a:r>
              <a:rPr lang="en-US" dirty="0" smtClean="0"/>
              <a:t>Conversion from Ltd to Plc,</a:t>
            </a:r>
          </a:p>
          <a:p>
            <a:pPr marL="514350" indent="-514350">
              <a:buFont typeface="+mj-lt"/>
              <a:buAutoNum type="arabicPeriod"/>
            </a:pPr>
            <a:r>
              <a:rPr lang="en-US" dirty="0" smtClean="0"/>
              <a:t>Expansion of the coy beyond the capacity the existing capital base can accommodate.</a:t>
            </a:r>
          </a:p>
          <a:p>
            <a:pPr marL="514350" indent="-514350">
              <a:buFont typeface="+mj-lt"/>
              <a:buAutoNum type="arabicPeriod"/>
            </a:pPr>
            <a:r>
              <a:rPr lang="en-US" dirty="0" smtClean="0"/>
              <a:t>To meet the demands of regulatory authorities.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PROCEDURE FOR INCREASE BY THE COMPANY IN GENERAL M EETING</a:t>
            </a:r>
            <a:endParaRPr lang="en-US" dirty="0"/>
          </a:p>
        </p:txBody>
      </p:sp>
      <p:sp>
        <p:nvSpPr>
          <p:cNvPr id="3" name="Content Placeholder 2"/>
          <p:cNvSpPr>
            <a:spLocks noGrp="1"/>
          </p:cNvSpPr>
          <p:nvPr>
            <p:ph idx="1"/>
          </p:nvPr>
        </p:nvSpPr>
        <p:spPr/>
        <p:txBody>
          <a:bodyPr>
            <a:normAutofit fontScale="85000" lnSpcReduction="10000"/>
          </a:bodyPr>
          <a:lstStyle/>
          <a:p>
            <a:pPr marL="514350" indent="-514350">
              <a:buFont typeface="+mj-lt"/>
              <a:buAutoNum type="arabicPeriod"/>
            </a:pPr>
            <a:r>
              <a:rPr lang="en-US" dirty="0" smtClean="0"/>
              <a:t>Board resolution proposing the increase in share capital.</a:t>
            </a:r>
          </a:p>
          <a:p>
            <a:pPr marL="514350" indent="-514350">
              <a:buFont typeface="+mj-lt"/>
              <a:buAutoNum type="arabicPeriod"/>
            </a:pPr>
            <a:r>
              <a:rPr lang="en-US" dirty="0" smtClean="0"/>
              <a:t>Secretary convenes a meeting by issuing 21 days notice of meeting. </a:t>
            </a:r>
          </a:p>
          <a:p>
            <a:pPr marL="514350" indent="-514350">
              <a:buFont typeface="+mj-lt"/>
              <a:buAutoNum type="arabicPeriod"/>
            </a:pPr>
            <a:r>
              <a:rPr lang="en-US" dirty="0" smtClean="0"/>
              <a:t>At the meeting the company will pass a special resolution increasing the share capital by allotting the new shares.</a:t>
            </a:r>
          </a:p>
          <a:p>
            <a:pPr marL="514350" indent="-514350">
              <a:buFont typeface="+mj-lt"/>
              <a:buAutoNum type="arabicPeriod"/>
            </a:pPr>
            <a:r>
              <a:rPr lang="en-US" dirty="0" smtClean="0"/>
              <a:t>Log into CAC portal- post.cac.gov.ng</a:t>
            </a:r>
          </a:p>
          <a:p>
            <a:pPr marL="514350" indent="-514350">
              <a:buFont typeface="+mj-lt"/>
              <a:buAutoNum type="arabicPeriod"/>
            </a:pPr>
            <a:r>
              <a:rPr lang="en-US" dirty="0" smtClean="0"/>
              <a:t>Prepare and deliver to CAC within 15 days of the passing of the resolution authorizing the increase by uploading to the website the following documents:</a:t>
            </a:r>
          </a:p>
          <a:p>
            <a:pPr marL="514350" indent="-514350">
              <a:buFont typeface="+mj-lt"/>
              <a:buAutoNum type="arabicPeriod"/>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92500" lnSpcReduction="20000"/>
          </a:bodyPr>
          <a:lstStyle/>
          <a:p>
            <a:pPr marL="514350" indent="-514350"/>
            <a:r>
              <a:rPr lang="en-US" dirty="0" smtClean="0"/>
              <a:t>Return of allotment in the prescribed form CAC 5 (Statement of allotment of shares)</a:t>
            </a:r>
          </a:p>
          <a:p>
            <a:pPr marL="514350" indent="-514350"/>
            <a:r>
              <a:rPr lang="en-US" dirty="0" smtClean="0"/>
              <a:t>Statutory Declaration that at least 25% of the new share capital has been paid up.</a:t>
            </a:r>
          </a:p>
          <a:p>
            <a:pPr marL="514350" indent="-514350"/>
            <a:r>
              <a:rPr lang="en-US" dirty="0" smtClean="0"/>
              <a:t>A copy of the special resolution</a:t>
            </a:r>
          </a:p>
          <a:p>
            <a:pPr marL="514350" indent="-514350"/>
            <a:r>
              <a:rPr lang="en-US" dirty="0" smtClean="0"/>
              <a:t>Altered share capital clause of the memorandum of association.</a:t>
            </a:r>
          </a:p>
          <a:p>
            <a:pPr marL="514350" indent="-514350"/>
            <a:r>
              <a:rPr lang="en-US" dirty="0" smtClean="0"/>
              <a:t>Updated annual returns.</a:t>
            </a:r>
          </a:p>
          <a:p>
            <a:pPr marL="514350" indent="-514350"/>
            <a:r>
              <a:rPr lang="en-US" dirty="0" smtClean="0"/>
              <a:t>If there are new shareholders, upload their valid means of identification.</a:t>
            </a:r>
          </a:p>
          <a:p>
            <a:pPr marL="514350" indent="-514350">
              <a:buAutoNum type="alphaLcPeriod" startAt="6"/>
            </a:pPr>
            <a:r>
              <a:rPr lang="en-US" dirty="0" smtClean="0"/>
              <a:t>Pay stamp duties online</a:t>
            </a:r>
          </a:p>
          <a:p>
            <a:pPr marL="514350" indent="-514350">
              <a:buFont typeface="Arial" pitchFamily="34" charset="0"/>
              <a:buAutoNum type="alphaLcPeriod" startAt="6"/>
            </a:pPr>
            <a:r>
              <a:rPr lang="en-GB" dirty="0" smtClean="0"/>
              <a:t>g. Pay filing fees online.</a:t>
            </a:r>
          </a:p>
          <a:p>
            <a:pPr marL="514350" indent="-514350">
              <a:buNone/>
            </a:pPr>
            <a:endParaRPr lang="en-US" dirty="0" smtClean="0"/>
          </a:p>
          <a:p>
            <a:pPr marL="514350" indent="-514350"/>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20000"/>
          </a:bodyPr>
          <a:lstStyle/>
          <a:p>
            <a:pPr>
              <a:buNone/>
            </a:pPr>
            <a:r>
              <a:rPr lang="en-GB" dirty="0" smtClean="0"/>
              <a:t>h. Obtain certificate of increase and status report to be issued by Corporate Affairs Commission</a:t>
            </a:r>
          </a:p>
          <a:p>
            <a:pPr marL="571500" indent="-571500">
              <a:buNone/>
            </a:pPr>
            <a:r>
              <a:rPr lang="en-GB" dirty="0" err="1" smtClean="0"/>
              <a:t>i</a:t>
            </a:r>
            <a:r>
              <a:rPr lang="en-GB" dirty="0" smtClean="0"/>
              <a:t>. Update Register of Members</a:t>
            </a:r>
          </a:p>
          <a:p>
            <a:pPr marL="571500" indent="-571500">
              <a:buNone/>
            </a:pPr>
            <a:r>
              <a:rPr lang="en-GB" dirty="0" smtClean="0"/>
              <a:t>j. Update Index of members where necessary</a:t>
            </a:r>
          </a:p>
          <a:p>
            <a:pPr marL="571500" indent="-571500">
              <a:buNone/>
            </a:pPr>
            <a:r>
              <a:rPr lang="en-US" dirty="0" smtClean="0"/>
              <a:t>NOTE: the increase in authorized share capital shall not take effect unless the directors deliver to the commission within 6 months of filing the notice of increase, a statutory declaration that not less than25% of the share capital (including the increase ) has been paid up. </a:t>
            </a:r>
          </a:p>
          <a:p>
            <a:pPr marL="571500" indent="-571500">
              <a:buNone/>
            </a:pPr>
            <a:r>
              <a:rPr lang="en-US" dirty="0" smtClean="0"/>
              <a:t>S. 128 CAMA and </a:t>
            </a:r>
            <a:r>
              <a:rPr lang="en-US" dirty="0" err="1" smtClean="0"/>
              <a:t>Reg</a:t>
            </a:r>
            <a:r>
              <a:rPr lang="en-US" dirty="0" smtClean="0"/>
              <a:t> 29 CR</a:t>
            </a:r>
          </a:p>
          <a:p>
            <a:pPr marL="571500" indent="-571500">
              <a:buNone/>
            </a:pP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REDUCTION OF SHARE CAPITAL S.131</a:t>
            </a:r>
            <a:endParaRPr lang="en-US" b="1" dirty="0"/>
          </a:p>
        </p:txBody>
      </p:sp>
      <p:sp>
        <p:nvSpPr>
          <p:cNvPr id="3" name="Content Placeholder 2"/>
          <p:cNvSpPr>
            <a:spLocks noGrp="1"/>
          </p:cNvSpPr>
          <p:nvPr>
            <p:ph idx="1"/>
          </p:nvPr>
        </p:nvSpPr>
        <p:spPr>
          <a:xfrm>
            <a:off x="0" y="990600"/>
            <a:ext cx="9144000" cy="5638800"/>
          </a:xfrm>
        </p:spPr>
        <p:txBody>
          <a:bodyPr>
            <a:normAutofit fontScale="92500" lnSpcReduction="10000"/>
          </a:bodyPr>
          <a:lstStyle/>
          <a:p>
            <a:r>
              <a:rPr lang="en-US" dirty="0" smtClean="0"/>
              <a:t>Reduction of share capital is subject to the following conditions:</a:t>
            </a:r>
          </a:p>
          <a:p>
            <a:pPr marL="514350" indent="-514350">
              <a:buFont typeface="+mj-lt"/>
              <a:buAutoNum type="arabicPeriod"/>
            </a:pPr>
            <a:r>
              <a:rPr lang="en-US" dirty="0" smtClean="0"/>
              <a:t>Confirmation by the court,</a:t>
            </a:r>
          </a:p>
          <a:p>
            <a:pPr marL="514350" indent="-514350">
              <a:buFont typeface="+mj-lt"/>
              <a:buAutoNum type="arabicPeriod"/>
            </a:pPr>
            <a:r>
              <a:rPr lang="en-US" dirty="0" smtClean="0"/>
              <a:t>The Articles of Association of the Coy must authorize the reduction, </a:t>
            </a:r>
          </a:p>
          <a:p>
            <a:pPr marL="514350" indent="-514350">
              <a:buFont typeface="+mj-lt"/>
              <a:buAutoNum type="arabicPeriod"/>
            </a:pPr>
            <a:r>
              <a:rPr lang="en-US" dirty="0" smtClean="0"/>
              <a:t>There must be special resolution supporting the reduction,</a:t>
            </a:r>
          </a:p>
          <a:p>
            <a:pPr marL="514350" indent="-514350">
              <a:buFont typeface="+mj-lt"/>
              <a:buAutoNum type="arabicPeriod"/>
            </a:pPr>
            <a:r>
              <a:rPr lang="en-US" dirty="0" smtClean="0"/>
              <a:t>It must not be below the minimum prescribed by law.</a:t>
            </a:r>
          </a:p>
          <a:p>
            <a:pPr marL="514350" indent="-514350"/>
            <a:r>
              <a:rPr lang="en-US" dirty="0" smtClean="0"/>
              <a:t>Note that where the Articles does not provide for reduction the coy desiring to reduce its capital must first alter the Articles to make provision for reduction before it can validly proceed to reduce its capital.</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MODES OF REDUCTION</a:t>
            </a:r>
            <a:endParaRPr lang="en-US" b="1" dirty="0"/>
          </a:p>
        </p:txBody>
      </p:sp>
      <p:sp>
        <p:nvSpPr>
          <p:cNvPr id="3" name="Content Placeholder 2"/>
          <p:cNvSpPr>
            <a:spLocks noGrp="1"/>
          </p:cNvSpPr>
          <p:nvPr>
            <p:ph idx="1"/>
          </p:nvPr>
        </p:nvSpPr>
        <p:spPr/>
        <p:txBody>
          <a:bodyPr/>
          <a:lstStyle/>
          <a:p>
            <a:r>
              <a:rPr lang="en-US" dirty="0" smtClean="0"/>
              <a:t>S .131(2) CAMA provides for 3 ways:</a:t>
            </a:r>
          </a:p>
          <a:p>
            <a:pPr marL="514350" indent="-514350">
              <a:buFont typeface="+mj-lt"/>
              <a:buAutoNum type="arabicPeriod"/>
            </a:pPr>
            <a:r>
              <a:rPr lang="en-US" dirty="0" smtClean="0"/>
              <a:t>Either extinguish or reduce the liability on any of its shares not paid up- S.131(2)(a).</a:t>
            </a:r>
          </a:p>
          <a:p>
            <a:pPr marL="514350" indent="-514350">
              <a:buNone/>
            </a:pPr>
            <a:r>
              <a:rPr lang="en-US" dirty="0" smtClean="0"/>
              <a:t>	Where the shares were issued at N5 with N3 paid up the full value of the shares may be reduced to the N3 paid and the shares treated as fully paid.</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marL="514350" indent="-514350">
              <a:buNone/>
            </a:pPr>
            <a:r>
              <a:rPr lang="en-US" dirty="0" smtClean="0"/>
              <a:t>2. Either with or without extinguishing or reducing liability on any of its shares, cancel any paid up share capital which is lost or unrepresented by available assets of the Coy S.131(2)(b)</a:t>
            </a:r>
          </a:p>
          <a:p>
            <a:pPr marL="514350" indent="-514350">
              <a:buNone/>
            </a:pPr>
            <a:r>
              <a:rPr lang="en-US" dirty="0" smtClean="0"/>
              <a:t>3. Either with or without extinguishing or reducing liability on any of its shares, pay off any paid up share capital which is in excess of the coy’s wants. S.131(2) (c )</a:t>
            </a:r>
          </a:p>
          <a:p>
            <a:pPr marL="514350" indent="-514350"/>
            <a:r>
              <a:rPr lang="en-US" dirty="0" smtClean="0"/>
              <a:t>Where the shares are N10 and fully paid up, reducing them to N5 and paying back N5 to the shareholders for each share held.</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PROCEDURE FOR REDUCTION OF SHARE CAPITAL.</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smtClean="0"/>
              <a:t>Board Resolution proposing the reduction.</a:t>
            </a:r>
          </a:p>
          <a:p>
            <a:pPr marL="514350" indent="-514350">
              <a:buFont typeface="+mj-lt"/>
              <a:buAutoNum type="arabicPeriod"/>
            </a:pPr>
            <a:r>
              <a:rPr lang="en-US" dirty="0" smtClean="0"/>
              <a:t>Board prepares proposed scheme of reduction</a:t>
            </a:r>
          </a:p>
          <a:p>
            <a:pPr marL="514350" indent="-514350">
              <a:buFont typeface="+mj-lt"/>
              <a:buAutoNum type="arabicPeriod"/>
            </a:pPr>
            <a:r>
              <a:rPr lang="en-US" dirty="0" smtClean="0"/>
              <a:t>Secretary is authorized to 21 days issue notice of meeting, accompanied with the scheme of reduction and explanatory circular.</a:t>
            </a:r>
          </a:p>
          <a:p>
            <a:pPr marL="514350" indent="-514350">
              <a:buAutoNum type="arabicPeriod" startAt="4"/>
            </a:pPr>
            <a:r>
              <a:rPr lang="en-US" dirty="0" smtClean="0"/>
              <a:t>At  the general meeting a special resolution is passed reducing the share capital in line with the proposed scheme of reduction.</a:t>
            </a:r>
          </a:p>
          <a:p>
            <a:pPr marL="514350" indent="-514350">
              <a:buAutoNum type="arabicPeriod" startAt="4"/>
            </a:pPr>
            <a:r>
              <a:rPr lang="en-US" dirty="0" smtClean="0"/>
              <a:t>Application to the Federal High Court for confirmation and approval of the scheme of reduction.</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marL="514350" indent="-514350">
              <a:buNone/>
            </a:pPr>
            <a:r>
              <a:rPr lang="en-US" dirty="0" smtClean="0"/>
              <a:t>6. Prepare and deliver to CAC within 15 days by logging into CAC portal post.cac.gov.ng the following documents:</a:t>
            </a:r>
          </a:p>
          <a:p>
            <a:pPr marL="514350" indent="-514350"/>
            <a:r>
              <a:rPr lang="en-US" dirty="0" smtClean="0"/>
              <a:t>Order of court approving the scheme</a:t>
            </a:r>
          </a:p>
          <a:p>
            <a:pPr marL="514350" indent="-514350"/>
            <a:r>
              <a:rPr lang="en-US" dirty="0" smtClean="0"/>
              <a:t>The special resolution </a:t>
            </a:r>
          </a:p>
          <a:p>
            <a:pPr marL="514350" indent="-514350"/>
            <a:r>
              <a:rPr lang="en-US" dirty="0" smtClean="0"/>
              <a:t>Extract of minutes of meeting approving the scheme</a:t>
            </a:r>
          </a:p>
          <a:p>
            <a:pPr marL="514350" indent="-514350"/>
            <a:r>
              <a:rPr lang="en-US" dirty="0" smtClean="0"/>
              <a:t>Altered memo reflecting the reduced share capital </a:t>
            </a:r>
          </a:p>
          <a:p>
            <a:pPr marL="514350" indent="-514350"/>
            <a:r>
              <a:rPr lang="en-US" dirty="0" smtClean="0"/>
              <a:t>Annual returns</a:t>
            </a:r>
          </a:p>
          <a:p>
            <a:pPr marL="514350" indent="-514350">
              <a:buNone/>
            </a:pPr>
            <a:r>
              <a:rPr lang="en-US" dirty="0" smtClean="0"/>
              <a:t>7. Pay stamp duties online</a:t>
            </a:r>
          </a:p>
          <a:p>
            <a:pPr marL="514350" indent="-514350">
              <a:buNone/>
            </a:pPr>
            <a:r>
              <a:rPr lang="en-US" dirty="0" smtClean="0"/>
              <a:t>8. Pay filing fees online</a:t>
            </a:r>
          </a:p>
          <a:p>
            <a:pPr marL="514350" indent="-514350">
              <a:buNone/>
            </a:pPr>
            <a:endParaRPr lang="en-US"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lstStyle/>
          <a:p>
            <a:pPr marL="514350" indent="-514350">
              <a:buNone/>
            </a:pPr>
            <a:r>
              <a:rPr lang="en-US" dirty="0" smtClean="0"/>
              <a:t>9. Obtain from CAC certificate of registration of the court order confirming the reduction and the extract of minutes of meeting where the scheme was adopted.</a:t>
            </a:r>
          </a:p>
          <a:p>
            <a:pPr marL="514350" indent="-514350">
              <a:buNone/>
            </a:pPr>
            <a:r>
              <a:rPr lang="en-US" dirty="0" smtClean="0"/>
              <a:t>10. Comply with S.133 (2)- by adding the word “ and reduced’’ at the end of the name of the company, if so directed by the Court.</a:t>
            </a:r>
          </a:p>
          <a:p>
            <a:pPr marL="514350" indent="-514350"/>
            <a:r>
              <a:rPr lang="en-US" dirty="0" smtClean="0"/>
              <a:t>‘’XYZ Ltd and reduced’’</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LIABILITY OF MEMBERS ON REDUCED CAPITAL</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On reduction of capital, the liability of a member in respect of a share is generally ltd to the difference, if any, between the amount of the share as fixed by the registered minutes of reduction on the one hand, and the amount paid, or the reduced amount, if any, deemed to be paid on the share. S.135(1) CAMA</a:t>
            </a:r>
          </a:p>
          <a:p>
            <a:r>
              <a:rPr lang="en-US" dirty="0" smtClean="0"/>
              <a:t>Note that where a creditor entitled to object fails to do so out of ignorance the liability may be extended. S. 135 (3) &amp; (4) CAMA</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RE-REGISTRATION OF  LTD AS PLC</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A private coy may be converted to Public Coy.</a:t>
            </a:r>
          </a:p>
          <a:p>
            <a:r>
              <a:rPr lang="en-US" dirty="0" smtClean="0"/>
              <a:t>The following alterations must be effected in the Memo &amp; Articles:</a:t>
            </a:r>
          </a:p>
          <a:p>
            <a:pPr marL="514350" indent="-514350">
              <a:buFont typeface="+mj-lt"/>
              <a:buAutoNum type="arabicPeriod"/>
            </a:pPr>
            <a:r>
              <a:rPr lang="en-US" dirty="0" smtClean="0"/>
              <a:t>The name must end with PLC</a:t>
            </a:r>
          </a:p>
          <a:p>
            <a:pPr marL="514350" indent="-514350">
              <a:buFont typeface="+mj-lt"/>
              <a:buAutoNum type="arabicPeriod"/>
            </a:pPr>
            <a:r>
              <a:rPr lang="en-US" dirty="0" smtClean="0"/>
              <a:t>The share capital must be increased,</a:t>
            </a:r>
          </a:p>
          <a:p>
            <a:pPr marL="514350" indent="-514350">
              <a:buFont typeface="+mj-lt"/>
              <a:buAutoNum type="arabicPeriod"/>
            </a:pPr>
            <a:r>
              <a:rPr lang="en-US" dirty="0" smtClean="0"/>
              <a:t>Restrictions on transfer of shares must be removed from the Articles,</a:t>
            </a:r>
          </a:p>
          <a:p>
            <a:pPr marL="514350" indent="-514350">
              <a:buFont typeface="+mj-lt"/>
              <a:buAutoNum type="arabicPeriod"/>
            </a:pPr>
            <a:r>
              <a:rPr lang="en-US" dirty="0" smtClean="0"/>
              <a:t>Regulations on the appointment of Directors and Secretary must be in line with that required of a public Coy.</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PROCEDURE FOR CONVERSION OF LTD TO PLC. S.56 CAMA.</a:t>
            </a:r>
            <a:endParaRPr lang="en-US" b="1" dirty="0"/>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US" dirty="0" smtClean="0"/>
              <a:t>Board resolution proposing the conversion and Re-registration from Ltd to Plc</a:t>
            </a:r>
          </a:p>
          <a:p>
            <a:pPr marL="514350" indent="-514350">
              <a:buFont typeface="+mj-lt"/>
              <a:buAutoNum type="arabicPeriod"/>
            </a:pPr>
            <a:r>
              <a:rPr lang="en-US" dirty="0" smtClean="0"/>
              <a:t>Board authorizes Secretary to issue Notice of meeting (21 days notice) to pass the special resolution</a:t>
            </a:r>
          </a:p>
          <a:p>
            <a:pPr marL="514350" indent="-514350">
              <a:buFont typeface="+mj-lt"/>
              <a:buAutoNum type="arabicPeriod"/>
            </a:pPr>
            <a:r>
              <a:rPr lang="en-US" dirty="0" smtClean="0"/>
              <a:t>At the General Meeting a special Resolution is passed authorizing the conversion and effecting consequential amendments to the Memo &amp; Articles</a:t>
            </a:r>
          </a:p>
          <a:p>
            <a:pPr marL="514350" indent="-514350">
              <a:buFont typeface="+mj-lt"/>
              <a:buAutoNum type="arabicPeriod"/>
            </a:pPr>
            <a:r>
              <a:rPr lang="en-US" dirty="0" smtClean="0"/>
              <a:t>Application to CAC for re-registration in the prescribed form online (post.cac.gov.ng)</a:t>
            </a:r>
          </a:p>
          <a:p>
            <a:pPr marL="514350" indent="-514350">
              <a:buNone/>
            </a:pPr>
            <a:r>
              <a:rPr lang="en-US" dirty="0" smtClean="0"/>
              <a:t>5.    The following documents should be attached:</a:t>
            </a:r>
          </a:p>
          <a:p>
            <a:pPr marL="514350" indent="-514350"/>
            <a:r>
              <a:rPr lang="en-US" dirty="0" smtClean="0"/>
              <a:t>Special resolution of the General Meeting,</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marL="514350" indent="-514350"/>
            <a:r>
              <a:rPr lang="en-US" dirty="0" smtClean="0"/>
              <a:t>Memo &amp; Articles as altered.</a:t>
            </a:r>
          </a:p>
          <a:p>
            <a:pPr marL="514350" indent="-514350"/>
            <a:r>
              <a:rPr lang="en-US" dirty="0" smtClean="0"/>
              <a:t>Copy of a written statement certified on oath by the Directors and Secretary showing that the paid up capital at the date of the application is not less than 25% of the issued capital.</a:t>
            </a:r>
          </a:p>
          <a:p>
            <a:pPr marL="514350" indent="-514350"/>
            <a:r>
              <a:rPr lang="en-US" dirty="0" smtClean="0"/>
              <a:t>A copy of the company’s balance sheet prepared at a date not more than 7 months before the date on which the application is delivered to the commission.</a:t>
            </a:r>
          </a:p>
          <a:p>
            <a:pPr marL="514350" indent="-514350"/>
            <a:r>
              <a:rPr lang="en-US" dirty="0" smtClean="0"/>
              <a:t>A written statement by the company’s auditor that the amount of company’s net assets was not less than the aggregate of the company’s called up share capital and un-distributable reserves.</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pPr marL="514350" indent="-514350"/>
            <a:r>
              <a:rPr lang="en-US" dirty="0" smtClean="0"/>
              <a:t>If the company is to be quoted on the stock exchange, a copy of any prospectus or statement in lieu of prospectus delivered within the preceding 12 months to SEC for registration.</a:t>
            </a:r>
          </a:p>
          <a:p>
            <a:pPr marL="514350" indent="-514350">
              <a:buNone/>
            </a:pPr>
            <a:r>
              <a:rPr lang="en-US" dirty="0" smtClean="0"/>
              <a:t>6. Update of annual returns</a:t>
            </a:r>
          </a:p>
          <a:p>
            <a:pPr marL="514350" indent="-514350">
              <a:buNone/>
            </a:pPr>
            <a:r>
              <a:rPr lang="en-US" dirty="0" smtClean="0"/>
              <a:t>7. Payment of Filing fees</a:t>
            </a:r>
          </a:p>
          <a:p>
            <a:pPr marL="514350" indent="-514350">
              <a:buNone/>
            </a:pPr>
            <a:r>
              <a:rPr lang="en-US" dirty="0" smtClean="0"/>
              <a:t>8. Payment of stamp duty</a:t>
            </a:r>
          </a:p>
          <a:p>
            <a:pPr marL="514350" indent="-514350">
              <a:buNone/>
            </a:pPr>
            <a:r>
              <a:rPr lang="en-US" dirty="0" smtClean="0"/>
              <a:t>9. Upon approval download new certificate of incorporation, memo &amp; articles of association and status report from CAC’s portal. </a:t>
            </a:r>
          </a:p>
          <a:p>
            <a:pPr marL="514350" indent="-514350">
              <a:buFont typeface="+mj-lt"/>
              <a:buAutoNum type="arabicPeriod"/>
            </a:pP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b="1" dirty="0" smtClean="0"/>
              <a:t>RE-REGISTRATION OF PLC AS LTD. (S.63) CAMA </a:t>
            </a:r>
            <a:endParaRPr lang="en-US" b="1" dirty="0"/>
          </a:p>
        </p:txBody>
      </p:sp>
      <p:sp>
        <p:nvSpPr>
          <p:cNvPr id="3" name="Content Placeholder 2"/>
          <p:cNvSpPr>
            <a:spLocks noGrp="1"/>
          </p:cNvSpPr>
          <p:nvPr>
            <p:ph idx="1"/>
          </p:nvPr>
        </p:nvSpPr>
        <p:spPr>
          <a:xfrm>
            <a:off x="228600" y="1219200"/>
            <a:ext cx="8686800" cy="5334000"/>
          </a:xfrm>
        </p:spPr>
        <p:txBody>
          <a:bodyPr>
            <a:normAutofit fontScale="92500" lnSpcReduction="20000"/>
          </a:bodyPr>
          <a:lstStyle/>
          <a:p>
            <a:r>
              <a:rPr lang="en-US" dirty="0" smtClean="0"/>
              <a:t>The procedural steps are as follows:</a:t>
            </a:r>
          </a:p>
          <a:p>
            <a:pPr marL="514350" indent="-514350">
              <a:buFont typeface="+mj-lt"/>
              <a:buAutoNum type="arabicPeriod"/>
            </a:pPr>
            <a:r>
              <a:rPr lang="en-US" dirty="0" smtClean="0"/>
              <a:t>Board resolution proposing the conversion and re-registration.</a:t>
            </a:r>
          </a:p>
          <a:p>
            <a:pPr marL="514350" indent="-514350">
              <a:buFont typeface="+mj-lt"/>
              <a:buAutoNum type="arabicPeriod"/>
            </a:pPr>
            <a:r>
              <a:rPr lang="en-US" dirty="0" smtClean="0"/>
              <a:t>Special resolution by the general meeting. authorizing the re-registration of the coy as Ltd.</a:t>
            </a:r>
          </a:p>
          <a:p>
            <a:pPr marL="514350" indent="-514350">
              <a:buFont typeface="+mj-lt"/>
              <a:buAutoNum type="arabicPeriod"/>
            </a:pPr>
            <a:r>
              <a:rPr lang="en-US" dirty="0" smtClean="0"/>
              <a:t>Allow for the expiration of 28 days for any possible application to the FHC to cancel the resolution.</a:t>
            </a:r>
          </a:p>
          <a:p>
            <a:pPr marL="514350" indent="-514350">
              <a:buFont typeface="+mj-lt"/>
              <a:buAutoNum type="arabicPeriod"/>
            </a:pPr>
            <a:r>
              <a:rPr lang="en-US" dirty="0" smtClean="0"/>
              <a:t>In the absence of any application and within 15 days after the expiration of the period application should be made to CAC in the prescribed form online (post.cac.gov.ng) for re-registration accompanied with the following documents:</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lstStyle/>
          <a:p>
            <a:r>
              <a:rPr lang="en-US" dirty="0" smtClean="0"/>
              <a:t>The special resolution</a:t>
            </a:r>
          </a:p>
          <a:p>
            <a:r>
              <a:rPr lang="en-US" dirty="0" smtClean="0"/>
              <a:t>The altered memo &amp; articles</a:t>
            </a:r>
          </a:p>
          <a:p>
            <a:pPr marL="514350" indent="-514350">
              <a:buNone/>
            </a:pPr>
            <a:r>
              <a:rPr lang="en-US" dirty="0" smtClean="0"/>
              <a:t>6. Update of annual returns</a:t>
            </a:r>
          </a:p>
          <a:p>
            <a:pPr marL="514350" indent="-514350">
              <a:buNone/>
            </a:pPr>
            <a:r>
              <a:rPr lang="en-US" dirty="0" smtClean="0"/>
              <a:t>7. Payment of Filing fees</a:t>
            </a:r>
          </a:p>
          <a:p>
            <a:pPr marL="514350" indent="-514350">
              <a:buNone/>
            </a:pPr>
            <a:r>
              <a:rPr lang="en-US" dirty="0" smtClean="0"/>
              <a:t>8. Payment of stamp duty</a:t>
            </a:r>
          </a:p>
          <a:p>
            <a:pPr marL="514350" indent="-514350">
              <a:buNone/>
            </a:pPr>
            <a:r>
              <a:rPr lang="en-US" dirty="0" smtClean="0"/>
              <a:t>9. Upon approval download new certificate of incorporation, memo &amp; articles of association and status report from CAC’s portal</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WHO CAN MAKE THE APPLICATION TO THE FHC</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S. 64 (1) &amp; (2) the application is to be made to the FHC within 28 days of passing of the resolution:</a:t>
            </a:r>
          </a:p>
          <a:p>
            <a:pPr marL="514350" indent="-514350">
              <a:buFont typeface="+mj-lt"/>
              <a:buAutoNum type="arabicPeriod"/>
            </a:pPr>
            <a:r>
              <a:rPr lang="en-US" dirty="0" smtClean="0"/>
              <a:t>The holders of not less in the aggregate than 5% in nominal value of the company’s issued share capital, or any class thereof; or</a:t>
            </a:r>
          </a:p>
          <a:p>
            <a:pPr marL="514350" indent="-514350">
              <a:buFont typeface="+mj-lt"/>
              <a:buAutoNum type="arabicPeriod"/>
            </a:pPr>
            <a:r>
              <a:rPr lang="en-US" dirty="0" smtClean="0"/>
              <a:t>Not less than 5% of the members of the company, or</a:t>
            </a:r>
          </a:p>
          <a:p>
            <a:pPr marL="514350" indent="-514350">
              <a:buFont typeface="+mj-lt"/>
              <a:buAutoNum type="arabicPeriod"/>
            </a:pPr>
            <a:r>
              <a:rPr lang="en-US" dirty="0" smtClean="0"/>
              <a:t>Fifty members</a:t>
            </a:r>
          </a:p>
          <a:p>
            <a:pPr marL="514350" indent="-514350"/>
            <a:r>
              <a:rPr lang="en-US" dirty="0" smtClean="0"/>
              <a:t>Note that a member who consented or voted for the conversion cannot bring the application.</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RE-REGISTRATION OF LTD AS ULTD. S.68 CAMA</a:t>
            </a:r>
            <a:endParaRPr lang="en-US" b="1" dirty="0"/>
          </a:p>
        </p:txBody>
      </p:sp>
      <p:sp>
        <p:nvSpPr>
          <p:cNvPr id="3" name="Content Placeholder 2"/>
          <p:cNvSpPr>
            <a:spLocks noGrp="1"/>
          </p:cNvSpPr>
          <p:nvPr>
            <p:ph idx="1"/>
          </p:nvPr>
        </p:nvSpPr>
        <p:spPr/>
        <p:txBody>
          <a:bodyPr>
            <a:normAutofit fontScale="85000" lnSpcReduction="10000"/>
          </a:bodyPr>
          <a:lstStyle/>
          <a:p>
            <a:r>
              <a:rPr lang="en-US" dirty="0" smtClean="0"/>
              <a:t>The required steps are as follows:</a:t>
            </a:r>
          </a:p>
          <a:p>
            <a:pPr marL="514350" indent="-514350">
              <a:buFont typeface="+mj-lt"/>
              <a:buAutoNum type="arabicPeriod"/>
            </a:pPr>
            <a:r>
              <a:rPr lang="en-US" dirty="0" smtClean="0"/>
              <a:t>Board resolution proposing the conversion,</a:t>
            </a:r>
          </a:p>
          <a:p>
            <a:pPr marL="514350" indent="-514350">
              <a:buFont typeface="+mj-lt"/>
              <a:buAutoNum type="arabicPeriod"/>
            </a:pPr>
            <a:r>
              <a:rPr lang="en-US" dirty="0" smtClean="0"/>
              <a:t>All members subscribe personally or by proxy to the prescribed form of assent to the re-registration,</a:t>
            </a:r>
          </a:p>
          <a:p>
            <a:pPr marL="514350" indent="-514350">
              <a:buFont typeface="+mj-lt"/>
              <a:buAutoNum type="arabicPeriod"/>
            </a:pPr>
            <a:r>
              <a:rPr lang="en-US" dirty="0" smtClean="0"/>
              <a:t>Statutory declaration by all the Directors of the company that the persons by whom or on behalf of whom the assent form was subscribed are the whole members of the coy and that reasonable steps where taken by them to ensure that those on whose behalf the assent form was subscribed gave their consent to their proxy.</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lnSpcReduction="10000"/>
          </a:bodyPr>
          <a:lstStyle/>
          <a:p>
            <a:pPr marL="514350" indent="-514350">
              <a:buAutoNum type="arabicPeriod" startAt="4"/>
            </a:pPr>
            <a:r>
              <a:rPr lang="en-US" dirty="0" smtClean="0"/>
              <a:t>Special resolution is passed</a:t>
            </a:r>
          </a:p>
          <a:p>
            <a:pPr marL="514350" indent="-514350">
              <a:buAutoNum type="arabicPeriod" startAt="4"/>
            </a:pPr>
            <a:r>
              <a:rPr lang="en-US" dirty="0" smtClean="0"/>
              <a:t>Memo &amp; Articles are altered to reflect the current status of the coy as </a:t>
            </a:r>
            <a:r>
              <a:rPr lang="en-US" dirty="0" err="1" smtClean="0"/>
              <a:t>Ultd</a:t>
            </a:r>
            <a:r>
              <a:rPr lang="en-US" dirty="0" smtClean="0"/>
              <a:t>,</a:t>
            </a:r>
          </a:p>
          <a:p>
            <a:pPr marL="514350" indent="-514350">
              <a:buAutoNum type="arabicPeriod" startAt="4"/>
            </a:pPr>
            <a:r>
              <a:rPr lang="en-US" dirty="0" smtClean="0"/>
              <a:t>Application is made in the prescribed form online (post.cac.gov.ng) to the corporate affairs commission</a:t>
            </a:r>
          </a:p>
          <a:p>
            <a:pPr marL="514350" indent="-514350">
              <a:buAutoNum type="arabicPeriod" startAt="4"/>
            </a:pPr>
            <a:r>
              <a:rPr lang="en-US" dirty="0" smtClean="0"/>
              <a:t>Payment of annual returns up to date</a:t>
            </a:r>
          </a:p>
          <a:p>
            <a:pPr marL="514350" indent="-514350">
              <a:buAutoNum type="arabicPeriod" startAt="4"/>
            </a:pPr>
            <a:r>
              <a:rPr lang="en-US" dirty="0" smtClean="0"/>
              <a:t>Payment of stamp duty</a:t>
            </a:r>
          </a:p>
          <a:p>
            <a:pPr marL="514350" indent="-514350">
              <a:buAutoNum type="arabicPeriod" startAt="4"/>
            </a:pPr>
            <a:r>
              <a:rPr lang="en-US" dirty="0" smtClean="0"/>
              <a:t>Payment of filing fees</a:t>
            </a:r>
          </a:p>
          <a:p>
            <a:pPr marL="514350" indent="-514350">
              <a:buAutoNum type="arabicPeriod" startAt="4"/>
            </a:pPr>
            <a:r>
              <a:rPr lang="en-US" dirty="0" smtClean="0"/>
              <a:t>Upon approval download and print the new certificate, memo and articles and status report.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RE-REGISTRATION OF ULTD AS LTD. S.71 CAMA.</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procedural steps are:</a:t>
            </a:r>
          </a:p>
          <a:p>
            <a:pPr marL="514350" indent="-514350">
              <a:buFont typeface="+mj-lt"/>
              <a:buAutoNum type="arabicPeriod"/>
            </a:pPr>
            <a:r>
              <a:rPr lang="en-US" dirty="0" smtClean="0"/>
              <a:t>Board resolution proposing the re-registration.</a:t>
            </a:r>
          </a:p>
          <a:p>
            <a:pPr marL="514350" indent="-514350">
              <a:buFont typeface="+mj-lt"/>
              <a:buAutoNum type="arabicPeriod"/>
            </a:pPr>
            <a:r>
              <a:rPr lang="en-US" dirty="0" smtClean="0"/>
              <a:t>A special resolution is passed at the General meeting of the Coy authorizing the conversion.</a:t>
            </a:r>
          </a:p>
          <a:p>
            <a:pPr marL="514350" indent="-514350">
              <a:buFont typeface="+mj-lt"/>
              <a:buAutoNum type="arabicPeriod"/>
            </a:pPr>
            <a:r>
              <a:rPr lang="en-US" dirty="0" smtClean="0"/>
              <a:t>The special resolution will state the share capital of the coy as well as other consequential alterations to the Memo &amp; Articles.</a:t>
            </a:r>
          </a:p>
          <a:p>
            <a:pPr marL="514350" indent="-514350">
              <a:buFont typeface="+mj-lt"/>
              <a:buAutoNum type="arabicPeriod"/>
            </a:pPr>
            <a:r>
              <a:rPr lang="en-US" dirty="0" smtClean="0"/>
              <a:t>The memo &amp; articles as altered in line with the current status of the coy.</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514350" indent="-514350">
              <a:buNone/>
            </a:pPr>
            <a:r>
              <a:rPr lang="en-US" dirty="0" smtClean="0"/>
              <a:t>5. Application to CAC in the prescribed form online (post.cac.gov.ng)</a:t>
            </a:r>
          </a:p>
          <a:p>
            <a:pPr marL="514350" indent="-514350">
              <a:buNone/>
            </a:pPr>
            <a:r>
              <a:rPr lang="en-US" dirty="0" smtClean="0"/>
              <a:t>6. Payment of annual returns up to date</a:t>
            </a:r>
          </a:p>
          <a:p>
            <a:pPr marL="514350" indent="-514350">
              <a:buNone/>
            </a:pPr>
            <a:r>
              <a:rPr lang="en-US" dirty="0" smtClean="0"/>
              <a:t>7. Payment of stamp duty</a:t>
            </a:r>
          </a:p>
          <a:p>
            <a:pPr marL="514350" indent="-514350">
              <a:buNone/>
            </a:pPr>
            <a:r>
              <a:rPr lang="en-US" dirty="0" smtClean="0"/>
              <a:t>8. Payment of filing fees</a:t>
            </a:r>
          </a:p>
          <a:p>
            <a:pPr marL="514350" indent="-514350">
              <a:buNone/>
            </a:pPr>
            <a:r>
              <a:rPr lang="en-US" dirty="0" smtClean="0"/>
              <a:t>9. Upon approval download and print the new certificate, memo/articles and status report.</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PROHIBITED </a:t>
            </a:r>
            <a:r>
              <a:rPr lang="en-US" b="1" dirty="0" smtClean="0"/>
              <a:t>RE-REGISTRATION</a:t>
            </a:r>
            <a:endParaRPr lang="en-US" b="1" dirty="0"/>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arabicPeriod"/>
            </a:pPr>
            <a:r>
              <a:rPr lang="en-US" dirty="0" smtClean="0"/>
              <a:t>A company limited by guarantee cannot be re-registered as it does not come under the purview of S.55 that deals with re-registrations.</a:t>
            </a:r>
          </a:p>
          <a:p>
            <a:pPr marL="514350" indent="-514350">
              <a:buFont typeface="+mj-lt"/>
              <a:buAutoNum type="arabicPeriod"/>
            </a:pPr>
            <a:r>
              <a:rPr lang="en-US" dirty="0" smtClean="0"/>
              <a:t>A company limited by shares that has been re-registered as an unlimited company cannot be convert again to a company limited by shares. S 71(1)(b) &amp; (2)</a:t>
            </a:r>
          </a:p>
          <a:p>
            <a:pPr marL="514350" indent="-514350">
              <a:buFont typeface="+mj-lt"/>
              <a:buAutoNum type="arabicPeriod"/>
            </a:pPr>
            <a:r>
              <a:rPr lang="en-US" dirty="0" smtClean="0"/>
              <a:t>A public unlimited company that has re-registered to a public company limited by shares cannot converted again to an unlimited company again. Also a public company limited by shares that has re-registered to an unlimited company cannot be converted again to a public limited company.</a:t>
            </a:r>
          </a:p>
          <a:p>
            <a:pPr marL="514350" indent="-514350">
              <a:buNone/>
            </a:pPr>
            <a:r>
              <a:rPr lang="en-US" dirty="0" smtClean="0"/>
              <a:t>Generally, company laws forbid vacillation of companies.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CORPORATE SEARCH</a:t>
            </a:r>
            <a:endParaRPr lang="en-US" b="1" dirty="0"/>
          </a:p>
        </p:txBody>
      </p:sp>
      <p:sp>
        <p:nvSpPr>
          <p:cNvPr id="3" name="Content Placeholder 2"/>
          <p:cNvSpPr>
            <a:spLocks noGrp="1"/>
          </p:cNvSpPr>
          <p:nvPr>
            <p:ph idx="1"/>
          </p:nvPr>
        </p:nvSpPr>
        <p:spPr>
          <a:xfrm>
            <a:off x="457200" y="1600200"/>
            <a:ext cx="8229600" cy="5029200"/>
          </a:xfrm>
        </p:spPr>
        <p:txBody>
          <a:bodyPr>
            <a:normAutofit fontScale="85000" lnSpcReduction="10000"/>
          </a:bodyPr>
          <a:lstStyle/>
          <a:p>
            <a:pPr>
              <a:buNone/>
            </a:pPr>
            <a:r>
              <a:rPr lang="en-US" b="1" dirty="0" smtClean="0"/>
              <a:t>USES OF CORPORATE SEARCH</a:t>
            </a:r>
          </a:p>
          <a:p>
            <a:r>
              <a:rPr lang="en-US" dirty="0" smtClean="0"/>
              <a:t>To verify fact of incorporation</a:t>
            </a:r>
          </a:p>
          <a:p>
            <a:r>
              <a:rPr lang="en-US" dirty="0" smtClean="0"/>
              <a:t>For consideration of the suitability of the company for any credit facility</a:t>
            </a:r>
          </a:p>
          <a:p>
            <a:r>
              <a:rPr lang="en-US" dirty="0" smtClean="0"/>
              <a:t>To determine the identity and addresses of the Directors and other officers of the company</a:t>
            </a:r>
          </a:p>
          <a:p>
            <a:r>
              <a:rPr lang="en-US" dirty="0" smtClean="0"/>
              <a:t>To know the shareholders and the proportion of their shareholding</a:t>
            </a:r>
          </a:p>
          <a:p>
            <a:r>
              <a:rPr lang="en-US" dirty="0" smtClean="0"/>
              <a:t>To ascertain any restriction or limitation on the powers/objects of the  company.</a:t>
            </a:r>
          </a:p>
          <a:p>
            <a:r>
              <a:rPr lang="en-US" dirty="0" smtClean="0"/>
              <a:t>To determine the suitability or competence of the company for the award and execution of contracts. </a:t>
            </a:r>
          </a:p>
          <a:p>
            <a:pPr>
              <a:buNone/>
            </a:pPr>
            <a:endParaRPr lang="en-US" dirty="0" smtClean="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CONTENT OF A SEARCH REPORT</a:t>
            </a:r>
            <a:endParaRPr lang="en-US" b="1" dirty="0"/>
          </a:p>
        </p:txBody>
      </p:sp>
      <p:sp>
        <p:nvSpPr>
          <p:cNvPr id="3" name="Content Placeholder 2"/>
          <p:cNvSpPr>
            <a:spLocks noGrp="1"/>
          </p:cNvSpPr>
          <p:nvPr>
            <p:ph idx="1"/>
          </p:nvPr>
        </p:nvSpPr>
        <p:spPr>
          <a:xfrm>
            <a:off x="457200" y="1447800"/>
            <a:ext cx="8229600" cy="4678363"/>
          </a:xfrm>
        </p:spPr>
        <p:txBody>
          <a:bodyPr>
            <a:normAutofit fontScale="92500" lnSpcReduction="20000"/>
          </a:bodyPr>
          <a:lstStyle/>
          <a:p>
            <a:pPr>
              <a:buNone/>
            </a:pPr>
            <a:endParaRPr lang="en-US" dirty="0" smtClean="0"/>
          </a:p>
          <a:p>
            <a:r>
              <a:rPr lang="en-US" dirty="0" smtClean="0"/>
              <a:t>Name, address and registered Number of the coy</a:t>
            </a:r>
          </a:p>
          <a:p>
            <a:r>
              <a:rPr lang="en-US" dirty="0" smtClean="0"/>
              <a:t>Place of search</a:t>
            </a:r>
          </a:p>
          <a:p>
            <a:r>
              <a:rPr lang="en-US" dirty="0" smtClean="0"/>
              <a:t>Date of search</a:t>
            </a:r>
          </a:p>
          <a:p>
            <a:r>
              <a:rPr lang="en-US" dirty="0" smtClean="0"/>
              <a:t>Date of incorporation of the coy</a:t>
            </a:r>
          </a:p>
          <a:p>
            <a:r>
              <a:rPr lang="en-US" dirty="0" smtClean="0"/>
              <a:t>Share capital of the coy</a:t>
            </a:r>
          </a:p>
          <a:p>
            <a:r>
              <a:rPr lang="en-US" dirty="0" smtClean="0"/>
              <a:t>Increase or reduction in share capital (if any)</a:t>
            </a:r>
          </a:p>
          <a:p>
            <a:r>
              <a:rPr lang="en-US" dirty="0" smtClean="0"/>
              <a:t>objects/Business of the coy</a:t>
            </a:r>
          </a:p>
          <a:p>
            <a:r>
              <a:rPr lang="en-US" dirty="0" smtClean="0"/>
              <a:t>Shareholders and their addresses</a:t>
            </a:r>
          </a:p>
          <a:p>
            <a:r>
              <a:rPr lang="en-US" dirty="0" smtClean="0"/>
              <a:t>Change of shareholders (if any)</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Directors and their addresses</a:t>
            </a:r>
          </a:p>
          <a:p>
            <a:r>
              <a:rPr lang="en-US" dirty="0" smtClean="0"/>
              <a:t>Change of directors (if any)</a:t>
            </a:r>
          </a:p>
          <a:p>
            <a:r>
              <a:rPr lang="en-US" dirty="0" smtClean="0"/>
              <a:t>Secretary </a:t>
            </a:r>
          </a:p>
          <a:p>
            <a:r>
              <a:rPr lang="en-US" dirty="0" smtClean="0"/>
              <a:t>Change of secretary (if any)</a:t>
            </a:r>
          </a:p>
          <a:p>
            <a:r>
              <a:rPr lang="en-US" dirty="0" smtClean="0"/>
              <a:t>Annual returns</a:t>
            </a:r>
          </a:p>
          <a:p>
            <a:r>
              <a:rPr lang="en-US" dirty="0" smtClean="0"/>
              <a:t>Charges/encumbrances</a:t>
            </a:r>
          </a:p>
          <a:p>
            <a:r>
              <a:rPr lang="en-US" dirty="0" smtClean="0"/>
              <a:t>Remarks </a:t>
            </a:r>
          </a:p>
          <a:p>
            <a:r>
              <a:rPr lang="en-US" dirty="0" smtClean="0"/>
              <a:t>Signature and name of the person conducting the search</a:t>
            </a:r>
          </a:p>
          <a:p>
            <a:r>
              <a:rPr lang="en-US" dirty="0" smtClean="0"/>
              <a:t>Date </a:t>
            </a: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POST INCORPORATION MATTERS FOR BUSINESS NAMES, PARTNERSHIPS AND INCORPORATED TRUSTEES</a:t>
            </a:r>
            <a:endParaRPr lang="en-GB" dirty="0"/>
          </a:p>
        </p:txBody>
      </p:sp>
      <p:sp>
        <p:nvSpPr>
          <p:cNvPr id="3" name="Content Placeholder 2"/>
          <p:cNvSpPr>
            <a:spLocks noGrp="1"/>
          </p:cNvSpPr>
          <p:nvPr>
            <p:ph idx="1"/>
          </p:nvPr>
        </p:nvSpPr>
        <p:spPr/>
        <p:txBody>
          <a:bodyPr/>
          <a:lstStyle/>
          <a:p>
            <a:r>
              <a:rPr lang="en-GB" dirty="0" smtClean="0"/>
              <a:t>For business names changes can be made in the name, registered address, addition and removal of proprietors etc</a:t>
            </a:r>
          </a:p>
          <a:p>
            <a:r>
              <a:rPr lang="en-GB" dirty="0" smtClean="0"/>
              <a:t>For partnerships any clause in the deed of partnership can be altered.</a:t>
            </a:r>
          </a:p>
          <a:p>
            <a:pPr>
              <a:buNone/>
            </a:pPr>
            <a:r>
              <a:rPr lang="en-GB" dirty="0" smtClean="0"/>
              <a:t>For incorporated trustees, changes can be made to any of the clauses in the constitution in line with provisions of CAMA.</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2270</TotalTime>
  <Words>3455</Words>
  <Application>Microsoft Office PowerPoint</Application>
  <PresentationFormat>On-screen Show (4:3)</PresentationFormat>
  <Paragraphs>278</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Slide 1</vt:lpstr>
      <vt:lpstr>LEARNING OUTCOMES</vt:lpstr>
      <vt:lpstr>Slide 3</vt:lpstr>
      <vt:lpstr>REGULATORY LAWS/BODIES IN POST INCORPORATION MATTERS</vt:lpstr>
      <vt:lpstr>PRELIMINARY STEPS BEFORE COMMENCING BUSINESS</vt:lpstr>
      <vt:lpstr>FILING OF STATEMENT OF AFFAIRS.</vt:lpstr>
      <vt:lpstr>CORPORATE NAME AND TRADE NAME.</vt:lpstr>
      <vt:lpstr>STATUTORY BOOKS TO BE KEPT BY A COY.</vt:lpstr>
      <vt:lpstr>Slide 9</vt:lpstr>
      <vt:lpstr>ALTERATION IN THE MEMORANDUM/ARTICLES OF ASSOCIATION</vt:lpstr>
      <vt:lpstr>PROCEDURE FOR ALTERATION OF THE MEMO/ ARTICLES . </vt:lpstr>
      <vt:lpstr>Slide 12</vt:lpstr>
      <vt:lpstr>CHANGE OF NAME.</vt:lpstr>
      <vt:lpstr>PROCEDURE FOR CHANGE OF NAME</vt:lpstr>
      <vt:lpstr>Slide 15</vt:lpstr>
      <vt:lpstr>POST CHANGE OF NAME COMPLIANCE BY CAC AND THE COY S. 30 CAMA</vt:lpstr>
      <vt:lpstr>ALTERATION OF THE BUSINESS/OBJECT CLAUSE.</vt:lpstr>
      <vt:lpstr>Slide 18</vt:lpstr>
      <vt:lpstr>ALTERATION OF THE SHARE CAPITAL.</vt:lpstr>
      <vt:lpstr>CONSOLIDATION S.125(a)</vt:lpstr>
      <vt:lpstr>SUBDIVISION OF SHARES S.125(b)</vt:lpstr>
      <vt:lpstr>INCREASE IN SHARE CAPITAL S.127</vt:lpstr>
      <vt:lpstr>PROCEDURE FOR INCREASE BY THE COMPANY IN GENERAL M EETING</vt:lpstr>
      <vt:lpstr>Slide 24</vt:lpstr>
      <vt:lpstr>Slide 25</vt:lpstr>
      <vt:lpstr>REDUCTION OF SHARE CAPITAL S.131</vt:lpstr>
      <vt:lpstr>MODES OF REDUCTION</vt:lpstr>
      <vt:lpstr>Slide 28</vt:lpstr>
      <vt:lpstr>PROCEDURE FOR REDUCTION OF SHARE CAPITAL.</vt:lpstr>
      <vt:lpstr>Slide 30</vt:lpstr>
      <vt:lpstr>Slide 31</vt:lpstr>
      <vt:lpstr>LIABILITY OF MEMBERS ON REDUCED CAPITAL</vt:lpstr>
      <vt:lpstr>RE-REGISTRATION OF  LTD AS PLC</vt:lpstr>
      <vt:lpstr>PROCEDURE FOR CONVERSION OF LTD TO PLC. S.56 CAMA.</vt:lpstr>
      <vt:lpstr>Slide 35</vt:lpstr>
      <vt:lpstr>Slide 36</vt:lpstr>
      <vt:lpstr>RE-REGISTRATION OF PLC AS LTD. (S.63) CAMA </vt:lpstr>
      <vt:lpstr>Slide 38</vt:lpstr>
      <vt:lpstr>WHO CAN MAKE THE APPLICATION TO THE FHC</vt:lpstr>
      <vt:lpstr>RE-REGISTRATION OF LTD AS ULTD. S.68 CAMA</vt:lpstr>
      <vt:lpstr>Slide 41</vt:lpstr>
      <vt:lpstr>RE-REGISTRATION OF ULTD AS LTD. S.71 CAMA.</vt:lpstr>
      <vt:lpstr>Slide 43</vt:lpstr>
      <vt:lpstr>PROHIBITED RE-REGISTRATION</vt:lpstr>
      <vt:lpstr>CORPORATE SEARCH</vt:lpstr>
      <vt:lpstr>CONTENT OF A SEARCH REPORT</vt:lpstr>
      <vt:lpstr>Slide 47</vt:lpstr>
      <vt:lpstr>POST INCORPORATION MATTERS FOR BUSINESS NAMES, PARTNERSHIPS AND INCORPORATED TRUSTEES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 INCORPORATION MATTERS.</dc:title>
  <dc:creator>PC-USER</dc:creator>
  <cp:lastModifiedBy>NCC</cp:lastModifiedBy>
  <cp:revision>211</cp:revision>
  <dcterms:created xsi:type="dcterms:W3CDTF">2014-01-13T14:56:56Z</dcterms:created>
  <dcterms:modified xsi:type="dcterms:W3CDTF">2025-05-06T17:52:48Z</dcterms:modified>
</cp:coreProperties>
</file>