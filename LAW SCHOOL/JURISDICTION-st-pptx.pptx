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7" r:id="rId3"/>
    <p:sldId id="258" r:id="rId4"/>
    <p:sldId id="259" r:id="rId5"/>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3" r:id="rId29"/>
    <p:sldId id="284" r:id="rId30"/>
    <p:sldId id="285" r:id="rId31"/>
    <p:sldId id="286" r:id="rId32"/>
    <p:sldId id="287" r:id="rId33"/>
    <p:sldId id="288" r:id="rId34"/>
    <p:sldId id="289" r:id="rId35"/>
    <p:sldId id="380" r:id="rId36"/>
    <p:sldId id="290" r:id="rId37"/>
    <p:sldId id="291" r:id="rId38"/>
    <p:sldId id="292" r:id="rId39"/>
    <p:sldId id="293" r:id="rId40"/>
    <p:sldId id="294" r:id="rId41"/>
    <p:sldId id="295" r:id="rId42"/>
    <p:sldId id="296" r:id="rId43"/>
    <p:sldId id="297" r:id="rId44"/>
    <p:sldId id="298"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8" Type="http://schemas.openxmlformats.org/officeDocument/2006/relationships/tableStyles" Target="tableStyles.xml"/><Relationship Id="rId127" Type="http://schemas.openxmlformats.org/officeDocument/2006/relationships/viewProps" Target="viewProps.xml"/><Relationship Id="rId126" Type="http://schemas.openxmlformats.org/officeDocument/2006/relationships/presProps" Target="presProps.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buFont typeface="Wingdings" panose="05000000000000000000" pitchFamily="2" charset="2"/>
              <a:buChar char="§"/>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b="1" dirty="0"/>
          </a:p>
        </p:txBody>
      </p:sp>
      <p:sp>
        <p:nvSpPr>
          <p:cNvPr id="4" name="Slide Number Placeholder 3"/>
          <p:cNvSpPr>
            <a:spLocks noGrp="1"/>
          </p:cNvSpPr>
          <p:nvPr>
            <p:ph type="sldNum" sz="quarter" idx="5"/>
          </p:nvPr>
        </p:nvSpPr>
        <p:spPr/>
        <p:txBody>
          <a:bodyPr/>
          <a:lstStyle/>
          <a:p>
            <a:fld id="{2E1D9516-9B27-4AEF-B212-5458C8BC8B7E}"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Magistrates’ Courts Law of Lagos State (MCL Lagos) establishes Magistrates Court for the state. The Lagos State Judicial Service Commission is </a:t>
            </a:r>
            <a:r>
              <a:rPr lang="en-US" dirty="0" err="1" smtClean="0"/>
              <a:t>authorised</a:t>
            </a:r>
            <a:r>
              <a:rPr lang="en-US" dirty="0" smtClean="0"/>
              <a:t>,</a:t>
            </a:r>
            <a:r>
              <a:rPr lang="en-US" baseline="0" dirty="0" smtClean="0"/>
              <a:t> by notice in the Gazette, to divide the state, or any portion of it into Magisterial Districts for the purpose of this Law.</a:t>
            </a:r>
            <a:endParaRPr lang="en-US" baseline="0" dirty="0" smtClean="0"/>
          </a:p>
          <a:p>
            <a:r>
              <a:rPr lang="en-US" baseline="0" dirty="0" smtClean="0"/>
              <a:t>A Magistrates when so appointed, shall serve as judicial officers to the exclusion of any other function. S. 4 MCL Lagos.</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endParaRPr lang="en-US" dirty="0"/>
          </a:p>
          <a:p>
            <a:pPr algn="just"/>
            <a:r>
              <a:rPr lang="en-US" dirty="0">
                <a:sym typeface="+mn-ea"/>
              </a:rPr>
              <a:t>The Area Court Edicts relates to the whole of the Northern states, </a:t>
            </a:r>
            <a:endParaRPr lang="en-US" dirty="0"/>
          </a:p>
          <a:p>
            <a:pPr algn="just"/>
            <a:r>
              <a:rPr lang="en-US" dirty="0">
                <a:sym typeface="+mn-ea"/>
              </a:rPr>
              <a:t>However, most states in the North now have their Area Court Laws and amended the punishment.</a:t>
            </a:r>
            <a:endParaRPr lang="en-US" dirty="0"/>
          </a:p>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dirty="0">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D9516-9B27-4AEF-B212-5458C8BC8B7E}"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b="1" dirty="0"/>
          </a:p>
        </p:txBody>
      </p:sp>
      <p:sp>
        <p:nvSpPr>
          <p:cNvPr id="4" name="Slide Number Placeholder 3"/>
          <p:cNvSpPr>
            <a:spLocks noGrp="1"/>
          </p:cNvSpPr>
          <p:nvPr>
            <p:ph type="sldNum" sz="quarter" idx="5"/>
          </p:nvPr>
        </p:nvSpPr>
        <p:spPr/>
        <p:txBody>
          <a:bodyPr/>
          <a:lstStyle/>
          <a:p>
            <a:fld id="{2E1D9516-9B27-4AEF-B212-5458C8BC8B7E}"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Arial Black" panose="020B0A04020102020204" pitchFamily="34" charset="0"/>
              </a:rPr>
              <a:t>COURTS OF CRIMINAL JURISDICTION</a:t>
            </a:r>
            <a:endParaRPr lang="en-US" sz="3600" dirty="0">
              <a:latin typeface="Arial Black" panose="020B0A04020102020204" pitchFamily="34" charset="0"/>
            </a:endParaRP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0325"/>
            <a:ext cx="8229600" cy="805180"/>
          </a:xfrm>
        </p:spPr>
        <p:txBody>
          <a:bodyPr>
            <a:normAutofit/>
          </a:bodyPr>
          <a:lstStyle/>
          <a:p>
            <a:r>
              <a:rPr lang="en-GB" b="1" dirty="0"/>
              <a:t>Outcomes:</a:t>
            </a:r>
            <a:endParaRPr lang="en-GB" b="1" dirty="0"/>
          </a:p>
        </p:txBody>
      </p:sp>
      <p:sp>
        <p:nvSpPr>
          <p:cNvPr id="3" name="Content Placeholder 2"/>
          <p:cNvSpPr>
            <a:spLocks noGrp="1"/>
          </p:cNvSpPr>
          <p:nvPr>
            <p:ph idx="1"/>
          </p:nvPr>
        </p:nvSpPr>
        <p:spPr>
          <a:xfrm>
            <a:off x="1981200" y="776605"/>
            <a:ext cx="8229600" cy="5650230"/>
          </a:xfrm>
        </p:spPr>
        <p:txBody>
          <a:bodyPr>
            <a:noAutofit/>
          </a:bodyPr>
          <a:lstStyle/>
          <a:p>
            <a:pPr algn="just">
              <a:buNone/>
              <a:defRPr/>
            </a:pPr>
            <a:r>
              <a:rPr lang="en-US" altLang="en-US" sz="3900" dirty="0"/>
              <a:t>At the end of this lesson students would be able to: </a:t>
            </a:r>
            <a:endParaRPr lang="en-US" altLang="en-US" sz="3900" dirty="0"/>
          </a:p>
          <a:p>
            <a:pPr algn="just">
              <a:buNone/>
              <a:defRPr/>
            </a:pPr>
            <a:r>
              <a:rPr lang="en-US" altLang="en-US" sz="3900" dirty="0"/>
              <a:t>1.Discuss and explain the various Courts of criminal jurisdiction. </a:t>
            </a:r>
            <a:endParaRPr lang="en-US" altLang="en-US" sz="3900" dirty="0"/>
          </a:p>
          <a:p>
            <a:pPr algn="just">
              <a:buNone/>
              <a:defRPr/>
            </a:pPr>
            <a:r>
              <a:rPr lang="en-US" altLang="en-US" sz="3900" dirty="0"/>
              <a:t>2.Discuss the criminal jurisdiction of Courts and the venue of criminal trials.</a:t>
            </a:r>
            <a:endParaRPr lang="en-US" altLang="en-US" sz="3900" dirty="0"/>
          </a:p>
          <a:p>
            <a:pPr algn="just">
              <a:buNone/>
              <a:defRPr/>
            </a:pPr>
            <a:r>
              <a:rPr lang="en-US" altLang="en-US" sz="3900" dirty="0">
                <a:sym typeface="+mn-ea"/>
              </a:rPr>
              <a:t>3. Explain the jurisdiction and venue of criminal trials of the International Criminal Court.</a:t>
            </a:r>
            <a:endParaRPr lang="en-US" altLang="en-US" sz="3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t>
            </a:r>
            <a:r>
              <a:rPr lang="en-US" b="1"/>
              <a:t>is jurisdiction?</a:t>
            </a:r>
            <a:endParaRPr lang="en-US" b="1" dirty="0"/>
          </a:p>
        </p:txBody>
      </p:sp>
      <p:sp>
        <p:nvSpPr>
          <p:cNvPr id="3" name="Content Placeholder 2"/>
          <p:cNvSpPr>
            <a:spLocks noGrp="1"/>
          </p:cNvSpPr>
          <p:nvPr>
            <p:ph idx="1"/>
          </p:nvPr>
        </p:nvSpPr>
        <p:spPr/>
        <p:txBody>
          <a:bodyPr>
            <a:noAutofit/>
          </a:bodyPr>
          <a:lstStyle/>
          <a:p>
            <a:pPr algn="just"/>
            <a:r>
              <a:rPr lang="en-US" altLang="en-US" sz="4000" dirty="0">
                <a:sym typeface="+mn-ea"/>
              </a:rPr>
              <a:t>It is the authority which a Court has to decide matters before it or to take cognizance of matters presented before it for decision.</a:t>
            </a:r>
            <a:r>
              <a:rPr lang="en-US" sz="4000" dirty="0"/>
              <a:t>- see </a:t>
            </a:r>
            <a:r>
              <a:rPr lang="en-US" altLang="en-US" sz="4000" b="1" i="1" dirty="0"/>
              <a:t>Madukolu v. Nkemdilim (1962) 2 SCNLR, 341, Mbah v. State (2014) LPELR-22729(SC). </a:t>
            </a:r>
            <a:endParaRPr lang="en-US" altLang="en-US" sz="4000" b="1"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0"/>
            <a:ext cx="8229600" cy="1143000"/>
          </a:xfrm>
        </p:spPr>
        <p:txBody>
          <a:bodyPr>
            <a:normAutofit/>
          </a:bodyPr>
          <a:lstStyle/>
          <a:p>
            <a:r>
              <a:rPr lang="en-US" sz="3600" b="1" dirty="0">
                <a:latin typeface="Algerian" panose="04020705040A02060702" pitchFamily="82" charset="0"/>
              </a:rPr>
              <a:t>SOURCES OF COURTS’ JURISDICTION </a:t>
            </a:r>
            <a:endParaRPr lang="en-US" sz="3600" b="1" dirty="0">
              <a:latin typeface="Algerian" panose="04020705040A02060702" pitchFamily="82" charset="0"/>
            </a:endParaRPr>
          </a:p>
        </p:txBody>
      </p:sp>
      <p:sp>
        <p:nvSpPr>
          <p:cNvPr id="3" name="Content Placeholder 2"/>
          <p:cNvSpPr>
            <a:spLocks noGrp="1"/>
          </p:cNvSpPr>
          <p:nvPr>
            <p:ph idx="1"/>
          </p:nvPr>
        </p:nvSpPr>
        <p:spPr/>
        <p:txBody>
          <a:bodyPr>
            <a:normAutofit/>
          </a:bodyPr>
          <a:lstStyle/>
          <a:p>
            <a:pPr algn="just"/>
            <a:r>
              <a:rPr lang="en-US" sz="4000" dirty="0"/>
              <a:t> Jurisdiction of each Court in Nigeria is provided for in the Constitution or in a statute. Every Court is bound to it and can’t  go outside the jurisdiction vested in it. </a:t>
            </a:r>
            <a:endParaRPr lang="en-US" sz="4000" dirty="0"/>
          </a:p>
          <a:p>
            <a:pPr algn="just"/>
            <a:r>
              <a:rPr lang="en-US" sz="4000" dirty="0"/>
              <a:t>It is not deemed or inherent.</a:t>
            </a:r>
            <a:endParaRPr lang="en-US" sz="4000" dirty="0"/>
          </a:p>
          <a:p>
            <a:endParaRPr lang="en-US" dirty="0">
              <a:latin typeface="Arial Narrow Special G1" pitchFamily="34" charset="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Essential Ingredients for the exercise of Jurisdiction of a Court</a:t>
            </a:r>
            <a:endParaRPr lang="en-US" altLang="en-US" b="1" dirty="0"/>
          </a:p>
        </p:txBody>
      </p:sp>
      <p:sp>
        <p:nvSpPr>
          <p:cNvPr id="3" name="Content Placeholder 2"/>
          <p:cNvSpPr>
            <a:spLocks noGrp="1"/>
          </p:cNvSpPr>
          <p:nvPr>
            <p:ph idx="1"/>
          </p:nvPr>
        </p:nvSpPr>
        <p:spPr/>
        <p:txBody>
          <a:bodyPr>
            <a:noAutofit/>
          </a:bodyPr>
          <a:lstStyle/>
          <a:p>
            <a:pPr algn="just"/>
            <a:r>
              <a:rPr lang="en-US" altLang="en-US" sz="4000" dirty="0"/>
              <a:t>Proper Constitution of the Court:</a:t>
            </a:r>
            <a:endParaRPr lang="en-US" altLang="en-US" sz="4000" dirty="0"/>
          </a:p>
          <a:p>
            <a:pPr algn="just"/>
            <a:r>
              <a:rPr lang="en-US" altLang="en-US" sz="4000" dirty="0"/>
              <a:t>Jurisdiction Over Subject Matter:</a:t>
            </a:r>
            <a:endParaRPr lang="en-US" altLang="en-US" sz="4000" dirty="0"/>
          </a:p>
          <a:p>
            <a:pPr algn="just"/>
            <a:r>
              <a:rPr lang="en-US" altLang="en-US" sz="4000" dirty="0"/>
              <a:t>Initiation of Proceedings by Due Process:</a:t>
            </a:r>
            <a:endParaRPr lang="en-US" altLang="en-US" sz="4000" dirty="0"/>
          </a:p>
          <a:p>
            <a:pPr algn="just"/>
            <a:r>
              <a:rPr lang="en-US" altLang="en-US" sz="4000" dirty="0"/>
              <a:t>fulfilment of any condition precedent</a:t>
            </a:r>
            <a:endParaRPr lang="en-US" altLang="en-US" sz="4000" dirty="0"/>
          </a:p>
          <a:p>
            <a:pPr marL="0" indent="0" algn="just">
              <a:buNone/>
            </a:pPr>
            <a:endParaRPr lang="en-US" alt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774700"/>
          </a:xfrm>
        </p:spPr>
        <p:txBody>
          <a:bodyPr>
            <a:normAutofit fontScale="90000"/>
          </a:bodyPr>
          <a:lstStyle/>
          <a:p>
            <a:r>
              <a:rPr lang="en-GB" b="1" dirty="0"/>
              <a:t>What determines the jurisdiction of </a:t>
            </a:r>
            <a:r>
              <a:rPr lang="en-US" altLang="en-GB" b="1" dirty="0"/>
              <a:t>a </a:t>
            </a:r>
            <a:r>
              <a:rPr lang="en-GB" b="1" dirty="0"/>
              <a:t>court?</a:t>
            </a:r>
            <a:endParaRPr lang="en-GB" b="1" dirty="0"/>
          </a:p>
        </p:txBody>
      </p:sp>
      <p:sp>
        <p:nvSpPr>
          <p:cNvPr id="3" name="Content Placeholder 2"/>
          <p:cNvSpPr>
            <a:spLocks noGrp="1"/>
          </p:cNvSpPr>
          <p:nvPr>
            <p:ph idx="1"/>
          </p:nvPr>
        </p:nvSpPr>
        <p:spPr>
          <a:xfrm>
            <a:off x="1981200" y="1050290"/>
            <a:ext cx="8229600" cy="5076190"/>
          </a:xfrm>
        </p:spPr>
        <p:txBody>
          <a:bodyPr>
            <a:noAutofit/>
          </a:bodyPr>
          <a:lstStyle/>
          <a:p>
            <a:r>
              <a:rPr lang="en-US" sz="4000" dirty="0"/>
              <a:t>Parties</a:t>
            </a:r>
            <a:endParaRPr lang="en-US" sz="4000" dirty="0"/>
          </a:p>
          <a:p>
            <a:r>
              <a:rPr lang="en-US" sz="4000" dirty="0"/>
              <a:t>Territory</a:t>
            </a:r>
            <a:endParaRPr lang="en-US" sz="4000" dirty="0"/>
          </a:p>
          <a:p>
            <a:r>
              <a:rPr lang="en-US" sz="4000" dirty="0"/>
              <a:t>Offences</a:t>
            </a:r>
            <a:endParaRPr lang="en-US" sz="4000" dirty="0"/>
          </a:p>
          <a:p>
            <a:r>
              <a:rPr lang="en-US" sz="4000" dirty="0"/>
              <a:t>Punishment</a:t>
            </a:r>
            <a:endParaRPr lang="en-US" sz="4000" dirty="0"/>
          </a:p>
          <a:p>
            <a:pPr marL="0" indent="0">
              <a:buNone/>
            </a:pPr>
            <a:r>
              <a:rPr lang="en-US" sz="4000" b="1" i="1" dirty="0"/>
              <a:t>Note: </a:t>
            </a:r>
            <a:r>
              <a:rPr lang="en-US" sz="4000" b="1" i="1" dirty="0" err="1"/>
              <a:t>Ibori</a:t>
            </a:r>
            <a:r>
              <a:rPr lang="en-US" sz="4000" b="1" i="1" dirty="0"/>
              <a:t> v. FRN (2009) ALL FWLR (Pt 487) 159 at 179, Patrick </a:t>
            </a:r>
            <a:r>
              <a:rPr lang="en-US" sz="4000" b="1" i="1" dirty="0" err="1"/>
              <a:t>Njovens</a:t>
            </a:r>
            <a:r>
              <a:rPr lang="en-US" sz="4000" b="1" i="1" dirty="0"/>
              <a:t> v. The State (1973) NNLR 76, </a:t>
            </a:r>
            <a:r>
              <a:rPr lang="en-US" altLang="en-US" sz="4000" b="1" i="1" dirty="0"/>
              <a:t>Kanu V. FRN (2022) LPELR-58768(CA)</a:t>
            </a:r>
            <a:endParaRPr lang="en-US" altLang="en-US" sz="4000" b="1" i="1" dirty="0"/>
          </a:p>
          <a:p>
            <a:endParaRPr lang="en-US" sz="4000" b="1"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0" y="1600200"/>
            <a:ext cx="7848600" cy="4191000"/>
          </a:xfrm>
        </p:spPr>
        <p:txBody>
          <a:bodyPr>
            <a:noAutofit/>
          </a:bodyPr>
          <a:lstStyle/>
          <a:p>
            <a:pPr algn="just"/>
            <a:r>
              <a:rPr lang="en-US" sz="4000" dirty="0"/>
              <a:t>The question of jurisdiction arises in criminal proceedings at three different levels, these are:</a:t>
            </a:r>
            <a:endParaRPr lang="en-US" sz="4000" dirty="0"/>
          </a:p>
          <a:p>
            <a:pPr marL="400050" indent="-400050" algn="just">
              <a:buFont typeface="+mj-lt"/>
              <a:buAutoNum type="romanLcPeriod"/>
            </a:pPr>
            <a:r>
              <a:rPr lang="en-US" sz="4000" dirty="0"/>
              <a:t>Territorial jurisdiction; </a:t>
            </a:r>
            <a:endParaRPr lang="en-US" sz="4000" dirty="0"/>
          </a:p>
          <a:p>
            <a:pPr marL="400050" indent="-400050" algn="just">
              <a:buFont typeface="+mj-lt"/>
              <a:buAutoNum type="romanLcPeriod"/>
            </a:pPr>
            <a:r>
              <a:rPr lang="en-US" sz="4000" dirty="0"/>
              <a:t>Substantive jurisdiction (subject matter) and </a:t>
            </a:r>
            <a:endParaRPr lang="en-US" sz="4000" dirty="0"/>
          </a:p>
          <a:p>
            <a:pPr marL="400050" indent="-400050" algn="just">
              <a:buFont typeface="+mj-lt"/>
              <a:buAutoNum type="romanLcPeriod"/>
            </a:pPr>
            <a:r>
              <a:rPr lang="en-US" sz="4000" dirty="0"/>
              <a:t> Jurisdiction over persons.  </a:t>
            </a:r>
            <a:endParaRPr lang="en-US" sz="4000" dirty="0"/>
          </a:p>
          <a:p>
            <a:pPr algn="just">
              <a:buNone/>
            </a:pPr>
            <a:endParaRPr lang="en-US" sz="4000" dirty="0"/>
          </a:p>
        </p:txBody>
      </p:sp>
      <p:sp>
        <p:nvSpPr>
          <p:cNvPr id="7" name="Title 6"/>
          <p:cNvSpPr>
            <a:spLocks noGrp="1"/>
          </p:cNvSpPr>
          <p:nvPr>
            <p:ph type="title"/>
          </p:nvPr>
        </p:nvSpPr>
        <p:spPr>
          <a:xfrm>
            <a:off x="1981200" y="457200"/>
            <a:ext cx="8229600" cy="1021080"/>
          </a:xfrm>
        </p:spPr>
        <p:txBody>
          <a:bodyPr>
            <a:normAutofit fontScale="90000"/>
          </a:bodyPr>
          <a:lstStyle/>
          <a:p>
            <a:r>
              <a:rPr lang="en-US" b="1" dirty="0"/>
              <a:t>JURISDICTIONAL CHALLENGES IN CRIMINAL TRIALS</a:t>
            </a:r>
            <a:endParaRPr 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723900"/>
          </a:xfrm>
        </p:spPr>
        <p:txBody>
          <a:bodyPr>
            <a:normAutofit fontScale="90000"/>
          </a:bodyPr>
          <a:lstStyle/>
          <a:p>
            <a:r>
              <a:rPr lang="en-US" b="1" dirty="0">
                <a:sym typeface="+mn-ea"/>
              </a:rPr>
              <a:t>TERRITORIAL JURISDICTION</a:t>
            </a:r>
            <a:endParaRPr lang="en-US" dirty="0"/>
          </a:p>
        </p:txBody>
      </p:sp>
      <p:sp>
        <p:nvSpPr>
          <p:cNvPr id="3" name="Content Placeholder 2"/>
          <p:cNvSpPr>
            <a:spLocks noGrp="1"/>
          </p:cNvSpPr>
          <p:nvPr>
            <p:ph idx="1"/>
          </p:nvPr>
        </p:nvSpPr>
        <p:spPr>
          <a:xfrm>
            <a:off x="1981200" y="1125855"/>
            <a:ext cx="8229600" cy="5000625"/>
          </a:xfrm>
        </p:spPr>
        <p:txBody>
          <a:bodyPr>
            <a:noAutofit/>
          </a:bodyPr>
          <a:lstStyle/>
          <a:p>
            <a:pPr marL="0" indent="0" algn="just">
              <a:buNone/>
            </a:pPr>
            <a:r>
              <a:rPr lang="en-US" sz="4000" dirty="0"/>
              <a:t>This relates to instances where a crime is partially or wholly committed in one state but the offender is arrested in another state OR where an element or some elements of a crime are committed in two different jurisdictions OR where the effect or result of an offence commenced in one state occurs in another state.</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445135"/>
          </a:xfrm>
        </p:spPr>
        <p:txBody>
          <a:bodyPr>
            <a:normAutofit fontScale="90000"/>
          </a:bodyPr>
          <a:lstStyle/>
          <a:p>
            <a:endParaRPr lang="en-US" dirty="0"/>
          </a:p>
        </p:txBody>
      </p:sp>
      <p:sp>
        <p:nvSpPr>
          <p:cNvPr id="3" name="Content Placeholder 2"/>
          <p:cNvSpPr>
            <a:spLocks noGrp="1"/>
          </p:cNvSpPr>
          <p:nvPr>
            <p:ph idx="1"/>
          </p:nvPr>
        </p:nvSpPr>
        <p:spPr>
          <a:xfrm>
            <a:off x="1981200" y="864870"/>
            <a:ext cx="8229600" cy="5261610"/>
          </a:xfrm>
        </p:spPr>
        <p:txBody>
          <a:bodyPr>
            <a:noAutofit/>
          </a:bodyPr>
          <a:lstStyle/>
          <a:p>
            <a:pPr algn="just"/>
            <a:r>
              <a:rPr lang="en-US" sz="4000" b="1" dirty="0"/>
              <a:t>In the above scenario, it is settled law that both states will have jurisdiction.</a:t>
            </a:r>
            <a:r>
              <a:rPr lang="en-US" sz="4000" dirty="0"/>
              <a:t> see </a:t>
            </a:r>
            <a:r>
              <a:rPr lang="en-US" sz="4000" i="1" dirty="0"/>
              <a:t>OKORO VS ATTORNEY-GENERAL OF WESTERN NIGERIA (1965) 1 All NLR 283,</a:t>
            </a:r>
            <a:r>
              <a:rPr lang="en-US" sz="4000" dirty="0"/>
              <a:t>  See also </a:t>
            </a:r>
            <a:r>
              <a:rPr lang="en-US" sz="4000" i="1" dirty="0" err="1"/>
              <a:t>Njovens</a:t>
            </a:r>
            <a:r>
              <a:rPr lang="en-US" sz="4000" i="1" dirty="0"/>
              <a:t> v. The State [1973] NNLR 76, [1973] 1 NMLR 331, </a:t>
            </a:r>
            <a:r>
              <a:rPr lang="en-US" sz="4000" i="1" dirty="0" err="1">
                <a:sym typeface="+mn-ea"/>
              </a:rPr>
              <a:t>Dariye</a:t>
            </a:r>
            <a:r>
              <a:rPr lang="en-US" sz="4000" i="1" dirty="0">
                <a:sym typeface="+mn-ea"/>
              </a:rPr>
              <a:t> v. FRN [2015] All FWLR (Pt. 774) 97</a:t>
            </a:r>
            <a:r>
              <a:rPr lang="en-US" sz="4000" dirty="0">
                <a:sym typeface="+mn-ea"/>
              </a:rPr>
              <a:t> </a:t>
            </a:r>
            <a:endParaRPr lang="en-US" sz="4000" i="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802005"/>
          </a:xfrm>
        </p:spPr>
        <p:txBody>
          <a:bodyPr>
            <a:normAutofit/>
          </a:bodyPr>
          <a:lstStyle/>
          <a:p>
            <a:r>
              <a:rPr lang="en-US" b="1" dirty="0"/>
              <a:t>VENUE OF CRIMINAL TRIAL</a:t>
            </a:r>
            <a:endParaRPr lang="en-US" dirty="0"/>
          </a:p>
        </p:txBody>
      </p:sp>
      <p:sp>
        <p:nvSpPr>
          <p:cNvPr id="3" name="Content Placeholder 2"/>
          <p:cNvSpPr>
            <a:spLocks noGrp="1"/>
          </p:cNvSpPr>
          <p:nvPr>
            <p:ph idx="1"/>
          </p:nvPr>
        </p:nvSpPr>
        <p:spPr>
          <a:xfrm>
            <a:off x="1981200" y="1179830"/>
            <a:ext cx="8229600" cy="4946650"/>
          </a:xfrm>
        </p:spPr>
        <p:txBody>
          <a:bodyPr>
            <a:noAutofit/>
          </a:bodyPr>
          <a:lstStyle/>
          <a:p>
            <a:pPr algn="just"/>
            <a:r>
              <a:rPr lang="en-US" sz="4000" dirty="0"/>
              <a:t>The venue of trial is very important. </a:t>
            </a:r>
            <a:r>
              <a:rPr lang="en-US" sz="4000" b="1" dirty="0"/>
              <a:t>S.93 ACJA,</a:t>
            </a:r>
            <a:r>
              <a:rPr lang="en-US" sz="4000" dirty="0"/>
              <a:t> provides that an offence shall be tried by a court within the local limits of whose jurisdictions:</a:t>
            </a:r>
            <a:endParaRPr lang="en-US" sz="4000" dirty="0"/>
          </a:p>
          <a:p>
            <a:pPr algn="just"/>
            <a:r>
              <a:rPr lang="en-US" sz="4000" dirty="0"/>
              <a:t>The offence was wholly or in part committed, or some acts forming part of the offence was done;</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54505" y="331470"/>
            <a:ext cx="8626475" cy="5795010"/>
          </a:xfrm>
        </p:spPr>
        <p:txBody>
          <a:bodyPr>
            <a:noAutofit/>
          </a:bodyPr>
          <a:p>
            <a:pPr algn="just"/>
            <a:r>
              <a:rPr lang="en-US" sz="4000" dirty="0">
                <a:sym typeface="+mn-ea"/>
              </a:rPr>
              <a:t>The consequence of the offence has ensued;</a:t>
            </a:r>
            <a:endParaRPr lang="en-US" sz="4000" dirty="0"/>
          </a:p>
          <a:p>
            <a:pPr algn="just"/>
            <a:r>
              <a:rPr lang="en-US" sz="4000" dirty="0">
                <a:sym typeface="+mn-ea"/>
              </a:rPr>
              <a:t>An offence was committed by reference to which the offence is denied; or</a:t>
            </a:r>
            <a:endParaRPr lang="en-US" sz="4000" dirty="0">
              <a:sym typeface="+mn-ea"/>
            </a:endParaRPr>
          </a:p>
          <a:p>
            <a:pPr algn="just"/>
            <a:r>
              <a:rPr lang="en-US" sz="4000" dirty="0">
                <a:sym typeface="+mn-ea"/>
              </a:rPr>
              <a:t>A person against whom, or property in respect of which, the offence was committed is found, having been transported there by the suspect or by a person knowing of the offence.</a:t>
            </a:r>
            <a:endParaRPr lang="en-US" sz="4000" dirty="0"/>
          </a:p>
          <a:p>
            <a:pPr marL="0" indent="0">
              <a:buNone/>
            </a:pP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5925" y="338455"/>
            <a:ext cx="8524875" cy="5788025"/>
          </a:xfrm>
        </p:spPr>
        <p:txBody>
          <a:bodyPr>
            <a:noAutofit/>
          </a:bodyPr>
          <a:lstStyle/>
          <a:p>
            <a:pPr algn="just"/>
            <a:r>
              <a:rPr lang="en-US" sz="3800" dirty="0"/>
              <a:t>Section 96 ACJA also provides that:</a:t>
            </a:r>
            <a:endParaRPr lang="en-US" sz="3800" dirty="0"/>
          </a:p>
          <a:p>
            <a:pPr algn="just"/>
            <a:r>
              <a:rPr lang="en-US" sz="3800" dirty="0"/>
              <a:t>Where an offence is committed in a state and completed in another state ; or </a:t>
            </a:r>
            <a:endParaRPr lang="en-US" sz="3800" dirty="0"/>
          </a:p>
          <a:p>
            <a:pPr algn="just"/>
            <a:r>
              <a:rPr lang="en-US" sz="3800" dirty="0"/>
              <a:t>Is completed in the Federal Capital Territory, Abuja being commenced in another State , the suspect may be dealt with, tried and punished as if the offence had been actually or wholly committed in any of the states, or the FCT.</a:t>
            </a:r>
            <a:endParaRPr lang="en-US" sz="3800" dirty="0"/>
          </a:p>
          <a:p>
            <a:pPr algn="just"/>
            <a:endParaRPr lang="en-US" sz="3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CRIMINAL COURT</a:t>
            </a:r>
            <a:endParaRPr lang="en-US" b="1" dirty="0"/>
          </a:p>
        </p:txBody>
      </p:sp>
      <p:sp>
        <p:nvSpPr>
          <p:cNvPr id="3" name="Content Placeholder 2"/>
          <p:cNvSpPr>
            <a:spLocks noGrp="1"/>
          </p:cNvSpPr>
          <p:nvPr>
            <p:ph idx="1"/>
          </p:nvPr>
        </p:nvSpPr>
        <p:spPr>
          <a:xfrm>
            <a:off x="1981200" y="1520825"/>
            <a:ext cx="8229600" cy="4605655"/>
          </a:xfrm>
        </p:spPr>
        <p:txBody>
          <a:bodyPr>
            <a:noAutofit/>
          </a:bodyPr>
          <a:lstStyle/>
          <a:p>
            <a:pPr algn="just"/>
            <a:r>
              <a:rPr lang="en-US" sz="4000" dirty="0"/>
              <a:t>The jurisdiction of Court to entertain criminal matter may be broadly classified into two:</a:t>
            </a:r>
            <a:endParaRPr lang="en-US" sz="4000" dirty="0"/>
          </a:p>
          <a:p>
            <a:pPr algn="just">
              <a:buFont typeface="+mj-lt"/>
              <a:buAutoNum type="arabicPeriod"/>
            </a:pPr>
            <a:r>
              <a:rPr lang="en-US" sz="4000" dirty="0"/>
              <a:t>Court of General Criminal Jurisdiction </a:t>
            </a:r>
            <a:endParaRPr lang="en-US" sz="4000" dirty="0"/>
          </a:p>
          <a:p>
            <a:pPr algn="just">
              <a:buFont typeface="+mj-lt"/>
              <a:buAutoNum type="arabicPeriod"/>
            </a:pPr>
            <a:r>
              <a:rPr lang="en-US" sz="4000" dirty="0"/>
              <a:t>Court of Special Criminal Jurisdiction </a:t>
            </a:r>
            <a:endParaRPr lang="en-US" sz="4000" dirty="0"/>
          </a:p>
          <a:p>
            <a:pPr algn="just">
              <a:buNone/>
            </a:pP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COURTS OF GENERAL CRIMINAL JURISDICTION IN THE </a:t>
            </a:r>
            <a:r>
              <a:rPr lang="en-US" b="1"/>
              <a:t>SOUTHERN STATES </a:t>
            </a:r>
            <a:r>
              <a:rPr lang="en-US" b="1" dirty="0"/>
              <a:t>OF NIGERIA.</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381000"/>
            <a:ext cx="7772400" cy="990600"/>
          </a:xfrm>
        </p:spPr>
        <p:txBody>
          <a:bodyPr>
            <a:noAutofit/>
          </a:bodyPr>
          <a:lstStyle/>
          <a:p>
            <a:r>
              <a:rPr lang="en-US" sz="6000" b="1" dirty="0"/>
              <a:t>CUSTOMARY COURT</a:t>
            </a:r>
            <a:endParaRPr lang="en-US" sz="6000" b="1" dirty="0"/>
          </a:p>
        </p:txBody>
      </p:sp>
      <p:sp>
        <p:nvSpPr>
          <p:cNvPr id="3" name="Content Placeholder 2"/>
          <p:cNvSpPr>
            <a:spLocks noGrp="1"/>
          </p:cNvSpPr>
          <p:nvPr>
            <p:ph idx="1"/>
          </p:nvPr>
        </p:nvSpPr>
        <p:spPr>
          <a:xfrm>
            <a:off x="1981200" y="1371600"/>
            <a:ext cx="8229600" cy="5105400"/>
          </a:xfrm>
        </p:spPr>
        <p:txBody>
          <a:bodyPr>
            <a:noAutofit/>
          </a:bodyPr>
          <a:lstStyle/>
          <a:p>
            <a:pPr algn="just">
              <a:buFont typeface="Wingdings" panose="05000000000000000000" pitchFamily="2" charset="2"/>
              <a:buChar char="§"/>
            </a:pPr>
            <a:r>
              <a:rPr lang="en-US" sz="4000" dirty="0"/>
              <a:t>The Customary Court was formerly known as Native courts in the southern states which can be found in the former Western Nigeria and Eastern Nigeria.</a:t>
            </a:r>
            <a:endParaRPr lang="en-US" sz="4000" dirty="0"/>
          </a:p>
          <a:p>
            <a:pPr algn="just">
              <a:buFont typeface="Wingdings" panose="05000000000000000000" pitchFamily="2" charset="2"/>
              <a:buChar char="§"/>
            </a:pPr>
            <a:r>
              <a:rPr lang="en-US" sz="4000" dirty="0"/>
              <a:t>Customary court in Lagos is established by the Lagos State Customary Court Law, 2011.</a:t>
            </a:r>
            <a:endParaRPr lang="en-US" sz="4000" dirty="0"/>
          </a:p>
          <a:p>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700405"/>
          </a:xfrm>
        </p:spPr>
        <p:txBody>
          <a:bodyPr>
            <a:normAutofit fontScale="90000"/>
          </a:bodyPr>
          <a:lstStyle/>
          <a:p>
            <a:r>
              <a:rPr lang="en-US" sz="5400" b="1" dirty="0"/>
              <a:t>JURISDICTION</a:t>
            </a:r>
            <a:r>
              <a:rPr lang="en-US" sz="3600" dirty="0"/>
              <a:t> </a:t>
            </a:r>
            <a:endParaRPr lang="en-US" sz="3600" dirty="0"/>
          </a:p>
        </p:txBody>
      </p:sp>
      <p:sp>
        <p:nvSpPr>
          <p:cNvPr id="3" name="Content Placeholder 2"/>
          <p:cNvSpPr>
            <a:spLocks noGrp="1"/>
          </p:cNvSpPr>
          <p:nvPr>
            <p:ph idx="1"/>
          </p:nvPr>
        </p:nvSpPr>
        <p:spPr>
          <a:xfrm>
            <a:off x="803275" y="759460"/>
            <a:ext cx="10363835" cy="5367020"/>
          </a:xfrm>
        </p:spPr>
        <p:txBody>
          <a:bodyPr>
            <a:noAutofit/>
          </a:bodyPr>
          <a:lstStyle/>
          <a:p>
            <a:pPr marL="0" indent="0" algn="just">
              <a:buNone/>
            </a:pPr>
            <a:r>
              <a:rPr lang="en-US" sz="4000" dirty="0"/>
              <a:t>It entertain cases such as:</a:t>
            </a:r>
            <a:endParaRPr lang="en-US" sz="4000" dirty="0"/>
          </a:p>
          <a:p>
            <a:pPr marL="514350" indent="-514350" algn="just">
              <a:buFont typeface="+mj-lt"/>
              <a:buAutoNum type="arabicPeriod"/>
            </a:pPr>
            <a:r>
              <a:rPr lang="en-US" sz="4000" dirty="0"/>
              <a:t>Violation of Bye laws</a:t>
            </a:r>
            <a:endParaRPr lang="en-US" sz="4000" dirty="0"/>
          </a:p>
          <a:p>
            <a:pPr marL="514350" indent="-514350" algn="just">
              <a:buFont typeface="+mj-lt"/>
              <a:buAutoNum type="arabicPeriod"/>
            </a:pPr>
            <a:r>
              <a:rPr lang="en-US" sz="4000" dirty="0"/>
              <a:t>Rules of Local Government </a:t>
            </a:r>
            <a:endParaRPr lang="en-US" sz="4000" dirty="0"/>
          </a:p>
          <a:p>
            <a:pPr marL="514350" indent="-514350" algn="just">
              <a:buFont typeface="+mj-lt"/>
              <a:buAutoNum type="arabicPeriod"/>
            </a:pPr>
            <a:r>
              <a:rPr lang="en-US" sz="4000" dirty="0"/>
              <a:t>Where a law expressly confer jurisdiction on CC and </a:t>
            </a:r>
            <a:endParaRPr lang="en-US" sz="4000" dirty="0"/>
          </a:p>
          <a:p>
            <a:pPr marL="514350" indent="-514350" algn="just">
              <a:buFont typeface="+mj-lt"/>
              <a:buAutoNum type="arabicPeriod"/>
            </a:pPr>
            <a:r>
              <a:rPr lang="en-US" sz="4000" dirty="0"/>
              <a:t>Cases of </a:t>
            </a:r>
            <a:r>
              <a:rPr lang="en-US" sz="4000" i="1" dirty="0"/>
              <a:t>contempt in facie curiae</a:t>
            </a:r>
            <a:r>
              <a:rPr lang="en-US" sz="4000" dirty="0"/>
              <a:t>. S. 19 Customary Courts Law of Oyo State, Cap 41, Laws of Oyo State, 2000.</a:t>
            </a:r>
            <a:endParaRPr lang="en-US" sz="4000" dirty="0"/>
          </a:p>
          <a:p>
            <a:pPr marL="514350" indent="-514350" algn="just">
              <a:buFont typeface="+mj-lt"/>
              <a:buAutoNum type="arabicPeriod"/>
            </a:pPr>
            <a:r>
              <a:rPr lang="en-US" sz="4000" dirty="0"/>
              <a:t>See also s.25, 41 of the </a:t>
            </a:r>
            <a:r>
              <a:rPr lang="en-US" sz="4000" dirty="0">
                <a:sym typeface="+mn-ea"/>
              </a:rPr>
              <a:t>Lagos State Customary Court Law, 2011</a:t>
            </a:r>
            <a:endParaRPr lang="en-US" sz="4000" dirty="0"/>
          </a:p>
          <a:p>
            <a:pPr algn="just"/>
            <a:endParaRPr lang="en-US" sz="4000" dirty="0"/>
          </a:p>
          <a:p>
            <a:pPr algn="just"/>
            <a:endParaRPr lang="en-US" sz="4000" dirty="0"/>
          </a:p>
          <a:p>
            <a:pPr algn="just"/>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937895"/>
          </a:xfrm>
        </p:spPr>
        <p:txBody>
          <a:bodyPr>
            <a:normAutofit fontScale="90000"/>
          </a:bodyPr>
          <a:lstStyle/>
          <a:p>
            <a:r>
              <a:rPr lang="en-US" sz="6600" b="1" dirty="0"/>
              <a:t>GRADES OF CC</a:t>
            </a:r>
            <a:endParaRPr lang="en-US" sz="6600" b="1" dirty="0"/>
          </a:p>
        </p:txBody>
      </p:sp>
      <p:sp>
        <p:nvSpPr>
          <p:cNvPr id="3" name="Content Placeholder 2"/>
          <p:cNvSpPr>
            <a:spLocks noGrp="1"/>
          </p:cNvSpPr>
          <p:nvPr>
            <p:ph idx="1"/>
          </p:nvPr>
        </p:nvSpPr>
        <p:spPr>
          <a:xfrm>
            <a:off x="1981200" y="1212850"/>
            <a:ext cx="8332470" cy="4913630"/>
          </a:xfrm>
        </p:spPr>
        <p:txBody>
          <a:bodyPr>
            <a:noAutofit/>
          </a:bodyPr>
          <a:lstStyle/>
          <a:p>
            <a:pPr marL="0" indent="0">
              <a:buNone/>
            </a:pPr>
            <a:r>
              <a:rPr lang="en-US" sz="4000" dirty="0"/>
              <a:t>Oyo State has 3 grades of CC</a:t>
            </a:r>
            <a:endParaRPr lang="en-US" sz="4000" dirty="0"/>
          </a:p>
          <a:p>
            <a:pPr marL="857250" indent="-857250">
              <a:buFont typeface="+mj-lt"/>
              <a:buAutoNum type="alphaLcPeriod"/>
            </a:pPr>
            <a:r>
              <a:rPr lang="en-US" sz="4000" dirty="0"/>
              <a:t>C C Grade A = N1,000 or 5yrs</a:t>
            </a:r>
            <a:endParaRPr lang="en-US" sz="4000" dirty="0"/>
          </a:p>
          <a:p>
            <a:pPr marL="857250" indent="-857250">
              <a:buFont typeface="+mj-lt"/>
              <a:buAutoNum type="alphaLcPeriod"/>
            </a:pPr>
            <a:r>
              <a:rPr lang="en-US" sz="4000" dirty="0"/>
              <a:t>C C Grade B = N400 or 2yrs</a:t>
            </a:r>
            <a:endParaRPr lang="en-US" sz="4000" dirty="0"/>
          </a:p>
          <a:p>
            <a:pPr marL="857250" indent="-857250">
              <a:buFont typeface="+mj-lt"/>
              <a:buAutoNum type="alphaLcPeriod"/>
            </a:pPr>
            <a:r>
              <a:rPr lang="en-US" sz="4000" dirty="0"/>
              <a:t>C C Grade C = N100 or 1yr.</a:t>
            </a:r>
            <a:endParaRPr lang="en-US" sz="4000" dirty="0"/>
          </a:p>
          <a:p>
            <a:pPr marL="0" indent="0">
              <a:buNone/>
            </a:pPr>
            <a:r>
              <a:rPr lang="en-US" sz="4000" dirty="0"/>
              <a:t>NB:</a:t>
            </a:r>
            <a:endParaRPr lang="en-US" sz="4000" dirty="0"/>
          </a:p>
          <a:p>
            <a:pPr marL="0" indent="0">
              <a:buNone/>
            </a:pPr>
            <a:r>
              <a:rPr lang="en-US" sz="4000" dirty="0"/>
              <a:t>Appeals from the Customary court goes to?</a:t>
            </a:r>
            <a:endParaRPr lang="en-US" sz="4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MAGISTRATES’ COURTS (South)</a:t>
            </a:r>
            <a:endParaRPr lang="en-US" dirty="0"/>
          </a:p>
        </p:txBody>
      </p:sp>
      <p:sp>
        <p:nvSpPr>
          <p:cNvPr id="3" name="Content Placeholder 2"/>
          <p:cNvSpPr>
            <a:spLocks noGrp="1"/>
          </p:cNvSpPr>
          <p:nvPr>
            <p:ph idx="1"/>
          </p:nvPr>
        </p:nvSpPr>
        <p:spPr/>
        <p:txBody>
          <a:bodyPr>
            <a:noAutofit/>
          </a:bodyPr>
          <a:lstStyle/>
          <a:p>
            <a:pPr algn="just">
              <a:buFont typeface="Arial" panose="020B0604020202020204" pitchFamily="34" charset="0"/>
              <a:buChar char="•"/>
            </a:pPr>
            <a:r>
              <a:rPr lang="en-US" sz="4000" dirty="0"/>
              <a:t>Magistrates courts are established in all states in the Federation by the Magistrates Court Laws of various States.</a:t>
            </a:r>
            <a:endParaRPr lang="en-US" sz="4000" dirty="0"/>
          </a:p>
          <a:p>
            <a:pPr algn="just">
              <a:buFont typeface="Arial" panose="020B0604020202020204" pitchFamily="34" charset="0"/>
              <a:buChar char="•"/>
            </a:pPr>
            <a:r>
              <a:rPr lang="en-US" sz="4000" dirty="0"/>
              <a:t>Magistrates Court in Oyo State has seven grade of magistrates’ courts as follows:</a:t>
            </a:r>
            <a:endParaRPr lang="en-US" sz="4000" dirty="0"/>
          </a:p>
          <a:p>
            <a:pPr algn="just">
              <a:buFont typeface="Arial" panose="020B0604020202020204" pitchFamily="34" charset="0"/>
              <a:buChar char="•"/>
            </a:pP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1805" y="-133350"/>
            <a:ext cx="8787130" cy="6332220"/>
          </a:xfrm>
        </p:spPr>
        <p:txBody>
          <a:bodyPr>
            <a:noAutofit/>
          </a:bodyPr>
          <a:lstStyle/>
          <a:p>
            <a:pPr algn="just">
              <a:buFont typeface="Wingdings" panose="05000000000000000000" charset="0"/>
              <a:buChar char="ü"/>
            </a:pPr>
            <a:r>
              <a:rPr lang="en-US" sz="3800" dirty="0"/>
              <a:t>CM Grade I = 7yrs or N30,000</a:t>
            </a:r>
            <a:endParaRPr lang="en-US" sz="3800" dirty="0"/>
          </a:p>
          <a:p>
            <a:pPr algn="just">
              <a:buFont typeface="Wingdings" panose="05000000000000000000" charset="0"/>
              <a:buChar char="ü"/>
            </a:pPr>
            <a:r>
              <a:rPr lang="en-US" sz="3800" dirty="0">
                <a:sym typeface="+mn-ea"/>
              </a:rPr>
              <a:t>CM </a:t>
            </a:r>
            <a:r>
              <a:rPr lang="en-US" sz="3800" dirty="0"/>
              <a:t>Grade II = 7yrs or N25,000</a:t>
            </a:r>
            <a:endParaRPr lang="en-US" sz="3800" dirty="0"/>
          </a:p>
          <a:p>
            <a:pPr algn="just">
              <a:buFont typeface="Wingdings" panose="05000000000000000000" charset="0"/>
              <a:buChar char="ü"/>
            </a:pPr>
            <a:r>
              <a:rPr lang="en-US" sz="3800" dirty="0"/>
              <a:t>SM Grade I = 5yrs or N20,000</a:t>
            </a:r>
            <a:endParaRPr lang="en-US" sz="3800" dirty="0"/>
          </a:p>
          <a:p>
            <a:pPr algn="just">
              <a:buFont typeface="Wingdings" panose="05000000000000000000" charset="0"/>
              <a:buChar char="ü"/>
            </a:pPr>
            <a:r>
              <a:rPr lang="en-US" sz="3800" dirty="0">
                <a:sym typeface="+mn-ea"/>
              </a:rPr>
              <a:t>SM </a:t>
            </a:r>
            <a:r>
              <a:rPr lang="en-US" sz="3800" dirty="0"/>
              <a:t> Grade II = 4yrs or N15,000</a:t>
            </a:r>
            <a:endParaRPr lang="en-US" sz="3800" dirty="0"/>
          </a:p>
          <a:p>
            <a:pPr algn="just">
              <a:buFont typeface="Wingdings" panose="05000000000000000000" charset="0"/>
              <a:buChar char="ü"/>
            </a:pPr>
            <a:r>
              <a:rPr lang="en-US" sz="3800" dirty="0"/>
              <a:t>M Grade I = 3 yrs or N10,000</a:t>
            </a:r>
            <a:endParaRPr lang="en-US" sz="3800" dirty="0"/>
          </a:p>
          <a:p>
            <a:pPr algn="just">
              <a:buFont typeface="Wingdings" panose="05000000000000000000" charset="0"/>
              <a:buChar char="ü"/>
            </a:pPr>
            <a:r>
              <a:rPr lang="en-US" sz="3800" dirty="0"/>
              <a:t>M Grade II = 2 yrs or N5,000</a:t>
            </a:r>
            <a:endParaRPr lang="en-US" sz="3800" dirty="0"/>
          </a:p>
          <a:p>
            <a:pPr algn="just">
              <a:buFont typeface="Wingdings" panose="05000000000000000000" charset="0"/>
              <a:buChar char="ü"/>
            </a:pPr>
            <a:r>
              <a:rPr lang="en-US" sz="3800" dirty="0"/>
              <a:t>Lay Magistrate. = 1 yr or N2,000</a:t>
            </a:r>
            <a:endParaRPr lang="en-US" sz="3800" b="1" dirty="0"/>
          </a:p>
          <a:p>
            <a:pPr marL="0" indent="0" algn="just">
              <a:buFont typeface="Wingdings" panose="05000000000000000000" charset="0"/>
              <a:buNone/>
            </a:pPr>
            <a:r>
              <a:rPr lang="en-US" sz="3800" b="1" dirty="0"/>
              <a:t>NB:</a:t>
            </a:r>
            <a:r>
              <a:rPr lang="en-US" sz="3800" dirty="0"/>
              <a:t> </a:t>
            </a:r>
            <a:endParaRPr lang="en-US" sz="3800" dirty="0"/>
          </a:p>
          <a:p>
            <a:pPr marL="0" indent="0" algn="just">
              <a:buFont typeface="Wingdings" panose="05000000000000000000" charset="0"/>
              <a:buNone/>
            </a:pPr>
            <a:r>
              <a:rPr lang="en-US" sz="3800" dirty="0"/>
              <a:t>They can impose both the imprisonment terms and fines. see s.21 &amp; 22 MCL Oyo </a:t>
            </a:r>
            <a:endParaRPr lang="en-US" sz="3800" dirty="0"/>
          </a:p>
          <a:p>
            <a:pPr algn="just">
              <a:buFont typeface="Wingdings" panose="05000000000000000000" charset="0"/>
              <a:buChar char="ü"/>
            </a:pPr>
            <a:endParaRPr lang="en-US" sz="3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596900"/>
          </a:xfrm>
        </p:spPr>
        <p:txBody>
          <a:bodyPr>
            <a:normAutofit fontScale="90000"/>
          </a:bodyPr>
          <a:lstStyle/>
          <a:p>
            <a:r>
              <a:rPr lang="en-US" sz="6000" b="1" dirty="0"/>
              <a:t>JURISDICTION OF MC</a:t>
            </a:r>
            <a:endParaRPr lang="en-US" sz="6000" b="1" dirty="0"/>
          </a:p>
        </p:txBody>
      </p:sp>
      <p:sp>
        <p:nvSpPr>
          <p:cNvPr id="3" name="Content Placeholder 2"/>
          <p:cNvSpPr>
            <a:spLocks noGrp="1"/>
          </p:cNvSpPr>
          <p:nvPr>
            <p:ph idx="1"/>
          </p:nvPr>
        </p:nvSpPr>
        <p:spPr>
          <a:xfrm>
            <a:off x="1981200" y="871855"/>
            <a:ext cx="8229600" cy="5254625"/>
          </a:xfrm>
        </p:spPr>
        <p:txBody>
          <a:bodyPr>
            <a:noAutofit/>
          </a:bodyPr>
          <a:lstStyle/>
          <a:p>
            <a:pPr marL="0" indent="0" algn="just">
              <a:buNone/>
            </a:pPr>
            <a:r>
              <a:rPr lang="en-US" sz="4000" dirty="0"/>
              <a:t>The Magistrate Court has the jurisdiction to try </a:t>
            </a:r>
            <a:endParaRPr lang="en-US" sz="4000" dirty="0"/>
          </a:p>
          <a:p>
            <a:pPr algn="just">
              <a:buFont typeface="Wingdings" panose="05000000000000000000" pitchFamily="2" charset="2"/>
              <a:buChar char="Ø"/>
            </a:pPr>
            <a:r>
              <a:rPr lang="en-US" sz="4000" dirty="0"/>
              <a:t>All non-indictable offences and </a:t>
            </a:r>
            <a:endParaRPr lang="en-US" sz="4000" dirty="0"/>
          </a:p>
          <a:p>
            <a:pPr algn="just">
              <a:buFont typeface="Wingdings" panose="05000000000000000000" pitchFamily="2" charset="2"/>
              <a:buChar char="Ø"/>
            </a:pPr>
            <a:r>
              <a:rPr lang="en-US" sz="4000" dirty="0"/>
              <a:t>indictable offences other than capital offence with the consent of the accused person.</a:t>
            </a:r>
            <a:endParaRPr lang="en-US" sz="4000" dirty="0"/>
          </a:p>
          <a:p>
            <a:pPr algn="just">
              <a:buFont typeface="Wingdings" panose="05000000000000000000" pitchFamily="2" charset="2"/>
              <a:buChar char="Ø"/>
            </a:pPr>
            <a:endParaRPr lang="en-US" sz="4000" dirty="0"/>
          </a:p>
          <a:p>
            <a:pPr marL="0" indent="0" algn="just">
              <a:buNone/>
            </a:pP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ym typeface="+mn-ea"/>
              </a:rPr>
              <a:t>JURISDICTION OF MC (Cont’d)</a:t>
            </a:r>
            <a:endParaRPr lang="en-US"/>
          </a:p>
        </p:txBody>
      </p:sp>
      <p:sp>
        <p:nvSpPr>
          <p:cNvPr id="3" name="Content Placeholder 2"/>
          <p:cNvSpPr>
            <a:spLocks noGrp="1"/>
          </p:cNvSpPr>
          <p:nvPr>
            <p:ph idx="1"/>
          </p:nvPr>
        </p:nvSpPr>
        <p:spPr/>
        <p:txBody>
          <a:bodyPr>
            <a:normAutofit lnSpcReduction="20000"/>
          </a:bodyPr>
          <a:p>
            <a:pPr marL="0" indent="0" algn="just">
              <a:buNone/>
            </a:pPr>
            <a:r>
              <a:rPr lang="en-US" sz="4000" b="1" dirty="0">
                <a:sym typeface="+mn-ea"/>
              </a:rPr>
              <a:t>NB:</a:t>
            </a:r>
            <a:r>
              <a:rPr lang="en-US" sz="4000" dirty="0">
                <a:sym typeface="+mn-ea"/>
              </a:rPr>
              <a:t> Failure to obtain the consent of the accused person where it is an indictable offence is fatal as it goes to the jurisdiction of the court. </a:t>
            </a:r>
            <a:endParaRPr lang="en-US" sz="4000" dirty="0"/>
          </a:p>
          <a:p>
            <a:pPr algn="just"/>
            <a:r>
              <a:rPr lang="en-US" sz="4000" dirty="0">
                <a:sym typeface="+mn-ea"/>
              </a:rPr>
              <a:t>The jurisdiction of any grade of magistrate court may be increased by the Governor of a State upon the recommendation of the Chief Judge.</a:t>
            </a:r>
            <a:endParaRPr lang="en-US" sz="4000" dirty="0"/>
          </a:p>
          <a:p>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APPELLATE JURISDICTION OF MC</a:t>
            </a:r>
            <a:endParaRPr lang="en-GB" b="1" dirty="0"/>
          </a:p>
        </p:txBody>
      </p:sp>
      <p:sp>
        <p:nvSpPr>
          <p:cNvPr id="3" name="Content Placeholder 2"/>
          <p:cNvSpPr>
            <a:spLocks noGrp="1"/>
          </p:cNvSpPr>
          <p:nvPr>
            <p:ph idx="1"/>
          </p:nvPr>
        </p:nvSpPr>
        <p:spPr/>
        <p:txBody>
          <a:bodyPr/>
          <a:lstStyle/>
          <a:p>
            <a:pPr marL="0" indent="0" algn="ctr">
              <a:buNone/>
            </a:pPr>
            <a:r>
              <a:rPr lang="en-US" dirty="0"/>
              <a:t>Appeals from the decision of the Customary Court go to the Magistrates’ Court.</a:t>
            </a:r>
            <a:endParaRPr lang="en-US" dirty="0"/>
          </a:p>
          <a:p>
            <a:r>
              <a:rPr lang="en-US" dirty="0"/>
              <a:t>See: : S. 25 Magistrate Courts Law, Oyo State,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3390"/>
            <a:ext cx="8229600" cy="712470"/>
          </a:xfrm>
        </p:spPr>
        <p:txBody>
          <a:bodyPr>
            <a:normAutofit fontScale="90000"/>
          </a:bodyPr>
          <a:lstStyle/>
          <a:p>
            <a:br>
              <a:rPr lang="en-US" dirty="0"/>
            </a:br>
            <a:r>
              <a:rPr lang="en-US" b="1" dirty="0"/>
              <a:t>MAGISTRATE COURT LAW OF LAGOS STATE 2009.</a:t>
            </a:r>
            <a:br>
              <a:rPr lang="en-US" dirty="0"/>
            </a:br>
            <a:endParaRPr lang="en-GB" dirty="0"/>
          </a:p>
        </p:txBody>
      </p:sp>
      <p:sp>
        <p:nvSpPr>
          <p:cNvPr id="3" name="Content Placeholder 2"/>
          <p:cNvSpPr>
            <a:spLocks noGrp="1"/>
          </p:cNvSpPr>
          <p:nvPr>
            <p:ph idx="1"/>
          </p:nvPr>
        </p:nvSpPr>
        <p:spPr>
          <a:xfrm>
            <a:off x="1981200" y="1464945"/>
            <a:ext cx="8229600" cy="4780280"/>
          </a:xfrm>
        </p:spPr>
        <p:txBody>
          <a:bodyPr>
            <a:noAutofit/>
          </a:bodyPr>
          <a:lstStyle/>
          <a:p>
            <a:pPr algn="just"/>
            <a:r>
              <a:rPr lang="en-US" sz="4000" dirty="0"/>
              <a:t>The law repealed all cadres of magistrate and established only one cadre </a:t>
            </a:r>
            <a:r>
              <a:rPr lang="en-US" sz="4000" dirty="0" smtClean="0"/>
              <a:t>of </a:t>
            </a:r>
            <a:r>
              <a:rPr lang="en-US" sz="4000" dirty="0"/>
              <a:t>equal </a:t>
            </a:r>
            <a:r>
              <a:rPr lang="en-US" sz="4000" dirty="0" smtClean="0"/>
              <a:t>jurisdiction. S.93(1) MCL Lagos</a:t>
            </a:r>
            <a:endParaRPr lang="en-US" sz="4000" dirty="0"/>
          </a:p>
          <a:p>
            <a:pPr algn="just"/>
            <a:r>
              <a:rPr lang="en-US" sz="4000" dirty="0"/>
              <a:t>The hierarchy is now according to </a:t>
            </a:r>
            <a:r>
              <a:rPr lang="en-US" sz="4000" dirty="0" smtClean="0"/>
              <a:t>seniority. </a:t>
            </a:r>
            <a:r>
              <a:rPr lang="en-US" sz="4000" dirty="0"/>
              <a:t>S. </a:t>
            </a:r>
            <a:r>
              <a:rPr lang="en-US" sz="4000" dirty="0" smtClean="0"/>
              <a:t>93(4) </a:t>
            </a:r>
            <a:r>
              <a:rPr lang="en-US" sz="4000" dirty="0"/>
              <a:t>MCL Lagos</a:t>
            </a:r>
            <a:endParaRPr lang="en-US" sz="4000" dirty="0" smtClean="0"/>
          </a:p>
          <a:p>
            <a:pPr algn="just"/>
            <a:endParaRPr lang="en-US" sz="4000" dirty="0"/>
          </a:p>
          <a:p>
            <a:pPr algn="just"/>
            <a:endParaRPr lang="en-US" sz="4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3394"/>
            <a:ext cx="8229600" cy="5442769"/>
          </a:xfrm>
        </p:spPr>
        <p:txBody>
          <a:bodyPr>
            <a:noAutofit/>
          </a:bodyPr>
          <a:lstStyle/>
          <a:p>
            <a:pPr algn="just"/>
            <a:r>
              <a:rPr lang="en-US" sz="4000" dirty="0" smtClean="0">
                <a:sym typeface="+mn-ea"/>
              </a:rPr>
              <a:t>Persons qualified to be appointed as Magistrates in Lagos States are legal practitioners of not less than five </a:t>
            </a:r>
            <a:r>
              <a:rPr lang="en-US" sz="4000" dirty="0">
                <a:sym typeface="+mn-ea"/>
              </a:rPr>
              <a:t>(5) </a:t>
            </a:r>
            <a:r>
              <a:rPr lang="en-US" sz="4000" dirty="0" smtClean="0">
                <a:sym typeface="+mn-ea"/>
              </a:rPr>
              <a:t>years post call with relevant experience. S.4 MCL Lagos.</a:t>
            </a:r>
            <a:endParaRPr lang="en-US" sz="4000" dirty="0" smtClean="0"/>
          </a:p>
          <a:p>
            <a:pPr algn="just"/>
            <a:r>
              <a:rPr lang="en-US" sz="4000" dirty="0"/>
              <a:t>Magistrates in Lagos State are by virtue of their offices Justices of </a:t>
            </a:r>
            <a:r>
              <a:rPr lang="en-US" sz="4000" dirty="0" smtClean="0"/>
              <a:t>Peace</a:t>
            </a:r>
            <a:endParaRPr lang="en-US" sz="4000" dirty="0" smtClean="0"/>
          </a:p>
          <a:p>
            <a:pPr algn="just"/>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63220"/>
            <a:ext cx="8229600" cy="5763260"/>
          </a:xfrm>
        </p:spPr>
        <p:txBody>
          <a:bodyPr>
            <a:noAutofit/>
          </a:bodyPr>
          <a:lstStyle/>
          <a:p>
            <a:pPr marL="0" indent="0" algn="just">
              <a:buNone/>
            </a:pPr>
            <a:r>
              <a:rPr lang="en-US" sz="4000" b="1" dirty="0" smtClean="0"/>
              <a:t>Jurisdiction </a:t>
            </a:r>
            <a:r>
              <a:rPr lang="en-US" sz="4000" b="1" dirty="0"/>
              <a:t>to try </a:t>
            </a:r>
            <a:r>
              <a:rPr lang="en-US" sz="4000" b="1" dirty="0" smtClean="0"/>
              <a:t>offences:</a:t>
            </a:r>
            <a:endParaRPr lang="en-US" sz="4000" dirty="0"/>
          </a:p>
          <a:p>
            <a:pPr algn="just"/>
            <a:r>
              <a:rPr lang="en-US" sz="4000" dirty="0" smtClean="0"/>
              <a:t>Summary </a:t>
            </a:r>
            <a:r>
              <a:rPr lang="en-US" sz="4000" dirty="0"/>
              <a:t>trial of </a:t>
            </a:r>
            <a:r>
              <a:rPr lang="en-US" sz="4000" dirty="0" smtClean="0"/>
              <a:t>offences-s.29(2)</a:t>
            </a:r>
            <a:endParaRPr lang="en-US" sz="4000" dirty="0" smtClean="0"/>
          </a:p>
          <a:p>
            <a:pPr algn="just"/>
            <a:r>
              <a:rPr lang="en-US" sz="4000" dirty="0"/>
              <a:t>I</a:t>
            </a:r>
            <a:r>
              <a:rPr lang="en-US" sz="4000" dirty="0" smtClean="0"/>
              <a:t>t </a:t>
            </a:r>
            <a:r>
              <a:rPr lang="en-US" sz="4000" dirty="0"/>
              <a:t>can try offences contained in certain laws stated in section 29(6) and the 3</a:t>
            </a:r>
            <a:r>
              <a:rPr lang="en-US" sz="4000" baseline="30000" dirty="0"/>
              <a:t>rd</a:t>
            </a:r>
            <a:r>
              <a:rPr lang="en-US" sz="4000" dirty="0"/>
              <a:t> schedule to the Law</a:t>
            </a:r>
            <a:r>
              <a:rPr lang="en-US" sz="4000" dirty="0" smtClean="0"/>
              <a:t>.</a:t>
            </a:r>
            <a:endParaRPr lang="en-US" sz="40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40"/>
            <a:ext cx="8229600" cy="5577524"/>
          </a:xfrm>
        </p:spPr>
        <p:txBody>
          <a:bodyPr>
            <a:noAutofit/>
          </a:bodyPr>
          <a:lstStyle/>
          <a:p>
            <a:pPr algn="just"/>
            <a:r>
              <a:rPr lang="en-US" sz="4000" b="1" dirty="0"/>
              <a:t>Jurisdiction to Punish:</a:t>
            </a:r>
            <a:endParaRPr lang="en-US" sz="4000" b="1" dirty="0"/>
          </a:p>
          <a:p>
            <a:pPr lvl="0" algn="just"/>
            <a:r>
              <a:rPr lang="en-US" sz="4000" dirty="0" smtClean="0"/>
              <a:t>The fine </a:t>
            </a:r>
            <a:r>
              <a:rPr lang="en-US" sz="4000" dirty="0"/>
              <a:t>or term of imprisonment to be imposed shall not exceed the maximum fine or term of imprisonment </a:t>
            </a:r>
            <a:r>
              <a:rPr lang="en-US" sz="4000" dirty="0" err="1"/>
              <a:t>provided</a:t>
            </a:r>
            <a:r>
              <a:rPr lang="en-US" sz="4000" dirty="0"/>
              <a:t> for that offence under the law. s.29 (3)(4)</a:t>
            </a:r>
            <a:endParaRPr lang="en-US" sz="4000" dirty="0"/>
          </a:p>
          <a:p>
            <a:pPr lvl="0" algn="just"/>
            <a:r>
              <a:rPr lang="en-US" sz="4000" dirty="0" smtClean="0"/>
              <a:t>A </a:t>
            </a:r>
            <a:r>
              <a:rPr lang="en-US" sz="4000" dirty="0"/>
              <a:t>magistrate shall not sentence a person to a prison term of more than 14 years- s.29(5</a:t>
            </a:r>
            <a:r>
              <a:rPr lang="en-US" sz="4000" dirty="0" smtClean="0"/>
              <a:t>).</a:t>
            </a:r>
            <a:endParaRPr lang="en-US" sz="4000" dirty="0"/>
          </a:p>
          <a:p>
            <a:pPr algn="just"/>
            <a:endParaRPr lang="en-US" sz="4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21995"/>
            <a:ext cx="8229600" cy="4407535"/>
          </a:xfrm>
        </p:spPr>
        <p:txBody>
          <a:bodyPr>
            <a:noAutofit/>
          </a:bodyPr>
          <a:lstStyle/>
          <a:p>
            <a:pPr algn="just"/>
            <a:r>
              <a:rPr lang="en-US" sz="4000" dirty="0"/>
              <a:t> </a:t>
            </a:r>
            <a:r>
              <a:rPr lang="en-US" sz="4000" b="1" dirty="0" smtClean="0"/>
              <a:t>Power </a:t>
            </a:r>
            <a:r>
              <a:rPr lang="en-US" sz="4000" b="1" dirty="0"/>
              <a:t>to increase jurisdiction- s.30</a:t>
            </a:r>
            <a:endParaRPr lang="en-US" sz="4000" b="1" dirty="0"/>
          </a:p>
          <a:p>
            <a:pPr algn="just"/>
            <a:r>
              <a:rPr lang="en-US" sz="4000" dirty="0"/>
              <a:t>-Attorney-General‘s power subject to recommendation of the Lagos State Judicial Service Commission and approval of the Lagos State House of Assembly. S. 30</a:t>
            </a:r>
            <a:endParaRPr lang="en-US" sz="4000" dirty="0"/>
          </a:p>
          <a:p>
            <a:pPr algn="just"/>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HIGH COURT IN THE SOUTH</a:t>
            </a:r>
            <a:endParaRPr lang="en-US" dirty="0"/>
          </a:p>
        </p:txBody>
      </p:sp>
      <p:sp>
        <p:nvSpPr>
          <p:cNvPr id="3" name="Content Placeholder 2"/>
          <p:cNvSpPr>
            <a:spLocks noGrp="1"/>
          </p:cNvSpPr>
          <p:nvPr>
            <p:ph idx="1"/>
          </p:nvPr>
        </p:nvSpPr>
        <p:spPr>
          <a:xfrm>
            <a:off x="1981200" y="1286934"/>
            <a:ext cx="8229600" cy="4839230"/>
          </a:xfrm>
        </p:spPr>
        <p:txBody>
          <a:bodyPr>
            <a:normAutofit/>
          </a:bodyPr>
          <a:lstStyle/>
          <a:p>
            <a:pPr algn="just">
              <a:buFont typeface="Wingdings" panose="05000000000000000000" pitchFamily="2" charset="2"/>
              <a:buChar char="Ø"/>
            </a:pPr>
            <a:r>
              <a:rPr lang="en-US" sz="3600" dirty="0"/>
              <a:t>High Court of a State is provided for under Section 270 of CFRN</a:t>
            </a:r>
            <a:endParaRPr lang="en-US" sz="3600" dirty="0"/>
          </a:p>
          <a:p>
            <a:pPr algn="just">
              <a:buFont typeface="Wingdings" panose="05000000000000000000" pitchFamily="2" charset="2"/>
              <a:buChar char="Ø"/>
            </a:pPr>
            <a:r>
              <a:rPr lang="en-US" sz="3600" dirty="0"/>
              <a:t>Its jurisdiction to try an offence is provided in section 272.</a:t>
            </a:r>
            <a:endParaRPr lang="en-US" sz="3600" dirty="0"/>
          </a:p>
          <a:p>
            <a:pPr algn="just">
              <a:buFont typeface="Wingdings" panose="05000000000000000000" pitchFamily="2" charset="2"/>
              <a:buChar char="Ø"/>
            </a:pPr>
            <a:r>
              <a:rPr lang="en-US" sz="3600" dirty="0"/>
              <a:t>The Jurisdiction of the High Court is  almost unlimited.</a:t>
            </a:r>
            <a:endParaRPr lang="en-US" sz="3600"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27321"/>
            <a:ext cx="8229600" cy="6002079"/>
          </a:xfrm>
        </p:spPr>
        <p:txBody>
          <a:bodyPr>
            <a:normAutofit/>
          </a:bodyPr>
          <a:lstStyle/>
          <a:p>
            <a:pPr algn="just"/>
            <a:r>
              <a:rPr lang="en-US" sz="3300" dirty="0" err="1" smtClean="0"/>
              <a:t>Although</a:t>
            </a:r>
            <a:r>
              <a:rPr lang="en-US" sz="3300" dirty="0" smtClean="0"/>
              <a:t> </a:t>
            </a:r>
            <a:r>
              <a:rPr lang="en-US" sz="3300" dirty="0"/>
              <a:t>in practice, there are offences which are usually tried by the Federal High Court, </a:t>
            </a:r>
            <a:r>
              <a:rPr lang="en-US" sz="3300" u="sng" dirty="0"/>
              <a:t>but there is no law which confers exclusive jurisdiction on the Federal High Court, </a:t>
            </a:r>
            <a:r>
              <a:rPr lang="en-US" sz="3300" dirty="0"/>
              <a:t>this is because S.251(1) of the Constitution only gives exclusive jurisdiction to the Federal High Court in relation to civil cases and not criminal cases. </a:t>
            </a:r>
            <a:endParaRPr lang="en-US" sz="3300" dirty="0"/>
          </a:p>
          <a:p>
            <a:pPr algn="just">
              <a:buFont typeface="Wingdings" panose="05000000000000000000" pitchFamily="2" charset="2"/>
              <a:buChar char="Ø"/>
            </a:pPr>
            <a:r>
              <a:rPr lang="en-US" sz="3300" b="1" u="sng" dirty="0"/>
              <a:t>See however </a:t>
            </a:r>
            <a:r>
              <a:rPr lang="en-US" sz="3300" b="1" u="sng" dirty="0" smtClean="0"/>
              <a:t>s. 26 of the </a:t>
            </a:r>
            <a:r>
              <a:rPr lang="en-US" sz="3300" b="1" u="sng" dirty="0"/>
              <a:t>NDLEA Act FHC exclusive in drug offences.</a:t>
            </a:r>
            <a:endParaRPr lang="en-US" sz="3300" b="1" u="sng"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699770"/>
          </a:xfrm>
        </p:spPr>
        <p:txBody>
          <a:bodyPr>
            <a:normAutofit fontScale="90000"/>
          </a:bodyPr>
          <a:lstStyle/>
          <a:p>
            <a:r>
              <a:rPr lang="en-US" b="1" dirty="0"/>
              <a:t>JURISDICTION OF THE HIGH COURT</a:t>
            </a:r>
            <a:endParaRPr lang="en-US" b="1" dirty="0"/>
          </a:p>
        </p:txBody>
      </p:sp>
      <p:sp>
        <p:nvSpPr>
          <p:cNvPr id="3" name="Content Placeholder 2"/>
          <p:cNvSpPr>
            <a:spLocks noGrp="1"/>
          </p:cNvSpPr>
          <p:nvPr>
            <p:ph idx="1"/>
          </p:nvPr>
        </p:nvSpPr>
        <p:spPr>
          <a:xfrm>
            <a:off x="1826260" y="836930"/>
            <a:ext cx="8728075" cy="5530215"/>
          </a:xfrm>
        </p:spPr>
        <p:txBody>
          <a:bodyPr>
            <a:noAutofit/>
          </a:bodyPr>
          <a:lstStyle/>
          <a:p>
            <a:pPr algn="just"/>
            <a:r>
              <a:rPr lang="en-US" sz="3600" dirty="0"/>
              <a:t>All indictable offences contained in an information;</a:t>
            </a:r>
            <a:endParaRPr lang="en-US" sz="3600" dirty="0"/>
          </a:p>
          <a:p>
            <a:pPr algn="just"/>
            <a:r>
              <a:rPr lang="en-US" sz="3600" dirty="0"/>
              <a:t>Any offence where jurisdiction is expressly conferred by the Const. or any other law;</a:t>
            </a:r>
            <a:endParaRPr lang="en-US" sz="3600" dirty="0"/>
          </a:p>
          <a:p>
            <a:pPr algn="just"/>
            <a:r>
              <a:rPr lang="en-US" sz="3600" dirty="0"/>
              <a:t>Any non-indictable offence brought by any other mode;</a:t>
            </a:r>
            <a:endParaRPr lang="en-US" sz="3600" dirty="0"/>
          </a:p>
          <a:p>
            <a:pPr algn="just"/>
            <a:r>
              <a:rPr lang="en-US" sz="3600" dirty="0"/>
              <a:t>Criminal appeals from Magistrates’ </a:t>
            </a:r>
            <a:r>
              <a:rPr lang="en-US" sz="3600" dirty="0" smtClean="0"/>
              <a:t>Courts, Upper Area Court (in the North); </a:t>
            </a:r>
            <a:endParaRPr lang="en-US" sz="3600" dirty="0"/>
          </a:p>
          <a:p>
            <a:pPr algn="just"/>
            <a:r>
              <a:rPr lang="en-US" sz="3600" dirty="0"/>
              <a:t>Federal offences within it’s jurisdiction. S.286 CFRN</a:t>
            </a:r>
            <a:endParaRPr lang="en-US" sz="3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48586"/>
            <a:ext cx="8229600" cy="5477577"/>
          </a:xfrm>
        </p:spPr>
        <p:txBody>
          <a:bodyPr>
            <a:noAutofit/>
          </a:bodyPr>
          <a:lstStyle/>
          <a:p>
            <a:pPr algn="just"/>
            <a:r>
              <a:rPr lang="en-US" sz="4000" b="1" dirty="0"/>
              <a:t>APPELLATE JURISDICTION</a:t>
            </a:r>
            <a:endParaRPr lang="en-US" sz="4000" b="1" dirty="0"/>
          </a:p>
          <a:p>
            <a:pPr algn="just"/>
            <a:r>
              <a:rPr lang="en-US" sz="4000" dirty="0"/>
              <a:t>Appeals from all Magistrates‘ Court. See section 28 High Court Law Cap H3 Laws of Lagos State 2004; </a:t>
            </a:r>
            <a:endParaRPr lang="en-US" sz="4000" dirty="0" smtClean="0"/>
          </a:p>
          <a:p>
            <a:pPr algn="just"/>
            <a:r>
              <a:rPr lang="en-US" sz="4000" dirty="0" smtClean="0"/>
              <a:t>Section 272 of </a:t>
            </a:r>
            <a:r>
              <a:rPr lang="en-US" sz="4000" dirty="0"/>
              <a:t>the 1999 Constitution (as amended)</a:t>
            </a:r>
            <a:endParaRPr lang="en-US" sz="4000" dirty="0"/>
          </a:p>
          <a:p>
            <a:pPr algn="just"/>
            <a:r>
              <a:rPr lang="en-US" sz="4000" dirty="0"/>
              <a:t> </a:t>
            </a:r>
            <a:endParaRPr lang="en-US" sz="4000" dirty="0"/>
          </a:p>
          <a:p>
            <a:pPr algn="just"/>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COURTS OF GENERAL CRIMINAL JURISDICTION IN THE NORTHERN STATES.</a:t>
            </a:r>
            <a:endParaRPr 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32740"/>
            <a:ext cx="8229600" cy="1467485"/>
          </a:xfrm>
        </p:spPr>
        <p:txBody>
          <a:bodyPr/>
          <a:lstStyle/>
          <a:p>
            <a:r>
              <a:rPr lang="en-US" b="1" dirty="0" smtClean="0"/>
              <a:t>AREA COURTS</a:t>
            </a:r>
            <a:endParaRPr lang="en-US" b="1" dirty="0"/>
          </a:p>
        </p:txBody>
      </p:sp>
      <p:sp>
        <p:nvSpPr>
          <p:cNvPr id="3" name="Content Placeholder 2"/>
          <p:cNvSpPr>
            <a:spLocks noGrp="1"/>
          </p:cNvSpPr>
          <p:nvPr>
            <p:ph idx="1"/>
          </p:nvPr>
        </p:nvSpPr>
        <p:spPr>
          <a:xfrm>
            <a:off x="1981200" y="645160"/>
            <a:ext cx="8229600" cy="5739130"/>
          </a:xfrm>
        </p:spPr>
        <p:txBody>
          <a:bodyPr>
            <a:noAutofit/>
          </a:bodyPr>
          <a:lstStyle/>
          <a:p>
            <a:pPr algn="just"/>
            <a:r>
              <a:rPr lang="en-US" sz="3600" dirty="0" smtClean="0"/>
              <a:t>Area Courts were created by the Area Courts Laws of various States of the former Northern Region.  With the coming into effect of the Area Court Edicts of 1967, the native courts were re-designated as Area courts.</a:t>
            </a:r>
            <a:endParaRPr lang="en-US" sz="3600" dirty="0" smtClean="0"/>
          </a:p>
          <a:p>
            <a:pPr algn="just"/>
            <a:r>
              <a:rPr lang="en-US" sz="3600" dirty="0" smtClean="0"/>
              <a:t>Area courts are established by warrant under the hand of the Chief Judge and to exercise such jurisdiction as is given to them by the warrant. S. 3 Area Court Edict.</a:t>
            </a:r>
            <a:endParaRPr lang="en-US" sz="3600" dirty="0" smtClean="0"/>
          </a:p>
          <a:p>
            <a:pPr marL="0" indent="0" algn="just">
              <a:buNone/>
            </a:pPr>
            <a:endParaRPr lang="en-US" sz="3600"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04296"/>
          </a:xfrm>
        </p:spPr>
        <p:txBody>
          <a:bodyPr>
            <a:normAutofit fontScale="90000"/>
          </a:bodyPr>
          <a:lstStyle/>
          <a:p>
            <a:r>
              <a:rPr lang="en-US" b="1" dirty="0"/>
              <a:t>GRADES OF AREA COURT</a:t>
            </a:r>
            <a:endParaRPr lang="en-US" b="1" dirty="0"/>
          </a:p>
        </p:txBody>
      </p:sp>
      <p:sp>
        <p:nvSpPr>
          <p:cNvPr id="3" name="Content Placeholder 2"/>
          <p:cNvSpPr>
            <a:spLocks noGrp="1"/>
          </p:cNvSpPr>
          <p:nvPr>
            <p:ph idx="1"/>
          </p:nvPr>
        </p:nvSpPr>
        <p:spPr>
          <a:xfrm>
            <a:off x="1964267" y="778934"/>
            <a:ext cx="8229600" cy="5804428"/>
          </a:xfrm>
        </p:spPr>
        <p:txBody>
          <a:bodyPr>
            <a:noAutofit/>
          </a:bodyPr>
          <a:lstStyle/>
          <a:p>
            <a:pPr algn="just"/>
            <a:r>
              <a:rPr lang="en-US" sz="4000" dirty="0"/>
              <a:t>The grades of Area courts are as follows:</a:t>
            </a:r>
            <a:endParaRPr lang="en-US" sz="4000" dirty="0"/>
          </a:p>
          <a:p>
            <a:pPr algn="just"/>
            <a:r>
              <a:rPr lang="en-US" sz="4000" dirty="0"/>
              <a:t>UA Court: unlimited except capital punishment</a:t>
            </a:r>
            <a:endParaRPr lang="en-US" sz="4000" dirty="0"/>
          </a:p>
          <a:p>
            <a:pPr algn="just"/>
            <a:r>
              <a:rPr lang="en-US" sz="4000" dirty="0"/>
              <a:t>AC Grade I: 5yrs or N1,000  </a:t>
            </a:r>
            <a:endParaRPr lang="en-US" sz="4000" dirty="0"/>
          </a:p>
          <a:p>
            <a:pPr algn="just"/>
            <a:r>
              <a:rPr lang="en-US" sz="4000" dirty="0"/>
              <a:t>AC Grade II: 3yrs or N600 fine</a:t>
            </a:r>
            <a:endParaRPr lang="en-US" sz="4000" dirty="0"/>
          </a:p>
          <a:p>
            <a:pPr algn="just"/>
            <a:r>
              <a:rPr lang="en-US" sz="4000" dirty="0"/>
              <a:t>AC Grade III: 9mnts or N100 fine (</a:t>
            </a:r>
            <a:r>
              <a:rPr lang="en-US" sz="4000" b="1" dirty="0"/>
              <a:t>See S. 17 of the Edict</a:t>
            </a:r>
            <a:r>
              <a:rPr lang="en-US" sz="4000" dirty="0"/>
              <a:t>)</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41362"/>
          </a:xfrm>
        </p:spPr>
        <p:txBody>
          <a:bodyPr>
            <a:normAutofit fontScale="90000"/>
          </a:bodyPr>
          <a:lstStyle/>
          <a:p>
            <a:r>
              <a:rPr lang="en-US" b="1" dirty="0"/>
              <a:t>CONSTITUTION OF AREA COURT</a:t>
            </a:r>
            <a:endParaRPr lang="en-US" b="1" dirty="0"/>
          </a:p>
        </p:txBody>
      </p:sp>
      <p:sp>
        <p:nvSpPr>
          <p:cNvPr id="3" name="Content Placeholder 2"/>
          <p:cNvSpPr>
            <a:spLocks noGrp="1"/>
          </p:cNvSpPr>
          <p:nvPr>
            <p:ph idx="1"/>
          </p:nvPr>
        </p:nvSpPr>
        <p:spPr>
          <a:xfrm>
            <a:off x="1981200" y="1422400"/>
            <a:ext cx="8229600" cy="4703764"/>
          </a:xfrm>
        </p:spPr>
        <p:txBody>
          <a:bodyPr>
            <a:normAutofit/>
          </a:bodyPr>
          <a:lstStyle/>
          <a:p>
            <a:pPr algn="just">
              <a:buFont typeface="Wingdings" panose="05000000000000000000" pitchFamily="2" charset="2"/>
              <a:buChar char="Ø"/>
            </a:pPr>
            <a:r>
              <a:rPr lang="en-US" sz="3600" dirty="0"/>
              <a:t>A Judge sitting alone or with a member or assessor.</a:t>
            </a:r>
            <a:endParaRPr lang="en-US" sz="3600" dirty="0"/>
          </a:p>
          <a:p>
            <a:pPr marL="0" indent="0" algn="just">
              <a:buNone/>
            </a:pPr>
            <a:r>
              <a:rPr lang="en-US" sz="3600" dirty="0"/>
              <a:t>S. 17 of the Edict creates four Grades of Area Courts</a:t>
            </a:r>
            <a:endParaRPr lang="en-US" sz="3600" dirty="0"/>
          </a:p>
          <a:p>
            <a:endParaRPr lang="en-US" sz="3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7576"/>
            <a:ext cx="8229600" cy="707495"/>
          </a:xfrm>
        </p:spPr>
        <p:txBody>
          <a:bodyPr>
            <a:normAutofit fontScale="90000"/>
          </a:bodyPr>
          <a:lstStyle/>
          <a:p>
            <a:r>
              <a:rPr lang="en-US" sz="4400" b="1" dirty="0"/>
              <a:t>JURISDICTION OVER PERSONS</a:t>
            </a:r>
            <a:endParaRPr lang="en-US" dirty="0"/>
          </a:p>
        </p:txBody>
      </p:sp>
      <p:sp>
        <p:nvSpPr>
          <p:cNvPr id="3" name="Content Placeholder 2"/>
          <p:cNvSpPr>
            <a:spLocks noGrp="1"/>
          </p:cNvSpPr>
          <p:nvPr>
            <p:ph idx="1"/>
          </p:nvPr>
        </p:nvSpPr>
        <p:spPr>
          <a:xfrm>
            <a:off x="1715135" y="779145"/>
            <a:ext cx="8794750" cy="5740400"/>
          </a:xfrm>
        </p:spPr>
        <p:txBody>
          <a:bodyPr>
            <a:noAutofit/>
          </a:bodyPr>
          <a:lstStyle/>
          <a:p>
            <a:pPr algn="just">
              <a:lnSpc>
                <a:spcPct val="80000"/>
              </a:lnSpc>
              <a:spcBef>
                <a:spcPts val="20"/>
              </a:spcBef>
              <a:spcAft>
                <a:spcPts val="0"/>
              </a:spcAft>
            </a:pPr>
            <a:r>
              <a:rPr lang="en-US" sz="3600" dirty="0"/>
              <a:t>A person whose both parents were members of any tribe(s) indigenous to any part of Africa and their descendants;</a:t>
            </a:r>
            <a:endParaRPr lang="en-US" sz="3600" dirty="0"/>
          </a:p>
          <a:p>
            <a:pPr algn="just">
              <a:lnSpc>
                <a:spcPct val="80000"/>
              </a:lnSpc>
              <a:spcBef>
                <a:spcPts val="20"/>
              </a:spcBef>
              <a:spcAft>
                <a:spcPts val="0"/>
              </a:spcAft>
            </a:pPr>
            <a:r>
              <a:rPr lang="en-US" sz="3600" dirty="0"/>
              <a:t>Any person one of whose parents was a member of any tribe indigenous to Africa;</a:t>
            </a:r>
            <a:endParaRPr lang="en-US" sz="3600" dirty="0"/>
          </a:p>
          <a:p>
            <a:pPr algn="just">
              <a:lnSpc>
                <a:spcPct val="80000"/>
              </a:lnSpc>
              <a:spcBef>
                <a:spcPts val="20"/>
              </a:spcBef>
              <a:spcAft>
                <a:spcPts val="0"/>
              </a:spcAft>
            </a:pPr>
            <a:r>
              <a:rPr lang="en-US" sz="3600" dirty="0"/>
              <a:t>Any person who consents to be tried by an Area Court. S. 15 Area Court Edict.</a:t>
            </a:r>
            <a:endParaRPr lang="en-US" sz="3600" dirty="0"/>
          </a:p>
          <a:p>
            <a:pPr algn="just">
              <a:lnSpc>
                <a:spcPct val="80000"/>
              </a:lnSpc>
              <a:spcBef>
                <a:spcPts val="20"/>
              </a:spcBef>
              <a:spcAft>
                <a:spcPts val="0"/>
              </a:spcAft>
            </a:pPr>
            <a:r>
              <a:rPr lang="en-US" sz="3600" b="1" dirty="0"/>
              <a:t>NB</a:t>
            </a:r>
            <a:r>
              <a:rPr lang="en-US" sz="3600" dirty="0"/>
              <a:t>:</a:t>
            </a:r>
            <a:endParaRPr lang="en-US" sz="3600" dirty="0"/>
          </a:p>
          <a:p>
            <a:pPr algn="just">
              <a:lnSpc>
                <a:spcPct val="80000"/>
              </a:lnSpc>
              <a:spcBef>
                <a:spcPts val="20"/>
              </a:spcBef>
              <a:spcAft>
                <a:spcPts val="0"/>
              </a:spcAft>
            </a:pPr>
            <a:r>
              <a:rPr lang="en-US" sz="3600" dirty="0"/>
              <a:t>However S. 11 of the Area Court Act applicable in the FCT Provides for jurisdiction over Muslims and those who consent.</a:t>
            </a:r>
            <a:endParaRPr lang="en-US" sz="3600" dirty="0"/>
          </a:p>
          <a:p>
            <a:pPr algn="just">
              <a:lnSpc>
                <a:spcPct val="80000"/>
              </a:lnSpc>
              <a:spcBef>
                <a:spcPts val="20"/>
              </a:spcBef>
              <a:spcAft>
                <a:spcPts val="0"/>
              </a:spcAft>
            </a:pPr>
            <a:endParaRPr lang="en-US" sz="360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052830"/>
          </a:xfrm>
        </p:spPr>
        <p:txBody>
          <a:bodyPr/>
          <a:lstStyle/>
          <a:p>
            <a:r>
              <a:rPr lang="en-US" b="1" dirty="0"/>
              <a:t>AREA COURT IN THE FCT</a:t>
            </a:r>
            <a:endParaRPr lang="en-US" b="1" dirty="0"/>
          </a:p>
        </p:txBody>
      </p:sp>
      <p:sp>
        <p:nvSpPr>
          <p:cNvPr id="3" name="Content Placeholder 2"/>
          <p:cNvSpPr>
            <a:spLocks noGrp="1"/>
          </p:cNvSpPr>
          <p:nvPr>
            <p:ph idx="1"/>
          </p:nvPr>
        </p:nvSpPr>
        <p:spPr>
          <a:xfrm>
            <a:off x="1616710" y="775335"/>
            <a:ext cx="8837295" cy="5915660"/>
          </a:xfrm>
        </p:spPr>
        <p:txBody>
          <a:bodyPr>
            <a:noAutofit/>
          </a:bodyPr>
          <a:lstStyle/>
          <a:p>
            <a:pPr algn="just"/>
            <a:r>
              <a:rPr lang="en-US" sz="3800" dirty="0"/>
              <a:t>In the FCT, there are only two grades of Area Courts. Upper Area Court and Area Court Grade I </a:t>
            </a:r>
            <a:r>
              <a:rPr lang="en-US" sz="3800" b="1" dirty="0"/>
              <a:t>S.17 Area Court Act.</a:t>
            </a:r>
            <a:endParaRPr lang="en-US" sz="3800" dirty="0"/>
          </a:p>
          <a:p>
            <a:pPr algn="just"/>
            <a:r>
              <a:rPr lang="en-US" sz="3800" dirty="0"/>
              <a:t>The Area Court in FCT does not have criminal jurisdiction except where the Judge is a Lawyer</a:t>
            </a:r>
            <a:r>
              <a:rPr lang="en-US" sz="3800" dirty="0" smtClean="0"/>
              <a:t>. See </a:t>
            </a:r>
            <a:r>
              <a:rPr lang="en-US" sz="3800" b="1" dirty="0" smtClean="0"/>
              <a:t>S.9 (</a:t>
            </a:r>
            <a:r>
              <a:rPr lang="en-US" sz="3800" b="1" dirty="0"/>
              <a:t>Conferment of Criminal Jurisdiction) Order, 2006. Now FCT Abuja Area Courts (Repeal and Enactment) Act, 2010</a:t>
            </a:r>
            <a:r>
              <a:rPr lang="en-US" sz="3800" b="1" dirty="0" smtClean="0"/>
              <a:t>.</a:t>
            </a:r>
            <a:endParaRPr lang="en-US" sz="38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2260"/>
            <a:ext cx="8229600" cy="5583903"/>
          </a:xfrm>
        </p:spPr>
        <p:txBody>
          <a:bodyPr>
            <a:normAutofit/>
          </a:bodyPr>
          <a:lstStyle/>
          <a:p>
            <a:pPr marL="0" indent="0" algn="ctr">
              <a:buNone/>
            </a:pPr>
            <a:r>
              <a:rPr lang="en-US" sz="4800" b="1" dirty="0" smtClean="0"/>
              <a:t>JURISDICTION</a:t>
            </a:r>
            <a:endParaRPr lang="en-US" sz="4800" dirty="0" smtClean="0"/>
          </a:p>
          <a:p>
            <a:pPr algn="just"/>
            <a:r>
              <a:rPr lang="en-US" sz="4000" dirty="0" smtClean="0"/>
              <a:t>Upper </a:t>
            </a:r>
            <a:r>
              <a:rPr lang="en-US" sz="4000" dirty="0"/>
              <a:t>Area Court = Unlimited jurisdiction except Culpable Homicide</a:t>
            </a:r>
            <a:endParaRPr lang="en-US" sz="4000" dirty="0"/>
          </a:p>
          <a:p>
            <a:pPr algn="just"/>
            <a:r>
              <a:rPr lang="en-US" sz="4000" dirty="0" smtClean="0"/>
              <a:t>Area </a:t>
            </a:r>
            <a:r>
              <a:rPr lang="en-US" sz="4000" dirty="0"/>
              <a:t>Court Grade I = Jurisdiction to impose a sentence of up to 5 yrs imprisonment or N1,000 fine.</a:t>
            </a:r>
            <a:endParaRPr lang="en-US" sz="4000" dirty="0"/>
          </a:p>
          <a:p>
            <a:pPr algn="just"/>
            <a:endParaRPr lang="en-US" sz="40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65813"/>
            <a:ext cx="8229600" cy="6198781"/>
          </a:xfrm>
        </p:spPr>
        <p:txBody>
          <a:bodyPr>
            <a:noAutofit/>
          </a:bodyPr>
          <a:lstStyle/>
          <a:p>
            <a:pPr marL="0" indent="0" algn="just">
              <a:buNone/>
            </a:pPr>
            <a:r>
              <a:rPr lang="en-US" sz="4000" b="1" dirty="0"/>
              <a:t>PRACTICE AND PROCEDURE BEFORE THE AREA COURT: </a:t>
            </a:r>
            <a:endParaRPr lang="en-US" sz="4000" b="1" dirty="0" smtClean="0"/>
          </a:p>
          <a:p>
            <a:pPr algn="just"/>
            <a:r>
              <a:rPr lang="en-US" sz="4000" dirty="0" smtClean="0"/>
              <a:t>The </a:t>
            </a:r>
            <a:r>
              <a:rPr lang="en-US" sz="4000" dirty="0"/>
              <a:t>procedure before the Area Court is simple and it is not saddled with the normal complexities and technicalities associated with court proceedings</a:t>
            </a:r>
            <a:r>
              <a:rPr lang="en-US" sz="4000" dirty="0" smtClean="0"/>
              <a:t>. See </a:t>
            </a:r>
            <a:r>
              <a:rPr lang="en-US" sz="4000" b="1" dirty="0" err="1" smtClean="0"/>
              <a:t>Alabi</a:t>
            </a:r>
            <a:r>
              <a:rPr lang="en-US" sz="4000" b="1" dirty="0" smtClean="0"/>
              <a:t> </a:t>
            </a:r>
            <a:r>
              <a:rPr lang="en-US" sz="4000" b="1" dirty="0"/>
              <a:t>v C.O.P  (1971) NNLR </a:t>
            </a:r>
            <a:r>
              <a:rPr lang="en-US" sz="4000" b="1" dirty="0" smtClean="0"/>
              <a:t>104.</a:t>
            </a:r>
            <a:endParaRPr lang="en-US" sz="4000" b="1" dirty="0" smtClean="0"/>
          </a:p>
          <a:p>
            <a:pPr algn="just"/>
            <a:endParaRPr lang="en-US" sz="4000" b="1"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a:sym typeface="+mn-ea"/>
              </a:rPr>
              <a:t>PRACTICE AND PROCEDURE BEFORE THE AREA COURT (Cont’d)</a:t>
            </a:r>
            <a:endParaRPr lang="en-US"/>
          </a:p>
        </p:txBody>
      </p:sp>
      <p:sp>
        <p:nvSpPr>
          <p:cNvPr id="3" name="Content Placeholder 2"/>
          <p:cNvSpPr>
            <a:spLocks noGrp="1"/>
          </p:cNvSpPr>
          <p:nvPr>
            <p:ph idx="1"/>
          </p:nvPr>
        </p:nvSpPr>
        <p:spPr/>
        <p:txBody>
          <a:bodyPr/>
          <a:p>
            <a:pPr algn="just"/>
            <a:r>
              <a:rPr lang="en-US" sz="4000" dirty="0">
                <a:sym typeface="+mn-ea"/>
              </a:rPr>
              <a:t>However they are expected to comply with substantial justice. S.6 Area Court Edict. </a:t>
            </a:r>
            <a:r>
              <a:rPr lang="en-US" sz="4000" b="1" dirty="0">
                <a:sym typeface="+mn-ea"/>
              </a:rPr>
              <a:t>Jos Native Authority v. Allah Na </a:t>
            </a:r>
            <a:r>
              <a:rPr lang="en-US" sz="4000" b="1" dirty="0" err="1">
                <a:sym typeface="+mn-ea"/>
              </a:rPr>
              <a:t>Gani</a:t>
            </a:r>
            <a:r>
              <a:rPr lang="en-US" sz="4000" b="1" dirty="0">
                <a:sym typeface="+mn-ea"/>
              </a:rPr>
              <a:t>.(1968) NMLR 8</a:t>
            </a:r>
            <a:endParaRPr lang="en-US" sz="4000" b="1" dirty="0"/>
          </a:p>
          <a:p>
            <a:pPr algn="just"/>
            <a:endParaRPr lang="en-US" sz="4000" b="1" dirty="0"/>
          </a:p>
          <a:p>
            <a:endParaRPr lang="en-US" sz="40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28021"/>
          </a:xfrm>
        </p:spPr>
        <p:txBody>
          <a:bodyPr>
            <a:noAutofit/>
          </a:bodyPr>
          <a:lstStyle/>
          <a:p>
            <a:r>
              <a:rPr lang="en-US" sz="3200" b="1" dirty="0"/>
              <a:t>RIGHT OF APPEARANCE OF COUNSEL BEFORE THE AREA COURT</a:t>
            </a:r>
            <a:endParaRPr lang="en-US" sz="3200" dirty="0"/>
          </a:p>
        </p:txBody>
      </p:sp>
      <p:sp>
        <p:nvSpPr>
          <p:cNvPr id="3" name="Content Placeholder 2"/>
          <p:cNvSpPr>
            <a:spLocks noGrp="1"/>
          </p:cNvSpPr>
          <p:nvPr>
            <p:ph idx="1"/>
          </p:nvPr>
        </p:nvSpPr>
        <p:spPr>
          <a:xfrm>
            <a:off x="1981200" y="1210235"/>
            <a:ext cx="8229600" cy="5230905"/>
          </a:xfrm>
        </p:spPr>
        <p:txBody>
          <a:bodyPr>
            <a:noAutofit/>
          </a:bodyPr>
          <a:lstStyle/>
          <a:p>
            <a:pPr algn="just"/>
            <a:r>
              <a:rPr lang="en-US" sz="4000" dirty="0"/>
              <a:t>S. 28 of the Area Court Edict </a:t>
            </a:r>
            <a:r>
              <a:rPr lang="en-US" sz="4000" dirty="0" smtClean="0"/>
              <a:t>.</a:t>
            </a:r>
            <a:endParaRPr lang="en-US" sz="4000" dirty="0" smtClean="0"/>
          </a:p>
          <a:p>
            <a:pPr algn="just"/>
            <a:r>
              <a:rPr lang="en-US" sz="4000" dirty="0" err="1"/>
              <a:t>Uzodinma</a:t>
            </a:r>
            <a:r>
              <a:rPr lang="en-US" sz="4000" dirty="0"/>
              <a:t> v C.O.P [1982] 1 NCR 27, </a:t>
            </a:r>
            <a:endParaRPr lang="en-US" sz="4000" dirty="0"/>
          </a:p>
          <a:p>
            <a:pPr algn="just"/>
            <a:r>
              <a:rPr lang="en-US" sz="4000" dirty="0">
                <a:sym typeface="+mn-ea"/>
              </a:rPr>
              <a:t>Registered Trustees of ECWA Church v. </a:t>
            </a:r>
            <a:r>
              <a:rPr lang="en-US" sz="4000" dirty="0" err="1">
                <a:sym typeface="+mn-ea"/>
              </a:rPr>
              <a:t>Ijesha</a:t>
            </a:r>
            <a:r>
              <a:rPr lang="en-US" sz="4000" dirty="0">
                <a:sym typeface="+mn-ea"/>
              </a:rPr>
              <a:t> [1999] 13 NWLR (Pt. 635) 368 CA,</a:t>
            </a:r>
            <a:endParaRPr lang="en-US" sz="4000" dirty="0">
              <a:sym typeface="+mn-ea"/>
            </a:endParaRPr>
          </a:p>
          <a:p>
            <a:pPr algn="just"/>
            <a:r>
              <a:rPr lang="en-US" sz="4000" dirty="0">
                <a:sym typeface="+mn-ea"/>
              </a:rPr>
              <a:t>AG Lagos State v Persons Unknown</a:t>
            </a:r>
            <a:endParaRPr lang="en-US" sz="40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t>APPEAL FROM AREA COURT</a:t>
            </a:r>
            <a:endParaRPr lang="en-US" b="1" dirty="0"/>
          </a:p>
        </p:txBody>
      </p:sp>
      <p:sp>
        <p:nvSpPr>
          <p:cNvPr id="3" name="Content Placeholder 2"/>
          <p:cNvSpPr>
            <a:spLocks noGrp="1"/>
          </p:cNvSpPr>
          <p:nvPr>
            <p:ph idx="1"/>
          </p:nvPr>
        </p:nvSpPr>
        <p:spPr/>
        <p:txBody>
          <a:bodyPr>
            <a:normAutofit/>
          </a:bodyPr>
          <a:lstStyle/>
          <a:p>
            <a:pPr marL="0" indent="0" algn="just">
              <a:buNone/>
            </a:pPr>
            <a:r>
              <a:rPr lang="en-US" sz="4000" dirty="0"/>
              <a:t>The decision of the Area Court can be appealed against at the High Court. </a:t>
            </a:r>
            <a:endParaRPr lang="en-US" sz="4000" dirty="0"/>
          </a:p>
          <a:p>
            <a:endParaRPr lang="en-US" sz="40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SHARI’A COURT</a:t>
            </a:r>
            <a:endParaRPr lang="en-US" sz="3600" b="1" dirty="0"/>
          </a:p>
        </p:txBody>
      </p:sp>
      <p:sp>
        <p:nvSpPr>
          <p:cNvPr id="3" name="Content Placeholder 2"/>
          <p:cNvSpPr>
            <a:spLocks noGrp="1"/>
          </p:cNvSpPr>
          <p:nvPr>
            <p:ph idx="1"/>
          </p:nvPr>
        </p:nvSpPr>
        <p:spPr>
          <a:xfrm>
            <a:off x="1981200" y="1264024"/>
            <a:ext cx="8229600" cy="4862139"/>
          </a:xfrm>
        </p:spPr>
        <p:txBody>
          <a:bodyPr>
            <a:normAutofit/>
          </a:bodyPr>
          <a:lstStyle/>
          <a:p>
            <a:pPr marL="0" indent="0" algn="just">
              <a:buFont typeface="Wingdings" panose="05000000000000000000" pitchFamily="2" charset="2"/>
              <a:buNone/>
            </a:pPr>
            <a:r>
              <a:rPr lang="en-US" sz="4000" dirty="0"/>
              <a:t>Shari’a Courts Law for instance in Kano State, S. 3(1) of the </a:t>
            </a:r>
            <a:r>
              <a:rPr lang="en-US" sz="4000" dirty="0" err="1"/>
              <a:t>Shari’a</a:t>
            </a:r>
            <a:r>
              <a:rPr lang="en-US" sz="4000" dirty="0"/>
              <a:t> Courts Law makes provisions for two courts which are </a:t>
            </a:r>
            <a:endParaRPr lang="en-US" sz="4000" dirty="0"/>
          </a:p>
          <a:p>
            <a:pPr algn="just">
              <a:buFont typeface="Wingdings" panose="05000000000000000000" pitchFamily="2" charset="2"/>
              <a:buChar char="§"/>
            </a:pPr>
            <a:r>
              <a:rPr lang="en-US" sz="4000" dirty="0"/>
              <a:t>The Shari’a Court and </a:t>
            </a:r>
            <a:endParaRPr lang="en-US" sz="4000" dirty="0"/>
          </a:p>
          <a:p>
            <a:pPr algn="just">
              <a:buFont typeface="Wingdings" panose="05000000000000000000" pitchFamily="2" charset="2"/>
              <a:buChar char="§"/>
            </a:pPr>
            <a:r>
              <a:rPr lang="en-US" sz="4000" dirty="0"/>
              <a:t>Upper Shari’a court. </a:t>
            </a:r>
            <a:endParaRPr lang="en-US" sz="40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54915"/>
          </a:xfrm>
        </p:spPr>
        <p:txBody>
          <a:bodyPr/>
          <a:lstStyle/>
          <a:p>
            <a:r>
              <a:rPr lang="en-US" b="1" dirty="0"/>
              <a:t>GRADES OF SHARIA COURT</a:t>
            </a:r>
            <a:endParaRPr lang="en-US" b="1" dirty="0"/>
          </a:p>
        </p:txBody>
      </p:sp>
      <p:sp>
        <p:nvSpPr>
          <p:cNvPr id="3" name="Content Placeholder 2"/>
          <p:cNvSpPr>
            <a:spLocks noGrp="1"/>
          </p:cNvSpPr>
          <p:nvPr>
            <p:ph idx="1"/>
          </p:nvPr>
        </p:nvSpPr>
        <p:spPr>
          <a:xfrm>
            <a:off x="1981200" y="981635"/>
            <a:ext cx="8229600" cy="5144529"/>
          </a:xfrm>
        </p:spPr>
        <p:txBody>
          <a:bodyPr>
            <a:noAutofit/>
          </a:bodyPr>
          <a:lstStyle/>
          <a:p>
            <a:pPr algn="just"/>
            <a:r>
              <a:rPr lang="en-US" sz="4000" dirty="0"/>
              <a:t>The first schedule to the law further provides for 7 grades of </a:t>
            </a:r>
            <a:r>
              <a:rPr lang="en-US" sz="4000" dirty="0" err="1"/>
              <a:t>Shari’a</a:t>
            </a:r>
            <a:r>
              <a:rPr lang="en-US" sz="4000" dirty="0"/>
              <a:t> Court as follows:</a:t>
            </a:r>
            <a:endParaRPr lang="en-US" sz="4000" dirty="0"/>
          </a:p>
          <a:p>
            <a:pPr marL="571500" indent="-571500" algn="just">
              <a:buFont typeface="+mj-lt"/>
              <a:buAutoNum type="romanUcPeriod"/>
            </a:pPr>
            <a:r>
              <a:rPr lang="en-US" sz="4000" dirty="0"/>
              <a:t>Upper </a:t>
            </a:r>
            <a:r>
              <a:rPr lang="en-US" sz="4000" dirty="0" err="1"/>
              <a:t>Shari’a</a:t>
            </a:r>
            <a:r>
              <a:rPr lang="en-US" sz="4000" dirty="0"/>
              <a:t> Court I= Unlimited</a:t>
            </a:r>
            <a:endParaRPr lang="en-US" sz="4000" dirty="0"/>
          </a:p>
          <a:p>
            <a:pPr marL="571500" indent="-571500" algn="just">
              <a:buFont typeface="+mj-lt"/>
              <a:buAutoNum type="romanUcPeriod"/>
            </a:pPr>
            <a:r>
              <a:rPr lang="en-US" sz="4000" dirty="0"/>
              <a:t>Upper </a:t>
            </a:r>
            <a:r>
              <a:rPr lang="en-US" sz="4000" dirty="0" err="1"/>
              <a:t>shari’a</a:t>
            </a:r>
            <a:r>
              <a:rPr lang="en-US" sz="4000" dirty="0"/>
              <a:t> Court II= unlimited</a:t>
            </a:r>
            <a:endParaRPr lang="en-US" sz="4000" dirty="0"/>
          </a:p>
          <a:p>
            <a:pPr marL="571500" indent="-571500" algn="just">
              <a:buFont typeface="+mj-lt"/>
              <a:buAutoNum type="romanUcPeriod"/>
            </a:pPr>
            <a:r>
              <a:rPr lang="en-US" sz="4000" dirty="0"/>
              <a:t>Principal </a:t>
            </a:r>
            <a:r>
              <a:rPr lang="en-US" sz="4000" dirty="0" err="1"/>
              <a:t>Shari’a</a:t>
            </a:r>
            <a:r>
              <a:rPr lang="en-US" sz="4000" dirty="0"/>
              <a:t> Court I= 10yrs, all cases except Homicide, Adultery and Robbery</a:t>
            </a:r>
            <a:endParaRPr lang="en-US" sz="40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b="1" dirty="0">
                <a:sym typeface="+mn-ea"/>
              </a:rPr>
              <a:t>GRADES OF SHARIA COURT (Cont’d)</a:t>
            </a:r>
            <a:endParaRPr lang="en-US"/>
          </a:p>
        </p:txBody>
      </p:sp>
      <p:sp>
        <p:nvSpPr>
          <p:cNvPr id="3" name="Content Placeholder 2"/>
          <p:cNvSpPr>
            <a:spLocks noGrp="1"/>
          </p:cNvSpPr>
          <p:nvPr>
            <p:ph idx="1"/>
          </p:nvPr>
        </p:nvSpPr>
        <p:spPr>
          <a:xfrm>
            <a:off x="838200" y="1845945"/>
            <a:ext cx="10515600" cy="4351338"/>
          </a:xfrm>
        </p:spPr>
        <p:txBody>
          <a:bodyPr/>
          <a:p>
            <a:pPr marL="571500" indent="-571500" algn="just">
              <a:buFont typeface="+mj-lt"/>
              <a:buAutoNum type="romanUcPeriod"/>
            </a:pPr>
            <a:r>
              <a:rPr lang="en-US" sz="4000" dirty="0">
                <a:sym typeface="+mn-ea"/>
              </a:rPr>
              <a:t>Principal Shari’a II =7yrs, same as above except Riot.</a:t>
            </a:r>
            <a:endParaRPr lang="en-US" sz="4000" dirty="0"/>
          </a:p>
          <a:p>
            <a:pPr marL="571500" indent="-571500" algn="just">
              <a:buFont typeface="+mj-lt"/>
              <a:buAutoNum type="romanUcPeriod"/>
            </a:pPr>
            <a:r>
              <a:rPr lang="en-US" sz="4000" dirty="0">
                <a:sym typeface="+mn-ea"/>
              </a:rPr>
              <a:t>Senior Shari’a = 6yrs, same as above</a:t>
            </a:r>
            <a:endParaRPr lang="en-US" sz="4000" dirty="0"/>
          </a:p>
          <a:p>
            <a:pPr marL="571500" indent="-571500" algn="just">
              <a:buFont typeface="+mj-lt"/>
              <a:buAutoNum type="romanUcPeriod"/>
            </a:pPr>
            <a:r>
              <a:rPr lang="en-US" sz="4000" dirty="0">
                <a:sym typeface="+mn-ea"/>
              </a:rPr>
              <a:t>Higher Shari’a = 5yrs, same as above</a:t>
            </a:r>
            <a:endParaRPr lang="en-US" sz="4000" dirty="0"/>
          </a:p>
          <a:p>
            <a:pPr marL="571500" indent="-571500" algn="just">
              <a:buFont typeface="+mj-lt"/>
              <a:buAutoNum type="romanUcPeriod"/>
            </a:pPr>
            <a:r>
              <a:rPr lang="en-US" sz="4000" dirty="0">
                <a:sym typeface="+mn-ea"/>
              </a:rPr>
              <a:t>Shari’a = 3yrs, same as above.</a:t>
            </a:r>
            <a:endParaRPr lang="en-US" sz="4000" dirty="0"/>
          </a:p>
          <a:p>
            <a:endParaRPr lang="en-US" sz="4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1445"/>
            <a:ext cx="8229600" cy="1052195"/>
          </a:xfrm>
        </p:spPr>
        <p:txBody>
          <a:bodyPr>
            <a:noAutofit/>
          </a:bodyPr>
          <a:lstStyle/>
          <a:p>
            <a:r>
              <a:rPr lang="en-US" sz="3600" b="1" dirty="0"/>
              <a:t>JURISDICTION OF SHARIA COURT OVER PERSONS</a:t>
            </a:r>
            <a:endParaRPr lang="en-US" sz="3600" b="1" dirty="0"/>
          </a:p>
        </p:txBody>
      </p:sp>
      <p:sp>
        <p:nvSpPr>
          <p:cNvPr id="3" name="Content Placeholder 2"/>
          <p:cNvSpPr>
            <a:spLocks noGrp="1"/>
          </p:cNvSpPr>
          <p:nvPr>
            <p:ph idx="1"/>
          </p:nvPr>
        </p:nvSpPr>
        <p:spPr>
          <a:xfrm>
            <a:off x="1616710" y="1038860"/>
            <a:ext cx="8892540" cy="5307965"/>
          </a:xfrm>
        </p:spPr>
        <p:txBody>
          <a:bodyPr>
            <a:noAutofit/>
          </a:bodyPr>
          <a:lstStyle/>
          <a:p>
            <a:pPr algn="just">
              <a:buFont typeface="+mj-lt"/>
              <a:buAutoNum type="alphaLcPeriod"/>
            </a:pPr>
            <a:r>
              <a:rPr lang="en-US" sz="4000" dirty="0"/>
              <a:t> A defendant who is a Muslim.</a:t>
            </a:r>
            <a:endParaRPr lang="en-US" sz="4000" dirty="0"/>
          </a:p>
          <a:p>
            <a:pPr algn="just">
              <a:buFont typeface="+mj-lt"/>
              <a:buAutoNum type="alphaLcPeriod"/>
            </a:pPr>
            <a:r>
              <a:rPr lang="en-US" sz="4000" dirty="0"/>
              <a:t>The non-Muslim who submits to the jurisdiction of Sharia </a:t>
            </a:r>
            <a:r>
              <a:rPr lang="en-US" sz="4000" dirty="0" smtClean="0"/>
              <a:t>Court.</a:t>
            </a:r>
            <a:endParaRPr lang="en-US" sz="4000" dirty="0" smtClean="0"/>
          </a:p>
          <a:p>
            <a:pPr algn="just">
              <a:buFont typeface="+mj-lt"/>
              <a:buAutoNum type="alphaLcPeriod"/>
            </a:pPr>
            <a:r>
              <a:rPr lang="en-US" sz="4000" dirty="0" smtClean="0"/>
              <a:t>Where </a:t>
            </a:r>
            <a:r>
              <a:rPr lang="en-US" sz="4000" dirty="0"/>
              <a:t>the offence was jointly committed with a non-Muslim and he refuses to submit to jurisdiction</a:t>
            </a:r>
            <a:r>
              <a:rPr lang="en-US" sz="4000" dirty="0" smtClean="0"/>
              <a:t> </a:t>
            </a:r>
            <a:r>
              <a:rPr lang="en-US" sz="4000" b="1" dirty="0" smtClean="0"/>
              <a:t>S.11 ACJL, Kano.</a:t>
            </a:r>
            <a:endParaRPr lang="en-US" sz="4000" dirty="0" smtClean="0"/>
          </a:p>
          <a:p>
            <a:pPr algn="just">
              <a:buNone/>
            </a:pPr>
            <a:endParaRPr lang="en-US" sz="2400" dirty="0"/>
          </a:p>
          <a:p>
            <a:pPr algn="just"/>
            <a:endParaRPr lang="en-US" sz="2400" dirty="0"/>
          </a:p>
          <a:p>
            <a:pPr algn="just"/>
            <a:endParaRPr lang="en-US"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8534"/>
            <a:ext cx="8229600" cy="778934"/>
          </a:xfrm>
        </p:spPr>
        <p:txBody>
          <a:bodyPr/>
          <a:lstStyle/>
          <a:p>
            <a:r>
              <a:rPr lang="en-US" b="1" dirty="0"/>
              <a:t>CONSTITUTION OF THE S.C.</a:t>
            </a:r>
            <a:endParaRPr lang="en-US" b="1" dirty="0"/>
          </a:p>
        </p:txBody>
      </p:sp>
      <p:sp>
        <p:nvSpPr>
          <p:cNvPr id="3" name="Content Placeholder 2"/>
          <p:cNvSpPr>
            <a:spLocks noGrp="1"/>
          </p:cNvSpPr>
          <p:nvPr>
            <p:ph idx="1"/>
          </p:nvPr>
        </p:nvSpPr>
        <p:spPr>
          <a:xfrm>
            <a:off x="1981200" y="1049868"/>
            <a:ext cx="8229600" cy="5076296"/>
          </a:xfrm>
        </p:spPr>
        <p:txBody>
          <a:bodyPr>
            <a:noAutofit/>
          </a:bodyPr>
          <a:lstStyle/>
          <a:p>
            <a:pPr algn="just"/>
            <a:r>
              <a:rPr lang="en-US" sz="4000" dirty="0"/>
              <a:t>The Sharia Court is properly constituted where a single Alkali sits, </a:t>
            </a:r>
            <a:endParaRPr lang="en-US" sz="4000" dirty="0"/>
          </a:p>
          <a:p>
            <a:pPr algn="just"/>
            <a:r>
              <a:rPr lang="en-US" sz="4000" dirty="0"/>
              <a:t>However where it sits as an appellate court, it shall be properly constituted by two Alkalis.</a:t>
            </a:r>
            <a:endParaRPr lang="en-US" sz="4000" dirty="0"/>
          </a:p>
          <a:p>
            <a:pPr algn="just"/>
            <a:r>
              <a:rPr lang="en-US" sz="4000" dirty="0"/>
              <a:t>The Alkali of a </a:t>
            </a:r>
            <a:r>
              <a:rPr lang="en-US" sz="4000" dirty="0" err="1"/>
              <a:t>Sharia</a:t>
            </a:r>
            <a:r>
              <a:rPr lang="en-US" sz="4000" dirty="0"/>
              <a:t> Court can impose </a:t>
            </a:r>
            <a:r>
              <a:rPr lang="en-US" sz="4000" i="1" dirty="0" err="1"/>
              <a:t>Diya</a:t>
            </a:r>
            <a:endParaRPr lang="en-US" sz="4000" i="1" dirty="0"/>
          </a:p>
          <a:p>
            <a:pPr algn="just"/>
            <a:endParaRPr lang="en-US" sz="4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sz="4000" dirty="0">
                <a:sym typeface="+mn-ea"/>
              </a:rPr>
              <a:t>Lawyer can appear in </a:t>
            </a:r>
            <a:r>
              <a:rPr lang="en-US" sz="4000" dirty="0" err="1">
                <a:sym typeface="+mn-ea"/>
              </a:rPr>
              <a:t>Sharia</a:t>
            </a:r>
            <a:r>
              <a:rPr lang="en-US" sz="4000" dirty="0">
                <a:sym typeface="+mn-ea"/>
              </a:rPr>
              <a:t> Courts</a:t>
            </a:r>
            <a:endParaRPr lang="en-US" sz="4000" dirty="0"/>
          </a:p>
          <a:p>
            <a:pPr algn="just"/>
            <a:r>
              <a:rPr lang="en-US" sz="4000" dirty="0">
                <a:sym typeface="+mn-ea"/>
              </a:rPr>
              <a:t>Applicable laws are: Penal Code, ACJL </a:t>
            </a:r>
            <a:r>
              <a:rPr lang="en-US" sz="4000" dirty="0" err="1">
                <a:sym typeface="+mn-ea"/>
              </a:rPr>
              <a:t>kano</a:t>
            </a:r>
            <a:r>
              <a:rPr lang="en-US" sz="4000" dirty="0">
                <a:sym typeface="+mn-ea"/>
              </a:rPr>
              <a:t> ACJA, Principles of Islamic Law and Procedure and laws made by the Grand </a:t>
            </a:r>
            <a:r>
              <a:rPr lang="en-US" sz="4000" dirty="0" err="1">
                <a:sym typeface="+mn-ea"/>
              </a:rPr>
              <a:t>Khadis</a:t>
            </a:r>
            <a:r>
              <a:rPr lang="en-US" sz="4000" dirty="0">
                <a:sym typeface="+mn-ea"/>
              </a:rPr>
              <a:t>.</a:t>
            </a:r>
            <a:endParaRPr lang="en-US" sz="4000" dirty="0"/>
          </a:p>
          <a:p>
            <a:pPr algn="just"/>
            <a:endParaRPr lang="en-US" sz="4000" dirty="0"/>
          </a:p>
          <a:p>
            <a:endParaRPr lang="en-US" sz="4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Magistrates’ Court (FCT)</a:t>
            </a:r>
            <a:endParaRPr lang="en-GB" dirty="0"/>
          </a:p>
        </p:txBody>
      </p:sp>
      <p:sp>
        <p:nvSpPr>
          <p:cNvPr id="3" name="Content Placeholder 2"/>
          <p:cNvSpPr>
            <a:spLocks noGrp="1"/>
          </p:cNvSpPr>
          <p:nvPr>
            <p:ph idx="1"/>
          </p:nvPr>
        </p:nvSpPr>
        <p:spPr/>
        <p:txBody>
          <a:bodyPr/>
          <a:lstStyle/>
          <a:p>
            <a:r>
              <a:rPr lang="en-GB" dirty="0"/>
              <a:t>See: Magistrate Court (Increase of Jurisdiction of Magistrates) Order, 2014 made pursuant to Criminal Procedure Act (Cap 495) Laws of FCT Nigeria, 2006.</a:t>
            </a:r>
            <a:endParaRPr lang="en-GB" dirty="0"/>
          </a:p>
          <a:p>
            <a:endParaRPr lang="en-GB"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999490"/>
          </a:xfrm>
        </p:spPr>
        <p:txBody>
          <a:bodyPr>
            <a:normAutofit/>
          </a:bodyPr>
          <a:lstStyle/>
          <a:p>
            <a:r>
              <a:rPr lang="en-GB" b="1" dirty="0"/>
              <a:t>GRADES OF M.C. FCT</a:t>
            </a:r>
            <a:endParaRPr lang="en-GB" b="1" dirty="0"/>
          </a:p>
        </p:txBody>
      </p:sp>
      <p:sp>
        <p:nvSpPr>
          <p:cNvPr id="3" name="Content Placeholder 2"/>
          <p:cNvSpPr>
            <a:spLocks noGrp="1"/>
          </p:cNvSpPr>
          <p:nvPr>
            <p:ph idx="1"/>
          </p:nvPr>
        </p:nvSpPr>
        <p:spPr>
          <a:xfrm>
            <a:off x="1638300" y="888365"/>
            <a:ext cx="8860155" cy="5694680"/>
          </a:xfrm>
        </p:spPr>
        <p:txBody>
          <a:bodyPr>
            <a:noAutofit/>
          </a:bodyPr>
          <a:lstStyle/>
          <a:p>
            <a:pPr algn="just"/>
            <a:r>
              <a:rPr lang="en-GB" sz="3600" dirty="0"/>
              <a:t> </a:t>
            </a:r>
            <a:r>
              <a:rPr lang="en-GB" sz="3600" b="1" dirty="0"/>
              <a:t>MAGISTRATES´ COURT (F.C.T)</a:t>
            </a:r>
            <a:endParaRPr lang="en-GB" sz="3600" b="1" dirty="0"/>
          </a:p>
          <a:p>
            <a:pPr algn="just"/>
            <a:r>
              <a:rPr lang="en-GB" sz="3600" dirty="0"/>
              <a:t>Chief Magistrate I, imprisonment for a term not exceeding 10 years or fine not exceeding N50,000, or caning.</a:t>
            </a:r>
            <a:endParaRPr lang="en-GB" sz="3600" dirty="0"/>
          </a:p>
          <a:p>
            <a:pPr algn="just"/>
            <a:r>
              <a:rPr lang="en-GB" sz="3600" dirty="0"/>
              <a:t>Chief Magistrate II, imprisonment for a term not exceeding 8 years or fine not exceeding N45,000 or caning.</a:t>
            </a:r>
            <a:endParaRPr lang="en-GB" sz="3600" dirty="0"/>
          </a:p>
          <a:p>
            <a:pPr algn="just"/>
            <a:r>
              <a:rPr lang="en-GB" sz="3600" dirty="0"/>
              <a:t>Senior Magistrate I, imprisonment for a term not exceeding 6 years or fine not exceeding N40,000, or caning.</a:t>
            </a:r>
            <a:endParaRPr lang="en-GB"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73629"/>
          </a:xfrm>
        </p:spPr>
        <p:txBody>
          <a:bodyPr>
            <a:normAutofit fontScale="90000"/>
          </a:bodyPr>
          <a:lstStyle/>
          <a:p>
            <a:r>
              <a:rPr lang="en-GB" b="1" dirty="0"/>
              <a:t>GRADES OF M.C. FCT CNTD.</a:t>
            </a:r>
            <a:endParaRPr lang="en-GB" dirty="0"/>
          </a:p>
        </p:txBody>
      </p:sp>
      <p:sp>
        <p:nvSpPr>
          <p:cNvPr id="3" name="Content Placeholder 2"/>
          <p:cNvSpPr>
            <a:spLocks noGrp="1"/>
          </p:cNvSpPr>
          <p:nvPr>
            <p:ph idx="1"/>
          </p:nvPr>
        </p:nvSpPr>
        <p:spPr>
          <a:xfrm>
            <a:off x="1859280" y="1316990"/>
            <a:ext cx="8030210" cy="5100955"/>
          </a:xfrm>
        </p:spPr>
        <p:txBody>
          <a:bodyPr>
            <a:noAutofit/>
          </a:bodyPr>
          <a:lstStyle/>
          <a:p>
            <a:pPr algn="just"/>
            <a:r>
              <a:rPr lang="en-GB" sz="4000" dirty="0"/>
              <a:t>Senior Magistrate </a:t>
            </a:r>
            <a:r>
              <a:rPr lang="en-GB" sz="4000" dirty="0" err="1"/>
              <a:t>ll</a:t>
            </a:r>
            <a:r>
              <a:rPr lang="en-GB" sz="4000" dirty="0"/>
              <a:t>, imprisonment for a term not exceeding 4 years, or fine not exceeding N35,000, or caning.</a:t>
            </a:r>
            <a:endParaRPr lang="en-GB" sz="4000" dirty="0"/>
          </a:p>
          <a:p>
            <a:pPr algn="just"/>
            <a:r>
              <a:rPr lang="en-GB" sz="4000" dirty="0"/>
              <a:t>Magistrate I, imprisonment for a term not exceeding 2 years, or fine not exceeding N30,000, or caning.</a:t>
            </a:r>
            <a:endParaRPr lang="en-GB" sz="4000" dirty="0"/>
          </a:p>
          <a:p>
            <a:pPr algn="just"/>
            <a:endParaRPr lang="en-GB" sz="4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Autofit/>
          </a:bodyPr>
          <a:p>
            <a:pPr algn="just"/>
            <a:r>
              <a:rPr lang="en-GB" sz="4000" dirty="0">
                <a:sym typeface="+mn-ea"/>
              </a:rPr>
              <a:t>Magistrate II, imprisonment for a term not exceeding 1 year, or fine not exceeding N25,000, or caning.</a:t>
            </a:r>
            <a:endParaRPr lang="en-GB" sz="4000" dirty="0"/>
          </a:p>
          <a:p>
            <a:pPr algn="just"/>
            <a:r>
              <a:rPr lang="en-GB" sz="4000" dirty="0">
                <a:sym typeface="+mn-ea"/>
              </a:rPr>
              <a:t>Magistrate III, imprisonment for a term not exceeding 6 months, or fine not exceeding N20,000, or caning.</a:t>
            </a:r>
            <a:endParaRPr lang="en-GB" sz="4000" dirty="0">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MAGISTRATE COURTS IN KANO</a:t>
            </a:r>
            <a:endParaRPr lang="en-US" b="1" dirty="0"/>
          </a:p>
        </p:txBody>
      </p:sp>
      <p:sp>
        <p:nvSpPr>
          <p:cNvPr id="3" name="Content Placeholder 2"/>
          <p:cNvSpPr>
            <a:spLocks noGrp="1"/>
          </p:cNvSpPr>
          <p:nvPr>
            <p:ph idx="1"/>
          </p:nvPr>
        </p:nvSpPr>
        <p:spPr/>
        <p:txBody>
          <a:bodyPr>
            <a:normAutofit/>
          </a:bodyPr>
          <a:lstStyle/>
          <a:p>
            <a:pPr algn="just"/>
            <a:r>
              <a:rPr lang="en-US" sz="4000" dirty="0"/>
              <a:t>Magistrates Court was established under Magistrate Courts Law of Kano States.</a:t>
            </a:r>
            <a:endParaRPr lang="en-US" sz="4000" dirty="0"/>
          </a:p>
          <a:p>
            <a:pPr algn="just"/>
            <a:r>
              <a:rPr lang="en-US" sz="4000" dirty="0"/>
              <a:t>S. 6 of the ACJL Kano provides for 5 grades of magistrates,  as follows:</a:t>
            </a:r>
            <a:endParaRPr lang="en-US" sz="4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70648"/>
            <a:ext cx="8229600" cy="5655516"/>
          </a:xfrm>
        </p:spPr>
        <p:txBody>
          <a:bodyPr>
            <a:normAutofit/>
          </a:bodyPr>
          <a:lstStyle/>
          <a:p>
            <a:pPr algn="just"/>
            <a:r>
              <a:rPr lang="en-US" sz="4000" dirty="0"/>
              <a:t>CM Grade I=14yrs, N300,000, caning </a:t>
            </a:r>
            <a:endParaRPr lang="en-US" sz="4000" dirty="0"/>
          </a:p>
          <a:p>
            <a:pPr algn="just"/>
            <a:r>
              <a:rPr lang="en-US" sz="4000" dirty="0"/>
              <a:t>CM Grade II=12yrs, N200,000, caning</a:t>
            </a:r>
            <a:endParaRPr lang="en-US" sz="4000" dirty="0"/>
          </a:p>
          <a:p>
            <a:pPr algn="just"/>
            <a:r>
              <a:rPr lang="en-US" sz="4000" dirty="0"/>
              <a:t>SM Grade I = 10yrs, N100,000, caning</a:t>
            </a:r>
            <a:endParaRPr lang="en-US" sz="4000" dirty="0"/>
          </a:p>
          <a:p>
            <a:pPr algn="just"/>
            <a:r>
              <a:rPr lang="en-US" sz="4000" dirty="0"/>
              <a:t>SM Grade II = 8yrs, N70,000, caning</a:t>
            </a:r>
            <a:endParaRPr lang="en-US" sz="4000" dirty="0"/>
          </a:p>
          <a:p>
            <a:pPr algn="just"/>
            <a:r>
              <a:rPr lang="en-US" sz="4000" dirty="0"/>
              <a:t>MC Grade I = 5yrs, N50,000,</a:t>
            </a:r>
            <a:r>
              <a:rPr lang="en-US" sz="4000" dirty="0">
                <a:sym typeface="+mn-ea"/>
              </a:rPr>
              <a:t>caning</a:t>
            </a:r>
            <a:endParaRPr lang="en-US" sz="4000" dirty="0"/>
          </a:p>
          <a:p>
            <a:pPr algn="just"/>
            <a:r>
              <a:rPr lang="en-US" sz="4000" dirty="0"/>
              <a:t>MC Grade II= 3yrs, N40,000, </a:t>
            </a:r>
            <a:r>
              <a:rPr lang="en-US" sz="4000" dirty="0">
                <a:sym typeface="+mn-ea"/>
              </a:rPr>
              <a:t>caning</a:t>
            </a:r>
            <a:endParaRPr lang="en-US" sz="4000" dirty="0"/>
          </a:p>
          <a:p>
            <a:pPr marL="0" indent="0" algn="just">
              <a:buNone/>
            </a:pPr>
            <a:r>
              <a:rPr lang="en-US" sz="4000" dirty="0"/>
              <a:t>See S. 6 ACJL Kano</a:t>
            </a:r>
            <a:endParaRPr lang="en-US" sz="4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699247"/>
          </a:xfrm>
        </p:spPr>
        <p:txBody>
          <a:bodyPr>
            <a:normAutofit/>
          </a:bodyPr>
          <a:lstStyle/>
          <a:p>
            <a:r>
              <a:rPr lang="en-US" sz="3600" b="1" dirty="0"/>
              <a:t>JURISDICTION OVER OFFENCES</a:t>
            </a:r>
            <a:endParaRPr lang="en-US" sz="3600" b="1" dirty="0"/>
          </a:p>
        </p:txBody>
      </p:sp>
      <p:sp>
        <p:nvSpPr>
          <p:cNvPr id="3" name="Content Placeholder 2"/>
          <p:cNvSpPr>
            <a:spLocks noGrp="1"/>
          </p:cNvSpPr>
          <p:nvPr>
            <p:ph idx="1"/>
          </p:nvPr>
        </p:nvSpPr>
        <p:spPr>
          <a:xfrm>
            <a:off x="1694180" y="365760"/>
            <a:ext cx="8771890" cy="6217285"/>
          </a:xfrm>
        </p:spPr>
        <p:txBody>
          <a:bodyPr>
            <a:noAutofit/>
          </a:bodyPr>
          <a:lstStyle/>
          <a:p>
            <a:pPr algn="just"/>
            <a:r>
              <a:rPr lang="en-US" sz="3600" dirty="0"/>
              <a:t>Penal Code Offences; S. 16(1) ACJL Kano</a:t>
            </a:r>
            <a:endParaRPr lang="en-US" sz="3600" dirty="0"/>
          </a:p>
          <a:p>
            <a:pPr algn="just"/>
            <a:r>
              <a:rPr lang="en-US" sz="3600" dirty="0"/>
              <a:t>Non- Penal Code Offences: S. 17(1)</a:t>
            </a:r>
            <a:endParaRPr lang="en-US" sz="3600" dirty="0"/>
          </a:p>
          <a:p>
            <a:pPr algn="just"/>
            <a:r>
              <a:rPr lang="en-US" sz="3600" dirty="0"/>
              <a:t>The House of Assembly may upon recommendation of the State Chief Judge  increase the jurisdiction of a Magistrate. S.20 ACJL Kano</a:t>
            </a:r>
            <a:endParaRPr lang="en-US" sz="3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9174"/>
            <a:ext cx="8229600" cy="622829"/>
          </a:xfrm>
        </p:spPr>
        <p:txBody>
          <a:bodyPr>
            <a:normAutofit fontScale="90000"/>
          </a:bodyPr>
          <a:lstStyle/>
          <a:p>
            <a:r>
              <a:rPr lang="en-US" b="1" dirty="0"/>
              <a:t>CONSECUTIVE SENTENCES</a:t>
            </a:r>
            <a:endParaRPr lang="en-US" dirty="0"/>
          </a:p>
        </p:txBody>
      </p:sp>
      <p:sp>
        <p:nvSpPr>
          <p:cNvPr id="3" name="Content Placeholder 2"/>
          <p:cNvSpPr>
            <a:spLocks noGrp="1"/>
          </p:cNvSpPr>
          <p:nvPr>
            <p:ph idx="1"/>
          </p:nvPr>
        </p:nvSpPr>
        <p:spPr>
          <a:xfrm>
            <a:off x="1981200" y="483870"/>
            <a:ext cx="8229600" cy="5815330"/>
          </a:xfrm>
        </p:spPr>
        <p:txBody>
          <a:bodyPr>
            <a:noAutofit/>
          </a:bodyPr>
          <a:lstStyle/>
          <a:p>
            <a:pPr algn="just"/>
            <a:r>
              <a:rPr lang="en-US" sz="3800" dirty="0"/>
              <a:t>A Magistrate in kano has the power to combine sentence .</a:t>
            </a:r>
            <a:endParaRPr lang="en-US" sz="3800" dirty="0"/>
          </a:p>
          <a:p>
            <a:pPr algn="just"/>
            <a:r>
              <a:rPr lang="en-US" sz="3800" dirty="0"/>
              <a:t> sentences shall run consecutively or concurrently.</a:t>
            </a:r>
            <a:endParaRPr lang="en-US" sz="3800" dirty="0"/>
          </a:p>
          <a:p>
            <a:pPr algn="just"/>
            <a:r>
              <a:rPr lang="en-US" sz="3800" dirty="0"/>
              <a:t>In case of concurrent/consecutive sentence, the aggregate of the sentences must not exceed twice the jurisdiction of the court to impose punishment. See S.21- 23 ACJL Kano.</a:t>
            </a:r>
            <a:endParaRPr lang="en-US" sz="3800" dirty="0"/>
          </a:p>
          <a:p>
            <a:pPr algn="just"/>
            <a:endParaRPr lang="en-US" sz="3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341755"/>
          </a:xfrm>
        </p:spPr>
        <p:txBody>
          <a:bodyPr>
            <a:normAutofit/>
          </a:bodyPr>
          <a:lstStyle/>
          <a:p>
            <a:r>
              <a:rPr lang="en-US" b="1" dirty="0"/>
              <a:t>HIGH COURT IN THE NORTH. S. 270 </a:t>
            </a:r>
            <a:endParaRPr lang="en-US" dirty="0"/>
          </a:p>
        </p:txBody>
      </p:sp>
      <p:sp>
        <p:nvSpPr>
          <p:cNvPr id="3" name="Content Placeholder 2"/>
          <p:cNvSpPr>
            <a:spLocks noGrp="1"/>
          </p:cNvSpPr>
          <p:nvPr>
            <p:ph idx="1"/>
          </p:nvPr>
        </p:nvSpPr>
        <p:spPr>
          <a:xfrm>
            <a:off x="1903730" y="1019175"/>
            <a:ext cx="8528685" cy="5415915"/>
          </a:xfrm>
        </p:spPr>
        <p:txBody>
          <a:bodyPr>
            <a:noAutofit/>
          </a:bodyPr>
          <a:lstStyle/>
          <a:p>
            <a:pPr algn="just"/>
            <a:r>
              <a:rPr lang="en-US" sz="3800" dirty="0"/>
              <a:t>High Court in Kano  has jurisdiction to  pass any sentence authorized by law S. 18 ACJL Kano:</a:t>
            </a:r>
            <a:endParaRPr lang="en-US" sz="3800" dirty="0"/>
          </a:p>
          <a:p>
            <a:pPr algn="just"/>
            <a:r>
              <a:rPr lang="en-US" sz="3800" dirty="0"/>
              <a:t> Criminal Appeals from the Magistrate Court S. 272(2) of the Constitution.</a:t>
            </a:r>
            <a:endParaRPr lang="en-US" sz="3800" dirty="0"/>
          </a:p>
          <a:p>
            <a:pPr algn="just"/>
            <a:r>
              <a:rPr lang="en-US" sz="3800" dirty="0"/>
              <a:t> Criminal Appeals from Upper Area Courts S.272(2) </a:t>
            </a:r>
            <a:endParaRPr lang="en-US" sz="3800" dirty="0"/>
          </a:p>
          <a:p>
            <a:pPr algn="just"/>
            <a:r>
              <a:rPr lang="en-US" sz="3800" dirty="0"/>
              <a:t>Jurisdiction over Federal offences. S.286. </a:t>
            </a:r>
            <a:endParaRPr lang="en-US" sz="3800" dirty="0"/>
          </a:p>
          <a:p>
            <a:pPr algn="just"/>
            <a:endParaRPr lang="en-US" sz="3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JURISDICTION TO IMPOSE PUNISHMENT</a:t>
            </a:r>
            <a:endParaRPr lang="en-US" b="1" dirty="0"/>
          </a:p>
        </p:txBody>
      </p:sp>
      <p:sp>
        <p:nvSpPr>
          <p:cNvPr id="3" name="Content Placeholder 2"/>
          <p:cNvSpPr>
            <a:spLocks noGrp="1"/>
          </p:cNvSpPr>
          <p:nvPr>
            <p:ph idx="1"/>
          </p:nvPr>
        </p:nvSpPr>
        <p:spPr/>
        <p:txBody>
          <a:bodyPr>
            <a:normAutofit/>
          </a:bodyPr>
          <a:lstStyle/>
          <a:p>
            <a:pPr algn="just"/>
            <a:r>
              <a:rPr lang="en-US" sz="4000" dirty="0"/>
              <a:t>The power of the High Court to impose punishment is unlimited and can even impose death sentence.</a:t>
            </a:r>
            <a:endParaRPr lang="en-US" sz="4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08703"/>
          </a:xfrm>
        </p:spPr>
        <p:txBody>
          <a:bodyPr>
            <a:noAutofit/>
          </a:bodyPr>
          <a:lstStyle/>
          <a:p>
            <a:r>
              <a:rPr lang="en-US" sz="3600" b="1" dirty="0"/>
              <a:t>APPELLATE COURTS OF CRIMINAL JURISDICTION </a:t>
            </a:r>
            <a:endParaRPr lang="en-US" sz="3600" b="1" dirty="0"/>
          </a:p>
        </p:txBody>
      </p:sp>
      <p:sp>
        <p:nvSpPr>
          <p:cNvPr id="3" name="Content Placeholder 2"/>
          <p:cNvSpPr>
            <a:spLocks noGrp="1"/>
          </p:cNvSpPr>
          <p:nvPr>
            <p:ph idx="1"/>
          </p:nvPr>
        </p:nvSpPr>
        <p:spPr>
          <a:xfrm>
            <a:off x="1981200" y="1304366"/>
            <a:ext cx="8229600" cy="4821798"/>
          </a:xfrm>
        </p:spPr>
        <p:txBody>
          <a:bodyPr>
            <a:noAutofit/>
          </a:bodyPr>
          <a:lstStyle/>
          <a:p>
            <a:pPr algn="just"/>
            <a:r>
              <a:rPr lang="en-US" sz="4000" dirty="0"/>
              <a:t>The Court of Appeal: See section 237(1) and 240 of the 1999 Const. as amended. Its jurisdiction is further provided in section 240-241 of the 1999 Constitution as amended.</a:t>
            </a:r>
            <a:endParaRPr lang="en-US" sz="4000" dirty="0"/>
          </a:p>
          <a:p>
            <a:pPr algn="just"/>
            <a:r>
              <a:rPr lang="en-US" sz="4000" dirty="0"/>
              <a:t>Appeals from the High Court, Federal High Court, Court Martial </a:t>
            </a:r>
            <a:r>
              <a:rPr lang="en-US" sz="4000" dirty="0" err="1"/>
              <a:t>e.t.c</a:t>
            </a:r>
            <a:endParaRPr lang="en-US" sz="4000" dirty="0"/>
          </a:p>
          <a:p>
            <a:pPr algn="just"/>
            <a:endParaRPr lang="en-US" sz="4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a:sym typeface="+mn-ea"/>
              </a:rPr>
              <a:t>APPELLATE COURTS OF CRIMINAL JURISDICTION (Cont’d)</a:t>
            </a:r>
            <a:endParaRPr lang="en-US"/>
          </a:p>
        </p:txBody>
      </p:sp>
      <p:sp>
        <p:nvSpPr>
          <p:cNvPr id="3" name="Content Placeholder 2"/>
          <p:cNvSpPr>
            <a:spLocks noGrp="1"/>
          </p:cNvSpPr>
          <p:nvPr>
            <p:ph idx="1"/>
          </p:nvPr>
        </p:nvSpPr>
        <p:spPr/>
        <p:txBody>
          <a:bodyPr/>
          <a:p>
            <a:pPr algn="just"/>
            <a:r>
              <a:rPr lang="en-US" sz="4000" dirty="0">
                <a:sym typeface="+mn-ea"/>
              </a:rPr>
              <a:t>Appeals may lie from these courts as of right or with leave to the Court of Appeal. S.240 and S.241. Constitution </a:t>
            </a:r>
            <a:endParaRPr lang="en-US" sz="4000" dirty="0"/>
          </a:p>
          <a:p>
            <a:pPr algn="just"/>
            <a:endParaRPr lang="en-US" sz="4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RIGHT OF APPEAL </a:t>
            </a:r>
            <a:endParaRPr lang="en-US" b="1" dirty="0"/>
          </a:p>
        </p:txBody>
      </p:sp>
      <p:sp>
        <p:nvSpPr>
          <p:cNvPr id="3" name="Content Placeholder 2"/>
          <p:cNvSpPr>
            <a:spLocks noGrp="1"/>
          </p:cNvSpPr>
          <p:nvPr>
            <p:ph idx="1"/>
          </p:nvPr>
        </p:nvSpPr>
        <p:spPr/>
        <p:txBody>
          <a:bodyPr>
            <a:normAutofit/>
          </a:bodyPr>
          <a:lstStyle/>
          <a:p>
            <a:pPr algn="just"/>
            <a:r>
              <a:rPr lang="en-US" sz="4000" dirty="0"/>
              <a:t>Who may appeal? S. 243 of the Constitution is instructive on this as it confers the right of appeal on the Defendant and the Prosecutor. </a:t>
            </a:r>
            <a:endParaRPr lang="en-US" sz="4000" dirty="0"/>
          </a:p>
          <a:p>
            <a:pPr algn="just"/>
            <a:r>
              <a:rPr lang="en-US" sz="4000" dirty="0"/>
              <a:t>The complainant or victim cannot appeal. </a:t>
            </a:r>
            <a:r>
              <a:rPr lang="en-US" sz="4000" b="1" dirty="0" err="1"/>
              <a:t>Akinbiyi</a:t>
            </a:r>
            <a:r>
              <a:rPr lang="en-US" sz="4000" b="1" dirty="0"/>
              <a:t> v </a:t>
            </a:r>
            <a:r>
              <a:rPr lang="en-US" sz="4000" b="1" dirty="0" err="1"/>
              <a:t>Adelabu</a:t>
            </a:r>
            <a:r>
              <a:rPr lang="en-US" sz="4000" b="1" dirty="0"/>
              <a:t>.</a:t>
            </a:r>
            <a:r>
              <a:rPr lang="en-US" sz="4000" dirty="0"/>
              <a:t> </a:t>
            </a:r>
            <a:endParaRPr lang="en-US" sz="4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SUPREME COURT OF NIGERIA</a:t>
            </a:r>
            <a:endParaRPr lang="en-US" dirty="0"/>
          </a:p>
        </p:txBody>
      </p:sp>
      <p:sp>
        <p:nvSpPr>
          <p:cNvPr id="3" name="Content Placeholder 2"/>
          <p:cNvSpPr>
            <a:spLocks noGrp="1"/>
          </p:cNvSpPr>
          <p:nvPr>
            <p:ph idx="1"/>
          </p:nvPr>
        </p:nvSpPr>
        <p:spPr>
          <a:xfrm>
            <a:off x="1981200" y="1331260"/>
            <a:ext cx="8229600" cy="4794904"/>
          </a:xfrm>
        </p:spPr>
        <p:txBody>
          <a:bodyPr>
            <a:normAutofit lnSpcReduction="10000"/>
          </a:bodyPr>
          <a:lstStyle/>
          <a:p>
            <a:pPr marL="0" indent="0" algn="just">
              <a:buNone/>
            </a:pPr>
            <a:r>
              <a:rPr lang="en-US" sz="4000" dirty="0"/>
              <a:t>See section 230 (1) CFRN</a:t>
            </a:r>
            <a:endParaRPr lang="en-US" sz="4000" dirty="0"/>
          </a:p>
          <a:p>
            <a:pPr marL="0" indent="0" algn="just">
              <a:buNone/>
            </a:pPr>
            <a:r>
              <a:rPr lang="en-US" sz="4000" dirty="0"/>
              <a:t>This Court is a court of general appellate criminal jurisdiction, here, all criminal matters that comes before this Court is by way of appeal. See section 233(1) of the 1999 constitution as amended. </a:t>
            </a:r>
            <a:endParaRPr lang="en-US" sz="4000" dirty="0"/>
          </a:p>
          <a:p>
            <a:pPr algn="just"/>
            <a:endParaRPr lang="en-US" sz="4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RIGHT OF APPEAL</a:t>
            </a:r>
            <a:endParaRPr lang="en-US" b="1" dirty="0"/>
          </a:p>
        </p:txBody>
      </p:sp>
      <p:sp>
        <p:nvSpPr>
          <p:cNvPr id="3" name="Content Placeholder 2"/>
          <p:cNvSpPr>
            <a:spLocks noGrp="1"/>
          </p:cNvSpPr>
          <p:nvPr>
            <p:ph idx="1"/>
          </p:nvPr>
        </p:nvSpPr>
        <p:spPr>
          <a:xfrm>
            <a:off x="1981200" y="1358154"/>
            <a:ext cx="8229600" cy="4768010"/>
          </a:xfrm>
        </p:spPr>
        <p:txBody>
          <a:bodyPr>
            <a:normAutofit/>
          </a:bodyPr>
          <a:lstStyle/>
          <a:p>
            <a:pPr algn="just"/>
            <a:r>
              <a:rPr lang="en-US" sz="4000" dirty="0"/>
              <a:t>Appeal to the Supreme Court can either be as of right or with leave. S. 233(2)</a:t>
            </a:r>
            <a:endParaRPr lang="en-US" sz="4000" dirty="0"/>
          </a:p>
          <a:p>
            <a:pPr algn="just"/>
            <a:r>
              <a:rPr lang="en-US" sz="4000" dirty="0"/>
              <a:t>Who may appeal? The Defendant or the prosecutor (Attorney-General or any other prosecutor) S.233(5) Constitution</a:t>
            </a:r>
            <a:endParaRPr lang="en-US" sz="4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COURTS OF SPECIAL CRIMINAL JURISDICTION </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JUVENILE COURTS</a:t>
            </a:r>
            <a:endParaRPr lang="en-US" b="1" dirty="0"/>
          </a:p>
        </p:txBody>
      </p:sp>
      <p:sp>
        <p:nvSpPr>
          <p:cNvPr id="3" name="Content Placeholder 2"/>
          <p:cNvSpPr>
            <a:spLocks noGrp="1"/>
          </p:cNvSpPr>
          <p:nvPr>
            <p:ph idx="1"/>
          </p:nvPr>
        </p:nvSpPr>
        <p:spPr>
          <a:xfrm>
            <a:off x="1981200" y="1344706"/>
            <a:ext cx="8229600" cy="4781457"/>
          </a:xfrm>
        </p:spPr>
        <p:txBody>
          <a:bodyPr>
            <a:noAutofit/>
          </a:bodyPr>
          <a:lstStyle/>
          <a:p>
            <a:pPr algn="just"/>
            <a:r>
              <a:rPr lang="en-US" sz="3800" dirty="0"/>
              <a:t>This court was established under the Children and Young Persons Act, but was later domesticated as  Children and Young Persons Laws in various States.</a:t>
            </a:r>
            <a:endParaRPr lang="en-US" sz="3800" dirty="0"/>
          </a:p>
          <a:p>
            <a:pPr algn="just"/>
            <a:r>
              <a:rPr lang="en-US" sz="3800" dirty="0"/>
              <a:t>The courts were created to try juvenile offenders, children and young persons.</a:t>
            </a:r>
            <a:endParaRPr lang="en-US" sz="3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10988"/>
            <a:ext cx="8229600" cy="5615175"/>
          </a:xfrm>
        </p:spPr>
        <p:txBody>
          <a:bodyPr>
            <a:normAutofit/>
          </a:bodyPr>
          <a:lstStyle/>
          <a:p>
            <a:pPr marL="0" indent="0">
              <a:buNone/>
            </a:pPr>
            <a:r>
              <a:rPr lang="en-US" b="1" dirty="0" smtClean="0"/>
              <a:t>WHO </a:t>
            </a:r>
            <a:r>
              <a:rPr lang="en-US" b="1" dirty="0"/>
              <a:t>IS A JUVENILE OFFENDER?</a:t>
            </a:r>
            <a:endParaRPr lang="en-US" b="1" dirty="0"/>
          </a:p>
          <a:p>
            <a:pPr marL="514350" indent="-514350" algn="just">
              <a:buFont typeface="+mj-lt"/>
              <a:buAutoNum type="romanUcPeriod"/>
            </a:pPr>
            <a:r>
              <a:rPr lang="en-US" sz="3600" dirty="0"/>
              <a:t> Children(1-7) they are not criminally liable and the Juvenile court has no jurisdiction over them. see s.30 CC;</a:t>
            </a:r>
            <a:endParaRPr lang="en-US" sz="3600" dirty="0"/>
          </a:p>
          <a:p>
            <a:pPr marL="514350" indent="-514350" algn="just">
              <a:buFont typeface="+mj-lt"/>
              <a:buAutoNum type="romanUcPeriod"/>
            </a:pPr>
            <a:r>
              <a:rPr lang="en-US" sz="3600" dirty="0"/>
              <a:t>Above 7 but less than 12: they are not criminally liable except where at the time of doing the act they had the capacity of knowing that they ought not to do so. </a:t>
            </a:r>
            <a:r>
              <a:rPr lang="en-US" sz="3600" b="1" dirty="0"/>
              <a:t>State v </a:t>
            </a:r>
            <a:r>
              <a:rPr lang="en-US" sz="3600" b="1" dirty="0" err="1"/>
              <a:t>Nwabueze</a:t>
            </a:r>
            <a:r>
              <a:rPr lang="en-US" sz="3600" b="1" dirty="0"/>
              <a:t> </a:t>
            </a:r>
            <a:endParaRPr lang="en-US" sz="3600" b="1" dirty="0"/>
          </a:p>
          <a:p>
            <a:pPr marL="514350" indent="-514350">
              <a:buNone/>
            </a:pPr>
            <a:endParaRPr lang="en-US" b="1" dirty="0"/>
          </a:p>
          <a:p>
            <a:pPr>
              <a:buFont typeface="Wingdings" panose="05000000000000000000" pitchFamily="2" charset="2"/>
              <a:buChar char="v"/>
            </a:pPr>
            <a:endParaRPr lang="en-US"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3412"/>
            <a:ext cx="8229600" cy="5722751"/>
          </a:xfrm>
        </p:spPr>
        <p:txBody>
          <a:bodyPr>
            <a:noAutofit/>
          </a:bodyPr>
          <a:lstStyle/>
          <a:p>
            <a:pPr algn="just"/>
            <a:r>
              <a:rPr lang="en-US" sz="3600" dirty="0"/>
              <a:t>Children (12-14) these children are liable for any act done by them which constitute an offence. S. 30 Criminal Code, S. 2 CYPL.</a:t>
            </a:r>
            <a:endParaRPr lang="en-US" sz="3600" dirty="0"/>
          </a:p>
          <a:p>
            <a:pPr algn="just"/>
            <a:r>
              <a:rPr lang="en-US" sz="3600" dirty="0"/>
              <a:t>Above the age of 14 but below 18 years are classified as young persons under the CYPL.</a:t>
            </a:r>
            <a:endParaRPr lang="en-US" sz="3600" dirty="0"/>
          </a:p>
          <a:p>
            <a:pPr algn="just"/>
            <a:r>
              <a:rPr lang="en-US" sz="3600" dirty="0"/>
              <a:t>The Court is constituted by one Magistrate with such other persons as the Chief Judge may determine.</a:t>
            </a:r>
            <a:endParaRPr lang="en-US" sz="3600" dirty="0"/>
          </a:p>
          <a:p>
            <a:pPr algn="just"/>
            <a:endParaRPr lang="en-US" sz="3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30306"/>
            <a:ext cx="8229600" cy="5695858"/>
          </a:xfrm>
        </p:spPr>
        <p:txBody>
          <a:bodyPr>
            <a:noAutofit/>
          </a:bodyPr>
          <a:lstStyle/>
          <a:p>
            <a:pPr algn="just"/>
            <a:r>
              <a:rPr lang="en-US" sz="3600" dirty="0"/>
              <a:t>The Juvenile Court has the jurisdiction to try children and young persons.</a:t>
            </a:r>
            <a:endParaRPr lang="en-US" sz="3600" dirty="0"/>
          </a:p>
          <a:p>
            <a:pPr marL="0" indent="0" algn="just">
              <a:buNone/>
            </a:pPr>
            <a:r>
              <a:rPr lang="en-US" sz="3600" b="1" dirty="0"/>
              <a:t>EXCEPTIONS</a:t>
            </a:r>
            <a:r>
              <a:rPr lang="en-US" sz="3600" dirty="0"/>
              <a:t>:</a:t>
            </a:r>
            <a:endParaRPr lang="en-US" sz="3600" dirty="0"/>
          </a:p>
          <a:p>
            <a:pPr algn="just"/>
            <a:r>
              <a:rPr lang="en-US" sz="3600" dirty="0"/>
              <a:t> </a:t>
            </a:r>
            <a:r>
              <a:rPr lang="en-US" sz="3600" dirty="0" smtClean="0"/>
              <a:t>Where </a:t>
            </a:r>
            <a:r>
              <a:rPr lang="en-US" sz="3600" dirty="0"/>
              <a:t>the child or young person commits an offence that carries capital punishment. s.8(2) CYPL (Lagos) </a:t>
            </a:r>
            <a:endParaRPr lang="en-US" sz="3600" dirty="0"/>
          </a:p>
          <a:p>
            <a:pPr algn="just"/>
            <a:r>
              <a:rPr lang="en-US" sz="3600" dirty="0"/>
              <a:t>Where the child or young person is charged jointly with an adult.</a:t>
            </a:r>
            <a:endParaRPr lang="en-US" sz="3600" dirty="0"/>
          </a:p>
          <a:p>
            <a:pPr marL="0" indent="0" algn="just">
              <a:buNone/>
            </a:pPr>
            <a:r>
              <a:rPr lang="en-US" sz="3600" b="1" dirty="0"/>
              <a:t>NB:</a:t>
            </a:r>
            <a:r>
              <a:rPr lang="en-US" sz="3600" dirty="0"/>
              <a:t> In the above cases the Juvenile court shall not have jurisdiction. S. 6(2)CYPL</a:t>
            </a:r>
            <a:endParaRPr lang="en-US" sz="3600" dirty="0"/>
          </a:p>
          <a:p>
            <a:pPr algn="just"/>
            <a:endParaRPr lang="en-US" sz="3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81809"/>
          </a:xfrm>
        </p:spPr>
        <p:txBody>
          <a:bodyPr/>
          <a:lstStyle/>
          <a:p>
            <a:r>
              <a:rPr lang="en-US" b="1" dirty="0"/>
              <a:t>DETERMINATION OF AGE</a:t>
            </a:r>
            <a:endParaRPr lang="en-US" b="1" dirty="0"/>
          </a:p>
        </p:txBody>
      </p:sp>
      <p:sp>
        <p:nvSpPr>
          <p:cNvPr id="3" name="Content Placeholder 2"/>
          <p:cNvSpPr>
            <a:spLocks noGrp="1"/>
          </p:cNvSpPr>
          <p:nvPr>
            <p:ph idx="1"/>
          </p:nvPr>
        </p:nvSpPr>
        <p:spPr>
          <a:xfrm>
            <a:off x="1981200" y="1075765"/>
            <a:ext cx="8229600" cy="5050399"/>
          </a:xfrm>
        </p:spPr>
        <p:txBody>
          <a:bodyPr>
            <a:noAutofit/>
          </a:bodyPr>
          <a:lstStyle/>
          <a:p>
            <a:pPr marL="0" indent="0" algn="just">
              <a:buNone/>
            </a:pPr>
            <a:r>
              <a:rPr lang="en-US" sz="4000" dirty="0"/>
              <a:t>S. 6(3) provides that the court may adjourn in order to determine the question of age of the child or young person. SS. 208 and 209 of the CPL </a:t>
            </a:r>
            <a:endParaRPr lang="en-US" sz="4000" dirty="0"/>
          </a:p>
          <a:p>
            <a:pPr marL="0" indent="0" algn="just">
              <a:buNone/>
            </a:pPr>
            <a:r>
              <a:rPr lang="en-US" sz="4000" dirty="0"/>
              <a:t>The courts can verify the age of an accused person in the following ways:</a:t>
            </a:r>
            <a:endParaRPr lang="en-US" sz="4000" dirty="0"/>
          </a:p>
          <a:p>
            <a:pPr algn="just">
              <a:buFont typeface="Wingdings" panose="05000000000000000000" pitchFamily="2" charset="2"/>
              <a:buChar char="Ø"/>
            </a:pPr>
            <a:r>
              <a:rPr lang="en-US" sz="4000" dirty="0"/>
              <a:t>Direct evidence of the date of birth, by birth certificate.</a:t>
            </a:r>
            <a:endParaRPr lang="en-US" sz="4000" dirty="0"/>
          </a:p>
          <a:p>
            <a:pPr algn="just"/>
            <a:endParaRPr lang="en-US" sz="4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955"/>
            <a:ext cx="8229600" cy="606425"/>
          </a:xfrm>
        </p:spPr>
        <p:txBody>
          <a:bodyPr>
            <a:normAutofit fontScale="90000"/>
          </a:bodyPr>
          <a:p>
            <a:r>
              <a:rPr lang="en-US" b="1" dirty="0">
                <a:sym typeface="+mn-ea"/>
              </a:rPr>
              <a:t>DETERMINATION OF AGE (Cont’d)</a:t>
            </a:r>
            <a:endParaRPr lang="en-US"/>
          </a:p>
        </p:txBody>
      </p:sp>
      <p:sp>
        <p:nvSpPr>
          <p:cNvPr id="3" name="Content Placeholder 2"/>
          <p:cNvSpPr>
            <a:spLocks noGrp="1"/>
          </p:cNvSpPr>
          <p:nvPr>
            <p:ph idx="1"/>
          </p:nvPr>
        </p:nvSpPr>
        <p:spPr>
          <a:xfrm>
            <a:off x="1981200" y="945515"/>
            <a:ext cx="8229600" cy="5180965"/>
          </a:xfrm>
        </p:spPr>
        <p:txBody>
          <a:bodyPr>
            <a:noAutofit/>
          </a:bodyPr>
          <a:lstStyle/>
          <a:p>
            <a:pPr algn="just"/>
            <a:r>
              <a:rPr lang="en-US" sz="4000" dirty="0"/>
              <a:t>Oral testimony of the parents or relations;</a:t>
            </a:r>
            <a:endParaRPr lang="en-US" sz="4000" dirty="0"/>
          </a:p>
          <a:p>
            <a:pPr algn="just"/>
            <a:r>
              <a:rPr lang="en-US" sz="4000" dirty="0"/>
              <a:t>Medical examination by a medical doctor in a Government hospital or Medical Institution.  See </a:t>
            </a:r>
            <a:r>
              <a:rPr lang="en-US" sz="4000" b="1" dirty="0"/>
              <a:t>R  v  Oladimeji</a:t>
            </a:r>
            <a:endParaRPr lang="en-US" sz="4000"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ym typeface="+mn-ea"/>
              </a:rPr>
              <a:t>DETERMINATION OF AGE(Cont’d)</a:t>
            </a:r>
            <a:endParaRPr lang="en-US"/>
          </a:p>
        </p:txBody>
      </p:sp>
      <p:sp>
        <p:nvSpPr>
          <p:cNvPr id="3" name="Content Placeholder 2"/>
          <p:cNvSpPr>
            <a:spLocks noGrp="1"/>
          </p:cNvSpPr>
          <p:nvPr>
            <p:ph idx="1"/>
          </p:nvPr>
        </p:nvSpPr>
        <p:spPr/>
        <p:txBody>
          <a:bodyPr/>
          <a:p>
            <a:pPr algn="just"/>
            <a:r>
              <a:rPr lang="en-US" sz="4000" dirty="0">
                <a:sym typeface="+mn-ea"/>
              </a:rPr>
              <a:t>Where the age of an offender is in issue and the court fails to inquire into the age, the doubt must be resolved in favour of the offender. see  Guobadia v The State(2004)6 NWLR (Pt.869) 360</a:t>
            </a:r>
            <a:endParaRPr lang="en-US" sz="4000" dirty="0"/>
          </a:p>
          <a:p>
            <a:endParaRPr lang="en-US" sz="4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87680"/>
          </a:xfrm>
        </p:spPr>
        <p:txBody>
          <a:bodyPr/>
          <a:lstStyle/>
          <a:p>
            <a:r>
              <a:rPr lang="en-US" b="1" dirty="0"/>
              <a:t>Characteristics of Juvenile Courts</a:t>
            </a:r>
            <a:endParaRPr lang="en-US" b="1" dirty="0"/>
          </a:p>
        </p:txBody>
      </p:sp>
      <p:sp>
        <p:nvSpPr>
          <p:cNvPr id="3" name="Content Placeholder 2"/>
          <p:cNvSpPr>
            <a:spLocks noGrp="1"/>
          </p:cNvSpPr>
          <p:nvPr>
            <p:ph idx="1"/>
          </p:nvPr>
        </p:nvSpPr>
        <p:spPr>
          <a:xfrm>
            <a:off x="1981200" y="968188"/>
            <a:ext cx="8229600" cy="5157976"/>
          </a:xfrm>
        </p:spPr>
        <p:txBody>
          <a:bodyPr>
            <a:noAutofit/>
          </a:bodyPr>
          <a:lstStyle/>
          <a:p>
            <a:pPr algn="just"/>
            <a:r>
              <a:rPr lang="en-US" sz="3600" dirty="0"/>
              <a:t>Proceedings are not opened to the public </a:t>
            </a:r>
            <a:r>
              <a:rPr lang="en-US" sz="3600" b="1" dirty="0"/>
              <a:t>S. 6(5) CYPL, S.36(4) Constitution.</a:t>
            </a:r>
            <a:endParaRPr lang="en-US" sz="3600" dirty="0"/>
          </a:p>
          <a:p>
            <a:pPr algn="just"/>
            <a:r>
              <a:rPr lang="en-US" sz="3600" dirty="0"/>
              <a:t>The identity of the child or young person shall not be published except where the law permits it. </a:t>
            </a:r>
            <a:r>
              <a:rPr lang="en-US" sz="3600" b="1" dirty="0"/>
              <a:t>S. 6(6) CYPL</a:t>
            </a:r>
            <a:endParaRPr lang="en-US" sz="3600" dirty="0"/>
          </a:p>
          <a:p>
            <a:pPr algn="just"/>
            <a:r>
              <a:rPr lang="en-US" sz="3600" dirty="0"/>
              <a:t>No child shall be ordered to be imprisoned. </a:t>
            </a:r>
            <a:r>
              <a:rPr lang="en-US" sz="3600" b="1" dirty="0"/>
              <a:t>S.12(1) CYPL</a:t>
            </a:r>
            <a:endParaRPr lang="en-US" sz="3600" dirty="0"/>
          </a:p>
          <a:p>
            <a:pPr algn="just"/>
            <a:r>
              <a:rPr lang="en-US" sz="3600" dirty="0"/>
              <a:t>No young person shall also be imprisoned except there is no other way to deal with him </a:t>
            </a:r>
            <a:r>
              <a:rPr lang="en-US" sz="3600" b="1" dirty="0"/>
              <a:t>S.12(2)</a:t>
            </a:r>
            <a:endParaRPr lang="en-US" sz="3600" b="1"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6885" y="70485"/>
            <a:ext cx="8521700" cy="6055995"/>
          </a:xfrm>
        </p:spPr>
        <p:txBody>
          <a:bodyPr>
            <a:noAutofit/>
          </a:bodyPr>
          <a:lstStyle/>
          <a:p>
            <a:pPr algn="just"/>
            <a:r>
              <a:rPr lang="en-US" sz="3600" dirty="0"/>
              <a:t> Where the young person is imprisoned, he shall not be allowed to mix with adult prisoners. S.12(3)CYPL</a:t>
            </a:r>
            <a:endParaRPr lang="en-US" sz="3600" dirty="0"/>
          </a:p>
          <a:p>
            <a:pPr algn="just"/>
            <a:r>
              <a:rPr lang="en-US" sz="3600" dirty="0"/>
              <a:t> A juvenile offender shall not be sentenced to death and death sentence cannot be pronounced. s.</a:t>
            </a:r>
            <a:r>
              <a:rPr lang="en-US" sz="3600" b="1" dirty="0"/>
              <a:t>13 CYPL </a:t>
            </a:r>
            <a:r>
              <a:rPr lang="en-US" sz="3600" dirty="0"/>
              <a:t>Under </a:t>
            </a:r>
            <a:r>
              <a:rPr lang="en-US" sz="3600" b="1" dirty="0"/>
              <a:t>S. 302(3)ACJL Lagos</a:t>
            </a:r>
            <a:r>
              <a:rPr lang="en-US" sz="3600" dirty="0"/>
              <a:t>, the offender shall be detained at the discretion of the Governor. see </a:t>
            </a:r>
            <a:r>
              <a:rPr lang="en-US" sz="3600" b="1" dirty="0"/>
              <a:t>Modupe v State</a:t>
            </a:r>
            <a:r>
              <a:rPr lang="en-US" sz="3600" dirty="0"/>
              <a:t> </a:t>
            </a:r>
            <a:endParaRPr lang="en-US" sz="3600" dirty="0"/>
          </a:p>
          <a:p>
            <a:pPr algn="just"/>
            <a:r>
              <a:rPr lang="en-US" sz="3600" dirty="0"/>
              <a:t>However under </a:t>
            </a:r>
            <a:r>
              <a:rPr lang="en-US" sz="3600" b="1" dirty="0">
                <a:sym typeface="+mn-ea"/>
              </a:rPr>
              <a:t>S.405 ACJA</a:t>
            </a:r>
            <a:r>
              <a:rPr lang="en-US" sz="3600" dirty="0"/>
              <a:t>, the offender shall be sentenced to life imprisonment if found guilty of capital offence. </a:t>
            </a:r>
            <a:endParaRPr lang="en-US" sz="36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78224"/>
            <a:ext cx="8229600" cy="5547939"/>
          </a:xfrm>
        </p:spPr>
        <p:txBody>
          <a:bodyPr>
            <a:normAutofit/>
          </a:bodyPr>
          <a:lstStyle/>
          <a:p>
            <a:pPr algn="just"/>
            <a:r>
              <a:rPr lang="en-US" sz="4000" dirty="0"/>
              <a:t> The use of words like conviction and sentence is prohibited. </a:t>
            </a:r>
            <a:r>
              <a:rPr lang="en-US" sz="4000" b="1" dirty="0"/>
              <a:t>S. 17 CYPL</a:t>
            </a:r>
            <a:endParaRPr lang="en-US" sz="4000" dirty="0"/>
          </a:p>
          <a:p>
            <a:pPr algn="just"/>
            <a:r>
              <a:rPr lang="en-US" sz="4000" dirty="0"/>
              <a:t> Avoiding interactions with adult offenders. S. S.417 CPL.</a:t>
            </a:r>
            <a:endParaRPr lang="en-US" sz="4000" dirty="0"/>
          </a:p>
          <a:p>
            <a:pPr algn="just"/>
            <a:r>
              <a:rPr lang="en-US" sz="4000" dirty="0"/>
              <a:t>Note that the relevant age is the age at the commission of the offence and not age at conviction. See </a:t>
            </a:r>
            <a:r>
              <a:rPr lang="en-US" sz="4000" b="1" dirty="0" err="1"/>
              <a:t>Bangaza</a:t>
            </a:r>
            <a:r>
              <a:rPr lang="en-US" sz="4000" b="1" dirty="0"/>
              <a:t> V State, </a:t>
            </a:r>
            <a:r>
              <a:rPr lang="en-US" sz="4000" b="1" dirty="0" err="1"/>
              <a:t>Modupe</a:t>
            </a:r>
            <a:r>
              <a:rPr lang="en-US" sz="4000" b="1" dirty="0"/>
              <a:t> v State</a:t>
            </a:r>
            <a:endParaRPr lang="en-US" sz="4000" b="1"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The Court Martial</a:t>
            </a:r>
            <a:endParaRPr lang="en-US" sz="4800" dirty="0"/>
          </a:p>
        </p:txBody>
      </p:sp>
      <p:sp>
        <p:nvSpPr>
          <p:cNvPr id="3" name="Content Placeholder 2"/>
          <p:cNvSpPr>
            <a:spLocks noGrp="1"/>
          </p:cNvSpPr>
          <p:nvPr>
            <p:ph idx="1"/>
          </p:nvPr>
        </p:nvSpPr>
        <p:spPr>
          <a:xfrm>
            <a:off x="1981200" y="1331260"/>
            <a:ext cx="8229600" cy="4794904"/>
          </a:xfrm>
        </p:spPr>
        <p:txBody>
          <a:bodyPr>
            <a:normAutofit/>
          </a:bodyPr>
          <a:lstStyle/>
          <a:p>
            <a:pPr marL="514350" indent="-514350" algn="just">
              <a:buFont typeface="Wingdings" panose="05000000000000000000" pitchFamily="2" charset="2"/>
              <a:buChar char="§"/>
            </a:pPr>
            <a:r>
              <a:rPr lang="en-US" sz="4800" dirty="0"/>
              <a:t>S</a:t>
            </a:r>
            <a:r>
              <a:rPr lang="en-US" sz="4000" dirty="0"/>
              <a:t>. 129 of the Armed Forces Act establish the Court Martial and provides for two types of Court Martial which are:</a:t>
            </a:r>
            <a:endParaRPr lang="en-US" sz="4000" dirty="0"/>
          </a:p>
          <a:p>
            <a:pPr marL="514350" indent="-514350" algn="just">
              <a:buFont typeface="Wingdings" panose="05000000000000000000" pitchFamily="2" charset="2"/>
              <a:buChar char="§"/>
            </a:pPr>
            <a:r>
              <a:rPr lang="en-US" sz="4000" dirty="0"/>
              <a:t>1. the General Courts Martial </a:t>
            </a:r>
            <a:endParaRPr lang="en-US" sz="4000" dirty="0"/>
          </a:p>
          <a:p>
            <a:pPr marL="514350" indent="-514350" algn="just">
              <a:buFont typeface="Wingdings" panose="05000000000000000000" pitchFamily="2" charset="2"/>
              <a:buChar char="§"/>
            </a:pPr>
            <a:r>
              <a:rPr lang="en-US" sz="4000" dirty="0"/>
              <a:t>2. the Special Courts Martial.</a:t>
            </a:r>
            <a:endParaRPr lang="en-US" sz="4000" dirty="0"/>
          </a:p>
          <a:p>
            <a:pPr marL="514350" indent="-514350" algn="just">
              <a:buFont typeface="Wingdings" panose="05000000000000000000" pitchFamily="2" charset="2"/>
              <a:buChar char="§"/>
            </a:pPr>
            <a:endParaRPr lang="en-US" sz="4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GENERAL COURTS-MARTIAL</a:t>
            </a:r>
            <a:endParaRPr lang="en-US" b="1" dirty="0"/>
          </a:p>
        </p:txBody>
      </p:sp>
      <p:sp>
        <p:nvSpPr>
          <p:cNvPr id="3" name="Content Placeholder 2"/>
          <p:cNvSpPr>
            <a:spLocks noGrp="1"/>
          </p:cNvSpPr>
          <p:nvPr>
            <p:ph idx="1"/>
          </p:nvPr>
        </p:nvSpPr>
        <p:spPr>
          <a:xfrm>
            <a:off x="1981200" y="1156448"/>
            <a:ext cx="8229600" cy="4969716"/>
          </a:xfrm>
        </p:spPr>
        <p:txBody>
          <a:bodyPr>
            <a:normAutofit/>
          </a:bodyPr>
          <a:lstStyle/>
          <a:p>
            <a:r>
              <a:rPr lang="en-US" sz="4000" dirty="0"/>
              <a:t>COMPOSITION:</a:t>
            </a:r>
            <a:endParaRPr lang="en-US" sz="4000" dirty="0"/>
          </a:p>
          <a:p>
            <a:r>
              <a:rPr lang="en-US" sz="4000" dirty="0"/>
              <a:t>1. President</a:t>
            </a:r>
            <a:endParaRPr lang="en-US" sz="4000" dirty="0"/>
          </a:p>
          <a:p>
            <a:r>
              <a:rPr lang="en-US" sz="4000" dirty="0"/>
              <a:t>2. Not less than 4 members</a:t>
            </a:r>
            <a:endParaRPr lang="en-US" sz="4000" dirty="0"/>
          </a:p>
          <a:p>
            <a:r>
              <a:rPr lang="en-US" sz="4000" dirty="0"/>
              <a:t>3. A Waiting Member</a:t>
            </a:r>
            <a:endParaRPr lang="en-US" sz="4000" dirty="0"/>
          </a:p>
          <a:p>
            <a:r>
              <a:rPr lang="en-US" sz="4000" dirty="0"/>
              <a:t>4. A Liaison Officer</a:t>
            </a:r>
            <a:endParaRPr lang="en-US" sz="4000" dirty="0"/>
          </a:p>
          <a:p>
            <a:r>
              <a:rPr lang="en-US" sz="4000" dirty="0"/>
              <a:t>5. A Judge Advocate:</a:t>
            </a:r>
            <a:endParaRPr lang="en-US" sz="4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SPECIAL COURTS-MARTIAL</a:t>
            </a:r>
            <a:endParaRPr lang="en-US" b="1" dirty="0"/>
          </a:p>
        </p:txBody>
      </p:sp>
      <p:sp>
        <p:nvSpPr>
          <p:cNvPr id="3" name="Content Placeholder 2"/>
          <p:cNvSpPr>
            <a:spLocks noGrp="1"/>
          </p:cNvSpPr>
          <p:nvPr>
            <p:ph idx="1"/>
          </p:nvPr>
        </p:nvSpPr>
        <p:spPr/>
        <p:txBody>
          <a:bodyPr>
            <a:normAutofit/>
          </a:bodyPr>
          <a:lstStyle/>
          <a:p>
            <a:r>
              <a:rPr lang="en-US" sz="4000" dirty="0"/>
              <a:t>COMPOSITION: </a:t>
            </a:r>
            <a:endParaRPr lang="en-US" sz="4000" dirty="0"/>
          </a:p>
          <a:p>
            <a:r>
              <a:rPr lang="en-US" sz="4000" dirty="0"/>
              <a:t> President</a:t>
            </a:r>
            <a:endParaRPr lang="en-US" sz="4000" dirty="0"/>
          </a:p>
          <a:p>
            <a:r>
              <a:rPr lang="en-US" sz="4000" dirty="0"/>
              <a:t>Not less than two members</a:t>
            </a:r>
            <a:endParaRPr lang="en-US" sz="4000" dirty="0"/>
          </a:p>
          <a:p>
            <a:r>
              <a:rPr lang="en-US" sz="4000" dirty="0"/>
              <a:t>A Waiting Member</a:t>
            </a:r>
            <a:endParaRPr lang="en-US" sz="4000" dirty="0"/>
          </a:p>
          <a:p>
            <a:r>
              <a:rPr lang="en-US" sz="4000" dirty="0"/>
              <a:t>A Liaison Officer</a:t>
            </a:r>
            <a:endParaRPr lang="en-US" sz="4000" dirty="0"/>
          </a:p>
          <a:p>
            <a:r>
              <a:rPr lang="en-US" sz="4000" dirty="0"/>
              <a:t>A Judge Advocate </a:t>
            </a:r>
            <a:endParaRPr lang="en-US" sz="4000" dirty="0"/>
          </a:p>
          <a:p>
            <a:endParaRPr lang="en-US" sz="4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7835" y="105410"/>
            <a:ext cx="8794115" cy="6021070"/>
          </a:xfrm>
        </p:spPr>
        <p:txBody>
          <a:bodyPr>
            <a:noAutofit/>
          </a:bodyPr>
          <a:lstStyle/>
          <a:p>
            <a:pPr algn="just"/>
            <a:r>
              <a:rPr lang="en-US" sz="3800" dirty="0"/>
              <a:t>In both cases, the president shall not be under the rank of Major or other corresponding rank except where such an officer is not available. In that case an officer not below the rank of Captain or corresponding rank shall be the president.</a:t>
            </a:r>
            <a:endParaRPr lang="en-US" sz="3800" dirty="0"/>
          </a:p>
          <a:p>
            <a:pPr marL="0" indent="0" algn="just">
              <a:buNone/>
            </a:pPr>
            <a:r>
              <a:rPr lang="en-US" sz="3800" dirty="0"/>
              <a:t>NB: That a Courts-Martial cannot try an officer who is above the rank of the president and the members. S.</a:t>
            </a:r>
            <a:r>
              <a:rPr lang="en-US" sz="3800" b="1" dirty="0"/>
              <a:t> 133(3) AFA,  </a:t>
            </a:r>
            <a:r>
              <a:rPr lang="en-US" sz="3800" b="1" i="1" dirty="0"/>
              <a:t>Okoro</a:t>
            </a:r>
            <a:r>
              <a:rPr lang="en-US" sz="3800" b="1" dirty="0"/>
              <a:t> v </a:t>
            </a:r>
            <a:r>
              <a:rPr lang="en-US" sz="3800" b="1" i="1" dirty="0"/>
              <a:t>Nigerian Army Council </a:t>
            </a:r>
            <a:r>
              <a:rPr lang="en-US" sz="3800" b="1" dirty="0"/>
              <a:t>(Major)</a:t>
            </a:r>
            <a:endParaRPr lang="en-US" sz="38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295910"/>
            <a:ext cx="9144635" cy="6071235"/>
          </a:xfrm>
        </p:spPr>
        <p:txBody>
          <a:bodyPr>
            <a:noAutofit/>
          </a:bodyPr>
          <a:lstStyle/>
          <a:p>
            <a:pPr algn="just">
              <a:buFont typeface="Wingdings" panose="05000000000000000000" pitchFamily="2" charset="2"/>
              <a:buChar char="Ø"/>
            </a:pPr>
            <a:r>
              <a:rPr lang="en-US" sz="3600" b="1" dirty="0"/>
              <a:t>A JUDGE ADVOCATE</a:t>
            </a:r>
            <a:r>
              <a:rPr lang="en-US" sz="3600" dirty="0"/>
              <a:t>: </a:t>
            </a:r>
            <a:endParaRPr lang="en-US" sz="3600" dirty="0"/>
          </a:p>
          <a:p>
            <a:pPr marL="571500" indent="-571500" algn="just">
              <a:buFont typeface="+mj-lt"/>
              <a:buAutoNum type="romanLcPeriod"/>
            </a:pPr>
            <a:r>
              <a:rPr lang="en-US" sz="3600" dirty="0"/>
              <a:t>Must be a commissioned officer and Legal Practitioner who must have 3 years post call experience.</a:t>
            </a:r>
            <a:endParaRPr lang="en-US" sz="3600" dirty="0"/>
          </a:p>
          <a:p>
            <a:pPr marL="571500" indent="-571500" algn="just">
              <a:buFont typeface="+mj-lt"/>
              <a:buAutoNum type="romanLcPeriod"/>
            </a:pPr>
            <a:r>
              <a:rPr lang="en-US" sz="3600" dirty="0"/>
              <a:t>The Judge advocate acts as the prosecutor and legal adviser to the Court.</a:t>
            </a:r>
            <a:endParaRPr lang="en-US" sz="3600" dirty="0"/>
          </a:p>
          <a:p>
            <a:pPr marL="0" indent="0" algn="just">
              <a:buNone/>
            </a:pPr>
            <a:r>
              <a:rPr lang="en-US" sz="3600" b="1" dirty="0"/>
              <a:t>NB: That the Judge Advocate is not a member of the Court for the purposes of quorum, composition or voting. </a:t>
            </a:r>
            <a:endParaRPr lang="en-US" sz="3600" b="1" dirty="0"/>
          </a:p>
          <a:p>
            <a:pPr marL="0" indent="0" algn="just">
              <a:buNone/>
            </a:pPr>
            <a:r>
              <a:rPr lang="en-US" sz="3600" i="1" dirty="0"/>
              <a:t>SEE: Nigerian Army v Dodo</a:t>
            </a:r>
            <a:r>
              <a:rPr lang="en-US" sz="3600" dirty="0"/>
              <a:t>, it was held that the Judge Advocate is not a member of the Courts-Martial.</a:t>
            </a:r>
            <a:endParaRPr lang="en-US" sz="3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35"/>
            <a:ext cx="8229600" cy="6281420"/>
          </a:xfrm>
        </p:spPr>
        <p:txBody>
          <a:bodyPr>
            <a:noAutofit/>
          </a:bodyPr>
          <a:lstStyle/>
          <a:p>
            <a:pPr algn="just">
              <a:buFont typeface="Wingdings" panose="05000000000000000000" pitchFamily="2" charset="2"/>
              <a:buChar char="Ø"/>
            </a:pPr>
            <a:r>
              <a:rPr lang="en-US" sz="3800" b="1" dirty="0"/>
              <a:t>The Waiting member:</a:t>
            </a:r>
            <a:r>
              <a:rPr lang="en-US" sz="3800" dirty="0"/>
              <a:t> </a:t>
            </a:r>
            <a:endParaRPr lang="en-US" sz="3800" dirty="0"/>
          </a:p>
          <a:p>
            <a:pPr marL="571500" indent="-571500" algn="just">
              <a:buFont typeface="+mj-lt"/>
              <a:buAutoNum type="romanLcPeriod"/>
            </a:pPr>
            <a:r>
              <a:rPr lang="en-US" sz="3800" dirty="0"/>
              <a:t>he is on stand-by in case of any absence of member.</a:t>
            </a:r>
            <a:endParaRPr lang="en-US" sz="3800" dirty="0"/>
          </a:p>
          <a:p>
            <a:pPr marL="571500" indent="-571500" algn="just">
              <a:buFont typeface="+mj-lt"/>
              <a:buAutoNum type="romanLcPeriod"/>
            </a:pPr>
            <a:r>
              <a:rPr lang="en-US" sz="3800" dirty="0"/>
              <a:t>He is not a member of the court and does not have a voting right.</a:t>
            </a:r>
            <a:endParaRPr lang="en-US" sz="3800" dirty="0"/>
          </a:p>
          <a:p>
            <a:pPr algn="just">
              <a:buFont typeface="Wingdings" panose="05000000000000000000" pitchFamily="2" charset="2"/>
              <a:buChar char="Ø"/>
            </a:pPr>
            <a:r>
              <a:rPr lang="en-US" sz="3800" b="1" dirty="0"/>
              <a:t>The Liaison Officer:</a:t>
            </a:r>
            <a:endParaRPr lang="en-US" sz="3800" dirty="0"/>
          </a:p>
          <a:p>
            <a:pPr marL="571500" indent="-571500" algn="just">
              <a:buFont typeface="+mj-lt"/>
              <a:buAutoNum type="romanLcPeriod"/>
            </a:pPr>
            <a:r>
              <a:rPr lang="en-US" sz="3800" dirty="0"/>
              <a:t>He serves as a link between the Court and the outside world. </a:t>
            </a:r>
            <a:endParaRPr lang="en-US" sz="3800" dirty="0"/>
          </a:p>
          <a:p>
            <a:pPr marL="571500" indent="-571500" algn="just">
              <a:buFont typeface="+mj-lt"/>
              <a:buAutoNum type="romanLcPeriod"/>
            </a:pPr>
            <a:r>
              <a:rPr lang="en-US" sz="3800" dirty="0"/>
              <a:t>He is not a member and does not have a voting right</a:t>
            </a:r>
            <a:r>
              <a:rPr lang="en-US" sz="3800" dirty="0" smtClean="0"/>
              <a:t>.</a:t>
            </a:r>
            <a:endParaRPr lang="en-US" sz="3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9172"/>
            <a:ext cx="8229600" cy="758295"/>
          </a:xfrm>
        </p:spPr>
        <p:txBody>
          <a:bodyPr>
            <a:normAutofit/>
          </a:bodyPr>
          <a:lstStyle/>
          <a:p>
            <a:r>
              <a:rPr lang="en-US" b="1" dirty="0"/>
              <a:t>JURISDICTION OF COURT MARTIAL</a:t>
            </a:r>
            <a:endParaRPr lang="en-US" b="1" dirty="0"/>
          </a:p>
        </p:txBody>
      </p:sp>
      <p:sp>
        <p:nvSpPr>
          <p:cNvPr id="3" name="Content Placeholder 2"/>
          <p:cNvSpPr>
            <a:spLocks noGrp="1"/>
          </p:cNvSpPr>
          <p:nvPr>
            <p:ph idx="1"/>
          </p:nvPr>
        </p:nvSpPr>
        <p:spPr>
          <a:xfrm>
            <a:off x="1981200" y="897467"/>
            <a:ext cx="8229600" cy="5604933"/>
          </a:xfrm>
        </p:spPr>
        <p:txBody>
          <a:bodyPr>
            <a:noAutofit/>
          </a:bodyPr>
          <a:lstStyle/>
          <a:p>
            <a:pPr algn="just">
              <a:buFont typeface="Wingdings" panose="05000000000000000000" pitchFamily="2" charset="2"/>
              <a:buChar char="Ø"/>
            </a:pPr>
            <a:r>
              <a:rPr lang="en-US" sz="3600" dirty="0"/>
              <a:t>Limited to persons who are subject to service laws S. 130 AFA, S.291 AFA</a:t>
            </a:r>
            <a:endParaRPr lang="en-US" sz="3600" dirty="0"/>
          </a:p>
          <a:p>
            <a:pPr algn="just">
              <a:buFont typeface="Wingdings" panose="05000000000000000000" pitchFamily="2" charset="2"/>
              <a:buChar char="Ø"/>
            </a:pPr>
            <a:r>
              <a:rPr lang="en-US" sz="3600" dirty="0"/>
              <a:t>Try both military and civil offences. </a:t>
            </a:r>
            <a:endParaRPr lang="en-US" sz="3600" dirty="0"/>
          </a:p>
          <a:p>
            <a:pPr marL="0" indent="0" algn="just">
              <a:buNone/>
            </a:pPr>
            <a:r>
              <a:rPr lang="en-US" sz="3600" b="1" dirty="0"/>
              <a:t>Military offences </a:t>
            </a:r>
            <a:r>
              <a:rPr lang="en-US" sz="3600" dirty="0"/>
              <a:t>are offences created by the AFA. S.45-103 </a:t>
            </a:r>
            <a:r>
              <a:rPr lang="en-US" sz="3600" dirty="0" err="1"/>
              <a:t>e.g</a:t>
            </a:r>
            <a:r>
              <a:rPr lang="en-US" sz="3600" dirty="0"/>
              <a:t> Misconduct, Mutiny, Insubordination, Absence from duty, malingering and drunkenness, offences relating to property </a:t>
            </a:r>
            <a:r>
              <a:rPr lang="en-US" sz="3600" dirty="0" err="1"/>
              <a:t>e.t.c</a:t>
            </a:r>
            <a:endParaRPr lang="en-US" sz="3600" dirty="0"/>
          </a:p>
          <a:p>
            <a:pPr algn="just"/>
            <a:endParaRPr lang="en-US" sz="3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9171"/>
            <a:ext cx="8229600" cy="250295"/>
          </a:xfrm>
        </p:spPr>
        <p:txBody>
          <a:bodyPr>
            <a:normAutofit fontScale="90000"/>
          </a:bodyPr>
          <a:lstStyle/>
          <a:p>
            <a:endParaRPr lang="en-US" dirty="0"/>
          </a:p>
        </p:txBody>
      </p:sp>
      <p:sp>
        <p:nvSpPr>
          <p:cNvPr id="3" name="Content Placeholder 2"/>
          <p:cNvSpPr>
            <a:spLocks noGrp="1"/>
          </p:cNvSpPr>
          <p:nvPr>
            <p:ph idx="1"/>
          </p:nvPr>
        </p:nvSpPr>
        <p:spPr>
          <a:xfrm>
            <a:off x="1981200" y="677334"/>
            <a:ext cx="8229600" cy="5448830"/>
          </a:xfrm>
        </p:spPr>
        <p:txBody>
          <a:bodyPr>
            <a:noAutofit/>
          </a:bodyPr>
          <a:lstStyle/>
          <a:p>
            <a:pPr algn="just">
              <a:buFont typeface="Wingdings" panose="05000000000000000000" pitchFamily="2" charset="2"/>
              <a:buChar char="Ø"/>
            </a:pPr>
            <a:r>
              <a:rPr lang="en-US" sz="3600" dirty="0"/>
              <a:t>Civil Offences as offences which are created by any law applicable in Nigeria. S. 104- 113 AFA list out the civil offences that can be tried by the Court Martial </a:t>
            </a:r>
            <a:r>
              <a:rPr lang="en-US" sz="3600" dirty="0" err="1"/>
              <a:t>e.g</a:t>
            </a:r>
            <a:r>
              <a:rPr lang="en-US" sz="3600" dirty="0"/>
              <a:t> Assault, Rape, Manslaughter, Murder, Robbery </a:t>
            </a:r>
            <a:r>
              <a:rPr lang="en-US" sz="3600" dirty="0" err="1"/>
              <a:t>e.t.c</a:t>
            </a:r>
            <a:r>
              <a:rPr lang="en-US" sz="3600" dirty="0"/>
              <a:t>.. SEE: S. 114(2) AFA</a:t>
            </a:r>
            <a:endParaRPr lang="en-US" sz="3600" dirty="0"/>
          </a:p>
          <a:p>
            <a:pPr algn="just">
              <a:buFont typeface="Wingdings" panose="05000000000000000000" pitchFamily="2" charset="2"/>
              <a:buChar char="Ø"/>
            </a:pPr>
            <a:r>
              <a:rPr lang="en-US" sz="3600" dirty="0"/>
              <a:t>S. 170 AFA provides that once jurisdiction is assumed by a regular court there is nothing in the Act that can oust the jurisdiction of the regular court.</a:t>
            </a:r>
            <a:endParaRPr lang="en-US" sz="3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6210"/>
            <a:ext cx="8229600" cy="686435"/>
          </a:xfrm>
        </p:spPr>
        <p:txBody>
          <a:bodyPr>
            <a:normAutofit fontScale="90000"/>
          </a:bodyPr>
          <a:lstStyle/>
          <a:p>
            <a:r>
              <a:rPr lang="en-US" b="1" dirty="0"/>
              <a:t>WHO MAY CONVENE A COURT MARTIAL</a:t>
            </a:r>
            <a:endParaRPr lang="en-US" b="1" dirty="0"/>
          </a:p>
        </p:txBody>
      </p:sp>
      <p:sp>
        <p:nvSpPr>
          <p:cNvPr id="3" name="Content Placeholder 2"/>
          <p:cNvSpPr>
            <a:spLocks noGrp="1"/>
          </p:cNvSpPr>
          <p:nvPr>
            <p:ph idx="1"/>
          </p:nvPr>
        </p:nvSpPr>
        <p:spPr>
          <a:xfrm>
            <a:off x="1697990" y="842645"/>
            <a:ext cx="8883015" cy="5591810"/>
          </a:xfrm>
        </p:spPr>
        <p:txBody>
          <a:bodyPr>
            <a:noAutofit/>
          </a:bodyPr>
          <a:lstStyle/>
          <a:p>
            <a:pPr marL="0" indent="0" algn="just">
              <a:buNone/>
            </a:pPr>
            <a:r>
              <a:rPr lang="en-US" sz="3700" b="1" dirty="0"/>
              <a:t>SPECIAL COURTS-MARTIAL: </a:t>
            </a:r>
            <a:endParaRPr lang="en-US" sz="3700" b="1" dirty="0"/>
          </a:p>
          <a:p>
            <a:pPr algn="just">
              <a:buFont typeface="Wingdings" panose="05000000000000000000" pitchFamily="2" charset="2"/>
              <a:buChar char="Ø"/>
            </a:pPr>
            <a:r>
              <a:rPr lang="en-US" sz="3700" dirty="0"/>
              <a:t>The President</a:t>
            </a:r>
            <a:endParaRPr lang="en-US" sz="3700" dirty="0"/>
          </a:p>
          <a:p>
            <a:pPr algn="just">
              <a:buFont typeface="Wingdings" panose="05000000000000000000" pitchFamily="2" charset="2"/>
              <a:buChar char="Ø"/>
            </a:pPr>
            <a:r>
              <a:rPr lang="en-US" sz="3700" dirty="0"/>
              <a:t>The Chief of </a:t>
            </a:r>
            <a:r>
              <a:rPr lang="en-US" sz="3700" dirty="0" err="1"/>
              <a:t>Defence</a:t>
            </a:r>
            <a:r>
              <a:rPr lang="en-US" sz="3700" dirty="0"/>
              <a:t> Staff</a:t>
            </a:r>
            <a:endParaRPr lang="en-US" sz="3700" dirty="0"/>
          </a:p>
          <a:p>
            <a:pPr algn="just">
              <a:buFont typeface="Wingdings" panose="05000000000000000000" pitchFamily="2" charset="2"/>
              <a:buChar char="Ø"/>
            </a:pPr>
            <a:r>
              <a:rPr lang="en-US" sz="3700" dirty="0"/>
              <a:t>Service Chiefs</a:t>
            </a:r>
            <a:endParaRPr lang="en-US" sz="3700" dirty="0"/>
          </a:p>
          <a:p>
            <a:pPr algn="just">
              <a:buFont typeface="Wingdings" panose="05000000000000000000" pitchFamily="2" charset="2"/>
              <a:buChar char="Ø"/>
            </a:pPr>
            <a:r>
              <a:rPr lang="en-US" sz="3700" dirty="0"/>
              <a:t>A General Officer Commanding, a Brigadier-General, a Colonel or Lieutenant Colonel or their corresponding ranks</a:t>
            </a:r>
            <a:endParaRPr lang="en-US" sz="3700" dirty="0"/>
          </a:p>
          <a:p>
            <a:pPr algn="just">
              <a:buFont typeface="Wingdings" panose="05000000000000000000" pitchFamily="2" charset="2"/>
              <a:buChar char="Ø"/>
            </a:pPr>
            <a:r>
              <a:rPr lang="en-US" sz="3700" dirty="0"/>
              <a:t>An officer for the time being acting in place of those officers</a:t>
            </a:r>
            <a:endParaRPr lang="en-US" sz="37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7630"/>
            <a:ext cx="8229600" cy="6055995"/>
          </a:xfrm>
        </p:spPr>
        <p:txBody>
          <a:bodyPr>
            <a:noAutofit/>
          </a:bodyPr>
          <a:lstStyle/>
          <a:p>
            <a:pPr marL="0" indent="0" algn="just">
              <a:buNone/>
            </a:pPr>
            <a:r>
              <a:rPr lang="en-US" sz="3800" dirty="0"/>
              <a:t>GENERAL COURT MARTIAL:</a:t>
            </a:r>
            <a:endParaRPr lang="en-US" sz="3800" dirty="0"/>
          </a:p>
          <a:p>
            <a:pPr algn="just">
              <a:buFont typeface="Wingdings" panose="05000000000000000000" pitchFamily="2" charset="2"/>
              <a:buChar char="Ø"/>
            </a:pPr>
            <a:r>
              <a:rPr lang="en-US" sz="3800" dirty="0"/>
              <a:t>The President</a:t>
            </a:r>
            <a:endParaRPr lang="en-US" sz="3800" dirty="0"/>
          </a:p>
          <a:p>
            <a:pPr algn="just">
              <a:buFont typeface="Wingdings" panose="05000000000000000000" pitchFamily="2" charset="2"/>
              <a:buChar char="Ø"/>
            </a:pPr>
            <a:r>
              <a:rPr lang="en-US" sz="3800" dirty="0"/>
              <a:t>The Chief of </a:t>
            </a:r>
            <a:r>
              <a:rPr lang="en-US" sz="3800" dirty="0" err="1"/>
              <a:t>Defence</a:t>
            </a:r>
            <a:r>
              <a:rPr lang="en-US" sz="3800" dirty="0"/>
              <a:t> Staff</a:t>
            </a:r>
            <a:endParaRPr lang="en-US" sz="3800" dirty="0"/>
          </a:p>
          <a:p>
            <a:pPr algn="just">
              <a:buFont typeface="Wingdings" panose="05000000000000000000" pitchFamily="2" charset="2"/>
              <a:buChar char="Ø"/>
            </a:pPr>
            <a:r>
              <a:rPr lang="en-US" sz="3800" dirty="0"/>
              <a:t> Service Chiefs</a:t>
            </a:r>
            <a:endParaRPr lang="en-US" sz="3800" dirty="0"/>
          </a:p>
          <a:p>
            <a:pPr algn="just">
              <a:buFont typeface="Wingdings" panose="05000000000000000000" pitchFamily="2" charset="2"/>
              <a:buChar char="Ø"/>
            </a:pPr>
            <a:r>
              <a:rPr lang="en-US" sz="3800" dirty="0"/>
              <a:t>General Officer Commanding</a:t>
            </a:r>
            <a:endParaRPr lang="en-US" sz="3800" dirty="0"/>
          </a:p>
          <a:p>
            <a:pPr algn="just">
              <a:buFont typeface="Wingdings" panose="05000000000000000000" pitchFamily="2" charset="2"/>
              <a:buChar char="Ø"/>
            </a:pPr>
            <a:r>
              <a:rPr lang="en-US" sz="3800" dirty="0"/>
              <a:t>A Brigade Commander or corresponding command.</a:t>
            </a:r>
            <a:endParaRPr lang="en-US" sz="3800" dirty="0"/>
          </a:p>
          <a:p>
            <a:pPr marL="0" indent="0" algn="just">
              <a:buFont typeface="Wingdings" panose="05000000000000000000" pitchFamily="2" charset="2"/>
              <a:buNone/>
            </a:pPr>
            <a:r>
              <a:rPr lang="en-US" sz="3800" b="1" dirty="0"/>
              <a:t>NBThe power of the above may be delegated to another officer. </a:t>
            </a:r>
            <a:r>
              <a:rPr lang="en-US" sz="3800" b="1" i="1" dirty="0"/>
              <a:t>Nigerian Air force </a:t>
            </a:r>
            <a:r>
              <a:rPr lang="en-US" sz="3800" b="1" dirty="0"/>
              <a:t>v</a:t>
            </a:r>
            <a:r>
              <a:rPr lang="en-US" sz="3800" b="1" i="1" dirty="0"/>
              <a:t> </a:t>
            </a:r>
            <a:r>
              <a:rPr lang="en-US" sz="3800" b="1" i="1" dirty="0" err="1"/>
              <a:t>Obiosa</a:t>
            </a:r>
            <a:endParaRPr lang="en-US" sz="3800" b="1" i="1" dirty="0" err="1"/>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8375"/>
            <a:ext cx="8229600" cy="419626"/>
          </a:xfrm>
        </p:spPr>
        <p:txBody>
          <a:bodyPr>
            <a:normAutofit fontScale="90000"/>
          </a:bodyPr>
          <a:lstStyle/>
          <a:p>
            <a:r>
              <a:rPr lang="en-US" b="1" dirty="0"/>
              <a:t>VERDICT OF COURT MARTIAL</a:t>
            </a:r>
            <a:endParaRPr lang="en-US" b="1" dirty="0"/>
          </a:p>
        </p:txBody>
      </p:sp>
      <p:sp>
        <p:nvSpPr>
          <p:cNvPr id="3" name="Content Placeholder 2"/>
          <p:cNvSpPr>
            <a:spLocks noGrp="1"/>
          </p:cNvSpPr>
          <p:nvPr>
            <p:ph idx="1"/>
          </p:nvPr>
        </p:nvSpPr>
        <p:spPr>
          <a:xfrm>
            <a:off x="1659255" y="508000"/>
            <a:ext cx="8932545" cy="5892800"/>
          </a:xfrm>
        </p:spPr>
        <p:txBody>
          <a:bodyPr>
            <a:noAutofit/>
          </a:bodyPr>
          <a:lstStyle/>
          <a:p>
            <a:pPr marL="0" indent="0" algn="just">
              <a:buNone/>
            </a:pPr>
            <a:r>
              <a:rPr lang="en-US" sz="3600" dirty="0"/>
              <a:t>The decision of courts martial is by the majority of votes of members:</a:t>
            </a:r>
            <a:endParaRPr lang="en-US" sz="3600" dirty="0"/>
          </a:p>
          <a:p>
            <a:pPr algn="just">
              <a:buFont typeface="Wingdings" panose="05000000000000000000" pitchFamily="2" charset="2"/>
              <a:buChar char="Ø"/>
            </a:pPr>
            <a:r>
              <a:rPr lang="en-US" sz="3600" dirty="0"/>
              <a:t>Where there is equality of votes on findings, the accused shall be acquitted. (s. 140(2) AFA).</a:t>
            </a:r>
            <a:endParaRPr lang="en-US" sz="3600" dirty="0"/>
          </a:p>
          <a:p>
            <a:pPr algn="just">
              <a:buFont typeface="Wingdings" panose="05000000000000000000" pitchFamily="2" charset="2"/>
              <a:buChar char="Ø"/>
            </a:pPr>
            <a:r>
              <a:rPr lang="en-US" sz="3600" dirty="0"/>
              <a:t>Where there is equality of votes on the sentence, the president shall have a second or casting vote.(s. 140(5))</a:t>
            </a:r>
            <a:endParaRPr lang="en-US" sz="3600" dirty="0"/>
          </a:p>
          <a:p>
            <a:pPr algn="just">
              <a:buFont typeface="Wingdings" panose="05000000000000000000" pitchFamily="2" charset="2"/>
              <a:buChar char="Ø"/>
            </a:pPr>
            <a:r>
              <a:rPr lang="en-US" sz="3600" dirty="0"/>
              <a:t>The decision of the court shall be announced in an open court and is subject to confirmation by the convening authority. </a:t>
            </a:r>
            <a:endParaRPr lang="en-US" sz="36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1200" y="274955"/>
            <a:ext cx="8229600" cy="263525"/>
          </a:xfrm>
        </p:spPr>
        <p:txBody>
          <a:bodyPr>
            <a:normAutofit fontScale="90000"/>
          </a:bodyPr>
          <a:p>
            <a:r>
              <a:rPr lang="en-US" b="1" dirty="0">
                <a:sym typeface="+mn-ea"/>
              </a:rPr>
              <a:t>VERDICT OF COURT MARTIAL (Cont’d)</a:t>
            </a:r>
            <a:endParaRPr lang="en-US"/>
          </a:p>
        </p:txBody>
      </p:sp>
      <p:sp>
        <p:nvSpPr>
          <p:cNvPr id="3" name="Content Placeholder 2"/>
          <p:cNvSpPr>
            <a:spLocks noGrp="1"/>
          </p:cNvSpPr>
          <p:nvPr>
            <p:ph idx="1"/>
          </p:nvPr>
        </p:nvSpPr>
        <p:spPr>
          <a:xfrm>
            <a:off x="1981200" y="537845"/>
            <a:ext cx="8229600" cy="5588635"/>
          </a:xfrm>
        </p:spPr>
        <p:txBody>
          <a:bodyPr>
            <a:noAutofit/>
          </a:bodyPr>
          <a:p>
            <a:pPr algn="just"/>
            <a:r>
              <a:rPr lang="en-US" sz="3800"/>
              <a:t>Where death sentence is to be passed as consequence of a conviction, the senrence shall not have effect unless there is concurrence of the members.</a:t>
            </a:r>
            <a:endParaRPr lang="en-US" sz="3800"/>
          </a:p>
          <a:p>
            <a:pPr algn="just"/>
            <a:r>
              <a:rPr lang="en-US" sz="3800"/>
              <a:t>Decision of a Court-Martial exept an order for discharge or acquital shall be suject to confirmation by the confirming authority. see</a:t>
            </a:r>
            <a:r>
              <a:rPr lang="en-US" sz="3800" b="1"/>
              <a:t> Army Rules of Procedure 1972,  Yakubu v. Chief of Naval Staff</a:t>
            </a:r>
            <a:r>
              <a:rPr lang="en-US" sz="3800"/>
              <a:t> </a:t>
            </a:r>
            <a:endParaRPr lang="en-US" sz="38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8265"/>
            <a:ext cx="8229600" cy="584835"/>
          </a:xfrm>
        </p:spPr>
        <p:txBody>
          <a:bodyPr>
            <a:normAutofit fontScale="90000"/>
          </a:bodyPr>
          <a:lstStyle/>
          <a:p>
            <a:r>
              <a:rPr lang="en-US" b="1" dirty="0"/>
              <a:t>SENTENCE </a:t>
            </a:r>
            <a:endParaRPr lang="en-US" b="1" dirty="0"/>
          </a:p>
        </p:txBody>
      </p:sp>
      <p:sp>
        <p:nvSpPr>
          <p:cNvPr id="3" name="Content Placeholder 2"/>
          <p:cNvSpPr>
            <a:spLocks noGrp="1"/>
          </p:cNvSpPr>
          <p:nvPr>
            <p:ph idx="1"/>
          </p:nvPr>
        </p:nvSpPr>
        <p:spPr>
          <a:xfrm>
            <a:off x="1981200" y="429895"/>
            <a:ext cx="8229600" cy="6005195"/>
          </a:xfrm>
        </p:spPr>
        <p:txBody>
          <a:bodyPr>
            <a:noAutofit/>
          </a:bodyPr>
          <a:lstStyle/>
          <a:p>
            <a:pPr algn="just">
              <a:buFont typeface="Wingdings" panose="05000000000000000000" pitchFamily="2" charset="2"/>
              <a:buChar char="Ø"/>
            </a:pPr>
            <a:r>
              <a:rPr lang="en-US" sz="4000" dirty="0"/>
              <a:t>The scale of punishment which a courts martial may impose is contained in S.118 AFA and they include:</a:t>
            </a:r>
            <a:endParaRPr lang="en-US" sz="4000" dirty="0"/>
          </a:p>
          <a:p>
            <a:pPr algn="just">
              <a:buFont typeface="Wingdings" panose="05000000000000000000" pitchFamily="2" charset="2"/>
              <a:buChar char="v"/>
            </a:pPr>
            <a:r>
              <a:rPr lang="en-US" sz="4000" dirty="0"/>
              <a:t> death sentence, </a:t>
            </a:r>
            <a:endParaRPr lang="en-US" sz="4000" dirty="0"/>
          </a:p>
          <a:p>
            <a:pPr algn="just">
              <a:buFont typeface="Wingdings" panose="05000000000000000000" pitchFamily="2" charset="2"/>
              <a:buChar char="v"/>
            </a:pPr>
            <a:r>
              <a:rPr lang="en-US" sz="4000" dirty="0"/>
              <a:t>imprisonment, </a:t>
            </a:r>
            <a:endParaRPr lang="en-US" sz="4000" dirty="0"/>
          </a:p>
          <a:p>
            <a:pPr algn="just">
              <a:buFont typeface="Wingdings" panose="05000000000000000000" pitchFamily="2" charset="2"/>
              <a:buChar char="v"/>
            </a:pPr>
            <a:r>
              <a:rPr lang="en-US" sz="4000" dirty="0"/>
              <a:t>Dismissal with disgrace, </a:t>
            </a:r>
            <a:endParaRPr lang="en-US" sz="4000" dirty="0"/>
          </a:p>
          <a:p>
            <a:pPr algn="just">
              <a:buFont typeface="Wingdings" panose="05000000000000000000" pitchFamily="2" charset="2"/>
              <a:buChar char="v"/>
            </a:pPr>
            <a:r>
              <a:rPr lang="en-US" sz="4000" dirty="0"/>
              <a:t>Reduction in rank, </a:t>
            </a:r>
            <a:endParaRPr lang="en-US" sz="4000" dirty="0"/>
          </a:p>
          <a:p>
            <a:pPr algn="just">
              <a:buFont typeface="Wingdings" panose="05000000000000000000" pitchFamily="2" charset="2"/>
              <a:buChar char="v"/>
            </a:pPr>
            <a:r>
              <a:rPr lang="en-US" sz="4000" dirty="0"/>
              <a:t>Fine etc.</a:t>
            </a:r>
            <a:endParaRPr lang="en-US" sz="4000" dirty="0"/>
          </a:p>
          <a:p>
            <a:pPr algn="just"/>
            <a:endParaRPr lang="en-US" sz="4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1200" y="274955"/>
            <a:ext cx="8229600" cy="836295"/>
          </a:xfrm>
        </p:spPr>
        <p:txBody>
          <a:bodyPr/>
          <a:p>
            <a:r>
              <a:rPr lang="en-US" b="1" dirty="0">
                <a:sym typeface="+mn-ea"/>
              </a:rPr>
              <a:t>SENTENCE (Cont’d)</a:t>
            </a:r>
            <a:endParaRPr lang="en-US"/>
          </a:p>
        </p:txBody>
      </p:sp>
      <p:sp>
        <p:nvSpPr>
          <p:cNvPr id="3" name="Content Placeholder 2"/>
          <p:cNvSpPr>
            <a:spLocks noGrp="1"/>
          </p:cNvSpPr>
          <p:nvPr>
            <p:ph idx="1"/>
          </p:nvPr>
        </p:nvSpPr>
        <p:spPr>
          <a:xfrm>
            <a:off x="1981200" y="1259205"/>
            <a:ext cx="8229600" cy="4867275"/>
          </a:xfrm>
        </p:spPr>
        <p:txBody>
          <a:bodyPr>
            <a:noAutofit/>
          </a:bodyPr>
          <a:p>
            <a:pPr marL="0" indent="0" algn="just">
              <a:buNone/>
            </a:pPr>
            <a:r>
              <a:rPr lang="en-US" sz="4000" dirty="0">
                <a:sym typeface="+mn-ea"/>
              </a:rPr>
              <a:t>NB: A General Court Martial shall not impose death sentence if it consist of less than seven members.</a:t>
            </a:r>
            <a:endParaRPr lang="en-US" sz="4000" dirty="0"/>
          </a:p>
          <a:p>
            <a:pPr marL="0" indent="0" algn="just">
              <a:buNone/>
            </a:pPr>
            <a:r>
              <a:rPr lang="en-US" sz="4000" dirty="0">
                <a:sym typeface="+mn-ea"/>
              </a:rPr>
              <a:t>Special Courts-Martial shall not impose a sentence which exceeds imprisonment for a term of one year or of death if it consists of only two members </a:t>
            </a:r>
            <a:r>
              <a:rPr lang="en-US" sz="4000" b="1" dirty="0">
                <a:sym typeface="+mn-ea"/>
              </a:rPr>
              <a:t>S.130 AFA.</a:t>
            </a:r>
            <a:endParaRPr lang="en-US" sz="4000" dirty="0"/>
          </a:p>
          <a:p>
            <a:pPr algn="just"/>
            <a:endParaRPr lang="en-US" sz="4000" dirty="0"/>
          </a:p>
          <a:p>
            <a:pPr algn="just"/>
            <a:endParaRPr lang="en-US" sz="4000" dirty="0"/>
          </a:p>
          <a:p>
            <a:endParaRPr lang="en-US" sz="4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05895"/>
          </a:xfrm>
        </p:spPr>
        <p:txBody>
          <a:bodyPr>
            <a:normAutofit fontScale="90000"/>
          </a:bodyPr>
          <a:lstStyle/>
          <a:p>
            <a:r>
              <a:rPr lang="en-GB" b="1" dirty="0"/>
              <a:t>SIGNING THE DECISION</a:t>
            </a:r>
            <a:endParaRPr lang="en-GB" b="1" dirty="0"/>
          </a:p>
        </p:txBody>
      </p:sp>
      <p:sp>
        <p:nvSpPr>
          <p:cNvPr id="3" name="Content Placeholder 2"/>
          <p:cNvSpPr>
            <a:spLocks noGrp="1"/>
          </p:cNvSpPr>
          <p:nvPr>
            <p:ph idx="1"/>
          </p:nvPr>
        </p:nvSpPr>
        <p:spPr>
          <a:xfrm>
            <a:off x="1981200" y="880534"/>
            <a:ext cx="8229600" cy="5469466"/>
          </a:xfrm>
        </p:spPr>
        <p:txBody>
          <a:bodyPr>
            <a:noAutofit/>
          </a:bodyPr>
          <a:lstStyle/>
          <a:p>
            <a:pPr algn="just">
              <a:buFont typeface="Wingdings" panose="05000000000000000000" pitchFamily="2" charset="2"/>
              <a:buChar char="Ø"/>
            </a:pPr>
            <a:r>
              <a:rPr lang="en-GB" sz="3800" dirty="0"/>
              <a:t>The decision of a Court Martial shall be signed and dated by the President of the court martial and the Judge Advocate at the time of delivery. </a:t>
            </a:r>
            <a:endParaRPr lang="en-GB" sz="3800" dirty="0"/>
          </a:p>
          <a:p>
            <a:pPr algn="just">
              <a:buFont typeface="Wingdings" panose="05000000000000000000" pitchFamily="2" charset="2"/>
              <a:buChar char="Ø"/>
            </a:pPr>
            <a:r>
              <a:rPr lang="en-GB" sz="3800" dirty="0"/>
              <a:t>Failure to do so will render the decision void. </a:t>
            </a:r>
            <a:r>
              <a:rPr lang="en-GB" sz="3800" b="1" i="1" dirty="0"/>
              <a:t>Army Rules of Procedure, Rule 76 of 1972. </a:t>
            </a:r>
            <a:r>
              <a:rPr lang="en-GB" sz="3800" b="1" i="1" dirty="0" err="1"/>
              <a:t>Yakubu</a:t>
            </a:r>
            <a:r>
              <a:rPr lang="en-GB" sz="3800" b="1" i="1" dirty="0"/>
              <a:t> v. Chief of Naval Staff (2004) NWLR (Pt. 853) 94; </a:t>
            </a:r>
            <a:r>
              <a:rPr lang="en-GB" sz="3800" b="1" i="1" dirty="0" err="1"/>
              <a:t>Erizea</a:t>
            </a:r>
            <a:r>
              <a:rPr lang="en-GB" sz="3800" b="1" i="1" dirty="0"/>
              <a:t> v. Nigerian Army (2015) LPELR – 26014(CA)</a:t>
            </a:r>
            <a:r>
              <a:rPr lang="en-GB" sz="3800" dirty="0"/>
              <a:t>.</a:t>
            </a:r>
            <a:endParaRPr lang="en-GB" sz="3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1200" y="274955"/>
            <a:ext cx="8229600" cy="487045"/>
          </a:xfrm>
        </p:spPr>
        <p:txBody>
          <a:bodyPr>
            <a:normAutofit fontScale="90000"/>
          </a:bodyPr>
          <a:p>
            <a:r>
              <a:rPr lang="en-US" b="1"/>
              <a:t>TIME LIMIT FOR TRIAL OF OFFENCES</a:t>
            </a:r>
            <a:endParaRPr lang="en-US" b="1"/>
          </a:p>
        </p:txBody>
      </p:sp>
      <p:sp>
        <p:nvSpPr>
          <p:cNvPr id="3" name="Content Placeholder 2"/>
          <p:cNvSpPr>
            <a:spLocks noGrp="1"/>
          </p:cNvSpPr>
          <p:nvPr>
            <p:ph idx="1"/>
          </p:nvPr>
        </p:nvSpPr>
        <p:spPr>
          <a:xfrm>
            <a:off x="1838325" y="695325"/>
            <a:ext cx="8580755" cy="5431155"/>
          </a:xfrm>
        </p:spPr>
        <p:txBody>
          <a:bodyPr>
            <a:noAutofit/>
          </a:bodyPr>
          <a:p>
            <a:pPr algn="just"/>
            <a:r>
              <a:rPr lang="en-US" altLang="en-US" sz="3800"/>
              <a:t>No one can be tried by a court-martial for an offense (except for mutiny, failure to suppress mutiny, or desertion) unless the trial starts within three years of when the offense was committed.</a:t>
            </a:r>
            <a:endParaRPr lang="en-US" altLang="en-US" sz="3800"/>
          </a:p>
          <a:p>
            <a:pPr algn="just"/>
            <a:r>
              <a:rPr lang="en-US" altLang="en-US" sz="3800"/>
              <a:t>Exceptions to the 3-year rule:</a:t>
            </a:r>
            <a:endParaRPr lang="en-US" altLang="en-US" sz="3800"/>
          </a:p>
          <a:p>
            <a:pPr algn="just"/>
            <a:r>
              <a:rPr lang="en-US" altLang="en-US" sz="3800"/>
              <a:t>Time spent as a prisoner of war or illegally absent is not counted in the three years.</a:t>
            </a:r>
            <a:endParaRPr lang="en-US" altLang="en-US" sz="38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a:sym typeface="+mn-ea"/>
              </a:rPr>
              <a:t>TIME LIMIT FOR TRIAL OF OFFENCES (CONT’D)</a:t>
            </a:r>
            <a:endParaRPr lang="en-US"/>
          </a:p>
        </p:txBody>
      </p:sp>
      <p:sp>
        <p:nvSpPr>
          <p:cNvPr id="3" name="Content Placeholder 2"/>
          <p:cNvSpPr>
            <a:spLocks noGrp="1"/>
          </p:cNvSpPr>
          <p:nvPr>
            <p:ph idx="1"/>
          </p:nvPr>
        </p:nvSpPr>
        <p:spPr/>
        <p:txBody>
          <a:bodyPr>
            <a:noAutofit/>
          </a:bodyPr>
          <a:p>
            <a:pPr algn="just"/>
            <a:r>
              <a:rPr lang="en-US" altLang="en-US" sz="4000"/>
              <a:t>If the offense is a civil offense tried under military law, and civil law requires proceedings to start within a certain time limit, then that civil time limit applies instead of the three-year rule.</a:t>
            </a:r>
            <a:endParaRPr lang="en-US" altLang="en-US" sz="4000"/>
          </a:p>
          <a:p>
            <a:pPr algn="just"/>
            <a:endParaRPr lang="en-US" altLang="en-US" sz="40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a:sym typeface="+mn-ea"/>
              </a:rPr>
              <a:t>TIME LIMIT FOR TRIAL OF OFFENCES (CONT’D)</a:t>
            </a:r>
            <a:endParaRPr lang="en-US"/>
          </a:p>
        </p:txBody>
      </p:sp>
      <p:sp>
        <p:nvSpPr>
          <p:cNvPr id="3" name="Content Placeholder 2"/>
          <p:cNvSpPr>
            <a:spLocks noGrp="1"/>
          </p:cNvSpPr>
          <p:nvPr>
            <p:ph idx="1"/>
          </p:nvPr>
        </p:nvSpPr>
        <p:spPr/>
        <p:txBody>
          <a:bodyPr>
            <a:noAutofit/>
          </a:bodyPr>
          <a:p>
            <a:pPr algn="just"/>
            <a:r>
              <a:rPr lang="en-US" altLang="en-US" sz="4000"/>
              <a:t>A person can still be tried after three years for a civil offense committed outside Nigeria, if:</a:t>
            </a:r>
            <a:endParaRPr lang="en-US" altLang="en-US" sz="4000"/>
          </a:p>
          <a:p>
            <a:pPr algn="just"/>
            <a:r>
              <a:rPr lang="en-US" altLang="en-US" sz="4000"/>
              <a:t>The applicable civil law permits it (according to time limits); and</a:t>
            </a:r>
            <a:endParaRPr lang="en-US" altLang="en-US" sz="4000"/>
          </a:p>
          <a:p>
            <a:pPr algn="just"/>
            <a:r>
              <a:rPr lang="en-US" altLang="en-US" sz="4000"/>
              <a:t>The Attorney-General of the Federation consents to the trial.</a:t>
            </a:r>
            <a:endParaRPr lang="en-US" altLang="en-US" sz="40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1200" y="274955"/>
            <a:ext cx="8229600" cy="716915"/>
          </a:xfrm>
        </p:spPr>
        <p:txBody>
          <a:bodyPr>
            <a:noAutofit/>
          </a:bodyPr>
          <a:p>
            <a:r>
              <a:rPr lang="en-US" sz="3600" b="1">
                <a:sym typeface="+mn-ea"/>
              </a:rPr>
              <a:t>TIME LIMIT FOR TRIAL OF OFFENCES (CONT’D)</a:t>
            </a:r>
            <a:endParaRPr lang="en-US" sz="3600" b="1">
              <a:sym typeface="+mn-ea"/>
            </a:endParaRPr>
          </a:p>
        </p:txBody>
      </p:sp>
      <p:sp>
        <p:nvSpPr>
          <p:cNvPr id="3" name="Content Placeholder 2"/>
          <p:cNvSpPr>
            <a:spLocks noGrp="1"/>
          </p:cNvSpPr>
          <p:nvPr>
            <p:ph idx="1"/>
          </p:nvPr>
        </p:nvSpPr>
        <p:spPr>
          <a:xfrm>
            <a:off x="1981200" y="991870"/>
            <a:ext cx="8229600" cy="5134610"/>
          </a:xfrm>
        </p:spPr>
        <p:txBody>
          <a:bodyPr>
            <a:noAutofit/>
          </a:bodyPr>
          <a:p>
            <a:pPr marL="0" indent="0" algn="just">
              <a:buNone/>
            </a:pPr>
            <a:r>
              <a:rPr lang="en-US" altLang="en-US" sz="4000" b="1"/>
              <a:t>Trial After Leaving Service:</a:t>
            </a:r>
            <a:endParaRPr lang="en-US" altLang="en-US" sz="4000"/>
          </a:p>
          <a:p>
            <a:pPr algn="just"/>
            <a:r>
              <a:rPr lang="en-US" altLang="en-US" sz="4000"/>
              <a:t>If someone has left the military, they can only be tried within three months after leaving service, unless:</a:t>
            </a:r>
            <a:endParaRPr lang="en-US" altLang="en-US" sz="4000"/>
          </a:p>
          <a:p>
            <a:pPr algn="just"/>
            <a:r>
              <a:rPr lang="en-US" altLang="en-US" sz="4000"/>
              <a:t>The offense is a civil offense committed outside Nigeria; and</a:t>
            </a:r>
            <a:endParaRPr lang="en-US" altLang="en-US" sz="4000"/>
          </a:p>
          <a:p>
            <a:pPr algn="just"/>
            <a:r>
              <a:rPr lang="en-US" altLang="en-US" sz="4000"/>
              <a:t>The Attorney-General consents to the trial.</a:t>
            </a:r>
            <a:endParaRPr lang="en-US" altLang="en-US" sz="40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a:sym typeface="+mn-ea"/>
              </a:rPr>
              <a:t>TIME LIMIT FOR TRIAL OF OFFENCES (CONT’D)</a:t>
            </a:r>
            <a:endParaRPr lang="en-US"/>
          </a:p>
        </p:txBody>
      </p:sp>
      <p:sp>
        <p:nvSpPr>
          <p:cNvPr id="3" name="Content Placeholder 2"/>
          <p:cNvSpPr>
            <a:spLocks noGrp="1"/>
          </p:cNvSpPr>
          <p:nvPr>
            <p:ph idx="1"/>
          </p:nvPr>
        </p:nvSpPr>
        <p:spPr/>
        <p:txBody>
          <a:bodyPr/>
          <a:p>
            <a:pPr algn="just"/>
            <a:r>
              <a:rPr lang="en-US" altLang="en-US" sz="4000">
                <a:sym typeface="+mn-ea"/>
              </a:rPr>
              <a:t>Again, this does not apply to offenses of mutiny, failure to suppress mutiny, or desertion, which can be tried at any time.</a:t>
            </a:r>
            <a:endParaRPr lang="en-US" altLang="en-US" sz="4000">
              <a:sym typeface="+mn-ea"/>
            </a:endParaRPr>
          </a:p>
          <a:p>
            <a:pPr algn="just"/>
            <a:r>
              <a:rPr lang="en-US" altLang="en-US" sz="4000">
                <a:sym typeface="+mn-ea"/>
              </a:rPr>
              <a:t>none of these offences are subject to time limit</a:t>
            </a:r>
            <a:endParaRPr lang="en-US" altLang="en-US" sz="4000"/>
          </a:p>
          <a:p>
            <a:endParaRPr lang="en-US" altLang="en-US" sz="40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9174"/>
            <a:ext cx="8229600" cy="487360"/>
          </a:xfrm>
        </p:spPr>
        <p:txBody>
          <a:bodyPr>
            <a:normAutofit fontScale="90000"/>
          </a:bodyPr>
          <a:lstStyle/>
          <a:p>
            <a:r>
              <a:rPr lang="en-US" b="1" dirty="0"/>
              <a:t>APPEALS FROM C.M.</a:t>
            </a:r>
            <a:endParaRPr lang="en-US" b="1" dirty="0"/>
          </a:p>
        </p:txBody>
      </p:sp>
      <p:sp>
        <p:nvSpPr>
          <p:cNvPr id="3" name="Content Placeholder 2"/>
          <p:cNvSpPr>
            <a:spLocks noGrp="1"/>
          </p:cNvSpPr>
          <p:nvPr>
            <p:ph idx="1"/>
          </p:nvPr>
        </p:nvSpPr>
        <p:spPr>
          <a:xfrm>
            <a:off x="1981200" y="846663"/>
            <a:ext cx="8229600" cy="5499630"/>
          </a:xfrm>
        </p:spPr>
        <p:txBody>
          <a:bodyPr>
            <a:noAutofit/>
          </a:bodyPr>
          <a:lstStyle/>
          <a:p>
            <a:pPr algn="just">
              <a:buFont typeface="Wingdings" panose="05000000000000000000" pitchFamily="2" charset="2"/>
              <a:buChar char="Ø"/>
            </a:pPr>
            <a:r>
              <a:rPr lang="en-US" sz="4000" dirty="0"/>
              <a:t>Appeal from the court goes to the Court of Appeal.</a:t>
            </a:r>
            <a:endParaRPr lang="en-US" sz="4000" dirty="0"/>
          </a:p>
          <a:p>
            <a:pPr algn="just">
              <a:buFont typeface="Wingdings" panose="05000000000000000000" pitchFamily="2" charset="2"/>
              <a:buChar char="Ø"/>
            </a:pPr>
            <a:r>
              <a:rPr lang="en-US" sz="4000" dirty="0"/>
              <a:t>Must be filed within 40 days of promulgating its decisions.</a:t>
            </a:r>
            <a:endParaRPr lang="en-US" sz="4000" dirty="0"/>
          </a:p>
          <a:p>
            <a:pPr algn="just">
              <a:buFont typeface="Wingdings" panose="05000000000000000000" pitchFamily="2" charset="2"/>
              <a:buChar char="Ø"/>
            </a:pPr>
            <a:r>
              <a:rPr lang="en-US" sz="4000" dirty="0"/>
              <a:t>Appeal against sentence of death must be filed within 10 days. Either party can appeal.</a:t>
            </a:r>
            <a:endParaRPr lang="en-US" sz="4000" dirty="0"/>
          </a:p>
          <a:p>
            <a:pPr algn="just"/>
            <a:endParaRPr lang="en-US" sz="4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1200" y="274955"/>
            <a:ext cx="8229600" cy="373380"/>
          </a:xfrm>
        </p:spPr>
        <p:txBody>
          <a:bodyPr>
            <a:normAutofit fontScale="90000"/>
          </a:bodyPr>
          <a:p>
            <a:r>
              <a:rPr lang="en-US" b="1"/>
              <a:t>DISSOLUTION OF A C.M</a:t>
            </a:r>
            <a:endParaRPr lang="en-US" b="1"/>
          </a:p>
        </p:txBody>
      </p:sp>
      <p:sp>
        <p:nvSpPr>
          <p:cNvPr id="3" name="Content Placeholder 2"/>
          <p:cNvSpPr>
            <a:spLocks noGrp="1"/>
          </p:cNvSpPr>
          <p:nvPr>
            <p:ph idx="1"/>
          </p:nvPr>
        </p:nvSpPr>
        <p:spPr>
          <a:xfrm>
            <a:off x="1674495" y="648335"/>
            <a:ext cx="8754745" cy="4974590"/>
          </a:xfrm>
        </p:spPr>
        <p:txBody>
          <a:bodyPr>
            <a:noAutofit/>
          </a:bodyPr>
          <a:p>
            <a:pPr algn="just"/>
            <a:r>
              <a:rPr lang="en-US" sz="3600" dirty="0">
                <a:sym typeface="+mn-ea"/>
              </a:rPr>
              <a:t>A Courts- Martial is not a permanent court and it stands dissolved:</a:t>
            </a:r>
            <a:endParaRPr lang="en-US" sz="3600" dirty="0">
              <a:sym typeface="+mn-ea"/>
            </a:endParaRPr>
          </a:p>
          <a:p>
            <a:pPr algn="just"/>
            <a:r>
              <a:rPr lang="en-US" sz="3600" dirty="0"/>
              <a:t>Any time if it’s necessary or beneficial for justice</a:t>
            </a:r>
            <a:endParaRPr lang="en-US" sz="3600" dirty="0"/>
          </a:p>
          <a:p>
            <a:pPr algn="just"/>
            <a:r>
              <a:rPr lang="en-US" altLang="en-US" sz="3600">
                <a:sym typeface="+mn-ea"/>
              </a:rPr>
              <a:t>If the number of CM members drops below the legal minimum (e.g., due to death or absence)</a:t>
            </a:r>
            <a:endParaRPr lang="en-US" altLang="en-US" sz="3600">
              <a:sym typeface="+mn-ea"/>
            </a:endParaRPr>
          </a:p>
          <a:p>
            <a:pPr algn="just"/>
            <a:r>
              <a:rPr lang="en-US" altLang="en-US" sz="3600">
                <a:sym typeface="+mn-ea"/>
              </a:rPr>
              <a:t>If the President dies or is unavailable</a:t>
            </a:r>
            <a:endParaRPr lang="en-US" altLang="en-US" sz="3600">
              <a:sym typeface="+mn-ea"/>
            </a:endParaRPr>
          </a:p>
          <a:p>
            <a:pPr algn="just"/>
            <a:r>
              <a:rPr lang="en-US" altLang="en-US" sz="3600">
                <a:sym typeface="+mn-ea"/>
              </a:rPr>
              <a:t>If the accused becomes too sick or incapacitated etc.</a:t>
            </a:r>
            <a:endParaRPr lang="en-US" altLang="en-US" sz="3600" dirty="0">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75895"/>
            <a:ext cx="8229600" cy="1191895"/>
          </a:xfrm>
        </p:spPr>
        <p:txBody>
          <a:bodyPr>
            <a:normAutofit/>
          </a:bodyPr>
          <a:lstStyle/>
          <a:p>
            <a:r>
              <a:rPr lang="en-GB" b="1" dirty="0"/>
              <a:t>THE CODE OF CONDUCT TRIBUNAL</a:t>
            </a:r>
            <a:endParaRPr lang="en-GB" b="1" dirty="0"/>
          </a:p>
        </p:txBody>
      </p:sp>
      <p:sp>
        <p:nvSpPr>
          <p:cNvPr id="3" name="Content Placeholder 2"/>
          <p:cNvSpPr>
            <a:spLocks noGrp="1"/>
          </p:cNvSpPr>
          <p:nvPr>
            <p:ph idx="1"/>
          </p:nvPr>
        </p:nvSpPr>
        <p:spPr>
          <a:xfrm>
            <a:off x="1981200" y="936625"/>
            <a:ext cx="8229600" cy="6149340"/>
          </a:xfrm>
        </p:spPr>
        <p:txBody>
          <a:bodyPr>
            <a:noAutofit/>
          </a:bodyPr>
          <a:lstStyle/>
          <a:p>
            <a:pPr algn="just">
              <a:buFont typeface="Wingdings" panose="05000000000000000000" pitchFamily="2" charset="2"/>
              <a:buChar char="Ø"/>
            </a:pPr>
            <a:r>
              <a:rPr lang="en-GB" sz="3600" dirty="0"/>
              <a:t>Established under </a:t>
            </a:r>
            <a:r>
              <a:rPr lang="en-US" altLang="en-GB" sz="3600" dirty="0">
                <a:sym typeface="+mn-ea"/>
              </a:rPr>
              <a:t>Para.15(1) of Pt.1 of 5th sch.</a:t>
            </a:r>
            <a:r>
              <a:rPr lang="en-GB" sz="3600" dirty="0"/>
              <a:t>CFRN as a tribunal and under the Code of Conduct Tribunal Act.</a:t>
            </a:r>
            <a:r>
              <a:rPr lang="en-US" altLang="en-GB" sz="3600" dirty="0"/>
              <a:t> s.20 CCBTA.</a:t>
            </a:r>
            <a:endParaRPr lang="en-US" altLang="en-GB" sz="3600" dirty="0"/>
          </a:p>
          <a:p>
            <a:pPr algn="just"/>
            <a:r>
              <a:rPr lang="en-GB" sz="3600" dirty="0">
                <a:sym typeface="+mn-ea"/>
              </a:rPr>
              <a:t>NB: Consist of Chairman and two members appointed by the President on the recommendation of the National Judicial Council. </a:t>
            </a:r>
            <a:endParaRPr lang="en-GB" sz="3600" dirty="0"/>
          </a:p>
          <a:p>
            <a:pPr algn="just">
              <a:buFont typeface="Wingdings" panose="05000000000000000000" pitchFamily="2" charset="2"/>
              <a:buChar char="Ø"/>
            </a:pPr>
            <a:r>
              <a:rPr lang="en-GB" sz="3600" dirty="0"/>
              <a:t>It is a tribunal of coordinate jurisdiction with the High Court and the Federal High Court;</a:t>
            </a:r>
            <a:endParaRPr lang="en-GB" sz="3600" dirty="0"/>
          </a:p>
          <a:p>
            <a:pPr marL="0" indent="0" algn="just">
              <a:buNone/>
            </a:pPr>
            <a:endParaRPr lang="en-GB" sz="3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GB" b="1" dirty="0">
                <a:sym typeface="+mn-ea"/>
              </a:rPr>
              <a:t>THE CODE OF CONDUCT TRIBUNAL</a:t>
            </a:r>
            <a:r>
              <a:rPr lang="en-US" altLang="en-GB" b="1" dirty="0">
                <a:sym typeface="+mn-ea"/>
              </a:rPr>
              <a:t> (CONT’D)</a:t>
            </a:r>
            <a:endParaRPr lang="en-US" altLang="en-GB" b="1" dirty="0">
              <a:sym typeface="+mn-ea"/>
            </a:endParaRPr>
          </a:p>
        </p:txBody>
      </p:sp>
      <p:sp>
        <p:nvSpPr>
          <p:cNvPr id="3" name="Content Placeholder 2"/>
          <p:cNvSpPr>
            <a:spLocks noGrp="1"/>
          </p:cNvSpPr>
          <p:nvPr>
            <p:ph idx="1"/>
          </p:nvPr>
        </p:nvSpPr>
        <p:spPr/>
        <p:txBody>
          <a:bodyPr>
            <a:noAutofit/>
          </a:bodyPr>
          <a:p>
            <a:pPr algn="just">
              <a:buFont typeface="Wingdings" panose="05000000000000000000" pitchFamily="2" charset="2"/>
              <a:buChar char="Ø"/>
            </a:pPr>
            <a:r>
              <a:rPr lang="en-GB" sz="4000" dirty="0">
                <a:sym typeface="+mn-ea"/>
              </a:rPr>
              <a:t>Has jurisdiction to try public officers for breaches of the Code of Conduct as set out in </a:t>
            </a:r>
            <a:r>
              <a:rPr lang="en-GB" sz="4000" dirty="0" err="1">
                <a:sym typeface="+mn-ea"/>
              </a:rPr>
              <a:t>Paras</a:t>
            </a:r>
            <a:r>
              <a:rPr lang="en-GB" sz="4000" dirty="0">
                <a:sym typeface="+mn-ea"/>
              </a:rPr>
              <a:t> 1- 14 part 1 fifth Schedule to the Const.</a:t>
            </a:r>
            <a:r>
              <a:rPr lang="en-US" altLang="en-GB" sz="4000" dirty="0">
                <a:sym typeface="+mn-ea"/>
              </a:rPr>
              <a:t>, S.5-15 of CCBTA which include:</a:t>
            </a:r>
            <a:endParaRPr lang="en-US" altLang="en-GB" sz="4000" dirty="0">
              <a:sym typeface="+mn-ea"/>
            </a:endParaRPr>
          </a:p>
          <a:p>
            <a:pPr marL="0" indent="0" algn="just">
              <a:buFont typeface="Wingdings" panose="05000000000000000000" pitchFamily="2" charset="2"/>
              <a:buNone/>
            </a:pPr>
            <a:endParaRPr lang="en-US" altLang="en-GB" sz="4000" dirty="0">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981200" y="274955"/>
            <a:ext cx="8229600" cy="814705"/>
          </a:xfrm>
        </p:spPr>
        <p:txBody>
          <a:bodyPr>
            <a:normAutofit fontScale="90000"/>
          </a:bodyPr>
          <a:p>
            <a:r>
              <a:rPr lang="en-GB" b="1" dirty="0">
                <a:sym typeface="+mn-ea"/>
              </a:rPr>
              <a:t>THE CODE OF CONDUCT TRIBUNAL</a:t>
            </a:r>
            <a:r>
              <a:rPr lang="en-US" altLang="en-GB" b="1" dirty="0">
                <a:sym typeface="+mn-ea"/>
              </a:rPr>
              <a:t> (CONT’D)</a:t>
            </a:r>
            <a:endParaRPr lang="en-US"/>
          </a:p>
        </p:txBody>
      </p:sp>
      <p:sp>
        <p:nvSpPr>
          <p:cNvPr id="3" name="Content Placeholder 2"/>
          <p:cNvSpPr>
            <a:spLocks noGrp="1"/>
          </p:cNvSpPr>
          <p:nvPr>
            <p:ph idx="1"/>
          </p:nvPr>
        </p:nvSpPr>
        <p:spPr>
          <a:xfrm>
            <a:off x="1817370" y="1228090"/>
            <a:ext cx="8655685" cy="4898390"/>
          </a:xfrm>
        </p:spPr>
        <p:txBody>
          <a:bodyPr>
            <a:noAutofit/>
          </a:bodyPr>
          <a:p>
            <a:pPr algn="just">
              <a:buFont typeface="Wingdings" panose="05000000000000000000" pitchFamily="2" charset="2"/>
              <a:buChar char="Ø"/>
            </a:pPr>
            <a:r>
              <a:rPr lang="en-US" altLang="en-US" sz="3800" dirty="0">
                <a:sym typeface="+mn-ea"/>
              </a:rPr>
              <a:t>Has jurisdiction to impose any of the following punishment: (a) vacation of office or any elective or nominated office, as the case may be;(b) disqualification from holding any public office for a period not exceeding 10 years; and</a:t>
            </a:r>
            <a:endParaRPr lang="en-US" altLang="en-US" sz="3800" dirty="0"/>
          </a:p>
          <a:p>
            <a:pPr algn="just">
              <a:buFont typeface="Wingdings" panose="05000000000000000000" pitchFamily="2" charset="2"/>
              <a:buChar char="Ø"/>
            </a:pPr>
            <a:r>
              <a:rPr lang="en-US" altLang="en-US" sz="3800" dirty="0">
                <a:sym typeface="+mn-ea"/>
              </a:rPr>
              <a:t>(c) seizure and forfeiture to the State of any property acquired in abuse or corruption of office.</a:t>
            </a:r>
            <a:endParaRPr lang="en-US" altLang="en-US" sz="3800" dirty="0"/>
          </a:p>
          <a:p>
            <a:pPr marL="0" indent="0" algn="just">
              <a:buNone/>
            </a:pPr>
            <a:endParaRPr lang="en-GB" sz="3800" dirty="0"/>
          </a:p>
          <a:p>
            <a:pPr algn="just"/>
            <a:endParaRPr lang="en-GB" sz="3800" dirty="0"/>
          </a:p>
          <a:p>
            <a:endParaRPr lang="en-GB" sz="3800"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89973"/>
            <a:ext cx="8229600" cy="685801"/>
          </a:xfrm>
        </p:spPr>
        <p:txBody>
          <a:bodyPr>
            <a:normAutofit fontScale="90000"/>
          </a:bodyPr>
          <a:lstStyle/>
          <a:p>
            <a:r>
              <a:rPr lang="en-US" b="1" dirty="0"/>
              <a:t>THE FEDERAL HIGH COURT</a:t>
            </a:r>
            <a:endParaRPr lang="en-US" dirty="0"/>
          </a:p>
        </p:txBody>
      </p:sp>
      <p:sp>
        <p:nvSpPr>
          <p:cNvPr id="3" name="Content Placeholder 2"/>
          <p:cNvSpPr>
            <a:spLocks noGrp="1"/>
          </p:cNvSpPr>
          <p:nvPr>
            <p:ph idx="1"/>
          </p:nvPr>
        </p:nvSpPr>
        <p:spPr>
          <a:xfrm>
            <a:off x="1981200" y="875774"/>
            <a:ext cx="8229600" cy="5508093"/>
          </a:xfrm>
        </p:spPr>
        <p:txBody>
          <a:bodyPr>
            <a:noAutofit/>
          </a:bodyPr>
          <a:lstStyle/>
          <a:p>
            <a:pPr algn="just">
              <a:buFont typeface="Wingdings" panose="05000000000000000000" pitchFamily="2" charset="2"/>
              <a:buChar char="Ø"/>
            </a:pPr>
            <a:r>
              <a:rPr lang="en-US" sz="3800" dirty="0"/>
              <a:t> The court was set up in 1973 under the Federal Revenue Court Decree(No.13) 1973 </a:t>
            </a:r>
            <a:endParaRPr lang="en-US" sz="3800" dirty="0"/>
          </a:p>
          <a:p>
            <a:pPr algn="just">
              <a:buFont typeface="Wingdings" panose="05000000000000000000" pitchFamily="2" charset="2"/>
              <a:buChar char="Ø"/>
            </a:pPr>
            <a:r>
              <a:rPr lang="en-US" sz="3800" dirty="0"/>
              <a:t>known as the Federal Revenue Court.</a:t>
            </a:r>
            <a:endParaRPr lang="en-US" sz="3800" dirty="0"/>
          </a:p>
          <a:p>
            <a:pPr algn="just">
              <a:buFont typeface="Wingdings" panose="05000000000000000000" pitchFamily="2" charset="2"/>
              <a:buChar char="Ø"/>
            </a:pPr>
            <a:r>
              <a:rPr lang="en-US" sz="3800" dirty="0"/>
              <a:t>It was initially set up to consider cases on:</a:t>
            </a:r>
            <a:endParaRPr lang="en-US" sz="3800" dirty="0"/>
          </a:p>
          <a:p>
            <a:pPr algn="just">
              <a:buFont typeface="Wingdings" panose="05000000000000000000" pitchFamily="2" charset="2"/>
              <a:buChar char="v"/>
            </a:pPr>
            <a:r>
              <a:rPr lang="en-US" sz="3800" dirty="0"/>
              <a:t>Companies, tax and revenue matters, custom and exercise, currency matters and exchange control matters.  </a:t>
            </a:r>
            <a:endParaRPr lang="en-US" sz="3800" dirty="0"/>
          </a:p>
          <a:p>
            <a:pPr algn="just">
              <a:buNone/>
            </a:pPr>
            <a:endParaRPr lang="en-US" sz="3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8275"/>
            <a:ext cx="8229600" cy="1586230"/>
          </a:xfrm>
        </p:spPr>
        <p:txBody>
          <a:bodyPr/>
          <a:lstStyle/>
          <a:p>
            <a:r>
              <a:rPr lang="en-US" sz="4000" b="1" dirty="0">
                <a:sym typeface="+mn-ea"/>
              </a:rPr>
              <a:t>THE FEDERAL HIGH COURT (CONT’D)</a:t>
            </a:r>
            <a:endParaRPr lang="en-US" sz="4000" b="1" dirty="0">
              <a:sym typeface="+mn-ea"/>
            </a:endParaRPr>
          </a:p>
        </p:txBody>
      </p:sp>
      <p:sp>
        <p:nvSpPr>
          <p:cNvPr id="3" name="Content Placeholder 2"/>
          <p:cNvSpPr>
            <a:spLocks noGrp="1"/>
          </p:cNvSpPr>
          <p:nvPr>
            <p:ph idx="1"/>
          </p:nvPr>
        </p:nvSpPr>
        <p:spPr>
          <a:xfrm>
            <a:off x="1736090" y="1052830"/>
            <a:ext cx="8630285" cy="5073650"/>
          </a:xfrm>
        </p:spPr>
        <p:txBody>
          <a:bodyPr>
            <a:noAutofit/>
          </a:bodyPr>
          <a:lstStyle/>
          <a:p>
            <a:pPr algn="just"/>
            <a:r>
              <a:rPr lang="en-US" sz="4000" dirty="0"/>
              <a:t>Under the Constitution of 1979, the court was renamed Federal High Court.</a:t>
            </a:r>
            <a:endParaRPr lang="en-US" sz="4000" dirty="0"/>
          </a:p>
          <a:p>
            <a:pPr algn="just"/>
            <a:r>
              <a:rPr lang="en-US" sz="4000" dirty="0"/>
              <a:t>Under the 1999 Constitution, its jurisdictions are contained in S.251. The ACJA is the applicable procedural law</a:t>
            </a:r>
            <a:endParaRPr lang="en-US" sz="4000" dirty="0"/>
          </a:p>
          <a:p>
            <a:pPr algn="just"/>
            <a:r>
              <a:rPr lang="en-US" sz="4000" dirty="0"/>
              <a:t>The criminal jurisdiction of the Federal High court is territorial. </a:t>
            </a:r>
            <a:endParaRPr lang="en-US" sz="4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r>
              <a:rPr lang="en-US" sz="4000" dirty="0"/>
              <a:t>in view of the provision in section 19(1) FHCA, can a suspect who commits a federal offence triable by a Federal High Court in Yenagoa be tried in Portharcout? </a:t>
            </a:r>
            <a:endParaRPr lang="en-US" sz="4000" dirty="0"/>
          </a:p>
          <a:p>
            <a:pPr algn="just"/>
            <a:endParaRPr lang="en-US" altLang="en-US" sz="4000" b="1" i="1"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981200" y="450215"/>
            <a:ext cx="8229600" cy="5697855"/>
          </a:xfrm>
        </p:spPr>
        <p:txBody>
          <a:bodyPr>
            <a:noAutofit/>
          </a:bodyPr>
          <a:p>
            <a:pPr algn="just"/>
            <a:r>
              <a:rPr lang="en-US" sz="4000" dirty="0">
                <a:sym typeface="+mn-ea"/>
              </a:rPr>
              <a:t>see </a:t>
            </a:r>
            <a:r>
              <a:rPr lang="en-US" sz="4000" b="1" i="1" dirty="0" err="1">
                <a:sym typeface="+mn-ea"/>
              </a:rPr>
              <a:t>Ibori</a:t>
            </a:r>
            <a:r>
              <a:rPr lang="en-US" sz="4000" b="1" i="1" dirty="0">
                <a:sym typeface="+mn-ea"/>
              </a:rPr>
              <a:t> v FRN [2009] All FWLR (Pt. 487) 159 at 179, </a:t>
            </a:r>
            <a:r>
              <a:rPr lang="en-US" altLang="en-US" sz="4000" b="1" i="1" dirty="0">
                <a:sym typeface="+mn-ea"/>
              </a:rPr>
              <a:t>Kanu V. FRN (2022) LPELR-58768(CA), </a:t>
            </a:r>
            <a:r>
              <a:rPr lang="en-US" altLang="en-US" sz="4000" b="1" i="1" dirty="0">
                <a:sym typeface="+mn-ea"/>
              </a:rPr>
              <a:t>Sulaiman v. F.R.N. (2020) 18 NWLR (Part 1755) Page 180 at 200 -205 Para C-F, </a:t>
            </a:r>
            <a:endParaRPr lang="en-US" altLang="en-US" sz="4000" b="1" i="1" dirty="0"/>
          </a:p>
          <a:p>
            <a:pPr algn="just"/>
            <a:r>
              <a:rPr lang="en-US" sz="4000" dirty="0">
                <a:sym typeface="+mn-ea"/>
              </a:rPr>
              <a:t>Note that a party may apply to the Chief Judge of FHC to transfer a matter from one division to another for convenience purpose. S. 19(2) FHCA. </a:t>
            </a:r>
            <a:endParaRPr lang="en-US" sz="4000" dirty="0"/>
          </a:p>
          <a:p>
            <a:endParaRPr lang="en-US" sz="4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CRIMINAL JURISDICTION OF THE FEDERAL HIGH COURT</a:t>
            </a:r>
            <a:endParaRPr lang="en-US" sz="3600" b="1" dirty="0"/>
          </a:p>
        </p:txBody>
      </p:sp>
      <p:sp>
        <p:nvSpPr>
          <p:cNvPr id="3" name="Content Placeholder 2"/>
          <p:cNvSpPr>
            <a:spLocks noGrp="1"/>
          </p:cNvSpPr>
          <p:nvPr>
            <p:ph idx="1"/>
          </p:nvPr>
        </p:nvSpPr>
        <p:spPr/>
        <p:txBody>
          <a:bodyPr>
            <a:noAutofit/>
          </a:bodyPr>
          <a:lstStyle/>
          <a:p>
            <a:pPr algn="just"/>
            <a:r>
              <a:rPr lang="en-US" sz="4000" dirty="0"/>
              <a:t>S. 251(2) provides for treason, treasonable felony and allied offences.</a:t>
            </a:r>
            <a:endParaRPr lang="en-US" sz="4000" dirty="0"/>
          </a:p>
          <a:p>
            <a:pPr algn="just"/>
            <a:r>
              <a:rPr lang="en-US" sz="4000" dirty="0"/>
              <a:t>S.251(3) also confers criminal jurisdiction on items listed under subsection 1 on the Federal High Court.</a:t>
            </a:r>
            <a:endParaRPr lang="en-US" sz="4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1200" y="274955"/>
            <a:ext cx="8229600" cy="1009650"/>
          </a:xfrm>
        </p:spPr>
        <p:txBody>
          <a:bodyPr>
            <a:noAutofit/>
          </a:bodyPr>
          <a:p>
            <a:r>
              <a:rPr lang="en-US" sz="3600" b="1" dirty="0">
                <a:sym typeface="+mn-ea"/>
              </a:rPr>
              <a:t>CRIMINAL JURISDICTION OF THE FEDERAL HIGH COURT (CONT’D)</a:t>
            </a:r>
            <a:endParaRPr lang="en-US" sz="3600" b="1" dirty="0">
              <a:sym typeface="+mn-ea"/>
            </a:endParaRPr>
          </a:p>
        </p:txBody>
      </p:sp>
      <p:sp>
        <p:nvSpPr>
          <p:cNvPr id="3" name="Content Placeholder 2"/>
          <p:cNvSpPr>
            <a:spLocks noGrp="1"/>
          </p:cNvSpPr>
          <p:nvPr>
            <p:ph idx="1"/>
          </p:nvPr>
        </p:nvSpPr>
        <p:spPr>
          <a:xfrm>
            <a:off x="1981200" y="1443990"/>
            <a:ext cx="8229600" cy="4682490"/>
          </a:xfrm>
        </p:spPr>
        <p:txBody>
          <a:bodyPr>
            <a:noAutofit/>
          </a:bodyPr>
          <a:p>
            <a:pPr algn="just"/>
            <a:r>
              <a:rPr lang="en-US" sz="4000" dirty="0">
                <a:sym typeface="+mn-ea"/>
              </a:rPr>
              <a:t>Note that because of the omission of the word exclusive as used under S. 251(1) which relates to civil actions, the Federal High Court cannot be said to have exclusive criminal jurisdiction on those matters. </a:t>
            </a:r>
            <a:r>
              <a:rPr lang="en-US" sz="4000" b="1" i="1" dirty="0" err="1">
                <a:sym typeface="+mn-ea"/>
              </a:rPr>
              <a:t>Momodu</a:t>
            </a:r>
            <a:r>
              <a:rPr lang="en-US" sz="4000" b="1" i="1" dirty="0">
                <a:sym typeface="+mn-ea"/>
              </a:rPr>
              <a:t> v. State, FRN v Nwosu(2016)17 NWLR (Pt.1541)226</a:t>
            </a:r>
            <a:endParaRPr lang="en-US" sz="4000" dirty="0"/>
          </a:p>
          <a:p>
            <a:endParaRPr lang="en-US" sz="4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ym typeface="+mn-ea"/>
              </a:rPr>
              <a:t>CRIMINAL JURISDICTION OF THE FEDERAL HIGH COURT (CONT’D)</a:t>
            </a:r>
            <a:endParaRPr lang="en-US"/>
          </a:p>
        </p:txBody>
      </p:sp>
      <p:sp>
        <p:nvSpPr>
          <p:cNvPr id="3" name="Content Placeholder 2"/>
          <p:cNvSpPr>
            <a:spLocks noGrp="1"/>
          </p:cNvSpPr>
          <p:nvPr>
            <p:ph idx="1"/>
          </p:nvPr>
        </p:nvSpPr>
        <p:spPr>
          <a:xfrm>
            <a:off x="1981200" y="1600200"/>
            <a:ext cx="8229600" cy="4849495"/>
          </a:xfrm>
        </p:spPr>
        <p:txBody>
          <a:bodyPr>
            <a:normAutofit lnSpcReduction="20000"/>
          </a:bodyPr>
          <a:lstStyle/>
          <a:p>
            <a:pPr algn="just"/>
            <a:r>
              <a:rPr lang="en-US" sz="4000" dirty="0"/>
              <a:t>In </a:t>
            </a:r>
            <a:r>
              <a:rPr lang="en-US" sz="4000" b="1" i="1" dirty="0"/>
              <a:t>Bababe v. FRN(2019)1NWLR (Pt.1652) 100</a:t>
            </a:r>
            <a:r>
              <a:rPr lang="en-US" sz="4000" dirty="0"/>
              <a:t>, it was held that the FHC does not have exclusive jurisdiction to try matters under the Corrupt Practice and other Related Offences Act, 2000</a:t>
            </a:r>
            <a:endParaRPr lang="en-US" sz="4000" dirty="0"/>
          </a:p>
          <a:p>
            <a:pPr algn="just"/>
            <a:r>
              <a:rPr lang="en-US" sz="4000" dirty="0"/>
              <a:t>Appeals from the Federal High Court lies to the Court of Appeal.</a:t>
            </a:r>
            <a:endParaRPr lang="en-US" sz="4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21229"/>
          </a:xfrm>
        </p:spPr>
        <p:txBody>
          <a:bodyPr>
            <a:normAutofit fontScale="90000"/>
          </a:bodyPr>
          <a:lstStyle/>
          <a:p>
            <a:r>
              <a:rPr lang="en-US" b="1" dirty="0"/>
              <a:t>THE NATIONAL INDUSTRIAL COURT</a:t>
            </a:r>
            <a:endParaRPr lang="en-US" dirty="0"/>
          </a:p>
        </p:txBody>
      </p:sp>
      <p:sp>
        <p:nvSpPr>
          <p:cNvPr id="3" name="Content Placeholder 2"/>
          <p:cNvSpPr>
            <a:spLocks noGrp="1"/>
          </p:cNvSpPr>
          <p:nvPr>
            <p:ph idx="1"/>
          </p:nvPr>
        </p:nvSpPr>
        <p:spPr>
          <a:xfrm>
            <a:off x="1981200" y="965200"/>
            <a:ext cx="8229600" cy="5740400"/>
          </a:xfrm>
        </p:spPr>
        <p:txBody>
          <a:bodyPr>
            <a:normAutofit/>
          </a:bodyPr>
          <a:lstStyle/>
          <a:p>
            <a:pPr marL="0" indent="0" algn="just">
              <a:buNone/>
            </a:pPr>
            <a:r>
              <a:rPr lang="en-US" sz="4000" dirty="0"/>
              <a:t>See section 254A of the 1999 Constitution. (</a:t>
            </a:r>
            <a:r>
              <a:rPr lang="en-US" sz="4000" u="sng" dirty="0"/>
              <a:t>3</a:t>
            </a:r>
            <a:r>
              <a:rPr lang="en-US" sz="4000" u="sng" baseline="30000" dirty="0"/>
              <a:t>rd</a:t>
            </a:r>
            <a:r>
              <a:rPr lang="en-US" sz="4000" u="sng" dirty="0"/>
              <a:t> Alteration Act)</a:t>
            </a:r>
            <a:r>
              <a:rPr lang="en-US" sz="4000" dirty="0"/>
              <a:t> </a:t>
            </a:r>
            <a:endParaRPr lang="en-US" sz="4000" dirty="0"/>
          </a:p>
          <a:p>
            <a:pPr algn="just">
              <a:buFont typeface="Wingdings" panose="05000000000000000000" pitchFamily="2" charset="2"/>
              <a:buChar char="Ø"/>
            </a:pPr>
            <a:r>
              <a:rPr lang="en-US" sz="4000" dirty="0"/>
              <a:t>Its</a:t>
            </a:r>
            <a:r>
              <a:rPr lang="en-US" sz="4000" u="sng" dirty="0"/>
              <a:t> </a:t>
            </a:r>
            <a:r>
              <a:rPr lang="en-US" sz="4000" dirty="0"/>
              <a:t>jurisdiction is provided for under section 7 of the National Industrial Court Act, 2006. </a:t>
            </a:r>
            <a:endParaRPr lang="en-US" sz="4000" dirty="0"/>
          </a:p>
          <a:p>
            <a:pPr algn="just">
              <a:buFont typeface="Wingdings" panose="05000000000000000000" pitchFamily="2" charset="2"/>
              <a:buChar char="§"/>
            </a:pPr>
            <a:r>
              <a:rPr lang="en-US" sz="4000" dirty="0"/>
              <a:t>Matters regarding employment, </a:t>
            </a:r>
            <a:r>
              <a:rPr lang="en-US" sz="4000" dirty="0" err="1"/>
              <a:t>labour</a:t>
            </a:r>
            <a:r>
              <a:rPr lang="en-US" sz="4000" dirty="0"/>
              <a:t> and industrial relations or dispute.</a:t>
            </a:r>
            <a:endParaRPr lang="en-US" sz="4000" dirty="0"/>
          </a:p>
          <a:p>
            <a:pPr algn="just">
              <a:buFont typeface="Wingdings" panose="05000000000000000000" pitchFamily="2" charset="2"/>
              <a:buChar char="§"/>
            </a:pP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8375"/>
            <a:ext cx="8229600" cy="792162"/>
          </a:xfrm>
        </p:spPr>
        <p:txBody>
          <a:bodyPr/>
          <a:lstStyle/>
          <a:p>
            <a:r>
              <a:rPr lang="en-US" b="1" dirty="0"/>
              <a:t>JURISDICTION</a:t>
            </a:r>
            <a:endParaRPr lang="en-US" b="1" dirty="0"/>
          </a:p>
        </p:txBody>
      </p:sp>
      <p:sp>
        <p:nvSpPr>
          <p:cNvPr id="3" name="Content Placeholder 2"/>
          <p:cNvSpPr>
            <a:spLocks noGrp="1"/>
          </p:cNvSpPr>
          <p:nvPr>
            <p:ph idx="1"/>
          </p:nvPr>
        </p:nvSpPr>
        <p:spPr>
          <a:xfrm>
            <a:off x="1981200" y="762000"/>
            <a:ext cx="8229600" cy="5537200"/>
          </a:xfrm>
        </p:spPr>
        <p:txBody>
          <a:bodyPr>
            <a:noAutofit/>
          </a:bodyPr>
          <a:lstStyle/>
          <a:p>
            <a:pPr algn="just">
              <a:buFont typeface="Wingdings" panose="05000000000000000000" pitchFamily="2" charset="2"/>
              <a:buChar char="Ø"/>
            </a:pPr>
            <a:r>
              <a:rPr lang="en-US" sz="3600" dirty="0"/>
              <a:t>S.254C(5) confers criminal jurisdiction on the court in matters on which it has power to exercise civil jurisdiction. However the criminal jurisdiction may not be exclusive like the civil jurisdiction.</a:t>
            </a:r>
            <a:endParaRPr lang="en-US" sz="3600" dirty="0"/>
          </a:p>
          <a:p>
            <a:pPr algn="just">
              <a:buFont typeface="Wingdings" panose="05000000000000000000" pitchFamily="2" charset="2"/>
              <a:buChar char="Ø"/>
            </a:pPr>
            <a:r>
              <a:rPr lang="en-US" sz="3600" dirty="0"/>
              <a:t>In 2010, the National Assembly amended the Constitution by inserting immediately after the existing section 254 a new sub-heading ‘‘cc’’ and sections 254A-254F. S.254C(1) comprising paragraph a-m.</a:t>
            </a:r>
            <a:endParaRPr lang="en-US" sz="3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9380"/>
            <a:ext cx="8229600" cy="795020"/>
          </a:xfrm>
        </p:spPr>
        <p:txBody>
          <a:bodyPr>
            <a:normAutofit/>
          </a:bodyPr>
          <a:lstStyle/>
          <a:p>
            <a:r>
              <a:rPr lang="en-US" b="1" dirty="0"/>
              <a:t>ADDITIONAL JURISDICTION</a:t>
            </a:r>
            <a:endParaRPr lang="en-US" b="1" dirty="0"/>
          </a:p>
        </p:txBody>
      </p:sp>
      <p:sp>
        <p:nvSpPr>
          <p:cNvPr id="3" name="Content Placeholder 2"/>
          <p:cNvSpPr>
            <a:spLocks noGrp="1"/>
          </p:cNvSpPr>
          <p:nvPr>
            <p:ph idx="1"/>
          </p:nvPr>
        </p:nvSpPr>
        <p:spPr>
          <a:xfrm>
            <a:off x="1713865" y="669290"/>
            <a:ext cx="8853170" cy="5457190"/>
          </a:xfrm>
        </p:spPr>
        <p:txBody>
          <a:bodyPr>
            <a:noAutofit/>
          </a:bodyPr>
          <a:lstStyle/>
          <a:p>
            <a:pPr algn="just">
              <a:buFont typeface="Wingdings" panose="05000000000000000000" pitchFamily="2" charset="2"/>
              <a:buChar char="Ø"/>
            </a:pPr>
            <a:r>
              <a:rPr lang="en-US" sz="3800" dirty="0"/>
              <a:t>This enlarged the jurisdiction of the NIC to include matters relating to: </a:t>
            </a:r>
            <a:endParaRPr lang="en-US" sz="3800" dirty="0"/>
          </a:p>
          <a:p>
            <a:pPr algn="just">
              <a:buFont typeface="Wingdings" panose="05000000000000000000" pitchFamily="2" charset="2"/>
              <a:buChar char="Ø"/>
            </a:pPr>
            <a:r>
              <a:rPr lang="en-US" sz="3800" dirty="0"/>
              <a:t>Enforcement of Chapter IV Fundamental Human Rights, </a:t>
            </a:r>
            <a:endParaRPr lang="en-US" sz="3800" dirty="0"/>
          </a:p>
          <a:p>
            <a:pPr algn="just">
              <a:buFont typeface="Wingdings" panose="05000000000000000000" pitchFamily="2" charset="2"/>
              <a:buChar char="Ø"/>
            </a:pPr>
            <a:r>
              <a:rPr lang="en-US" sz="3800" dirty="0"/>
              <a:t>Child </a:t>
            </a:r>
            <a:r>
              <a:rPr lang="en-US" sz="3800" dirty="0" err="1"/>
              <a:t>labour</a:t>
            </a:r>
            <a:r>
              <a:rPr lang="en-US" sz="3800" dirty="0"/>
              <a:t>,</a:t>
            </a:r>
            <a:endParaRPr lang="en-US" sz="3800" dirty="0"/>
          </a:p>
          <a:p>
            <a:pPr algn="just">
              <a:buFont typeface="Wingdings" panose="05000000000000000000" pitchFamily="2" charset="2"/>
              <a:buChar char="Ø"/>
            </a:pPr>
            <a:r>
              <a:rPr lang="en-US" sz="3800" dirty="0"/>
              <a:t>Sexual harassment in work places</a:t>
            </a:r>
            <a:endParaRPr lang="en-US" sz="3800" dirty="0"/>
          </a:p>
          <a:p>
            <a:pPr algn="just">
              <a:buFont typeface="Wingdings" panose="05000000000000000000" pitchFamily="2" charset="2"/>
              <a:buChar char="Ø"/>
            </a:pPr>
            <a:r>
              <a:rPr lang="en-US" sz="3800" dirty="0"/>
              <a:t>As well as matters relating to or connected to the application of international </a:t>
            </a:r>
            <a:r>
              <a:rPr lang="en-US" sz="3800" dirty="0" err="1"/>
              <a:t>labour</a:t>
            </a:r>
            <a:r>
              <a:rPr lang="en-US" sz="3800" dirty="0"/>
              <a:t> standards.</a:t>
            </a:r>
            <a:endParaRPr lang="en-US" sz="3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21920"/>
            <a:ext cx="8229600" cy="968375"/>
          </a:xfrm>
        </p:spPr>
        <p:txBody>
          <a:bodyPr>
            <a:normAutofit/>
          </a:bodyPr>
          <a:lstStyle/>
          <a:p>
            <a:r>
              <a:rPr lang="en-US" b="1" dirty="0"/>
              <a:t>APPLICABLE LAWS IN N.I.C.</a:t>
            </a:r>
            <a:endParaRPr lang="en-US" dirty="0"/>
          </a:p>
        </p:txBody>
      </p:sp>
      <p:sp>
        <p:nvSpPr>
          <p:cNvPr id="3" name="Content Placeholder 2"/>
          <p:cNvSpPr>
            <a:spLocks noGrp="1"/>
          </p:cNvSpPr>
          <p:nvPr>
            <p:ph idx="1"/>
          </p:nvPr>
        </p:nvSpPr>
        <p:spPr>
          <a:xfrm>
            <a:off x="1636395" y="577850"/>
            <a:ext cx="8874760" cy="5670550"/>
          </a:xfrm>
        </p:spPr>
        <p:txBody>
          <a:bodyPr>
            <a:noAutofit/>
          </a:bodyPr>
          <a:lstStyle/>
          <a:p>
            <a:pPr algn="just">
              <a:buFont typeface="Wingdings" panose="05000000000000000000" pitchFamily="2" charset="2"/>
              <a:buChar char="Ø"/>
            </a:pPr>
            <a:r>
              <a:rPr lang="en-US" sz="3600" dirty="0"/>
              <a:t>For the purpose of exercising its jurisdiction, the provisions of the Criminal Code, Penal Code</a:t>
            </a:r>
            <a:endParaRPr lang="en-US" sz="3600" dirty="0"/>
          </a:p>
          <a:p>
            <a:pPr algn="just">
              <a:buFont typeface="Wingdings" panose="05000000000000000000" pitchFamily="2" charset="2"/>
              <a:buChar char="Ø"/>
            </a:pPr>
            <a:r>
              <a:rPr lang="en-US" sz="3600" dirty="0"/>
              <a:t>Administration of Criminal Justice Act, 2015 and the Evidence Act shall apply. S.254F(2)</a:t>
            </a:r>
            <a:endParaRPr lang="en-US" sz="3600" dirty="0"/>
          </a:p>
          <a:p>
            <a:pPr algn="just">
              <a:buFont typeface="Wingdings" panose="05000000000000000000" pitchFamily="2" charset="2"/>
              <a:buChar char="Ø"/>
            </a:pPr>
            <a:r>
              <a:rPr lang="en-US" sz="3600" dirty="0"/>
              <a:t>The NIC is a court of coordinate jurisdiction with the FHC and the HC of the State and that of the FCT.</a:t>
            </a:r>
            <a:endParaRPr lang="en-US" sz="3600" dirty="0"/>
          </a:p>
          <a:p>
            <a:pPr algn="just">
              <a:buFont typeface="Wingdings" panose="05000000000000000000" pitchFamily="2" charset="2"/>
              <a:buChar char="Ø"/>
            </a:pPr>
            <a:r>
              <a:rPr lang="en-US" sz="3600" dirty="0"/>
              <a:t>Appeals from NIC lies to the Court of Appeal directly. S.254C(6)</a:t>
            </a:r>
            <a:endParaRPr lang="en-US" sz="3600" dirty="0"/>
          </a:p>
          <a:p>
            <a:pPr algn="just"/>
            <a:endParaRPr lang="en-US" sz="36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8229600" cy="1469390"/>
          </a:xfrm>
        </p:spPr>
        <p:txBody>
          <a:bodyPr>
            <a:normAutofit/>
          </a:bodyPr>
          <a:lstStyle/>
          <a:p>
            <a:r>
              <a:rPr lang="en-US" b="1" dirty="0"/>
              <a:t>INTERNATIONAL CRIMINAL COURT</a:t>
            </a:r>
            <a:endParaRPr lang="en-US" b="1" dirty="0"/>
          </a:p>
        </p:txBody>
      </p:sp>
      <p:sp>
        <p:nvSpPr>
          <p:cNvPr id="3" name="Content Placeholder 2"/>
          <p:cNvSpPr>
            <a:spLocks noGrp="1"/>
          </p:cNvSpPr>
          <p:nvPr>
            <p:ph idx="1"/>
          </p:nvPr>
        </p:nvSpPr>
        <p:spPr>
          <a:xfrm>
            <a:off x="1669415" y="598170"/>
            <a:ext cx="8875395" cy="5528310"/>
          </a:xfrm>
        </p:spPr>
        <p:txBody>
          <a:bodyPr>
            <a:noAutofit/>
          </a:bodyPr>
          <a:lstStyle/>
          <a:p>
            <a:pPr algn="just"/>
            <a:r>
              <a:rPr lang="en-US" sz="3600" dirty="0"/>
              <a:t>The Rome Statute under which the Court was created came into force on 1</a:t>
            </a:r>
            <a:r>
              <a:rPr lang="en-US" sz="3600" baseline="30000" dirty="0"/>
              <a:t>st</a:t>
            </a:r>
            <a:r>
              <a:rPr lang="en-US" sz="3600" dirty="0"/>
              <a:t> July, 2002.</a:t>
            </a:r>
            <a:endParaRPr lang="en-US" sz="3600" dirty="0"/>
          </a:p>
          <a:p>
            <a:pPr algn="just"/>
            <a:r>
              <a:rPr lang="en-US" sz="3600" dirty="0"/>
              <a:t>The court is different from the International Court of Justice. (ICJ)</a:t>
            </a:r>
            <a:endParaRPr lang="en-US" sz="3600" dirty="0"/>
          </a:p>
          <a:p>
            <a:pPr algn="just"/>
            <a:r>
              <a:rPr lang="en-US" sz="3600" dirty="0"/>
              <a:t>It is an independent Tribunal and not an arm of the United Nations Organization. But the U.N Security Council may refer cases to it.</a:t>
            </a:r>
            <a:endParaRPr lang="en-US" sz="3600" dirty="0"/>
          </a:p>
          <a:p>
            <a:pPr algn="just"/>
            <a:r>
              <a:rPr lang="en-US" sz="3600" dirty="0"/>
              <a:t>The court has no Jurisdiction to try States but only natural persons</a:t>
            </a:r>
            <a:endParaRPr lang="en-US" sz="36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7035"/>
            <a:ext cx="8229600" cy="5719445"/>
          </a:xfrm>
        </p:spPr>
        <p:txBody>
          <a:bodyPr>
            <a:noAutofit/>
          </a:bodyPr>
          <a:lstStyle/>
          <a:p>
            <a:pPr algn="just"/>
            <a:r>
              <a:rPr lang="en-US" sz="3600" dirty="0"/>
              <a:t>The court is located at the Hague, the Netherlands but can sit anywhere for convenience.</a:t>
            </a:r>
            <a:endParaRPr lang="en-US" sz="3600" dirty="0"/>
          </a:p>
          <a:p>
            <a:pPr algn="just"/>
            <a:r>
              <a:rPr lang="en-US" sz="3600" dirty="0"/>
              <a:t>The ICC has jurisdiction to try crimes committed on the territory of member states or committed by Nationals of member states.</a:t>
            </a:r>
            <a:endParaRPr lang="en-US" sz="3600" dirty="0"/>
          </a:p>
          <a:p>
            <a:pPr algn="just"/>
            <a:r>
              <a:rPr lang="en-US" sz="3600" dirty="0"/>
              <a:t>The prosecutor of ICC may intervene if the relevant state is unwilling to investigate and prosecute offenders</a:t>
            </a:r>
            <a:endParaRPr lang="en-US" sz="3600" dirty="0"/>
          </a:p>
          <a:p>
            <a:endParaRPr lang="en-US" sz="36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981200" y="1143635"/>
            <a:ext cx="8229600" cy="4982845"/>
          </a:xfrm>
        </p:spPr>
        <p:txBody>
          <a:bodyPr>
            <a:noAutofit/>
          </a:bodyPr>
          <a:lstStyle/>
          <a:p>
            <a:pPr algn="just"/>
            <a:r>
              <a:rPr lang="en-US" sz="4000" dirty="0"/>
              <a:t>The ICC can issue warrant of arrest against such persons to be executed by Interpol and the person will be brought before the court for prosecution. The ICC is not bound by immunity clauses of member states and may arrest anyone accused of crime within its jurisdiction. </a:t>
            </a:r>
            <a:endParaRPr lang="en-US" sz="4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7576"/>
            <a:ext cx="8229600" cy="741362"/>
          </a:xfrm>
        </p:spPr>
        <p:txBody>
          <a:bodyPr>
            <a:normAutofit fontScale="90000"/>
          </a:bodyPr>
          <a:lstStyle/>
          <a:p>
            <a:r>
              <a:rPr lang="en-US" b="1" dirty="0"/>
              <a:t>JURISDICTION OVER OFFENCES</a:t>
            </a:r>
            <a:endParaRPr lang="en-US" dirty="0"/>
          </a:p>
        </p:txBody>
      </p:sp>
      <p:sp>
        <p:nvSpPr>
          <p:cNvPr id="3" name="Content Placeholder 2"/>
          <p:cNvSpPr>
            <a:spLocks noGrp="1"/>
          </p:cNvSpPr>
          <p:nvPr>
            <p:ph idx="1"/>
          </p:nvPr>
        </p:nvSpPr>
        <p:spPr>
          <a:xfrm>
            <a:off x="1981200" y="556895"/>
            <a:ext cx="8229600" cy="5569585"/>
          </a:xfrm>
        </p:spPr>
        <p:txBody>
          <a:bodyPr>
            <a:noAutofit/>
          </a:bodyPr>
          <a:lstStyle/>
          <a:p>
            <a:pPr marL="0" indent="0" algn="just">
              <a:buNone/>
            </a:pPr>
            <a:r>
              <a:rPr lang="en-US" sz="3700" b="1" dirty="0"/>
              <a:t>Article 5 of the Rome Statute confers jurisdiction on the ICC to try the following offences:</a:t>
            </a:r>
            <a:endParaRPr lang="en-US" sz="3700" b="1" dirty="0"/>
          </a:p>
          <a:p>
            <a:pPr algn="just">
              <a:buFont typeface="Wingdings" panose="05000000000000000000" pitchFamily="2" charset="2"/>
              <a:buChar char="Ø"/>
            </a:pPr>
            <a:r>
              <a:rPr lang="en-US" sz="3700" b="1" dirty="0"/>
              <a:t>Crime of Genocide- Article 6</a:t>
            </a:r>
            <a:endParaRPr lang="en-US" sz="3700" b="1" dirty="0"/>
          </a:p>
          <a:p>
            <a:pPr algn="just">
              <a:buFont typeface="Wingdings" panose="05000000000000000000" pitchFamily="2" charset="2"/>
              <a:buChar char="Ø"/>
            </a:pPr>
            <a:r>
              <a:rPr lang="en-US" sz="3700" b="1" dirty="0"/>
              <a:t>Crimes against humanity- Article 7</a:t>
            </a:r>
            <a:endParaRPr lang="en-US" sz="3700" b="1" dirty="0"/>
          </a:p>
          <a:p>
            <a:pPr algn="just">
              <a:buFont typeface="Wingdings" panose="05000000000000000000" pitchFamily="2" charset="2"/>
              <a:buChar char="Ø"/>
            </a:pPr>
            <a:r>
              <a:rPr lang="en-US" sz="3700" b="1" dirty="0"/>
              <a:t>War Crimes- Article 8</a:t>
            </a:r>
            <a:endParaRPr lang="en-US" sz="3700" b="1" dirty="0"/>
          </a:p>
          <a:p>
            <a:pPr algn="just">
              <a:buFont typeface="Wingdings" panose="05000000000000000000" pitchFamily="2" charset="2"/>
              <a:buChar char="Ø"/>
            </a:pPr>
            <a:r>
              <a:rPr lang="en-US" sz="3700" b="1" dirty="0"/>
              <a:t>The crime of aggression- Article 5(2)</a:t>
            </a:r>
            <a:endParaRPr lang="en-US" sz="3700" b="1" dirty="0"/>
          </a:p>
          <a:p>
            <a:pPr marL="0" indent="0" algn="just">
              <a:buNone/>
            </a:pPr>
            <a:r>
              <a:rPr lang="en-US" sz="3700" b="1" dirty="0"/>
              <a:t>NB: The ICC does not have jurisdiction over Minors and Juveniles.</a:t>
            </a:r>
            <a:endParaRPr lang="en-US" sz="3700" b="1" dirty="0"/>
          </a:p>
          <a:p>
            <a:pPr marL="0" indent="0" algn="just">
              <a:buNone/>
            </a:pPr>
            <a:endParaRPr lang="en-US" sz="3700" b="1"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58295"/>
          </a:xfrm>
        </p:spPr>
        <p:txBody>
          <a:bodyPr>
            <a:noAutofit/>
          </a:bodyPr>
          <a:lstStyle/>
          <a:p>
            <a:r>
              <a:rPr lang="en-US" sz="3600" b="1" dirty="0"/>
              <a:t>JURISDICTION TO IMPOSE PUNISHMENT</a:t>
            </a:r>
            <a:endParaRPr lang="en-US" sz="3600" dirty="0"/>
          </a:p>
        </p:txBody>
      </p:sp>
      <p:sp>
        <p:nvSpPr>
          <p:cNvPr id="3" name="Content Placeholder 2"/>
          <p:cNvSpPr>
            <a:spLocks noGrp="1"/>
          </p:cNvSpPr>
          <p:nvPr>
            <p:ph idx="1"/>
          </p:nvPr>
        </p:nvSpPr>
        <p:spPr>
          <a:xfrm>
            <a:off x="1612900" y="955040"/>
            <a:ext cx="9054465" cy="5344160"/>
          </a:xfrm>
        </p:spPr>
        <p:txBody>
          <a:bodyPr>
            <a:noAutofit/>
          </a:bodyPr>
          <a:lstStyle/>
          <a:p>
            <a:pPr marL="0" indent="0" algn="just">
              <a:buNone/>
            </a:pPr>
            <a:r>
              <a:rPr lang="en-US" sz="3600" dirty="0"/>
              <a:t>Article 77 prescribe the following punishments:</a:t>
            </a:r>
            <a:endParaRPr lang="en-US" sz="3600" dirty="0"/>
          </a:p>
          <a:p>
            <a:pPr algn="just">
              <a:buFont typeface="Wingdings" panose="05000000000000000000" pitchFamily="2" charset="2"/>
              <a:buChar char="Ø"/>
            </a:pPr>
            <a:r>
              <a:rPr lang="en-US" sz="3600" dirty="0"/>
              <a:t>Imprisonment for a specified number of years which may not exceed 30 years;</a:t>
            </a:r>
            <a:endParaRPr lang="en-US" sz="3600" dirty="0"/>
          </a:p>
          <a:p>
            <a:pPr algn="just">
              <a:buFont typeface="Wingdings" panose="05000000000000000000" pitchFamily="2" charset="2"/>
              <a:buChar char="Ø"/>
            </a:pPr>
            <a:r>
              <a:rPr lang="en-US" sz="3600" dirty="0"/>
              <a:t>Life imprisonment when it is justified by the gravity of the offence;</a:t>
            </a:r>
            <a:endParaRPr lang="en-US" sz="3600" dirty="0"/>
          </a:p>
          <a:p>
            <a:pPr algn="just">
              <a:buFont typeface="Wingdings" panose="05000000000000000000" pitchFamily="2" charset="2"/>
              <a:buChar char="Ø"/>
            </a:pPr>
            <a:r>
              <a:rPr lang="en-US" sz="3600" dirty="0"/>
              <a:t>The court may also order fine;</a:t>
            </a:r>
            <a:endParaRPr lang="en-US" sz="3600" dirty="0"/>
          </a:p>
          <a:p>
            <a:pPr algn="just">
              <a:buFont typeface="Wingdings" panose="05000000000000000000" pitchFamily="2" charset="2"/>
              <a:buChar char="Ø"/>
            </a:pPr>
            <a:r>
              <a:rPr lang="en-US" sz="3600" dirty="0"/>
              <a:t>Forfeiture of proceeds, property and assets derived directly from the crime.</a:t>
            </a:r>
            <a:endParaRPr lang="en-US" sz="3600" dirty="0"/>
          </a:p>
          <a:p>
            <a:pPr marL="0" indent="0" algn="just">
              <a:buNone/>
            </a:pPr>
            <a:r>
              <a:rPr lang="en-US" sz="3600" b="1" dirty="0"/>
              <a:t>NB: The ICC does not </a:t>
            </a:r>
            <a:r>
              <a:rPr lang="en-US" sz="3600" b="1" dirty="0" err="1"/>
              <a:t>recognise</a:t>
            </a:r>
            <a:r>
              <a:rPr lang="en-US" sz="3600" b="1" dirty="0"/>
              <a:t> death penalty.</a:t>
            </a:r>
            <a:endParaRPr lang="en-US" sz="3600" b="1"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ym typeface="+mn-ea"/>
              </a:rPr>
              <a:t>HOW IS CRIMINAL PROCEEDINGS INITIATED?</a:t>
            </a:r>
            <a:endParaRPr lang="en-US"/>
          </a:p>
        </p:txBody>
      </p:sp>
      <p:sp>
        <p:nvSpPr>
          <p:cNvPr id="3" name="Content Placeholder 2"/>
          <p:cNvSpPr>
            <a:spLocks noGrp="1"/>
          </p:cNvSpPr>
          <p:nvPr>
            <p:ph idx="1"/>
          </p:nvPr>
        </p:nvSpPr>
        <p:spPr/>
        <p:txBody>
          <a:bodyPr>
            <a:noAutofit/>
          </a:bodyPr>
          <a:lstStyle/>
          <a:p>
            <a:pPr marL="0" indent="0" algn="just">
              <a:buNone/>
            </a:pPr>
            <a:r>
              <a:rPr lang="en-US" sz="4000" dirty="0"/>
              <a:t>By reference to the prosecutor by state party</a:t>
            </a:r>
            <a:endParaRPr lang="en-US" sz="4000" dirty="0"/>
          </a:p>
          <a:p>
            <a:pPr algn="just">
              <a:buFont typeface="Wingdings" panose="05000000000000000000" pitchFamily="2" charset="2"/>
              <a:buChar char="Ø"/>
            </a:pPr>
            <a:r>
              <a:rPr lang="en-US" sz="4000" dirty="0"/>
              <a:t>By reference to the prosecutor by the security council</a:t>
            </a:r>
            <a:endParaRPr lang="en-US" sz="4000" dirty="0"/>
          </a:p>
          <a:p>
            <a:pPr algn="just">
              <a:buFont typeface="Wingdings" panose="05000000000000000000" pitchFamily="2" charset="2"/>
              <a:buChar char="Ø"/>
            </a:pPr>
            <a:r>
              <a:rPr lang="en-US" sz="4000" dirty="0"/>
              <a:t>By the prosecutor after initiating investigation under- Article 15.</a:t>
            </a:r>
            <a:endParaRPr lang="en-US" sz="4000" dirty="0"/>
          </a:p>
          <a:p>
            <a:pPr algn="just"/>
            <a:endParaRPr lang="en-US" sz="4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CORONER’S COURT</a:t>
            </a:r>
            <a:endParaRPr lang="en-US" b="1"/>
          </a:p>
        </p:txBody>
      </p:sp>
      <p:sp>
        <p:nvSpPr>
          <p:cNvPr id="3" name="Content Placeholder 2"/>
          <p:cNvSpPr>
            <a:spLocks noGrp="1"/>
          </p:cNvSpPr>
          <p:nvPr>
            <p:ph idx="1"/>
          </p:nvPr>
        </p:nvSpPr>
        <p:spPr>
          <a:xfrm>
            <a:off x="1635125" y="1143000"/>
            <a:ext cx="8832215" cy="4983480"/>
          </a:xfrm>
        </p:spPr>
        <p:txBody>
          <a:bodyPr>
            <a:noAutofit/>
          </a:bodyPr>
          <a:p>
            <a:pPr algn="just"/>
            <a:r>
              <a:rPr lang="en-US" altLang="en-US" sz="3800"/>
              <a:t>A Coroner's Court is not a criminal court. it is a special type of court responsible for investigating certain kinds of sudden, unexplained, violent, or suspicious deaths. It does not determine guilt or liability like a criminal. Its main purpose is to find out the facts surrounding a person's death in a public place (police custody, prison, lunatic asylum etc).</a:t>
            </a:r>
            <a:endParaRPr lang="en-US" altLang="en-US" sz="38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b="1">
                <a:sym typeface="+mn-ea"/>
              </a:rPr>
              <a:t>CORONER’S SYSTEM LAWOF LAGOS STATE 2007</a:t>
            </a:r>
            <a:endParaRPr lang="en-US" altLang="en-US" b="1">
              <a:sym typeface="+mn-ea"/>
            </a:endParaRPr>
          </a:p>
        </p:txBody>
      </p:sp>
      <p:sp>
        <p:nvSpPr>
          <p:cNvPr id="3" name="Content Placeholder 2"/>
          <p:cNvSpPr>
            <a:spLocks noGrp="1"/>
          </p:cNvSpPr>
          <p:nvPr>
            <p:ph idx="1"/>
          </p:nvPr>
        </p:nvSpPr>
        <p:spPr/>
        <p:txBody>
          <a:bodyPr/>
          <a:p>
            <a:pPr marL="0" indent="0" algn="just">
              <a:buNone/>
            </a:pPr>
            <a:r>
              <a:rPr lang="en-US" altLang="en-US" sz="4000"/>
              <a:t>The Coroner System is overseen by the Chief Coroner, who is a High Court Judge appointed by the Chief Judge of the state. The Chief Judge may divide the state into coronal districts, each with a Coroner's Court. Each Coroner must be a Magistrate </a:t>
            </a:r>
            <a:endParaRPr lang="en-US" altLang="en-US" sz="4000"/>
          </a:p>
          <a:p>
            <a:pPr algn="just"/>
            <a:endParaRPr lang="en-US" altLang="en-US" sz="40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When Must an Inquest Be Held?</a:t>
            </a:r>
            <a:endParaRPr lang="en-US"/>
          </a:p>
        </p:txBody>
      </p:sp>
      <p:sp>
        <p:nvSpPr>
          <p:cNvPr id="3" name="Content Placeholder 2"/>
          <p:cNvSpPr>
            <a:spLocks noGrp="1"/>
          </p:cNvSpPr>
          <p:nvPr>
            <p:ph idx="1"/>
          </p:nvPr>
        </p:nvSpPr>
        <p:spPr>
          <a:xfrm>
            <a:off x="1870075" y="1154430"/>
            <a:ext cx="8619490" cy="4972050"/>
          </a:xfrm>
        </p:spPr>
        <p:txBody>
          <a:bodyPr>
            <a:noAutofit/>
          </a:bodyPr>
          <a:p>
            <a:pPr algn="just"/>
            <a:r>
              <a:rPr lang="en-US" altLang="en-US" sz="3600">
                <a:sym typeface="+mn-ea"/>
              </a:rPr>
              <a:t>A coroner must hold an inquest when informed that a death occurred in any of the following circumstances:</a:t>
            </a:r>
            <a:endParaRPr lang="en-US" altLang="en-US" sz="3600"/>
          </a:p>
          <a:p>
            <a:pPr algn="just"/>
            <a:r>
              <a:rPr lang="en-US" altLang="en-US" sz="3600">
                <a:sym typeface="+mn-ea"/>
              </a:rPr>
              <a:t>1. Violent, unnatural, or suspicious circumstances.</a:t>
            </a:r>
            <a:endParaRPr lang="en-US" altLang="en-US" sz="3600"/>
          </a:p>
          <a:p>
            <a:pPr algn="just"/>
            <a:r>
              <a:rPr lang="en-US" altLang="en-US" sz="3600">
                <a:sym typeface="+mn-ea"/>
              </a:rPr>
              <a:t>2. Death in custody or shortly afterward.</a:t>
            </a:r>
            <a:endParaRPr lang="en-US" altLang="en-US" sz="3600"/>
          </a:p>
          <a:p>
            <a:pPr algn="just"/>
            <a:r>
              <a:rPr lang="en-US" altLang="en-US" sz="3600">
                <a:sym typeface="+mn-ea"/>
              </a:rPr>
              <a:t>3. Death due to industrial disease, accident at work, or industrial poisoning.</a:t>
            </a:r>
            <a:endParaRPr lang="en-US" altLang="en-US" sz="3600"/>
          </a:p>
          <a:p>
            <a:pPr algn="just"/>
            <a:r>
              <a:rPr lang="en-US" altLang="en-US" sz="3600">
                <a:sym typeface="+mn-ea"/>
              </a:rPr>
              <a:t>4. Following medical intervention etc. </a:t>
            </a:r>
            <a:r>
              <a:rPr lang="en-US" altLang="en-US" sz="3600" b="1">
                <a:sym typeface="+mn-ea"/>
              </a:rPr>
              <a:t>s15</a:t>
            </a:r>
            <a:endParaRPr lang="en-US" altLang="en-US" sz="3600"/>
          </a:p>
          <a:p>
            <a:pPr algn="just"/>
            <a:endParaRPr lang="en-US" altLang="en-US" sz="360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b="1">
                <a:sym typeface="+mn-ea"/>
              </a:rPr>
              <a:t>Powers and Procedures of the Coroner</a:t>
            </a:r>
            <a:endParaRPr lang="en-US" b="1"/>
          </a:p>
        </p:txBody>
      </p:sp>
      <p:sp>
        <p:nvSpPr>
          <p:cNvPr id="3" name="Content Placeholder 2"/>
          <p:cNvSpPr>
            <a:spLocks noGrp="1"/>
          </p:cNvSpPr>
          <p:nvPr>
            <p:ph idx="1"/>
          </p:nvPr>
        </p:nvSpPr>
        <p:spPr/>
        <p:txBody>
          <a:bodyPr>
            <a:noAutofit/>
          </a:bodyPr>
          <a:p>
            <a:pPr algn="just"/>
            <a:r>
              <a:rPr lang="en-US" altLang="en-US" sz="4000">
                <a:sym typeface="+mn-ea"/>
              </a:rPr>
              <a:t> The coroner has full powers of a magistrate:</a:t>
            </a:r>
            <a:endParaRPr lang="en-US" altLang="en-US" sz="4000"/>
          </a:p>
          <a:p>
            <a:pPr algn="just"/>
            <a:r>
              <a:rPr lang="en-US" altLang="en-US" sz="4000">
                <a:sym typeface="+mn-ea"/>
              </a:rPr>
              <a:t>Can summon and compel witnesses.</a:t>
            </a:r>
            <a:endParaRPr lang="en-US" altLang="en-US" sz="4000"/>
          </a:p>
          <a:p>
            <a:pPr algn="just"/>
            <a:r>
              <a:rPr lang="en-US" altLang="en-US" sz="4000">
                <a:sym typeface="+mn-ea"/>
              </a:rPr>
              <a:t>Can require production of documents or evidence.</a:t>
            </a:r>
            <a:endParaRPr lang="en-US" altLang="en-US" sz="4000"/>
          </a:p>
          <a:p>
            <a:pPr algn="just"/>
            <a:r>
              <a:rPr lang="en-US" altLang="en-US" sz="4000">
                <a:sym typeface="+mn-ea"/>
              </a:rPr>
              <a:t>Not bound by strict rules of evidence used in civil or criminal trials.</a:t>
            </a:r>
            <a:endParaRPr lang="en-US" altLang="en-US" sz="4000"/>
          </a:p>
          <a:p>
            <a:pPr algn="just"/>
            <a:endParaRPr lang="en-US" altLang="en-US" sz="40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ctr">
              <a:buNone/>
            </a:pPr>
            <a:endParaRPr lang="en-GB" b="1" dirty="0"/>
          </a:p>
          <a:p>
            <a:pPr algn="ctr">
              <a:buNone/>
            </a:pPr>
            <a:endParaRPr lang="en-GB" b="1" dirty="0"/>
          </a:p>
          <a:p>
            <a:pPr algn="ctr">
              <a:buNone/>
            </a:pPr>
            <a:endParaRPr lang="en-GB" b="1"/>
          </a:p>
          <a:p>
            <a:pPr algn="ctr">
              <a:buNone/>
            </a:pPr>
            <a:r>
              <a:rPr lang="en-GB" b="1"/>
              <a:t>END</a:t>
            </a:r>
            <a:endParaRPr lang="en-GB"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31013</Words>
  <Application>WPS Slides</Application>
  <PresentationFormat>Widescreen</PresentationFormat>
  <Paragraphs>736</Paragraphs>
  <Slides>122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122</vt:i4>
      </vt:variant>
    </vt:vector>
  </HeadingPairs>
  <TitlesOfParts>
    <vt:vector size="134" baseType="lpstr">
      <vt:lpstr>Arial</vt:lpstr>
      <vt:lpstr>SimSun</vt:lpstr>
      <vt:lpstr>Wingdings</vt:lpstr>
      <vt:lpstr>Arial Unicode MS</vt:lpstr>
      <vt:lpstr>Calibri Light</vt:lpstr>
      <vt:lpstr>Calibri</vt:lpstr>
      <vt:lpstr>Microsoft YaHei</vt:lpstr>
      <vt:lpstr>Arial Black</vt:lpstr>
      <vt:lpstr>Algerian</vt:lpstr>
      <vt:lpstr>Arial Narrow Special G1</vt:lpstr>
      <vt:lpstr>Wingdings</vt:lpstr>
      <vt:lpstr>Office Theme</vt:lpstr>
      <vt:lpstr>COURTS OF CRIMINAL JURISDICTION</vt:lpstr>
      <vt:lpstr>Outcomes:</vt:lpstr>
      <vt:lpstr>What is jurisdiction?</vt:lpstr>
      <vt:lpstr>SOURCES OF COURTS’ JURISDICTION </vt:lpstr>
      <vt:lpstr>Essential Ingredients for the exercise of Jurisdiction of a Court</vt:lpstr>
      <vt:lpstr>What determines the jurisdiction of a court?</vt:lpstr>
      <vt:lpstr>JURISDICTIONAL CHALLENGES IN CRIMINAL TRIALS</vt:lpstr>
      <vt:lpstr>TERRITORIAL JURISDICTION</vt:lpstr>
      <vt:lpstr>PowerPoint 演示文稿</vt:lpstr>
      <vt:lpstr>VENUE OF CRIMINAL TRIAL</vt:lpstr>
      <vt:lpstr>PowerPoint 演示文稿</vt:lpstr>
      <vt:lpstr>PowerPoint 演示文稿</vt:lpstr>
      <vt:lpstr>TYPES OF CRIMINAL COURT</vt:lpstr>
      <vt:lpstr>COURTS OF GENERAL CRIMINAL JURISDICTION IN THE SOUTHERN STATES OF NIGERIA.</vt:lpstr>
      <vt:lpstr>CUSTOMARY COURT</vt:lpstr>
      <vt:lpstr>JURISDICTION </vt:lpstr>
      <vt:lpstr>GRADES OF CC</vt:lpstr>
      <vt:lpstr>MAGISTRATES’ COURTS (South)</vt:lpstr>
      <vt:lpstr>PowerPoint 演示文稿</vt:lpstr>
      <vt:lpstr>JURISDICTION OF MC</vt:lpstr>
      <vt:lpstr>JURISDICTION OF MC (Cont’d)</vt:lpstr>
      <vt:lpstr>APPELLATE JURISDICTION OF MC</vt:lpstr>
      <vt:lpstr> MAGISTRATE COURT LAW OF LAGOS STATE 2009. </vt:lpstr>
      <vt:lpstr>PowerPoint 演示文稿</vt:lpstr>
      <vt:lpstr>PowerPoint 演示文稿</vt:lpstr>
      <vt:lpstr>PowerPoint 演示文稿</vt:lpstr>
      <vt:lpstr>PowerPoint 演示文稿</vt:lpstr>
      <vt:lpstr>HIGH COURT IN THE SOUTH</vt:lpstr>
      <vt:lpstr>PowerPoint 演示文稿</vt:lpstr>
      <vt:lpstr>JURISDICTION OF THE HIGH COURT</vt:lpstr>
      <vt:lpstr>PowerPoint 演示文稿</vt:lpstr>
      <vt:lpstr>COURTS OF GENERAL CRIMINAL JURISDICTION IN THE NORTHERN STATES.</vt:lpstr>
      <vt:lpstr>PowerPoint 演示文稿</vt:lpstr>
      <vt:lpstr>AREA COURTS</vt:lpstr>
      <vt:lpstr>GRADES OF AREA COURT</vt:lpstr>
      <vt:lpstr>CONSTITUTION OF AREA COURT</vt:lpstr>
      <vt:lpstr>JURISDICTION OVER PERSONS</vt:lpstr>
      <vt:lpstr>AREA COURT IN THE FCT</vt:lpstr>
      <vt:lpstr>PowerPoint 演示文稿</vt:lpstr>
      <vt:lpstr>PowerPoint 演示文稿</vt:lpstr>
      <vt:lpstr>PRACTICE AND PROCEDURE BEFORE THE AREA COURT (Cont’d)</vt:lpstr>
      <vt:lpstr>RIGHT OF APPEARANCE OF COUNSEL BEFORE THE AREA COURT</vt:lpstr>
      <vt:lpstr>APPEAL FROM AREA COURT</vt:lpstr>
      <vt:lpstr>SHARI’A COURT</vt:lpstr>
      <vt:lpstr>GRADES OF SHARIA COURT</vt:lpstr>
      <vt:lpstr>GRADES OF SHARIA COURT (Cont’d)</vt:lpstr>
      <vt:lpstr>JURISDICTION OF SHARIA COURT OVER PERSONS</vt:lpstr>
      <vt:lpstr>CONSTITUTION OF THE S.C.</vt:lpstr>
      <vt:lpstr>PowerPoint 演示文稿</vt:lpstr>
      <vt:lpstr>Magistrates’ Court (FCT)</vt:lpstr>
      <vt:lpstr>GRADES OF M.C. FCT</vt:lpstr>
      <vt:lpstr>GRADES OF M.C. FCT CNTD.</vt:lpstr>
      <vt:lpstr>PowerPoint 演示文稿</vt:lpstr>
      <vt:lpstr>MAGISTRATE COURTS IN KANO</vt:lpstr>
      <vt:lpstr>PowerPoint 演示文稿</vt:lpstr>
      <vt:lpstr>JURISDICTION OVER OFFENCES</vt:lpstr>
      <vt:lpstr>CONSECUTIVE SENTENCES</vt:lpstr>
      <vt:lpstr>HIGH COURT IN THE NORTH. S. 270 </vt:lpstr>
      <vt:lpstr>JURISDICTION TO IMPOSE PUNISHMENT</vt:lpstr>
      <vt:lpstr>APPELLATE COURTS OF CRIMINAL JURISDICTION </vt:lpstr>
      <vt:lpstr>APPELLATE COURTS OF CRIMINAL JURISDICTION (Cont’d)</vt:lpstr>
      <vt:lpstr>RIGHT OF APPEAL </vt:lpstr>
      <vt:lpstr>THE SUPREME COURT OF NIGERIA</vt:lpstr>
      <vt:lpstr>RIGHT OF APPEAL</vt:lpstr>
      <vt:lpstr>COURTS OF SPECIAL CRIMINAL JURISDICTION </vt:lpstr>
      <vt:lpstr>JUVENILE COURTS</vt:lpstr>
      <vt:lpstr>PowerPoint 演示文稿</vt:lpstr>
      <vt:lpstr>PowerPoint 演示文稿</vt:lpstr>
      <vt:lpstr>PowerPoint 演示文稿</vt:lpstr>
      <vt:lpstr>DETERMINATION OF AGE</vt:lpstr>
      <vt:lpstr>DETERMINATION OF AGE (Cont’d)</vt:lpstr>
      <vt:lpstr>DETERMINATION OF AGE(Cont’d)</vt:lpstr>
      <vt:lpstr>Characteristics of Juvenile Courts</vt:lpstr>
      <vt:lpstr>PowerPoint 演示文稿</vt:lpstr>
      <vt:lpstr>PowerPoint 演示文稿</vt:lpstr>
      <vt:lpstr>The Court Martial</vt:lpstr>
      <vt:lpstr>GENERAL COURTS-MARTIAL</vt:lpstr>
      <vt:lpstr>SPECIAL COURTS-MARTIAL</vt:lpstr>
      <vt:lpstr>PowerPoint 演示文稿</vt:lpstr>
      <vt:lpstr>PowerPoint 演示文稿</vt:lpstr>
      <vt:lpstr>PowerPoint 演示文稿</vt:lpstr>
      <vt:lpstr>JURISDICTION OF COURT MARTIAL</vt:lpstr>
      <vt:lpstr>PowerPoint 演示文稿</vt:lpstr>
      <vt:lpstr>WHO MAY CONVENE A COURT MARTIAL</vt:lpstr>
      <vt:lpstr>PowerPoint 演示文稿</vt:lpstr>
      <vt:lpstr>VERDICT OF COURT MARTIAL</vt:lpstr>
      <vt:lpstr>VERDICT OF COURT MARTIAL (Cont’d)</vt:lpstr>
      <vt:lpstr>SENTENCE </vt:lpstr>
      <vt:lpstr>SENTENCE (Cont’d)</vt:lpstr>
      <vt:lpstr>SIGNING THE DECISION</vt:lpstr>
      <vt:lpstr>TIME LIMIT FOR TRIAL OF OFFENCES</vt:lpstr>
      <vt:lpstr>TIME LIMIT FOR TRIAL OF OFFENCES (CONT’D)</vt:lpstr>
      <vt:lpstr>TIME LIMIT FOR TRIAL OF OFFENCES (CONT’D)</vt:lpstr>
      <vt:lpstr>TIME LIMIT FOR TRIAL OF OFFENCES (CONT’D)</vt:lpstr>
      <vt:lpstr>TIME LIMIT FOR TRIAL OF OFFENCES (CONT’D)</vt:lpstr>
      <vt:lpstr>APPEALS FROM C.M.</vt:lpstr>
      <vt:lpstr>DISSOLUTION OF A C.M</vt:lpstr>
      <vt:lpstr>THE CODE OF CONDUCT TRIBUNAL</vt:lpstr>
      <vt:lpstr>THE CODE OF CONDUCT TRIBUNAL (CONT’D)</vt:lpstr>
      <vt:lpstr>THE CODE OF CONDUCT TRIBUNAL (CONT’D)</vt:lpstr>
      <vt:lpstr>THE FEDERAL HIGH COURT</vt:lpstr>
      <vt:lpstr>THE FEDERAL HIGH COURT (CONT’D)</vt:lpstr>
      <vt:lpstr>PowerPoint 演示文稿</vt:lpstr>
      <vt:lpstr>PowerPoint 演示文稿</vt:lpstr>
      <vt:lpstr>CRIMINAL JURISDICTION OF THE FEDERAL HIGH COURT</vt:lpstr>
      <vt:lpstr>CRIMINAL JURISDICTION OF THE FEDERAL HIGH COURT (CONT’D)</vt:lpstr>
      <vt:lpstr>CRIMINAL JURISDICTION OF THE FEDERAL HIGH COURT (CONT’D)</vt:lpstr>
      <vt:lpstr>THE NATIONAL INDUSTRIAL COURT</vt:lpstr>
      <vt:lpstr>JURISDICTION</vt:lpstr>
      <vt:lpstr>ADDITIONAL JURISDICTION</vt:lpstr>
      <vt:lpstr>APPLICABLE LAWS IN N.I.C.</vt:lpstr>
      <vt:lpstr>INTERNATIONAL CRIMINAL COURT</vt:lpstr>
      <vt:lpstr>PowerPoint 演示文稿</vt:lpstr>
      <vt:lpstr>PowerPoint 演示文稿</vt:lpstr>
      <vt:lpstr>JURISDICTION OVER OFFENCES</vt:lpstr>
      <vt:lpstr>JURISDICTION TO IMPOSE PUNISHMENT</vt:lpstr>
      <vt:lpstr>HOW IS CRIMINAL PROCEEDINGS INITIATED?</vt:lpstr>
      <vt:lpstr>CORONER’S COURT</vt:lpstr>
      <vt:lpstr>CORONER’S SYSTEM LAWOF LAGOS STATE 2007</vt:lpstr>
      <vt:lpstr>When Must an Inquest Be Held?</vt:lpstr>
      <vt:lpstr>Powers and Procedures of the Coroner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COURTS OF CRIMINAL JURISDICTION</dc:title>
  <dc:creator>HomePC</dc:creator>
  <cp:lastModifiedBy>HomePC</cp:lastModifiedBy>
  <cp:revision>1</cp:revision>
  <dcterms:created xsi:type="dcterms:W3CDTF">2025-05-25T22:03:29Z</dcterms:created>
  <dcterms:modified xsi:type="dcterms:W3CDTF">2025-05-25T22:03:29Z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46C00DD381804498ABD6ECDFA1421513_11</vt:lpwstr>
  </property>
  <property fmtid="{D5CDD505-2E9C-101B-9397-08002B2CF9AE}" pid="3" name="KSOProductBuildVer">
    <vt:lpwstr>1033-12.2.0.20795</vt:lpwstr>
  </property>
</Properties>
</file>