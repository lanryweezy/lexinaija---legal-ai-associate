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B3431A5-EC4D-4FB5-8ED2-601BEEB7403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158115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3431A5-EC4D-4FB5-8ED2-601BEEB7403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1989278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3431A5-EC4D-4FB5-8ED2-601BEEB7403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860158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3431A5-EC4D-4FB5-8ED2-601BEEB7403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2152347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B3431A5-EC4D-4FB5-8ED2-601BEEB7403F}"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106284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B3431A5-EC4D-4FB5-8ED2-601BEEB7403F}"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915015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431A5-EC4D-4FB5-8ED2-601BEEB7403F}"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237349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3431A5-EC4D-4FB5-8ED2-601BEEB7403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464140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3431A5-EC4D-4FB5-8ED2-601BEEB7403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778221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3431A5-EC4D-4FB5-8ED2-601BEEB7403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1486196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3431A5-EC4D-4FB5-8ED2-601BEEB7403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A5740-EB09-4AEC-B62A-2274150D6019}" type="slidenum">
              <a:rPr lang="en-US" smtClean="0"/>
              <a:t>‹#›</a:t>
            </a:fld>
            <a:endParaRPr lang="en-US"/>
          </a:p>
        </p:txBody>
      </p:sp>
    </p:spTree>
    <p:extLst>
      <p:ext uri="{BB962C8B-B14F-4D97-AF65-F5344CB8AC3E}">
        <p14:creationId xmlns:p14="http://schemas.microsoft.com/office/powerpoint/2010/main" val="145484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3431A5-EC4D-4FB5-8ED2-601BEEB7403F}" type="datetimeFigureOut">
              <a:rPr lang="en-US" smtClean="0"/>
              <a:t>4/28/2025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A5740-EB09-4AEC-B62A-2274150D6019}" type="slidenum">
              <a:rPr lang="en-US" smtClean="0"/>
              <a:t>‹#›</a:t>
            </a:fld>
            <a:endParaRPr lang="en-US"/>
          </a:p>
        </p:txBody>
      </p:sp>
    </p:spTree>
    <p:extLst>
      <p:ext uri="{BB962C8B-B14F-4D97-AF65-F5344CB8AC3E}">
        <p14:creationId xmlns:p14="http://schemas.microsoft.com/office/powerpoint/2010/main" val="289523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b="1" dirty="0" smtClean="0"/>
              <a:t>DRAFTING II:</a:t>
            </a:r>
            <a:br>
              <a:rPr lang="en-US" b="1" dirty="0" smtClean="0"/>
            </a:br>
            <a:r>
              <a:rPr lang="en-US" b="1" dirty="0" smtClean="0"/>
              <a:t>LETTER WRITING;</a:t>
            </a:r>
            <a:br>
              <a:rPr lang="en-US" b="1" dirty="0" smtClean="0"/>
            </a:br>
            <a:r>
              <a:rPr lang="en-US" b="1" dirty="0" smtClean="0"/>
              <a:t>MINUTES OF MEETINGS; OFFICE MEMORANDUM; CURRICULUM VITAE AND</a:t>
            </a:r>
            <a:br>
              <a:rPr lang="en-US" b="1" dirty="0" smtClean="0"/>
            </a:br>
            <a:r>
              <a:rPr lang="en-US" b="1" dirty="0" smtClean="0"/>
              <a:t>LEGAL OPINION </a:t>
            </a:r>
            <a:endParaRPr lang="en-US" b="1" dirty="0"/>
          </a:p>
        </p:txBody>
      </p:sp>
    </p:spTree>
    <p:extLst>
      <p:ext uri="{BB962C8B-B14F-4D97-AF65-F5344CB8AC3E}">
        <p14:creationId xmlns:p14="http://schemas.microsoft.com/office/powerpoint/2010/main" val="2360530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0" dirty="0" smtClean="0">
                <a:latin typeface="Times New Roman" pitchFamily="18" charset="0"/>
                <a:cs typeface="Times New Roman" pitchFamily="18" charset="0"/>
              </a:rPr>
              <a:t/>
            </a:r>
            <a:br>
              <a:rPr lang="en-US" b="0" dirty="0" smtClean="0">
                <a:latin typeface="Times New Roman" pitchFamily="18" charset="0"/>
                <a:cs typeface="Times New Roman" pitchFamily="18" charset="0"/>
              </a:rPr>
            </a:br>
            <a:r>
              <a:rPr lang="en-US" b="0" dirty="0" smtClean="0">
                <a:latin typeface="Times New Roman" pitchFamily="18" charset="0"/>
                <a:cs typeface="Times New Roman" pitchFamily="18" charset="0"/>
              </a:rPr>
              <a:t/>
            </a:r>
            <a:br>
              <a:rPr lang="en-US" b="0"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sz="3100" b="1" dirty="0" smtClean="0">
                <a:latin typeface="Times New Roman" pitchFamily="18" charset="0"/>
                <a:cs typeface="Times New Roman" pitchFamily="18" charset="0"/>
              </a:rPr>
              <a:t>Demonstrate the structure of different types   	     of legal instruments.</a:t>
            </a:r>
            <a:br>
              <a:rPr lang="en-US" sz="3100" b="1" dirty="0" smtClean="0">
                <a:latin typeface="Times New Roman" pitchFamily="18" charset="0"/>
                <a:cs typeface="Times New Roman" pitchFamily="18" charset="0"/>
              </a:rPr>
            </a:br>
            <a:r>
              <a:rPr lang="en-US" sz="3100" dirty="0" smtClean="0"/>
              <a:t>All legal instruments </a:t>
            </a:r>
            <a:r>
              <a:rPr lang="en-US" sz="3100" dirty="0">
                <a:solidFill>
                  <a:prstClr val="black"/>
                </a:solidFill>
              </a:rPr>
              <a:t>are legal documents </a:t>
            </a:r>
            <a:r>
              <a:rPr lang="en-US" sz="3100" dirty="0" smtClean="0"/>
              <a:t>but not all legal documents are legal instrument. </a:t>
            </a:r>
            <a:br>
              <a:rPr lang="en-US" sz="3100" dirty="0" smtClean="0"/>
            </a:br>
            <a:r>
              <a:rPr lang="en-US" sz="3100" dirty="0" smtClean="0"/>
              <a:t>Legal instruments defines and  transfers rights, interest and title and sometimes made under seal of the court such as a judgment of the court, while some legal documents do not.</a:t>
            </a:r>
            <a:br>
              <a:rPr lang="en-US" sz="3100" dirty="0" smtClean="0"/>
            </a:br>
            <a:r>
              <a:rPr lang="en-US" sz="3100" dirty="0" smtClean="0">
                <a:latin typeface="Times New Roman" pitchFamily="18" charset="0"/>
                <a:cs typeface="Times New Roman" pitchFamily="18" charset="0"/>
              </a:rPr>
              <a:t>TYPES OF LETTERS</a:t>
            </a:r>
            <a:br>
              <a:rPr lang="en-US" sz="3100" dirty="0" smtClean="0">
                <a:latin typeface="Times New Roman" pitchFamily="18" charset="0"/>
                <a:cs typeface="Times New Roman" pitchFamily="18" charset="0"/>
              </a:rPr>
            </a:br>
            <a:r>
              <a:rPr lang="en-US" sz="3100" dirty="0" smtClean="0"/>
              <a:t>We have two basic types of letters</a:t>
            </a:r>
            <a:br>
              <a:rPr lang="en-US" sz="3100" dirty="0" smtClean="0"/>
            </a:br>
            <a:r>
              <a:rPr lang="en-US" sz="3100" dirty="0" smtClean="0"/>
              <a:t>1. informal /social letter  such as letter to a friend, parent </a:t>
            </a:r>
            <a:r>
              <a:rPr lang="en-US" sz="3100" dirty="0" err="1" smtClean="0"/>
              <a:t>etc</a:t>
            </a:r>
            <a:r>
              <a:rPr lang="en-US" sz="3100" dirty="0" smtClean="0"/>
              <a:t> </a:t>
            </a:r>
            <a:br>
              <a:rPr lang="en-US" sz="3100" dirty="0" smtClean="0"/>
            </a:br>
            <a:r>
              <a:rPr lang="en-US" sz="3100" dirty="0" smtClean="0"/>
              <a:t>2. Formal/ official/business letter. Such as Application letter, letter of offer and acceptance, Demand letter etc.</a:t>
            </a:r>
            <a:r>
              <a:rPr lang="en-US" sz="9600" dirty="0" smtClean="0"/>
              <a:t/>
            </a:r>
            <a:br>
              <a:rPr lang="en-US" sz="9600" dirty="0" smtClean="0"/>
            </a:br>
            <a:r>
              <a:rPr lang="en-US" sz="10600" dirty="0" smtClean="0">
                <a:latin typeface="Times New Roman" pitchFamily="18" charset="0"/>
                <a:cs typeface="Times New Roman" pitchFamily="18" charset="0"/>
              </a:rPr>
              <a:t/>
            </a:r>
            <a:br>
              <a:rPr lang="en-US" sz="10600" dirty="0" smtClean="0">
                <a:latin typeface="Times New Roman" pitchFamily="18" charset="0"/>
                <a:cs typeface="Times New Roman" pitchFamily="18" charset="0"/>
              </a:rPr>
            </a:br>
            <a:r>
              <a:rPr lang="en-US" dirty="0" smtClean="0"/>
              <a:t/>
            </a:r>
            <a:br>
              <a:rPr lang="en-US" dirty="0" smtClean="0"/>
            </a:br>
            <a:r>
              <a:rPr lang="en-US" b="0" dirty="0" smtClean="0">
                <a:latin typeface="Times New Roman" pitchFamily="18" charset="0"/>
                <a:cs typeface="Times New Roman" pitchFamily="18" charset="0"/>
              </a:rPr>
              <a:t/>
            </a:r>
            <a:br>
              <a:rPr lang="en-US" b="0" dirty="0" smtClean="0">
                <a:latin typeface="Times New Roman" pitchFamily="18" charset="0"/>
                <a:cs typeface="Times New Roman" pitchFamily="18" charset="0"/>
              </a:rPr>
            </a:br>
            <a:r>
              <a:rPr lang="en-US" sz="10600" dirty="0" smtClean="0">
                <a:latin typeface="Times New Roman" pitchFamily="18" charset="0"/>
                <a:cs typeface="Times New Roman" pitchFamily="18" charset="0"/>
              </a:rPr>
              <a:t/>
            </a:r>
            <a:br>
              <a:rPr lang="en-US" sz="10600" dirty="0" smtClean="0">
                <a:latin typeface="Times New Roman" pitchFamily="18" charset="0"/>
                <a:cs typeface="Times New Roman" pitchFamily="18" charset="0"/>
              </a:rPr>
            </a:br>
            <a:endParaRPr lang="en-US" dirty="0"/>
          </a:p>
        </p:txBody>
      </p:sp>
    </p:spTree>
    <p:extLst>
      <p:ext uri="{BB962C8B-B14F-4D97-AF65-F5344CB8AC3E}">
        <p14:creationId xmlns:p14="http://schemas.microsoft.com/office/powerpoint/2010/main" val="2499600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624078" indent="-514350" algn="l"/>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a:t/>
            </a:r>
            <a:br>
              <a:rPr lang="en-US" sz="2800" dirty="0"/>
            </a:br>
            <a:r>
              <a:rPr lang="en-US" sz="2800" dirty="0" smtClean="0"/>
              <a:t/>
            </a:r>
            <a:br>
              <a:rPr lang="en-US" sz="2800" dirty="0" smtClean="0"/>
            </a:br>
            <a:r>
              <a:rPr lang="en-US" sz="2800" dirty="0"/>
              <a:t/>
            </a:r>
            <a:br>
              <a:rPr lang="en-US" sz="2800" dirty="0"/>
            </a:br>
            <a:r>
              <a:rPr lang="en-US" sz="2000" b="1" dirty="0" smtClean="0"/>
              <a:t>OFFICIAL LETTERS THAT A LAWYER CAN WRITE INCLUDES; TYPES OF FORMAL     			DOCUMENTS </a:t>
            </a:r>
            <a:br>
              <a:rPr lang="en-US" sz="2000" b="1" dirty="0" smtClean="0"/>
            </a:br>
            <a:r>
              <a:rPr lang="en-US" sz="2800" b="1" dirty="0" smtClean="0"/>
              <a:t>Status letters- </a:t>
            </a:r>
            <a:r>
              <a:rPr lang="en-US" sz="2800" dirty="0" smtClean="0"/>
              <a:t>report of current position of a matter;</a:t>
            </a:r>
            <a:br>
              <a:rPr lang="en-US" sz="2800" dirty="0" smtClean="0"/>
            </a:br>
            <a:r>
              <a:rPr lang="en-US" sz="2800" b="1" dirty="0" smtClean="0"/>
              <a:t>Confirming /Instruction Letters- </a:t>
            </a:r>
            <a:r>
              <a:rPr lang="en-US" sz="2800" dirty="0" smtClean="0"/>
              <a:t>reaffirms oral discussion, </a:t>
            </a:r>
            <a:r>
              <a:rPr lang="en-US" sz="2800" dirty="0" err="1" smtClean="0"/>
              <a:t>e.g</a:t>
            </a:r>
            <a:r>
              <a:rPr lang="en-US" sz="2800" dirty="0" smtClean="0"/>
              <a:t> Oral instruction.</a:t>
            </a:r>
            <a:br>
              <a:rPr lang="en-US" sz="2800" dirty="0" smtClean="0"/>
            </a:br>
            <a:r>
              <a:rPr lang="en-US" sz="2800" b="1" dirty="0" smtClean="0"/>
              <a:t>Opinion Letters-</a:t>
            </a:r>
            <a:r>
              <a:rPr lang="en-US" sz="2800" dirty="0" smtClean="0"/>
              <a:t>this offers legal advice/opinion to a client.</a:t>
            </a:r>
            <a:br>
              <a:rPr lang="en-US" sz="2800" dirty="0" smtClean="0"/>
            </a:br>
            <a:r>
              <a:rPr lang="en-US" sz="2800" b="1" dirty="0" smtClean="0"/>
              <a:t>Demand letters-</a:t>
            </a:r>
            <a:r>
              <a:rPr lang="en-US" sz="2800" dirty="0" smtClean="0"/>
              <a:t>request recipient to perform an obligation it owes the writer.</a:t>
            </a:r>
            <a:r>
              <a:rPr lang="en-US" sz="2800" b="1" dirty="0" smtClean="0"/>
              <a:t/>
            </a:r>
            <a:br>
              <a:rPr lang="en-US" sz="2800" b="1" dirty="0" smtClean="0"/>
            </a:br>
            <a:r>
              <a:rPr lang="en-US" sz="2800" b="1" dirty="0" smtClean="0"/>
              <a:t>Letter of adjournment – </a:t>
            </a:r>
            <a:r>
              <a:rPr lang="en-US" sz="2800" dirty="0" smtClean="0"/>
              <a:t>request the court to adjourn a matter, giving reasons for lawyers inability to attend court.</a:t>
            </a:r>
            <a:br>
              <a:rPr lang="en-US" sz="2800" dirty="0" smtClean="0"/>
            </a:br>
            <a:r>
              <a:rPr lang="en-US" sz="2800" b="1" dirty="0" smtClean="0"/>
              <a:t>Letter of Complaint-</a:t>
            </a:r>
            <a:r>
              <a:rPr lang="en-US" sz="2800" b="1" dirty="0" err="1" smtClean="0"/>
              <a:t>e.g</a:t>
            </a:r>
            <a:r>
              <a:rPr lang="en-US" sz="2800" b="1" dirty="0" smtClean="0"/>
              <a:t> </a:t>
            </a:r>
            <a:r>
              <a:rPr lang="en-US" sz="2800" dirty="0" smtClean="0"/>
              <a:t>Petition , Nuisance</a:t>
            </a:r>
            <a:r>
              <a:rPr lang="en-US" sz="2800" dirty="0"/>
              <a:t/>
            </a:r>
            <a:br>
              <a:rPr lang="en-US" sz="2800" dirty="0"/>
            </a:br>
            <a:r>
              <a:rPr lang="en-US" sz="2800" b="1" dirty="0" smtClean="0"/>
              <a:t>Letter of offer/Acceptance-</a:t>
            </a:r>
            <a:r>
              <a:rPr lang="en-US" sz="2800" dirty="0" smtClean="0"/>
              <a:t>of contract, conveying clients offer to 3rd party; or acceptance of 3</a:t>
            </a:r>
            <a:r>
              <a:rPr lang="en-US" sz="2800" baseline="30000" dirty="0" smtClean="0"/>
              <a:t>rd</a:t>
            </a:r>
            <a:r>
              <a:rPr lang="en-US" sz="2800" dirty="0" smtClean="0"/>
              <a:t> party’s offer for client.</a:t>
            </a:r>
            <a:br>
              <a:rPr lang="en-US" sz="2800" dirty="0" smtClean="0"/>
            </a:br>
            <a:r>
              <a:rPr lang="en-US" sz="2200" b="1" dirty="0" smtClean="0"/>
              <a:t>Letter closing a client’s case file-</a:t>
            </a:r>
            <a:r>
              <a:rPr lang="en-US" sz="2800" b="1" dirty="0" smtClean="0"/>
              <a:t> </a:t>
            </a:r>
            <a:r>
              <a:rPr lang="en-US" sz="2800" dirty="0" smtClean="0"/>
              <a:t>conveying to a client that his/ her matter has been concluded and case file closed. </a:t>
            </a:r>
            <a:br>
              <a:rPr lang="en-US" sz="2800" dirty="0" smtClean="0"/>
            </a:br>
            <a:endParaRPr lang="en-US" sz="2800" dirty="0"/>
          </a:p>
        </p:txBody>
      </p:sp>
    </p:spTree>
    <p:extLst>
      <p:ext uri="{BB962C8B-B14F-4D97-AF65-F5344CB8AC3E}">
        <p14:creationId xmlns:p14="http://schemas.microsoft.com/office/powerpoint/2010/main" val="2724048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a:t/>
            </a:r>
            <a:br>
              <a:rPr lang="en-GB" sz="2800" dirty="0"/>
            </a:br>
            <a:r>
              <a:rPr lang="en-GB" sz="2800" dirty="0" smtClean="0"/>
              <a:t/>
            </a:r>
            <a:br>
              <a:rPr lang="en-GB" sz="2800" dirty="0" smtClean="0"/>
            </a:br>
            <a:r>
              <a:rPr lang="en-GB" sz="2800" dirty="0"/>
              <a:t/>
            </a:r>
            <a:br>
              <a:rPr lang="en-GB" sz="2800" dirty="0"/>
            </a:br>
            <a:r>
              <a:rPr lang="en-GB" sz="2800" dirty="0"/>
              <a:t/>
            </a:r>
            <a:br>
              <a:rPr lang="en-GB" sz="2800" dirty="0"/>
            </a:br>
            <a:r>
              <a:rPr lang="en-GB" sz="2800" dirty="0" smtClean="0"/>
              <a:t>PARTS OF A LETTER:</a:t>
            </a:r>
            <a:br>
              <a:rPr lang="en-GB" sz="2800" dirty="0" smtClean="0"/>
            </a:br>
            <a:r>
              <a:rPr lang="en-US" sz="2800" b="1" dirty="0" smtClean="0"/>
              <a:t>LETTER HEADED-</a:t>
            </a:r>
            <a:r>
              <a:rPr lang="en-US" sz="2800" dirty="0" smtClean="0"/>
              <a:t> it contains; the name of the law firm, Address of the office, Telephone number and fax number (if any) and other information that the legal practitioner deems necessary.</a:t>
            </a:r>
            <a:br>
              <a:rPr lang="en-US" sz="2800" dirty="0" smtClean="0"/>
            </a:br>
            <a:r>
              <a:rPr lang="en-US" sz="2800" b="1" dirty="0" smtClean="0"/>
              <a:t>DATE</a:t>
            </a:r>
            <a:r>
              <a:rPr lang="en-US" sz="2800" dirty="0" smtClean="0"/>
              <a:t>- the date on which the letter is written. Insert if column is on letter headed paper in the order&gt; day, month(in words) and  year, </a:t>
            </a:r>
            <a:r>
              <a:rPr lang="en-US" sz="2800" dirty="0" err="1" smtClean="0"/>
              <a:t>E.g</a:t>
            </a:r>
            <a:r>
              <a:rPr lang="en-US" sz="2800" dirty="0" smtClean="0"/>
              <a:t> 27</a:t>
            </a:r>
            <a:r>
              <a:rPr lang="en-US" sz="2800" baseline="30000" dirty="0" smtClean="0"/>
              <a:t>th</a:t>
            </a:r>
            <a:r>
              <a:rPr lang="en-US" sz="2800" dirty="0" smtClean="0"/>
              <a:t> November 2018</a:t>
            </a:r>
            <a:br>
              <a:rPr lang="en-US" sz="2800" dirty="0" smtClean="0"/>
            </a:br>
            <a:r>
              <a:rPr lang="en-US" sz="2800" b="1" dirty="0" smtClean="0"/>
              <a:t>REFERENCE NUMBER-</a:t>
            </a:r>
            <a:r>
              <a:rPr lang="en-US" sz="2800" dirty="0" smtClean="0"/>
              <a:t>should be two. </a:t>
            </a:r>
            <a:r>
              <a:rPr lang="en-US" sz="2800" dirty="0" err="1" smtClean="0"/>
              <a:t>i.e</a:t>
            </a:r>
            <a:r>
              <a:rPr lang="en-US" sz="2800" dirty="0"/>
              <a:t> </a:t>
            </a:r>
            <a:r>
              <a:rPr lang="en-US" sz="2800" dirty="0" smtClean="0"/>
              <a:t>Our ref: and Your ref:</a:t>
            </a:r>
            <a:br>
              <a:rPr lang="en-US" sz="2800" dirty="0" smtClean="0"/>
            </a:br>
            <a:r>
              <a:rPr lang="en-US" sz="2800" dirty="0" smtClean="0"/>
              <a:t>Useful for filing and cross referencing.</a:t>
            </a:r>
            <a:br>
              <a:rPr lang="en-US" sz="2800" dirty="0" smtClean="0"/>
            </a:br>
            <a:r>
              <a:rPr lang="en-US" sz="2800" b="1" dirty="0" smtClean="0"/>
              <a:t>WRITERS ADDRESS; </a:t>
            </a:r>
            <a:r>
              <a:rPr lang="en-US" sz="2800" dirty="0" smtClean="0"/>
              <a:t/>
            </a:r>
            <a:br>
              <a:rPr lang="en-US" sz="2800" dirty="0" smtClean="0"/>
            </a:br>
            <a:r>
              <a:rPr lang="en-US" sz="2800" dirty="0" smtClean="0"/>
              <a:t>If printed on letter headed paper, no need to write it.</a:t>
            </a:r>
            <a:br>
              <a:rPr lang="en-US" sz="2800" dirty="0" smtClean="0"/>
            </a:br>
            <a:r>
              <a:rPr lang="en-US" sz="2800" dirty="0" smtClean="0"/>
              <a:t>If not, it should be written on the right hand side of the letter.</a:t>
            </a:r>
            <a:r>
              <a:rPr lang="en-US" sz="2800" b="1" dirty="0" smtClean="0"/>
              <a:t/>
            </a:r>
            <a:br>
              <a:rPr lang="en-US" sz="2800" b="1" dirty="0" smtClean="0"/>
            </a:br>
            <a:r>
              <a:rPr lang="en-US" sz="2800" b="1" dirty="0" smtClean="0"/>
              <a:t>ADDRESSEE’S NAME &amp; ADDRESS-</a:t>
            </a:r>
            <a:r>
              <a:rPr lang="en-US" sz="2800" dirty="0" smtClean="0"/>
              <a:t>this</a:t>
            </a:r>
            <a:r>
              <a:rPr lang="en-US" sz="2800" b="1" dirty="0" smtClean="0"/>
              <a:t> </a:t>
            </a:r>
            <a:r>
              <a:rPr lang="en-US" sz="2800" dirty="0" smtClean="0"/>
              <a:t>is written at the left hand side of the letter </a:t>
            </a:r>
            <a:br>
              <a:rPr lang="en-US" sz="2800" dirty="0" smtClean="0"/>
            </a:br>
            <a:r>
              <a:rPr lang="en-US" sz="2800" dirty="0" smtClean="0"/>
              <a:t/>
            </a:r>
            <a:br>
              <a:rPr lang="en-US" sz="2800" dirty="0" smtClean="0"/>
            </a:br>
            <a:r>
              <a:rPr lang="en-US" sz="2800" dirty="0" smtClean="0"/>
              <a:t/>
            </a:r>
            <a:br>
              <a:rPr lang="en-US" sz="2800" dirty="0" smtClean="0"/>
            </a:br>
            <a:r>
              <a:rPr lang="en-US" sz="2800" dirty="0" smtClean="0"/>
              <a:t/>
            </a:r>
            <a:br>
              <a:rPr lang="en-US" sz="2800" dirty="0" smtClean="0"/>
            </a:br>
            <a:r>
              <a:rPr lang="en-GB" sz="2800" dirty="0" smtClean="0"/>
              <a:t/>
            </a:r>
            <a:br>
              <a:rPr lang="en-GB" sz="2800" dirty="0" smtClean="0"/>
            </a:br>
            <a:endParaRPr lang="en-US" sz="2800" dirty="0"/>
          </a:p>
        </p:txBody>
      </p:sp>
    </p:spTree>
    <p:extLst>
      <p:ext uri="{BB962C8B-B14F-4D97-AF65-F5344CB8AC3E}">
        <p14:creationId xmlns:p14="http://schemas.microsoft.com/office/powerpoint/2010/main" val="4178866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ATTENTION-</a:t>
            </a:r>
            <a:r>
              <a:rPr lang="en-US" sz="2800" dirty="0" smtClean="0"/>
              <a:t>needed where it is intended that a particular person should handle the letter.</a:t>
            </a:r>
            <a:br>
              <a:rPr lang="en-US" sz="2800" dirty="0" smtClean="0"/>
            </a:br>
            <a:r>
              <a:rPr lang="en-US" sz="2800" dirty="0" smtClean="0"/>
              <a:t> </a:t>
            </a:r>
            <a:r>
              <a:rPr lang="en-US" sz="2800" b="1" dirty="0" smtClean="0"/>
              <a:t>CONFIDENTIAL-</a:t>
            </a:r>
            <a:r>
              <a:rPr lang="en-US" sz="2800" dirty="0" smtClean="0"/>
              <a:t>used where the letter is only for the eyes of the person to whom it is addressed.</a:t>
            </a:r>
            <a:br>
              <a:rPr lang="en-US" sz="2800" dirty="0" smtClean="0"/>
            </a:br>
            <a:r>
              <a:rPr lang="en-US" sz="2800" b="1" dirty="0" smtClean="0"/>
              <a:t>PERSONAL- </a:t>
            </a:r>
            <a:r>
              <a:rPr lang="en-US" sz="2800" dirty="0" smtClean="0"/>
              <a:t>used where the letter is sent to the person not in his official capacity, so as no other person should read it.</a:t>
            </a:r>
            <a:br>
              <a:rPr lang="en-US" sz="2800" dirty="0" smtClean="0"/>
            </a:br>
            <a:r>
              <a:rPr lang="en-US" sz="2800" b="1" dirty="0" smtClean="0"/>
              <a:t>SALUTATION-</a:t>
            </a:r>
            <a:r>
              <a:rPr lang="en-US" sz="2800" dirty="0" smtClean="0"/>
              <a:t>written in two ways </a:t>
            </a:r>
            <a:br>
              <a:rPr lang="en-US" sz="2800" dirty="0" smtClean="0"/>
            </a:br>
            <a:r>
              <a:rPr lang="en-US" sz="2800" dirty="0" smtClean="0"/>
              <a:t>The general form- Dear Sir/Madam, Dear Sir, Dear Madam.</a:t>
            </a:r>
            <a:br>
              <a:rPr lang="en-US" sz="2800" dirty="0" smtClean="0"/>
            </a:br>
            <a:r>
              <a:rPr lang="en-US" sz="2800" dirty="0" smtClean="0"/>
              <a:t>If there is familiarity between parties, Dear </a:t>
            </a:r>
            <a:r>
              <a:rPr lang="en-US" sz="2800" dirty="0" err="1" smtClean="0"/>
              <a:t>Mr</a:t>
            </a:r>
            <a:r>
              <a:rPr lang="en-US" sz="2800" dirty="0" smtClean="0"/>
              <a:t> Xxx or Dear </a:t>
            </a:r>
            <a:r>
              <a:rPr lang="en-US" sz="2800" dirty="0" err="1" smtClean="0"/>
              <a:t>Mrs</a:t>
            </a:r>
            <a:r>
              <a:rPr lang="en-US" sz="2800" dirty="0" smtClean="0"/>
              <a:t> </a:t>
            </a:r>
            <a:r>
              <a:rPr lang="en-US" sz="2800" dirty="0" err="1" smtClean="0"/>
              <a:t>Yyy</a:t>
            </a:r>
            <a:r>
              <a:rPr lang="en-US" sz="2800" dirty="0" smtClean="0"/>
              <a:t> </a:t>
            </a:r>
            <a:br>
              <a:rPr lang="en-US" sz="2800" dirty="0" smtClean="0"/>
            </a:br>
            <a:r>
              <a:rPr lang="en-US" sz="2800" b="1" dirty="0" smtClean="0"/>
              <a:t>SUBJECT MATTER- </a:t>
            </a:r>
            <a:r>
              <a:rPr lang="en-US" sz="2800" dirty="0" smtClean="0"/>
              <a:t>captures the subject of the letter</a:t>
            </a:r>
            <a:br>
              <a:rPr lang="en-US" sz="2800" dirty="0" smtClean="0"/>
            </a:br>
            <a:r>
              <a:rPr lang="en-US" sz="2800" dirty="0" smtClean="0"/>
              <a:t>Written in sentence capitalization</a:t>
            </a:r>
            <a:br>
              <a:rPr lang="en-US" sz="2800" dirty="0" smtClean="0"/>
            </a:br>
            <a:r>
              <a:rPr lang="en-US" sz="2800" dirty="0" smtClean="0"/>
              <a:t>Should be highlighted</a:t>
            </a:r>
            <a:br>
              <a:rPr lang="en-US" sz="2800" dirty="0" smtClean="0"/>
            </a:br>
            <a:r>
              <a:rPr lang="en-US" sz="2800" dirty="0" smtClean="0"/>
              <a:t>Should be concise and precise.</a:t>
            </a:r>
            <a:br>
              <a:rPr lang="en-US" sz="2800" dirty="0" smtClean="0"/>
            </a:br>
            <a:r>
              <a:rPr lang="en-US" sz="2800" dirty="0" smtClean="0"/>
              <a:t>This is also called the heading of the letter.</a:t>
            </a:r>
            <a:br>
              <a:rPr lang="en-US" sz="2800" dirty="0" smtClean="0"/>
            </a:br>
            <a:r>
              <a:rPr lang="en-US" sz="2800" dirty="0" smtClean="0"/>
              <a:t/>
            </a:r>
            <a:br>
              <a:rPr lang="en-US" sz="2800" dirty="0" smtClean="0"/>
            </a:br>
            <a:r>
              <a:rPr lang="en-US" sz="2800" dirty="0" smtClean="0"/>
              <a:t/>
            </a:r>
            <a:br>
              <a:rPr lang="en-US" sz="2800" dirty="0" smtClean="0"/>
            </a:br>
            <a:endParaRPr lang="en-US" sz="2800" dirty="0"/>
          </a:p>
        </p:txBody>
      </p:sp>
    </p:spTree>
    <p:extLst>
      <p:ext uri="{BB962C8B-B14F-4D97-AF65-F5344CB8AC3E}">
        <p14:creationId xmlns:p14="http://schemas.microsoft.com/office/powerpoint/2010/main" val="487362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
            </a:r>
            <a:br>
              <a:rPr lang="en-US" sz="2800" b="1" dirty="0" smtClean="0"/>
            </a:br>
            <a:r>
              <a:rPr lang="en-US" sz="2800" b="1" dirty="0"/>
              <a:t/>
            </a:r>
            <a:br>
              <a:rPr lang="en-US" sz="2800" b="1" dirty="0"/>
            </a:br>
            <a:r>
              <a:rPr lang="en-US" sz="2800" b="1" dirty="0" smtClean="0"/>
              <a:t>BODY OF THE LETTER- </a:t>
            </a:r>
            <a:r>
              <a:rPr lang="en-US" sz="2800" dirty="0" smtClean="0"/>
              <a:t>contains: </a:t>
            </a:r>
            <a:br>
              <a:rPr lang="en-US" sz="2800" dirty="0" smtClean="0"/>
            </a:br>
            <a:r>
              <a:rPr lang="en-US" sz="2800" dirty="0" smtClean="0"/>
              <a:t>Opening-introduction or acknowledgement.</a:t>
            </a:r>
            <a:br>
              <a:rPr lang="en-US" sz="2800" dirty="0" smtClean="0"/>
            </a:br>
            <a:r>
              <a:rPr lang="en-US" sz="2800" dirty="0" smtClean="0"/>
              <a:t>Main part-brief facts of the matter necessitating the letter and action expected from recipient.</a:t>
            </a:r>
            <a:br>
              <a:rPr lang="en-US" sz="2800" dirty="0" smtClean="0"/>
            </a:br>
            <a:r>
              <a:rPr lang="en-US" sz="2800" dirty="0" smtClean="0"/>
              <a:t>Closing part- intended actions of lawyer if expectations are not met.</a:t>
            </a:r>
            <a:br>
              <a:rPr lang="en-US" sz="2800" dirty="0" smtClean="0"/>
            </a:br>
            <a:r>
              <a:rPr lang="en-US" sz="2800" b="1" dirty="0" smtClean="0"/>
              <a:t>COMPLIMENTARY CLOSURE-</a:t>
            </a:r>
            <a:r>
              <a:rPr lang="en-US" sz="2800" dirty="0" smtClean="0"/>
              <a:t>depend on the salutation;</a:t>
            </a:r>
            <a:br>
              <a:rPr lang="en-US" sz="2800" dirty="0" smtClean="0"/>
            </a:br>
            <a:r>
              <a:rPr lang="en-US" sz="2800" dirty="0" smtClean="0"/>
              <a:t>if “Dear Sir/</a:t>
            </a:r>
            <a:r>
              <a:rPr lang="en-US" sz="2800" dirty="0" err="1" smtClean="0"/>
              <a:t>Madam”etc</a:t>
            </a:r>
            <a:r>
              <a:rPr lang="en-US" sz="2800" dirty="0" smtClean="0"/>
              <a:t>, then “Yours faithfully” </a:t>
            </a:r>
            <a:br>
              <a:rPr lang="en-US" sz="2800" dirty="0" smtClean="0"/>
            </a:br>
            <a:r>
              <a:rPr lang="en-US" sz="2800" dirty="0" smtClean="0"/>
              <a:t>If “Dear </a:t>
            </a:r>
            <a:r>
              <a:rPr lang="en-US" sz="2800" dirty="0" err="1" smtClean="0"/>
              <a:t>Mr</a:t>
            </a:r>
            <a:r>
              <a:rPr lang="en-US" sz="2800" dirty="0" smtClean="0"/>
              <a:t>/</a:t>
            </a:r>
            <a:r>
              <a:rPr lang="en-US" sz="2800" dirty="0" err="1" smtClean="0"/>
              <a:t>Mrs</a:t>
            </a:r>
            <a:r>
              <a:rPr lang="en-US" sz="2800" dirty="0" smtClean="0"/>
              <a:t> Xxx then “Yours sincerely” or Yours “truly”</a:t>
            </a:r>
            <a:br>
              <a:rPr lang="en-US" sz="2800" dirty="0" smtClean="0"/>
            </a:br>
            <a:r>
              <a:rPr lang="en-US" sz="2800" b="1" dirty="0" smtClean="0"/>
              <a:t>SIGNATURE AND NAME OF WRITER- </a:t>
            </a:r>
            <a:r>
              <a:rPr lang="en-US" sz="2800" dirty="0" smtClean="0"/>
              <a:t/>
            </a:r>
            <a:br>
              <a:rPr lang="en-US" sz="2800" dirty="0" smtClean="0"/>
            </a:br>
            <a:r>
              <a:rPr lang="en-US" sz="2800" dirty="0" smtClean="0"/>
              <a:t>Writer to sign on top of his/her name</a:t>
            </a:r>
            <a:br>
              <a:rPr lang="en-US" sz="2800" dirty="0" smtClean="0"/>
            </a:br>
            <a:r>
              <a:rPr lang="en-US" sz="2800" dirty="0" smtClean="0"/>
              <a:t>Wrong to sign in the name of a law firm without the person’s name. see SCC (Nig. Ltd) v </a:t>
            </a:r>
            <a:r>
              <a:rPr lang="en-US" sz="2800" dirty="0" err="1" smtClean="0"/>
              <a:t>Ekenma</a:t>
            </a:r>
            <a:r>
              <a:rPr lang="en-US" sz="2800" dirty="0" smtClean="0"/>
              <a:t>(2009)</a:t>
            </a:r>
            <a:br>
              <a:rPr lang="en-US" sz="2800" dirty="0" smtClean="0"/>
            </a:br>
            <a:r>
              <a:rPr lang="en-US" sz="2800" dirty="0" smtClean="0"/>
              <a:t>When signing on behalf of someone, indicate by adding “for” or “PP” before the signature.</a:t>
            </a:r>
            <a:br>
              <a:rPr lang="en-US" sz="2800" dirty="0" smtClean="0"/>
            </a:br>
            <a:r>
              <a:rPr lang="en-US" sz="2800" dirty="0" smtClean="0"/>
              <a:t/>
            </a:r>
            <a:br>
              <a:rPr lang="en-US" sz="2800" dirty="0" smtClean="0"/>
            </a:br>
            <a:endParaRPr lang="en-US" sz="2800" dirty="0"/>
          </a:p>
        </p:txBody>
      </p:sp>
    </p:spTree>
    <p:extLst>
      <p:ext uri="{BB962C8B-B14F-4D97-AF65-F5344CB8AC3E}">
        <p14:creationId xmlns:p14="http://schemas.microsoft.com/office/powerpoint/2010/main" val="4018144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3100" b="1" dirty="0" smtClean="0"/>
              <a:t>ENCLOSURE- </a:t>
            </a:r>
            <a:r>
              <a:rPr lang="en-US" sz="3100" dirty="0" smtClean="0"/>
              <a:t>written ‘ENCL’ </a:t>
            </a:r>
            <a:br>
              <a:rPr lang="en-US" sz="3100" dirty="0" smtClean="0"/>
            </a:br>
            <a:r>
              <a:rPr lang="en-US" sz="3100" dirty="0" smtClean="0"/>
              <a:t>list of documents attached to the letter is made under this at the end of the letter.</a:t>
            </a:r>
            <a:br>
              <a:rPr lang="en-US" sz="3100" dirty="0" smtClean="0"/>
            </a:br>
            <a:r>
              <a:rPr lang="en-US" sz="3100" b="1" dirty="0" smtClean="0"/>
              <a:t>COPIES- </a:t>
            </a:r>
            <a:r>
              <a:rPr lang="en-US" sz="3100" dirty="0" smtClean="0"/>
              <a:t>here;</a:t>
            </a:r>
            <a:br>
              <a:rPr lang="en-US" sz="3100" dirty="0" smtClean="0"/>
            </a:br>
            <a:r>
              <a:rPr lang="en-US" sz="3100" dirty="0" smtClean="0"/>
              <a:t>State names and addresses of other persons to who copies of letter is sent to</a:t>
            </a:r>
            <a:br>
              <a:rPr lang="en-US" sz="3100" dirty="0" smtClean="0"/>
            </a:br>
            <a:r>
              <a:rPr lang="en-US" sz="3100" dirty="0" smtClean="0"/>
              <a:t>Short form is “CC” NOTE “BC”</a:t>
            </a:r>
            <a:br>
              <a:rPr lang="en-US" sz="3100" dirty="0" smtClean="0"/>
            </a:br>
            <a:r>
              <a:rPr lang="en-US" sz="3100" dirty="0" smtClean="0"/>
              <a:t>It sometimes contains certain statements not in the original letter.</a:t>
            </a:r>
            <a:r>
              <a:rPr lang="en-US" dirty="0" smtClean="0"/>
              <a:t/>
            </a:r>
            <a:br>
              <a:rPr lang="en-US" dirty="0" smtClean="0"/>
            </a:br>
            <a:r>
              <a:rPr lang="en-US" sz="3100" b="1" dirty="0" smtClean="0">
                <a:latin typeface="Times New Roman" pitchFamily="18" charset="0"/>
                <a:cs typeface="Times New Roman" pitchFamily="18" charset="0"/>
              </a:rPr>
              <a:t>‘subject to contract’ and</a:t>
            </a:r>
            <a:r>
              <a:rPr lang="en-US" sz="3100" b="1" dirty="0" smtClean="0">
                <a:latin typeface="Times New Roman" pitchFamily="18" charset="0"/>
                <a:cs typeface="Times New Roman" pitchFamily="18" charset="0"/>
              </a:rPr>
              <a:t> </a:t>
            </a:r>
            <a:r>
              <a:rPr lang="en-US" sz="3100" b="1" dirty="0" smtClean="0">
                <a:latin typeface="Times New Roman" pitchFamily="18" charset="0"/>
                <a:cs typeface="Times New Roman" pitchFamily="18" charset="0"/>
              </a:rPr>
              <a:t>‘without prejudice’ in a letter: </a:t>
            </a:r>
            <a:r>
              <a:rPr lang="en-US" sz="3100" dirty="0" smtClean="0"/>
              <a:t>These are called terms of negotiation in a letter.</a:t>
            </a:r>
            <a:br>
              <a:rPr lang="en-US" sz="3100" dirty="0" smtClean="0"/>
            </a:br>
            <a:r>
              <a:rPr lang="en-US" sz="3100" dirty="0" smtClean="0"/>
              <a:t>These statements are made under privilege. </a:t>
            </a:r>
            <a:br>
              <a:rPr lang="en-US" sz="3100" dirty="0" smtClean="0"/>
            </a:br>
            <a:r>
              <a:rPr lang="en-US" sz="3100" dirty="0" smtClean="0"/>
              <a:t>They are covered by S. 26 EA. Used by parties when negotiating. Such documents are generally not admissible in evidence. </a:t>
            </a:r>
            <a:br>
              <a:rPr lang="en-US" sz="3100" dirty="0" smtClean="0"/>
            </a:br>
            <a:r>
              <a:rPr lang="en-US" sz="3100" dirty="0" smtClean="0">
                <a:latin typeface="Times New Roman" pitchFamily="18" charset="0"/>
                <a:cs typeface="Times New Roman" pitchFamily="18" charset="0"/>
              </a:rPr>
              <a:t> </a:t>
            </a:r>
            <a:endParaRPr lang="en-US" sz="3100" dirty="0"/>
          </a:p>
        </p:txBody>
      </p:sp>
    </p:spTree>
    <p:extLst>
      <p:ext uri="{BB962C8B-B14F-4D97-AF65-F5344CB8AC3E}">
        <p14:creationId xmlns:p14="http://schemas.microsoft.com/office/powerpoint/2010/main" val="727691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3100" b="1" dirty="0" smtClean="0"/>
              <a:t>Subject to Contract; </a:t>
            </a:r>
            <a:r>
              <a:rPr lang="en-US" sz="3100" dirty="0" smtClean="0"/>
              <a:t/>
            </a:r>
            <a:br>
              <a:rPr lang="en-US" sz="3100" dirty="0" smtClean="0"/>
            </a:br>
            <a:r>
              <a:rPr lang="en-US" sz="3100" dirty="0" smtClean="0"/>
              <a:t>when used, parties are not bound by the terms of the negotiation until a formal contract is entered into and executed.</a:t>
            </a:r>
            <a:br>
              <a:rPr lang="en-US" sz="3100" dirty="0" smtClean="0"/>
            </a:br>
            <a:r>
              <a:rPr lang="en-US" sz="3100" dirty="0" smtClean="0"/>
              <a:t>Use of term would be of no effect where parties have concluded negotiation. See UBA v </a:t>
            </a:r>
            <a:r>
              <a:rPr lang="en-US" sz="3100" dirty="0" err="1" smtClean="0"/>
              <a:t>Tejumola</a:t>
            </a:r>
            <a:r>
              <a:rPr lang="en-US" sz="3100" dirty="0" smtClean="0"/>
              <a:t> &amp; sons(1988)</a:t>
            </a:r>
            <a:br>
              <a:rPr lang="en-US" sz="3100" dirty="0" smtClean="0"/>
            </a:br>
            <a:r>
              <a:rPr lang="en-US" sz="3100" dirty="0" smtClean="0"/>
              <a:t>The effect is a matter of construction.  </a:t>
            </a:r>
            <a:br>
              <a:rPr lang="en-US" sz="3100" dirty="0" smtClean="0"/>
            </a:br>
            <a:r>
              <a:rPr lang="en-US" sz="3200" b="1" dirty="0" smtClean="0"/>
              <a:t>Without Prejudice – </a:t>
            </a:r>
            <a:br>
              <a:rPr lang="en-US" sz="3200" b="1" dirty="0" smtClean="0"/>
            </a:br>
            <a:r>
              <a:rPr lang="en-US" sz="3200" dirty="0" smtClean="0"/>
              <a:t>Makes the document not admissible in evidence against the maker.</a:t>
            </a:r>
            <a:br>
              <a:rPr lang="en-US" sz="3200" dirty="0" smtClean="0"/>
            </a:br>
            <a:r>
              <a:rPr lang="en-US" sz="3200" dirty="0" smtClean="0"/>
              <a:t>Exception is where the maker expressly waived this right. </a:t>
            </a:r>
            <a:br>
              <a:rPr lang="en-US" sz="3200" dirty="0" smtClean="0"/>
            </a:br>
            <a:r>
              <a:rPr lang="en-US" sz="3200" dirty="0" smtClean="0"/>
              <a:t>Need no be stated in a document, as can be inferred from party’s conducts. </a:t>
            </a:r>
            <a:br>
              <a:rPr lang="en-US" sz="3200" dirty="0" smtClean="0"/>
            </a:br>
            <a:endParaRPr lang="en-US" sz="3100" dirty="0"/>
          </a:p>
        </p:txBody>
      </p:sp>
    </p:spTree>
    <p:extLst>
      <p:ext uri="{BB962C8B-B14F-4D97-AF65-F5344CB8AC3E}">
        <p14:creationId xmlns:p14="http://schemas.microsoft.com/office/powerpoint/2010/main" val="1044825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b="1" dirty="0" smtClean="0"/>
              <a:t>Ingredients of a good letter:</a:t>
            </a:r>
            <a:br>
              <a:rPr lang="en-US" b="1" dirty="0" smtClean="0"/>
            </a:br>
            <a:r>
              <a:rPr lang="en-US" sz="3100" dirty="0" smtClean="0"/>
              <a:t>Good English; Spelling</a:t>
            </a:r>
            <a:r>
              <a:rPr lang="en-US" sz="3100" dirty="0" smtClean="0"/>
              <a:t>; </a:t>
            </a:r>
            <a:r>
              <a:rPr lang="en-US" sz="3100" dirty="0" smtClean="0"/>
              <a:t>Punctuation marks; Be courteous, purposeful and firm;</a:t>
            </a:r>
            <a:r>
              <a:rPr lang="en-US" sz="3100" dirty="0"/>
              <a:t> </a:t>
            </a:r>
            <a:r>
              <a:rPr lang="en-US" sz="3100" dirty="0" smtClean="0"/>
              <a:t>Avoid over familiarity;</a:t>
            </a:r>
            <a:r>
              <a:rPr lang="en-US" sz="3100" dirty="0"/>
              <a:t> </a:t>
            </a:r>
            <a:r>
              <a:rPr lang="en-US" sz="3100" dirty="0" smtClean="0"/>
              <a:t>Brevity;</a:t>
            </a:r>
            <a:r>
              <a:rPr lang="en-US" sz="3100" dirty="0"/>
              <a:t> </a:t>
            </a:r>
            <a:r>
              <a:rPr lang="en-US" sz="3100" dirty="0" smtClean="0"/>
              <a:t>Coherent.</a:t>
            </a:r>
            <a:br>
              <a:rPr lang="en-US" sz="3100" dirty="0" smtClean="0"/>
            </a:br>
            <a:r>
              <a:rPr lang="en-US" sz="3100" b="1" dirty="0" smtClean="0"/>
              <a:t>MINUTES OF MEETINGS.</a:t>
            </a:r>
            <a:r>
              <a:rPr lang="en-US" sz="3100" dirty="0" smtClean="0"/>
              <a:t/>
            </a:r>
            <a:br>
              <a:rPr lang="en-US" sz="3100" dirty="0" smtClean="0"/>
            </a:br>
            <a:r>
              <a:rPr lang="en-US" sz="3200" dirty="0" smtClean="0"/>
              <a:t>Minutes of meeting is a written summary of things discussed in a meeting.</a:t>
            </a:r>
            <a:br>
              <a:rPr lang="en-US" sz="3200" dirty="0" smtClean="0"/>
            </a:br>
            <a:r>
              <a:rPr lang="en-US" sz="3200" b="1" dirty="0" smtClean="0"/>
              <a:t>TIPS FOR EFFECTVE MINUTE WRITING;</a:t>
            </a:r>
            <a:br>
              <a:rPr lang="en-US" sz="3200" b="1" dirty="0" smtClean="0"/>
            </a:br>
            <a:r>
              <a:rPr lang="en-US" sz="3200" dirty="0" smtClean="0"/>
              <a:t>Know the purpose </a:t>
            </a:r>
            <a:br>
              <a:rPr lang="en-US" sz="3200" dirty="0" smtClean="0"/>
            </a:br>
            <a:r>
              <a:rPr lang="en-US" sz="3200" dirty="0" smtClean="0"/>
              <a:t>Keep it concise</a:t>
            </a:r>
            <a:br>
              <a:rPr lang="en-US" sz="3200" dirty="0" smtClean="0"/>
            </a:br>
            <a:r>
              <a:rPr lang="en-US" sz="3200" dirty="0" smtClean="0"/>
              <a:t>Get the right information and follow the right format</a:t>
            </a:r>
            <a:br>
              <a:rPr lang="en-US" sz="3200" dirty="0" smtClean="0"/>
            </a:br>
            <a:r>
              <a:rPr lang="en-US" sz="3200" dirty="0" smtClean="0"/>
              <a:t>Keep a record.</a:t>
            </a:r>
            <a:br>
              <a:rPr lang="en-US" sz="3200" dirty="0" smtClean="0"/>
            </a:br>
            <a:r>
              <a:rPr lang="en-US" sz="3200" dirty="0" smtClean="0"/>
              <a:t>Use simple language</a:t>
            </a:r>
            <a:br>
              <a:rPr lang="en-US" sz="3200" dirty="0" smtClean="0"/>
            </a:br>
            <a:r>
              <a:rPr lang="en-US" sz="3200" dirty="0" smtClean="0"/>
              <a:t>Proof read your work</a:t>
            </a:r>
            <a:br>
              <a:rPr lang="en-US" sz="3200" dirty="0" smtClean="0"/>
            </a:br>
            <a:endParaRPr lang="en-US" sz="3100" b="1" dirty="0"/>
          </a:p>
        </p:txBody>
      </p:sp>
    </p:spTree>
    <p:extLst>
      <p:ext uri="{BB962C8B-B14F-4D97-AF65-F5344CB8AC3E}">
        <p14:creationId xmlns:p14="http://schemas.microsoft.com/office/powerpoint/2010/main" val="370797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sz="3100" b="1" dirty="0" smtClean="0"/>
              <a:t>Guidelines of a Minutes of Meeting:</a:t>
            </a:r>
            <a:br>
              <a:rPr lang="en-US" sz="3100" b="1" dirty="0" smtClean="0"/>
            </a:br>
            <a:r>
              <a:rPr lang="en-US" sz="3100" b="1" dirty="0" smtClean="0"/>
              <a:t>1. Heading</a:t>
            </a:r>
            <a:r>
              <a:rPr lang="en-US" sz="3100" dirty="0" smtClean="0"/>
              <a:t>&gt;Proper heading </a:t>
            </a:r>
            <a:br>
              <a:rPr lang="en-US" sz="3100" dirty="0" smtClean="0"/>
            </a:br>
            <a:r>
              <a:rPr lang="en-US" sz="3100" dirty="0" smtClean="0"/>
              <a:t>Type of meeting &gt; yearly/monthly</a:t>
            </a:r>
            <a:br>
              <a:rPr lang="en-US" sz="3100" dirty="0" smtClean="0"/>
            </a:br>
            <a:r>
              <a:rPr lang="en-US" sz="3100" dirty="0" smtClean="0"/>
              <a:t>Venue of the meeting </a:t>
            </a:r>
            <a:br>
              <a:rPr lang="en-US" sz="3100" dirty="0" smtClean="0"/>
            </a:br>
            <a:r>
              <a:rPr lang="en-US" sz="3100" dirty="0" smtClean="0"/>
              <a:t>Date of meeting </a:t>
            </a:r>
            <a:br>
              <a:rPr lang="en-US" sz="3100" dirty="0" smtClean="0"/>
            </a:br>
            <a:r>
              <a:rPr lang="en-US" sz="3100" dirty="0" smtClean="0"/>
              <a:t>Time of meeting </a:t>
            </a:r>
            <a:br>
              <a:rPr lang="en-US" sz="3100" dirty="0" smtClean="0"/>
            </a:br>
            <a:r>
              <a:rPr lang="en-US" sz="2800" b="1" dirty="0" smtClean="0"/>
              <a:t>2. Attendance at the meeting&gt;</a:t>
            </a:r>
            <a:br>
              <a:rPr lang="en-US" sz="2800" b="1" dirty="0" smtClean="0"/>
            </a:br>
            <a:r>
              <a:rPr lang="en-US" sz="2800" dirty="0" smtClean="0"/>
              <a:t>Present (list of members present)</a:t>
            </a:r>
            <a:br>
              <a:rPr lang="en-US" sz="2800" dirty="0" smtClean="0"/>
            </a:br>
            <a:r>
              <a:rPr lang="en-US" sz="2800" dirty="0" smtClean="0"/>
              <a:t>In attendance (list of persons not members who are in attendance at the meeting)</a:t>
            </a:r>
            <a:br>
              <a:rPr lang="en-US" sz="2800" dirty="0" smtClean="0"/>
            </a:br>
            <a:r>
              <a:rPr lang="en-US" sz="2800" dirty="0" smtClean="0"/>
              <a:t>Apologies (list of members that took permission to be absent)</a:t>
            </a:r>
            <a:br>
              <a:rPr lang="en-US" sz="2800" dirty="0" smtClean="0"/>
            </a:br>
            <a:r>
              <a:rPr lang="en-US" sz="2800" dirty="0" smtClean="0"/>
              <a:t>Absent(list of members absent without permission )</a:t>
            </a:r>
            <a:br>
              <a:rPr lang="en-US" sz="2800" dirty="0" smtClean="0"/>
            </a:br>
            <a:endParaRPr lang="en-US" sz="3100" b="1" dirty="0"/>
          </a:p>
        </p:txBody>
      </p:sp>
    </p:spTree>
    <p:extLst>
      <p:ext uri="{BB962C8B-B14F-4D97-AF65-F5344CB8AC3E}">
        <p14:creationId xmlns:p14="http://schemas.microsoft.com/office/powerpoint/2010/main" val="3353917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sz="3100" b="1" dirty="0" smtClean="0"/>
              <a:t>3. Opening Remarks/Prayers&gt; </a:t>
            </a:r>
            <a:r>
              <a:rPr lang="en-US" sz="3100" dirty="0" smtClean="0"/>
              <a:t>otherwise known as commencement.</a:t>
            </a:r>
            <a:br>
              <a:rPr lang="en-US" sz="3100" dirty="0" smtClean="0"/>
            </a:br>
            <a:r>
              <a:rPr lang="en-US" sz="3100" b="1" dirty="0" smtClean="0"/>
              <a:t>4. Adoption of Agenda</a:t>
            </a:r>
            <a:br>
              <a:rPr lang="en-US" sz="3100" b="1" dirty="0" smtClean="0"/>
            </a:br>
            <a:r>
              <a:rPr lang="en-US" sz="3100" b="1" dirty="0" smtClean="0"/>
              <a:t>5. Adoption of minutes of last meeting</a:t>
            </a:r>
            <a:br>
              <a:rPr lang="en-US" sz="3100" b="1" dirty="0" smtClean="0"/>
            </a:br>
            <a:r>
              <a:rPr lang="en-US" sz="3100" b="1" dirty="0" smtClean="0"/>
              <a:t>6. Matters Arising from the minute.</a:t>
            </a:r>
            <a:br>
              <a:rPr lang="en-US" sz="3100" b="1" dirty="0" smtClean="0"/>
            </a:br>
            <a:r>
              <a:rPr lang="en-US" sz="3100" dirty="0" smtClean="0"/>
              <a:t>Issues discussed; Reports; Resolutions</a:t>
            </a:r>
            <a:br>
              <a:rPr lang="en-US" sz="3100" dirty="0" smtClean="0"/>
            </a:br>
            <a:r>
              <a:rPr lang="en-US" sz="3100" b="1" dirty="0" smtClean="0"/>
              <a:t>7. Issues discussed following the Agenda</a:t>
            </a:r>
            <a:br>
              <a:rPr lang="en-US" sz="3100" b="1" dirty="0" smtClean="0"/>
            </a:br>
            <a:r>
              <a:rPr lang="en-US" sz="3100" dirty="0" smtClean="0"/>
              <a:t>Discussions on the issues in the agenda</a:t>
            </a:r>
            <a:br>
              <a:rPr lang="en-US" sz="3100" dirty="0" smtClean="0"/>
            </a:br>
            <a:r>
              <a:rPr lang="en-US" sz="3100" dirty="0" smtClean="0"/>
              <a:t>Itemized issues discussed &amp; resolutions reached on each.</a:t>
            </a:r>
            <a:br>
              <a:rPr lang="en-US" sz="3100" dirty="0" smtClean="0"/>
            </a:br>
            <a:r>
              <a:rPr lang="en-US" sz="3100" b="1" dirty="0" smtClean="0"/>
              <a:t>8.Any other business&gt;</a:t>
            </a:r>
            <a:br>
              <a:rPr lang="en-US" sz="3100" b="1" dirty="0" smtClean="0"/>
            </a:br>
            <a:r>
              <a:rPr lang="en-US" sz="3100" dirty="0" smtClean="0"/>
              <a:t>Other general issues discussed</a:t>
            </a:r>
            <a:br>
              <a:rPr lang="en-US" sz="3100" dirty="0" smtClean="0"/>
            </a:br>
            <a:r>
              <a:rPr lang="en-US" sz="3100" dirty="0" smtClean="0"/>
              <a:t>Resolutions on them.</a:t>
            </a:r>
            <a:br>
              <a:rPr lang="en-US" sz="3100" dirty="0" smtClean="0"/>
            </a:br>
            <a:r>
              <a:rPr lang="en-US" sz="3100" b="1" dirty="0" smtClean="0"/>
              <a:t>9.Conclusion</a:t>
            </a:r>
            <a:br>
              <a:rPr lang="en-US" sz="3100" b="1" dirty="0" smtClean="0"/>
            </a:br>
            <a:r>
              <a:rPr lang="en-US" sz="3100" b="1" dirty="0" smtClean="0"/>
              <a:t>10. Adjournment and closing remark/prayer(if any)&gt;</a:t>
            </a:r>
            <a:r>
              <a:rPr lang="en-US" sz="3100" dirty="0" smtClean="0"/>
              <a:t>this is usually encompassed under conclusion</a:t>
            </a:r>
            <a:br>
              <a:rPr lang="en-US" sz="3100" dirty="0" smtClean="0"/>
            </a:br>
            <a:r>
              <a:rPr lang="en-US" sz="3100" dirty="0" smtClean="0"/>
              <a:t/>
            </a:r>
            <a:br>
              <a:rPr lang="en-US" sz="3100" dirty="0" smtClean="0"/>
            </a:br>
            <a:r>
              <a:rPr lang="en-US" sz="9600" dirty="0" smtClean="0"/>
              <a:t/>
            </a:r>
            <a:br>
              <a:rPr lang="en-US" sz="9600" dirty="0" smtClean="0"/>
            </a:br>
            <a:endParaRPr lang="en-US" dirty="0"/>
          </a:p>
        </p:txBody>
      </p:sp>
    </p:spTree>
    <p:extLst>
      <p:ext uri="{BB962C8B-B14F-4D97-AF65-F5344CB8AC3E}">
        <p14:creationId xmlns:p14="http://schemas.microsoft.com/office/powerpoint/2010/main" val="232727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
            </a:r>
            <a:br>
              <a:rPr lang="en-US" sz="2800" b="1" dirty="0" smtClean="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smtClean="0"/>
              <a:t>11.Signature, names, designation of persons that made the minutes&gt;</a:t>
            </a:r>
            <a:r>
              <a:rPr lang="en-US" sz="2800" dirty="0" smtClean="0"/>
              <a:t>This is usually the Chairman and Secretary of the meeting.</a:t>
            </a:r>
            <a:br>
              <a:rPr lang="en-US" sz="2800" dirty="0" smtClean="0"/>
            </a:br>
            <a:r>
              <a:rPr lang="en-US" sz="2400" b="1" dirty="0" smtClean="0"/>
              <a:t>CURRICULUM VITAE</a:t>
            </a:r>
            <a:br>
              <a:rPr lang="en-US" sz="2400" b="1" dirty="0" smtClean="0"/>
            </a:br>
            <a:r>
              <a:rPr lang="en-US" sz="2400" dirty="0" smtClean="0"/>
              <a:t>This is an outline of one’s qualification and work experiences (educational and professional history) sent with an application for job. It’s a marketing document in which an individual markets himself.</a:t>
            </a:r>
            <a:br>
              <a:rPr lang="en-US" sz="2400" dirty="0" smtClean="0"/>
            </a:br>
            <a:r>
              <a:rPr lang="en-US" sz="2400" i="1" dirty="0" smtClean="0"/>
              <a:t>Resume </a:t>
            </a:r>
            <a:r>
              <a:rPr lang="en-US" sz="2400" dirty="0" smtClean="0"/>
              <a:t>provides a summary of your education, work history, credentials, and other accomplishments and skills. Typically, a resume is a one page document and could sometime be two. its more concise and precise than a  CV.</a:t>
            </a:r>
            <a:br>
              <a:rPr lang="en-US" sz="2400" dirty="0" smtClean="0"/>
            </a:br>
            <a:r>
              <a:rPr lang="en-US" sz="2400" dirty="0" smtClean="0"/>
              <a:t>There are three major differences between a CV and a</a:t>
            </a:r>
            <a:r>
              <a:rPr lang="en-US" sz="2400" i="1" dirty="0" smtClean="0"/>
              <a:t> resume</a:t>
            </a:r>
            <a:br>
              <a:rPr lang="en-US" sz="2400" i="1" dirty="0" smtClean="0"/>
            </a:br>
            <a:r>
              <a:rPr lang="en-US" sz="2400" dirty="0" smtClean="0"/>
              <a:t>The length, the purpose and the layout.</a:t>
            </a:r>
            <a:br>
              <a:rPr lang="en-US" sz="2400" dirty="0" smtClean="0"/>
            </a:br>
            <a:r>
              <a:rPr lang="en-US" sz="2400" dirty="0" smtClean="0"/>
              <a:t>Though used interchangeably but </a:t>
            </a:r>
            <a:r>
              <a:rPr lang="en-US" sz="2400" dirty="0" err="1" smtClean="0"/>
              <a:t>Cvs</a:t>
            </a:r>
            <a:r>
              <a:rPr lang="en-US" sz="2400" dirty="0" smtClean="0"/>
              <a:t> are used mostly when applying for contracts, advance research or post secondary teaching positions while a resume is used for work search. </a:t>
            </a:r>
            <a:br>
              <a:rPr lang="en-US" sz="2400" dirty="0" smtClean="0"/>
            </a:br>
            <a:r>
              <a:rPr lang="en-US" sz="2400" dirty="0" smtClean="0"/>
              <a:t> </a:t>
            </a:r>
            <a:r>
              <a:rPr lang="en-US" sz="2400" i="1" dirty="0" smtClean="0"/>
              <a:t/>
            </a:r>
            <a:br>
              <a:rPr lang="en-US" sz="2400" i="1" dirty="0" smtClean="0"/>
            </a:br>
            <a:r>
              <a:rPr lang="en-US" sz="2800" dirty="0" smtClean="0"/>
              <a:t/>
            </a:r>
            <a:br>
              <a:rPr lang="en-US" sz="2800" dirty="0" smtClean="0"/>
            </a:br>
            <a:endParaRPr lang="en-US" sz="2800" dirty="0"/>
          </a:p>
        </p:txBody>
      </p:sp>
    </p:spTree>
    <p:extLst>
      <p:ext uri="{BB962C8B-B14F-4D97-AF65-F5344CB8AC3E}">
        <p14:creationId xmlns:p14="http://schemas.microsoft.com/office/powerpoint/2010/main" val="4208979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Guidelines to creating a CV/</a:t>
            </a:r>
            <a:r>
              <a:rPr lang="en-US" sz="2800" b="1" i="1" dirty="0" smtClean="0"/>
              <a:t>resume</a:t>
            </a:r>
            <a:br>
              <a:rPr lang="en-US" sz="2800" b="1" i="1" dirty="0" smtClean="0"/>
            </a:br>
            <a:r>
              <a:rPr lang="en-US" sz="3100" b="1" dirty="0" smtClean="0"/>
              <a:t>1.PERSONAL DATA</a:t>
            </a:r>
            <a:br>
              <a:rPr lang="en-US" sz="3100" b="1" dirty="0" smtClean="0"/>
            </a:br>
            <a:r>
              <a:rPr lang="en-US" sz="3100" dirty="0" smtClean="0"/>
              <a:t>Name</a:t>
            </a:r>
            <a:br>
              <a:rPr lang="en-US" sz="3100" dirty="0" smtClean="0"/>
            </a:br>
            <a:r>
              <a:rPr lang="en-US" sz="3100" dirty="0" smtClean="0"/>
              <a:t>Date of birth</a:t>
            </a:r>
            <a:br>
              <a:rPr lang="en-US" sz="3100" dirty="0" smtClean="0"/>
            </a:br>
            <a:r>
              <a:rPr lang="en-US" sz="3100" dirty="0" smtClean="0"/>
              <a:t>Place of birth </a:t>
            </a:r>
            <a:br>
              <a:rPr lang="en-US" sz="3100" dirty="0" smtClean="0"/>
            </a:br>
            <a:r>
              <a:rPr lang="en-US" sz="3100" dirty="0" smtClean="0"/>
              <a:t>State of Origin</a:t>
            </a:r>
            <a:br>
              <a:rPr lang="en-US" sz="3100" dirty="0" smtClean="0"/>
            </a:br>
            <a:r>
              <a:rPr lang="en-US" sz="3100" dirty="0" smtClean="0"/>
              <a:t>Local Government Area</a:t>
            </a:r>
            <a:br>
              <a:rPr lang="en-US" sz="3100" dirty="0" smtClean="0"/>
            </a:br>
            <a:r>
              <a:rPr lang="en-US" sz="3100" dirty="0" smtClean="0"/>
              <a:t>Home town</a:t>
            </a:r>
            <a:br>
              <a:rPr lang="en-US" sz="3100" dirty="0" smtClean="0"/>
            </a:br>
            <a:r>
              <a:rPr lang="en-US" sz="3100" dirty="0" smtClean="0"/>
              <a:t>Nationality</a:t>
            </a:r>
            <a:br>
              <a:rPr lang="en-US" sz="3100" dirty="0" smtClean="0"/>
            </a:br>
            <a:r>
              <a:rPr lang="en-US" sz="3100" dirty="0" smtClean="0"/>
              <a:t>Sex</a:t>
            </a:r>
            <a:br>
              <a:rPr lang="en-US" sz="3100" dirty="0" smtClean="0"/>
            </a:br>
            <a:r>
              <a:rPr lang="en-US" sz="3100" dirty="0" smtClean="0"/>
              <a:t>Marital status</a:t>
            </a:r>
            <a:br>
              <a:rPr lang="en-US" sz="3100" dirty="0" smtClean="0"/>
            </a:br>
            <a:r>
              <a:rPr lang="en-US" sz="3100" dirty="0" smtClean="0"/>
              <a:t>Contact address&gt;home or permanent.</a:t>
            </a:r>
            <a:br>
              <a:rPr lang="en-US" sz="3100" dirty="0" smtClean="0"/>
            </a:br>
            <a:r>
              <a:rPr lang="en-US" sz="3100" dirty="0" smtClean="0"/>
              <a:t>Contact phone </a:t>
            </a:r>
            <a:r>
              <a:rPr lang="en-US" sz="3100" dirty="0" err="1" smtClean="0"/>
              <a:t>nos</a:t>
            </a:r>
            <a:r>
              <a:rPr lang="en-US" sz="3100" dirty="0" smtClean="0"/>
              <a:t> &amp; email address </a:t>
            </a:r>
            <a:br>
              <a:rPr lang="en-US" sz="3100" dirty="0" smtClean="0"/>
            </a:br>
            <a:r>
              <a:rPr lang="en-US" sz="2800" dirty="0" smtClean="0"/>
              <a:t/>
            </a:r>
            <a:br>
              <a:rPr lang="en-US" sz="2800" dirty="0" smtClean="0"/>
            </a:br>
            <a:endParaRPr lang="en-US" sz="2800" b="1" dirty="0"/>
          </a:p>
        </p:txBody>
      </p:sp>
    </p:spTree>
    <p:extLst>
      <p:ext uri="{BB962C8B-B14F-4D97-AF65-F5344CB8AC3E}">
        <p14:creationId xmlns:p14="http://schemas.microsoft.com/office/powerpoint/2010/main" val="2183841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3100" dirty="0" smtClean="0"/>
              <a:t>2. </a:t>
            </a:r>
            <a:r>
              <a:rPr lang="en-US" sz="3100" b="1" dirty="0" smtClean="0"/>
              <a:t>EDUCATIONAL BACKGROUND; </a:t>
            </a:r>
            <a:br>
              <a:rPr lang="en-US" sz="3100" b="1" dirty="0" smtClean="0"/>
            </a:br>
            <a:r>
              <a:rPr lang="en-US" sz="3100" b="1" dirty="0" smtClean="0"/>
              <a:t>A. Schools/institutions Attended with dates</a:t>
            </a:r>
            <a:br>
              <a:rPr lang="en-US" sz="3100" b="1" dirty="0" smtClean="0"/>
            </a:br>
            <a:r>
              <a:rPr lang="en-US" sz="3100" dirty="0" smtClean="0"/>
              <a:t>States the names of the schools attended and </a:t>
            </a:r>
            <a:br>
              <a:rPr lang="en-US" sz="3100" dirty="0" smtClean="0"/>
            </a:br>
            <a:r>
              <a:rPr lang="en-US" sz="3100" dirty="0" smtClean="0"/>
              <a:t>The period of time that they were attended.</a:t>
            </a:r>
            <a:br>
              <a:rPr lang="en-US" sz="3100" dirty="0" smtClean="0"/>
            </a:br>
            <a:r>
              <a:rPr lang="en-US" sz="3100" b="1" dirty="0" smtClean="0"/>
              <a:t>B. Educational Qualification obtained with Classes and Dates;</a:t>
            </a:r>
            <a:br>
              <a:rPr lang="en-US" sz="3100" b="1" dirty="0" smtClean="0"/>
            </a:br>
            <a:r>
              <a:rPr lang="en-US" sz="3100" dirty="0" smtClean="0"/>
              <a:t>Certificates obtained </a:t>
            </a:r>
            <a:br>
              <a:rPr lang="en-US" sz="3100" dirty="0" smtClean="0"/>
            </a:br>
            <a:r>
              <a:rPr lang="en-US" sz="3100" dirty="0" smtClean="0"/>
              <a:t>Classes obtained in each of them</a:t>
            </a:r>
            <a:br>
              <a:rPr lang="en-US" sz="3100" dirty="0" smtClean="0"/>
            </a:br>
            <a:r>
              <a:rPr lang="en-US" sz="3100" dirty="0" smtClean="0"/>
              <a:t>Dates that they were issued </a:t>
            </a:r>
            <a:r>
              <a:rPr lang="en-US" sz="3100" b="1" dirty="0" smtClean="0"/>
              <a:t> </a:t>
            </a:r>
            <a:r>
              <a:rPr lang="en-US" sz="3100" dirty="0" smtClean="0"/>
              <a:t/>
            </a:r>
            <a:br>
              <a:rPr lang="en-US" sz="3100" dirty="0" smtClean="0"/>
            </a:br>
            <a:endParaRPr lang="en-US" sz="3100" dirty="0"/>
          </a:p>
        </p:txBody>
      </p:sp>
    </p:spTree>
    <p:extLst>
      <p:ext uri="{BB962C8B-B14F-4D97-AF65-F5344CB8AC3E}">
        <p14:creationId xmlns:p14="http://schemas.microsoft.com/office/powerpoint/2010/main" val="1888736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
            </a:r>
            <a:br>
              <a:rPr lang="en-US" sz="2800" b="1" dirty="0" smtClean="0"/>
            </a:br>
            <a:r>
              <a:rPr lang="en-US" sz="2800" b="1" dirty="0"/>
              <a:t/>
            </a:r>
            <a:br>
              <a:rPr lang="en-US" sz="2800" b="1" dirty="0"/>
            </a:br>
            <a:r>
              <a:rPr lang="en-US" sz="2800" b="1" dirty="0" smtClean="0"/>
              <a:t>C. Academic Achievement:</a:t>
            </a:r>
            <a:br>
              <a:rPr lang="en-US" sz="2800" b="1" dirty="0" smtClean="0"/>
            </a:br>
            <a:r>
              <a:rPr lang="en-US" sz="2800" dirty="0" smtClean="0"/>
              <a:t>Any award won in the course of educational exploits should be stated under this.</a:t>
            </a:r>
            <a:br>
              <a:rPr lang="en-US" sz="2800" dirty="0" smtClean="0"/>
            </a:br>
            <a:r>
              <a:rPr lang="en-US" sz="2800" b="1" dirty="0" smtClean="0"/>
              <a:t>3. WORK EXPERIENCE ACQUIRED;</a:t>
            </a:r>
            <a:br>
              <a:rPr lang="en-US" sz="2800" b="1" dirty="0" smtClean="0"/>
            </a:br>
            <a:r>
              <a:rPr lang="en-US" sz="2800" b="1" dirty="0" smtClean="0"/>
              <a:t>Previous and present work Experiences;</a:t>
            </a:r>
            <a:br>
              <a:rPr lang="en-US" sz="2800" b="1" dirty="0" smtClean="0"/>
            </a:br>
            <a:r>
              <a:rPr lang="en-US" sz="2800" dirty="0" smtClean="0"/>
              <a:t>Name and address of the employer</a:t>
            </a:r>
            <a:br>
              <a:rPr lang="en-US" sz="2800" dirty="0" smtClean="0"/>
            </a:br>
            <a:r>
              <a:rPr lang="en-US" sz="2800" dirty="0" smtClean="0"/>
              <a:t>Job description</a:t>
            </a:r>
            <a:br>
              <a:rPr lang="en-US" sz="2800" dirty="0" smtClean="0"/>
            </a:br>
            <a:r>
              <a:rPr lang="en-US" sz="2800" dirty="0" smtClean="0"/>
              <a:t>Period of employment with the employer</a:t>
            </a:r>
            <a:br>
              <a:rPr lang="en-US" sz="2800" dirty="0" smtClean="0"/>
            </a:br>
            <a:r>
              <a:rPr lang="en-US" sz="2800" dirty="0" smtClean="0"/>
              <a:t>Reason for leaving (if past)</a:t>
            </a:r>
            <a:br>
              <a:rPr lang="en-US" sz="2800" dirty="0" smtClean="0"/>
            </a:br>
            <a:endParaRPr lang="en-US" sz="2800" dirty="0"/>
          </a:p>
        </p:txBody>
      </p:sp>
    </p:spTree>
    <p:extLst>
      <p:ext uri="{BB962C8B-B14F-4D97-AF65-F5344CB8AC3E}">
        <p14:creationId xmlns:p14="http://schemas.microsoft.com/office/powerpoint/2010/main" val="4068251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sz="3100" b="1" dirty="0" smtClean="0"/>
              <a:t>B. Cognate Experience;</a:t>
            </a:r>
            <a:br>
              <a:rPr lang="en-US" sz="3100" b="1" dirty="0" smtClean="0"/>
            </a:br>
            <a:r>
              <a:rPr lang="en-US" sz="3100" dirty="0" smtClean="0"/>
              <a:t>Assignment carried out and </a:t>
            </a:r>
            <a:br>
              <a:rPr lang="en-US" sz="3100" dirty="0" smtClean="0"/>
            </a:br>
            <a:r>
              <a:rPr lang="en-US" sz="3100" dirty="0" smtClean="0"/>
              <a:t>Summary of job schedule</a:t>
            </a:r>
            <a:br>
              <a:rPr lang="en-US" sz="3100" dirty="0" smtClean="0"/>
            </a:br>
            <a:r>
              <a:rPr lang="en-US" sz="3100" b="1" dirty="0" smtClean="0"/>
              <a:t>C. Areas of specialization </a:t>
            </a:r>
            <a:r>
              <a:rPr lang="en-US" sz="3100" dirty="0" smtClean="0"/>
              <a:t>(if any)</a:t>
            </a:r>
            <a:r>
              <a:rPr lang="en-US" sz="3100" b="1" dirty="0" smtClean="0"/>
              <a:t> </a:t>
            </a:r>
            <a:br>
              <a:rPr lang="en-US" sz="3100" b="1" dirty="0" smtClean="0"/>
            </a:br>
            <a:r>
              <a:rPr lang="en-US" sz="3100" dirty="0" smtClean="0"/>
              <a:t>Any specific area which the applicant is gaining </a:t>
            </a:r>
            <a:r>
              <a:rPr lang="en-US" sz="3100" dirty="0" err="1" smtClean="0"/>
              <a:t>expetise</a:t>
            </a:r>
            <a:r>
              <a:rPr lang="en-US" sz="3100" dirty="0" smtClean="0"/>
              <a:t> should be stated.</a:t>
            </a:r>
            <a:br>
              <a:rPr lang="en-US" sz="3100" dirty="0" smtClean="0"/>
            </a:br>
            <a:r>
              <a:rPr lang="en-US" sz="3100" dirty="0" smtClean="0"/>
              <a:t>4</a:t>
            </a:r>
            <a:r>
              <a:rPr lang="en-US" sz="3100" b="1" dirty="0" smtClean="0"/>
              <a:t>. ADDITIONAL PROFESSIONAL QUALIFICATION</a:t>
            </a:r>
            <a:br>
              <a:rPr lang="en-US" sz="3100" b="1" dirty="0" smtClean="0"/>
            </a:br>
            <a:r>
              <a:rPr lang="en-US" sz="3100" b="1" dirty="0" smtClean="0"/>
              <a:t>5.MEMBERSHIP OF PROFESSIONAL BODIES (IF ANY)</a:t>
            </a:r>
            <a:br>
              <a:rPr lang="en-US" sz="3100" b="1" dirty="0" smtClean="0"/>
            </a:br>
            <a:r>
              <a:rPr lang="en-US" sz="3100" b="1" dirty="0" smtClean="0"/>
              <a:t>6. LEADERSHIP POSITION HELD</a:t>
            </a:r>
            <a:br>
              <a:rPr lang="en-US" sz="3100" b="1" dirty="0" smtClean="0"/>
            </a:br>
            <a:r>
              <a:rPr lang="en-US" sz="3100" b="1" dirty="0" smtClean="0"/>
              <a:t>7. HOBBIES.</a:t>
            </a:r>
            <a:br>
              <a:rPr lang="en-US" sz="3100" b="1" dirty="0" smtClean="0"/>
            </a:br>
            <a:r>
              <a:rPr lang="en-US" sz="3100" b="1" dirty="0" smtClean="0"/>
              <a:t>8. REFEREES</a:t>
            </a:r>
            <a:br>
              <a:rPr lang="en-US" sz="3100" b="1" dirty="0" smtClean="0"/>
            </a:br>
            <a:r>
              <a:rPr lang="en-US" sz="3100" b="1" dirty="0" smtClean="0"/>
              <a:t>9. SIGNATURE AND DATE.</a:t>
            </a:r>
            <a:br>
              <a:rPr lang="en-US" sz="3100" b="1" dirty="0" smtClean="0"/>
            </a:br>
            <a:r>
              <a:rPr lang="en-US" sz="3100" dirty="0" smtClean="0"/>
              <a:t>The applicant should pick out only those that are applicable to him/her.</a:t>
            </a:r>
            <a:br>
              <a:rPr lang="en-US" sz="3100" dirty="0" smtClean="0"/>
            </a:br>
            <a:r>
              <a:rPr lang="en-US" sz="3100" b="1" dirty="0" smtClean="0"/>
              <a:t> </a:t>
            </a:r>
            <a:br>
              <a:rPr lang="en-US" sz="3100" b="1" dirty="0" smtClean="0"/>
            </a:br>
            <a:endParaRPr lang="en-US" sz="3100" dirty="0"/>
          </a:p>
        </p:txBody>
      </p:sp>
    </p:spTree>
    <p:extLst>
      <p:ext uri="{BB962C8B-B14F-4D97-AF65-F5344CB8AC3E}">
        <p14:creationId xmlns:p14="http://schemas.microsoft.com/office/powerpoint/2010/main" val="176297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
            </a:r>
            <a:br>
              <a:rPr lang="en-GB" sz="2800" b="1" dirty="0" smtClean="0"/>
            </a:br>
            <a:r>
              <a:rPr lang="en-GB" sz="2800" b="1" dirty="0"/>
              <a:t/>
            </a:r>
            <a:br>
              <a:rPr lang="en-GB" sz="2800" b="1" dirty="0"/>
            </a:br>
            <a:r>
              <a:rPr lang="en-GB" sz="2800" b="1" dirty="0" smtClean="0"/>
              <a:t>OFFICE MEMORANDUM:</a:t>
            </a:r>
            <a:br>
              <a:rPr lang="en-GB" sz="2800" b="1" dirty="0" smtClean="0"/>
            </a:br>
            <a:r>
              <a:rPr lang="en-US" sz="2800" dirty="0" smtClean="0"/>
              <a:t>This is a written communication between staff in a medium or large law firms and other business organization.</a:t>
            </a:r>
            <a:br>
              <a:rPr lang="en-US" sz="2800" dirty="0" smtClean="0"/>
            </a:br>
            <a:r>
              <a:rPr lang="en-US" sz="2800" dirty="0" smtClean="0"/>
              <a:t>It is a legal document that should be written in a professional manner&gt; can be used as evidence in court.</a:t>
            </a:r>
            <a:br>
              <a:rPr lang="en-US" sz="2800" dirty="0" smtClean="0"/>
            </a:br>
            <a:r>
              <a:rPr lang="en-US" sz="2800" b="1" dirty="0" smtClean="0"/>
              <a:t>GUIDELINES FOR DRAFTING AN OFFICE MEMORANDUM</a:t>
            </a:r>
            <a:br>
              <a:rPr lang="en-US" sz="2800" b="1" dirty="0" smtClean="0"/>
            </a:br>
            <a:r>
              <a:rPr lang="en-US" sz="2400" dirty="0" smtClean="0"/>
              <a:t>TO      (designation of)</a:t>
            </a:r>
            <a:br>
              <a:rPr lang="en-US" sz="2400" dirty="0" smtClean="0"/>
            </a:br>
            <a:r>
              <a:rPr lang="en-US" sz="2400" dirty="0" smtClean="0"/>
              <a:t>FROM (designation of writer)</a:t>
            </a:r>
            <a:br>
              <a:rPr lang="en-US" sz="2400" dirty="0" smtClean="0"/>
            </a:br>
            <a:r>
              <a:rPr lang="en-US" sz="2400" dirty="0" smtClean="0"/>
              <a:t>DATE   (date is made)</a:t>
            </a:r>
            <a:br>
              <a:rPr lang="en-US" sz="2400" dirty="0" smtClean="0"/>
            </a:br>
            <a:r>
              <a:rPr lang="en-US" sz="2400" dirty="0" smtClean="0"/>
              <a:t>SUBJECT (subject matter)</a:t>
            </a:r>
            <a:br>
              <a:rPr lang="en-US" sz="2400" dirty="0" smtClean="0"/>
            </a:br>
            <a:r>
              <a:rPr lang="en-US" sz="2400" dirty="0" smtClean="0"/>
              <a:t>Body of the Memo</a:t>
            </a:r>
            <a:br>
              <a:rPr lang="en-US" sz="2400" dirty="0" smtClean="0"/>
            </a:br>
            <a:r>
              <a:rPr lang="en-US" sz="2400" dirty="0" smtClean="0"/>
              <a:t>Statement of the problem</a:t>
            </a:r>
            <a:br>
              <a:rPr lang="en-US" sz="2400" dirty="0" smtClean="0"/>
            </a:br>
            <a:r>
              <a:rPr lang="en-US" sz="2400" dirty="0" smtClean="0"/>
              <a:t>Discussion on why the problem exists</a:t>
            </a:r>
            <a:br>
              <a:rPr lang="en-US" sz="2400" dirty="0" smtClean="0"/>
            </a:br>
            <a:r>
              <a:rPr lang="en-US" sz="2400" dirty="0" smtClean="0"/>
              <a:t>Suggest course of action </a:t>
            </a:r>
            <a:br>
              <a:rPr lang="en-US" sz="2400" dirty="0" smtClean="0"/>
            </a:br>
            <a:r>
              <a:rPr lang="en-US" sz="2400" dirty="0" smtClean="0"/>
              <a:t>Conclusion statement</a:t>
            </a:r>
            <a:br>
              <a:rPr lang="en-US" sz="2400" dirty="0" smtClean="0"/>
            </a:br>
            <a:r>
              <a:rPr lang="en-US" sz="2400" dirty="0" smtClean="0"/>
              <a:t>Signature/initial, name and designation of the maker </a:t>
            </a:r>
            <a:br>
              <a:rPr lang="en-US" sz="2400" dirty="0" smtClean="0"/>
            </a:br>
            <a:r>
              <a:rPr lang="en-US" sz="2400" dirty="0" smtClean="0"/>
              <a:t>List of recipient of the memo.</a:t>
            </a:r>
            <a:br>
              <a:rPr lang="en-US" sz="2400" dirty="0" smtClean="0"/>
            </a:br>
            <a:r>
              <a:rPr lang="en-US" sz="2800" dirty="0" smtClean="0"/>
              <a:t/>
            </a:r>
            <a:br>
              <a:rPr lang="en-US" sz="2800" dirty="0" smtClean="0"/>
            </a:br>
            <a:endParaRPr lang="en-US" sz="2800" b="1" dirty="0"/>
          </a:p>
        </p:txBody>
      </p:sp>
    </p:spTree>
    <p:extLst>
      <p:ext uri="{BB962C8B-B14F-4D97-AF65-F5344CB8AC3E}">
        <p14:creationId xmlns:p14="http://schemas.microsoft.com/office/powerpoint/2010/main" val="2518171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sz="3100" b="1" dirty="0" smtClean="0"/>
              <a:t>LEGAL OPINION:</a:t>
            </a:r>
            <a:r>
              <a:rPr lang="en-US" sz="3100" dirty="0" smtClean="0"/>
              <a:t/>
            </a:r>
            <a:br>
              <a:rPr lang="en-US" sz="3100" dirty="0" smtClean="0"/>
            </a:br>
            <a:r>
              <a:rPr lang="en-US" sz="2800" dirty="0" smtClean="0"/>
              <a:t>A legal opinion is a written statement by a court, judicial officer or legal expert as to the legality or illegality of an action, condition or intent.  </a:t>
            </a:r>
            <a:br>
              <a:rPr lang="en-US" sz="2800" dirty="0" smtClean="0"/>
            </a:br>
            <a:r>
              <a:rPr lang="en-US" sz="2800" b="1" dirty="0" smtClean="0"/>
              <a:t>LAYOUT OF LEGAL OPINION;</a:t>
            </a:r>
            <a:r>
              <a:rPr lang="en-US" sz="2800" dirty="0" smtClean="0"/>
              <a:t/>
            </a:r>
            <a:br>
              <a:rPr lang="en-US" sz="2800" dirty="0" smtClean="0"/>
            </a:br>
            <a:r>
              <a:rPr lang="en-US" sz="2800" b="1" dirty="0" smtClean="0"/>
              <a:t>Subject matter</a:t>
            </a:r>
            <a:r>
              <a:rPr lang="en-US" sz="2800" dirty="0" smtClean="0"/>
              <a:t>&gt; question for opinion is stated clearly.</a:t>
            </a:r>
            <a:br>
              <a:rPr lang="en-US" sz="2800" dirty="0" smtClean="0"/>
            </a:br>
            <a:r>
              <a:rPr lang="en-US" sz="2800" b="1" dirty="0" smtClean="0"/>
              <a:t>State the facts</a:t>
            </a:r>
            <a:r>
              <a:rPr lang="en-US" sz="2800" dirty="0" smtClean="0"/>
              <a:t>&gt; in a manner, as to bring out the materials for answering the question</a:t>
            </a:r>
            <a:br>
              <a:rPr lang="en-US" sz="2800" dirty="0" smtClean="0"/>
            </a:br>
            <a:r>
              <a:rPr lang="en-US" sz="2800" b="1" dirty="0" smtClean="0"/>
              <a:t>Analysis </a:t>
            </a:r>
            <a:r>
              <a:rPr lang="en-US" sz="2800" dirty="0" smtClean="0"/>
              <a:t> &gt; on which opinion depends; Set out the laws applicable;</a:t>
            </a:r>
            <a:r>
              <a:rPr lang="en-US" sz="2800" dirty="0"/>
              <a:t> </a:t>
            </a:r>
            <a:r>
              <a:rPr lang="en-US" sz="2800" dirty="0" smtClean="0"/>
              <a:t>Set out conditions that should exist for answer to question to be negative or </a:t>
            </a:r>
            <a:r>
              <a:rPr lang="en-US" sz="2800" dirty="0" err="1" smtClean="0"/>
              <a:t>positive.State</a:t>
            </a:r>
            <a:r>
              <a:rPr lang="en-US" sz="2800" dirty="0" smtClean="0"/>
              <a:t> the actual stand of the client according to law.</a:t>
            </a:r>
            <a:br>
              <a:rPr lang="en-US" sz="2800" dirty="0" smtClean="0"/>
            </a:br>
            <a:r>
              <a:rPr lang="en-US" sz="2800" b="1" dirty="0" smtClean="0"/>
              <a:t>Opinion Proper&gt; </a:t>
            </a:r>
            <a:r>
              <a:rPr lang="en-US" sz="2800" dirty="0" smtClean="0"/>
              <a:t>answer to the question; Try to answer with a monosyllabic  yes or no referring to paragraph number and facts sections justifying the opinion.</a:t>
            </a:r>
            <a:br>
              <a:rPr lang="en-US" sz="2800" dirty="0" smtClean="0"/>
            </a:br>
            <a:r>
              <a:rPr lang="en-US" sz="2800" dirty="0" smtClean="0"/>
              <a:t>Answer should be as short as possible. If question is “why…..” must explain with reference to facts and analysis.</a:t>
            </a:r>
            <a:br>
              <a:rPr lang="en-US" sz="2800" dirty="0" smtClean="0"/>
            </a:br>
            <a:r>
              <a:rPr lang="en-US" sz="2800" dirty="0" smtClean="0"/>
              <a:t/>
            </a:r>
            <a:br>
              <a:rPr lang="en-US" sz="2800" dirty="0" smtClean="0"/>
            </a:br>
            <a:r>
              <a:rPr lang="en-US" sz="2800" dirty="0" smtClean="0"/>
              <a:t/>
            </a:r>
            <a:br>
              <a:rPr lang="en-US" sz="2800" dirty="0" smtClean="0"/>
            </a:br>
            <a:endParaRPr lang="en-US" sz="3100" dirty="0"/>
          </a:p>
        </p:txBody>
      </p:sp>
    </p:spTree>
    <p:extLst>
      <p:ext uri="{BB962C8B-B14F-4D97-AF65-F5344CB8AC3E}">
        <p14:creationId xmlns:p14="http://schemas.microsoft.com/office/powerpoint/2010/main" val="2127048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3100" b="1" dirty="0" smtClean="0"/>
              <a:t>User disclaimer&gt; </a:t>
            </a:r>
            <a:r>
              <a:rPr lang="en-US" sz="3100" dirty="0" smtClean="0"/>
              <a:t>the fact that opinion is based on;</a:t>
            </a:r>
            <a:br>
              <a:rPr lang="en-US" sz="3100" dirty="0" smtClean="0"/>
            </a:br>
            <a:r>
              <a:rPr lang="en-US" sz="3100" dirty="0" smtClean="0"/>
              <a:t>Law as it stands and that date and Facts available to you;</a:t>
            </a:r>
            <a:r>
              <a:rPr lang="en-US" sz="3100" dirty="0"/>
              <a:t> </a:t>
            </a:r>
            <a:r>
              <a:rPr lang="en-US" sz="3100" dirty="0" smtClean="0"/>
              <a:t>Can list documents supplied to you</a:t>
            </a:r>
            <a:r>
              <a:rPr lang="en-US" sz="3100" b="1" dirty="0" smtClean="0"/>
              <a:t/>
            </a:r>
            <a:br>
              <a:rPr lang="en-US" sz="3100" b="1" dirty="0" smtClean="0"/>
            </a:br>
            <a:r>
              <a:rPr lang="en-US" sz="3100" b="1" dirty="0" smtClean="0"/>
              <a:t>RULES TO OBSERVE;</a:t>
            </a:r>
            <a:br>
              <a:rPr lang="en-US" sz="3100" b="1" dirty="0" smtClean="0"/>
            </a:br>
            <a:r>
              <a:rPr lang="en-US" sz="3100" dirty="0" smtClean="0"/>
              <a:t>Aids to clearness and accuracy&gt; capitalization, punctuation marks, </a:t>
            </a:r>
            <a:r>
              <a:rPr lang="en-US" sz="3100" dirty="0" err="1" smtClean="0"/>
              <a:t>etc</a:t>
            </a:r>
            <a:r>
              <a:rPr lang="en-US" sz="3100" dirty="0" smtClean="0"/>
              <a:t/>
            </a:r>
            <a:br>
              <a:rPr lang="en-US" sz="3100" dirty="0" smtClean="0"/>
            </a:br>
            <a:r>
              <a:rPr lang="en-US" sz="3100" dirty="0" smtClean="0"/>
              <a:t>Sentence structure &gt;short and simple</a:t>
            </a:r>
            <a:br>
              <a:rPr lang="en-US" sz="3100" dirty="0" smtClean="0"/>
            </a:br>
            <a:r>
              <a:rPr lang="en-US" sz="3100" dirty="0" smtClean="0"/>
              <a:t>Habits to avoid&gt; verbosity, archaic words, </a:t>
            </a:r>
            <a:r>
              <a:rPr lang="en-US" sz="3100" dirty="0" err="1" smtClean="0"/>
              <a:t>etc</a:t>
            </a:r>
            <a:r>
              <a:rPr lang="en-US" sz="3100" b="1" dirty="0" smtClean="0"/>
              <a:t/>
            </a:r>
            <a:br>
              <a:rPr lang="en-US" sz="3100" b="1" dirty="0" smtClean="0"/>
            </a:br>
            <a:r>
              <a:rPr lang="en-US" sz="3100" b="1" dirty="0" smtClean="0"/>
              <a:t>METHOD OF DRAFTING LEGAL OPINION</a:t>
            </a:r>
            <a:br>
              <a:rPr lang="en-US" sz="3100" b="1" dirty="0" smtClean="0"/>
            </a:br>
            <a:r>
              <a:rPr lang="en-US" sz="3100" dirty="0" smtClean="0"/>
              <a:t>The method to be adopted in drafting LO depends on who it is meant for.</a:t>
            </a:r>
            <a:br>
              <a:rPr lang="en-US" sz="3100" dirty="0" smtClean="0"/>
            </a:br>
            <a:r>
              <a:rPr lang="en-US" sz="3100" dirty="0" smtClean="0"/>
              <a:t>Thus, a legal opinion can be drafted as;</a:t>
            </a:r>
            <a:br>
              <a:rPr lang="en-US" sz="3100" dirty="0" smtClean="0"/>
            </a:br>
            <a:r>
              <a:rPr lang="en-US" sz="3100" dirty="0" smtClean="0"/>
              <a:t>A letter &gt; example is where a client requires a legal opinion.</a:t>
            </a:r>
            <a:br>
              <a:rPr lang="en-US" sz="3100" dirty="0" smtClean="0"/>
            </a:br>
            <a:r>
              <a:rPr lang="en-US" sz="3100" dirty="0" smtClean="0"/>
              <a:t>A memorandum&gt; example is where a boss in the office requires a legal opinion. </a:t>
            </a:r>
            <a:br>
              <a:rPr lang="en-US" sz="3100" dirty="0" smtClean="0"/>
            </a:br>
            <a:r>
              <a:rPr lang="en-US" dirty="0" smtClean="0"/>
              <a:t/>
            </a:r>
            <a:br>
              <a:rPr lang="en-US" dirty="0" smtClean="0"/>
            </a:br>
            <a:endParaRPr lang="en-US" dirty="0"/>
          </a:p>
        </p:txBody>
      </p:sp>
    </p:spTree>
    <p:extLst>
      <p:ext uri="{BB962C8B-B14F-4D97-AF65-F5344CB8AC3E}">
        <p14:creationId xmlns:p14="http://schemas.microsoft.com/office/powerpoint/2010/main" val="802445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3100" b="1" dirty="0" smtClean="0"/>
              <a:t>CHECK LIST FOR DRAFTING</a:t>
            </a:r>
            <a:br>
              <a:rPr lang="en-US" sz="3100" b="1" dirty="0" smtClean="0"/>
            </a:br>
            <a:r>
              <a:rPr lang="en-US" sz="3100" dirty="0" smtClean="0"/>
              <a:t>If addressed to client, it should be in laymen’s English</a:t>
            </a:r>
            <a:br>
              <a:rPr lang="en-US" sz="3100" dirty="0" smtClean="0"/>
            </a:br>
            <a:r>
              <a:rPr lang="en-US" sz="3100" dirty="0" smtClean="0"/>
              <a:t>Should have subject matter</a:t>
            </a:r>
            <a:br>
              <a:rPr lang="en-US" sz="3100" dirty="0" smtClean="0"/>
            </a:br>
            <a:r>
              <a:rPr lang="en-US" sz="3100" dirty="0" smtClean="0"/>
              <a:t>Clearly define the topic in the introduction&gt;the question on which the opinion is being sought.</a:t>
            </a:r>
            <a:br>
              <a:rPr lang="en-US" sz="3100" dirty="0" smtClean="0"/>
            </a:br>
            <a:r>
              <a:rPr lang="en-US" sz="3100" dirty="0" smtClean="0"/>
              <a:t>Should be numbered in paragraphs for easy referencing.</a:t>
            </a:r>
            <a:br>
              <a:rPr lang="en-US" sz="3100" dirty="0" smtClean="0"/>
            </a:br>
            <a:r>
              <a:rPr lang="en-US" sz="3100" dirty="0" smtClean="0"/>
              <a:t>Ensure you have ideas to back up your opinion.</a:t>
            </a:r>
            <a:r>
              <a:rPr lang="en-US" dirty="0" smtClean="0"/>
              <a:t> </a:t>
            </a:r>
            <a:br>
              <a:rPr lang="en-US" dirty="0" smtClean="0"/>
            </a:br>
            <a:endParaRPr lang="en-US" dirty="0"/>
          </a:p>
        </p:txBody>
      </p:sp>
    </p:spTree>
    <p:extLst>
      <p:ext uri="{BB962C8B-B14F-4D97-AF65-F5344CB8AC3E}">
        <p14:creationId xmlns:p14="http://schemas.microsoft.com/office/powerpoint/2010/main" val="548944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0</Words>
  <Application>Microsoft Office PowerPoint</Application>
  <PresentationFormat>On-screen Show (4:3)</PresentationFormat>
  <Paragraphs>20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DRAFTING II: LETTER WRITING; MINUTES OF MEETINGS; OFFICE MEMORANDUM; CURRICULUM VITAE AND LEGAL OPINION </vt:lpstr>
      <vt:lpstr>                Demonstrate the structure of different types         of legal instruments. All legal instruments are legal documents but not all legal documents are legal instrument.  Legal instruments defines and  transfers rights, interest and title and sometimes made under seal of the court such as a judgment of the court, while some legal documents do not. TYPES OF LETTERS We have two basic types of letters 1. informal /social letter  such as letter to a friend, parent etc  2. Formal/ official/business letter. Such as Application letter, letter of offer and acceptance, Demand letter etc.     </vt:lpstr>
      <vt:lpstr>               OFFICIAL LETTERS THAT A LAWYER CAN WRITE INCLUDES; TYPES OF FORMAL        DOCUMENTS  Status letters- report of current position of a matter; Confirming /Instruction Letters- reaffirms oral discussion, e.g Oral instruction. Opinion Letters-this offers legal advice/opinion to a client. Demand letters-request recipient to perform an obligation it owes the writer. Letter of adjournment – request the court to adjourn a matter, giving reasons for lawyers inability to attend court. Letter of Complaint-e.g Petition , Nuisance Letter of offer/Acceptance-of contract, conveying clients offer to 3rd party; or acceptance of 3rd party’s offer for client. Letter closing a client’s case file- conveying to a client that his/ her matter has been concluded and case file closed.  </vt:lpstr>
      <vt:lpstr>                PARTS OF A LETTER: LETTER HEADED- it contains; the name of the law firm, Address of the office, Telephone number and fax number (if any) and other information that the legal practitioner deems necessary. DATE- the date on which the letter is written. Insert if column is on letter headed paper in the order&gt; day, month(in words) and  year, E.g 27th November 2018 REFERENCE NUMBER-should be two. i.e Our ref: and Your ref: Useful for filing and cross referencing. WRITERS ADDRESS;  If printed on letter headed paper, no need to write it. If not, it should be written on the right hand side of the letter. ADDRESSEE’S NAME &amp; ADDRESS-this is written at the left hand side of the letter      </vt:lpstr>
      <vt:lpstr>                ATTENTION-needed where it is intended that a particular person should handle the letter.  CONFIDENTIAL-used where the letter is only for the eyes of the person to whom it is addressed. PERSONAL- used where the letter is sent to the person not in his official capacity, so as no other person should read it. SALUTATION-written in two ways  The general form- Dear Sir/Madam, Dear Sir, Dear Madam. If there is familiarity between parties, Dear Mr Xxx or Dear Mrs Yyy  SUBJECT MATTER- captures the subject of the letter Written in sentence capitalization Should be highlighted Should be concise and precise. This is also called the heading of the letter.   </vt:lpstr>
      <vt:lpstr>               BODY OF THE LETTER- contains:  Opening-introduction or acknowledgement. Main part-brief facts of the matter necessitating the letter and action expected from recipient. Closing part- intended actions of lawyer if expectations are not met. COMPLIMENTARY CLOSURE-depend on the salutation; if “Dear Sir/Madam”etc, then “Yours faithfully”  If “Dear Mr/Mrs Xxx then “Yours sincerely” or Yours “truly” SIGNATURE AND NAME OF WRITER-  Writer to sign on top of his/her name Wrong to sign in the name of a law firm without the person’s name. see SCC (Nig. Ltd) v Ekenma(2009) When signing on behalf of someone, indicate by adding “for” or “PP” before the signature.  </vt:lpstr>
      <vt:lpstr>          ENCLOSURE- written ‘ENCL’  list of documents attached to the letter is made under this at the end of the letter. COPIES- here; State names and addresses of other persons to who copies of letter is sent to Short form is “CC” NOTE “BC” It sometimes contains certain statements not in the original letter. ‘subject to contract’ and ‘without prejudice’ in a letter: These are called terms of negotiation in a letter. These statements are made under privilege.  They are covered by S. 26 EA. Used by parties when negotiating. Such documents are generally not admissible in evidence.   </vt:lpstr>
      <vt:lpstr>         Subject to Contract;  when used, parties are not bound by the terms of the negotiation until a formal contract is entered into and executed. Use of term would be of no effect where parties have concluded negotiation. See UBA v Tejumola &amp; sons(1988) The effect is a matter of construction.   Without Prejudice –  Makes the document not admissible in evidence against the maker. Exception is where the maker expressly waived this right.  Need no be stated in a document, as can be inferred from party’s conducts.  </vt:lpstr>
      <vt:lpstr>         Ingredients of a good letter: Good English; Spelling; Punctuation marks; Be courteous, purposeful and firm; Avoid over familiarity; Brevity; Coherent. MINUTES OF MEETINGS. Minutes of meeting is a written summary of things discussed in a meeting. TIPS FOR EFFECTVE MINUTE WRITING; Know the purpose  Keep it concise Get the right information and follow the right format Keep a record. Use simple language Proof read your work </vt:lpstr>
      <vt:lpstr>        Guidelines of a Minutes of Meeting: 1. Heading&gt;Proper heading  Type of meeting &gt; yearly/monthly Venue of the meeting  Date of meeting  Time of meeting  2. Attendance at the meeting&gt; Present (list of members present) In attendance (list of persons not members who are in attendance at the meeting) Apologies (list of members that took permission to be absent) Absent(list of members absent without permission ) </vt:lpstr>
      <vt:lpstr>            3. Opening Remarks/Prayers&gt; otherwise known as commencement. 4. Adoption of Agenda 5. Adoption of minutes of last meeting 6. Matters Arising from the minute. Issues discussed; Reports; Resolutions 7. Issues discussed following the Agenda Discussions on the issues in the agenda Itemized issues discussed &amp; resolutions reached on each. 8.Any other business&gt; Other general issues discussed Resolutions on them. 9.Conclusion 10. Adjournment and closing remark/prayer(if any)&gt;this is usually encompassed under conclusion   </vt:lpstr>
      <vt:lpstr>                 11.Signature, names, designation of persons that made the minutes&gt;This is usually the Chairman and Secretary of the meeting. CURRICULUM VITAE This is an outline of one’s qualification and work experiences (educational and professional history) sent with an application for job. It’s a marketing document in which an individual markets himself. Resume provides a summary of your education, work history, credentials, and other accomplishments and skills. Typically, a resume is a one page document and could sometime be two. its more concise and precise than a  CV. There are three major differences between a CV and a resume The length, the purpose and the layout. Though used interchangeably but Cvs are used mostly when applying for contracts, advance research or post secondary teaching positions while a resume is used for work search.     </vt:lpstr>
      <vt:lpstr>                Guidelines to creating a CV/resume 1.PERSONAL DATA Name Date of birth Place of birth  State of Origin Local Government Area Home town Nationality Sex Marital status Contact address&gt;home or permanent. Contact phone nos &amp; email address   </vt:lpstr>
      <vt:lpstr>           2. EDUCATIONAL BACKGROUND;  A. Schools/institutions Attended with dates States the names of the schools attended and  The period of time that they were attended. B. Educational Qualification obtained with Classes and Dates; Certificates obtained  Classes obtained in each of them Dates that they were issued   </vt:lpstr>
      <vt:lpstr>          C. Academic Achievement: Any award won in the course of educational exploits should be stated under this. 3. WORK EXPERIENCE ACQUIRED; Previous and present work Experiences; Name and address of the employer Job description Period of employment with the employer Reason for leaving (if past) </vt:lpstr>
      <vt:lpstr>          B. Cognate Experience; Assignment carried out and  Summary of job schedule C. Areas of specialization (if any)  Any specific area which the applicant is gaining expetise should be stated. 4. ADDITIONAL PROFESSIONAL QUALIFICATION 5.MEMBERSHIP OF PROFESSIONAL BODIES (IF ANY) 6. LEADERSHIP POSITION HELD 7. HOBBIES. 8. REFEREES 9. SIGNATURE AND DATE. The applicant should pick out only those that are applicable to him/her.   </vt:lpstr>
      <vt:lpstr>               OFFICE MEMORANDUM: This is a written communication between staff in a medium or large law firms and other business organization. It is a legal document that should be written in a professional manner&gt; can be used as evidence in court. GUIDELINES FOR DRAFTING AN OFFICE MEMORANDUM TO      (designation of) FROM (designation of writer) DATE   (date is made) SUBJECT (subject matter) Body of the Memo Statement of the problem Discussion on why the problem exists Suggest course of action  Conclusion statement Signature/initial, name and designation of the maker  List of recipient of the memo.  </vt:lpstr>
      <vt:lpstr>           LEGAL OPINION: A legal opinion is a written statement by a court, judicial officer or legal expert as to the legality or illegality of an action, condition or intent.   LAYOUT OF LEGAL OPINION; Subject matter&gt; question for opinion is stated clearly. State the facts&gt; in a manner, as to bring out the materials for answering the question Analysis  &gt; on which opinion depends; Set out the laws applicable; Set out conditions that should exist for answer to question to be negative or positive.State the actual stand of the client according to law. Opinion Proper&gt; answer to the question; Try to answer with a monosyllabic  yes or no referring to paragraph number and facts sections justifying the opinion. Answer should be as short as possible. If question is “why…..” must explain with reference to facts and analysis.   </vt:lpstr>
      <vt:lpstr>          User disclaimer&gt; the fact that opinion is based on; Law as it stands and that date and Facts available to you; Can list documents supplied to you RULES TO OBSERVE; Aids to clearness and accuracy&gt; capitalization, punctuation marks, etc Sentence structure &gt;short and simple Habits to avoid&gt; verbosity, archaic words, etc METHOD OF DRAFTING LEGAL OPINION The method to be adopted in drafting LO depends on who it is meant for. Thus, a legal opinion can be drafted as; A letter &gt; example is where a client requires a legal opinion. A memorandum&gt; example is where a boss in the office requires a legal opinion.   </vt:lpstr>
      <vt:lpstr>          CHECK LIST FOR DRAFTING If addressed to client, it should be in laymen’s English Should have subject matter Clearly define the topic in the introduction&gt;the question on which the opinion is being sought. Should be numbered in paragraphs for easy referencing. Ensure you have ideas to back up your opinion.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DRAFTING II: LETTER WRITING; MINUTES OF MEETINGS; OFFICE MEMORANDUM; CURRICULUM VITAE AND LEGAL OPINION </dc:title>
  <dc:creator>YUSUF TAOFIK</dc:creator>
  <cp:lastModifiedBy>YUSUF TAOFIK</cp:lastModifiedBy>
  <cp:revision>24</cp:revision>
  <dcterms:created xsi:type="dcterms:W3CDTF">2025-04-28T18:15:33Z</dcterms:created>
  <dcterms:modified xsi:type="dcterms:W3CDTF">2025-04-28T19:28:31Z</dcterms:modified>
</cp:coreProperties>
</file>