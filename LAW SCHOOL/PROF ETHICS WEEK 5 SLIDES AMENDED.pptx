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6" r:id="rId4"/>
    <p:sldId id="279" r:id="rId5"/>
    <p:sldId id="282" r:id="rId6"/>
    <p:sldId id="286" r:id="rId7"/>
    <p:sldId id="264" r:id="rId8"/>
    <p:sldId id="265" r:id="rId9"/>
    <p:sldId id="266" r:id="rId10"/>
    <p:sldId id="295" r:id="rId11"/>
    <p:sldId id="267" r:id="rId12"/>
    <p:sldId id="284" r:id="rId13"/>
    <p:sldId id="269" r:id="rId14"/>
    <p:sldId id="289" r:id="rId15"/>
    <p:sldId id="290" r:id="rId16"/>
    <p:sldId id="291" r:id="rId17"/>
    <p:sldId id="270" r:id="rId18"/>
    <p:sldId id="271" r:id="rId19"/>
    <p:sldId id="275" r:id="rId20"/>
    <p:sldId id="273" r:id="rId21"/>
    <p:sldId id="293" r:id="rId22"/>
    <p:sldId id="29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4993" autoAdjust="0"/>
    <p:restoredTop sz="94660"/>
  </p:normalViewPr>
  <p:slideViewPr>
    <p:cSldViewPr snapToGrid="0" showGuides="1">
      <p:cViewPr varScale="1">
        <p:scale>
          <a:sx n="73" d="100"/>
          <a:sy n="73" d="100"/>
        </p:scale>
        <p:origin x="-624" y="-10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CCB59C81-A887-47BB-A379-B1C029EAD3B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CB59C81-A887-47BB-A379-B1C029EAD3B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CCB59C81-A887-47BB-A379-B1C029EAD3B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CCB59C81-A887-47BB-A379-B1C029EAD3B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CCB59C81-A887-47BB-A379-B1C029EAD3BF}"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CCB59C81-A887-47BB-A379-B1C029EAD3BF}"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CB59C81-A887-47BB-A379-B1C029EAD3BF}"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CCB59C81-A887-47BB-A379-B1C029EAD3B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CCB59C81-A887-47BB-A379-B1C029EAD3BF}"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CB59C81-A887-47BB-A379-B1C029EAD3B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CCB59C81-A887-47BB-A379-B1C029EAD3BF}"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2B6F92-6E1C-448C-AEC4-C6CBF538E2A1}"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B59C81-A887-47BB-A379-B1C029EAD3BF}"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2B6F92-6E1C-448C-AEC4-C6CBF538E2A1}"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br>
              <a:rPr lang="en-US" dirty="0" smtClean="0">
                <a:solidFill>
                  <a:srgbClr val="000000"/>
                </a:solidFill>
                <a:latin typeface="Calibri" panose="020F0502020204030204" pitchFamily="34" charset="0"/>
              </a:rPr>
            </a:br>
            <a:br>
              <a:rPr lang="en-US" dirty="0">
                <a:solidFill>
                  <a:srgbClr val="000000"/>
                </a:solidFill>
                <a:latin typeface="Calibri" panose="020F0502020204030204" pitchFamily="34" charset="0"/>
              </a:rPr>
            </a:br>
            <a:br>
              <a:rPr lang="en-US" dirty="0" smtClean="0">
                <a:solidFill>
                  <a:srgbClr val="000000"/>
                </a:solidFill>
                <a:latin typeface="Calibri" panose="020F0502020204030204" pitchFamily="34" charset="0"/>
              </a:rPr>
            </a:br>
            <a:br>
              <a:rPr lang="en-US" dirty="0" smtClean="0"/>
            </a:br>
            <a:br>
              <a:rPr lang="en-US" dirty="0" smtClean="0"/>
            </a:br>
            <a:r>
              <a:rPr lang="en-US" dirty="0" smtClean="0">
                <a:solidFill>
                  <a:srgbClr val="000000"/>
                </a:solidFill>
                <a:latin typeface="Calibri" panose="020F0502020204030204" pitchFamily="34" charset="0"/>
              </a:rPr>
              <a:t>LAWYER’S DUTIES TO CLIENT</a:t>
            </a:r>
            <a:br>
              <a:rPr lang="en-US" dirty="0" smtClean="0"/>
            </a:br>
            <a:endParaRPr lang="en-US" dirty="0"/>
          </a:p>
        </p:txBody>
      </p:sp>
      <p:sp>
        <p:nvSpPr>
          <p:cNvPr id="3" name="Subtitle 2"/>
          <p:cNvSpPr>
            <a:spLocks noGrp="1"/>
          </p:cNvSpPr>
          <p:nvPr>
            <p:ph type="subTitle" idx="1"/>
          </p:nvPr>
        </p:nvSpPr>
        <p:spPr/>
        <p:txBody>
          <a:bodyPr>
            <a:normAutofit/>
          </a:bodyPr>
          <a:lstStyle/>
          <a:p>
            <a:r>
              <a:rPr lang="en-US" sz="4000" b="1" dirty="0" smtClean="0"/>
              <a:t>WEEK 5</a:t>
            </a:r>
            <a:endParaRPr lang="en-US" sz="40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000000"/>
                </a:solidFill>
                <a:latin typeface="Calibri" panose="020F0502020204030204" pitchFamily="34" charset="0"/>
              </a:rPr>
              <a:t>PRIVILEGE AND CONFIDENCE OF</a:t>
            </a:r>
            <a:br>
              <a:rPr lang="en-US" b="1" dirty="0" smtClean="0">
                <a:solidFill>
                  <a:srgbClr val="000000"/>
                </a:solidFill>
                <a:latin typeface="Calibri" panose="020F0502020204030204" pitchFamily="34" charset="0"/>
              </a:rPr>
            </a:br>
            <a:r>
              <a:rPr lang="en-US" b="1" dirty="0" smtClean="0">
                <a:solidFill>
                  <a:srgbClr val="000000"/>
                </a:solidFill>
                <a:latin typeface="Calibri" panose="020F0502020204030204" pitchFamily="34" charset="0"/>
              </a:rPr>
              <a:t>THE CLIENT</a:t>
            </a:r>
            <a:endParaRPr lang="en-US" b="1" dirty="0"/>
          </a:p>
        </p:txBody>
      </p:sp>
      <p:sp>
        <p:nvSpPr>
          <p:cNvPr id="3" name="Content Placeholder 2"/>
          <p:cNvSpPr>
            <a:spLocks noGrp="1"/>
          </p:cNvSpPr>
          <p:nvPr>
            <p:ph idx="1"/>
          </p:nvPr>
        </p:nvSpPr>
        <p:spPr/>
        <p:txBody>
          <a:bodyPr>
            <a:noAutofit/>
          </a:bodyPr>
          <a:lstStyle/>
          <a:p>
            <a:r>
              <a:rPr lang="en-US" sz="3000" dirty="0" smtClean="0">
                <a:solidFill>
                  <a:srgbClr val="000000"/>
                </a:solidFill>
                <a:latin typeface="Calibri" panose="020F0502020204030204" pitchFamily="34" charset="0"/>
              </a:rPr>
              <a:t>A Lawyer has a duty to preserve the confidence of his client.</a:t>
            </a:r>
            <a:endParaRPr lang="en-US" sz="3000" dirty="0" smtClean="0">
              <a:solidFill>
                <a:srgbClr val="000000"/>
              </a:solidFill>
              <a:latin typeface="Calibri" panose="020F0502020204030204" pitchFamily="34" charset="0"/>
            </a:endParaRPr>
          </a:p>
          <a:p>
            <a:r>
              <a:rPr lang="en-US" sz="3000" dirty="0" smtClean="0">
                <a:solidFill>
                  <a:srgbClr val="000000"/>
                </a:solidFill>
                <a:latin typeface="Calibri" panose="020F0502020204030204" pitchFamily="34" charset="0"/>
              </a:rPr>
              <a:t>All communications made to a Lawyer by his client in the course of the employment are privileged.</a:t>
            </a:r>
            <a:endParaRPr lang="en-US" sz="3000" dirty="0" smtClean="0">
              <a:solidFill>
                <a:srgbClr val="000000"/>
              </a:solidFill>
              <a:latin typeface="Calibri" panose="020F0502020204030204" pitchFamily="34" charset="0"/>
            </a:endParaRPr>
          </a:p>
          <a:p>
            <a:r>
              <a:rPr lang="en-US" sz="3000" dirty="0" smtClean="0">
                <a:solidFill>
                  <a:srgbClr val="000000"/>
                </a:solidFill>
                <a:latin typeface="Calibri" panose="020F0502020204030204" pitchFamily="34" charset="0"/>
              </a:rPr>
              <a:t>A Lawyer must not use such privilege information to his own advantage, the advantage of a 3</a:t>
            </a:r>
            <a:r>
              <a:rPr lang="en-US" sz="3000" baseline="30000" dirty="0" smtClean="0">
                <a:solidFill>
                  <a:srgbClr val="000000"/>
                </a:solidFill>
                <a:latin typeface="Calibri" panose="020F0502020204030204" pitchFamily="34" charset="0"/>
              </a:rPr>
              <a:t>rd</a:t>
            </a:r>
            <a:r>
              <a:rPr lang="en-US" sz="3000" dirty="0" smtClean="0">
                <a:solidFill>
                  <a:srgbClr val="000000"/>
                </a:solidFill>
                <a:latin typeface="Calibri" panose="020F0502020204030204" pitchFamily="34" charset="0"/>
              </a:rPr>
              <a:t> party or the disadvantage of the client. See Rule </a:t>
            </a:r>
            <a:r>
              <a:rPr lang="en-US" sz="3000" dirty="0" smtClean="0">
                <a:solidFill>
                  <a:srgbClr val="000000"/>
                </a:solidFill>
                <a:latin typeface="Calibri" panose="020F0502020204030204" pitchFamily="34" charset="0"/>
              </a:rPr>
              <a:t>19 RPC and Section 192 of the Evidence Act.</a:t>
            </a:r>
            <a:endParaRPr lang="en-US" sz="3000" dirty="0" smtClean="0">
              <a:solidFill>
                <a:srgbClr val="000000"/>
              </a:solidFill>
              <a:latin typeface="Calibri" panose="020F0502020204030204" pitchFamily="34" charset="0"/>
            </a:endParaRPr>
          </a:p>
          <a:p>
            <a:r>
              <a:rPr lang="en-US" sz="3000" dirty="0" smtClean="0">
                <a:solidFill>
                  <a:srgbClr val="000000"/>
                </a:solidFill>
                <a:latin typeface="Calibri" panose="020F0502020204030204" pitchFamily="34" charset="0"/>
              </a:rPr>
              <a:t>Note the exceptions under Rule 19(2) </a:t>
            </a:r>
            <a:r>
              <a:rPr lang="en-US" sz="3000" dirty="0" smtClean="0">
                <a:solidFill>
                  <a:srgbClr val="000000"/>
                </a:solidFill>
                <a:latin typeface="Calibri" panose="020F0502020204030204" pitchFamily="34" charset="0"/>
              </a:rPr>
              <a:t>RPC and </a:t>
            </a:r>
            <a:r>
              <a:rPr lang="en-US" sz="3000" dirty="0" smtClean="0">
                <a:solidFill>
                  <a:srgbClr val="000000"/>
                </a:solidFill>
                <a:latin typeface="Calibri" panose="020F0502020204030204" pitchFamily="34" charset="0"/>
              </a:rPr>
              <a:t>Section 192 (1) of the Evidence Act. See also Dr Charles </a:t>
            </a:r>
            <a:r>
              <a:rPr lang="en-US" sz="3000" dirty="0" err="1" smtClean="0">
                <a:solidFill>
                  <a:srgbClr val="000000"/>
                </a:solidFill>
                <a:latin typeface="Calibri" panose="020F0502020204030204" pitchFamily="34" charset="0"/>
              </a:rPr>
              <a:t>Dumbiri</a:t>
            </a:r>
            <a:r>
              <a:rPr lang="en-US" sz="3000" dirty="0" smtClean="0">
                <a:solidFill>
                  <a:srgbClr val="000000"/>
                </a:solidFill>
                <a:latin typeface="Calibri" panose="020F0502020204030204" pitchFamily="34" charset="0"/>
              </a:rPr>
              <a:t> </a:t>
            </a:r>
            <a:r>
              <a:rPr lang="en-US" sz="3000" dirty="0" err="1" smtClean="0">
                <a:solidFill>
                  <a:srgbClr val="000000"/>
                </a:solidFill>
                <a:latin typeface="Calibri" panose="020F0502020204030204" pitchFamily="34" charset="0"/>
              </a:rPr>
              <a:t>Mekwunye</a:t>
            </a:r>
            <a:r>
              <a:rPr lang="en-US" sz="3000" dirty="0" smtClean="0">
                <a:solidFill>
                  <a:srgbClr val="000000"/>
                </a:solidFill>
                <a:latin typeface="Calibri" panose="020F0502020204030204" pitchFamily="34" charset="0"/>
              </a:rPr>
              <a:t> </a:t>
            </a:r>
            <a:r>
              <a:rPr lang="en-US" sz="3000" dirty="0" smtClean="0">
                <a:solidFill>
                  <a:srgbClr val="000000"/>
                </a:solidFill>
                <a:latin typeface="Calibri" panose="020F0502020204030204" pitchFamily="34" charset="0"/>
              </a:rPr>
              <a:t>v </a:t>
            </a:r>
            <a:r>
              <a:rPr lang="en-US" sz="3000" dirty="0" smtClean="0">
                <a:solidFill>
                  <a:srgbClr val="000000"/>
                </a:solidFill>
                <a:latin typeface="Calibri" panose="020F0502020204030204" pitchFamily="34" charset="0"/>
              </a:rPr>
              <a:t>Carnation Registrars Ltd &amp; </a:t>
            </a:r>
            <a:r>
              <a:rPr lang="en-US" sz="3000" dirty="0" err="1" smtClean="0">
                <a:solidFill>
                  <a:srgbClr val="000000"/>
                </a:solidFill>
                <a:latin typeface="Calibri" panose="020F0502020204030204" pitchFamily="34" charset="0"/>
              </a:rPr>
              <a:t>Anor</a:t>
            </a:r>
            <a:r>
              <a:rPr lang="en-US" sz="3000" dirty="0" smtClean="0">
                <a:solidFill>
                  <a:srgbClr val="000000"/>
                </a:solidFill>
                <a:latin typeface="Calibri" panose="020F0502020204030204" pitchFamily="34" charset="0"/>
              </a:rPr>
              <a:t> (2021) 15 NWLR pt 1798 p. 1</a:t>
            </a:r>
            <a:endParaRPr lang="en-US" sz="3000" dirty="0" smtClean="0">
              <a:solidFill>
                <a:srgbClr val="000000"/>
              </a:solidFill>
              <a:latin typeface="Calibri" panose="020F0502020204030204" pitchFamily="34" charset="0"/>
            </a:endParaRPr>
          </a:p>
          <a:p>
            <a:r>
              <a:rPr lang="en-US" sz="3000" dirty="0" smtClean="0">
                <a:solidFill>
                  <a:srgbClr val="000000"/>
                </a:solidFill>
                <a:latin typeface="Calibri" panose="020F0502020204030204" pitchFamily="34" charset="0"/>
              </a:rPr>
              <a:t>See Rule 19(4) RPC &amp; S 193 EA for the scope of persons to whom the rule extends.</a:t>
            </a:r>
            <a:br>
              <a:rPr lang="en-US" sz="3000" dirty="0">
                <a:solidFill>
                  <a:srgbClr val="000000"/>
                </a:solidFill>
                <a:latin typeface="Calibri" panose="020F0502020204030204" pitchFamily="34" charset="0"/>
              </a:rPr>
            </a:br>
            <a:endParaRPr lang="en-US" sz="3000" dirty="0"/>
          </a:p>
          <a:p>
            <a:endParaRPr lang="en-US" sz="3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solidFill>
                  <a:srgbClr val="000000"/>
                </a:solidFill>
                <a:latin typeface="Calibri" panose="020F0502020204030204" pitchFamily="34" charset="0"/>
              </a:rPr>
              <a:t>LAWYER AS WITNESS FOR A CLIENT</a:t>
            </a:r>
            <a:endParaRPr lang="en-US" b="1" dirty="0"/>
          </a:p>
        </p:txBody>
      </p:sp>
      <p:sp>
        <p:nvSpPr>
          <p:cNvPr id="3" name="Content Placeholder 2"/>
          <p:cNvSpPr>
            <a:spLocks noGrp="1"/>
          </p:cNvSpPr>
          <p:nvPr>
            <p:ph idx="1"/>
          </p:nvPr>
        </p:nvSpPr>
        <p:spPr>
          <a:xfrm>
            <a:off x="838199" y="1531345"/>
            <a:ext cx="10663411" cy="5111826"/>
          </a:xfrm>
        </p:spPr>
        <p:txBody>
          <a:bodyPr>
            <a:normAutofit/>
          </a:bodyPr>
          <a:lstStyle/>
          <a:p>
            <a:pPr marL="0" indent="0"/>
            <a:r>
              <a:rPr lang="en-US" sz="4000" dirty="0" smtClean="0">
                <a:solidFill>
                  <a:srgbClr val="000000"/>
                </a:solidFill>
              </a:rPr>
              <a:t>A Lawyer must not accept to act for a client if he or any other Lawyer in his firm will be required to give evidence in the case. See Rule </a:t>
            </a:r>
            <a:r>
              <a:rPr lang="en-US" sz="4000" dirty="0" smtClean="0">
                <a:solidFill>
                  <a:srgbClr val="000000"/>
                </a:solidFill>
              </a:rPr>
              <a:t>20(1) of </a:t>
            </a:r>
            <a:r>
              <a:rPr lang="en-US" sz="4000" dirty="0" smtClean="0">
                <a:solidFill>
                  <a:srgbClr val="000000"/>
                </a:solidFill>
              </a:rPr>
              <a:t>RPC</a:t>
            </a:r>
            <a:endParaRPr lang="en-US" sz="4000" dirty="0" smtClean="0">
              <a:solidFill>
                <a:srgbClr val="000000"/>
              </a:solidFill>
            </a:endParaRPr>
          </a:p>
          <a:p>
            <a:pPr marL="0" indent="0">
              <a:buNone/>
            </a:pPr>
            <a:endParaRPr lang="en-US" sz="4000" dirty="0" smtClean="0">
              <a:solidFill>
                <a:srgbClr val="000000"/>
              </a:solidFill>
            </a:endParaRPr>
          </a:p>
          <a:p>
            <a:pPr marL="0" indent="0"/>
            <a:r>
              <a:rPr lang="en-US" sz="4000" dirty="0" smtClean="0">
                <a:solidFill>
                  <a:srgbClr val="000000"/>
                </a:solidFill>
              </a:rPr>
              <a:t>Note </a:t>
            </a:r>
            <a:r>
              <a:rPr lang="en-US" sz="4000" dirty="0" smtClean="0">
                <a:solidFill>
                  <a:srgbClr val="000000"/>
                </a:solidFill>
              </a:rPr>
              <a:t>the exceptions under Rule 20 (2</a:t>
            </a:r>
            <a:r>
              <a:rPr lang="en-US" sz="4000" dirty="0" smtClean="0">
                <a:solidFill>
                  <a:srgbClr val="000000"/>
                </a:solidFill>
              </a:rPr>
              <a:t>) (a)-(d)</a:t>
            </a:r>
            <a:br>
              <a:rPr lang="en-US" sz="4000" dirty="0" smtClean="0">
                <a:solidFill>
                  <a:srgbClr val="000000"/>
                </a:solidFill>
              </a:rPr>
            </a:br>
            <a:endParaRPr lang="en-US" sz="40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32202"/>
            <a:ext cx="10515600" cy="1421176"/>
          </a:xfrm>
        </p:spPr>
        <p:txBody>
          <a:bodyPr>
            <a:normAutofit/>
          </a:bodyPr>
          <a:lstStyle/>
          <a:p>
            <a:pPr algn="ctr"/>
            <a:r>
              <a:rPr lang="en-US" b="1" dirty="0" smtClean="0">
                <a:solidFill>
                  <a:srgbClr val="000000"/>
                </a:solidFill>
                <a:latin typeface="Calibri" panose="020F0502020204030204" pitchFamily="34" charset="0"/>
              </a:rPr>
              <a:t>WITHDRAWAL FROM EMPLOYMENT</a:t>
            </a:r>
            <a:br>
              <a:rPr lang="en-US" b="1" dirty="0" smtClean="0">
                <a:solidFill>
                  <a:srgbClr val="000000"/>
                </a:solidFill>
                <a:latin typeface="Calibri" panose="020F0502020204030204" pitchFamily="34" charset="0"/>
              </a:rPr>
            </a:br>
            <a:endParaRPr lang="en-US" b="1" dirty="0"/>
          </a:p>
        </p:txBody>
      </p:sp>
      <p:sp>
        <p:nvSpPr>
          <p:cNvPr id="3" name="Content Placeholder 2"/>
          <p:cNvSpPr>
            <a:spLocks noGrp="1"/>
          </p:cNvSpPr>
          <p:nvPr>
            <p:ph idx="1"/>
          </p:nvPr>
        </p:nvSpPr>
        <p:spPr>
          <a:xfrm>
            <a:off x="488414" y="1311006"/>
            <a:ext cx="11215171" cy="5332166"/>
          </a:xfrm>
        </p:spPr>
        <p:txBody>
          <a:bodyPr>
            <a:noAutofit/>
          </a:bodyPr>
          <a:lstStyle/>
          <a:p>
            <a:pPr marL="0" indent="0">
              <a:buNone/>
            </a:pPr>
            <a:r>
              <a:rPr lang="en-US" sz="4400" dirty="0" smtClean="0">
                <a:solidFill>
                  <a:srgbClr val="000000"/>
                </a:solidFill>
              </a:rPr>
              <a:t>•Once a Lawyer is engaged to handle a matter he shall not withdraw from such matter except for a good cause. See R </a:t>
            </a:r>
            <a:r>
              <a:rPr lang="en-US" sz="4400" dirty="0" smtClean="0">
                <a:solidFill>
                  <a:srgbClr val="000000"/>
                </a:solidFill>
              </a:rPr>
              <a:t>21(1) </a:t>
            </a:r>
            <a:r>
              <a:rPr lang="en-US" sz="4400" dirty="0" smtClean="0">
                <a:solidFill>
                  <a:srgbClr val="000000"/>
                </a:solidFill>
              </a:rPr>
              <a:t>RPC.</a:t>
            </a:r>
            <a:endParaRPr lang="en-US" sz="4400" dirty="0" smtClean="0">
              <a:solidFill>
                <a:srgbClr val="000000"/>
              </a:solidFill>
            </a:endParaRPr>
          </a:p>
          <a:p>
            <a:pPr marL="0" indent="0"/>
            <a:r>
              <a:rPr lang="en-US" sz="4400" dirty="0" smtClean="0">
                <a:solidFill>
                  <a:srgbClr val="000000"/>
                </a:solidFill>
              </a:rPr>
              <a:t>The good cause for </a:t>
            </a:r>
            <a:r>
              <a:rPr lang="en-US" sz="4400" dirty="0" smtClean="0">
                <a:solidFill>
                  <a:srgbClr val="000000"/>
                </a:solidFill>
              </a:rPr>
              <a:t>which a Lawyer may withdraw from employment include:</a:t>
            </a:r>
            <a:endParaRPr lang="en-US" sz="4400" dirty="0" smtClean="0">
              <a:solidFill>
                <a:srgbClr val="000000"/>
              </a:solidFill>
            </a:endParaRPr>
          </a:p>
          <a:p>
            <a:pPr marL="0" indent="0">
              <a:buFont typeface="Wingdings" panose="05000000000000000000" pitchFamily="2" charset="2"/>
              <a:buChar char="Ø"/>
            </a:pPr>
            <a:r>
              <a:rPr lang="en-US" sz="4400" dirty="0" smtClean="0">
                <a:solidFill>
                  <a:srgbClr val="000000"/>
                </a:solidFill>
              </a:rPr>
              <a:t>Where there is a conflict </a:t>
            </a:r>
            <a:r>
              <a:rPr lang="en-US" sz="4400" dirty="0" smtClean="0">
                <a:solidFill>
                  <a:srgbClr val="000000"/>
                </a:solidFill>
              </a:rPr>
              <a:t>of interest </a:t>
            </a:r>
            <a:r>
              <a:rPr lang="en-US" sz="4400" dirty="0" smtClean="0">
                <a:solidFill>
                  <a:srgbClr val="000000"/>
                </a:solidFill>
              </a:rPr>
              <a:t>between the Lawyer and his client.</a:t>
            </a:r>
            <a:endParaRPr lang="en-US" sz="4400" dirty="0" smtClean="0">
              <a:solidFill>
                <a:srgbClr val="000000"/>
              </a:solidFill>
            </a:endParaRPr>
          </a:p>
          <a:p>
            <a:pPr marL="0" indent="0">
              <a:buNone/>
            </a:pPr>
            <a:br>
              <a:rPr lang="en-US" sz="4400" dirty="0" smtClean="0">
                <a:solidFill>
                  <a:srgbClr val="000000"/>
                </a:solidFill>
              </a:rPr>
            </a:br>
            <a:endParaRPr lang="en-US" sz="4400" dirty="0" smtClean="0"/>
          </a:p>
          <a:p>
            <a:endParaRPr lang="en-US" sz="4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754"/>
            <a:ext cx="10515600" cy="428089"/>
          </a:xfrm>
        </p:spPr>
        <p:txBody>
          <a:bodyPr>
            <a:normAutofit fontScale="90000"/>
          </a:bodyPr>
          <a:lstStyle/>
          <a:p>
            <a:endParaRPr lang="en-US" dirty="0"/>
          </a:p>
        </p:txBody>
      </p:sp>
      <p:sp>
        <p:nvSpPr>
          <p:cNvPr id="3" name="Content Placeholder 2"/>
          <p:cNvSpPr>
            <a:spLocks noGrp="1"/>
          </p:cNvSpPr>
          <p:nvPr>
            <p:ph idx="1"/>
          </p:nvPr>
        </p:nvSpPr>
        <p:spPr>
          <a:xfrm>
            <a:off x="838200" y="727113"/>
            <a:ext cx="10515600" cy="5449850"/>
          </a:xfrm>
        </p:spPr>
        <p:txBody>
          <a:bodyPr>
            <a:normAutofit lnSpcReduction="10000"/>
          </a:bodyPr>
          <a:lstStyle/>
          <a:p>
            <a:pPr marL="0" indent="0">
              <a:buFont typeface="Wingdings" panose="05000000000000000000" pitchFamily="2" charset="2"/>
              <a:buChar char="Ø"/>
            </a:pPr>
            <a:r>
              <a:rPr lang="en-US" sz="4400" dirty="0" smtClean="0">
                <a:solidFill>
                  <a:srgbClr val="000000"/>
                </a:solidFill>
              </a:rPr>
              <a:t>Where the client insist </a:t>
            </a:r>
            <a:r>
              <a:rPr lang="en-US" sz="4400" dirty="0" smtClean="0">
                <a:solidFill>
                  <a:srgbClr val="000000"/>
                </a:solidFill>
              </a:rPr>
              <a:t>on doing anything that is unjust </a:t>
            </a:r>
            <a:r>
              <a:rPr lang="en-US" sz="4400" dirty="0" smtClean="0">
                <a:solidFill>
                  <a:srgbClr val="000000"/>
                </a:solidFill>
              </a:rPr>
              <a:t>or immoral </a:t>
            </a:r>
            <a:r>
              <a:rPr lang="en-US" sz="4400" dirty="0" smtClean="0">
                <a:solidFill>
                  <a:srgbClr val="000000"/>
                </a:solidFill>
              </a:rPr>
              <a:t>in </a:t>
            </a:r>
            <a:r>
              <a:rPr lang="en-US" sz="4400" dirty="0" smtClean="0">
                <a:solidFill>
                  <a:srgbClr val="000000"/>
                </a:solidFill>
              </a:rPr>
              <a:t>the conduct of his </a:t>
            </a:r>
            <a:r>
              <a:rPr lang="en-US" sz="4400" dirty="0" smtClean="0">
                <a:solidFill>
                  <a:srgbClr val="000000"/>
                </a:solidFill>
              </a:rPr>
              <a:t>case.</a:t>
            </a:r>
            <a:endParaRPr lang="en-US" sz="4400" dirty="0" smtClean="0">
              <a:solidFill>
                <a:srgbClr val="000000"/>
              </a:solidFill>
            </a:endParaRPr>
          </a:p>
          <a:p>
            <a:pPr marL="0" indent="0">
              <a:buFont typeface="Wingdings" panose="05000000000000000000" pitchFamily="2" charset="2"/>
              <a:buChar char="Ø"/>
            </a:pPr>
            <a:r>
              <a:rPr lang="en-US" sz="4400" dirty="0" smtClean="0">
                <a:solidFill>
                  <a:srgbClr val="000000"/>
                </a:solidFill>
              </a:rPr>
              <a:t>Where </a:t>
            </a:r>
            <a:r>
              <a:rPr lang="en-US" sz="4400" dirty="0" smtClean="0">
                <a:solidFill>
                  <a:srgbClr val="000000"/>
                </a:solidFill>
              </a:rPr>
              <a:t>the client </a:t>
            </a:r>
            <a:r>
              <a:rPr lang="en-US" sz="4400" dirty="0" smtClean="0">
                <a:solidFill>
                  <a:srgbClr val="000000"/>
                </a:solidFill>
              </a:rPr>
              <a:t>ignores the Lawyer’s advice and insists on pressing frivolous </a:t>
            </a:r>
            <a:r>
              <a:rPr lang="en-US" sz="4400" dirty="0" err="1" smtClean="0">
                <a:solidFill>
                  <a:srgbClr val="000000"/>
                </a:solidFill>
              </a:rPr>
              <a:t>defences</a:t>
            </a:r>
            <a:r>
              <a:rPr lang="en-US" sz="4400" dirty="0" smtClean="0">
                <a:solidFill>
                  <a:srgbClr val="000000"/>
                </a:solidFill>
              </a:rPr>
              <a:t>.</a:t>
            </a:r>
            <a:endParaRPr lang="en-US" sz="4400" dirty="0" smtClean="0">
              <a:solidFill>
                <a:srgbClr val="000000"/>
              </a:solidFill>
            </a:endParaRPr>
          </a:p>
          <a:p>
            <a:pPr marL="0" indent="0">
              <a:buFont typeface="Wingdings" panose="05000000000000000000" pitchFamily="2" charset="2"/>
              <a:buChar char="Ø"/>
            </a:pPr>
            <a:r>
              <a:rPr lang="en-US" sz="4400" dirty="0" smtClean="0">
                <a:solidFill>
                  <a:srgbClr val="000000"/>
                </a:solidFill>
              </a:rPr>
              <a:t>Where </a:t>
            </a:r>
            <a:r>
              <a:rPr lang="en-US" sz="4400" dirty="0">
                <a:solidFill>
                  <a:srgbClr val="000000"/>
                </a:solidFill>
              </a:rPr>
              <a:t>the client deliberately </a:t>
            </a:r>
            <a:r>
              <a:rPr lang="en-US" sz="4400" dirty="0" smtClean="0">
                <a:solidFill>
                  <a:srgbClr val="000000"/>
                </a:solidFill>
              </a:rPr>
              <a:t>refuses to </a:t>
            </a:r>
            <a:r>
              <a:rPr lang="en-US" sz="4400" dirty="0" err="1" smtClean="0">
                <a:solidFill>
                  <a:srgbClr val="000000"/>
                </a:solidFill>
              </a:rPr>
              <a:t>honour</a:t>
            </a:r>
            <a:r>
              <a:rPr lang="en-US" sz="4400" dirty="0" smtClean="0">
                <a:solidFill>
                  <a:srgbClr val="000000"/>
                </a:solidFill>
              </a:rPr>
              <a:t> an agreed legal </a:t>
            </a:r>
            <a:r>
              <a:rPr lang="en-US" sz="4400" dirty="0">
                <a:solidFill>
                  <a:srgbClr val="000000"/>
                </a:solidFill>
              </a:rPr>
              <a:t>fees or expenses. </a:t>
            </a:r>
            <a:endParaRPr lang="en-US" sz="4400" dirty="0" smtClean="0">
              <a:solidFill>
                <a:srgbClr val="000000"/>
              </a:solidFill>
            </a:endParaRPr>
          </a:p>
          <a:p>
            <a:pPr marL="0" indent="0">
              <a:buNone/>
            </a:pPr>
            <a:r>
              <a:rPr lang="en-US" sz="4400" dirty="0" smtClean="0">
                <a:solidFill>
                  <a:srgbClr val="000000"/>
                </a:solidFill>
              </a:rPr>
              <a:t>See Rule </a:t>
            </a:r>
            <a:r>
              <a:rPr lang="en-US" sz="4400" dirty="0" smtClean="0">
                <a:solidFill>
                  <a:srgbClr val="000000"/>
                </a:solidFill>
              </a:rPr>
              <a:t>21 (2</a:t>
            </a:r>
            <a:r>
              <a:rPr lang="en-US" sz="4400" dirty="0" smtClean="0">
                <a:solidFill>
                  <a:srgbClr val="000000"/>
                </a:solidFill>
              </a:rPr>
              <a:t>)</a:t>
            </a:r>
            <a:endParaRPr lang="en-US" sz="4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6822"/>
            <a:ext cx="10515600" cy="1325563"/>
          </a:xfrm>
        </p:spPr>
        <p:txBody>
          <a:bodyPr/>
          <a:lstStyle/>
          <a:p>
            <a:pPr algn="ctr"/>
            <a:r>
              <a:rPr lang="en-US" b="1" dirty="0">
                <a:solidFill>
                  <a:srgbClr val="000000"/>
                </a:solidFill>
                <a:latin typeface="Calibri" panose="020F0502020204030204" pitchFamily="34" charset="0"/>
              </a:rPr>
              <a:t>DEALING WITH </a:t>
            </a:r>
            <a:r>
              <a:rPr lang="en-US" b="1" dirty="0" smtClean="0">
                <a:solidFill>
                  <a:srgbClr val="000000"/>
                </a:solidFill>
                <a:latin typeface="Calibri" panose="020F0502020204030204" pitchFamily="34" charset="0"/>
              </a:rPr>
              <a:t>CLIENT’S </a:t>
            </a:r>
            <a:r>
              <a:rPr lang="en-US" b="1" dirty="0">
                <a:solidFill>
                  <a:srgbClr val="000000"/>
                </a:solidFill>
                <a:latin typeface="Calibri" panose="020F0502020204030204" pitchFamily="34" charset="0"/>
              </a:rPr>
              <a:t>PROPERTY</a:t>
            </a:r>
            <a:endParaRPr lang="en-US" b="1" dirty="0"/>
          </a:p>
        </p:txBody>
      </p:sp>
      <p:sp>
        <p:nvSpPr>
          <p:cNvPr id="3" name="Content Placeholder 2"/>
          <p:cNvSpPr>
            <a:spLocks noGrp="1"/>
          </p:cNvSpPr>
          <p:nvPr>
            <p:ph idx="1"/>
          </p:nvPr>
        </p:nvSpPr>
        <p:spPr>
          <a:xfrm>
            <a:off x="838200" y="1399142"/>
            <a:ext cx="10515600" cy="4777821"/>
          </a:xfrm>
        </p:spPr>
        <p:txBody>
          <a:bodyPr>
            <a:noAutofit/>
          </a:bodyPr>
          <a:lstStyle/>
          <a:p>
            <a:pPr marL="0" indent="0"/>
            <a:r>
              <a:rPr lang="en-US" sz="3900" dirty="0" smtClean="0">
                <a:solidFill>
                  <a:srgbClr val="000000"/>
                </a:solidFill>
                <a:latin typeface="ArialMT"/>
              </a:rPr>
              <a:t>A Lawyer must not abuse or take advantage of the confidence reposed in him by his client for his personal gai</a:t>
            </a:r>
            <a:r>
              <a:rPr lang="en-US" sz="3900" dirty="0" smtClean="0">
                <a:solidFill>
                  <a:srgbClr val="000000"/>
                </a:solidFill>
                <a:latin typeface="ArialMT"/>
              </a:rPr>
              <a:t>n or benefit.</a:t>
            </a:r>
            <a:endParaRPr lang="en-US" sz="3900" dirty="0" smtClean="0">
              <a:solidFill>
                <a:srgbClr val="000000"/>
              </a:solidFill>
              <a:latin typeface="ArialMT"/>
            </a:endParaRPr>
          </a:p>
          <a:p>
            <a:pPr marL="0" indent="0"/>
            <a:r>
              <a:rPr lang="en-US" sz="3900" dirty="0" smtClean="0">
                <a:solidFill>
                  <a:srgbClr val="000000"/>
                </a:solidFill>
                <a:latin typeface="Calibri" panose="020F0502020204030204" pitchFamily="34" charset="0"/>
              </a:rPr>
              <a:t>A </a:t>
            </a:r>
            <a:r>
              <a:rPr lang="en-US" sz="3900" dirty="0" smtClean="0">
                <a:solidFill>
                  <a:srgbClr val="000000"/>
                </a:solidFill>
                <a:latin typeface="Calibri" panose="020F0502020204030204" pitchFamily="34" charset="0"/>
              </a:rPr>
              <a:t>Lawyer who collects money or manages property on behalf of his client shall promptly report, account for it, not mix such money and property with his own or use it as his </a:t>
            </a:r>
            <a:r>
              <a:rPr lang="en-US" sz="3900" dirty="0" smtClean="0">
                <a:solidFill>
                  <a:srgbClr val="000000"/>
                </a:solidFill>
                <a:latin typeface="Calibri" panose="020F0502020204030204" pitchFamily="34" charset="0"/>
              </a:rPr>
              <a:t>own. See Rule 23 (1) &amp; (2)</a:t>
            </a:r>
            <a:endParaRPr lang="en-US" sz="3900" dirty="0" smtClean="0">
              <a:solidFill>
                <a:srgbClr val="000000"/>
              </a:solidFill>
              <a:latin typeface="ArialMT"/>
            </a:endParaRPr>
          </a:p>
          <a:p>
            <a:pPr marL="0" indent="0"/>
            <a:r>
              <a:rPr lang="en-US" sz="3900" dirty="0" smtClean="0">
                <a:solidFill>
                  <a:srgbClr val="000000"/>
                </a:solidFill>
                <a:latin typeface="Calibri" panose="020F0502020204030204" pitchFamily="34" charset="0"/>
              </a:rPr>
              <a:t>Note </a:t>
            </a:r>
            <a:r>
              <a:rPr lang="en-US" sz="3900" dirty="0" smtClean="0">
                <a:solidFill>
                  <a:srgbClr val="000000"/>
                </a:solidFill>
                <a:latin typeface="Calibri" panose="020F0502020204030204" pitchFamily="34" charset="0"/>
              </a:rPr>
              <a:t>the exceptions under Rule 17 (3) (a &amp; b) RPC</a:t>
            </a:r>
            <a:br>
              <a:rPr lang="en-US" sz="3900" dirty="0" smtClean="0"/>
            </a:br>
            <a:endParaRPr lang="en-US" sz="39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pPr algn="ctr"/>
            <a:r>
              <a:rPr lang="en-US" b="1" dirty="0">
                <a:solidFill>
                  <a:srgbClr val="000000"/>
                </a:solidFill>
                <a:latin typeface="Calibri" panose="020F0502020204030204" pitchFamily="34" charset="0"/>
              </a:rPr>
              <a:t>CALLING AT CLIENT’S </a:t>
            </a:r>
            <a:r>
              <a:rPr lang="en-US" b="1" dirty="0" smtClean="0">
                <a:solidFill>
                  <a:srgbClr val="000000"/>
                </a:solidFill>
                <a:latin typeface="Calibri" panose="020F0502020204030204" pitchFamily="34" charset="0"/>
              </a:rPr>
              <a:t>HOUSE OR PLACE OF BUSINESS</a:t>
            </a:r>
            <a:endParaRPr lang="en-US" b="1" dirty="0"/>
          </a:p>
        </p:txBody>
      </p:sp>
      <p:sp>
        <p:nvSpPr>
          <p:cNvPr id="3" name="Content Placeholder 2"/>
          <p:cNvSpPr>
            <a:spLocks noGrp="1"/>
          </p:cNvSpPr>
          <p:nvPr>
            <p:ph idx="1"/>
          </p:nvPr>
        </p:nvSpPr>
        <p:spPr>
          <a:xfrm>
            <a:off x="385590" y="1325563"/>
            <a:ext cx="10968210" cy="5511608"/>
          </a:xfrm>
        </p:spPr>
        <p:txBody>
          <a:bodyPr>
            <a:noAutofit/>
          </a:bodyPr>
          <a:lstStyle/>
          <a:p>
            <a:pPr marL="0" indent="0"/>
            <a:r>
              <a:rPr lang="en-US" sz="3200" dirty="0" smtClean="0">
                <a:solidFill>
                  <a:srgbClr val="000000"/>
                </a:solidFill>
                <a:latin typeface="ArialMT"/>
              </a:rPr>
              <a:t>A Lawyer is prohibited from going to his client’s house or place of business to proffer advice or take instructions.</a:t>
            </a:r>
            <a:r>
              <a:rPr lang="en-US" sz="3200" dirty="0" smtClean="0">
                <a:solidFill>
                  <a:srgbClr val="000000"/>
                </a:solidFill>
                <a:latin typeface="ArialMT"/>
              </a:rPr>
              <a:t> See </a:t>
            </a:r>
            <a:r>
              <a:rPr lang="en-US" sz="3200" dirty="0" smtClean="0">
                <a:solidFill>
                  <a:srgbClr val="000000"/>
                </a:solidFill>
                <a:latin typeface="Calibri" panose="020F0502020204030204" pitchFamily="34" charset="0"/>
              </a:rPr>
              <a:t>Rule </a:t>
            </a:r>
            <a:r>
              <a:rPr lang="en-US" sz="3200" dirty="0" smtClean="0">
                <a:solidFill>
                  <a:srgbClr val="000000"/>
                </a:solidFill>
                <a:latin typeface="Calibri" panose="020F0502020204030204" pitchFamily="34" charset="0"/>
              </a:rPr>
              <a:t>22 </a:t>
            </a:r>
            <a:r>
              <a:rPr lang="en-US" sz="3200" dirty="0" smtClean="0">
                <a:solidFill>
                  <a:srgbClr val="000000"/>
                </a:solidFill>
                <a:latin typeface="Calibri" panose="020F0502020204030204" pitchFamily="34" charset="0"/>
              </a:rPr>
              <a:t>RPC</a:t>
            </a:r>
            <a:endParaRPr lang="en-US" sz="3200" dirty="0" smtClean="0">
              <a:solidFill>
                <a:srgbClr val="000000"/>
              </a:solidFill>
              <a:latin typeface="Calibri" panose="020F0502020204030204" pitchFamily="34" charset="0"/>
            </a:endParaRPr>
          </a:p>
          <a:p>
            <a:pPr marL="0" indent="0"/>
            <a:r>
              <a:rPr lang="en-US" sz="3200" dirty="0" smtClean="0">
                <a:solidFill>
                  <a:srgbClr val="000000"/>
                </a:solidFill>
                <a:latin typeface="Calibri" panose="020F0502020204030204" pitchFamily="34" charset="0"/>
              </a:rPr>
              <a:t>However, a Lawyer may go to his client’s house or place of business where there exists special circumstances or other urgent reasons making it impossible for his client to come to his office. Examples include extreme old age, client is in custody, client is bed-ridden, where </a:t>
            </a:r>
            <a:r>
              <a:rPr lang="en-GB" altLang="en-US" sz="3200" dirty="0" smtClean="0">
                <a:solidFill>
                  <a:srgbClr val="000000"/>
                </a:solidFill>
                <a:latin typeface="Calibri" panose="020F0502020204030204" pitchFamily="34" charset="0"/>
              </a:rPr>
              <a:t>for security reasons may be incapable of coming to counsel’s office. </a:t>
            </a:r>
            <a:r>
              <a:rPr lang="en-US" sz="3200" dirty="0" smtClean="0">
                <a:solidFill>
                  <a:srgbClr val="000000"/>
                </a:solidFill>
                <a:latin typeface="Calibri" panose="020F0502020204030204" pitchFamily="34" charset="0"/>
              </a:rPr>
              <a:t> </a:t>
            </a:r>
            <a:endParaRPr lang="en-US" sz="3200" dirty="0" smtClean="0">
              <a:solidFill>
                <a:srgbClr val="000000"/>
              </a:solidFill>
              <a:latin typeface="Calibri" panose="020F0502020204030204" pitchFamily="34" charset="0"/>
            </a:endParaRPr>
          </a:p>
          <a:p>
            <a:pPr marL="0" indent="0">
              <a:buNone/>
            </a:pPr>
            <a:r>
              <a:rPr lang="en-US" sz="3200" dirty="0" smtClean="0">
                <a:solidFill>
                  <a:srgbClr val="000000"/>
                </a:solidFill>
                <a:latin typeface="Calibri" panose="020F0502020204030204" pitchFamily="34" charset="0"/>
              </a:rPr>
              <a:t>See Registered Trustees of People’s club of Nigeria V. </a:t>
            </a:r>
            <a:r>
              <a:rPr lang="en-US" sz="3200" dirty="0" err="1" smtClean="0">
                <a:solidFill>
                  <a:srgbClr val="000000"/>
                </a:solidFill>
                <a:latin typeface="Calibri" panose="020F0502020204030204" pitchFamily="34" charset="0"/>
              </a:rPr>
              <a:t>Jideofor</a:t>
            </a:r>
            <a:r>
              <a:rPr lang="en-US" sz="3200" dirty="0" smtClean="0">
                <a:solidFill>
                  <a:srgbClr val="000000"/>
                </a:solidFill>
                <a:latin typeface="Calibri" panose="020F0502020204030204" pitchFamily="34" charset="0"/>
              </a:rPr>
              <a:t> </a:t>
            </a:r>
            <a:r>
              <a:rPr lang="en-US" sz="3200" dirty="0" err="1" smtClean="0">
                <a:solidFill>
                  <a:srgbClr val="000000"/>
                </a:solidFill>
                <a:latin typeface="Calibri" panose="020F0502020204030204" pitchFamily="34" charset="0"/>
              </a:rPr>
              <a:t>Okongwu</a:t>
            </a:r>
            <a:r>
              <a:rPr lang="en-US" sz="3200" dirty="0" smtClean="0">
                <a:solidFill>
                  <a:srgbClr val="000000"/>
                </a:solidFill>
                <a:latin typeface="Calibri" panose="020F0502020204030204" pitchFamily="34" charset="0"/>
              </a:rPr>
              <a:t> </a:t>
            </a:r>
            <a:r>
              <a:rPr lang="en-US" sz="3200" dirty="0" err="1" smtClean="0">
                <a:solidFill>
                  <a:srgbClr val="000000"/>
                </a:solidFill>
                <a:latin typeface="Calibri" panose="020F0502020204030204" pitchFamily="34" charset="0"/>
              </a:rPr>
              <a:t>Esq</a:t>
            </a:r>
            <a:r>
              <a:rPr lang="en-US" sz="3200" dirty="0" smtClean="0">
                <a:solidFill>
                  <a:srgbClr val="000000"/>
                </a:solidFill>
                <a:latin typeface="Calibri" panose="020F0502020204030204" pitchFamily="34" charset="0"/>
              </a:rPr>
              <a:t> (2024) 8 NWLR pt 1939 pg 181</a:t>
            </a:r>
            <a:br>
              <a:rPr lang="en-US" sz="3200" dirty="0" smtClean="0"/>
            </a:br>
            <a:endParaRPr lang="en-US" sz="32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0337"/>
            <a:ext cx="10515600" cy="1399143"/>
          </a:xfrm>
        </p:spPr>
        <p:txBody>
          <a:bodyPr>
            <a:normAutofit fontScale="90000"/>
          </a:bodyPr>
          <a:lstStyle/>
          <a:p>
            <a:pPr algn="ctr"/>
            <a:r>
              <a:rPr lang="en-US" b="1" dirty="0">
                <a:solidFill>
                  <a:srgbClr val="000000"/>
                </a:solidFill>
                <a:latin typeface="Calibri" panose="020F0502020204030204" pitchFamily="34" charset="0"/>
              </a:rPr>
              <a:t>DEDICATION AND DEVOTION TO </a:t>
            </a:r>
            <a:r>
              <a:rPr lang="en-US" b="1" dirty="0" smtClean="0">
                <a:solidFill>
                  <a:srgbClr val="000000"/>
                </a:solidFill>
                <a:latin typeface="Calibri" panose="020F0502020204030204" pitchFamily="34" charset="0"/>
              </a:rPr>
              <a:t>THE CAUSE </a:t>
            </a:r>
            <a:r>
              <a:rPr lang="en-US" b="1" dirty="0">
                <a:solidFill>
                  <a:srgbClr val="000000"/>
                </a:solidFill>
                <a:latin typeface="Calibri" panose="020F0502020204030204" pitchFamily="34" charset="0"/>
              </a:rPr>
              <a:t>OF THE </a:t>
            </a:r>
            <a:r>
              <a:rPr lang="en-US" b="1" dirty="0" smtClean="0">
                <a:solidFill>
                  <a:srgbClr val="000000"/>
                </a:solidFill>
                <a:latin typeface="Calibri" panose="020F0502020204030204" pitchFamily="34" charset="0"/>
              </a:rPr>
              <a:t>CLIENT</a:t>
            </a:r>
            <a:br>
              <a:rPr lang="en-US" b="1" dirty="0">
                <a:solidFill>
                  <a:srgbClr val="000000"/>
                </a:solidFill>
                <a:latin typeface="Calibri" panose="020F0502020204030204" pitchFamily="34" charset="0"/>
              </a:rPr>
            </a:br>
            <a:endParaRPr lang="en-US" b="1" dirty="0"/>
          </a:p>
        </p:txBody>
      </p:sp>
      <p:sp>
        <p:nvSpPr>
          <p:cNvPr id="3" name="Content Placeholder 2"/>
          <p:cNvSpPr>
            <a:spLocks noGrp="1"/>
          </p:cNvSpPr>
          <p:nvPr>
            <p:ph idx="1"/>
          </p:nvPr>
        </p:nvSpPr>
        <p:spPr>
          <a:xfrm>
            <a:off x="838200" y="1366092"/>
            <a:ext cx="10515600" cy="5321147"/>
          </a:xfrm>
        </p:spPr>
        <p:txBody>
          <a:bodyPr>
            <a:noAutofit/>
          </a:bodyPr>
          <a:lstStyle/>
          <a:p>
            <a:pPr marL="0" indent="0">
              <a:buNone/>
            </a:pPr>
            <a:r>
              <a:rPr lang="en-US" sz="3600" dirty="0" smtClean="0">
                <a:solidFill>
                  <a:srgbClr val="000000"/>
                </a:solidFill>
              </a:rPr>
              <a:t>• </a:t>
            </a:r>
            <a:r>
              <a:rPr lang="en-US" sz="3600" dirty="0" smtClean="0">
                <a:solidFill>
                  <a:srgbClr val="000000"/>
                </a:solidFill>
              </a:rPr>
              <a:t>A Lawyer is </a:t>
            </a:r>
            <a:r>
              <a:rPr lang="en-US" sz="3600" dirty="0" smtClean="0">
                <a:solidFill>
                  <a:srgbClr val="000000"/>
                </a:solidFill>
              </a:rPr>
              <a:t>required to ensure the devote of his </a:t>
            </a:r>
            <a:r>
              <a:rPr lang="en-US" sz="3600" dirty="0" smtClean="0">
                <a:solidFill>
                  <a:srgbClr val="000000"/>
                </a:solidFill>
              </a:rPr>
              <a:t>attention, energy and expertise to the </a:t>
            </a:r>
            <a:r>
              <a:rPr lang="en-US" sz="3600" dirty="0" smtClean="0">
                <a:solidFill>
                  <a:srgbClr val="000000"/>
                </a:solidFill>
              </a:rPr>
              <a:t>course </a:t>
            </a:r>
            <a:r>
              <a:rPr lang="en-US" sz="3600" dirty="0" smtClean="0">
                <a:solidFill>
                  <a:srgbClr val="000000"/>
                </a:solidFill>
              </a:rPr>
              <a:t>of his client and </a:t>
            </a:r>
            <a:r>
              <a:rPr lang="en-US" sz="3600" dirty="0" smtClean="0">
                <a:solidFill>
                  <a:srgbClr val="000000"/>
                </a:solidFill>
              </a:rPr>
              <a:t>must act at all times in a manner consistent </a:t>
            </a:r>
            <a:r>
              <a:rPr lang="en-US" sz="3600" dirty="0" smtClean="0">
                <a:solidFill>
                  <a:srgbClr val="000000"/>
                </a:solidFill>
              </a:rPr>
              <a:t>with the best interests of the client</a:t>
            </a:r>
            <a:r>
              <a:rPr lang="en-US" sz="3600" dirty="0" smtClean="0">
                <a:solidFill>
                  <a:srgbClr val="000000"/>
                </a:solidFill>
              </a:rPr>
              <a:t>. See R 14 RPC</a:t>
            </a:r>
            <a:endParaRPr lang="en-US" sz="3600" dirty="0" smtClean="0">
              <a:solidFill>
                <a:srgbClr val="000000"/>
              </a:solidFill>
            </a:endParaRPr>
          </a:p>
          <a:p>
            <a:pPr marL="0" indent="0"/>
            <a:r>
              <a:rPr lang="en-US" sz="3600" dirty="0" smtClean="0">
                <a:solidFill>
                  <a:srgbClr val="000000"/>
                </a:solidFill>
              </a:rPr>
              <a:t>A </a:t>
            </a:r>
            <a:r>
              <a:rPr lang="en-US" sz="3600" dirty="0" smtClean="0">
                <a:solidFill>
                  <a:srgbClr val="000000"/>
                </a:solidFill>
              </a:rPr>
              <a:t>Lawyer must </a:t>
            </a:r>
            <a:r>
              <a:rPr lang="en-US" sz="3600" dirty="0" smtClean="0">
                <a:solidFill>
                  <a:srgbClr val="000000"/>
                </a:solidFill>
              </a:rPr>
              <a:t>personally </a:t>
            </a:r>
            <a:r>
              <a:rPr lang="en-US" sz="3600" dirty="0" smtClean="0">
                <a:solidFill>
                  <a:srgbClr val="000000"/>
                </a:solidFill>
              </a:rPr>
              <a:t>conduct the case of his client or arrange for another Lawyer to hold his brief in the conduct of such matter. Rule </a:t>
            </a:r>
            <a:r>
              <a:rPr lang="en-US" sz="3600" dirty="0" smtClean="0">
                <a:solidFill>
                  <a:srgbClr val="000000"/>
                </a:solidFill>
              </a:rPr>
              <a:t>14(4) RPC.</a:t>
            </a:r>
            <a:endParaRPr lang="en-US" sz="3600" dirty="0" smtClean="0">
              <a:solidFill>
                <a:srgbClr val="000000"/>
              </a:solidFill>
            </a:endParaRPr>
          </a:p>
          <a:p>
            <a:pPr marL="0" indent="0"/>
            <a:r>
              <a:rPr lang="en-US" sz="3600" dirty="0" smtClean="0"/>
              <a:t> Note other circumstances in rule 14 (2) (a) –(e) </a:t>
            </a:r>
            <a:br>
              <a:rPr lang="en-US" sz="3600" dirty="0" smtClean="0"/>
            </a:br>
            <a:endParaRPr lang="en-US" sz="36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755"/>
            <a:ext cx="10515600" cy="284870"/>
          </a:xfrm>
        </p:spPr>
        <p:txBody>
          <a:bodyPr>
            <a:normAutofit fontScale="90000"/>
          </a:bodyPr>
          <a:lstStyle/>
          <a:p>
            <a:pPr algn="ctr"/>
            <a:br>
              <a:rPr lang="en-US" b="1" dirty="0" smtClean="0"/>
            </a:br>
            <a:r>
              <a:rPr lang="en-US" b="1" dirty="0" smtClean="0"/>
              <a:t>NOTE</a:t>
            </a:r>
            <a:br>
              <a:rPr lang="en-US" b="1" dirty="0" smtClean="0"/>
            </a:br>
            <a:endParaRPr lang="en-US" b="1" dirty="0"/>
          </a:p>
        </p:txBody>
      </p:sp>
      <p:sp>
        <p:nvSpPr>
          <p:cNvPr id="3" name="Content Placeholder 2"/>
          <p:cNvSpPr>
            <a:spLocks noGrp="1"/>
          </p:cNvSpPr>
          <p:nvPr>
            <p:ph idx="1"/>
          </p:nvPr>
        </p:nvSpPr>
        <p:spPr>
          <a:xfrm>
            <a:off x="838200" y="407626"/>
            <a:ext cx="10515600" cy="6334698"/>
          </a:xfrm>
        </p:spPr>
        <p:txBody>
          <a:bodyPr>
            <a:normAutofit/>
          </a:bodyPr>
          <a:lstStyle/>
          <a:p>
            <a:r>
              <a:rPr lang="en-US" sz="3600" dirty="0" smtClean="0"/>
              <a:t>A Lawyer engaged to represent </a:t>
            </a:r>
            <a:r>
              <a:rPr lang="en-US" sz="3600" dirty="0" smtClean="0"/>
              <a:t>a defendant in a murder trial </a:t>
            </a:r>
            <a:r>
              <a:rPr lang="en-US" sz="3600" dirty="0" smtClean="0"/>
              <a:t>is presumed to have undertaken to personally pursue the case provided </a:t>
            </a:r>
            <a:r>
              <a:rPr lang="en-US" sz="3600" dirty="0" smtClean="0"/>
              <a:t>his </a:t>
            </a:r>
            <a:r>
              <a:rPr lang="en-US" sz="3600" dirty="0" smtClean="0"/>
              <a:t>fees are </a:t>
            </a:r>
            <a:r>
              <a:rPr lang="en-US" sz="3600" dirty="0" smtClean="0"/>
              <a:t>paid. Rule 37(2) RPC.</a:t>
            </a:r>
            <a:endParaRPr lang="en-US" sz="3600" dirty="0" smtClean="0"/>
          </a:p>
          <a:p>
            <a:r>
              <a:rPr lang="en-US" sz="3600" dirty="0" smtClean="0"/>
              <a:t>Where a Lawyer is assigned </a:t>
            </a:r>
            <a:r>
              <a:rPr lang="en-US" sz="3600" dirty="0" smtClean="0"/>
              <a:t>to </a:t>
            </a:r>
            <a:r>
              <a:rPr lang="en-US" sz="3600" dirty="0" smtClean="0"/>
              <a:t>represent</a:t>
            </a:r>
            <a:r>
              <a:rPr lang="en-US" sz="3600" dirty="0" smtClean="0"/>
              <a:t> an </a:t>
            </a:r>
            <a:r>
              <a:rPr lang="en-US" sz="3600" dirty="0" smtClean="0"/>
              <a:t>indigent </a:t>
            </a:r>
            <a:r>
              <a:rPr lang="en-US" sz="3600" dirty="0" smtClean="0"/>
              <a:t>defendant</a:t>
            </a:r>
            <a:r>
              <a:rPr lang="en-US" sz="3600" dirty="0" smtClean="0"/>
              <a:t>, he must put in his best effort and shall only be excused from doing so for substantial reasons </a:t>
            </a:r>
            <a:r>
              <a:rPr lang="en-US" sz="3600" dirty="0" err="1" smtClean="0"/>
              <a:t>e.g</a:t>
            </a:r>
            <a:r>
              <a:rPr lang="en-US" sz="3600" dirty="0" smtClean="0"/>
              <a:t> ill health.  </a:t>
            </a:r>
            <a:r>
              <a:rPr lang="en-US" sz="3600" dirty="0" smtClean="0"/>
              <a:t>Rule 38 RPC.</a:t>
            </a:r>
            <a:endParaRPr lang="en-US" sz="3600" dirty="0" smtClean="0"/>
          </a:p>
          <a:p>
            <a:r>
              <a:rPr lang="en-US" sz="3600" dirty="0"/>
              <a:t> </a:t>
            </a:r>
            <a:r>
              <a:rPr lang="en-US" sz="3600" dirty="0" smtClean="0"/>
              <a:t>Where a Lawyer is appearing for a defendant, he or any other </a:t>
            </a:r>
            <a:r>
              <a:rPr lang="en-US" sz="3600" dirty="0" smtClean="0"/>
              <a:t>Lawyer in his firm </a:t>
            </a:r>
            <a:r>
              <a:rPr lang="en-US" sz="3600" dirty="0" smtClean="0"/>
              <a:t>shall </a:t>
            </a:r>
            <a:r>
              <a:rPr lang="en-US" sz="3600" dirty="0" smtClean="0"/>
              <a:t>not </a:t>
            </a:r>
            <a:r>
              <a:rPr lang="en-US" sz="3600" dirty="0" smtClean="0"/>
              <a:t>offer to stand </a:t>
            </a:r>
            <a:r>
              <a:rPr lang="en-US" sz="3600" dirty="0" smtClean="0"/>
              <a:t>bail </a:t>
            </a:r>
            <a:r>
              <a:rPr lang="en-US" sz="3600" dirty="0" smtClean="0"/>
              <a:t>for the defendant. </a:t>
            </a:r>
            <a:r>
              <a:rPr lang="en-US" sz="3600" dirty="0" smtClean="0"/>
              <a:t>Rule 37(1) RPC.</a:t>
            </a:r>
            <a:endParaRPr lang="en-US" sz="3600"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39048" y="0"/>
            <a:ext cx="10515600" cy="1156771"/>
          </a:xfrm>
        </p:spPr>
        <p:txBody>
          <a:bodyPr/>
          <a:lstStyle/>
          <a:p>
            <a:pPr algn="ctr"/>
            <a:r>
              <a:rPr lang="en-US" b="1" dirty="0">
                <a:solidFill>
                  <a:srgbClr val="000000"/>
                </a:solidFill>
                <a:latin typeface="Calibri" panose="020F0502020204030204" pitchFamily="34" charset="0"/>
              </a:rPr>
              <a:t>DUTY TO ACCEPT BRIEF</a:t>
            </a:r>
            <a:endParaRPr lang="en-US" b="1" dirty="0"/>
          </a:p>
        </p:txBody>
      </p:sp>
      <p:sp>
        <p:nvSpPr>
          <p:cNvPr id="3" name="Content Placeholder 2"/>
          <p:cNvSpPr>
            <a:spLocks noGrp="1"/>
          </p:cNvSpPr>
          <p:nvPr>
            <p:ph idx="1"/>
          </p:nvPr>
        </p:nvSpPr>
        <p:spPr>
          <a:xfrm>
            <a:off x="639896" y="963575"/>
            <a:ext cx="10515600" cy="5778748"/>
          </a:xfrm>
        </p:spPr>
        <p:txBody>
          <a:bodyPr>
            <a:noAutofit/>
          </a:bodyPr>
          <a:lstStyle/>
          <a:p>
            <a:pPr marL="0" indent="0">
              <a:buNone/>
            </a:pPr>
            <a:r>
              <a:rPr lang="en-US" sz="4000" dirty="0" smtClean="0">
                <a:solidFill>
                  <a:srgbClr val="000000"/>
                </a:solidFill>
                <a:latin typeface="ArialMT"/>
              </a:rPr>
              <a:t>• </a:t>
            </a:r>
            <a:r>
              <a:rPr lang="en-US" sz="4000" dirty="0" smtClean="0">
                <a:solidFill>
                  <a:srgbClr val="000000"/>
                </a:solidFill>
                <a:latin typeface="Calibri" panose="020F0502020204030204" pitchFamily="34" charset="0"/>
              </a:rPr>
              <a:t>Lawyers are duty bound </a:t>
            </a:r>
            <a:r>
              <a:rPr lang="en-US" sz="4000" dirty="0" smtClean="0">
                <a:solidFill>
                  <a:srgbClr val="000000"/>
                </a:solidFill>
                <a:latin typeface="Calibri" panose="020F0502020204030204" pitchFamily="34" charset="0"/>
              </a:rPr>
              <a:t>to accept brief in the Court in which </a:t>
            </a:r>
            <a:r>
              <a:rPr lang="en-US" sz="4000" dirty="0" smtClean="0">
                <a:solidFill>
                  <a:srgbClr val="000000"/>
                </a:solidFill>
                <a:latin typeface="Calibri" panose="020F0502020204030204" pitchFamily="34" charset="0"/>
              </a:rPr>
              <a:t>they practice</a:t>
            </a:r>
            <a:r>
              <a:rPr lang="en-US" sz="4000" dirty="0" smtClean="0">
                <a:solidFill>
                  <a:srgbClr val="000000"/>
                </a:solidFill>
                <a:latin typeface="Calibri" panose="020F0502020204030204" pitchFamily="34" charset="0"/>
              </a:rPr>
              <a:t>, provided the right fee is paid, except there are exceptional circumstances to the contrary</a:t>
            </a:r>
            <a:r>
              <a:rPr lang="en-US" sz="4000" dirty="0">
                <a:solidFill>
                  <a:srgbClr val="000000"/>
                </a:solidFill>
                <a:latin typeface="Calibri" panose="020F0502020204030204" pitchFamily="34" charset="0"/>
              </a:rPr>
              <a:t>. E.g. Conflict of interest, contrary to </a:t>
            </a:r>
            <a:r>
              <a:rPr lang="en-US" sz="4000" dirty="0" smtClean="0">
                <a:solidFill>
                  <a:srgbClr val="000000"/>
                </a:solidFill>
                <a:latin typeface="Calibri" panose="020F0502020204030204" pitchFamily="34" charset="0"/>
              </a:rPr>
              <a:t>his religious </a:t>
            </a:r>
            <a:r>
              <a:rPr lang="en-US" sz="4000" dirty="0">
                <a:solidFill>
                  <a:srgbClr val="000000"/>
                </a:solidFill>
                <a:latin typeface="Calibri" panose="020F0502020204030204" pitchFamily="34" charset="0"/>
              </a:rPr>
              <a:t>or moral belief. </a:t>
            </a:r>
            <a:endParaRPr lang="en-US" sz="4000" dirty="0"/>
          </a:p>
          <a:p>
            <a:pPr marL="0" indent="0">
              <a:buNone/>
            </a:pPr>
            <a:endParaRPr lang="en-US" sz="4000" dirty="0" smtClean="0">
              <a:solidFill>
                <a:srgbClr val="000000"/>
              </a:solidFill>
              <a:latin typeface="Calibri" panose="020F0502020204030204" pitchFamily="34" charset="0"/>
            </a:endParaRPr>
          </a:p>
          <a:p>
            <a:r>
              <a:rPr lang="en-US" sz="4000" dirty="0" smtClean="0">
                <a:solidFill>
                  <a:srgbClr val="000000"/>
                </a:solidFill>
                <a:latin typeface="Calibri" panose="020F0502020204030204" pitchFamily="34" charset="0"/>
              </a:rPr>
              <a:t>This rule is otherwise known as the </a:t>
            </a:r>
            <a:r>
              <a:rPr lang="en-US" sz="4000" dirty="0">
                <a:solidFill>
                  <a:srgbClr val="000000"/>
                </a:solidFill>
                <a:latin typeface="Calibri" panose="020F0502020204030204" pitchFamily="34" charset="0"/>
              </a:rPr>
              <a:t>Cab </a:t>
            </a:r>
            <a:r>
              <a:rPr lang="en-US" sz="4000" dirty="0" smtClean="0">
                <a:solidFill>
                  <a:srgbClr val="000000"/>
                </a:solidFill>
                <a:latin typeface="Calibri" panose="020F0502020204030204" pitchFamily="34" charset="0"/>
              </a:rPr>
              <a:t>Rank Rule. </a:t>
            </a:r>
            <a:endParaRPr lang="en-US" sz="4000" dirty="0" smtClean="0">
              <a:solidFill>
                <a:srgbClr val="000000"/>
              </a:solidFill>
              <a:latin typeface="Calibri" panose="020F0502020204030204" pitchFamily="34" charset="0"/>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44787"/>
            <a:ext cx="10515600" cy="1067068"/>
          </a:xfrm>
        </p:spPr>
        <p:txBody>
          <a:bodyPr>
            <a:normAutofit/>
          </a:bodyPr>
          <a:lstStyle/>
          <a:p>
            <a:pPr algn="ctr"/>
            <a:r>
              <a:rPr lang="en-US" b="1" dirty="0">
                <a:solidFill>
                  <a:srgbClr val="000000"/>
                </a:solidFill>
                <a:latin typeface="Calibri" panose="020F0502020204030204" pitchFamily="34" charset="0"/>
              </a:rPr>
              <a:t>CONFLICT OF INTEREST</a:t>
            </a:r>
            <a:endParaRPr lang="en-US" b="1" dirty="0"/>
          </a:p>
        </p:txBody>
      </p:sp>
      <p:sp>
        <p:nvSpPr>
          <p:cNvPr id="3" name="Content Placeholder 2"/>
          <p:cNvSpPr>
            <a:spLocks noGrp="1"/>
          </p:cNvSpPr>
          <p:nvPr>
            <p:ph idx="1"/>
          </p:nvPr>
        </p:nvSpPr>
        <p:spPr>
          <a:xfrm>
            <a:off x="730785" y="1404650"/>
            <a:ext cx="10730429" cy="5315638"/>
          </a:xfrm>
        </p:spPr>
        <p:txBody>
          <a:bodyPr>
            <a:noAutofit/>
          </a:bodyPr>
          <a:lstStyle/>
          <a:p>
            <a:pPr marL="0" indent="0">
              <a:buNone/>
            </a:pPr>
            <a:r>
              <a:rPr lang="en-US" sz="3800" dirty="0" smtClean="0">
                <a:solidFill>
                  <a:srgbClr val="000000"/>
                </a:solidFill>
              </a:rPr>
              <a:t>• Rule 17 (1) provides that where there exists a conflict of interest, a </a:t>
            </a:r>
            <a:r>
              <a:rPr lang="en-US" sz="3800" dirty="0" smtClean="0">
                <a:solidFill>
                  <a:srgbClr val="000000"/>
                </a:solidFill>
              </a:rPr>
              <a:t>Lawyer is </a:t>
            </a:r>
            <a:r>
              <a:rPr lang="en-US" sz="3800" dirty="0" smtClean="0">
                <a:solidFill>
                  <a:srgbClr val="000000"/>
                </a:solidFill>
              </a:rPr>
              <a:t>duty bound to disclose such to the client.</a:t>
            </a:r>
            <a:endParaRPr lang="en-US" sz="3800" dirty="0" smtClean="0">
              <a:solidFill>
                <a:srgbClr val="000000"/>
              </a:solidFill>
            </a:endParaRPr>
          </a:p>
          <a:p>
            <a:pPr marL="0" indent="0"/>
            <a:r>
              <a:rPr lang="en-US" sz="3800" dirty="0" smtClean="0">
                <a:solidFill>
                  <a:srgbClr val="000000"/>
                </a:solidFill>
              </a:rPr>
              <a:t>A </a:t>
            </a:r>
            <a:r>
              <a:rPr lang="en-US" sz="3800" dirty="0" smtClean="0">
                <a:solidFill>
                  <a:srgbClr val="000000"/>
                </a:solidFill>
              </a:rPr>
              <a:t>Lawyer while </a:t>
            </a:r>
            <a:r>
              <a:rPr lang="en-US" sz="3800" dirty="0">
                <a:solidFill>
                  <a:srgbClr val="000000"/>
                </a:solidFill>
              </a:rPr>
              <a:t>representing his client should </a:t>
            </a:r>
            <a:r>
              <a:rPr lang="en-US" sz="3800" dirty="0" smtClean="0">
                <a:solidFill>
                  <a:srgbClr val="000000"/>
                </a:solidFill>
              </a:rPr>
              <a:t>not allow </a:t>
            </a:r>
            <a:r>
              <a:rPr lang="en-US" sz="3800" dirty="0">
                <a:solidFill>
                  <a:srgbClr val="000000"/>
                </a:solidFill>
              </a:rPr>
              <a:t>his personal, proprietary, financial </a:t>
            </a:r>
            <a:r>
              <a:rPr lang="en-US" sz="3800" dirty="0" smtClean="0">
                <a:solidFill>
                  <a:srgbClr val="000000"/>
                </a:solidFill>
              </a:rPr>
              <a:t>or business </a:t>
            </a:r>
            <a:r>
              <a:rPr lang="en-US" sz="3800" dirty="0">
                <a:solidFill>
                  <a:srgbClr val="000000"/>
                </a:solidFill>
              </a:rPr>
              <a:t>interest to conflict with the interest </a:t>
            </a:r>
            <a:r>
              <a:rPr lang="en-US" sz="3800" dirty="0" smtClean="0">
                <a:solidFill>
                  <a:srgbClr val="000000"/>
                </a:solidFill>
              </a:rPr>
              <a:t>of his </a:t>
            </a:r>
            <a:r>
              <a:rPr lang="en-US" sz="3800" dirty="0">
                <a:solidFill>
                  <a:srgbClr val="000000"/>
                </a:solidFill>
              </a:rPr>
              <a:t>client. R. 17 (2</a:t>
            </a:r>
            <a:r>
              <a:rPr lang="en-US" sz="3800" dirty="0" smtClean="0">
                <a:solidFill>
                  <a:srgbClr val="000000"/>
                </a:solidFill>
              </a:rPr>
              <a:t>) RPC.</a:t>
            </a:r>
            <a:br>
              <a:rPr lang="en-US" sz="3800" dirty="0">
                <a:solidFill>
                  <a:srgbClr val="000000"/>
                </a:solidFill>
              </a:rPr>
            </a:br>
            <a:r>
              <a:rPr lang="en-US" sz="3800" dirty="0" smtClean="0">
                <a:solidFill>
                  <a:srgbClr val="000000"/>
                </a:solidFill>
              </a:rPr>
              <a:t>• See other circumstances in R 17 (3) &amp; (5)</a:t>
            </a:r>
            <a:endParaRPr lang="en-US" sz="3800" dirty="0" smtClean="0">
              <a:solidFill>
                <a:srgbClr val="000000"/>
              </a:solidFill>
            </a:endParaRPr>
          </a:p>
          <a:p>
            <a:pPr marL="0" indent="0"/>
            <a:r>
              <a:rPr lang="en-US" sz="3800" dirty="0" smtClean="0">
                <a:solidFill>
                  <a:srgbClr val="000000"/>
                </a:solidFill>
              </a:rPr>
              <a:t>Note: This rule extends to other partners, associates or lawyers in the firm.</a:t>
            </a:r>
            <a:endParaRPr lang="en-US" sz="3800" dirty="0"/>
          </a:p>
          <a:p>
            <a:endParaRPr lang="en-US" sz="38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253" y="209321"/>
            <a:ext cx="11843133" cy="1156772"/>
          </a:xfrm>
        </p:spPr>
        <p:txBody>
          <a:bodyPr>
            <a:normAutofit fontScale="90000"/>
          </a:bodyPr>
          <a:lstStyle/>
          <a:p>
            <a:r>
              <a:rPr lang="en-US" b="1" dirty="0">
                <a:solidFill>
                  <a:srgbClr val="000000"/>
                </a:solidFill>
                <a:latin typeface="Calibri" panose="020F0502020204030204" pitchFamily="34" charset="0"/>
              </a:rPr>
              <a:t>REPRESENTING </a:t>
            </a:r>
            <a:r>
              <a:rPr lang="en-US" b="1" dirty="0" smtClean="0">
                <a:solidFill>
                  <a:srgbClr val="000000"/>
                </a:solidFill>
                <a:latin typeface="Calibri" panose="020F0502020204030204" pitchFamily="34" charset="0"/>
              </a:rPr>
              <a:t>CLIENTS </a:t>
            </a:r>
            <a:r>
              <a:rPr lang="en-US" b="1" dirty="0">
                <a:solidFill>
                  <a:srgbClr val="000000"/>
                </a:solidFill>
                <a:latin typeface="Calibri" panose="020F0502020204030204" pitchFamily="34" charset="0"/>
              </a:rPr>
              <a:t>WITHIN </a:t>
            </a:r>
            <a:r>
              <a:rPr lang="en-US" b="1" dirty="0" smtClean="0">
                <a:solidFill>
                  <a:srgbClr val="000000"/>
                </a:solidFill>
                <a:latin typeface="Calibri" panose="020F0502020204030204" pitchFamily="34" charset="0"/>
              </a:rPr>
              <a:t>THE BOUNDS </a:t>
            </a:r>
            <a:r>
              <a:rPr lang="en-US" b="1" dirty="0">
                <a:solidFill>
                  <a:srgbClr val="000000"/>
                </a:solidFill>
                <a:latin typeface="Calibri" panose="020F0502020204030204" pitchFamily="34" charset="0"/>
              </a:rPr>
              <a:t>OF LAW</a:t>
            </a:r>
            <a:br>
              <a:rPr lang="en-US" b="1" dirty="0">
                <a:solidFill>
                  <a:srgbClr val="000000"/>
                </a:solidFill>
                <a:latin typeface="Calibri" panose="020F0502020204030204" pitchFamily="34" charset="0"/>
              </a:rPr>
            </a:br>
            <a:endParaRPr lang="en-US" b="1" dirty="0"/>
          </a:p>
        </p:txBody>
      </p:sp>
      <p:sp>
        <p:nvSpPr>
          <p:cNvPr id="3" name="Content Placeholder 2"/>
          <p:cNvSpPr>
            <a:spLocks noGrp="1"/>
          </p:cNvSpPr>
          <p:nvPr>
            <p:ph idx="1"/>
          </p:nvPr>
        </p:nvSpPr>
        <p:spPr>
          <a:xfrm>
            <a:off x="739049" y="914399"/>
            <a:ext cx="10515600" cy="5756314"/>
          </a:xfrm>
        </p:spPr>
        <p:txBody>
          <a:bodyPr>
            <a:noAutofit/>
          </a:bodyPr>
          <a:lstStyle/>
          <a:p>
            <a:pPr marL="0" indent="0">
              <a:buNone/>
            </a:pPr>
            <a:r>
              <a:rPr lang="en-US" sz="3600" dirty="0" smtClean="0">
                <a:solidFill>
                  <a:srgbClr val="000000"/>
                </a:solidFill>
                <a:latin typeface="ArialMT"/>
              </a:rPr>
              <a:t>• </a:t>
            </a:r>
            <a:r>
              <a:rPr lang="en-US" sz="3600" dirty="0" smtClean="0">
                <a:solidFill>
                  <a:srgbClr val="000000"/>
                </a:solidFill>
                <a:latin typeface="Calibri" panose="020F0502020204030204" pitchFamily="34" charset="0"/>
              </a:rPr>
              <a:t>A </a:t>
            </a:r>
            <a:r>
              <a:rPr lang="en-US" sz="3600" dirty="0" smtClean="0">
                <a:solidFill>
                  <a:srgbClr val="000000"/>
                </a:solidFill>
                <a:latin typeface="Calibri" panose="020F0502020204030204" pitchFamily="34" charset="0"/>
              </a:rPr>
              <a:t>Lawyer’s first </a:t>
            </a:r>
            <a:r>
              <a:rPr lang="en-US" sz="3600" dirty="0" smtClean="0">
                <a:solidFill>
                  <a:srgbClr val="000000"/>
                </a:solidFill>
                <a:latin typeface="Calibri" panose="020F0502020204030204" pitchFamily="34" charset="0"/>
              </a:rPr>
              <a:t>duty is to uphold the law, this supersedes his duty to his client,</a:t>
            </a:r>
            <a:r>
              <a:rPr lang="en-US" sz="3600" b="1" dirty="0" smtClean="0">
                <a:solidFill>
                  <a:srgbClr val="000000"/>
                </a:solidFill>
                <a:latin typeface="Calibri" panose="020F0502020204030204" pitchFamily="34" charset="0"/>
              </a:rPr>
              <a:t> </a:t>
            </a:r>
            <a:r>
              <a:rPr lang="en-US" sz="3600" dirty="0" smtClean="0">
                <a:solidFill>
                  <a:srgbClr val="000000"/>
                </a:solidFill>
                <a:latin typeface="Calibri" panose="020F0502020204030204" pitchFamily="34" charset="0"/>
              </a:rPr>
              <a:t>therefore he must refuse to participate or aid conducts that are unlawful. R. 15(1) RPC. </a:t>
            </a:r>
            <a:br>
              <a:rPr lang="en-US" sz="3600" dirty="0" smtClean="0">
                <a:solidFill>
                  <a:srgbClr val="000000"/>
                </a:solidFill>
                <a:latin typeface="Calibri" panose="020F0502020204030204" pitchFamily="34" charset="0"/>
              </a:rPr>
            </a:br>
            <a:r>
              <a:rPr lang="en-US" sz="3600" dirty="0" smtClean="0">
                <a:solidFill>
                  <a:srgbClr val="000000"/>
                </a:solidFill>
                <a:latin typeface="ArialMT"/>
              </a:rPr>
              <a:t>• </a:t>
            </a:r>
            <a:r>
              <a:rPr lang="en-US" sz="3600" dirty="0" smtClean="0">
                <a:solidFill>
                  <a:srgbClr val="000000"/>
                </a:solidFill>
                <a:latin typeface="Calibri" panose="020F0502020204030204" pitchFamily="34" charset="0"/>
              </a:rPr>
              <a:t>In his representation of his </a:t>
            </a:r>
            <a:r>
              <a:rPr lang="en-US" sz="3600" dirty="0" smtClean="0">
                <a:solidFill>
                  <a:srgbClr val="000000"/>
                </a:solidFill>
                <a:latin typeface="Calibri" panose="020F0502020204030204" pitchFamily="34" charset="0"/>
              </a:rPr>
              <a:t>client, </a:t>
            </a:r>
            <a:r>
              <a:rPr lang="en-US" sz="3600" dirty="0" smtClean="0">
                <a:solidFill>
                  <a:srgbClr val="000000"/>
                </a:solidFill>
                <a:latin typeface="Calibri" panose="020F0502020204030204" pitchFamily="34" charset="0"/>
              </a:rPr>
              <a:t>a </a:t>
            </a:r>
            <a:r>
              <a:rPr lang="en-US" sz="3600" dirty="0" smtClean="0">
                <a:solidFill>
                  <a:srgbClr val="000000"/>
                </a:solidFill>
                <a:latin typeface="Calibri" panose="020F0502020204030204" pitchFamily="34" charset="0"/>
              </a:rPr>
              <a:t>Lawyer must </a:t>
            </a:r>
            <a:r>
              <a:rPr lang="en-US" sz="3600" dirty="0" smtClean="0">
                <a:solidFill>
                  <a:srgbClr val="000000"/>
                </a:solidFill>
                <a:latin typeface="Calibri" panose="020F0502020204030204" pitchFamily="34" charset="0"/>
              </a:rPr>
              <a:t>keep strictly within the law not withstanding any contrary instruction from the client</a:t>
            </a:r>
            <a:r>
              <a:rPr lang="en-US" sz="3600" dirty="0" smtClean="0">
                <a:solidFill>
                  <a:srgbClr val="000000"/>
                </a:solidFill>
                <a:latin typeface="Calibri" panose="020F0502020204030204" pitchFamily="34" charset="0"/>
              </a:rPr>
              <a:t>.</a:t>
            </a:r>
            <a:endParaRPr lang="en-US" sz="3600" dirty="0" smtClean="0">
              <a:solidFill>
                <a:srgbClr val="000000"/>
              </a:solidFill>
              <a:latin typeface="Calibri" panose="020F0502020204030204" pitchFamily="34" charset="0"/>
            </a:endParaRPr>
          </a:p>
          <a:p>
            <a:r>
              <a:rPr lang="en-US" sz="3600" dirty="0" smtClean="0">
                <a:solidFill>
                  <a:srgbClr val="000000"/>
                </a:solidFill>
                <a:latin typeface="Calibri" panose="020F0502020204030204" pitchFamily="34" charset="0"/>
              </a:rPr>
              <a:t>Where the client insists on perpetrating illegality, </a:t>
            </a:r>
            <a:r>
              <a:rPr lang="en-US" sz="3600" dirty="0" smtClean="0">
                <a:solidFill>
                  <a:srgbClr val="000000"/>
                </a:solidFill>
                <a:latin typeface="Calibri" panose="020F0502020204030204" pitchFamily="34" charset="0"/>
              </a:rPr>
              <a:t>the Lawyer  </a:t>
            </a:r>
            <a:r>
              <a:rPr lang="en-US" sz="3600" dirty="0" smtClean="0">
                <a:solidFill>
                  <a:srgbClr val="000000"/>
                </a:solidFill>
                <a:latin typeface="Calibri" panose="020F0502020204030204" pitchFamily="34" charset="0"/>
              </a:rPr>
              <a:t>must withdraw his employment. R. 15(2)(a) RPC.</a:t>
            </a:r>
            <a:br>
              <a:rPr lang="en-US" sz="3600" dirty="0" smtClean="0"/>
            </a:br>
            <a:endParaRPr lang="en-US" sz="36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0065" y="133772"/>
            <a:ext cx="10515600" cy="361988"/>
          </a:xfrm>
        </p:spPr>
        <p:txBody>
          <a:bodyPr>
            <a:normAutofit fontScale="90000"/>
          </a:bodyPr>
          <a:lstStyle/>
          <a:p>
            <a:endParaRPr lang="en-US" dirty="0"/>
          </a:p>
        </p:txBody>
      </p:sp>
      <p:sp>
        <p:nvSpPr>
          <p:cNvPr id="3" name="Content Placeholder 2"/>
          <p:cNvSpPr>
            <a:spLocks noGrp="1"/>
          </p:cNvSpPr>
          <p:nvPr>
            <p:ph idx="1"/>
          </p:nvPr>
        </p:nvSpPr>
        <p:spPr>
          <a:xfrm>
            <a:off x="750064" y="683046"/>
            <a:ext cx="10861713" cy="6070294"/>
          </a:xfrm>
        </p:spPr>
        <p:txBody>
          <a:bodyPr>
            <a:normAutofit/>
          </a:bodyPr>
          <a:lstStyle/>
          <a:p>
            <a:r>
              <a:rPr lang="en-US" sz="4000" dirty="0" smtClean="0"/>
              <a:t>A </a:t>
            </a:r>
            <a:r>
              <a:rPr lang="en-US" sz="4000" dirty="0" smtClean="0"/>
              <a:t>Lawyer must ensure he restrains his client from doing anything that will amount to a misconduct or breach of the Law in particular reference </a:t>
            </a:r>
            <a:r>
              <a:rPr lang="en-US" sz="4000" dirty="0" smtClean="0"/>
              <a:t>to judicial officers, witnesses and litigants. </a:t>
            </a:r>
            <a:endParaRPr lang="en-US" sz="4000" dirty="0"/>
          </a:p>
          <a:p>
            <a:r>
              <a:rPr lang="en-US" sz="4000" dirty="0" smtClean="0"/>
              <a:t>A </a:t>
            </a:r>
            <a:r>
              <a:rPr lang="en-US" sz="4000" dirty="0" smtClean="0"/>
              <a:t>Lawyer must not advise his client to do anything which he knows or </a:t>
            </a:r>
            <a:r>
              <a:rPr lang="en-US" sz="4000" dirty="0" smtClean="0"/>
              <a:t>ought </a:t>
            </a:r>
            <a:r>
              <a:rPr lang="en-US" sz="4000" dirty="0" smtClean="0"/>
              <a:t>to </a:t>
            </a:r>
            <a:r>
              <a:rPr lang="en-US" sz="4000" dirty="0" smtClean="0"/>
              <a:t>know is capable of </a:t>
            </a:r>
            <a:r>
              <a:rPr lang="en-US" sz="4000" dirty="0" smtClean="0"/>
              <a:t>resulting in </a:t>
            </a:r>
            <a:r>
              <a:rPr lang="en-US" sz="4000" dirty="0" smtClean="0"/>
              <a:t>a breach of the law, disrespect to a judicial officer or involving corruption of a judicial officer or other public officers. </a:t>
            </a:r>
            <a:endParaRPr lang="en-US" sz="4000" dirty="0" smtClean="0"/>
          </a:p>
          <a:p>
            <a:pPr>
              <a:buNone/>
            </a:pPr>
            <a:r>
              <a:rPr lang="en-US" sz="4000" dirty="0" smtClean="0"/>
              <a:t>See </a:t>
            </a:r>
            <a:r>
              <a:rPr lang="en-US" sz="4000" dirty="0" smtClean="0"/>
              <a:t>Rule 15 (3) (a) </a:t>
            </a:r>
            <a:r>
              <a:rPr lang="en-US" sz="4000" dirty="0" smtClean="0"/>
              <a:t>RPC.</a:t>
            </a:r>
            <a:endParaRPr lang="en-US" sz="4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22754"/>
            <a:ext cx="10515600" cy="218769"/>
          </a:xfrm>
        </p:spPr>
        <p:txBody>
          <a:bodyPr>
            <a:noAutofit/>
          </a:bodyPr>
          <a:lstStyle/>
          <a:p>
            <a:endParaRPr lang="en-US" sz="3600" dirty="0"/>
          </a:p>
        </p:txBody>
      </p:sp>
      <p:sp>
        <p:nvSpPr>
          <p:cNvPr id="3" name="Content Placeholder 2"/>
          <p:cNvSpPr>
            <a:spLocks noGrp="1"/>
          </p:cNvSpPr>
          <p:nvPr>
            <p:ph idx="1"/>
          </p:nvPr>
        </p:nvSpPr>
        <p:spPr>
          <a:xfrm>
            <a:off x="838200" y="528810"/>
            <a:ext cx="10515600" cy="6191479"/>
          </a:xfrm>
        </p:spPr>
        <p:txBody>
          <a:bodyPr>
            <a:noAutofit/>
          </a:bodyPr>
          <a:lstStyle/>
          <a:p>
            <a:r>
              <a:rPr lang="en-US" sz="3400" dirty="0" smtClean="0"/>
              <a:t>A Lawyer shall not institute any action or conduct any </a:t>
            </a:r>
            <a:r>
              <a:rPr lang="en-US" sz="3400" dirty="0" err="1" smtClean="0"/>
              <a:t>defence</a:t>
            </a:r>
            <a:r>
              <a:rPr lang="en-US" sz="3400" dirty="0" smtClean="0"/>
              <a:t> on behalf of his client with the intention to merely harass or injure another </a:t>
            </a:r>
            <a:r>
              <a:rPr lang="en-US" sz="3400" dirty="0" smtClean="0"/>
              <a:t>person. Rule 15(3)(b) RPC.</a:t>
            </a:r>
            <a:endParaRPr lang="en-US" sz="3400" dirty="0" smtClean="0"/>
          </a:p>
          <a:p>
            <a:r>
              <a:rPr lang="en-US" sz="3400" dirty="0" smtClean="0"/>
              <a:t>A Lawyer </a:t>
            </a:r>
            <a:r>
              <a:rPr lang="en-US" sz="3400" dirty="0" smtClean="0"/>
              <a:t>shall not </a:t>
            </a:r>
            <a:r>
              <a:rPr lang="en-US" sz="3400" dirty="0" smtClean="0"/>
              <a:t>deliberately pursue a claim or </a:t>
            </a:r>
            <a:r>
              <a:rPr lang="en-US" sz="3400" dirty="0" err="1" smtClean="0"/>
              <a:t>defence</a:t>
            </a:r>
            <a:r>
              <a:rPr lang="en-US" sz="3400" dirty="0" smtClean="0"/>
              <a:t> that is unjustified </a:t>
            </a:r>
            <a:r>
              <a:rPr lang="en-US" sz="3400" dirty="0" smtClean="0"/>
              <a:t>in Law, unless it is intended </a:t>
            </a:r>
            <a:r>
              <a:rPr lang="en-US" sz="3400" dirty="0" smtClean="0"/>
              <a:t>to </a:t>
            </a:r>
            <a:r>
              <a:rPr lang="en-US" sz="3400" dirty="0" smtClean="0"/>
              <a:t>extend, modify or reverse such a law. Rule 15(3)(c) RPC</a:t>
            </a:r>
            <a:r>
              <a:rPr lang="en-US" sz="3400" dirty="0" smtClean="0"/>
              <a:t>.</a:t>
            </a:r>
            <a:endParaRPr lang="en-US" sz="3400" dirty="0" smtClean="0"/>
          </a:p>
          <a:p>
            <a:r>
              <a:rPr lang="en-US" sz="3400" dirty="0" smtClean="0"/>
              <a:t>A Lawyer must not fail to notify his client of the option of ADR before instituting or continuing Litigation. </a:t>
            </a:r>
            <a:r>
              <a:rPr lang="en-US" sz="3400" dirty="0" smtClean="0"/>
              <a:t>Rule 15(3</a:t>
            </a:r>
            <a:r>
              <a:rPr lang="en-US" sz="3400" dirty="0" smtClean="0"/>
              <a:t>)(d) </a:t>
            </a:r>
            <a:r>
              <a:rPr lang="en-US" sz="3400" dirty="0" smtClean="0"/>
              <a:t>RPC.</a:t>
            </a:r>
            <a:endParaRPr lang="en-US" sz="3400" dirty="0" smtClean="0"/>
          </a:p>
          <a:p>
            <a:r>
              <a:rPr lang="en-US" sz="3400" dirty="0" smtClean="0"/>
              <a:t>A Lawyer </a:t>
            </a:r>
            <a:r>
              <a:rPr lang="en-US" sz="3400" dirty="0" smtClean="0"/>
              <a:t>shall not conceal or knowingly fail to disclose that which he is required by law to reveal. Rule 15(3)(e) RPC.</a:t>
            </a:r>
            <a:endParaRPr lang="en-US" sz="34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720"/>
            <a:ext cx="10515600" cy="295887"/>
          </a:xfrm>
        </p:spPr>
        <p:txBody>
          <a:bodyPr>
            <a:normAutofit fontScale="90000"/>
          </a:bodyPr>
          <a:lstStyle/>
          <a:p>
            <a:endParaRPr lang="en-US" dirty="0"/>
          </a:p>
        </p:txBody>
      </p:sp>
      <p:sp>
        <p:nvSpPr>
          <p:cNvPr id="3" name="Content Placeholder 2"/>
          <p:cNvSpPr>
            <a:spLocks noGrp="1"/>
          </p:cNvSpPr>
          <p:nvPr>
            <p:ph idx="1"/>
          </p:nvPr>
        </p:nvSpPr>
        <p:spPr>
          <a:xfrm>
            <a:off x="705997" y="506775"/>
            <a:ext cx="10515600" cy="6257582"/>
          </a:xfrm>
        </p:spPr>
        <p:txBody>
          <a:bodyPr>
            <a:normAutofit lnSpcReduction="10000"/>
          </a:bodyPr>
          <a:lstStyle/>
          <a:p>
            <a:r>
              <a:rPr lang="en-US" sz="3600" dirty="0" smtClean="0"/>
              <a:t>A Lawyer shall </a:t>
            </a:r>
            <a:r>
              <a:rPr lang="en-US" sz="3600" dirty="0" smtClean="0"/>
              <a:t>not </a:t>
            </a:r>
            <a:r>
              <a:rPr lang="en-US" sz="3600" dirty="0" smtClean="0"/>
              <a:t>procure or </a:t>
            </a:r>
            <a:r>
              <a:rPr lang="en-US" sz="3600" dirty="0" smtClean="0"/>
              <a:t>use </a:t>
            </a:r>
            <a:r>
              <a:rPr lang="en-US" sz="3600" dirty="0" smtClean="0"/>
              <a:t>false evidence in the pursuit of his client’s case. </a:t>
            </a:r>
            <a:r>
              <a:rPr lang="en-US" sz="3600" dirty="0" smtClean="0"/>
              <a:t>Rule 15(3)(f) RPC.</a:t>
            </a:r>
            <a:endParaRPr lang="en-US" sz="3600" dirty="0" smtClean="0"/>
          </a:p>
          <a:p>
            <a:r>
              <a:rPr lang="en-US" sz="3600" dirty="0" smtClean="0"/>
              <a:t>A Lawyer shall </a:t>
            </a:r>
            <a:r>
              <a:rPr lang="en-US" sz="3600" dirty="0" smtClean="0"/>
              <a:t>not </a:t>
            </a:r>
            <a:r>
              <a:rPr lang="en-US" sz="3600" dirty="0" smtClean="0"/>
              <a:t>intentionally make </a:t>
            </a:r>
            <a:r>
              <a:rPr lang="en-US" sz="3600" dirty="0" smtClean="0"/>
              <a:t>a false statement of law or facts. Rule 15(3)(g) RPC.</a:t>
            </a:r>
            <a:endParaRPr lang="en-US" sz="3600" dirty="0" smtClean="0"/>
          </a:p>
          <a:p>
            <a:r>
              <a:rPr lang="en-US" sz="3600" dirty="0" smtClean="0"/>
              <a:t>A Lawyer </a:t>
            </a:r>
            <a:r>
              <a:rPr lang="en-US" sz="3600" dirty="0" smtClean="0"/>
              <a:t>shall not </a:t>
            </a:r>
            <a:r>
              <a:rPr lang="en-US" sz="3600" dirty="0" smtClean="0"/>
              <a:t>procure or joi</a:t>
            </a:r>
            <a:r>
              <a:rPr lang="en-US" sz="3600" dirty="0" smtClean="0"/>
              <a:t>n in the procurement of false evidence in the </a:t>
            </a:r>
            <a:r>
              <a:rPr lang="en-US" sz="3600" dirty="0" smtClean="0"/>
              <a:t>pursuit of his client’s case. </a:t>
            </a:r>
            <a:r>
              <a:rPr lang="en-US" sz="3600" dirty="0" smtClean="0"/>
              <a:t>Rule 15(3)(h) RPC.</a:t>
            </a:r>
            <a:endParaRPr lang="en-US" sz="3600" dirty="0" smtClean="0"/>
          </a:p>
          <a:p>
            <a:r>
              <a:rPr lang="en-US" sz="3600" dirty="0" smtClean="0"/>
              <a:t>A Lawyer shall </a:t>
            </a:r>
            <a:r>
              <a:rPr lang="en-US" sz="3600" dirty="0" smtClean="0"/>
              <a:t>not </a:t>
            </a:r>
            <a:r>
              <a:rPr lang="en-US" sz="3600" dirty="0" smtClean="0"/>
              <a:t>advise or assist his client to engage in a conduct that is </a:t>
            </a:r>
            <a:r>
              <a:rPr lang="en-US" sz="3600" dirty="0" smtClean="0"/>
              <a:t>illegal or fraudulent. Rule 15(3)(</a:t>
            </a:r>
            <a:r>
              <a:rPr lang="en-US" sz="3600" dirty="0" err="1" smtClean="0"/>
              <a:t>i</a:t>
            </a:r>
            <a:r>
              <a:rPr lang="en-US" sz="3600" dirty="0" smtClean="0"/>
              <a:t>) RPC</a:t>
            </a:r>
            <a:endParaRPr lang="en-US" sz="3600" dirty="0" smtClean="0"/>
          </a:p>
          <a:p>
            <a:r>
              <a:rPr lang="en-US" sz="3600" dirty="0" smtClean="0"/>
              <a:t>A Lawyer shall </a:t>
            </a:r>
            <a:r>
              <a:rPr lang="en-US" sz="3600" dirty="0" smtClean="0"/>
              <a:t>not </a:t>
            </a:r>
            <a:r>
              <a:rPr lang="en-US" sz="3600" dirty="0" smtClean="0"/>
              <a:t>act in breach of any Law or </a:t>
            </a:r>
            <a:r>
              <a:rPr lang="en-US" sz="3600" dirty="0" smtClean="0"/>
              <a:t>ru</a:t>
            </a:r>
            <a:r>
              <a:rPr lang="en-US" sz="3600" dirty="0" smtClean="0"/>
              <a:t>les in rendering services to his client. </a:t>
            </a:r>
            <a:r>
              <a:rPr lang="en-US" sz="3600" dirty="0" smtClean="0"/>
              <a:t>Rule 15(3)(j) RPC.</a:t>
            </a:r>
            <a:endParaRPr lang="en-US" sz="36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8687"/>
            <a:ext cx="10515600" cy="1045033"/>
          </a:xfrm>
        </p:spPr>
        <p:txBody>
          <a:bodyPr/>
          <a:lstStyle/>
          <a:p>
            <a:pPr algn="ctr"/>
            <a:r>
              <a:rPr lang="en-US" b="1" dirty="0">
                <a:solidFill>
                  <a:srgbClr val="000000"/>
                </a:solidFill>
                <a:latin typeface="Calibri" panose="020F0502020204030204" pitchFamily="34" charset="0"/>
              </a:rPr>
              <a:t>REPRESENTING CLIENT COMPETENTLY</a:t>
            </a:r>
            <a:endParaRPr lang="en-US" b="1" dirty="0"/>
          </a:p>
        </p:txBody>
      </p:sp>
      <p:sp>
        <p:nvSpPr>
          <p:cNvPr id="3" name="Content Placeholder 2"/>
          <p:cNvSpPr>
            <a:spLocks noGrp="1"/>
          </p:cNvSpPr>
          <p:nvPr>
            <p:ph idx="1"/>
          </p:nvPr>
        </p:nvSpPr>
        <p:spPr>
          <a:xfrm>
            <a:off x="418640" y="958467"/>
            <a:ext cx="11424493" cy="5734280"/>
          </a:xfrm>
        </p:spPr>
        <p:txBody>
          <a:bodyPr>
            <a:noAutofit/>
          </a:bodyPr>
          <a:lstStyle/>
          <a:p>
            <a:pPr marL="0" indent="0">
              <a:buNone/>
            </a:pPr>
            <a:r>
              <a:rPr lang="en-US" sz="3400" dirty="0" smtClean="0">
                <a:solidFill>
                  <a:srgbClr val="000000"/>
                </a:solidFill>
                <a:latin typeface="ArialMT"/>
              </a:rPr>
              <a:t>• </a:t>
            </a:r>
            <a:r>
              <a:rPr lang="en-US" sz="3400" dirty="0" smtClean="0">
                <a:solidFill>
                  <a:srgbClr val="000000"/>
                </a:solidFill>
                <a:latin typeface="Calibri" panose="020F0502020204030204" pitchFamily="34" charset="0"/>
              </a:rPr>
              <a:t>A Lawyer must exhibit professional competence in the conduct of his client’s case.</a:t>
            </a:r>
            <a:endParaRPr lang="en-US" sz="3400" dirty="0" smtClean="0">
              <a:solidFill>
                <a:srgbClr val="000000"/>
              </a:solidFill>
              <a:latin typeface="Calibri" panose="020F0502020204030204" pitchFamily="34" charset="0"/>
            </a:endParaRPr>
          </a:p>
          <a:p>
            <a:pPr marL="0" indent="0"/>
            <a:r>
              <a:rPr lang="en-US" sz="3400" dirty="0" smtClean="0">
                <a:solidFill>
                  <a:srgbClr val="000000"/>
                </a:solidFill>
                <a:latin typeface="Calibri" panose="020F0502020204030204" pitchFamily="34" charset="0"/>
              </a:rPr>
              <a:t>Where a Lawyer is </a:t>
            </a:r>
            <a:r>
              <a:rPr lang="en-US" sz="3400" dirty="0" smtClean="0">
                <a:solidFill>
                  <a:srgbClr val="000000"/>
                </a:solidFill>
                <a:latin typeface="Calibri" panose="020F0502020204030204" pitchFamily="34" charset="0"/>
              </a:rPr>
              <a:t>not competent </a:t>
            </a:r>
            <a:r>
              <a:rPr lang="en-US" sz="3400" dirty="0">
                <a:solidFill>
                  <a:srgbClr val="000000"/>
                </a:solidFill>
                <a:latin typeface="Calibri" panose="020F0502020204030204" pitchFamily="34" charset="0"/>
              </a:rPr>
              <a:t>to handle </a:t>
            </a:r>
            <a:r>
              <a:rPr lang="en-US" sz="3400" dirty="0" smtClean="0">
                <a:solidFill>
                  <a:srgbClr val="000000"/>
                </a:solidFill>
                <a:latin typeface="Calibri" panose="020F0502020204030204" pitchFamily="34" charset="0"/>
              </a:rPr>
              <a:t>a matter, he must associate himself with another Lawyer who is competent, </a:t>
            </a:r>
            <a:r>
              <a:rPr lang="en-US" sz="3400" dirty="0">
                <a:solidFill>
                  <a:srgbClr val="000000"/>
                </a:solidFill>
                <a:latin typeface="Calibri" panose="020F0502020204030204" pitchFamily="34" charset="0"/>
              </a:rPr>
              <a:t>unless </a:t>
            </a:r>
            <a:r>
              <a:rPr lang="en-US" sz="3400" dirty="0" smtClean="0">
                <a:solidFill>
                  <a:srgbClr val="000000"/>
                </a:solidFill>
                <a:latin typeface="Calibri" panose="020F0502020204030204" pitchFamily="34" charset="0"/>
              </a:rPr>
              <a:t>the client </a:t>
            </a:r>
            <a:r>
              <a:rPr lang="en-US" sz="3400" dirty="0">
                <a:solidFill>
                  <a:srgbClr val="000000"/>
                </a:solidFill>
                <a:latin typeface="Calibri" panose="020F0502020204030204" pitchFamily="34" charset="0"/>
              </a:rPr>
              <a:t>objects</a:t>
            </a:r>
            <a:r>
              <a:rPr lang="en-US" sz="3400" dirty="0" smtClean="0">
                <a:solidFill>
                  <a:srgbClr val="000000"/>
                </a:solidFill>
                <a:latin typeface="Calibri" panose="020F0502020204030204" pitchFamily="34" charset="0"/>
              </a:rPr>
              <a:t>. </a:t>
            </a:r>
            <a:r>
              <a:rPr lang="en-US" sz="3400" dirty="0" smtClean="0">
                <a:solidFill>
                  <a:srgbClr val="000000"/>
                </a:solidFill>
                <a:latin typeface="Calibri" panose="020F0502020204030204" pitchFamily="34" charset="0"/>
              </a:rPr>
              <a:t>See Rule 16</a:t>
            </a:r>
            <a:br>
              <a:rPr lang="en-US" sz="3400" dirty="0">
                <a:solidFill>
                  <a:srgbClr val="000000"/>
                </a:solidFill>
                <a:latin typeface="Calibri" panose="020F0502020204030204" pitchFamily="34" charset="0"/>
              </a:rPr>
            </a:br>
            <a:r>
              <a:rPr lang="en-US" sz="3400" dirty="0">
                <a:solidFill>
                  <a:srgbClr val="000000"/>
                </a:solidFill>
                <a:latin typeface="ArialMT"/>
              </a:rPr>
              <a:t>• </a:t>
            </a:r>
            <a:r>
              <a:rPr lang="en-US" sz="3400" dirty="0" smtClean="0">
                <a:solidFill>
                  <a:srgbClr val="000000"/>
                </a:solidFill>
                <a:latin typeface="Calibri" panose="020F0502020204030204" pitchFamily="34" charset="0"/>
              </a:rPr>
              <a:t>A Lawyer </a:t>
            </a:r>
            <a:r>
              <a:rPr lang="en-US" sz="3400" dirty="0" smtClean="0">
                <a:solidFill>
                  <a:srgbClr val="000000"/>
                </a:solidFill>
                <a:latin typeface="Calibri" panose="020F0502020204030204" pitchFamily="34" charset="0"/>
              </a:rPr>
              <a:t>must at all times be adequately prepared for every matter.</a:t>
            </a:r>
            <a:br>
              <a:rPr lang="en-US" sz="3400" dirty="0">
                <a:solidFill>
                  <a:srgbClr val="000000"/>
                </a:solidFill>
                <a:latin typeface="Calibri" panose="020F0502020204030204" pitchFamily="34" charset="0"/>
              </a:rPr>
            </a:br>
            <a:r>
              <a:rPr lang="en-US" sz="3400" dirty="0">
                <a:solidFill>
                  <a:srgbClr val="000000"/>
                </a:solidFill>
                <a:latin typeface="ArialMT"/>
              </a:rPr>
              <a:t>• </a:t>
            </a:r>
            <a:r>
              <a:rPr lang="en-US" sz="3400" dirty="0" smtClean="0">
                <a:solidFill>
                  <a:srgbClr val="000000"/>
                </a:solidFill>
                <a:latin typeface="Calibri" panose="020F0502020204030204" pitchFamily="34" charset="0"/>
              </a:rPr>
              <a:t>A Lawyer </a:t>
            </a:r>
            <a:r>
              <a:rPr lang="en-US" sz="3400" dirty="0" smtClean="0">
                <a:solidFill>
                  <a:srgbClr val="000000"/>
                </a:solidFill>
                <a:latin typeface="Calibri" panose="020F0502020204030204" pitchFamily="34" charset="0"/>
              </a:rPr>
              <a:t>must </a:t>
            </a:r>
            <a:r>
              <a:rPr lang="en-US" sz="3400" dirty="0" smtClean="0">
                <a:solidFill>
                  <a:srgbClr val="000000"/>
                </a:solidFill>
                <a:latin typeface="Calibri" panose="020F0502020204030204" pitchFamily="34" charset="0"/>
              </a:rPr>
              <a:t>not neglect </a:t>
            </a:r>
            <a:r>
              <a:rPr lang="en-US" sz="3400" dirty="0">
                <a:solidFill>
                  <a:srgbClr val="000000"/>
                </a:solidFill>
                <a:latin typeface="Calibri" panose="020F0502020204030204" pitchFamily="34" charset="0"/>
              </a:rPr>
              <a:t>or abandon </a:t>
            </a:r>
            <a:r>
              <a:rPr lang="en-US" sz="3400" dirty="0" smtClean="0">
                <a:solidFill>
                  <a:srgbClr val="000000"/>
                </a:solidFill>
                <a:latin typeface="Calibri" panose="020F0502020204030204" pitchFamily="34" charset="0"/>
              </a:rPr>
              <a:t>any matter he is handling.</a:t>
            </a:r>
            <a:br>
              <a:rPr lang="en-US" sz="3400" dirty="0" smtClean="0"/>
            </a:br>
            <a:r>
              <a:rPr lang="en-US" sz="3400" dirty="0">
                <a:solidFill>
                  <a:srgbClr val="000000"/>
                </a:solidFill>
                <a:latin typeface="ArialMT"/>
              </a:rPr>
              <a:t>• </a:t>
            </a:r>
            <a:r>
              <a:rPr lang="en-US" sz="3400" dirty="0" smtClean="0">
                <a:solidFill>
                  <a:srgbClr val="000000"/>
                </a:solidFill>
                <a:latin typeface="Calibri" panose="020F0502020204030204" pitchFamily="34" charset="0"/>
              </a:rPr>
              <a:t>A Lawyer </a:t>
            </a:r>
            <a:r>
              <a:rPr lang="en-US" sz="3400" dirty="0" smtClean="0">
                <a:solidFill>
                  <a:srgbClr val="000000"/>
                </a:solidFill>
                <a:latin typeface="Calibri" panose="020F0502020204030204" pitchFamily="34" charset="0"/>
              </a:rPr>
              <a:t>shall be personally liable to </a:t>
            </a:r>
            <a:r>
              <a:rPr lang="en-US" sz="3400" dirty="0">
                <a:solidFill>
                  <a:srgbClr val="000000"/>
                </a:solidFill>
                <a:latin typeface="Calibri" panose="020F0502020204030204" pitchFamily="34" charset="0"/>
              </a:rPr>
              <a:t>his client for his </a:t>
            </a:r>
            <a:r>
              <a:rPr lang="en-US" sz="3400" dirty="0" smtClean="0">
                <a:solidFill>
                  <a:srgbClr val="000000"/>
                </a:solidFill>
                <a:latin typeface="Calibri" panose="020F0502020204030204" pitchFamily="34" charset="0"/>
              </a:rPr>
              <a:t>personal malpractice </a:t>
            </a:r>
            <a:r>
              <a:rPr lang="en-US" sz="3400" dirty="0">
                <a:solidFill>
                  <a:srgbClr val="000000"/>
                </a:solidFill>
                <a:latin typeface="Calibri" panose="020F0502020204030204" pitchFamily="34" charset="0"/>
              </a:rPr>
              <a:t>or professional </a:t>
            </a:r>
            <a:r>
              <a:rPr lang="en-US" sz="3400" dirty="0" smtClean="0">
                <a:solidFill>
                  <a:srgbClr val="000000"/>
                </a:solidFill>
                <a:latin typeface="Calibri" panose="020F0502020204030204" pitchFamily="34" charset="0"/>
              </a:rPr>
              <a:t>misconduct and shall not attempt to exonerate </a:t>
            </a:r>
            <a:r>
              <a:rPr lang="en-US" sz="3400" dirty="0" smtClean="0">
                <a:solidFill>
                  <a:srgbClr val="000000"/>
                </a:solidFill>
                <a:latin typeface="Calibri" panose="020F0502020204030204" pitchFamily="34" charset="0"/>
              </a:rPr>
              <a:t>himself from such liability. </a:t>
            </a:r>
            <a:br>
              <a:rPr lang="en-US" sz="3400" dirty="0" smtClean="0"/>
            </a:br>
            <a:endParaRPr lang="en-US" sz="3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solidFill>
                  <a:srgbClr val="000000"/>
                </a:solidFill>
                <a:latin typeface="Calibri" panose="020F0502020204030204" pitchFamily="34" charset="0"/>
              </a:rPr>
              <a:t>PROFESSIONAL NEGLIGENCE BY</a:t>
            </a:r>
            <a:br>
              <a:rPr lang="en-US" b="1" dirty="0">
                <a:solidFill>
                  <a:srgbClr val="000000"/>
                </a:solidFill>
                <a:latin typeface="Calibri" panose="020F0502020204030204" pitchFamily="34" charset="0"/>
              </a:rPr>
            </a:br>
            <a:r>
              <a:rPr lang="en-US" b="1" dirty="0" smtClean="0">
                <a:solidFill>
                  <a:srgbClr val="000000"/>
                </a:solidFill>
                <a:latin typeface="Calibri" panose="020F0502020204030204" pitchFamily="34" charset="0"/>
              </a:rPr>
              <a:t>LAWYERS</a:t>
            </a:r>
            <a:br>
              <a:rPr lang="en-US" b="1" dirty="0">
                <a:solidFill>
                  <a:srgbClr val="000000"/>
                </a:solidFill>
                <a:latin typeface="Calibri" panose="020F0502020204030204" pitchFamily="34" charset="0"/>
              </a:rPr>
            </a:br>
            <a:endParaRPr lang="en-US" b="1" dirty="0"/>
          </a:p>
        </p:txBody>
      </p:sp>
      <p:sp>
        <p:nvSpPr>
          <p:cNvPr id="3" name="Content Placeholder 2"/>
          <p:cNvSpPr>
            <a:spLocks noGrp="1"/>
          </p:cNvSpPr>
          <p:nvPr>
            <p:ph idx="1"/>
          </p:nvPr>
        </p:nvSpPr>
        <p:spPr>
          <a:xfrm>
            <a:off x="838200" y="1597446"/>
            <a:ext cx="10515600" cy="4579517"/>
          </a:xfrm>
        </p:spPr>
        <p:txBody>
          <a:bodyPr>
            <a:noAutofit/>
          </a:bodyPr>
          <a:lstStyle/>
          <a:p>
            <a:r>
              <a:rPr lang="en-US" sz="3500" dirty="0" smtClean="0">
                <a:solidFill>
                  <a:srgbClr val="000000"/>
                </a:solidFill>
                <a:latin typeface="Calibri" panose="020F0502020204030204" pitchFamily="34" charset="0"/>
              </a:rPr>
              <a:t>A Lawyer is liable for professional negligence while acting on behalf of his client. Section </a:t>
            </a:r>
            <a:r>
              <a:rPr lang="en-US" sz="3500" dirty="0">
                <a:solidFill>
                  <a:srgbClr val="000000"/>
                </a:solidFill>
                <a:latin typeface="Calibri" panose="020F0502020204030204" pitchFamily="34" charset="0"/>
              </a:rPr>
              <a:t>9(1) of the Legal Practitioners </a:t>
            </a:r>
            <a:r>
              <a:rPr lang="en-US" sz="3500" dirty="0" smtClean="0">
                <a:solidFill>
                  <a:srgbClr val="000000"/>
                </a:solidFill>
                <a:latin typeface="Calibri" panose="020F0502020204030204" pitchFamily="34" charset="0"/>
              </a:rPr>
              <a:t>Act.</a:t>
            </a:r>
            <a:endParaRPr lang="en-US" sz="3500" dirty="0" smtClean="0">
              <a:solidFill>
                <a:srgbClr val="000000"/>
              </a:solidFill>
              <a:latin typeface="Calibri" panose="020F0502020204030204" pitchFamily="34" charset="0"/>
            </a:endParaRPr>
          </a:p>
          <a:p>
            <a:r>
              <a:rPr lang="en-US" sz="3500" dirty="0" smtClean="0">
                <a:solidFill>
                  <a:srgbClr val="000000"/>
                </a:solidFill>
                <a:latin typeface="Calibri" panose="020F0502020204030204" pitchFamily="34" charset="0"/>
              </a:rPr>
              <a:t>Where a Lawyer acts in breach of his duties to his client and there is a resultant injury and damages to the client, the client may institute an action against the Lawyer for professional negligence.</a:t>
            </a:r>
            <a:endParaRPr lang="en-US" sz="3500" dirty="0">
              <a:solidFill>
                <a:srgbClr val="000000"/>
              </a:solidFill>
              <a:latin typeface="Calibri" panose="020F0502020204030204" pitchFamily="34" charset="0"/>
            </a:endParaRPr>
          </a:p>
          <a:p>
            <a:r>
              <a:rPr lang="en-US" sz="3500" dirty="0" smtClean="0">
                <a:solidFill>
                  <a:srgbClr val="000000"/>
                </a:solidFill>
                <a:latin typeface="Calibri" panose="020F0502020204030204" pitchFamily="34" charset="0"/>
              </a:rPr>
              <a:t>A Lawyer bears personal responsibility for all questionable claims or </a:t>
            </a:r>
            <a:r>
              <a:rPr lang="en-US" sz="3500" dirty="0" err="1" smtClean="0">
                <a:solidFill>
                  <a:srgbClr val="000000"/>
                </a:solidFill>
                <a:latin typeface="Calibri" panose="020F0502020204030204" pitchFamily="34" charset="0"/>
              </a:rPr>
              <a:t>defences</a:t>
            </a:r>
            <a:r>
              <a:rPr lang="en-US" sz="3500" dirty="0" smtClean="0">
                <a:solidFill>
                  <a:srgbClr val="000000"/>
                </a:solidFill>
                <a:latin typeface="Calibri" panose="020F0502020204030204" pitchFamily="34" charset="0"/>
              </a:rPr>
              <a:t> he raises on behalf of his client. Rule </a:t>
            </a:r>
            <a:r>
              <a:rPr lang="en-US" sz="3500" dirty="0" smtClean="0">
                <a:solidFill>
                  <a:srgbClr val="000000"/>
                </a:solidFill>
                <a:latin typeface="Calibri" panose="020F0502020204030204" pitchFamily="34" charset="0"/>
              </a:rPr>
              <a:t>24 (2) RPC</a:t>
            </a:r>
            <a:br>
              <a:rPr lang="en-US" sz="3500" dirty="0" smtClean="0"/>
            </a:br>
            <a:endParaRPr lang="en-US" sz="35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6167" y="186169"/>
            <a:ext cx="10515600" cy="1290092"/>
          </a:xfrm>
        </p:spPr>
        <p:txBody>
          <a:bodyPr/>
          <a:lstStyle/>
          <a:p>
            <a:r>
              <a:rPr lang="en-US" b="1" dirty="0" smtClean="0"/>
              <a:t>EXCEPTIONS</a:t>
            </a:r>
            <a:endParaRPr lang="en-US" b="1" dirty="0"/>
          </a:p>
        </p:txBody>
      </p:sp>
      <p:sp>
        <p:nvSpPr>
          <p:cNvPr id="3" name="Content Placeholder 2"/>
          <p:cNvSpPr>
            <a:spLocks noGrp="1"/>
          </p:cNvSpPr>
          <p:nvPr>
            <p:ph idx="1"/>
          </p:nvPr>
        </p:nvSpPr>
        <p:spPr>
          <a:xfrm>
            <a:off x="816167" y="1612224"/>
            <a:ext cx="10515600" cy="4950329"/>
          </a:xfrm>
        </p:spPr>
        <p:txBody>
          <a:bodyPr>
            <a:normAutofit/>
          </a:bodyPr>
          <a:lstStyle/>
          <a:p>
            <a:r>
              <a:rPr lang="en-US" sz="4000" dirty="0" smtClean="0"/>
              <a:t>Where he is acting for free or without reward (</a:t>
            </a:r>
            <a:r>
              <a:rPr lang="en-US" sz="4000" i="1" dirty="0" smtClean="0"/>
              <a:t>pro bono</a:t>
            </a:r>
            <a:r>
              <a:rPr lang="en-US" sz="4000" dirty="0" smtClean="0"/>
              <a:t>).  Section 9(2) LPA.</a:t>
            </a:r>
            <a:endParaRPr lang="en-US" sz="4000" dirty="0" smtClean="0"/>
          </a:p>
          <a:p>
            <a:endParaRPr lang="en-US" sz="4000" dirty="0" smtClean="0"/>
          </a:p>
          <a:p>
            <a:r>
              <a:rPr lang="en-US" sz="4000" dirty="0"/>
              <a:t> </a:t>
            </a:r>
            <a:r>
              <a:rPr lang="en-US" sz="4000" dirty="0" smtClean="0"/>
              <a:t>Where he is conducting proceedings in the face of any court, tribunal or other body. Section 9(3) LPA.</a:t>
            </a:r>
            <a:endParaRPr lang="en-US" sz="4000"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5805"/>
            <a:ext cx="10515600" cy="1089102"/>
          </a:xfrm>
        </p:spPr>
        <p:txBody>
          <a:bodyPr/>
          <a:lstStyle/>
          <a:p>
            <a:pPr algn="ctr"/>
            <a:r>
              <a:rPr lang="en-US" b="1" dirty="0" smtClean="0"/>
              <a:t>CHANGE OF COUNSEL BY CLIENT</a:t>
            </a:r>
            <a:endParaRPr lang="en-US" b="1" dirty="0"/>
          </a:p>
        </p:txBody>
      </p:sp>
      <p:sp>
        <p:nvSpPr>
          <p:cNvPr id="3" name="Content Placeholder 2"/>
          <p:cNvSpPr>
            <a:spLocks noGrp="1"/>
          </p:cNvSpPr>
          <p:nvPr>
            <p:ph idx="1"/>
          </p:nvPr>
        </p:nvSpPr>
        <p:spPr>
          <a:xfrm>
            <a:off x="838200" y="1112704"/>
            <a:ext cx="10515600" cy="5563518"/>
          </a:xfrm>
        </p:spPr>
        <p:txBody>
          <a:bodyPr>
            <a:normAutofit/>
          </a:bodyPr>
          <a:lstStyle/>
          <a:p>
            <a:r>
              <a:rPr lang="en-US" sz="3600" dirty="0" smtClean="0"/>
              <a:t>A </a:t>
            </a:r>
            <a:r>
              <a:rPr lang="en-US" sz="3600" dirty="0" smtClean="0"/>
              <a:t>client has the absolute right to change his counsel as he deems fit provided he fulfils any agreed or implied obligation to the </a:t>
            </a:r>
            <a:r>
              <a:rPr lang="en-US" sz="3600" dirty="0" smtClean="0"/>
              <a:t>Lawyer including </a:t>
            </a:r>
            <a:r>
              <a:rPr lang="en-US" sz="3600" dirty="0" smtClean="0"/>
              <a:t>payment of fees. Rule 18(1) RPC.</a:t>
            </a:r>
            <a:endParaRPr lang="en-US" sz="3600" dirty="0" smtClean="0"/>
          </a:p>
          <a:p>
            <a:r>
              <a:rPr lang="en-US" sz="3600" dirty="0" smtClean="0"/>
              <a:t>A </a:t>
            </a:r>
            <a:r>
              <a:rPr lang="en-US" sz="3600" dirty="0" smtClean="0"/>
              <a:t>Lawyer is </a:t>
            </a:r>
            <a:r>
              <a:rPr lang="en-US" sz="3600" dirty="0" smtClean="0"/>
              <a:t>under obligation to </a:t>
            </a:r>
            <a:r>
              <a:rPr lang="en-US" sz="3600" dirty="0" smtClean="0"/>
              <a:t>honor </a:t>
            </a:r>
            <a:r>
              <a:rPr lang="en-US" sz="3600" dirty="0" smtClean="0"/>
              <a:t>all written or oral agreements entered with his client. It is </a:t>
            </a:r>
            <a:r>
              <a:rPr lang="en-US" sz="3600" dirty="0" smtClean="0"/>
              <a:t>dishonorable </a:t>
            </a:r>
            <a:r>
              <a:rPr lang="en-US" sz="3600" dirty="0" smtClean="0"/>
              <a:t>and a misconduct for a </a:t>
            </a:r>
            <a:r>
              <a:rPr lang="en-US" sz="3600" dirty="0" smtClean="0"/>
              <a:t>Lawyer to </a:t>
            </a:r>
            <a:r>
              <a:rPr lang="en-US" sz="3600" dirty="0" smtClean="0"/>
              <a:t>avoid the performance of an agreement that is unwritten. Rule 18(2) RPC</a:t>
            </a:r>
            <a:r>
              <a:rPr lang="en-US" sz="3600" dirty="0" smtClean="0"/>
              <a:t>.</a:t>
            </a:r>
            <a:endParaRPr lang="en-US" sz="3600" dirty="0" smtClean="0"/>
          </a:p>
          <a:p>
            <a:endParaRPr lang="en-US" sz="3600" dirty="0" smtClean="0"/>
          </a:p>
          <a:p>
            <a:pPr>
              <a:buNone/>
            </a:pPr>
            <a:endParaRPr lang="en-US" sz="3600"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0721"/>
            <a:ext cx="10515600" cy="152668"/>
          </a:xfrm>
        </p:spPr>
        <p:txBody>
          <a:bodyPr>
            <a:normAutofit fontScale="90000"/>
          </a:bodyPr>
          <a:lstStyle/>
          <a:p>
            <a:endParaRPr lang="en-US" dirty="0"/>
          </a:p>
        </p:txBody>
      </p:sp>
      <p:sp>
        <p:nvSpPr>
          <p:cNvPr id="3" name="Content Placeholder 2"/>
          <p:cNvSpPr>
            <a:spLocks noGrp="1"/>
          </p:cNvSpPr>
          <p:nvPr>
            <p:ph idx="1"/>
          </p:nvPr>
        </p:nvSpPr>
        <p:spPr>
          <a:xfrm>
            <a:off x="838200" y="253389"/>
            <a:ext cx="10515600" cy="6604611"/>
          </a:xfrm>
        </p:spPr>
        <p:txBody>
          <a:bodyPr>
            <a:normAutofit fontScale="92500"/>
          </a:bodyPr>
          <a:lstStyle/>
          <a:p>
            <a:r>
              <a:rPr lang="en-US" sz="3600" dirty="0" smtClean="0"/>
              <a:t>Upon a change of counsel by client, </a:t>
            </a:r>
            <a:r>
              <a:rPr lang="en-US" sz="3600" dirty="0" smtClean="0"/>
              <a:t>both </a:t>
            </a:r>
            <a:r>
              <a:rPr lang="en-US" sz="3600" dirty="0" smtClean="0"/>
              <a:t>the old and new </a:t>
            </a:r>
            <a:r>
              <a:rPr lang="en-US" sz="3600" dirty="0" smtClean="0"/>
              <a:t>Lawyers are required by Rule 29 RPC to do the following:</a:t>
            </a:r>
            <a:endParaRPr lang="en-US" sz="3600" dirty="0" smtClean="0"/>
          </a:p>
          <a:p>
            <a:r>
              <a:rPr lang="en-US" sz="3600" b="1" dirty="0"/>
              <a:t>T</a:t>
            </a:r>
            <a:r>
              <a:rPr lang="en-US" sz="3600" b="1" dirty="0" smtClean="0"/>
              <a:t>he New Lawyer shall </a:t>
            </a:r>
            <a:r>
              <a:rPr lang="en-US" sz="3600" dirty="0" smtClean="0"/>
              <a:t>–</a:t>
            </a:r>
            <a:endParaRPr lang="en-US" sz="3600" dirty="0" smtClean="0"/>
          </a:p>
          <a:p>
            <a:r>
              <a:rPr lang="en-US" sz="3600" dirty="0" smtClean="0"/>
              <a:t>promptly give notice to the former </a:t>
            </a:r>
            <a:r>
              <a:rPr lang="en-US" sz="3600" dirty="0" smtClean="0"/>
              <a:t>Lawyer</a:t>
            </a:r>
            <a:endParaRPr lang="en-US" sz="3600" dirty="0" smtClean="0"/>
          </a:p>
          <a:p>
            <a:r>
              <a:rPr lang="en-US" sz="3600" dirty="0"/>
              <a:t>u</a:t>
            </a:r>
            <a:r>
              <a:rPr lang="en-US" sz="3600" dirty="0" smtClean="0"/>
              <a:t>se his best </a:t>
            </a:r>
            <a:r>
              <a:rPr lang="en-US" sz="3600" dirty="0" smtClean="0"/>
              <a:t>endeavors </a:t>
            </a:r>
            <a:r>
              <a:rPr lang="en-US" sz="3600" dirty="0" smtClean="0"/>
              <a:t>to ensure that the old </a:t>
            </a:r>
            <a:r>
              <a:rPr lang="en-US" sz="3600" dirty="0" smtClean="0"/>
              <a:t>Lawyer is </a:t>
            </a:r>
            <a:r>
              <a:rPr lang="en-US" sz="3600" dirty="0" smtClean="0"/>
              <a:t>paid his earned fees</a:t>
            </a:r>
            <a:endParaRPr lang="en-US" sz="3600" dirty="0" smtClean="0"/>
          </a:p>
          <a:p>
            <a:r>
              <a:rPr lang="en-US" sz="3600" dirty="0"/>
              <a:t>i</a:t>
            </a:r>
            <a:r>
              <a:rPr lang="en-US" sz="3600" dirty="0" smtClean="0"/>
              <a:t>n relation to litigation, he must give notice to the court. </a:t>
            </a:r>
            <a:endParaRPr lang="en-US" sz="3600" dirty="0" smtClean="0"/>
          </a:p>
          <a:p>
            <a:r>
              <a:rPr lang="en-US" sz="3600" b="1" dirty="0"/>
              <a:t>T</a:t>
            </a:r>
            <a:r>
              <a:rPr lang="en-US" sz="3600" b="1" dirty="0" smtClean="0"/>
              <a:t>he Old Lawyer shall</a:t>
            </a:r>
            <a:r>
              <a:rPr lang="en-US" sz="3600" dirty="0" smtClean="0"/>
              <a:t> –</a:t>
            </a:r>
            <a:endParaRPr lang="en-US" sz="3600" dirty="0" smtClean="0"/>
          </a:p>
          <a:p>
            <a:r>
              <a:rPr lang="en-US" sz="3600" dirty="0" smtClean="0"/>
              <a:t>return the file to the client of the new </a:t>
            </a:r>
            <a:r>
              <a:rPr lang="en-US" sz="3600" dirty="0" smtClean="0"/>
              <a:t>Lawyer</a:t>
            </a:r>
            <a:endParaRPr lang="en-US" sz="3600" dirty="0" smtClean="0"/>
          </a:p>
          <a:p>
            <a:r>
              <a:rPr lang="en-US" sz="3600" dirty="0"/>
              <a:t>s</a:t>
            </a:r>
            <a:r>
              <a:rPr lang="en-US" sz="3600" dirty="0" smtClean="0"/>
              <a:t>end all copies of letters written by the </a:t>
            </a:r>
            <a:r>
              <a:rPr lang="en-US" sz="3600" dirty="0" smtClean="0"/>
              <a:t>Lawyer to </a:t>
            </a:r>
            <a:r>
              <a:rPr lang="en-US" sz="3600" dirty="0" smtClean="0"/>
              <a:t>other persons at the direction of the client.</a:t>
            </a:r>
            <a:endParaRPr lang="en-US" sz="3600" dirty="0" smtClean="0"/>
          </a:p>
          <a:p>
            <a:r>
              <a:rPr lang="en-US" sz="3600" dirty="0"/>
              <a:t>i</a:t>
            </a:r>
            <a:r>
              <a:rPr lang="en-US" sz="3600" dirty="0" smtClean="0"/>
              <a:t>n </a:t>
            </a:r>
            <a:r>
              <a:rPr lang="en-US" sz="3600" dirty="0"/>
              <a:t>relation to litigation, he must give notice to the </a:t>
            </a:r>
            <a:r>
              <a:rPr lang="en-US" sz="3600" dirty="0" smtClean="0"/>
              <a:t>court</a:t>
            </a:r>
            <a:r>
              <a:rPr lang="en-US" sz="3600" dirty="0" smtClean="0"/>
              <a:t>.</a:t>
            </a:r>
            <a:endParaRPr lang="en-US" sz="3600" dirty="0" smtClean="0"/>
          </a:p>
          <a:p>
            <a:pPr>
              <a:buNone/>
            </a:pPr>
            <a:endParaRPr lang="en-US" sz="3600" dirty="0" smtClean="0"/>
          </a:p>
          <a:p>
            <a:endParaRPr lang="en-US" sz="36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GB" altLang="en-US"/>
              <a:t>Duties of Counsel while using AI</a:t>
            </a:r>
            <a:endParaRPr lang="en-GB" altLang="en-US"/>
          </a:p>
        </p:txBody>
      </p:sp>
      <p:sp>
        <p:nvSpPr>
          <p:cNvPr id="3" name="Content Placeholder 2"/>
          <p:cNvSpPr>
            <a:spLocks noGrp="1"/>
          </p:cNvSpPr>
          <p:nvPr>
            <p:ph idx="1"/>
          </p:nvPr>
        </p:nvSpPr>
        <p:spPr/>
        <p:txBody>
          <a:bodyPr/>
          <a:p>
            <a:r>
              <a:rPr lang="en-GB" altLang="en-US" sz="3200"/>
              <a:t>Counsel to apply diligence while relying on AI for materials</a:t>
            </a:r>
            <a:endParaRPr lang="en-GB" altLang="en-US" sz="3200"/>
          </a:p>
          <a:p>
            <a:r>
              <a:rPr lang="en-GB" altLang="en-US" sz="3200"/>
              <a:t>Counsel to crosscheck information procured from AI before using it</a:t>
            </a:r>
            <a:endParaRPr lang="en-GB" altLang="en-US" sz="3200"/>
          </a:p>
          <a:p>
            <a:r>
              <a:rPr lang="en-GB" altLang="en-US" sz="3200"/>
              <a:t>Counsel  not to use agreements, briefs of argument, opinions, memorandum of understanding etc wiyhout editing them </a:t>
            </a:r>
            <a:endParaRPr lang="en-GB" altLang="en-US" sz="3200"/>
          </a:p>
          <a:p>
            <a:r>
              <a:rPr lang="en-GB" altLang="en-US" sz="3200"/>
              <a:t>It is professional negligence on the part of counsel if a client suffers damages from his reliance on AI. </a:t>
            </a:r>
            <a:endParaRPr lang="en-GB" altLang="en-US" sz="32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8885</Words>
  <Application>WPS Slides</Application>
  <PresentationFormat>Custom</PresentationFormat>
  <Paragraphs>132</Paragraphs>
  <Slides>21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21</vt:i4>
      </vt:variant>
    </vt:vector>
  </HeadingPairs>
  <TitlesOfParts>
    <vt:vector size="31" baseType="lpstr">
      <vt:lpstr>Arial</vt:lpstr>
      <vt:lpstr>SimSun</vt:lpstr>
      <vt:lpstr>Wingdings</vt:lpstr>
      <vt:lpstr>Calibri</vt:lpstr>
      <vt:lpstr>ArialMT</vt:lpstr>
      <vt:lpstr>Segoe Print</vt:lpstr>
      <vt:lpstr>Calibri Light</vt:lpstr>
      <vt:lpstr>Microsoft YaHei</vt:lpstr>
      <vt:lpstr>Arial Unicode MS</vt:lpstr>
      <vt:lpstr>Office Theme</vt:lpstr>
      <vt:lpstr>     LAWYER’S DUTIES TO CLIENT </vt:lpstr>
      <vt:lpstr>PRIVILEGE AND CONFIDENCE OF THE CLIENT</vt:lpstr>
      <vt:lpstr>LAWYER AS WITNESS FOR A CLIENT</vt:lpstr>
      <vt:lpstr>WITHDRAWAL FROM EMPLOYMENT </vt:lpstr>
      <vt:lpstr>PowerPoint 演示文稿</vt:lpstr>
      <vt:lpstr>DEALING WITH CLIENT’S PROPERTY</vt:lpstr>
      <vt:lpstr>CALLING AT CLIENT’S HOUSE OR PLACE OF BUSINESS</vt:lpstr>
      <vt:lpstr>DEDICATION AND DEVOTION TO THE CAUSE OF THE CLIENT </vt:lpstr>
      <vt:lpstr> NOTE </vt:lpstr>
      <vt:lpstr>DUTY TO ACCEPT BRIEF</vt:lpstr>
      <vt:lpstr>CONFLICT OF INTEREST</vt:lpstr>
      <vt:lpstr>REPRESENTING CLIENTS WITHIN THE BOUNDS OF LAW </vt:lpstr>
      <vt:lpstr>PowerPoint 演示文稿</vt:lpstr>
      <vt:lpstr>PowerPoint 演示文稿</vt:lpstr>
      <vt:lpstr>PowerPoint 演示文稿</vt:lpstr>
      <vt:lpstr>REPRESENTING CLIENT COMPETENTLY</vt:lpstr>
      <vt:lpstr>PROFESSIONAL NEGLIGENCE BY LAWYERS </vt:lpstr>
      <vt:lpstr>EXCEPTIONS</vt:lpstr>
      <vt:lpstr>CHANGE OF COUNSEL BY CLIENT</vt:lpstr>
      <vt:lpstr>PowerPoint 演示文稿</vt:lpstr>
      <vt:lpstr>Duties of Counsel while using AI</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LINDA</dc:creator>
  <cp:lastModifiedBy>ekwunife</cp:lastModifiedBy>
  <cp:revision>178</cp:revision>
  <dcterms:created xsi:type="dcterms:W3CDTF">2022-01-16T16:54:00Z</dcterms:created>
  <dcterms:modified xsi:type="dcterms:W3CDTF">2025-05-07T22:01:50Z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6AC301C634DF44AF8F061BDCFE010AA1_12</vt:lpwstr>
  </property>
  <property fmtid="{D5CDD505-2E9C-101B-9397-08002B2CF9AE}" pid="3" name="KSOProductBuildVer">
    <vt:lpwstr>2057-12.2.0.20795</vt:lpwstr>
  </property>
</Properties>
</file>